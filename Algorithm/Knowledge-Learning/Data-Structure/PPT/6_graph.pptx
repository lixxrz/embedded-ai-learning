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6" r:id="rId4"/>
    <p:sldMasterId id="2147483675" r:id="rId5"/>
    <p:sldMasterId id="2147483684" r:id="rId6"/>
    <p:sldMasterId id="2147483693" r:id="rId7"/>
    <p:sldMasterId id="2147483702" r:id="rId8"/>
    <p:sldMasterId id="2147483711" r:id="rId9"/>
    <p:sldMasterId id="2147483720" r:id="rId10"/>
    <p:sldMasterId id="2147483729" r:id="rId11"/>
    <p:sldMasterId id="2147483738" r:id="rId12"/>
  </p:sldMasterIdLst>
  <p:notesMasterIdLst>
    <p:notesMasterId r:id="rId15"/>
  </p:notesMasterIdLst>
  <p:handoutMasterIdLst>
    <p:handoutMasterId r:id="rId184"/>
  </p:handoutMasterIdLst>
  <p:sldIdLst>
    <p:sldId id="927" r:id="rId13"/>
    <p:sldId id="577" r:id="rId14"/>
    <p:sldId id="745" r:id="rId16"/>
    <p:sldId id="746" r:id="rId17"/>
    <p:sldId id="929" r:id="rId18"/>
    <p:sldId id="930" r:id="rId19"/>
    <p:sldId id="749" r:id="rId20"/>
    <p:sldId id="750" r:id="rId21"/>
    <p:sldId id="751" r:id="rId22"/>
    <p:sldId id="752" r:id="rId23"/>
    <p:sldId id="926" r:id="rId24"/>
    <p:sldId id="753" r:id="rId25"/>
    <p:sldId id="754" r:id="rId26"/>
    <p:sldId id="756" r:id="rId27"/>
    <p:sldId id="757" r:id="rId28"/>
    <p:sldId id="758" r:id="rId29"/>
    <p:sldId id="759" r:id="rId30"/>
    <p:sldId id="760" r:id="rId31"/>
    <p:sldId id="761" r:id="rId32"/>
    <p:sldId id="762" r:id="rId33"/>
    <p:sldId id="763" r:id="rId34"/>
    <p:sldId id="764" r:id="rId35"/>
    <p:sldId id="765" r:id="rId36"/>
    <p:sldId id="766" r:id="rId37"/>
    <p:sldId id="767" r:id="rId38"/>
    <p:sldId id="937" r:id="rId39"/>
    <p:sldId id="769" r:id="rId40"/>
    <p:sldId id="770" r:id="rId41"/>
    <p:sldId id="771" r:id="rId42"/>
    <p:sldId id="772" r:id="rId43"/>
    <p:sldId id="773" r:id="rId44"/>
    <p:sldId id="774" r:id="rId45"/>
    <p:sldId id="775" r:id="rId46"/>
    <p:sldId id="931" r:id="rId47"/>
    <p:sldId id="777" r:id="rId48"/>
    <p:sldId id="778" r:id="rId49"/>
    <p:sldId id="779" r:id="rId50"/>
    <p:sldId id="780" r:id="rId51"/>
    <p:sldId id="781" r:id="rId52"/>
    <p:sldId id="782" r:id="rId53"/>
    <p:sldId id="783" r:id="rId54"/>
    <p:sldId id="784" r:id="rId55"/>
    <p:sldId id="785" r:id="rId56"/>
    <p:sldId id="786" r:id="rId57"/>
    <p:sldId id="787" r:id="rId58"/>
    <p:sldId id="938" r:id="rId59"/>
    <p:sldId id="939" r:id="rId60"/>
    <p:sldId id="940" r:id="rId61"/>
    <p:sldId id="791" r:id="rId62"/>
    <p:sldId id="792" r:id="rId63"/>
    <p:sldId id="793" r:id="rId64"/>
    <p:sldId id="794" r:id="rId65"/>
    <p:sldId id="795" r:id="rId66"/>
    <p:sldId id="796" r:id="rId67"/>
    <p:sldId id="797" r:id="rId68"/>
    <p:sldId id="798" r:id="rId69"/>
    <p:sldId id="799" r:id="rId70"/>
    <p:sldId id="941" r:id="rId71"/>
    <p:sldId id="801" r:id="rId72"/>
    <p:sldId id="802" r:id="rId73"/>
    <p:sldId id="803" r:id="rId74"/>
    <p:sldId id="804" r:id="rId75"/>
    <p:sldId id="805" r:id="rId76"/>
    <p:sldId id="806" r:id="rId77"/>
    <p:sldId id="932" r:id="rId78"/>
    <p:sldId id="808" r:id="rId79"/>
    <p:sldId id="809" r:id="rId80"/>
    <p:sldId id="810" r:id="rId81"/>
    <p:sldId id="811" r:id="rId82"/>
    <p:sldId id="812" r:id="rId83"/>
    <p:sldId id="813" r:id="rId84"/>
    <p:sldId id="814" r:id="rId85"/>
    <p:sldId id="942" r:id="rId86"/>
    <p:sldId id="816" r:id="rId87"/>
    <p:sldId id="943" r:id="rId88"/>
    <p:sldId id="819" r:id="rId89"/>
    <p:sldId id="820" r:id="rId90"/>
    <p:sldId id="919" r:id="rId91"/>
    <p:sldId id="944" r:id="rId92"/>
    <p:sldId id="822" r:id="rId93"/>
    <p:sldId id="823" r:id="rId94"/>
    <p:sldId id="945" r:id="rId95"/>
    <p:sldId id="825" r:id="rId96"/>
    <p:sldId id="826" r:id="rId97"/>
    <p:sldId id="946" r:id="rId98"/>
    <p:sldId id="947" r:id="rId99"/>
    <p:sldId id="948" r:id="rId100"/>
    <p:sldId id="830" r:id="rId101"/>
    <p:sldId id="831" r:id="rId102"/>
    <p:sldId id="949" r:id="rId103"/>
    <p:sldId id="833" r:id="rId104"/>
    <p:sldId id="834" r:id="rId105"/>
    <p:sldId id="951" r:id="rId106"/>
    <p:sldId id="836" r:id="rId107"/>
    <p:sldId id="933" r:id="rId108"/>
    <p:sldId id="838" r:id="rId109"/>
    <p:sldId id="839" r:id="rId110"/>
    <p:sldId id="840" r:id="rId111"/>
    <p:sldId id="952" r:id="rId112"/>
    <p:sldId id="953" r:id="rId113"/>
    <p:sldId id="954" r:id="rId114"/>
    <p:sldId id="955" r:id="rId115"/>
    <p:sldId id="957" r:id="rId116"/>
    <p:sldId id="958" r:id="rId117"/>
    <p:sldId id="848" r:id="rId118"/>
    <p:sldId id="959" r:id="rId119"/>
    <p:sldId id="850" r:id="rId120"/>
    <p:sldId id="851" r:id="rId121"/>
    <p:sldId id="852" r:id="rId122"/>
    <p:sldId id="853" r:id="rId123"/>
    <p:sldId id="854" r:id="rId124"/>
    <p:sldId id="855" r:id="rId125"/>
    <p:sldId id="961" r:id="rId126"/>
    <p:sldId id="857" r:id="rId127"/>
    <p:sldId id="858" r:id="rId128"/>
    <p:sldId id="859" r:id="rId129"/>
    <p:sldId id="962" r:id="rId130"/>
    <p:sldId id="934" r:id="rId131"/>
    <p:sldId id="963" r:id="rId132"/>
    <p:sldId id="863" r:id="rId133"/>
    <p:sldId id="864" r:id="rId134"/>
    <p:sldId id="865" r:id="rId135"/>
    <p:sldId id="964" r:id="rId136"/>
    <p:sldId id="965" r:id="rId137"/>
    <p:sldId id="966" r:id="rId138"/>
    <p:sldId id="968" r:id="rId139"/>
    <p:sldId id="870" r:id="rId140"/>
    <p:sldId id="871" r:id="rId141"/>
    <p:sldId id="969" r:id="rId142"/>
    <p:sldId id="873" r:id="rId143"/>
    <p:sldId id="971" r:id="rId144"/>
    <p:sldId id="935" r:id="rId145"/>
    <p:sldId id="972" r:id="rId146"/>
    <p:sldId id="973" r:id="rId147"/>
    <p:sldId id="878" r:id="rId148"/>
    <p:sldId id="974" r:id="rId149"/>
    <p:sldId id="975" r:id="rId150"/>
    <p:sldId id="976" r:id="rId151"/>
    <p:sldId id="882" r:id="rId152"/>
    <p:sldId id="883" r:id="rId153"/>
    <p:sldId id="923" r:id="rId154"/>
    <p:sldId id="885" r:id="rId155"/>
    <p:sldId id="977" r:id="rId156"/>
    <p:sldId id="887" r:id="rId157"/>
    <p:sldId id="978" r:id="rId158"/>
    <p:sldId id="889" r:id="rId159"/>
    <p:sldId id="890" r:id="rId160"/>
    <p:sldId id="924" r:id="rId161"/>
    <p:sldId id="936" r:id="rId162"/>
    <p:sldId id="979" r:id="rId163"/>
    <p:sldId id="893" r:id="rId164"/>
    <p:sldId id="981" r:id="rId165"/>
    <p:sldId id="982" r:id="rId166"/>
    <p:sldId id="896" r:id="rId167"/>
    <p:sldId id="983" r:id="rId168"/>
    <p:sldId id="984" r:id="rId169"/>
    <p:sldId id="985" r:id="rId170"/>
    <p:sldId id="900" r:id="rId171"/>
    <p:sldId id="901" r:id="rId172"/>
    <p:sldId id="902" r:id="rId173"/>
    <p:sldId id="986" r:id="rId174"/>
    <p:sldId id="987" r:id="rId175"/>
    <p:sldId id="980" r:id="rId176"/>
    <p:sldId id="906" r:id="rId177"/>
    <p:sldId id="907" r:id="rId178"/>
    <p:sldId id="908" r:id="rId179"/>
    <p:sldId id="909" r:id="rId180"/>
    <p:sldId id="910" r:id="rId181"/>
    <p:sldId id="917" r:id="rId182"/>
    <p:sldId id="576" r:id="rId183"/>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2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00"/>
    <a:srgbClr val="008000"/>
    <a:srgbClr val="808080"/>
    <a:srgbClr val="DDDDDD"/>
    <a:srgbClr val="003300"/>
    <a:srgbClr val="EAEAEA"/>
    <a:srgbClr val="FFFFFF"/>
    <a:srgbClr val="F2FDDB"/>
    <a:srgbClr val="E6F9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61" autoAdjust="0"/>
    <p:restoredTop sz="86381" autoAdjust="0"/>
  </p:normalViewPr>
  <p:slideViewPr>
    <p:cSldViewPr showGuides="1">
      <p:cViewPr varScale="1">
        <p:scale>
          <a:sx n="64" d="100"/>
          <a:sy n="64" d="100"/>
        </p:scale>
        <p:origin x="627" y="51"/>
      </p:cViewPr>
      <p:guideLst>
        <p:guide orient="horz" pos="2025"/>
        <p:guide pos="2880"/>
      </p:guideLst>
    </p:cSldViewPr>
  </p:slideViewPr>
  <p:outlineViewPr>
    <p:cViewPr>
      <p:scale>
        <a:sx n="33" d="100"/>
        <a:sy n="33" d="100"/>
      </p:scale>
      <p:origin x="0" y="45174"/>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6.xml"/><Relationship Id="rId98" Type="http://schemas.openxmlformats.org/officeDocument/2006/relationships/slide" Target="slides/slide85.xml"/><Relationship Id="rId97" Type="http://schemas.openxmlformats.org/officeDocument/2006/relationships/slide" Target="slides/slide84.xml"/><Relationship Id="rId96" Type="http://schemas.openxmlformats.org/officeDocument/2006/relationships/slide" Target="slides/slide83.xml"/><Relationship Id="rId95" Type="http://schemas.openxmlformats.org/officeDocument/2006/relationships/slide" Target="slides/slide82.xml"/><Relationship Id="rId94" Type="http://schemas.openxmlformats.org/officeDocument/2006/relationships/slide" Target="slides/slide81.xml"/><Relationship Id="rId93" Type="http://schemas.openxmlformats.org/officeDocument/2006/relationships/slide" Target="slides/slide80.xml"/><Relationship Id="rId92" Type="http://schemas.openxmlformats.org/officeDocument/2006/relationships/slide" Target="slides/slide79.xml"/><Relationship Id="rId91" Type="http://schemas.openxmlformats.org/officeDocument/2006/relationships/slide" Target="slides/slide78.xml"/><Relationship Id="rId90" Type="http://schemas.openxmlformats.org/officeDocument/2006/relationships/slide" Target="slides/slide77.xml"/><Relationship Id="rId9" Type="http://schemas.openxmlformats.org/officeDocument/2006/relationships/slideMaster" Target="slideMasters/slideMaster8.xml"/><Relationship Id="rId89" Type="http://schemas.openxmlformats.org/officeDocument/2006/relationships/slide" Target="slides/slide76.xml"/><Relationship Id="rId88" Type="http://schemas.openxmlformats.org/officeDocument/2006/relationships/slide" Target="slides/slide75.xml"/><Relationship Id="rId87" Type="http://schemas.openxmlformats.org/officeDocument/2006/relationships/slide" Target="slides/slide74.xml"/><Relationship Id="rId86" Type="http://schemas.openxmlformats.org/officeDocument/2006/relationships/slide" Target="slides/slide73.xml"/><Relationship Id="rId85" Type="http://schemas.openxmlformats.org/officeDocument/2006/relationships/slide" Target="slides/slide72.xml"/><Relationship Id="rId84" Type="http://schemas.openxmlformats.org/officeDocument/2006/relationships/slide" Target="slides/slide71.xml"/><Relationship Id="rId83" Type="http://schemas.openxmlformats.org/officeDocument/2006/relationships/slide" Target="slides/slide70.xml"/><Relationship Id="rId82" Type="http://schemas.openxmlformats.org/officeDocument/2006/relationships/slide" Target="slides/slide69.xml"/><Relationship Id="rId81" Type="http://schemas.openxmlformats.org/officeDocument/2006/relationships/slide" Target="slides/slide68.xml"/><Relationship Id="rId80" Type="http://schemas.openxmlformats.org/officeDocument/2006/relationships/slide" Target="slides/slide67.xml"/><Relationship Id="rId8" Type="http://schemas.openxmlformats.org/officeDocument/2006/relationships/slideMaster" Target="slideMasters/slideMaster7.xml"/><Relationship Id="rId79" Type="http://schemas.openxmlformats.org/officeDocument/2006/relationships/slide" Target="slides/slide66.xml"/><Relationship Id="rId78" Type="http://schemas.openxmlformats.org/officeDocument/2006/relationships/slide" Target="slides/slide65.xml"/><Relationship Id="rId77" Type="http://schemas.openxmlformats.org/officeDocument/2006/relationships/slide" Target="slides/slide64.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7" Type="http://schemas.openxmlformats.org/officeDocument/2006/relationships/tableStyles" Target="tableStyles.xml"/><Relationship Id="rId186" Type="http://schemas.openxmlformats.org/officeDocument/2006/relationships/viewProps" Target="viewProps.xml"/><Relationship Id="rId185" Type="http://schemas.openxmlformats.org/officeDocument/2006/relationships/presProps" Target="presProps.xml"/><Relationship Id="rId184" Type="http://schemas.openxmlformats.org/officeDocument/2006/relationships/handoutMaster" Target="handoutMasters/handoutMaster1.xml"/><Relationship Id="rId183" Type="http://schemas.openxmlformats.org/officeDocument/2006/relationships/slide" Target="slides/slide170.xml"/><Relationship Id="rId182" Type="http://schemas.openxmlformats.org/officeDocument/2006/relationships/slide" Target="slides/slide169.xml"/><Relationship Id="rId181" Type="http://schemas.openxmlformats.org/officeDocument/2006/relationships/slide" Target="slides/slide168.xml"/><Relationship Id="rId180" Type="http://schemas.openxmlformats.org/officeDocument/2006/relationships/slide" Target="slides/slide167.xml"/><Relationship Id="rId18" Type="http://schemas.openxmlformats.org/officeDocument/2006/relationships/slide" Target="slides/slide5.xml"/><Relationship Id="rId179" Type="http://schemas.openxmlformats.org/officeDocument/2006/relationships/slide" Target="slides/slide166.xml"/><Relationship Id="rId178" Type="http://schemas.openxmlformats.org/officeDocument/2006/relationships/slide" Target="slides/slide165.xml"/><Relationship Id="rId177" Type="http://schemas.openxmlformats.org/officeDocument/2006/relationships/slide" Target="slides/slide164.xml"/><Relationship Id="rId176" Type="http://schemas.openxmlformats.org/officeDocument/2006/relationships/slide" Target="slides/slide163.xml"/><Relationship Id="rId175" Type="http://schemas.openxmlformats.org/officeDocument/2006/relationships/slide" Target="slides/slide162.xml"/><Relationship Id="rId174" Type="http://schemas.openxmlformats.org/officeDocument/2006/relationships/slide" Target="slides/slide161.xml"/><Relationship Id="rId173" Type="http://schemas.openxmlformats.org/officeDocument/2006/relationships/slide" Target="slides/slide160.xml"/><Relationship Id="rId172" Type="http://schemas.openxmlformats.org/officeDocument/2006/relationships/slide" Target="slides/slide159.xml"/><Relationship Id="rId171" Type="http://schemas.openxmlformats.org/officeDocument/2006/relationships/slide" Target="slides/slide158.xml"/><Relationship Id="rId170" Type="http://schemas.openxmlformats.org/officeDocument/2006/relationships/slide" Target="slides/slide157.xml"/><Relationship Id="rId17" Type="http://schemas.openxmlformats.org/officeDocument/2006/relationships/slide" Target="slides/slide4.xml"/><Relationship Id="rId169" Type="http://schemas.openxmlformats.org/officeDocument/2006/relationships/slide" Target="slides/slide156.xml"/><Relationship Id="rId168" Type="http://schemas.openxmlformats.org/officeDocument/2006/relationships/slide" Target="slides/slide155.xml"/><Relationship Id="rId167" Type="http://schemas.openxmlformats.org/officeDocument/2006/relationships/slide" Target="slides/slide154.xml"/><Relationship Id="rId166" Type="http://schemas.openxmlformats.org/officeDocument/2006/relationships/slide" Target="slides/slide153.xml"/><Relationship Id="rId165" Type="http://schemas.openxmlformats.org/officeDocument/2006/relationships/slide" Target="slides/slide152.xml"/><Relationship Id="rId164" Type="http://schemas.openxmlformats.org/officeDocument/2006/relationships/slide" Target="slides/slide151.xml"/><Relationship Id="rId163" Type="http://schemas.openxmlformats.org/officeDocument/2006/relationships/slide" Target="slides/slide150.xml"/><Relationship Id="rId162" Type="http://schemas.openxmlformats.org/officeDocument/2006/relationships/slide" Target="slides/slide149.xml"/><Relationship Id="rId161" Type="http://schemas.openxmlformats.org/officeDocument/2006/relationships/slide" Target="slides/slide148.xml"/><Relationship Id="rId160" Type="http://schemas.openxmlformats.org/officeDocument/2006/relationships/slide" Target="slides/slide147.xml"/><Relationship Id="rId16" Type="http://schemas.openxmlformats.org/officeDocument/2006/relationships/slide" Target="slides/slide3.xml"/><Relationship Id="rId159" Type="http://schemas.openxmlformats.org/officeDocument/2006/relationships/slide" Target="slides/slide146.xml"/><Relationship Id="rId158" Type="http://schemas.openxmlformats.org/officeDocument/2006/relationships/slide" Target="slides/slide145.xml"/><Relationship Id="rId157" Type="http://schemas.openxmlformats.org/officeDocument/2006/relationships/slide" Target="slides/slide144.xml"/><Relationship Id="rId156" Type="http://schemas.openxmlformats.org/officeDocument/2006/relationships/slide" Target="slides/slide143.xml"/><Relationship Id="rId155" Type="http://schemas.openxmlformats.org/officeDocument/2006/relationships/slide" Target="slides/slide142.xml"/><Relationship Id="rId154" Type="http://schemas.openxmlformats.org/officeDocument/2006/relationships/slide" Target="slides/slide141.xml"/><Relationship Id="rId153" Type="http://schemas.openxmlformats.org/officeDocument/2006/relationships/slide" Target="slides/slide140.xml"/><Relationship Id="rId152" Type="http://schemas.openxmlformats.org/officeDocument/2006/relationships/slide" Target="slides/slide139.xml"/><Relationship Id="rId151" Type="http://schemas.openxmlformats.org/officeDocument/2006/relationships/slide" Target="slides/slide138.xml"/><Relationship Id="rId150" Type="http://schemas.openxmlformats.org/officeDocument/2006/relationships/slide" Target="slides/slide137.xml"/><Relationship Id="rId15" Type="http://schemas.openxmlformats.org/officeDocument/2006/relationships/notesMaster" Target="notesMasters/notesMaster1.xml"/><Relationship Id="rId149" Type="http://schemas.openxmlformats.org/officeDocument/2006/relationships/slide" Target="slides/slide136.xml"/><Relationship Id="rId148" Type="http://schemas.openxmlformats.org/officeDocument/2006/relationships/slide" Target="slides/slide135.xml"/><Relationship Id="rId147" Type="http://schemas.openxmlformats.org/officeDocument/2006/relationships/slide" Target="slides/slide134.xml"/><Relationship Id="rId146" Type="http://schemas.openxmlformats.org/officeDocument/2006/relationships/slide" Target="slides/slide133.xml"/><Relationship Id="rId145" Type="http://schemas.openxmlformats.org/officeDocument/2006/relationships/slide" Target="slides/slide132.xml"/><Relationship Id="rId144" Type="http://schemas.openxmlformats.org/officeDocument/2006/relationships/slide" Target="slides/slide131.xml"/><Relationship Id="rId143" Type="http://schemas.openxmlformats.org/officeDocument/2006/relationships/slide" Target="slides/slide130.xml"/><Relationship Id="rId142" Type="http://schemas.openxmlformats.org/officeDocument/2006/relationships/slide" Target="slides/slide129.xml"/><Relationship Id="rId141" Type="http://schemas.openxmlformats.org/officeDocument/2006/relationships/slide" Target="slides/slide128.xml"/><Relationship Id="rId140" Type="http://schemas.openxmlformats.org/officeDocument/2006/relationships/slide" Target="slides/slide127.xml"/><Relationship Id="rId14" Type="http://schemas.openxmlformats.org/officeDocument/2006/relationships/slide" Target="slides/slide2.xml"/><Relationship Id="rId139" Type="http://schemas.openxmlformats.org/officeDocument/2006/relationships/slide" Target="slides/slide126.xml"/><Relationship Id="rId138" Type="http://schemas.openxmlformats.org/officeDocument/2006/relationships/slide" Target="slides/slide125.xml"/><Relationship Id="rId137" Type="http://schemas.openxmlformats.org/officeDocument/2006/relationships/slide" Target="slides/slide124.xml"/><Relationship Id="rId136" Type="http://schemas.openxmlformats.org/officeDocument/2006/relationships/slide" Target="slides/slide123.xml"/><Relationship Id="rId135" Type="http://schemas.openxmlformats.org/officeDocument/2006/relationships/slide" Target="slides/slide122.xml"/><Relationship Id="rId134" Type="http://schemas.openxmlformats.org/officeDocument/2006/relationships/slide" Target="slides/slide121.xml"/><Relationship Id="rId133" Type="http://schemas.openxmlformats.org/officeDocument/2006/relationships/slide" Target="slides/slide120.xml"/><Relationship Id="rId132" Type="http://schemas.openxmlformats.org/officeDocument/2006/relationships/slide" Target="slides/slide119.xml"/><Relationship Id="rId131" Type="http://schemas.openxmlformats.org/officeDocument/2006/relationships/slide" Target="slides/slide118.xml"/><Relationship Id="rId130" Type="http://schemas.openxmlformats.org/officeDocument/2006/relationships/slide" Target="slides/slide117.xml"/><Relationship Id="rId13" Type="http://schemas.openxmlformats.org/officeDocument/2006/relationships/slide" Target="slides/slide1.xml"/><Relationship Id="rId129" Type="http://schemas.openxmlformats.org/officeDocument/2006/relationships/slide" Target="slides/slide116.xml"/><Relationship Id="rId128" Type="http://schemas.openxmlformats.org/officeDocument/2006/relationships/slide" Target="slides/slide115.xml"/><Relationship Id="rId127" Type="http://schemas.openxmlformats.org/officeDocument/2006/relationships/slide" Target="slides/slide114.xml"/><Relationship Id="rId126" Type="http://schemas.openxmlformats.org/officeDocument/2006/relationships/slide" Target="slides/slide113.xml"/><Relationship Id="rId125" Type="http://schemas.openxmlformats.org/officeDocument/2006/relationships/slide" Target="slides/slide112.xml"/><Relationship Id="rId124" Type="http://schemas.openxmlformats.org/officeDocument/2006/relationships/slide" Target="slides/slide111.xml"/><Relationship Id="rId123" Type="http://schemas.openxmlformats.org/officeDocument/2006/relationships/slide" Target="slides/slide110.xml"/><Relationship Id="rId122" Type="http://schemas.openxmlformats.org/officeDocument/2006/relationships/slide" Target="slides/slide109.xml"/><Relationship Id="rId121" Type="http://schemas.openxmlformats.org/officeDocument/2006/relationships/slide" Target="slides/slide108.xml"/><Relationship Id="rId120" Type="http://schemas.openxmlformats.org/officeDocument/2006/relationships/slide" Target="slides/slide107.xml"/><Relationship Id="rId12" Type="http://schemas.openxmlformats.org/officeDocument/2006/relationships/slideMaster" Target="slideMasters/slideMaster11.xml"/><Relationship Id="rId119" Type="http://schemas.openxmlformats.org/officeDocument/2006/relationships/slide" Target="slides/slide106.xml"/><Relationship Id="rId118" Type="http://schemas.openxmlformats.org/officeDocument/2006/relationships/slide" Target="slides/slide105.xml"/><Relationship Id="rId117" Type="http://schemas.openxmlformats.org/officeDocument/2006/relationships/slide" Target="slides/slide104.xml"/><Relationship Id="rId116" Type="http://schemas.openxmlformats.org/officeDocument/2006/relationships/slide" Target="slides/slide103.xml"/><Relationship Id="rId115" Type="http://schemas.openxmlformats.org/officeDocument/2006/relationships/slide" Target="slides/slide102.xml"/><Relationship Id="rId114" Type="http://schemas.openxmlformats.org/officeDocument/2006/relationships/slide" Target="slides/slide101.xml"/><Relationship Id="rId113" Type="http://schemas.openxmlformats.org/officeDocument/2006/relationships/slide" Target="slides/slide100.xml"/><Relationship Id="rId112" Type="http://schemas.openxmlformats.org/officeDocument/2006/relationships/slide" Target="slides/slide99.xml"/><Relationship Id="rId111" Type="http://schemas.openxmlformats.org/officeDocument/2006/relationships/slide" Target="slides/slide98.xml"/><Relationship Id="rId110" Type="http://schemas.openxmlformats.org/officeDocument/2006/relationships/slide" Target="slides/slide97.xml"/><Relationship Id="rId11" Type="http://schemas.openxmlformats.org/officeDocument/2006/relationships/slideMaster" Target="slideMasters/slideMaster10.xml"/><Relationship Id="rId109" Type="http://schemas.openxmlformats.org/officeDocument/2006/relationships/slide" Target="slides/slide96.xml"/><Relationship Id="rId108" Type="http://schemas.openxmlformats.org/officeDocument/2006/relationships/slide" Target="slides/slide95.xml"/><Relationship Id="rId107" Type="http://schemas.openxmlformats.org/officeDocument/2006/relationships/slide" Target="slides/slide94.xml"/><Relationship Id="rId106" Type="http://schemas.openxmlformats.org/officeDocument/2006/relationships/slide" Target="slides/slide93.xml"/><Relationship Id="rId105" Type="http://schemas.openxmlformats.org/officeDocument/2006/relationships/slide" Target="slides/slide92.xml"/><Relationship Id="rId104" Type="http://schemas.openxmlformats.org/officeDocument/2006/relationships/slide" Target="slides/slide91.xml"/><Relationship Id="rId103" Type="http://schemas.openxmlformats.org/officeDocument/2006/relationships/slide" Target="slides/slide90.xml"/><Relationship Id="rId102" Type="http://schemas.openxmlformats.org/officeDocument/2006/relationships/slide" Target="slides/slide89.xml"/><Relationship Id="rId101" Type="http://schemas.openxmlformats.org/officeDocument/2006/relationships/slide" Target="slides/slide88.xml"/><Relationship Id="rId100" Type="http://schemas.openxmlformats.org/officeDocument/2006/relationships/slide" Target="slides/slide8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9.vml.rels><?xml version="1.0" encoding="UTF-8" standalone="yes"?>
<Relationships xmlns="http://schemas.openxmlformats.org/package/2006/relationships"><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1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2918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2918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2918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FF7402D4-7CBB-40B5-A465-D8015B10E50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696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561C033C-5B3F-49DC-BDD7-EA426F823B6E}"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p:spPr>
        <p:txBody>
          <a:bodyPr/>
          <a:lstStyle/>
          <a:p>
            <a:endParaRPr lang="zh-CN" altLang="en-US"/>
          </a:p>
        </p:txBody>
      </p:sp>
      <p:sp>
        <p:nvSpPr>
          <p:cNvPr id="70660" name="灯片编号占位符 3"/>
          <p:cNvSpPr>
            <a:spLocks noGrp="1"/>
          </p:cNvSpPr>
          <p:nvPr>
            <p:ph type="sldNum" sz="quarter" idx="5"/>
          </p:nvPr>
        </p:nvSpPr>
        <p:spPr>
          <a:noFill/>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fld id="{7337CF04-FAF1-458F-B27B-7F3315F0CF6B}" type="slidenum">
              <a:rPr lang="en-US" altLang="zh-CN" sz="1200" smtClean="0"/>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5.bin"/><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9.bin"/><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1.bin"/><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3.bin"/><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5.bin"/><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7.bin"/><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19.bin"/><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oleObject" Target="../embeddings/oleObject21.bin"/><Relationship Id="rId1" Type="http://schemas.openxmlformats.org/officeDocument/2006/relationships/slideMaster" Target="../slideMasters/slideMaster1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aphicFrame>
        <p:nvGraphicFramePr>
          <p:cNvPr id="4" name="Object 8"/>
          <p:cNvGraphicFramePr>
            <a:graphicFrameLocks noChangeAspect="1"/>
          </p:cNvGraphicFramePr>
          <p:nvPr/>
        </p:nvGraphicFramePr>
        <p:xfrm>
          <a:off x="0" y="5559425"/>
          <a:ext cx="1331913" cy="1050925"/>
        </p:xfrm>
        <a:graphic>
          <a:graphicData uri="http://schemas.openxmlformats.org/presentationml/2006/ole">
            <mc:AlternateContent xmlns:mc="http://schemas.openxmlformats.org/markup-compatibility/2006">
              <mc:Choice xmlns:v="urn:schemas-microsoft-com:vml" Requires="v">
                <p:oleObj spid="_x0000_s2" name="Image" r:id="rId2" imgW="2590800" imgH="2044700" progId="Photoshop.Image.7">
                  <p:embed/>
                </p:oleObj>
              </mc:Choice>
              <mc:Fallback>
                <p:oleObj name="Image" r:id="rId2" imgW="2590800" imgH="2044700" progId="Photoshop.Image.7">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559425"/>
                        <a:ext cx="1331913"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597650"/>
            <a:ext cx="9144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755650" y="1484313"/>
            <a:ext cx="7772400" cy="1358900"/>
          </a:xfrm>
        </p:spPr>
        <p:txBody>
          <a:bodyPr/>
          <a:lstStyle>
            <a:lvl1pPr algn="ctr">
              <a:defRPr sz="4800" b="1">
                <a:latin typeface="+mj-ea"/>
                <a:ea typeface="+mj-ea"/>
              </a:defRPr>
            </a:lvl1pPr>
          </a:lstStyle>
          <a:p>
            <a:pPr lvl="0"/>
            <a:r>
              <a:rPr lang="zh-CN" altLang="en-US" noProof="0"/>
              <a:t>单击此处编辑母版标题样式</a:t>
            </a:r>
            <a:endParaRPr lang="zh-CN" altLang="en-US" noProof="0" dirty="0"/>
          </a:p>
        </p:txBody>
      </p:sp>
      <p:sp>
        <p:nvSpPr>
          <p:cNvPr id="307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aseline="0">
                <a:latin typeface="Arial" panose="020B0604020202020204" pitchFamily="34" charset="0"/>
                <a:ea typeface="楷体_GB2312" pitchFamily="49" charset="-122"/>
              </a:defRPr>
            </a:lvl1pPr>
          </a:lstStyle>
          <a:p>
            <a:pPr lvl="0"/>
            <a:r>
              <a:rPr lang="zh-CN" altLang="en-US" noProof="0"/>
              <a:t>单击此处编辑母版副标题样式</a:t>
            </a:r>
            <a:endParaRPr lang="zh-CN" altLang="en-US" noProof="0"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7200800" cy="720080"/>
          </a:xfrm>
        </p:spPr>
        <p:txBody>
          <a:bodyPr/>
          <a:lstStyle>
            <a:lvl1pPr>
              <a:defRPr baseline="0">
                <a:solidFill>
                  <a:srgbClr val="C00000"/>
                </a:solidFill>
                <a:latin typeface="Arial" panose="020B0604020202020204" pitchFamily="34" charset="0"/>
                <a:ea typeface="宋体" panose="02010600030101010101"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251520" y="980728"/>
            <a:ext cx="8640960" cy="52565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B40C3BFD-24D0-4966-81A9-4BDD3454C06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8042" y="908720"/>
            <a:ext cx="4171950" cy="5328592"/>
          </a:xfrm>
        </p:spPr>
        <p:txBody>
          <a:bodyPr/>
          <a:lstStyle>
            <a:lvl1pPr>
              <a:defRPr sz="28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4648522" y="908720"/>
            <a:ext cx="4171950" cy="53285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8A58A3F3-0373-449B-8E61-DD8B1408CFD8}" type="slidenum">
              <a:rPr lang="en-US" altLang="zh-CN"/>
            </a:fld>
            <a:endParaRPr lang="en-US" altLang="zh-C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6985000" cy="649288"/>
          </a:xfrm>
        </p:spPr>
        <p:txBody>
          <a:bodyPr/>
          <a:lstStyle/>
          <a:p>
            <a:r>
              <a:rPr lang="zh-CN" altLang="en-US"/>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4" name="Rectangle 6"/>
          <p:cNvSpPr>
            <a:spLocks noGrp="1" noChangeArrowheads="1"/>
          </p:cNvSpPr>
          <p:nvPr>
            <p:ph type="sldNum" sz="quarter" idx="11"/>
          </p:nvPr>
        </p:nvSpPr>
        <p:spPr/>
        <p:txBody>
          <a:bodyPr/>
          <a:lstStyle>
            <a:lvl1pPr>
              <a:defRPr/>
            </a:lvl1pPr>
          </a:lstStyle>
          <a:p>
            <a:pPr>
              <a:defRPr/>
            </a:pPr>
            <a:fld id="{B510424F-96B9-4C00-88E0-F120333DC6C5}" type="slidenum">
              <a:rPr lang="en-US" altLang="zh-CN"/>
            </a:fld>
            <a:endParaRPr lang="en-US" altLang="zh-C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3" name="Rectangle 6"/>
          <p:cNvSpPr>
            <a:spLocks noGrp="1" noChangeArrowheads="1"/>
          </p:cNvSpPr>
          <p:nvPr>
            <p:ph type="sldNum" sz="quarter" idx="11"/>
          </p:nvPr>
        </p:nvSpPr>
        <p:spPr/>
        <p:txBody>
          <a:bodyPr/>
          <a:lstStyle>
            <a:lvl1pPr>
              <a:defRPr/>
            </a:lvl1pPr>
          </a:lstStyle>
          <a:p>
            <a:pPr>
              <a:defRPr/>
            </a:pPr>
            <a:fld id="{FC63145C-71F2-48C1-8DD2-31D6AC142F2A}" type="slidenum">
              <a:rPr lang="en-US" altLang="zh-CN"/>
            </a:fld>
            <a:endParaRPr lang="en-US" alt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FB19B108-AFC7-4225-832B-3FC6DC0A325D}" type="slidenum">
              <a:rPr lang="en-US" altLang="zh-CN"/>
            </a:fld>
            <a:endParaRPr lang="en-US" altLang="zh-C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SmartArt 占位符 2"/>
          <p:cNvSpPr>
            <a:spLocks noGrp="1"/>
          </p:cNvSpPr>
          <p:nvPr>
            <p:ph type="dgm" idx="1" hasCustomPrompt="1"/>
          </p:nvPr>
        </p:nvSpPr>
        <p:spPr>
          <a:xfrm>
            <a:off x="323850" y="980728"/>
            <a:ext cx="8496300" cy="5184576"/>
          </a:xfrm>
        </p:spPr>
        <p:txBody>
          <a:bodyPr/>
          <a:lstStyle>
            <a:lvl1pPr>
              <a:lnSpc>
                <a:spcPts val="4200"/>
              </a:lnSpc>
              <a:defRPr/>
            </a:lvl1pPr>
            <a:lvl2pPr>
              <a:lnSpc>
                <a:spcPts val="4200"/>
              </a:lnSpc>
              <a:defRPr/>
            </a:lvl2pPr>
            <a:lvl3pPr>
              <a:lnSpc>
                <a:spcPts val="4200"/>
              </a:lnSpc>
              <a:defRPr/>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noProof="0" dirty="0"/>
          </a:p>
        </p:txBody>
      </p:sp>
      <p:sp>
        <p:nvSpPr>
          <p:cNvPr id="4"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5" name="Rectangle 6"/>
          <p:cNvSpPr>
            <a:spLocks noGrp="1" noChangeArrowheads="1"/>
          </p:cNvSpPr>
          <p:nvPr>
            <p:ph type="sldNum" sz="quarter" idx="11"/>
          </p:nvPr>
        </p:nvSpPr>
        <p:spPr/>
        <p:txBody>
          <a:bodyPr/>
          <a:lstStyle>
            <a:lvl1pPr>
              <a:defRPr/>
            </a:lvl1pPr>
          </a:lstStyle>
          <a:p>
            <a:pPr>
              <a:defRPr/>
            </a:pPr>
            <a:fld id="{D7052C24-EBD5-4EC7-9586-D9EC98D33499}"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323850" y="260648"/>
            <a:ext cx="6985000" cy="649288"/>
          </a:xfrm>
        </p:spPr>
        <p:txBody>
          <a:bodyPr/>
          <a:lstStyle/>
          <a:p>
            <a:r>
              <a:rPr lang="zh-CN" altLang="en-US"/>
              <a:t>单击此处编辑母版标题样式</a:t>
            </a:r>
            <a:endParaRPr lang="zh-CN" altLang="en-US" dirty="0"/>
          </a:p>
        </p:txBody>
      </p:sp>
      <p:sp>
        <p:nvSpPr>
          <p:cNvPr id="3" name="文本占位符 2"/>
          <p:cNvSpPr>
            <a:spLocks noGrp="1"/>
          </p:cNvSpPr>
          <p:nvPr>
            <p:ph type="body" sz="half" idx="1"/>
          </p:nvPr>
        </p:nvSpPr>
        <p:spPr>
          <a:xfrm>
            <a:off x="323850" y="980728"/>
            <a:ext cx="8496300" cy="244316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内容占位符 3"/>
          <p:cNvSpPr>
            <a:spLocks noGrp="1"/>
          </p:cNvSpPr>
          <p:nvPr>
            <p:ph sz="half" idx="2"/>
          </p:nvPr>
        </p:nvSpPr>
        <p:spPr>
          <a:xfrm>
            <a:off x="323850" y="3501008"/>
            <a:ext cx="8496300" cy="26642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5" name="Rectangle 5"/>
          <p:cNvSpPr>
            <a:spLocks noGrp="1" noChangeArrowheads="1"/>
          </p:cNvSpPr>
          <p:nvPr>
            <p:ph type="ftr" sz="quarter" idx="10"/>
          </p:nvPr>
        </p:nvSpPr>
        <p:spPr/>
        <p:txBody>
          <a:bodyPr/>
          <a:lstStyle>
            <a:lvl1pPr>
              <a:defRPr/>
            </a:lvl1pPr>
          </a:lstStyle>
          <a:p>
            <a:pPr>
              <a:defRPr/>
            </a:pPr>
            <a:r>
              <a:rPr lang="en-US" altLang="zh-CN"/>
              <a:t>©Haiyang Liu, 2025</a:t>
            </a:r>
            <a:endParaRPr lang="en-US" altLang="zh-CN" dirty="0"/>
          </a:p>
        </p:txBody>
      </p:sp>
      <p:sp>
        <p:nvSpPr>
          <p:cNvPr id="6" name="Rectangle 6"/>
          <p:cNvSpPr>
            <a:spLocks noGrp="1" noChangeArrowheads="1"/>
          </p:cNvSpPr>
          <p:nvPr>
            <p:ph type="sldNum" sz="quarter" idx="11"/>
          </p:nvPr>
        </p:nvSpPr>
        <p:spPr/>
        <p:txBody>
          <a:bodyPr/>
          <a:lstStyle>
            <a:lvl1pPr>
              <a:defRPr/>
            </a:lvl1pPr>
          </a:lstStyle>
          <a:p>
            <a:pPr>
              <a:defRPr/>
            </a:pPr>
            <a:fld id="{E455DE7D-A7CA-4CE7-A54D-6F8BA2A0D8E0}" type="slidenum">
              <a:rPr lang="en-US" altLang="zh-CN"/>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oleObject" Target="../embeddings/oleObject2.bin"/><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vmlDrawing" Target="../drawings/vmlDrawing2.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vmlDrawing" Target="../drawings/vmlDrawing4.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4" Type="http://schemas.openxmlformats.org/officeDocument/2006/relationships/theme" Target="../theme/theme3.xml"/><Relationship Id="rId13" Type="http://schemas.openxmlformats.org/officeDocument/2006/relationships/vmlDrawing" Target="../drawings/vmlDrawing6.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4.xml"/><Relationship Id="rId13" Type="http://schemas.openxmlformats.org/officeDocument/2006/relationships/vmlDrawing" Target="../drawings/vmlDrawing8.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slideLayout" Target="../slideLayouts/slideLayout40.xml"/><Relationship Id="rId7" Type="http://schemas.openxmlformats.org/officeDocument/2006/relationships/slideLayout" Target="../slideLayouts/slideLayout39.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3" Type="http://schemas.openxmlformats.org/officeDocument/2006/relationships/slideLayout" Target="../slideLayouts/slideLayout35.xml"/><Relationship Id="rId2" Type="http://schemas.openxmlformats.org/officeDocument/2006/relationships/slideLayout" Target="../slideLayouts/slideLayout34.xml"/><Relationship Id="rId14" Type="http://schemas.openxmlformats.org/officeDocument/2006/relationships/theme" Target="../theme/theme5.xml"/><Relationship Id="rId13" Type="http://schemas.openxmlformats.org/officeDocument/2006/relationships/vmlDrawing" Target="../drawings/vmlDrawing10.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33.xml"/></Relationships>
</file>

<file path=ppt/slideMasters/_rels/slideMaster6.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slideLayout" Target="../slideLayouts/slideLayout48.xml"/><Relationship Id="rId7" Type="http://schemas.openxmlformats.org/officeDocument/2006/relationships/slideLayout" Target="../slideLayouts/slideLayout47.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3" Type="http://schemas.openxmlformats.org/officeDocument/2006/relationships/slideLayout" Target="../slideLayouts/slideLayout43.xml"/><Relationship Id="rId2" Type="http://schemas.openxmlformats.org/officeDocument/2006/relationships/slideLayout" Target="../slideLayouts/slideLayout42.xml"/><Relationship Id="rId14" Type="http://schemas.openxmlformats.org/officeDocument/2006/relationships/theme" Target="../theme/theme6.xml"/><Relationship Id="rId13" Type="http://schemas.openxmlformats.org/officeDocument/2006/relationships/vmlDrawing" Target="../drawings/vmlDrawing12.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41.xml"/></Relationships>
</file>

<file path=ppt/slideMasters/_rels/slideMaster7.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7.xml"/><Relationship Id="rId13" Type="http://schemas.openxmlformats.org/officeDocument/2006/relationships/vmlDrawing" Target="../drawings/vmlDrawing14.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49.xml"/></Relationships>
</file>

<file path=ppt/slideMasters/_rels/slideMaster8.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4" Type="http://schemas.openxmlformats.org/officeDocument/2006/relationships/theme" Target="../theme/theme8.xml"/><Relationship Id="rId13" Type="http://schemas.openxmlformats.org/officeDocument/2006/relationships/vmlDrawing" Target="../drawings/vmlDrawing16.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57.xml"/></Relationships>
</file>

<file path=ppt/slideMasters/_rels/slideMaster9.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slideLayout" Target="../slideLayouts/slideLayout72.xml"/><Relationship Id="rId7" Type="http://schemas.openxmlformats.org/officeDocument/2006/relationships/slideLayout" Target="../slideLayouts/slideLayout71.xml"/><Relationship Id="rId6" Type="http://schemas.openxmlformats.org/officeDocument/2006/relationships/slideLayout" Target="../slideLayouts/slideLayout70.xml"/><Relationship Id="rId5" Type="http://schemas.openxmlformats.org/officeDocument/2006/relationships/slideLayout" Target="../slideLayouts/slideLayout69.xml"/><Relationship Id="rId4" Type="http://schemas.openxmlformats.org/officeDocument/2006/relationships/slideLayout" Target="../slideLayouts/slideLayout68.xml"/><Relationship Id="rId3" Type="http://schemas.openxmlformats.org/officeDocument/2006/relationships/slideLayout" Target="../slideLayouts/slideLayout67.xml"/><Relationship Id="rId2" Type="http://schemas.openxmlformats.org/officeDocument/2006/relationships/slideLayout" Target="../slideLayouts/slideLayout66.xml"/><Relationship Id="rId14" Type="http://schemas.openxmlformats.org/officeDocument/2006/relationships/theme" Target="../theme/theme9.xml"/><Relationship Id="rId13" Type="http://schemas.openxmlformats.org/officeDocument/2006/relationships/vmlDrawing" Target="../drawings/vmlDrawing18.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65.xml"/></Relationships>
</file>

<file path=ppt/slideMasters/_rels/slideMaster10.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4" Type="http://schemas.openxmlformats.org/officeDocument/2006/relationships/theme" Target="../theme/theme10.xml"/><Relationship Id="rId13" Type="http://schemas.openxmlformats.org/officeDocument/2006/relationships/vmlDrawing" Target="../drawings/vmlDrawing20.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73.xml"/></Relationships>
</file>

<file path=ppt/slideMasters/_rels/slideMaster11.xml.rels><?xml version="1.0" encoding="UTF-8" standalone="yes"?>
<Relationships xmlns="http://schemas.openxmlformats.org/package/2006/relationships"><Relationship Id="rId9" Type="http://schemas.openxmlformats.org/officeDocument/2006/relationships/oleObject" Target="../embeddings/oleObject22.bin"/><Relationship Id="rId8" Type="http://schemas.openxmlformats.org/officeDocument/2006/relationships/slideLayout" Target="../slideLayouts/slideLayout88.xml"/><Relationship Id="rId7" Type="http://schemas.openxmlformats.org/officeDocument/2006/relationships/slideLayout" Target="../slideLayouts/slideLayout87.xml"/><Relationship Id="rId6" Type="http://schemas.openxmlformats.org/officeDocument/2006/relationships/slideLayout" Target="../slideLayouts/slideLayout86.xml"/><Relationship Id="rId5" Type="http://schemas.openxmlformats.org/officeDocument/2006/relationships/slideLayout" Target="../slideLayouts/slideLayout85.xml"/><Relationship Id="rId4" Type="http://schemas.openxmlformats.org/officeDocument/2006/relationships/slideLayout" Target="../slideLayouts/slideLayout84.xml"/><Relationship Id="rId3" Type="http://schemas.openxmlformats.org/officeDocument/2006/relationships/slideLayout" Target="../slideLayouts/slideLayout83.xml"/><Relationship Id="rId2" Type="http://schemas.openxmlformats.org/officeDocument/2006/relationships/slideLayout" Target="../slideLayouts/slideLayout82.xml"/><Relationship Id="rId14" Type="http://schemas.openxmlformats.org/officeDocument/2006/relationships/theme" Target="../theme/theme11.xml"/><Relationship Id="rId13" Type="http://schemas.openxmlformats.org/officeDocument/2006/relationships/vmlDrawing" Target="../drawings/vmlDrawing22.vml"/><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1.png"/><Relationship Id="rId1"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23850" y="980728"/>
            <a:ext cx="849630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en-US" altLang="zh-CN" dirty="0"/>
          </a:p>
          <a:p>
            <a:pPr lvl="0"/>
            <a:r>
              <a:rPr lang="zh-CN" altLang="en-US" dirty="0"/>
              <a:t>单击此处编辑母版文本样式</a:t>
            </a:r>
            <a:endParaRPr lang="zh-CN" altLang="en-US" dirty="0"/>
          </a:p>
          <a:p>
            <a:pPr lvl="1"/>
            <a:r>
              <a:rPr lang="zh-CN" altLang="en-US" dirty="0"/>
              <a:t>第二级</a:t>
            </a:r>
            <a:endParaRPr lang="en-US" altLang="zh-CN" dirty="0"/>
          </a:p>
          <a:p>
            <a:pPr marL="575945" marR="0" lvl="1" indent="-360045" algn="l" defTabSz="914400" rtl="0" eaLnBrk="1" fontAlgn="base" latinLnBrk="0" hangingPunct="1">
              <a:lnSpc>
                <a:spcPct val="100000"/>
              </a:lnSpc>
              <a:spcBef>
                <a:spcPts val="0"/>
              </a:spcBef>
              <a:spcAft>
                <a:spcPts val="600"/>
              </a:spcAft>
              <a:buClrTx/>
              <a:buSzTx/>
              <a:buFont typeface="Wingdings" panose="05000000000000000000" pitchFamily="2" charset="2"/>
              <a:buChar char="Ø"/>
              <a:defRPr/>
            </a:pPr>
            <a:r>
              <a:rPr lang="zh-CN" altLang="en-US" dirty="0"/>
              <a:t>单击此处编辑母版文本样式</a:t>
            </a:r>
            <a:endParaRPr lang="zh-CN" altLang="en-US" dirty="0"/>
          </a:p>
          <a:p>
            <a:pPr lvl="1"/>
            <a:r>
              <a:rPr lang="zh-CN" altLang="en-US" dirty="0"/>
              <a:t>第二级</a:t>
            </a:r>
            <a:endParaRPr lang="zh-CN" altLang="en-US" dirty="0"/>
          </a:p>
        </p:txBody>
      </p:sp>
      <p:sp>
        <p:nvSpPr>
          <p:cNvPr id="1029" name="Rectangle 5"/>
          <p:cNvSpPr>
            <a:spLocks noGrp="1" noChangeArrowheads="1"/>
          </p:cNvSpPr>
          <p:nvPr>
            <p:ph type="ftr" sz="quarter" idx="3"/>
          </p:nvPr>
        </p:nvSpPr>
        <p:spPr bwMode="auto">
          <a:xfrm>
            <a:off x="3124200" y="6381006"/>
            <a:ext cx="289560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00" smtClean="0">
                <a:latin typeface="Verdana" panose="020B0604030504040204" pitchFamily="34" charset="0"/>
              </a:defRPr>
            </a:lvl1pPr>
          </a:lstStyle>
          <a:p>
            <a:pPr>
              <a:defRPr/>
            </a:pPr>
            <a:r>
              <a:rPr lang="en-US" altLang="zh-CN"/>
              <a:t>©Haiyang Liu, 2025</a:t>
            </a:r>
            <a:endParaRPr lang="en-US" altLang="zh-CN" dirty="0"/>
          </a:p>
        </p:txBody>
      </p:sp>
      <p:sp>
        <p:nvSpPr>
          <p:cNvPr id="1030" name="Rectangle 6"/>
          <p:cNvSpPr>
            <a:spLocks noGrp="1" noChangeArrowheads="1"/>
          </p:cNvSpPr>
          <p:nvPr>
            <p:ph type="sldNum" sz="quarter" idx="4"/>
          </p:nvPr>
        </p:nvSpPr>
        <p:spPr bwMode="auto">
          <a:xfrm>
            <a:off x="7417122" y="6381751"/>
            <a:ext cx="1403350" cy="359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000"/>
            </a:lvl1pPr>
          </a:lstStyle>
          <a:p>
            <a:pPr>
              <a:defRPr/>
            </a:pPr>
            <a:fld id="{2C2D39BD-2FBC-415D-AE3F-113858EA1DB1}" type="slidenum">
              <a:rPr lang="en-US" altLang="zh-CN"/>
            </a:fld>
            <a:endParaRPr lang="en-US" altLang="zh-CN"/>
          </a:p>
        </p:txBody>
      </p:sp>
      <p:graphicFrame>
        <p:nvGraphicFramePr>
          <p:cNvPr id="2" name="Object 8"/>
          <p:cNvGraphicFramePr>
            <a:graphicFrameLocks noChangeAspect="1"/>
          </p:cNvGraphicFramePr>
          <p:nvPr/>
        </p:nvGraphicFramePr>
        <p:xfrm>
          <a:off x="0" y="6084888"/>
          <a:ext cx="971550" cy="766762"/>
        </p:xfrm>
        <a:graphic>
          <a:graphicData uri="http://schemas.openxmlformats.org/presentationml/2006/ole">
            <mc:AlternateContent xmlns:mc="http://schemas.openxmlformats.org/markup-compatibility/2006">
              <mc:Choice xmlns:v="urn:schemas-microsoft-com:vml" Requires="v">
                <p:oleObj spid="_x0000_s3" name="Image" r:id="rId9" imgW="2590800" imgH="2044700" progId="Photoshop.Image.7">
                  <p:embed/>
                </p:oleObj>
              </mc:Choice>
              <mc:Fallback>
                <p:oleObj name="Image" r:id="rId9" imgW="2590800" imgH="2044700" progId="Photoshop.Image.7">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6084888"/>
                        <a:ext cx="971550"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333399"/>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Rectangle 13"/>
          <p:cNvSpPr>
            <a:spLocks noGrp="1" noChangeArrowheads="1"/>
          </p:cNvSpPr>
          <p:nvPr>
            <p:ph type="title"/>
          </p:nvPr>
        </p:nvSpPr>
        <p:spPr bwMode="auto">
          <a:xfrm>
            <a:off x="323850" y="259432"/>
            <a:ext cx="74882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单击此处编辑母版文本样式</a:t>
            </a:r>
            <a:endParaRPr lang="zh-CN" altLang="en-US" dirty="0"/>
          </a:p>
        </p:txBody>
      </p:sp>
      <p:pic>
        <p:nvPicPr>
          <p:cNvPr id="1034" name="Picture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35616" y="44450"/>
            <a:ext cx="1008384" cy="936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Lst>
  <p:hf hdr="0" dt="0"/>
  <p:txStyles>
    <p:titleStyle>
      <a:lvl1pPr algn="l" rtl="0" eaLnBrk="1" fontAlgn="base" hangingPunct="1">
        <a:spcBef>
          <a:spcPct val="0"/>
        </a:spcBef>
        <a:spcAft>
          <a:spcPct val="0"/>
        </a:spcAft>
        <a:defRPr kumimoji="1" lang="zh-CN" altLang="en-US" sz="4000" b="1" baseline="0" dirty="0" smtClean="0">
          <a:solidFill>
            <a:srgbClr val="C00000"/>
          </a:solidFill>
          <a:latin typeface="Arial" panose="020B0604020202020204" pitchFamily="34" charset="0"/>
          <a:ea typeface="宋体" panose="02010600030101010101" pitchFamily="2" charset="-122"/>
          <a:cs typeface="+mj-cs"/>
        </a:defRPr>
      </a:lvl1pPr>
      <a:lvl2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2pPr>
      <a:lvl3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3pPr>
      <a:lvl4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4pPr>
      <a:lvl5pPr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5pPr>
      <a:lvl6pPr marL="4572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6pPr>
      <a:lvl7pPr marL="9144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7pPr>
      <a:lvl8pPr marL="13716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8pPr>
      <a:lvl9pPr marL="1828800" algn="l" rtl="0" eaLnBrk="1" fontAlgn="base" hangingPunct="1">
        <a:spcBef>
          <a:spcPct val="0"/>
        </a:spcBef>
        <a:spcAft>
          <a:spcPct val="0"/>
        </a:spcAft>
        <a:defRPr kumimoji="1" sz="3600" b="1">
          <a:solidFill>
            <a:srgbClr val="008000"/>
          </a:solidFill>
          <a:latin typeface="Tahoma" panose="020B0604030504040204" pitchFamily="34" charset="0"/>
          <a:ea typeface="楷体_GB2312" pitchFamily="49" charset="-122"/>
        </a:defRPr>
      </a:lvl9pPr>
    </p:titleStyle>
    <p:bodyStyle>
      <a:lvl1pPr marL="360045" indent="-360045" algn="l" rtl="0" eaLnBrk="1" fontAlgn="base" hangingPunct="1">
        <a:lnSpc>
          <a:spcPts val="4200"/>
        </a:lnSpc>
        <a:spcBef>
          <a:spcPts val="0"/>
        </a:spcBef>
        <a:spcAft>
          <a:spcPts val="600"/>
        </a:spcAft>
        <a:buFont typeface="Wingdings" panose="05000000000000000000" pitchFamily="2" charset="2"/>
        <a:buBlip>
          <a:blip r:embed="rId12"/>
        </a:buBlip>
        <a:defRPr kumimoji="1" sz="3200" baseline="0">
          <a:solidFill>
            <a:srgbClr val="000000"/>
          </a:solidFill>
          <a:latin typeface="Arial" panose="020B0604020202020204" pitchFamily="34" charset="0"/>
          <a:ea typeface="宋体" panose="02010600030101010101" pitchFamily="2" charset="-122"/>
          <a:cs typeface="+mn-cs"/>
        </a:defRPr>
      </a:lvl1pPr>
      <a:lvl2pPr marL="575945" marR="0" indent="-360045" algn="l" defTabSz="914400" rtl="0" eaLnBrk="1" fontAlgn="base" latinLnBrk="0" hangingPunct="1">
        <a:lnSpc>
          <a:spcPts val="4200"/>
        </a:lnSpc>
        <a:spcBef>
          <a:spcPts val="0"/>
        </a:spcBef>
        <a:spcAft>
          <a:spcPts val="600"/>
        </a:spcAft>
        <a:buClrTx/>
        <a:buSzTx/>
        <a:buFont typeface="Wingdings" panose="05000000000000000000" pitchFamily="2" charset="2"/>
        <a:buChar char="Ø"/>
        <a:defRPr kumimoji="1" sz="3200" baseline="0">
          <a:solidFill>
            <a:schemeClr val="tx1"/>
          </a:solidFill>
          <a:latin typeface="Arial" panose="020B0604020202020204" pitchFamily="34" charset="0"/>
          <a:ea typeface="楷体_GB2312" pitchFamily="49" charset="-122"/>
        </a:defRPr>
      </a:lvl2pPr>
      <a:lvl3pPr marL="864235" indent="-360045" algn="l" rtl="0" eaLnBrk="1" fontAlgn="base" hangingPunct="1">
        <a:spcBef>
          <a:spcPts val="0"/>
        </a:spcBef>
        <a:spcAft>
          <a:spcPts val="600"/>
        </a:spcAft>
        <a:buFont typeface="Wingdings" panose="05000000000000000000" pitchFamily="2" charset="2"/>
        <a:buChar char="u"/>
        <a:defRPr kumimoji="1" sz="28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rgbClr val="152EAB"/>
          </a:solidFill>
          <a:latin typeface="+mn-lt"/>
          <a:ea typeface="+mn-ea"/>
        </a:defRPr>
      </a:lvl4pPr>
      <a:lvl5pPr marL="2057400" indent="-228600" algn="l" rtl="0" eaLnBrk="1" fontAlgn="base" hangingPunct="1">
        <a:spcBef>
          <a:spcPct val="20000"/>
        </a:spcBef>
        <a:spcAft>
          <a:spcPct val="0"/>
        </a:spcAft>
        <a:defRPr kumimoji="1" sz="2000">
          <a:solidFill>
            <a:srgbClr val="152EAB"/>
          </a:solidFill>
          <a:latin typeface="+mn-lt"/>
          <a:ea typeface="+mn-ea"/>
        </a:defRPr>
      </a:lvl5pPr>
      <a:lvl6pPr marL="2514600" indent="-228600" algn="l" rtl="0" eaLnBrk="1" fontAlgn="base" hangingPunct="1">
        <a:spcBef>
          <a:spcPct val="20000"/>
        </a:spcBef>
        <a:spcAft>
          <a:spcPct val="0"/>
        </a:spcAft>
        <a:defRPr kumimoji="1" sz="2000">
          <a:solidFill>
            <a:srgbClr val="152EAB"/>
          </a:solidFill>
          <a:latin typeface="+mn-lt"/>
          <a:ea typeface="+mn-ea"/>
        </a:defRPr>
      </a:lvl6pPr>
      <a:lvl7pPr marL="2971800" indent="-228600" algn="l" rtl="0" eaLnBrk="1" fontAlgn="base" hangingPunct="1">
        <a:spcBef>
          <a:spcPct val="20000"/>
        </a:spcBef>
        <a:spcAft>
          <a:spcPct val="0"/>
        </a:spcAft>
        <a:defRPr kumimoji="1" sz="2000">
          <a:solidFill>
            <a:srgbClr val="152EAB"/>
          </a:solidFill>
          <a:latin typeface="+mn-lt"/>
          <a:ea typeface="+mn-ea"/>
        </a:defRPr>
      </a:lvl7pPr>
      <a:lvl8pPr marL="3429000" indent="-228600" algn="l" rtl="0" eaLnBrk="1" fontAlgn="base" hangingPunct="1">
        <a:spcBef>
          <a:spcPct val="20000"/>
        </a:spcBef>
        <a:spcAft>
          <a:spcPct val="0"/>
        </a:spcAft>
        <a:defRPr kumimoji="1" sz="2000">
          <a:solidFill>
            <a:srgbClr val="152EAB"/>
          </a:solidFill>
          <a:latin typeface="+mn-lt"/>
          <a:ea typeface="+mn-ea"/>
        </a:defRPr>
      </a:lvl8pPr>
      <a:lvl9pPr marL="3886200" indent="-228600" algn="l" rtl="0" eaLnBrk="1" fontAlgn="base" hangingPunct="1">
        <a:spcBef>
          <a:spcPct val="20000"/>
        </a:spcBef>
        <a:spcAft>
          <a:spcPct val="0"/>
        </a:spcAft>
        <a:defRPr kumimoji="1" sz="2000">
          <a:solidFill>
            <a:srgbClr val="152EAB"/>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8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5.xml"/><Relationship Id="rId2" Type="http://schemas.openxmlformats.org/officeDocument/2006/relationships/image" Target="../media/image5.wmf"/><Relationship Id="rId1" Type="http://schemas.openxmlformats.org/officeDocument/2006/relationships/oleObject" Target="../embeddings/oleObject23.bin"/></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5.xml"/><Relationship Id="rId2" Type="http://schemas.openxmlformats.org/officeDocument/2006/relationships/image" Target="../media/image5.wmf"/><Relationship Id="rId1" Type="http://schemas.openxmlformats.org/officeDocument/2006/relationships/oleObject" Target="../embeddings/oleObject24.bin"/></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5.xml"/><Relationship Id="rId4" Type="http://schemas.openxmlformats.org/officeDocument/2006/relationships/image" Target="../media/image7.emf"/><Relationship Id="rId3" Type="http://schemas.openxmlformats.org/officeDocument/2006/relationships/oleObject" Target="../embeddings/oleObject26.bin"/><Relationship Id="rId2" Type="http://schemas.openxmlformats.org/officeDocument/2006/relationships/image" Target="../media/image6.emf"/><Relationship Id="rId1" Type="http://schemas.openxmlformats.org/officeDocument/2006/relationships/oleObject" Target="../embeddings/oleObject25.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5.xml"/><Relationship Id="rId2" Type="http://schemas.openxmlformats.org/officeDocument/2006/relationships/image" Target="../media/image8.wmf"/><Relationship Id="rId1" Type="http://schemas.openxmlformats.org/officeDocument/2006/relationships/oleObject" Target="../embeddings/oleObject27.bin"/></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5.xml"/><Relationship Id="rId2" Type="http://schemas.openxmlformats.org/officeDocument/2006/relationships/image" Target="../media/image9.emf"/><Relationship Id="rId1" Type="http://schemas.openxmlformats.org/officeDocument/2006/relationships/oleObject" Target="../embeddings/oleObject28.bin"/></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5.xml"/><Relationship Id="rId2" Type="http://schemas.openxmlformats.org/officeDocument/2006/relationships/image" Target="../media/image10.wmf"/><Relationship Id="rId1" Type="http://schemas.openxmlformats.org/officeDocument/2006/relationships/oleObject" Target="../embeddings/oleObject29.bin"/></Relationships>
</file>

<file path=ppt/slides/_rels/slide159.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13.emf"/><Relationship Id="rId7" Type="http://schemas.openxmlformats.org/officeDocument/2006/relationships/oleObject" Target="../embeddings/oleObject33.bin"/><Relationship Id="rId6" Type="http://schemas.openxmlformats.org/officeDocument/2006/relationships/image" Target="../media/image12.emf"/><Relationship Id="rId5" Type="http://schemas.openxmlformats.org/officeDocument/2006/relationships/oleObject" Target="../embeddings/oleObject32.bin"/><Relationship Id="rId4" Type="http://schemas.openxmlformats.org/officeDocument/2006/relationships/image" Target="../media/image11.emf"/><Relationship Id="rId3" Type="http://schemas.openxmlformats.org/officeDocument/2006/relationships/oleObject" Target="../embeddings/oleObject31.bin"/><Relationship Id="rId2" Type="http://schemas.openxmlformats.org/officeDocument/2006/relationships/image" Target="../media/image10.wmf"/><Relationship Id="rId14" Type="http://schemas.openxmlformats.org/officeDocument/2006/relationships/vmlDrawing" Target="../drawings/vmlDrawing29.vml"/><Relationship Id="rId13" Type="http://schemas.openxmlformats.org/officeDocument/2006/relationships/slideLayout" Target="../slideLayouts/slideLayout5.xml"/><Relationship Id="rId12" Type="http://schemas.openxmlformats.org/officeDocument/2006/relationships/image" Target="../media/image15.emf"/><Relationship Id="rId11" Type="http://schemas.openxmlformats.org/officeDocument/2006/relationships/oleObject" Target="../embeddings/oleObject35.bin"/><Relationship Id="rId10" Type="http://schemas.openxmlformats.org/officeDocument/2006/relationships/image" Target="../media/image14.emf"/><Relationship Id="rId1" Type="http://schemas.openxmlformats.org/officeDocument/2006/relationships/oleObject" Target="../embeddings/oleObject30.bin"/></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539750" y="1341438"/>
            <a:ext cx="8280400" cy="1727200"/>
          </a:xfrm>
        </p:spPr>
        <p:txBody>
          <a:bodyPr/>
          <a:lstStyle/>
          <a:p>
            <a:r>
              <a:rPr sz="4800" dirty="0">
                <a:latin typeface="Times New Roman" panose="02020603050405020304" pitchFamily="18" charset="0"/>
                <a:cs typeface="Times New Roman" panose="02020603050405020304" pitchFamily="18" charset="0"/>
              </a:rPr>
              <a:t>Data Structure </a:t>
            </a:r>
            <a:br>
              <a:rPr sz="4800" dirty="0">
                <a:latin typeface="Times New Roman" panose="02020603050405020304" pitchFamily="18" charset="0"/>
                <a:cs typeface="Times New Roman" panose="02020603050405020304" pitchFamily="18" charset="0"/>
              </a:rPr>
            </a:br>
            <a:endParaRPr lang="en-US" altLang="zh-CN" sz="4800" b="0" dirty="0">
              <a:solidFill>
                <a:srgbClr val="003300"/>
              </a:solidFill>
              <a:latin typeface="Times New Roman" panose="02020603050405020304" pitchFamily="18" charset="0"/>
              <a:ea typeface="楷体_GB2312" pitchFamily="49" charset="-122"/>
              <a:cs typeface="Times New Roman" panose="02020603050405020304" pitchFamily="18" charset="0"/>
            </a:endParaRPr>
          </a:p>
        </p:txBody>
      </p:sp>
      <p:sp>
        <p:nvSpPr>
          <p:cNvPr id="6147" name="Rectangle 3"/>
          <p:cNvSpPr>
            <a:spLocks noGrp="1" noChangeArrowheads="1"/>
          </p:cNvSpPr>
          <p:nvPr>
            <p:ph type="subTitle" idx="1"/>
          </p:nvPr>
        </p:nvSpPr>
        <p:spPr>
          <a:xfrm>
            <a:off x="827088" y="3500438"/>
            <a:ext cx="7561262" cy="2520850"/>
          </a:xfrm>
        </p:spPr>
        <p:txBody>
          <a:bodyPr/>
          <a:lstStyle/>
          <a:p>
            <a:pPr eaLnBrk="1" hangingPunct="1">
              <a:lnSpc>
                <a:spcPct val="80000"/>
              </a:lnSpc>
            </a:pPr>
            <a:r>
              <a:rPr lang="zh-CN" altLang="en-US" sz="3200" b="1" dirty="0">
                <a:solidFill>
                  <a:srgbClr val="1810B0"/>
                </a:solidFill>
                <a:latin typeface="Times New Roman" panose="02020603050405020304" pitchFamily="18" charset="0"/>
                <a:cs typeface="Times New Roman" panose="02020603050405020304" pitchFamily="18" charset="0"/>
              </a:rPr>
              <a:t>Haiyang Liu</a:t>
            </a:r>
            <a:endParaRPr lang="en-US" altLang="zh-CN" sz="2000" b="1"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755650" y="1341438"/>
            <a:ext cx="7772400" cy="1727200"/>
          </a:xfrm>
        </p:spPr>
        <p:txBody>
          <a:bodyPr/>
          <a:lstStyle/>
          <a:p>
            <a:pPr>
              <a:defRPr/>
            </a:pPr>
            <a:r>
              <a:rPr dirty="0">
                <a:latin typeface="Times New Roman" panose="02020603050405020304" pitchFamily="18" charset="0"/>
                <a:cs typeface="Times New Roman" panose="02020603050405020304" pitchFamily="18" charset="0"/>
              </a:rPr>
              <a:t>Graph Theory and Its Algorithms</a:t>
            </a:r>
            <a:endParaRPr dirty="0">
              <a:latin typeface="Times New Roman" panose="02020603050405020304" pitchFamily="18" charset="0"/>
              <a:cs typeface="Times New Roman" panose="02020603050405020304" pitchFamily="18" charset="0"/>
            </a:endParaRPr>
          </a:p>
        </p:txBody>
      </p:sp>
      <p:sp>
        <p:nvSpPr>
          <p:cNvPr id="5123" name="Rectangle 3"/>
          <p:cNvSpPr>
            <a:spLocks noGrp="1" noChangeArrowheads="1"/>
          </p:cNvSpPr>
          <p:nvPr>
            <p:ph type="subTitle" idx="1"/>
          </p:nvPr>
        </p:nvSpPr>
        <p:spPr>
          <a:xfrm>
            <a:off x="1403350" y="3573463"/>
            <a:ext cx="6729413" cy="2039937"/>
          </a:xfrm>
        </p:spPr>
        <p:txBody>
          <a:bodyPr/>
          <a:lstStyle/>
          <a:p>
            <a:pPr eaLnBrk="1" hangingPunct="1">
              <a:lnSpc>
                <a:spcPts val="4200"/>
              </a:lnSpc>
            </a:pPr>
            <a:r>
              <a:rPr lang="zh-CN" altLang="en-US" b="1" dirty="0">
                <a:solidFill>
                  <a:srgbClr val="1810B0"/>
                </a:solidFill>
                <a:latin typeface="Times New Roman" panose="02020603050405020304" pitchFamily="18" charset="0"/>
                <a:cs typeface="Times New Roman" panose="02020603050405020304" pitchFamily="18" charset="0"/>
                <a:sym typeface="+mn-ea"/>
              </a:rPr>
              <a:t>Haiyang Liu</a:t>
            </a:r>
            <a:endParaRPr lang="zh-CN" altLang="en-US" b="1" dirty="0">
              <a:solidFill>
                <a:srgbClr val="1810B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323850" y="260648"/>
            <a:ext cx="7525022" cy="720081"/>
          </a:xfrm>
        </p:spPr>
        <p:txBody>
          <a:bodyPr/>
          <a:lstStyle/>
          <a:p>
            <a:r>
              <a:rPr lang="en-US" altLang="zh-CN">
                <a:solidFill>
                  <a:srgbClr val="FF0000"/>
                </a:solidFill>
                <a:latin typeface="Times New Roman" panose="02020603050405020304" pitchFamily="18" charset="0"/>
                <a:cs typeface="Times New Roman" panose="02020603050405020304" pitchFamily="18" charset="0"/>
                <a:sym typeface="+mn-ea"/>
              </a:rPr>
              <a:t>Outline:  Content</a:t>
            </a:r>
            <a:endParaRPr lang="en-US" altLang="zh-CN" sz="4000" dirty="0">
              <a:solidFill>
                <a:srgbClr val="FF0000"/>
              </a:solidFill>
              <a:latin typeface="+mj-lt"/>
            </a:endParaRPr>
          </a:p>
        </p:txBody>
      </p:sp>
      <p:sp>
        <p:nvSpPr>
          <p:cNvPr id="8197" name="Rectangle 3"/>
          <p:cNvSpPr>
            <a:spLocks noGrp="1" noChangeArrowheads="1"/>
          </p:cNvSpPr>
          <p:nvPr>
            <p:ph type="body" idx="1"/>
          </p:nvPr>
        </p:nvSpPr>
        <p:spPr>
          <a:xfrm>
            <a:off x="323528" y="1052736"/>
            <a:ext cx="8496944" cy="5184328"/>
          </a:xfrm>
        </p:spPr>
        <p:txBody>
          <a:bodyPr/>
          <a:lstStyle/>
          <a:p>
            <a:pPr>
              <a:lnSpc>
                <a:spcPts val="4800"/>
              </a:lnSpc>
            </a:pPr>
            <a:r>
              <a:rPr lang="en-US" altLang="zh-CN" sz="3600" dirty="0">
                <a:latin typeface="Times New Roman" panose="02020603050405020304" pitchFamily="18" charset="0"/>
                <a:cs typeface="Times New Roman" panose="02020603050405020304" pitchFamily="18" charset="0"/>
              </a:rPr>
              <a:t>Basic Concepts of Graphs</a:t>
            </a:r>
            <a:endParaRPr lang="en-US" altLang="zh-CN" sz="3600" dirty="0">
              <a:latin typeface="Times New Roman" panose="02020603050405020304" pitchFamily="18" charset="0"/>
              <a:cs typeface="Times New Roman" panose="02020603050405020304" pitchFamily="18" charset="0"/>
            </a:endParaRPr>
          </a:p>
          <a:p>
            <a:pPr>
              <a:lnSpc>
                <a:spcPts val="4800"/>
              </a:lnSpc>
            </a:pPr>
            <a:r>
              <a:rPr lang="en-US" altLang="zh-CN" sz="3600" dirty="0">
                <a:latin typeface="Times New Roman" panose="02020603050405020304" pitchFamily="18" charset="0"/>
                <a:cs typeface="Times New Roman" panose="02020603050405020304" pitchFamily="18" charset="0"/>
              </a:rPr>
              <a:t>Graph Storage Structures</a:t>
            </a:r>
            <a:endParaRPr lang="en-US" altLang="zh-CN" sz="3600" dirty="0">
              <a:latin typeface="Times New Roman" panose="02020603050405020304" pitchFamily="18" charset="0"/>
              <a:cs typeface="Times New Roman" panose="02020603050405020304" pitchFamily="18" charset="0"/>
            </a:endParaRPr>
          </a:p>
          <a:p>
            <a:pPr>
              <a:lnSpc>
                <a:spcPts val="4800"/>
              </a:lnSpc>
            </a:pPr>
            <a:r>
              <a:rPr lang="en-US" altLang="zh-CN" sz="3600" dirty="0">
                <a:latin typeface="Times New Roman" panose="02020603050405020304" pitchFamily="18" charset="0"/>
                <a:cs typeface="Times New Roman" panose="02020603050405020304" pitchFamily="18" charset="0"/>
              </a:rPr>
              <a:t>Graph Traversal</a:t>
            </a:r>
            <a:endParaRPr lang="en-US" altLang="zh-CN" sz="3600" dirty="0">
              <a:latin typeface="Times New Roman" panose="02020603050405020304" pitchFamily="18" charset="0"/>
              <a:cs typeface="Times New Roman" panose="02020603050405020304" pitchFamily="18" charset="0"/>
            </a:endParaRPr>
          </a:p>
          <a:p>
            <a:pPr>
              <a:lnSpc>
                <a:spcPts val="4800"/>
              </a:lnSpc>
            </a:pPr>
            <a:r>
              <a:rPr lang="en-US" altLang="zh-CN" sz="3600" dirty="0">
                <a:latin typeface="Times New Roman" panose="02020603050405020304" pitchFamily="18" charset="0"/>
                <a:cs typeface="Times New Roman" panose="02020603050405020304" pitchFamily="18" charset="0"/>
              </a:rPr>
              <a:t>Minimum Spanning Trees</a:t>
            </a:r>
            <a:endParaRPr lang="en-US" altLang="zh-CN" sz="3600" dirty="0">
              <a:latin typeface="Times New Roman" panose="02020603050405020304" pitchFamily="18" charset="0"/>
              <a:cs typeface="Times New Roman" panose="02020603050405020304" pitchFamily="18" charset="0"/>
            </a:endParaRPr>
          </a:p>
          <a:p>
            <a:pPr>
              <a:lnSpc>
                <a:spcPts val="4800"/>
              </a:lnSpc>
            </a:pPr>
            <a:r>
              <a:rPr lang="en-US" altLang="zh-CN" sz="3600" dirty="0">
                <a:latin typeface="Times New Roman" panose="02020603050405020304" pitchFamily="18" charset="0"/>
                <a:cs typeface="Times New Roman" panose="02020603050405020304" pitchFamily="18" charset="0"/>
              </a:rPr>
              <a:t>Shortest Paths</a:t>
            </a:r>
            <a:endParaRPr lang="en-US" altLang="zh-CN" sz="3600" dirty="0">
              <a:latin typeface="Times New Roman" panose="02020603050405020304" pitchFamily="18" charset="0"/>
              <a:cs typeface="Times New Roman" panose="02020603050405020304" pitchFamily="18" charset="0"/>
            </a:endParaRPr>
          </a:p>
          <a:p>
            <a:pPr>
              <a:lnSpc>
                <a:spcPts val="4800"/>
              </a:lnSpc>
            </a:pPr>
            <a:r>
              <a:rPr lang="en-US" altLang="zh-CN" sz="3600" dirty="0">
                <a:latin typeface="Times New Roman" panose="02020603050405020304" pitchFamily="18" charset="0"/>
                <a:cs typeface="Times New Roman" panose="02020603050405020304" pitchFamily="18" charset="0"/>
              </a:rPr>
              <a:t>Topological Sorting and Critical Paths</a:t>
            </a:r>
            <a:endParaRPr lang="en-US" altLang="zh-CN" sz="3600" dirty="0">
              <a:latin typeface="Times New Roman" panose="02020603050405020304" pitchFamily="18" charset="0"/>
              <a:cs typeface="Times New Roman" panose="02020603050405020304" pitchFamily="18" charset="0"/>
            </a:endParaRPr>
          </a:p>
        </p:txBody>
      </p:sp>
      <p:sp>
        <p:nvSpPr>
          <p:cNvPr id="2" name="页脚占位符 1"/>
          <p:cNvSpPr>
            <a:spLocks noGrp="1"/>
          </p:cNvSpPr>
          <p:nvPr>
            <p:ph type="ftr" sz="quarter" idx="10"/>
          </p:nvPr>
        </p:nvSpPr>
        <p:spPr/>
        <p:txBody>
          <a:bodyPr/>
          <a:lstStyle/>
          <a:p>
            <a:pPr>
              <a:defRPr/>
            </a:pPr>
            <a:r>
              <a:rPr lang="en-US" altLang="zh-CN"/>
              <a:t>©Haiyang Liu, 2025</a:t>
            </a:r>
            <a:endParaRPr lang="en-US" altLang="zh-CN" dirty="0"/>
          </a:p>
        </p:txBody>
      </p:sp>
      <p:sp>
        <p:nvSpPr>
          <p:cNvPr id="3" name="灯片编号占位符 2"/>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323850" y="332656"/>
            <a:ext cx="7525022" cy="720081"/>
          </a:xfrm>
        </p:spPr>
        <p:txBody>
          <a:bodyPr/>
          <a:lstStyle/>
          <a:p>
            <a:r>
              <a:rPr lang="en-US" altLang="zh-CN">
                <a:solidFill>
                  <a:srgbClr val="FF0000"/>
                </a:solidFill>
                <a:latin typeface="Times New Roman" panose="02020603050405020304" pitchFamily="18" charset="0"/>
                <a:cs typeface="Times New Roman" panose="02020603050405020304" pitchFamily="18" charset="0"/>
                <a:sym typeface="+mn-ea"/>
              </a:rPr>
              <a:t>Outline:  </a:t>
            </a:r>
            <a:r>
              <a:rPr lang="en-US" altLang="zh-CN">
                <a:solidFill>
                  <a:srgbClr val="FF0000"/>
                </a:solidFill>
                <a:latin typeface="Times New Roman" panose="02020603050405020304" pitchFamily="18" charset="0"/>
                <a:cs typeface="Times New Roman" panose="02020603050405020304" pitchFamily="18" charset="0"/>
                <a:sym typeface="+mn-ea"/>
              </a:rPr>
              <a:t>Key Points</a:t>
            </a:r>
            <a:endParaRPr lang="en-US" altLang="zh-CN" sz="4000" dirty="0">
              <a:solidFill>
                <a:srgbClr val="FF0000"/>
              </a:solidFill>
              <a:latin typeface="Times New Roman" panose="02020603050405020304" pitchFamily="18" charset="0"/>
              <a:cs typeface="Times New Roman" panose="02020603050405020304" pitchFamily="18" charset="0"/>
            </a:endParaRPr>
          </a:p>
        </p:txBody>
      </p:sp>
      <p:sp>
        <p:nvSpPr>
          <p:cNvPr id="8197" name="Rectangle 3"/>
          <p:cNvSpPr>
            <a:spLocks noGrp="1" noChangeArrowheads="1"/>
          </p:cNvSpPr>
          <p:nvPr>
            <p:ph type="body" idx="1"/>
          </p:nvPr>
        </p:nvSpPr>
        <p:spPr>
          <a:xfrm>
            <a:off x="323528" y="1124744"/>
            <a:ext cx="8640638" cy="5040312"/>
          </a:xfrm>
        </p:spPr>
        <p:txBody>
          <a:bodyPr/>
          <a:lstStyle/>
          <a:p>
            <a:pPr>
              <a:lnSpc>
                <a:spcPts val="4200"/>
              </a:lnSpc>
            </a:pPr>
            <a:r>
              <a:rPr lang="zh-CN" altLang="en-US" sz="2000" dirty="0">
                <a:latin typeface="Times New Roman" panose="02020603050405020304" pitchFamily="18" charset="0"/>
                <a:cs typeface="Times New Roman" panose="02020603050405020304" pitchFamily="18" charset="0"/>
                <a:sym typeface="+mn-ea"/>
              </a:rPr>
              <a:t>Various storage structures of </a:t>
            </a:r>
            <a:r>
              <a:rPr lang="en-US" altLang="zh-CN" sz="2000" dirty="0">
                <a:latin typeface="Times New Roman" panose="02020603050405020304" pitchFamily="18" charset="0"/>
                <a:cs typeface="Times New Roman" panose="02020603050405020304" pitchFamily="18" charset="0"/>
                <a:sym typeface="+mn-ea"/>
              </a:rPr>
              <a:t>graphs</a:t>
            </a:r>
            <a:r>
              <a:rPr lang="zh-CN" altLang="en-US"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a:lnSpc>
                <a:spcPts val="4200"/>
              </a:lnSpc>
            </a:pPr>
            <a:r>
              <a:rPr lang="zh-CN" altLang="en-US" sz="2000" dirty="0">
                <a:latin typeface="Times New Roman" panose="02020603050405020304" pitchFamily="18" charset="0"/>
                <a:cs typeface="Times New Roman" panose="02020603050405020304" pitchFamily="18" charset="0"/>
                <a:sym typeface="+mn-ea"/>
              </a:rPr>
              <a:t>Recursive and non-recursive algorithms for traversing graphs;</a:t>
            </a:r>
            <a:endParaRPr lang="zh-CN" altLang="en-US" sz="2000" dirty="0">
              <a:latin typeface="Times New Roman" panose="02020603050405020304" pitchFamily="18" charset="0"/>
              <a:cs typeface="Times New Roman" panose="02020603050405020304" pitchFamily="18" charset="0"/>
            </a:endParaRPr>
          </a:p>
          <a:p>
            <a:pPr>
              <a:lnSpc>
                <a:spcPts val="4200"/>
              </a:lnSpc>
            </a:pPr>
            <a:r>
              <a:rPr lang="en-US" altLang="zh-CN" sz="2000" dirty="0">
                <a:latin typeface="Times New Roman" panose="02020603050405020304" pitchFamily="18" charset="0"/>
                <a:cs typeface="Times New Roman" panose="02020603050405020304" pitchFamily="18" charset="0"/>
                <a:sym typeface="+mn-ea"/>
              </a:rPr>
              <a:t>Applying graph traversal algorithms to solve various simple path problems</a:t>
            </a:r>
            <a:r>
              <a:rPr lang="zh-CN" altLang="en-US"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lvl="1">
              <a:lnSpc>
                <a:spcPts val="3600"/>
              </a:lnSpc>
            </a:pPr>
            <a:r>
              <a:rPr lang="zh-CN" altLang="en-US" sz="2000" dirty="0">
                <a:solidFill>
                  <a:srgbClr val="FF0000"/>
                </a:solidFill>
                <a:latin typeface="Times New Roman" panose="02020603050405020304" pitchFamily="18" charset="0"/>
                <a:cs typeface="Times New Roman" panose="02020603050405020304" pitchFamily="18" charset="0"/>
                <a:sym typeface="+mn-ea"/>
              </a:rPr>
              <a:t>minimal spanning tree ﹑</a:t>
            </a:r>
            <a:endParaRPr lang="en-US" altLang="zh-CN" sz="2000" dirty="0">
              <a:latin typeface="Times New Roman" panose="02020603050405020304" pitchFamily="18" charset="0"/>
              <a:cs typeface="Times New Roman" panose="02020603050405020304" pitchFamily="18" charset="0"/>
            </a:endParaRPr>
          </a:p>
          <a:p>
            <a:pPr lvl="1">
              <a:lnSpc>
                <a:spcPts val="3600"/>
              </a:lnSpc>
            </a:pPr>
            <a:r>
              <a:rPr lang="en-US" altLang="zh-CN" sz="2000" dirty="0">
                <a:latin typeface="Times New Roman" panose="02020603050405020304" pitchFamily="18" charset="0"/>
                <a:cs typeface="Times New Roman" panose="02020603050405020304" pitchFamily="18" charset="0"/>
                <a:sym typeface="+mn-ea"/>
              </a:rPr>
              <a:t>shortest path</a:t>
            </a:r>
            <a:r>
              <a:rPr lang="zh-CN" altLang="en-US" sz="2000" dirty="0">
                <a:latin typeface="Times New Roman" panose="02020603050405020304" pitchFamily="18" charset="0"/>
                <a:cs typeface="Times New Roman" panose="02020603050405020304" pitchFamily="18" charset="0"/>
                <a:sym typeface="+mn-ea"/>
              </a:rPr>
              <a:t> ﹑</a:t>
            </a:r>
            <a:endParaRPr lang="en-US" altLang="zh-CN" sz="2000" dirty="0">
              <a:latin typeface="Times New Roman" panose="02020603050405020304" pitchFamily="18" charset="0"/>
              <a:cs typeface="Times New Roman" panose="02020603050405020304" pitchFamily="18" charset="0"/>
            </a:endParaRPr>
          </a:p>
          <a:p>
            <a:pPr lvl="1">
              <a:lnSpc>
                <a:spcPts val="3600"/>
              </a:lnSpc>
            </a:pPr>
            <a:r>
              <a:rPr lang="zh-CN" altLang="en-US" sz="2000" dirty="0">
                <a:latin typeface="Times New Roman" panose="02020603050405020304" pitchFamily="18" charset="0"/>
                <a:cs typeface="Times New Roman" panose="02020603050405020304" pitchFamily="18" charset="0"/>
                <a:sym typeface="+mn-ea"/>
              </a:rPr>
              <a:t>topological ordering ﹑</a:t>
            </a:r>
            <a:endParaRPr lang="en-US" altLang="zh-CN" sz="2000" dirty="0">
              <a:latin typeface="Times New Roman" panose="02020603050405020304" pitchFamily="18" charset="0"/>
              <a:cs typeface="Times New Roman" panose="02020603050405020304" pitchFamily="18" charset="0"/>
            </a:endParaRPr>
          </a:p>
          <a:p>
            <a:pPr lvl="1">
              <a:lnSpc>
                <a:spcPts val="3600"/>
              </a:lnSpc>
            </a:pPr>
            <a:r>
              <a:rPr lang="zh-CN" altLang="en-US" sz="2000" dirty="0">
                <a:latin typeface="Times New Roman" panose="02020603050405020304" pitchFamily="18" charset="0"/>
                <a:cs typeface="Times New Roman" panose="02020603050405020304" pitchFamily="18" charset="0"/>
                <a:sym typeface="+mn-ea"/>
              </a:rPr>
              <a:t>Critical path, etc.</a:t>
            </a:r>
            <a:endParaRPr lang="en-US" altLang="zh-CN" sz="2000" dirty="0">
              <a:latin typeface="Times New Roman" panose="02020603050405020304" pitchFamily="18" charset="0"/>
              <a:cs typeface="Times New Roman" panose="02020603050405020304" pitchFamily="18" charset="0"/>
            </a:endParaRPr>
          </a:p>
          <a:p>
            <a:pPr>
              <a:lnSpc>
                <a:spcPts val="4200"/>
              </a:lnSpc>
            </a:pPr>
            <a:r>
              <a:rPr lang="zh-CN" altLang="en-US" sz="2000" dirty="0">
                <a:solidFill>
                  <a:srgbClr val="660033"/>
                </a:solidFill>
                <a:latin typeface="Times New Roman" panose="02020603050405020304" pitchFamily="18" charset="0"/>
                <a:cs typeface="Times New Roman" panose="02020603050405020304" pitchFamily="18" charset="0"/>
                <a:sym typeface="+mn-ea"/>
              </a:rPr>
              <a:t>Teaching difficulties: graph traversal algorithm, minimum spanning tree construction algorithm.</a:t>
            </a:r>
            <a:endParaRPr lang="zh-CN" altLang="en-US" sz="2000" dirty="0">
              <a:solidFill>
                <a:srgbClr val="660033"/>
              </a:solidFill>
              <a:latin typeface="Times New Roman" panose="02020603050405020304" pitchFamily="18" charset="0"/>
              <a:cs typeface="Times New Roman" panose="02020603050405020304" pitchFamily="18" charset="0"/>
              <a:sym typeface="+mn-ea"/>
            </a:endParaRPr>
          </a:p>
        </p:txBody>
      </p:sp>
      <p:sp>
        <p:nvSpPr>
          <p:cNvPr id="2" name="页脚占位符 1"/>
          <p:cNvSpPr>
            <a:spLocks noGrp="1"/>
          </p:cNvSpPr>
          <p:nvPr>
            <p:ph type="ftr" sz="quarter" idx="10"/>
          </p:nvPr>
        </p:nvSpPr>
        <p:spPr/>
        <p:txBody>
          <a:bodyPr/>
          <a:lstStyle/>
          <a:p>
            <a:pPr>
              <a:defRPr/>
            </a:pPr>
            <a:r>
              <a:rPr lang="en-US" altLang="zh-CN"/>
              <a:t>©Haiyang Liu, 2025</a:t>
            </a:r>
            <a:endParaRPr lang="en-US" altLang="zh-CN" dirty="0"/>
          </a:p>
        </p:txBody>
      </p:sp>
      <p:sp>
        <p:nvSpPr>
          <p:cNvPr id="3" name="灯片编号占位符 2"/>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Graph storage representations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Graph traversal</a:t>
            </a:r>
            <a:endParaRPr lang="en-US" altLang="zh-CN"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Graph connectivity and spanning tree</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The shortest path between two </a:t>
            </a:r>
            <a:r>
              <a:rPr lang="en-US" altLang="zh-CN" dirty="0">
                <a:latin typeface="Times New Roman" panose="02020603050405020304" pitchFamily="18" charset="0"/>
                <a:cs typeface="Times New Roman" panose="02020603050405020304" pitchFamily="18" charset="0"/>
              </a:rPr>
              <a:t>vertices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Graph storage representations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Graph traversal</a:t>
            </a:r>
            <a:endParaRPr lang="en-US" altLang="zh-CN"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Graph connectivity and spanning tree</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The shortest path between two </a:t>
            </a:r>
            <a:r>
              <a:rPr lang="en-US" altLang="zh-CN" dirty="0">
                <a:latin typeface="Times New Roman" panose="02020603050405020304" pitchFamily="18" charset="0"/>
                <a:cs typeface="Times New Roman" panose="02020603050405020304" pitchFamily="18" charset="0"/>
              </a:rPr>
              <a:t>vertices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solidFill>
                  <a:srgbClr val="FF0000"/>
                </a:solidFill>
              </a:rPr>
              <a:t>Basic Concepts of Graph Theory</a:t>
            </a:r>
            <a:endParaRPr lang="en-US" altLang="zh-CN" sz="3200" dirty="0">
              <a:solidFill>
                <a:srgbClr val="FF0000"/>
              </a:solidFill>
            </a:endParaRPr>
          </a:p>
        </p:txBody>
      </p:sp>
      <p:sp>
        <p:nvSpPr>
          <p:cNvPr id="3" name="内容占位符 2"/>
          <p:cNvSpPr>
            <a:spLocks noGrp="1"/>
          </p:cNvSpPr>
          <p:nvPr>
            <p:ph idx="1"/>
          </p:nvPr>
        </p:nvSpPr>
        <p:spPr/>
        <p:txBody>
          <a:bodyPr/>
          <a:lstStyle/>
          <a:p>
            <a:pPr>
              <a:lnSpc>
                <a:spcPct val="150000"/>
              </a:lnSpc>
            </a:pPr>
            <a:r>
              <a:rPr lang="en-US" altLang="zh-CN" dirty="0"/>
              <a:t>Structural Definition of Graphs</a:t>
            </a:r>
            <a:endParaRPr lang="en-US" altLang="zh-CN" dirty="0"/>
          </a:p>
          <a:p>
            <a:pPr>
              <a:lnSpc>
                <a:spcPct val="150000"/>
              </a:lnSpc>
            </a:pPr>
            <a:r>
              <a:rPr lang="en-US" altLang="zh-CN" dirty="0"/>
              <a:t>Terminology in Graph Theory</a:t>
            </a:r>
            <a:endParaRPr lang="en-US" altLang="zh-CN" dirty="0"/>
          </a:p>
          <a:p>
            <a:pPr>
              <a:lnSpc>
                <a:spcPct val="150000"/>
              </a:lnSpc>
            </a:pPr>
            <a:r>
              <a:rPr lang="en-US" altLang="zh-CN" dirty="0"/>
              <a:t>Abstract Data Type Definition of Graphs</a:t>
            </a:r>
            <a:endParaRPr lang="en-US" altLang="zh-CN" dirty="0"/>
          </a:p>
          <a:p>
            <a:pPr>
              <a:lnSpc>
                <a:spcPct val="150000"/>
              </a:lnSpc>
            </a:pPr>
            <a:r>
              <a:rPr lang="en-US" altLang="zh-CN" dirty="0"/>
              <a:t>Basic Operations on Graphs</a:t>
            </a:r>
            <a:endParaRPr lang="en-US" altLang="zh-CN" dirty="0"/>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sym typeface="+mn-ea"/>
              </a:rPr>
              <a:t>Structural Definition of Graphs</a:t>
            </a:r>
            <a:endParaRPr lang="en-US" altLang="zh-CN" sz="3600" dirty="0">
              <a:sym typeface="+mn-ea"/>
            </a:endParaRPr>
          </a:p>
        </p:txBody>
      </p:sp>
      <p:sp>
        <p:nvSpPr>
          <p:cNvPr id="3" name="内容占位符 2"/>
          <p:cNvSpPr>
            <a:spLocks noGrp="1"/>
          </p:cNvSpPr>
          <p:nvPr>
            <p:ph idx="1"/>
          </p:nvPr>
        </p:nvSpPr>
        <p:spPr/>
        <p:txBody>
          <a:bodyPr/>
          <a:lstStyle/>
          <a:p>
            <a:pPr>
              <a:lnSpc>
                <a:spcPct val="125000"/>
              </a:lnSpc>
            </a:pPr>
            <a:r>
              <a:rPr lang="zh-CN" altLang="zh-CN" sz="3000" dirty="0">
                <a:solidFill>
                  <a:srgbClr val="CC0000"/>
                </a:solidFill>
                <a:ea typeface="楷体_GB2312" pitchFamily="49" charset="-122"/>
                <a:cs typeface="Arial" panose="020B0604020202020204" pitchFamily="34" charset="0"/>
              </a:rPr>
              <a:t>A graph</a:t>
            </a:r>
            <a:r>
              <a:rPr lang="en-US" altLang="zh-CN" sz="3000" dirty="0">
                <a:solidFill>
                  <a:srgbClr val="333399"/>
                </a:solidFill>
                <a:ea typeface="楷体_GB2312" pitchFamily="49" charset="-122"/>
                <a:cs typeface="Arial" panose="020B0604020202020204" pitchFamily="34" charset="0"/>
              </a:rPr>
              <a:t> is a data structure G=(V,VR), where </a:t>
            </a:r>
            <a:r>
              <a:rPr lang="zh-CN" altLang="zh-CN" sz="3000" dirty="0">
                <a:solidFill>
                  <a:srgbClr val="CC0000"/>
                </a:solidFill>
                <a:ea typeface="楷体_GB2312" pitchFamily="49" charset="-122"/>
                <a:cs typeface="Arial" panose="020B0604020202020204" pitchFamily="34" charset="0"/>
              </a:rPr>
              <a:t>V </a:t>
            </a:r>
            <a:r>
              <a:rPr lang="en-US" altLang="zh-CN" sz="3000" dirty="0">
                <a:solidFill>
                  <a:srgbClr val="333399"/>
                </a:solidFill>
                <a:ea typeface="楷体_GB2312" pitchFamily="49" charset="-122"/>
                <a:cs typeface="Arial" panose="020B0604020202020204" pitchFamily="34" charset="0"/>
              </a:rPr>
              <a:t>is a set of vertices and </a:t>
            </a:r>
            <a:r>
              <a:rPr lang="zh-CN" altLang="zh-CN" sz="3000" dirty="0">
                <a:solidFill>
                  <a:srgbClr val="CC0000"/>
                </a:solidFill>
                <a:ea typeface="楷体_GB2312" pitchFamily="49" charset="-122"/>
                <a:cs typeface="Arial" panose="020B0604020202020204" pitchFamily="34" charset="0"/>
              </a:rPr>
              <a:t>VR</a:t>
            </a:r>
            <a:r>
              <a:rPr lang="en-US" altLang="zh-CN" sz="3000" dirty="0">
                <a:solidFill>
                  <a:srgbClr val="333399"/>
                </a:solidFill>
                <a:ea typeface="楷体_GB2312" pitchFamily="49" charset="-122"/>
                <a:cs typeface="Arial" panose="020B0604020202020204" pitchFamily="34" charset="0"/>
              </a:rPr>
              <a:t> is a set of arcs. Specifically, </a:t>
            </a:r>
            <a:endParaRPr lang="en-US" altLang="zh-CN" sz="3000" dirty="0">
              <a:solidFill>
                <a:srgbClr val="333399"/>
              </a:solidFill>
              <a:ea typeface="楷体_GB2312" pitchFamily="49" charset="-122"/>
              <a:cs typeface="Arial" panose="020B0604020202020204" pitchFamily="34" charset="0"/>
            </a:endParaRPr>
          </a:p>
          <a:p>
            <a:pPr marL="0" indent="0">
              <a:lnSpc>
                <a:spcPct val="125000"/>
              </a:lnSpc>
              <a:buNone/>
            </a:pPr>
            <a:r>
              <a:rPr lang="en-US" altLang="zh-CN" sz="3000" dirty="0">
                <a:solidFill>
                  <a:srgbClr val="333399"/>
                </a:solidFill>
                <a:ea typeface="楷体_GB2312" pitchFamily="49" charset="-122"/>
                <a:cs typeface="Arial" panose="020B0604020202020204" pitchFamily="34" charset="0"/>
              </a:rPr>
              <a:t>        VR</a:t>
            </a:r>
            <a:r>
              <a:rPr lang="zh-CN" altLang="en-US" sz="3000" dirty="0">
                <a:solidFill>
                  <a:srgbClr val="333399"/>
                </a:solidFill>
                <a:ea typeface="楷体_GB2312" pitchFamily="49" charset="-122"/>
                <a:cs typeface="Arial" panose="020B0604020202020204" pitchFamily="34" charset="0"/>
              </a:rPr>
              <a:t>＝</a:t>
            </a:r>
            <a:r>
              <a:rPr lang="en-US" altLang="zh-CN" sz="3000" dirty="0">
                <a:solidFill>
                  <a:srgbClr val="333399"/>
                </a:solidFill>
                <a:ea typeface="楷体_GB2312" pitchFamily="49" charset="-122"/>
                <a:cs typeface="Arial" panose="020B0604020202020204" pitchFamily="34" charset="0"/>
              </a:rPr>
              <a:t>{&lt;v, w&gt;| v, </a:t>
            </a:r>
            <a:r>
              <a:rPr lang="en-US" altLang="zh-CN" sz="3000" dirty="0" err="1">
                <a:solidFill>
                  <a:srgbClr val="333399"/>
                </a:solidFill>
                <a:ea typeface="楷体_GB2312" pitchFamily="49" charset="-122"/>
                <a:cs typeface="Arial" panose="020B0604020202020204" pitchFamily="34" charset="0"/>
              </a:rPr>
              <a:t>w∈V</a:t>
            </a:r>
            <a:r>
              <a:rPr lang="en-US" altLang="zh-CN" sz="3000" dirty="0">
                <a:solidFill>
                  <a:srgbClr val="333399"/>
                </a:solidFill>
                <a:ea typeface="楷体_GB2312" pitchFamily="49" charset="-122"/>
                <a:cs typeface="Arial" panose="020B0604020202020204" pitchFamily="34" charset="0"/>
              </a:rPr>
              <a:t> and</a:t>
            </a:r>
            <a:r>
              <a:rPr lang="zh-CN"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P(v, w)}</a:t>
            </a:r>
            <a:endParaRPr lang="en-US" altLang="zh-CN" sz="3000" dirty="0">
              <a:ea typeface="楷体_GB2312" pitchFamily="49" charset="-122"/>
              <a:cs typeface="Arial" panose="020B0604020202020204" pitchFamily="34" charset="0"/>
            </a:endParaRPr>
          </a:p>
          <a:p>
            <a:pPr marL="288290">
              <a:lnSpc>
                <a:spcPct val="125000"/>
              </a:lnSpc>
              <a:buNone/>
            </a:pPr>
            <a:r>
              <a:rPr lang="en-US" altLang="zh-CN" sz="3000" dirty="0">
                <a:ea typeface="楷体_GB2312" pitchFamily="49" charset="-122"/>
                <a:cs typeface="Arial" panose="020B0604020202020204" pitchFamily="34" charset="0"/>
              </a:rPr>
              <a:t>   </a:t>
            </a:r>
            <a:r>
              <a:rPr lang="en-US" altLang="zh-CN" sz="3000" dirty="0">
                <a:solidFill>
                  <a:srgbClr val="FF0000"/>
                </a:solidFill>
                <a:ea typeface="楷体_GB2312" pitchFamily="49" charset="-122"/>
                <a:cs typeface="Arial" panose="020B0604020202020204" pitchFamily="34" charset="0"/>
              </a:rPr>
              <a:t>&lt;v, w&gt; </a:t>
            </a:r>
            <a:r>
              <a:rPr lang="en-US" altLang="zh-CN" sz="3000" dirty="0">
                <a:solidFill>
                  <a:srgbClr val="333399"/>
                </a:solidFill>
                <a:ea typeface="楷体_GB2312" pitchFamily="49" charset="-122"/>
                <a:cs typeface="Arial" panose="020B0604020202020204" pitchFamily="34" charset="0"/>
              </a:rPr>
              <a:t>denotes a directed arc from</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v</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to</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w, where</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v</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is called the</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FF0000"/>
                </a:solidFill>
                <a:ea typeface="楷体_GB2312" pitchFamily="49" charset="-122"/>
                <a:cs typeface="Arial" panose="020B0604020202020204" pitchFamily="34" charset="0"/>
              </a:rPr>
              <a:t>arc tail</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and</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w</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333399"/>
                </a:solidFill>
                <a:ea typeface="楷体_GB2312" pitchFamily="49" charset="-122"/>
                <a:cs typeface="Arial" panose="020B0604020202020204" pitchFamily="34" charset="0"/>
              </a:rPr>
              <a:t>is called the</a:t>
            </a:r>
            <a:r>
              <a:rPr lang="en-US" altLang="en-US" sz="3000" dirty="0">
                <a:solidFill>
                  <a:srgbClr val="333399"/>
                </a:solidFill>
                <a:ea typeface="楷体_GB2312" pitchFamily="49" charset="-122"/>
                <a:cs typeface="Arial" panose="020B0604020202020204" pitchFamily="34" charset="0"/>
              </a:rPr>
              <a:t> </a:t>
            </a:r>
            <a:r>
              <a:rPr lang="en-US" altLang="zh-CN" sz="3000" dirty="0">
                <a:solidFill>
                  <a:srgbClr val="FF0000"/>
                </a:solidFill>
                <a:ea typeface="楷体_GB2312" pitchFamily="49" charset="-122"/>
                <a:cs typeface="Arial" panose="020B0604020202020204" pitchFamily="34" charset="0"/>
              </a:rPr>
              <a:t>arc head. </a:t>
            </a:r>
            <a:r>
              <a:rPr lang="en-US" altLang="zh-CN" sz="3000" dirty="0">
                <a:solidFill>
                  <a:srgbClr val="333399"/>
                </a:solidFill>
                <a:ea typeface="楷体_GB2312" pitchFamily="49" charset="-122"/>
                <a:cs typeface="Arial" panose="020B0604020202020204" pitchFamily="34" charset="0"/>
                <a:sym typeface="+mn-ea"/>
              </a:rPr>
              <a:t>The predicate P(v,w) defines the </a:t>
            </a:r>
            <a:r>
              <a:rPr lang="zh-CN" altLang="en-US" sz="3000" b="1" dirty="0">
                <a:solidFill>
                  <a:schemeClr val="tx1"/>
                </a:solidFill>
                <a:ea typeface="楷体_GB2312" pitchFamily="49" charset="-122"/>
                <a:sym typeface="+mn-ea"/>
              </a:rPr>
              <a:t>meaning or information</a:t>
            </a:r>
            <a:r>
              <a:rPr lang="en-US" altLang="zh-CN" sz="3000" dirty="0">
                <a:solidFill>
                  <a:srgbClr val="333399"/>
                </a:solidFill>
                <a:ea typeface="楷体_GB2312" pitchFamily="49" charset="-122"/>
                <a:cs typeface="Arial" panose="020B0604020202020204" pitchFamily="34" charset="0"/>
                <a:sym typeface="+mn-ea"/>
              </a:rPr>
              <a:t> conveyed by this arc.</a:t>
            </a:r>
            <a:endParaRPr lang="en-US" altLang="zh-CN" sz="3000" dirty="0">
              <a:solidFill>
                <a:srgbClr val="333399"/>
              </a:solidFill>
              <a:ea typeface="楷体_GB2312" pitchFamily="49" charset="-122"/>
              <a:cs typeface="Arial" panose="020B0604020202020204" pitchFamily="34" charset="0"/>
            </a:endParaRPr>
          </a:p>
          <a:p>
            <a:pPr marL="288290">
              <a:lnSpc>
                <a:spcPct val="125000"/>
              </a:lnSpc>
              <a:buNone/>
            </a:pPr>
            <a:endParaRPr lang="zh-CN" altLang="en-US" sz="3000"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D</a:t>
            </a:r>
            <a:r>
              <a:rPr>
                <a:sym typeface="+mn-ea"/>
              </a:rPr>
              <a:t>irected </a:t>
            </a:r>
            <a:r>
              <a:rPr lang="en-US" altLang="zh-CN">
                <a:sym typeface="+mn-ea"/>
              </a:rPr>
              <a:t>G</a:t>
            </a:r>
            <a:r>
              <a:rPr>
                <a:sym typeface="+mn-ea"/>
              </a:rPr>
              <a:t>raph</a:t>
            </a:r>
            <a:endParaRPr lang="zh-CN" altLang="en-US" sz="4000" dirty="0"/>
          </a:p>
        </p:txBody>
      </p:sp>
      <p:sp>
        <p:nvSpPr>
          <p:cNvPr id="3" name="内容占位符 2"/>
          <p:cNvSpPr>
            <a:spLocks noGrp="1"/>
          </p:cNvSpPr>
          <p:nvPr>
            <p:ph idx="1"/>
          </p:nvPr>
        </p:nvSpPr>
        <p:spPr>
          <a:xfrm>
            <a:off x="323850" y="1124745"/>
            <a:ext cx="8496300" cy="2160240"/>
          </a:xfrm>
        </p:spPr>
        <p:txBody>
          <a:bodyPr/>
          <a:lstStyle/>
          <a:p>
            <a:pPr>
              <a:lnSpc>
                <a:spcPct val="125000"/>
              </a:lnSpc>
            </a:pPr>
            <a:r>
              <a:rPr lang="zh-CN" altLang="en-US" sz="2800" dirty="0">
                <a:solidFill>
                  <a:srgbClr val="000099"/>
                </a:solidFill>
                <a:ea typeface="楷体_GB2312" pitchFamily="49" charset="-122"/>
                <a:cs typeface="Arial" panose="020B0604020202020204" pitchFamily="34" charset="0"/>
                <a:sym typeface="Symbol" panose="05050102010706020507" pitchFamily="18" charset="2"/>
              </a:rPr>
              <a:t>Since an arc has a direction, a graph consisting of </a:t>
            </a:r>
            <a:r>
              <a:rPr lang="zh-CN" altLang="en-US" sz="2800" dirty="0">
                <a:solidFill>
                  <a:srgbClr val="A50021"/>
                </a:solidFill>
                <a:ea typeface="楷体_GB2312" pitchFamily="49" charset="-122"/>
                <a:cs typeface="Arial" panose="020B0604020202020204" pitchFamily="34" charset="0"/>
                <a:sym typeface="Symbol" panose="05050102010706020507" pitchFamily="18" charset="2"/>
              </a:rPr>
              <a:t>a set of vertices and a set of arcs</a:t>
            </a:r>
            <a:r>
              <a:rPr lang="zh-CN" altLang="en-US" sz="2800" dirty="0">
                <a:solidFill>
                  <a:srgbClr val="000099"/>
                </a:solidFill>
                <a:ea typeface="楷体_GB2312" pitchFamily="49" charset="-122"/>
                <a:cs typeface="Arial" panose="020B0604020202020204" pitchFamily="34" charset="0"/>
                <a:sym typeface="Symbol" panose="05050102010706020507" pitchFamily="18" charset="2"/>
              </a:rPr>
              <a:t> is called a directed graph.</a:t>
            </a:r>
            <a:endParaRPr lang="en-US" altLang="zh-CN" sz="2800" dirty="0">
              <a:solidFill>
                <a:srgbClr val="000099"/>
              </a:solidFill>
              <a:ea typeface="楷体_GB2312" pitchFamily="49" charset="-122"/>
              <a:cs typeface="Arial" panose="020B0604020202020204" pitchFamily="34" charset="0"/>
              <a:sym typeface="Symbol" panose="05050102010706020507" pitchFamily="18" charset="2"/>
            </a:endParaRPr>
          </a:p>
          <a:p>
            <a:pPr>
              <a:lnSpc>
                <a:spcPct val="125000"/>
              </a:lnSpc>
            </a:pPr>
            <a:r>
              <a:rPr lang="zh-CN" altLang="en-US" sz="2800" dirty="0">
                <a:solidFill>
                  <a:srgbClr val="000099"/>
                </a:solidFill>
                <a:ea typeface="楷体_GB2312" pitchFamily="49" charset="-122"/>
                <a:cs typeface="Arial" panose="020B0604020202020204" pitchFamily="34" charset="0"/>
                <a:sym typeface="Symbol" panose="05050102010706020507" pitchFamily="18" charset="2"/>
              </a:rPr>
              <a:t>For example</a:t>
            </a:r>
            <a:r>
              <a:rPr lang="en-US" altLang="zh-CN" sz="2800" dirty="0">
                <a:solidFill>
                  <a:srgbClr val="000099"/>
                </a:solidFill>
                <a:ea typeface="楷体_GB2312" pitchFamily="49" charset="-122"/>
                <a:cs typeface="Arial" panose="020B0604020202020204" pitchFamily="34" charset="0"/>
                <a:sym typeface="Symbol" panose="05050102010706020507" pitchFamily="18" charset="2"/>
              </a:rPr>
              <a:t>:G</a:t>
            </a:r>
            <a:r>
              <a:rPr lang="en-US" altLang="zh-CN" sz="2800" baseline="-25000" dirty="0">
                <a:solidFill>
                  <a:srgbClr val="000099"/>
                </a:solidFill>
                <a:ea typeface="楷体_GB2312" pitchFamily="49" charset="-122"/>
                <a:cs typeface="Arial" panose="020B0604020202020204" pitchFamily="34" charset="0"/>
                <a:sym typeface="Symbol" panose="05050102010706020507" pitchFamily="18" charset="2"/>
              </a:rPr>
              <a:t>1</a:t>
            </a:r>
            <a:r>
              <a:rPr lang="en-US" altLang="zh-CN" sz="2800" dirty="0">
                <a:solidFill>
                  <a:srgbClr val="000099"/>
                </a:solidFill>
                <a:ea typeface="楷体_GB2312" pitchFamily="49" charset="-122"/>
                <a:cs typeface="Arial" panose="020B0604020202020204" pitchFamily="34" charset="0"/>
                <a:sym typeface="Symbol" panose="05050102010706020507" pitchFamily="18" charset="2"/>
              </a:rPr>
              <a:t> = (V</a:t>
            </a:r>
            <a:r>
              <a:rPr lang="en-US" altLang="zh-CN" sz="2800" baseline="-25000" dirty="0">
                <a:solidFill>
                  <a:srgbClr val="000099"/>
                </a:solidFill>
                <a:ea typeface="楷体_GB2312" pitchFamily="49" charset="-122"/>
                <a:cs typeface="Arial" panose="020B0604020202020204" pitchFamily="34" charset="0"/>
                <a:sym typeface="Symbol" panose="05050102010706020507" pitchFamily="18" charset="2"/>
              </a:rPr>
              <a:t>1</a:t>
            </a:r>
            <a:r>
              <a:rPr lang="en-US" altLang="zh-CN" sz="2800" dirty="0">
                <a:solidFill>
                  <a:srgbClr val="000099"/>
                </a:solidFill>
                <a:ea typeface="楷体_GB2312" pitchFamily="49" charset="-122"/>
                <a:cs typeface="Arial" panose="020B0604020202020204" pitchFamily="34" charset="0"/>
                <a:sym typeface="Symbol" panose="05050102010706020507" pitchFamily="18" charset="2"/>
              </a:rPr>
              <a:t>, VR</a:t>
            </a:r>
            <a:r>
              <a:rPr lang="en-US" altLang="zh-CN" sz="2800" baseline="-25000" dirty="0">
                <a:solidFill>
                  <a:srgbClr val="000099"/>
                </a:solidFill>
                <a:ea typeface="楷体_GB2312" pitchFamily="49" charset="-122"/>
                <a:cs typeface="Arial" panose="020B0604020202020204" pitchFamily="34" charset="0"/>
                <a:sym typeface="Symbol" panose="05050102010706020507" pitchFamily="18" charset="2"/>
              </a:rPr>
              <a:t>1</a:t>
            </a:r>
            <a:r>
              <a:rPr lang="en-US" altLang="zh-CN" sz="2800" dirty="0">
                <a:solidFill>
                  <a:srgbClr val="000099"/>
                </a:solidFill>
                <a:ea typeface="楷体_GB2312" pitchFamily="49" charset="-122"/>
                <a:cs typeface="Arial" panose="020B0604020202020204" pitchFamily="34" charset="0"/>
                <a:sym typeface="Symbol" panose="05050102010706020507" pitchFamily="18" charset="2"/>
              </a:rPr>
              <a:t>)</a:t>
            </a:r>
            <a:endParaRPr lang="en-US" altLang="zh-CN" sz="2800" dirty="0">
              <a:solidFill>
                <a:srgbClr val="000099"/>
              </a:solidFill>
              <a:ea typeface="楷体_GB2312" pitchFamily="49" charset="-122"/>
              <a:cs typeface="Arial" panose="020B0604020202020204" pitchFamily="34" charset="0"/>
              <a:sym typeface="Symbol" panose="05050102010706020507" pitchFamily="18" charset="2"/>
            </a:endParaRPr>
          </a:p>
        </p:txBody>
      </p:sp>
      <p:grpSp>
        <p:nvGrpSpPr>
          <p:cNvPr id="6" name="Group 3"/>
          <p:cNvGrpSpPr/>
          <p:nvPr/>
        </p:nvGrpSpPr>
        <p:grpSpPr bwMode="auto">
          <a:xfrm>
            <a:off x="381000" y="3393529"/>
            <a:ext cx="4114800" cy="2800350"/>
            <a:chOff x="240" y="1968"/>
            <a:chExt cx="2592" cy="1764"/>
          </a:xfrm>
        </p:grpSpPr>
        <p:sp>
          <p:nvSpPr>
            <p:cNvPr id="7" name="Oval 4"/>
            <p:cNvSpPr>
              <a:spLocks noChangeArrowheads="1"/>
            </p:cNvSpPr>
            <p:nvPr/>
          </p:nvSpPr>
          <p:spPr bwMode="auto">
            <a:xfrm>
              <a:off x="2352" y="2640"/>
              <a:ext cx="432" cy="384"/>
            </a:xfrm>
            <a:prstGeom prst="ellipse">
              <a:avLst/>
            </a:prstGeom>
            <a:noFill/>
            <a:ln w="12700" cap="sq">
              <a:solidFill>
                <a:srgbClr val="000066"/>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Oval 5"/>
            <p:cNvSpPr>
              <a:spLocks noChangeArrowheads="1"/>
            </p:cNvSpPr>
            <p:nvPr/>
          </p:nvSpPr>
          <p:spPr bwMode="auto">
            <a:xfrm>
              <a:off x="1200" y="2016"/>
              <a:ext cx="432" cy="384"/>
            </a:xfrm>
            <a:prstGeom prst="ellipse">
              <a:avLst/>
            </a:prstGeom>
            <a:noFill/>
            <a:ln w="12700" cap="sq">
              <a:solidFill>
                <a:srgbClr val="000066"/>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6"/>
            <p:cNvSpPr txBox="1">
              <a:spLocks noChangeArrowheads="1"/>
            </p:cNvSpPr>
            <p:nvPr/>
          </p:nvSpPr>
          <p:spPr bwMode="auto">
            <a:xfrm>
              <a:off x="336" y="1968"/>
              <a:ext cx="2496" cy="1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66"/>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                </a:t>
              </a:r>
              <a:r>
                <a:rPr lang="en-US" altLang="zh-CN" sz="4400" b="1" dirty="0">
                  <a:solidFill>
                    <a:srgbClr val="000099"/>
                  </a:solidFill>
                </a:rPr>
                <a:t>A</a:t>
              </a:r>
              <a:endParaRPr lang="en-US" altLang="zh-CN" sz="4400" b="1" dirty="0">
                <a:solidFill>
                  <a:srgbClr val="000099"/>
                </a:solidFill>
              </a:endParaRPr>
            </a:p>
            <a:p>
              <a:pPr>
                <a:spcBef>
                  <a:spcPct val="50000"/>
                </a:spcBef>
              </a:pPr>
              <a:r>
                <a:rPr lang="en-US" altLang="zh-CN" sz="4400" b="1" dirty="0">
                  <a:solidFill>
                    <a:srgbClr val="000099"/>
                  </a:solidFill>
                </a:rPr>
                <a:t>B                     E</a:t>
              </a:r>
              <a:endParaRPr lang="en-US" altLang="zh-CN" sz="4400" b="1" dirty="0">
                <a:solidFill>
                  <a:srgbClr val="000099"/>
                </a:solidFill>
              </a:endParaRPr>
            </a:p>
            <a:p>
              <a:pPr>
                <a:spcBef>
                  <a:spcPct val="50000"/>
                </a:spcBef>
              </a:pPr>
              <a:r>
                <a:rPr lang="en-US" altLang="zh-CN" sz="4400" b="1" dirty="0">
                  <a:solidFill>
                    <a:srgbClr val="000099"/>
                  </a:solidFill>
                </a:rPr>
                <a:t>     C        D</a:t>
              </a:r>
              <a:endParaRPr lang="en-US" altLang="zh-CN" b="1" dirty="0">
                <a:solidFill>
                  <a:srgbClr val="000099"/>
                </a:solidFill>
              </a:endParaRPr>
            </a:p>
          </p:txBody>
        </p:sp>
        <p:sp>
          <p:nvSpPr>
            <p:cNvPr id="10" name="Oval 7"/>
            <p:cNvSpPr>
              <a:spLocks noChangeArrowheads="1"/>
            </p:cNvSpPr>
            <p:nvPr/>
          </p:nvSpPr>
          <p:spPr bwMode="auto">
            <a:xfrm>
              <a:off x="768" y="3312"/>
              <a:ext cx="432" cy="384"/>
            </a:xfrm>
            <a:prstGeom prst="ellipse">
              <a:avLst/>
            </a:prstGeom>
            <a:noFill/>
            <a:ln w="12700" cap="sq">
              <a:solidFill>
                <a:srgbClr val="000066"/>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8"/>
            <p:cNvSpPr>
              <a:spLocks noChangeArrowheads="1"/>
            </p:cNvSpPr>
            <p:nvPr/>
          </p:nvSpPr>
          <p:spPr bwMode="auto">
            <a:xfrm>
              <a:off x="240" y="2640"/>
              <a:ext cx="432" cy="384"/>
            </a:xfrm>
            <a:prstGeom prst="ellipse">
              <a:avLst/>
            </a:prstGeom>
            <a:noFill/>
            <a:ln w="12700" cap="sq">
              <a:solidFill>
                <a:srgbClr val="000066"/>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9"/>
            <p:cNvSpPr>
              <a:spLocks noChangeArrowheads="1"/>
            </p:cNvSpPr>
            <p:nvPr/>
          </p:nvSpPr>
          <p:spPr bwMode="auto">
            <a:xfrm>
              <a:off x="1728" y="3312"/>
              <a:ext cx="432" cy="384"/>
            </a:xfrm>
            <a:prstGeom prst="ellipse">
              <a:avLst/>
            </a:prstGeom>
            <a:noFill/>
            <a:ln w="12700" cap="sq">
              <a:solidFill>
                <a:srgbClr val="000066"/>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flipH="1">
              <a:off x="576" y="2256"/>
              <a:ext cx="624" cy="38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a:off x="576" y="2976"/>
              <a:ext cx="240" cy="38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a:off x="1200" y="3504"/>
              <a:ext cx="528"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3"/>
            <p:cNvSpPr>
              <a:spLocks noChangeShapeType="1"/>
            </p:cNvSpPr>
            <p:nvPr/>
          </p:nvSpPr>
          <p:spPr bwMode="auto">
            <a:xfrm flipH="1" flipV="1">
              <a:off x="1536" y="2352"/>
              <a:ext cx="384" cy="96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4"/>
            <p:cNvSpPr>
              <a:spLocks noChangeShapeType="1"/>
            </p:cNvSpPr>
            <p:nvPr/>
          </p:nvSpPr>
          <p:spPr bwMode="auto">
            <a:xfrm>
              <a:off x="1632" y="2208"/>
              <a:ext cx="816"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5"/>
            <p:cNvSpPr>
              <a:spLocks noChangeShapeType="1"/>
            </p:cNvSpPr>
            <p:nvPr/>
          </p:nvSpPr>
          <p:spPr bwMode="auto">
            <a:xfrm flipH="1" flipV="1">
              <a:off x="672" y="2880"/>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6"/>
            <p:cNvSpPr>
              <a:spLocks noChangeShapeType="1"/>
            </p:cNvSpPr>
            <p:nvPr/>
          </p:nvSpPr>
          <p:spPr bwMode="auto">
            <a:xfrm flipH="1">
              <a:off x="1104" y="2880"/>
              <a:ext cx="1248"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 name="Text Box 19"/>
          <p:cNvSpPr txBox="1">
            <a:spLocks noChangeArrowheads="1"/>
          </p:cNvSpPr>
          <p:nvPr/>
        </p:nvSpPr>
        <p:spPr bwMode="auto">
          <a:xfrm>
            <a:off x="4716016" y="3620631"/>
            <a:ext cx="4123184" cy="239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zh-CN" altLang="en-US" sz="3200" dirty="0">
                <a:latin typeface="楷体_GB2312" pitchFamily="49" charset="-122"/>
                <a:ea typeface="楷体_GB2312" pitchFamily="49" charset="-122"/>
                <a:sym typeface="Symbol" panose="05050102010706020507" pitchFamily="18" charset="2"/>
              </a:rPr>
              <a:t>where</a:t>
            </a:r>
            <a:r>
              <a:rPr lang="en-US" altLang="zh-CN" sz="3200" dirty="0">
                <a:latin typeface="楷体_GB2312" pitchFamily="49" charset="-122"/>
                <a:ea typeface="楷体_GB2312" pitchFamily="49" charset="-122"/>
                <a:sym typeface="Symbol" panose="05050102010706020507" pitchFamily="18" charset="2"/>
              </a:rPr>
              <a:t> </a:t>
            </a:r>
            <a:r>
              <a:rPr lang="en-US" altLang="zh-CN" sz="3200" dirty="0">
                <a:ea typeface="楷体_GB2312" pitchFamily="49" charset="-122"/>
                <a:sym typeface="Symbol" panose="05050102010706020507" pitchFamily="18" charset="2"/>
              </a:rPr>
              <a:t>V</a:t>
            </a:r>
            <a:r>
              <a:rPr lang="en-US" altLang="zh-CN" sz="3200" baseline="-25000" dirty="0">
                <a:ea typeface="楷体_GB2312" pitchFamily="49" charset="-122"/>
                <a:sym typeface="Symbol" panose="05050102010706020507" pitchFamily="18" charset="2"/>
              </a:rPr>
              <a:t>1</a:t>
            </a:r>
            <a:r>
              <a:rPr lang="en-US" altLang="zh-CN" sz="3200" dirty="0">
                <a:ea typeface="楷体_GB2312" pitchFamily="49" charset="-122"/>
                <a:sym typeface="Symbol" panose="05050102010706020507" pitchFamily="18" charset="2"/>
              </a:rPr>
              <a:t>={A, B, C, D, E}; VR</a:t>
            </a:r>
            <a:r>
              <a:rPr lang="en-US" altLang="zh-CN" sz="3200" baseline="-25000" dirty="0">
                <a:ea typeface="楷体_GB2312" pitchFamily="49" charset="-122"/>
                <a:sym typeface="Symbol" panose="05050102010706020507" pitchFamily="18" charset="2"/>
              </a:rPr>
              <a:t>1</a:t>
            </a:r>
            <a:r>
              <a:rPr lang="en-US" altLang="zh-CN" sz="3200" dirty="0">
                <a:ea typeface="楷体_GB2312" pitchFamily="49" charset="-122"/>
                <a:sym typeface="Symbol" panose="05050102010706020507" pitchFamily="18" charset="2"/>
              </a:rPr>
              <a:t>={</a:t>
            </a:r>
            <a:r>
              <a:rPr lang="en-US" altLang="zh-CN" sz="2800" dirty="0">
                <a:ea typeface="楷体_GB2312" pitchFamily="49" charset="-122"/>
                <a:sym typeface="Symbol" panose="05050102010706020507" pitchFamily="18" charset="2"/>
              </a:rPr>
              <a:t>&lt;A, B&gt;,  &lt;A, E&gt;, </a:t>
            </a:r>
            <a:r>
              <a:rPr lang="en-US" altLang="zh-CN" sz="2800" dirty="0"/>
              <a:t>&lt;B, C&gt;,  &lt;C, D&gt;, &lt;D, B&gt;, &lt;D, A&gt;,  &lt;E,C&gt; }</a:t>
            </a:r>
            <a:endParaRPr lang="en-US" altLang="zh-CN" sz="2800" dirty="0"/>
          </a:p>
        </p:txBody>
      </p:sp>
      <p:sp>
        <p:nvSpPr>
          <p:cNvPr id="21" name="页脚占位符 20"/>
          <p:cNvSpPr>
            <a:spLocks noGrp="1"/>
          </p:cNvSpPr>
          <p:nvPr>
            <p:ph type="ftr" sz="quarter" idx="10"/>
          </p:nvPr>
        </p:nvSpPr>
        <p:spPr/>
        <p:txBody>
          <a:bodyPr/>
          <a:lstStyle/>
          <a:p>
            <a:pPr>
              <a:defRPr/>
            </a:pPr>
            <a:r>
              <a:rPr lang="en-US" altLang="zh-CN"/>
              <a:t>©Haiyang Liu, 2025</a:t>
            </a:r>
            <a:endParaRPr lang="en-US" altLang="zh-CN" dirty="0"/>
          </a:p>
        </p:txBody>
      </p:sp>
      <p:sp>
        <p:nvSpPr>
          <p:cNvPr id="22" name="灯片编号占位符 21"/>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1+#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Undirected Graph</a:t>
            </a:r>
            <a:endParaRPr lang="en-US" altLang="zh-CN" sz="4000" dirty="0"/>
          </a:p>
        </p:txBody>
      </p:sp>
      <p:sp>
        <p:nvSpPr>
          <p:cNvPr id="3" name="内容占位符 2"/>
          <p:cNvSpPr>
            <a:spLocks noGrp="1"/>
          </p:cNvSpPr>
          <p:nvPr>
            <p:ph idx="1"/>
          </p:nvPr>
        </p:nvSpPr>
        <p:spPr>
          <a:xfrm>
            <a:off x="323850" y="1124745"/>
            <a:ext cx="8496300" cy="2664296"/>
          </a:xfrm>
        </p:spPr>
        <p:txBody>
          <a:bodyPr/>
          <a:lstStyle/>
          <a:p>
            <a:pPr>
              <a:lnSpc>
                <a:spcPct val="110000"/>
              </a:lnSpc>
            </a:pPr>
            <a:r>
              <a:rPr lang="en-US" altLang="zh-CN" sz="2400" dirty="0">
                <a:solidFill>
                  <a:srgbClr val="333399"/>
                </a:solidFill>
                <a:ea typeface="楷体_GB2312" pitchFamily="49" charset="-122"/>
                <a:cs typeface="Arial" panose="020B0604020202020204" pitchFamily="34" charset="0"/>
              </a:rPr>
              <a:t>If &lt;v, w&gt;</a:t>
            </a:r>
            <a:r>
              <a:rPr lang="en-US" altLang="zh-CN" sz="2400" dirty="0">
                <a:solidFill>
                  <a:srgbClr val="333399"/>
                </a:solidFill>
                <a:ea typeface="楷体_GB2312" pitchFamily="49" charset="-122"/>
                <a:cs typeface="Arial" panose="020B0604020202020204" pitchFamily="34" charset="0"/>
                <a:sym typeface="Symbol" panose="05050102010706020507" pitchFamily="18" charset="2"/>
              </a:rPr>
              <a:t>VR implies &lt;w, v&gt;VR,(ie.,</a:t>
            </a:r>
            <a:r>
              <a:rPr lang="zh-CN" altLang="en-US" sz="2400" dirty="0">
                <a:solidFill>
                  <a:srgbClr val="333399"/>
                </a:solidFill>
                <a:ea typeface="楷体_GB2312" pitchFamily="49" charset="-122"/>
                <a:cs typeface="Arial" panose="020B0604020202020204" pitchFamily="34" charset="0"/>
                <a:sym typeface="+mn-ea"/>
              </a:rPr>
              <a:t>VR is symmetric</a:t>
            </a:r>
            <a:r>
              <a:rPr lang="en-US" altLang="zh-CN" sz="2400" dirty="0">
                <a:solidFill>
                  <a:srgbClr val="333399"/>
                </a:solidFill>
                <a:ea typeface="楷体_GB2312" pitchFamily="49" charset="-122"/>
                <a:cs typeface="Arial" panose="020B0604020202020204" pitchFamily="34" charset="0"/>
                <a:sym typeface="+mn-ea"/>
              </a:rPr>
              <a:t>)</a:t>
            </a:r>
            <a:r>
              <a:rPr lang="zh-CN" altLang="en-US" sz="2400" dirty="0">
                <a:solidFill>
                  <a:srgbClr val="333399"/>
                </a:solidFill>
                <a:ea typeface="楷体_GB2312" pitchFamily="49" charset="-122"/>
                <a:cs typeface="Arial" panose="020B0604020202020204" pitchFamily="34" charset="0"/>
                <a:sym typeface="+mn-ea"/>
              </a:rPr>
              <a:t>. In this case, the </a:t>
            </a:r>
            <a:r>
              <a:rPr lang="zh-CN" altLang="en-US" sz="2400" dirty="0">
                <a:solidFill>
                  <a:srgbClr val="A50021"/>
                </a:solidFill>
                <a:ea typeface="楷体_GB2312" pitchFamily="49" charset="-122"/>
                <a:cs typeface="Arial" panose="020B0604020202020204" pitchFamily="34" charset="0"/>
                <a:sym typeface="+mn-ea"/>
              </a:rPr>
              <a:t>unordered pair </a:t>
            </a:r>
            <a:r>
              <a:rPr lang="zh-CN" altLang="en-US" sz="2400" dirty="0">
                <a:solidFill>
                  <a:srgbClr val="333399"/>
                </a:solidFill>
                <a:ea typeface="楷体_GB2312" pitchFamily="49" charset="-122"/>
                <a:cs typeface="Arial" panose="020B0604020202020204" pitchFamily="34" charset="0"/>
                <a:sym typeface="+mn-ea"/>
              </a:rPr>
              <a:t>(v, w) replaces the ordered pairs to represent an </a:t>
            </a:r>
            <a:r>
              <a:rPr lang="zh-CN" altLang="en-US" sz="2400" dirty="0">
                <a:solidFill>
                  <a:srgbClr val="A50021"/>
                </a:solidFill>
                <a:ea typeface="楷体_GB2312" pitchFamily="49" charset="-122"/>
                <a:cs typeface="Arial" panose="020B0604020202020204" pitchFamily="34" charset="0"/>
                <a:sym typeface="+mn-ea"/>
              </a:rPr>
              <a:t>edge</a:t>
            </a:r>
            <a:r>
              <a:rPr lang="zh-CN" altLang="en-US" sz="2400" dirty="0">
                <a:solidFill>
                  <a:srgbClr val="333399"/>
                </a:solidFill>
                <a:ea typeface="楷体_GB2312" pitchFamily="49" charset="-122"/>
                <a:cs typeface="Arial" panose="020B0604020202020204" pitchFamily="34" charset="0"/>
                <a:sym typeface="+mn-ea"/>
              </a:rPr>
              <a:t> between vertex v and vertex w.</a:t>
            </a:r>
            <a:endParaRPr lang="en-US" altLang="zh-CN" sz="2400" dirty="0">
              <a:solidFill>
                <a:srgbClr val="333399"/>
              </a:solidFill>
              <a:ea typeface="楷体_GB2312" pitchFamily="49" charset="-122"/>
              <a:cs typeface="Arial" panose="020B0604020202020204" pitchFamily="34" charset="0"/>
              <a:sym typeface="Symbol" panose="05050102010706020507" pitchFamily="18" charset="2"/>
            </a:endParaRPr>
          </a:p>
          <a:p>
            <a:pPr>
              <a:lnSpc>
                <a:spcPct val="110000"/>
              </a:lnSpc>
            </a:pP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A graph consisting of </a:t>
            </a:r>
            <a:r>
              <a:rPr lang="zh-CN" altLang="en-US" sz="2400" dirty="0">
                <a:solidFill>
                  <a:srgbClr val="A50021"/>
                </a:solidFill>
                <a:ea typeface="楷体_GB2312" pitchFamily="49" charset="-122"/>
                <a:cs typeface="Arial" panose="020B0604020202020204" pitchFamily="34" charset="0"/>
                <a:sym typeface="Symbol" panose="05050102010706020507" pitchFamily="18" charset="2"/>
              </a:rPr>
              <a:t>a set of</a:t>
            </a: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 </a:t>
            </a:r>
            <a:r>
              <a:rPr lang="zh-CN" altLang="en-US" sz="2400" dirty="0">
                <a:solidFill>
                  <a:srgbClr val="A50021"/>
                </a:solidFill>
                <a:ea typeface="楷体_GB2312" pitchFamily="49" charset="-122"/>
                <a:cs typeface="Arial" panose="020B0604020202020204" pitchFamily="34" charset="0"/>
                <a:sym typeface="Symbol" panose="05050102010706020507" pitchFamily="18" charset="2"/>
              </a:rPr>
              <a:t>vertices</a:t>
            </a: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 and </a:t>
            </a:r>
            <a:r>
              <a:rPr lang="zh-CN" altLang="en-US" sz="2400" dirty="0">
                <a:solidFill>
                  <a:srgbClr val="A50021"/>
                </a:solidFill>
                <a:ea typeface="楷体_GB2312" pitchFamily="49" charset="-122"/>
                <a:cs typeface="Arial" panose="020B0604020202020204" pitchFamily="34" charset="0"/>
                <a:sym typeface="Symbol" panose="05050102010706020507" pitchFamily="18" charset="2"/>
              </a:rPr>
              <a:t>a set of</a:t>
            </a: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 </a:t>
            </a:r>
            <a:r>
              <a:rPr lang="zh-CN" altLang="en-US" sz="2400" dirty="0">
                <a:solidFill>
                  <a:srgbClr val="A50021"/>
                </a:solidFill>
                <a:ea typeface="楷体_GB2312" pitchFamily="49" charset="-122"/>
                <a:cs typeface="Arial" panose="020B0604020202020204" pitchFamily="34" charset="0"/>
                <a:sym typeface="Symbol" panose="05050102010706020507" pitchFamily="18" charset="2"/>
              </a:rPr>
              <a:t>edges</a:t>
            </a: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 is called an </a:t>
            </a:r>
            <a:r>
              <a:rPr lang="zh-CN" altLang="en-US" sz="2400" dirty="0">
                <a:solidFill>
                  <a:srgbClr val="A50021"/>
                </a:solidFill>
                <a:ea typeface="楷体_GB2312" pitchFamily="49" charset="-122"/>
                <a:cs typeface="Arial" panose="020B0604020202020204" pitchFamily="34" charset="0"/>
                <a:sym typeface="Symbol" panose="05050102010706020507" pitchFamily="18" charset="2"/>
              </a:rPr>
              <a:t>undirected graph</a:t>
            </a:r>
            <a:r>
              <a:rPr lang="zh-CN" altLang="en-US" sz="2400" dirty="0">
                <a:solidFill>
                  <a:srgbClr val="333399"/>
                </a:solidFill>
                <a:ea typeface="楷体_GB2312" pitchFamily="49" charset="-122"/>
                <a:cs typeface="Arial" panose="020B0604020202020204" pitchFamily="34" charset="0"/>
                <a:sym typeface="Symbol" panose="05050102010706020507" pitchFamily="18" charset="2"/>
              </a:rPr>
              <a:t>.</a:t>
            </a:r>
            <a:endParaRPr lang="zh-CN" altLang="en-US" sz="2400" dirty="0">
              <a:solidFill>
                <a:srgbClr val="333399"/>
              </a:solidFill>
              <a:ea typeface="楷体_GB2312" pitchFamily="49" charset="-122"/>
              <a:cs typeface="Arial" panose="020B0604020202020204" pitchFamily="34" charset="0"/>
              <a:sym typeface="Symbol" panose="05050102010706020507" pitchFamily="18" charset="2"/>
            </a:endParaRPr>
          </a:p>
          <a:p>
            <a:pPr>
              <a:lnSpc>
                <a:spcPct val="110000"/>
              </a:lnSpc>
            </a:pPr>
            <a:r>
              <a:rPr lang="zh-CN" altLang="en-US" sz="2400" dirty="0">
                <a:solidFill>
                  <a:srgbClr val="800000"/>
                </a:solidFill>
                <a:ea typeface="楷体_GB2312" pitchFamily="49" charset="-122"/>
                <a:cs typeface="Arial" panose="020B0604020202020204" pitchFamily="34" charset="0"/>
                <a:sym typeface="Symbol" panose="05050102010706020507" pitchFamily="18" charset="2"/>
              </a:rPr>
              <a:t>For example</a:t>
            </a:r>
            <a:r>
              <a:rPr lang="en-US" altLang="zh-CN" sz="2400" dirty="0">
                <a:solidFill>
                  <a:srgbClr val="800000"/>
                </a:solidFill>
                <a:ea typeface="楷体_GB2312" pitchFamily="49" charset="-122"/>
                <a:cs typeface="Arial" panose="020B0604020202020204" pitchFamily="34" charset="0"/>
                <a:sym typeface="Symbol" panose="05050102010706020507" pitchFamily="18" charset="2"/>
              </a:rPr>
              <a:t>: G</a:t>
            </a:r>
            <a:r>
              <a:rPr lang="en-US" altLang="zh-CN" sz="2400" baseline="-25000" dirty="0">
                <a:solidFill>
                  <a:srgbClr val="800000"/>
                </a:solidFill>
                <a:ea typeface="楷体_GB2312" pitchFamily="49" charset="-122"/>
                <a:cs typeface="Arial" panose="020B0604020202020204" pitchFamily="34" charset="0"/>
                <a:sym typeface="Symbol" panose="05050102010706020507" pitchFamily="18" charset="2"/>
              </a:rPr>
              <a:t>2</a:t>
            </a:r>
            <a:r>
              <a:rPr lang="en-US" altLang="zh-CN" sz="2400" dirty="0">
                <a:solidFill>
                  <a:srgbClr val="800000"/>
                </a:solidFill>
                <a:ea typeface="楷体_GB2312" pitchFamily="49" charset="-122"/>
                <a:cs typeface="Arial" panose="020B0604020202020204" pitchFamily="34" charset="0"/>
                <a:sym typeface="Symbol" panose="05050102010706020507" pitchFamily="18" charset="2"/>
              </a:rPr>
              <a:t>=(V</a:t>
            </a:r>
            <a:r>
              <a:rPr lang="en-US" altLang="zh-CN" sz="2400" baseline="-25000" dirty="0">
                <a:solidFill>
                  <a:srgbClr val="800000"/>
                </a:solidFill>
                <a:ea typeface="楷体_GB2312" pitchFamily="49" charset="-122"/>
                <a:cs typeface="Arial" panose="020B0604020202020204" pitchFamily="34" charset="0"/>
                <a:sym typeface="Symbol" panose="05050102010706020507" pitchFamily="18" charset="2"/>
              </a:rPr>
              <a:t>2</a:t>
            </a:r>
            <a:r>
              <a:rPr lang="en-US" altLang="zh-CN" sz="2400" dirty="0">
                <a:solidFill>
                  <a:srgbClr val="800000"/>
                </a:solidFill>
                <a:ea typeface="楷体_GB2312" pitchFamily="49" charset="-122"/>
                <a:cs typeface="Arial" panose="020B0604020202020204" pitchFamily="34" charset="0"/>
                <a:sym typeface="Symbol" panose="05050102010706020507" pitchFamily="18" charset="2"/>
              </a:rPr>
              <a:t>,VR</a:t>
            </a:r>
            <a:r>
              <a:rPr lang="en-US" altLang="zh-CN" sz="2400" baseline="-25000" dirty="0">
                <a:solidFill>
                  <a:srgbClr val="800000"/>
                </a:solidFill>
                <a:ea typeface="楷体_GB2312" pitchFamily="49" charset="-122"/>
                <a:cs typeface="Arial" panose="020B0604020202020204" pitchFamily="34" charset="0"/>
                <a:sym typeface="Symbol" panose="05050102010706020507" pitchFamily="18" charset="2"/>
              </a:rPr>
              <a:t>2</a:t>
            </a:r>
            <a:r>
              <a:rPr lang="en-US" altLang="zh-CN" sz="2400" dirty="0">
                <a:solidFill>
                  <a:srgbClr val="800000"/>
                </a:solidFill>
                <a:ea typeface="楷体_GB2312" pitchFamily="49" charset="-122"/>
                <a:cs typeface="Arial" panose="020B0604020202020204" pitchFamily="34" charset="0"/>
                <a:sym typeface="Symbol" panose="05050102010706020507" pitchFamily="18" charset="2"/>
              </a:rPr>
              <a:t>)</a:t>
            </a:r>
            <a:endParaRPr lang="en-US" altLang="zh-CN" sz="2400" dirty="0">
              <a:solidFill>
                <a:srgbClr val="800000"/>
              </a:solidFill>
              <a:ea typeface="楷体_GB2312" pitchFamily="49" charset="-122"/>
              <a:cs typeface="Arial" panose="020B0604020202020204" pitchFamily="34" charset="0"/>
              <a:sym typeface="Symbol" panose="05050102010706020507" pitchFamily="18" charset="2"/>
            </a:endParaRPr>
          </a:p>
        </p:txBody>
      </p:sp>
      <p:sp>
        <p:nvSpPr>
          <p:cNvPr id="20" name="Text Box 19"/>
          <p:cNvSpPr txBox="1">
            <a:spLocks noChangeArrowheads="1"/>
          </p:cNvSpPr>
          <p:nvPr/>
        </p:nvSpPr>
        <p:spPr bwMode="auto">
          <a:xfrm>
            <a:off x="205105" y="3789045"/>
            <a:ext cx="4385310" cy="278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en-US" altLang="zh-CN" dirty="0">
                <a:solidFill>
                  <a:srgbClr val="800000"/>
                </a:solidFill>
                <a:ea typeface="楷体_GB2312" pitchFamily="49" charset="-122"/>
                <a:sym typeface="Symbol" panose="05050102010706020507" pitchFamily="18" charset="2"/>
              </a:rPr>
              <a:t>where V</a:t>
            </a:r>
            <a:r>
              <a:rPr lang="en-US" altLang="zh-CN" baseline="-25000" dirty="0">
                <a:solidFill>
                  <a:srgbClr val="800000"/>
                </a:solidFill>
                <a:ea typeface="楷体_GB2312" pitchFamily="49" charset="-122"/>
                <a:sym typeface="Symbol" panose="05050102010706020507" pitchFamily="18" charset="2"/>
              </a:rPr>
              <a:t>2</a:t>
            </a:r>
            <a:r>
              <a:rPr lang="en-US" altLang="zh-CN" dirty="0">
                <a:solidFill>
                  <a:srgbClr val="800000"/>
                </a:solidFill>
                <a:ea typeface="楷体_GB2312" pitchFamily="49" charset="-122"/>
                <a:sym typeface="Symbol" panose="05050102010706020507" pitchFamily="18" charset="2"/>
              </a:rPr>
              <a:t>={A, B, C, D, E, F}</a:t>
            </a:r>
            <a:endParaRPr lang="en-US" altLang="zh-CN" dirty="0">
              <a:solidFill>
                <a:srgbClr val="800000"/>
              </a:solidFill>
              <a:ea typeface="楷体_GB2312" pitchFamily="49" charset="-122"/>
              <a:sym typeface="Symbol" panose="05050102010706020507" pitchFamily="18" charset="2"/>
            </a:endParaRPr>
          </a:p>
          <a:p>
            <a:pPr>
              <a:lnSpc>
                <a:spcPct val="125000"/>
              </a:lnSpc>
            </a:pPr>
            <a:r>
              <a:rPr lang="en-US" altLang="zh-CN" dirty="0">
                <a:solidFill>
                  <a:srgbClr val="800000"/>
                </a:solidFill>
                <a:ea typeface="楷体_GB2312" pitchFamily="49" charset="-122"/>
                <a:sym typeface="Symbol" panose="05050102010706020507" pitchFamily="18" charset="2"/>
              </a:rPr>
              <a:t>VR</a:t>
            </a:r>
            <a:r>
              <a:rPr lang="en-US" altLang="zh-CN" baseline="-25000" dirty="0">
                <a:solidFill>
                  <a:srgbClr val="800000"/>
                </a:solidFill>
                <a:ea typeface="楷体_GB2312" pitchFamily="49" charset="-122"/>
                <a:sym typeface="Symbol" panose="05050102010706020507" pitchFamily="18" charset="2"/>
              </a:rPr>
              <a:t>2</a:t>
            </a:r>
            <a:r>
              <a:rPr lang="en-US" altLang="zh-CN" dirty="0">
                <a:solidFill>
                  <a:srgbClr val="800000"/>
                </a:solidFill>
                <a:ea typeface="楷体_GB2312" pitchFamily="49" charset="-122"/>
                <a:sym typeface="Symbol" panose="05050102010706020507" pitchFamily="18" charset="2"/>
              </a:rPr>
              <a:t>={( A,B ), ( A,E ),</a:t>
            </a:r>
            <a:endParaRPr lang="en-US" altLang="zh-CN" dirty="0">
              <a:solidFill>
                <a:srgbClr val="800000"/>
              </a:solidFill>
              <a:ea typeface="楷体_GB2312" pitchFamily="49" charset="-122"/>
              <a:sym typeface="Symbol" panose="05050102010706020507" pitchFamily="18" charset="2"/>
            </a:endParaRPr>
          </a:p>
          <a:p>
            <a:pPr>
              <a:lnSpc>
                <a:spcPct val="125000"/>
              </a:lnSpc>
            </a:pPr>
            <a:r>
              <a:rPr lang="en-US" altLang="zh-CN" dirty="0">
                <a:solidFill>
                  <a:srgbClr val="800000"/>
                </a:solidFill>
              </a:rPr>
              <a:t>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B,E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C,D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a:t>
            </a:r>
            <a:endParaRPr lang="en-US" altLang="zh-CN" dirty="0">
              <a:solidFill>
                <a:srgbClr val="800000"/>
              </a:solidFill>
            </a:endParaRPr>
          </a:p>
          <a:p>
            <a:pPr>
              <a:lnSpc>
                <a:spcPct val="125000"/>
              </a:lnSpc>
            </a:pPr>
            <a:r>
              <a:rPr lang="en-US" altLang="zh-CN" dirty="0">
                <a:solidFill>
                  <a:srgbClr val="800000"/>
                </a:solidFill>
              </a:rPr>
              <a:t>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D,F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B,F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a:t>
            </a:r>
            <a:endParaRPr lang="en-US" altLang="zh-CN" dirty="0">
              <a:solidFill>
                <a:srgbClr val="800000"/>
              </a:solidFill>
            </a:endParaRPr>
          </a:p>
          <a:p>
            <a:pPr>
              <a:lnSpc>
                <a:spcPct val="125000"/>
              </a:lnSpc>
            </a:pPr>
            <a:r>
              <a:rPr lang="en-US" altLang="zh-CN" dirty="0">
                <a:solidFill>
                  <a:srgbClr val="800000"/>
                </a:solidFill>
              </a:rPr>
              <a:t>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C,F </a:t>
            </a:r>
            <a:r>
              <a:rPr lang="en-US" altLang="zh-CN" dirty="0">
                <a:solidFill>
                  <a:srgbClr val="800000"/>
                </a:solidFill>
                <a:ea typeface="楷体_GB2312" pitchFamily="49" charset="-122"/>
                <a:sym typeface="Symbol" panose="05050102010706020507" pitchFamily="18" charset="2"/>
              </a:rPr>
              <a:t>)</a:t>
            </a:r>
            <a:r>
              <a:rPr lang="en-US" altLang="zh-CN" dirty="0">
                <a:solidFill>
                  <a:srgbClr val="800000"/>
                </a:solidFill>
              </a:rPr>
              <a:t> }</a:t>
            </a:r>
            <a:endParaRPr lang="en-US" altLang="zh-CN" dirty="0">
              <a:solidFill>
                <a:srgbClr val="800000"/>
              </a:solidFill>
            </a:endParaRPr>
          </a:p>
        </p:txBody>
      </p:sp>
      <p:grpSp>
        <p:nvGrpSpPr>
          <p:cNvPr id="7" name="Group 3"/>
          <p:cNvGrpSpPr/>
          <p:nvPr/>
        </p:nvGrpSpPr>
        <p:grpSpPr bwMode="auto">
          <a:xfrm>
            <a:off x="4645025" y="3140968"/>
            <a:ext cx="3965575" cy="3200400"/>
            <a:chOff x="2926" y="2064"/>
            <a:chExt cx="2498" cy="2016"/>
          </a:xfrm>
        </p:grpSpPr>
        <p:sp>
          <p:nvSpPr>
            <p:cNvPr id="8" name="Text Box 4"/>
            <p:cNvSpPr txBox="1">
              <a:spLocks noChangeArrowheads="1"/>
            </p:cNvSpPr>
            <p:nvPr/>
          </p:nvSpPr>
          <p:spPr bwMode="auto">
            <a:xfrm>
              <a:off x="2926" y="2064"/>
              <a:ext cx="2498" cy="2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400" dirty="0"/>
                <a:t>       </a:t>
              </a:r>
              <a:r>
                <a:rPr lang="en-US" altLang="zh-CN" sz="4000" b="1" dirty="0">
                  <a:solidFill>
                    <a:srgbClr val="000099"/>
                  </a:solidFill>
                </a:rPr>
                <a:t>B          C</a:t>
              </a:r>
              <a:endParaRPr lang="en-US" altLang="zh-CN" sz="4000" b="1" dirty="0">
                <a:solidFill>
                  <a:srgbClr val="000099"/>
                </a:solidFill>
              </a:endParaRPr>
            </a:p>
            <a:p>
              <a:endParaRPr lang="en-US" altLang="zh-CN" sz="4000" b="1" dirty="0">
                <a:solidFill>
                  <a:srgbClr val="000099"/>
                </a:solidFill>
              </a:endParaRPr>
            </a:p>
            <a:p>
              <a:r>
                <a:rPr lang="en-US" altLang="zh-CN" sz="4000" b="1" dirty="0">
                  <a:solidFill>
                    <a:srgbClr val="000099"/>
                  </a:solidFill>
                </a:rPr>
                <a:t>A                        D</a:t>
              </a:r>
              <a:endParaRPr lang="en-US" altLang="zh-CN" sz="4000" b="1" dirty="0">
                <a:solidFill>
                  <a:srgbClr val="000099"/>
                </a:solidFill>
              </a:endParaRPr>
            </a:p>
            <a:p>
              <a:endParaRPr lang="en-US" altLang="zh-CN" sz="4000" b="1" dirty="0">
                <a:solidFill>
                  <a:srgbClr val="000099"/>
                </a:solidFill>
              </a:endParaRPr>
            </a:p>
            <a:p>
              <a:r>
                <a:rPr lang="en-US" altLang="zh-CN" sz="4000" b="1" dirty="0">
                  <a:solidFill>
                    <a:srgbClr val="000099"/>
                  </a:solidFill>
                </a:rPr>
                <a:t>        F          E</a:t>
              </a:r>
              <a:endParaRPr lang="en-US" altLang="zh-CN" sz="4000" dirty="0">
                <a:solidFill>
                  <a:srgbClr val="000099"/>
                </a:solidFill>
              </a:endParaRPr>
            </a:p>
          </p:txBody>
        </p:sp>
        <p:sp>
          <p:nvSpPr>
            <p:cNvPr id="9" name="Oval 5"/>
            <p:cNvSpPr>
              <a:spLocks noChangeArrowheads="1"/>
            </p:cNvSpPr>
            <p:nvPr/>
          </p:nvSpPr>
          <p:spPr bwMode="auto">
            <a:xfrm>
              <a:off x="3560" y="2145"/>
              <a:ext cx="287" cy="351"/>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6"/>
            <p:cNvSpPr>
              <a:spLocks noChangeArrowheads="1"/>
            </p:cNvSpPr>
            <p:nvPr/>
          </p:nvSpPr>
          <p:spPr bwMode="auto">
            <a:xfrm>
              <a:off x="4567" y="2145"/>
              <a:ext cx="287" cy="303"/>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7"/>
            <p:cNvSpPr>
              <a:spLocks noChangeArrowheads="1"/>
            </p:cNvSpPr>
            <p:nvPr/>
          </p:nvSpPr>
          <p:spPr bwMode="auto">
            <a:xfrm>
              <a:off x="2936" y="2928"/>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8"/>
            <p:cNvSpPr>
              <a:spLocks noChangeArrowheads="1"/>
            </p:cNvSpPr>
            <p:nvPr/>
          </p:nvSpPr>
          <p:spPr bwMode="auto">
            <a:xfrm>
              <a:off x="3560" y="3696"/>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9"/>
            <p:cNvSpPr>
              <a:spLocks noChangeArrowheads="1"/>
            </p:cNvSpPr>
            <p:nvPr/>
          </p:nvSpPr>
          <p:spPr bwMode="auto">
            <a:xfrm>
              <a:off x="4568" y="3696"/>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0"/>
            <p:cNvSpPr>
              <a:spLocks noChangeArrowheads="1"/>
            </p:cNvSpPr>
            <p:nvPr/>
          </p:nvSpPr>
          <p:spPr bwMode="auto">
            <a:xfrm>
              <a:off x="5095" y="2928"/>
              <a:ext cx="287" cy="303"/>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1"/>
            <p:cNvSpPr>
              <a:spLocks noChangeShapeType="1"/>
            </p:cNvSpPr>
            <p:nvPr/>
          </p:nvSpPr>
          <p:spPr bwMode="auto">
            <a:xfrm flipH="1">
              <a:off x="3079" y="2352"/>
              <a:ext cx="480" cy="576"/>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2"/>
            <p:cNvSpPr>
              <a:spLocks noChangeShapeType="1"/>
            </p:cNvSpPr>
            <p:nvPr/>
          </p:nvSpPr>
          <p:spPr bwMode="auto">
            <a:xfrm>
              <a:off x="3848" y="2304"/>
              <a:ext cx="863" cy="1392"/>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3"/>
            <p:cNvSpPr>
              <a:spLocks noChangeShapeType="1"/>
            </p:cNvSpPr>
            <p:nvPr/>
          </p:nvSpPr>
          <p:spPr bwMode="auto">
            <a:xfrm>
              <a:off x="3224" y="3120"/>
              <a:ext cx="1487" cy="576"/>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4"/>
            <p:cNvSpPr>
              <a:spLocks noChangeShapeType="1"/>
            </p:cNvSpPr>
            <p:nvPr/>
          </p:nvSpPr>
          <p:spPr bwMode="auto">
            <a:xfrm flipH="1">
              <a:off x="3792" y="2352"/>
              <a:ext cx="775" cy="1392"/>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p:cNvSpPr>
              <a:spLocks noChangeShapeType="1"/>
            </p:cNvSpPr>
            <p:nvPr/>
          </p:nvSpPr>
          <p:spPr bwMode="auto">
            <a:xfrm>
              <a:off x="4855" y="2304"/>
              <a:ext cx="384" cy="624"/>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6"/>
            <p:cNvSpPr>
              <a:spLocks noChangeShapeType="1"/>
            </p:cNvSpPr>
            <p:nvPr/>
          </p:nvSpPr>
          <p:spPr bwMode="auto">
            <a:xfrm flipH="1">
              <a:off x="3840" y="3120"/>
              <a:ext cx="1255" cy="624"/>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7"/>
            <p:cNvSpPr>
              <a:spLocks noChangeShapeType="1"/>
            </p:cNvSpPr>
            <p:nvPr/>
          </p:nvSpPr>
          <p:spPr bwMode="auto">
            <a:xfrm flipH="1">
              <a:off x="3703" y="2481"/>
              <a:ext cx="1" cy="1215"/>
            </a:xfrm>
            <a:prstGeom prst="lin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23" name="灯片编号占位符 22"/>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Network</a:t>
            </a:r>
            <a:endParaRPr lang="zh-CN" altLang="en-US" dirty="0"/>
          </a:p>
        </p:txBody>
      </p:sp>
      <p:sp>
        <p:nvSpPr>
          <p:cNvPr id="3" name="内容占位符 2"/>
          <p:cNvSpPr>
            <a:spLocks noGrp="1"/>
          </p:cNvSpPr>
          <p:nvPr>
            <p:ph idx="1"/>
          </p:nvPr>
        </p:nvSpPr>
        <p:spPr>
          <a:xfrm>
            <a:off x="323850" y="1124745"/>
            <a:ext cx="8496300" cy="3096344"/>
          </a:xfrm>
        </p:spPr>
        <p:txBody>
          <a:bodyPr/>
          <a:lstStyle/>
          <a:p>
            <a:pPr>
              <a:lnSpc>
                <a:spcPct val="120000"/>
              </a:lnSpc>
            </a:pPr>
            <a:r>
              <a:rPr lang="zh-CN" altLang="en-US" sz="2400" dirty="0">
                <a:ea typeface="楷体_GB2312" pitchFamily="49" charset="-122"/>
                <a:cs typeface="Arial" panose="020B0604020202020204" pitchFamily="34" charset="0"/>
                <a:sym typeface="+mn-ea"/>
              </a:rPr>
              <a:t>Sometimes a graphs edge or arc has a number associated with it, which is called a </a:t>
            </a:r>
            <a:r>
              <a:rPr lang="zh-CN" altLang="en-US" sz="2400" b="1" dirty="0">
                <a:solidFill>
                  <a:srgbClr val="FF0000"/>
                </a:solidFill>
                <a:ea typeface="楷体_GB2312" pitchFamily="49" charset="-122"/>
                <a:cs typeface="Arial" panose="020B0604020202020204" pitchFamily="34" charset="0"/>
                <a:sym typeface="+mn-ea"/>
              </a:rPr>
              <a:t>weight</a:t>
            </a:r>
            <a:r>
              <a:rPr lang="zh-CN" altLang="en-US" sz="2400" dirty="0">
                <a:ea typeface="楷体_GB2312" pitchFamily="49" charset="-122"/>
                <a:cs typeface="Arial" panose="020B0604020202020204" pitchFamily="34" charset="0"/>
                <a:sym typeface="+mn-ea"/>
              </a:rPr>
              <a:t>. These weights can represent the distance or cost from one vertex to another.</a:t>
            </a:r>
            <a:endParaRPr lang="en-US" altLang="zh-CN" sz="2400" dirty="0">
              <a:ea typeface="楷体_GB2312" pitchFamily="49" charset="-122"/>
              <a:cs typeface="Arial" panose="020B0604020202020204" pitchFamily="34" charset="0"/>
            </a:endParaRPr>
          </a:p>
          <a:p>
            <a:pPr>
              <a:lnSpc>
                <a:spcPct val="120000"/>
              </a:lnSpc>
            </a:pPr>
            <a:r>
              <a:rPr lang="zh-CN" altLang="en-US" sz="2400" dirty="0">
                <a:ea typeface="楷体_GB2312" pitchFamily="49" charset="-122"/>
                <a:cs typeface="Arial" panose="020B0604020202020204" pitchFamily="34" charset="0"/>
                <a:sym typeface="+mn-ea"/>
              </a:rPr>
              <a:t>A graph with arc or edge weights is called a </a:t>
            </a:r>
            <a:r>
              <a:rPr lang="zh-CN" altLang="en-US" sz="2400" b="1" dirty="0">
                <a:solidFill>
                  <a:srgbClr val="FF0000"/>
                </a:solidFill>
                <a:ea typeface="楷体_GB2312" pitchFamily="49" charset="-122"/>
                <a:cs typeface="Arial" panose="020B0604020202020204" pitchFamily="34" charset="0"/>
                <a:sym typeface="+mn-ea"/>
              </a:rPr>
              <a:t>network</a:t>
            </a:r>
            <a:r>
              <a:rPr lang="zh-CN" altLang="en-US" sz="2400" dirty="0">
                <a:ea typeface="楷体_GB2312" pitchFamily="49" charset="-122"/>
                <a:cs typeface="Arial" panose="020B0604020202020204" pitchFamily="34" charset="0"/>
                <a:sym typeface="+mn-ea"/>
              </a:rPr>
              <a:t> (including </a:t>
            </a:r>
            <a:r>
              <a:rPr lang="zh-CN" altLang="en-US" sz="2400" b="1" dirty="0">
                <a:solidFill>
                  <a:srgbClr val="FF0000"/>
                </a:solidFill>
                <a:ea typeface="楷体_GB2312" pitchFamily="49" charset="-122"/>
                <a:cs typeface="Arial" panose="020B0604020202020204" pitchFamily="34" charset="0"/>
                <a:sym typeface="+mn-ea"/>
              </a:rPr>
              <a:t>directed and undirected networks</a:t>
            </a:r>
            <a:r>
              <a:rPr lang="zh-CN" altLang="en-US" sz="2400" dirty="0">
                <a:ea typeface="楷体_GB2312" pitchFamily="49" charset="-122"/>
                <a:cs typeface="Arial" panose="020B0604020202020204" pitchFamily="34" charset="0"/>
                <a:sym typeface="+mn-ea"/>
              </a:rPr>
              <a:t>).</a:t>
            </a:r>
            <a:endParaRPr lang="zh-CN" altLang="en-US" sz="2400" dirty="0">
              <a:ea typeface="楷体_GB2312" pitchFamily="49" charset="-122"/>
              <a:cs typeface="Arial" panose="020B0604020202020204" pitchFamily="34" charset="0"/>
              <a:sym typeface="+mn-ea"/>
            </a:endParaRPr>
          </a:p>
        </p:txBody>
      </p:sp>
      <p:grpSp>
        <p:nvGrpSpPr>
          <p:cNvPr id="6" name="Group 2"/>
          <p:cNvGrpSpPr/>
          <p:nvPr/>
        </p:nvGrpSpPr>
        <p:grpSpPr bwMode="auto">
          <a:xfrm>
            <a:off x="2895600" y="3810000"/>
            <a:ext cx="3505200" cy="2438400"/>
            <a:chOff x="336" y="288"/>
            <a:chExt cx="2208" cy="1536"/>
          </a:xfrm>
        </p:grpSpPr>
        <p:sp>
          <p:nvSpPr>
            <p:cNvPr id="7" name="Line 3"/>
            <p:cNvSpPr>
              <a:spLocks noChangeShapeType="1"/>
            </p:cNvSpPr>
            <p:nvPr/>
          </p:nvSpPr>
          <p:spPr bwMode="auto">
            <a:xfrm flipH="1">
              <a:off x="480" y="432"/>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4"/>
            <p:cNvSpPr>
              <a:spLocks noChangeShapeType="1"/>
            </p:cNvSpPr>
            <p:nvPr/>
          </p:nvSpPr>
          <p:spPr bwMode="auto">
            <a:xfrm>
              <a:off x="576" y="1152"/>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5"/>
            <p:cNvSpPr>
              <a:spLocks noChangeShapeType="1"/>
            </p:cNvSpPr>
            <p:nvPr/>
          </p:nvSpPr>
          <p:spPr bwMode="auto">
            <a:xfrm>
              <a:off x="1152" y="1584"/>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6"/>
            <p:cNvSpPr>
              <a:spLocks noChangeShapeType="1"/>
            </p:cNvSpPr>
            <p:nvPr/>
          </p:nvSpPr>
          <p:spPr bwMode="auto">
            <a:xfrm flipH="1" flipV="1">
              <a:off x="1536" y="576"/>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7"/>
            <p:cNvSpPr>
              <a:spLocks noChangeShapeType="1"/>
            </p:cNvSpPr>
            <p:nvPr/>
          </p:nvSpPr>
          <p:spPr bwMode="auto">
            <a:xfrm>
              <a:off x="1584" y="432"/>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p:cNvSpPr>
              <a:spLocks noChangeShapeType="1"/>
            </p:cNvSpPr>
            <p:nvPr/>
          </p:nvSpPr>
          <p:spPr bwMode="auto">
            <a:xfrm flipH="1" flipV="1">
              <a:off x="624" y="1008"/>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9"/>
            <p:cNvSpPr>
              <a:spLocks noChangeShapeType="1"/>
            </p:cNvSpPr>
            <p:nvPr/>
          </p:nvSpPr>
          <p:spPr bwMode="auto">
            <a:xfrm flipH="1">
              <a:off x="1008" y="1008"/>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0"/>
            <p:cNvSpPr>
              <a:spLocks noChangeArrowheads="1"/>
            </p:cNvSpPr>
            <p:nvPr/>
          </p:nvSpPr>
          <p:spPr bwMode="auto">
            <a:xfrm>
              <a:off x="1296" y="28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15" name="Oval 11"/>
            <p:cNvSpPr>
              <a:spLocks noChangeArrowheads="1"/>
            </p:cNvSpPr>
            <p:nvPr/>
          </p:nvSpPr>
          <p:spPr bwMode="auto">
            <a:xfrm>
              <a:off x="336" y="86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6" name="Oval 12"/>
            <p:cNvSpPr>
              <a:spLocks noChangeArrowheads="1"/>
            </p:cNvSpPr>
            <p:nvPr/>
          </p:nvSpPr>
          <p:spPr bwMode="auto">
            <a:xfrm>
              <a:off x="2256" y="86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7" name="Oval 13"/>
            <p:cNvSpPr>
              <a:spLocks noChangeArrowheads="1"/>
            </p:cNvSpPr>
            <p:nvPr/>
          </p:nvSpPr>
          <p:spPr bwMode="auto">
            <a:xfrm>
              <a:off x="864" y="14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8" name="Oval 14"/>
            <p:cNvSpPr>
              <a:spLocks noChangeArrowheads="1"/>
            </p:cNvSpPr>
            <p:nvPr/>
          </p:nvSpPr>
          <p:spPr bwMode="auto">
            <a:xfrm>
              <a:off x="1728" y="14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19" name="Text Box 15"/>
            <p:cNvSpPr txBox="1">
              <a:spLocks noChangeArrowheads="1"/>
            </p:cNvSpPr>
            <p:nvPr/>
          </p:nvSpPr>
          <p:spPr bwMode="auto">
            <a:xfrm>
              <a:off x="710" y="336"/>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15</a:t>
              </a:r>
              <a:endParaRPr lang="en-US" altLang="zh-CN"/>
            </a:p>
          </p:txBody>
        </p:sp>
        <p:sp>
          <p:nvSpPr>
            <p:cNvPr id="20" name="Text Box 16"/>
            <p:cNvSpPr txBox="1">
              <a:spLocks noChangeArrowheads="1"/>
            </p:cNvSpPr>
            <p:nvPr/>
          </p:nvSpPr>
          <p:spPr bwMode="auto">
            <a:xfrm>
              <a:off x="1776" y="2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9</a:t>
              </a:r>
              <a:endParaRPr lang="en-US" altLang="zh-CN"/>
            </a:p>
          </p:txBody>
        </p:sp>
        <p:sp>
          <p:nvSpPr>
            <p:cNvPr id="21" name="Text Box 17"/>
            <p:cNvSpPr txBox="1">
              <a:spLocks noChangeArrowheads="1"/>
            </p:cNvSpPr>
            <p:nvPr/>
          </p:nvSpPr>
          <p:spPr bwMode="auto">
            <a:xfrm>
              <a:off x="912" y="91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7</a:t>
              </a:r>
              <a:endParaRPr lang="en-US" altLang="zh-CN"/>
            </a:p>
          </p:txBody>
        </p:sp>
        <p:sp>
          <p:nvSpPr>
            <p:cNvPr id="22" name="Text Box 18"/>
            <p:cNvSpPr txBox="1">
              <a:spLocks noChangeArrowheads="1"/>
            </p:cNvSpPr>
            <p:nvPr/>
          </p:nvSpPr>
          <p:spPr bwMode="auto">
            <a:xfrm>
              <a:off x="1344" y="960"/>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CC0000"/>
                  </a:solidFill>
                </a:rPr>
                <a:t>21</a:t>
              </a:r>
              <a:endParaRPr lang="en-US" altLang="zh-CN" dirty="0"/>
            </a:p>
          </p:txBody>
        </p:sp>
        <p:sp>
          <p:nvSpPr>
            <p:cNvPr id="23" name="Text Box 19"/>
            <p:cNvSpPr txBox="1">
              <a:spLocks noChangeArrowheads="1"/>
            </p:cNvSpPr>
            <p:nvPr/>
          </p:nvSpPr>
          <p:spPr bwMode="auto">
            <a:xfrm>
              <a:off x="1632" y="672"/>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11</a:t>
              </a:r>
              <a:endParaRPr lang="en-US" altLang="zh-CN"/>
            </a:p>
          </p:txBody>
        </p:sp>
        <p:sp>
          <p:nvSpPr>
            <p:cNvPr id="24" name="Text Box 20"/>
            <p:cNvSpPr txBox="1">
              <a:spLocks noChangeArrowheads="1"/>
            </p:cNvSpPr>
            <p:nvPr/>
          </p:nvSpPr>
          <p:spPr bwMode="auto">
            <a:xfrm>
              <a:off x="540" y="120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3</a:t>
              </a:r>
              <a:endParaRPr lang="en-US" altLang="zh-CN"/>
            </a:p>
          </p:txBody>
        </p:sp>
        <p:sp>
          <p:nvSpPr>
            <p:cNvPr id="25" name="Text Box 21"/>
            <p:cNvSpPr txBox="1">
              <a:spLocks noChangeArrowheads="1"/>
            </p:cNvSpPr>
            <p:nvPr/>
          </p:nvSpPr>
          <p:spPr bwMode="auto">
            <a:xfrm>
              <a:off x="1308" y="149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CC0000"/>
                  </a:solidFill>
                </a:rPr>
                <a:t>2</a:t>
              </a:r>
              <a:endParaRPr lang="en-US" altLang="zh-CN"/>
            </a:p>
          </p:txBody>
        </p:sp>
      </p:grpSp>
      <p:sp>
        <p:nvSpPr>
          <p:cNvPr id="26" name="页脚占位符 25"/>
          <p:cNvSpPr>
            <a:spLocks noGrp="1"/>
          </p:cNvSpPr>
          <p:nvPr>
            <p:ph type="ftr" sz="quarter" idx="10"/>
          </p:nvPr>
        </p:nvSpPr>
        <p:spPr/>
        <p:txBody>
          <a:bodyPr/>
          <a:lstStyle/>
          <a:p>
            <a:pPr>
              <a:defRPr/>
            </a:pPr>
            <a:r>
              <a:rPr lang="en-US" altLang="zh-CN"/>
              <a:t>©Haiyang Liu, 2025</a:t>
            </a:r>
            <a:endParaRPr lang="en-US" altLang="zh-CN" dirty="0"/>
          </a:p>
        </p:txBody>
      </p:sp>
      <p:sp>
        <p:nvSpPr>
          <p:cNvPr id="27" name="灯片编号占位符 2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a:solidFill>
                  <a:srgbClr val="FF0000"/>
                </a:solidFill>
                <a:sym typeface="+mn-ea"/>
              </a:rPr>
              <a:t>Basic Concepts of Graph Theory</a:t>
            </a:r>
            <a:endParaRPr lang="en-US" altLang="zh-CN" sz="3200" dirty="0">
              <a:solidFill>
                <a:srgbClr val="FF0000"/>
              </a:solidFill>
              <a:sym typeface="+mn-ea"/>
            </a:endParaRPr>
          </a:p>
        </p:txBody>
      </p:sp>
      <p:sp>
        <p:nvSpPr>
          <p:cNvPr id="3" name="内容占位符 2"/>
          <p:cNvSpPr>
            <a:spLocks noGrp="1"/>
          </p:cNvSpPr>
          <p:nvPr>
            <p:ph idx="1"/>
          </p:nvPr>
        </p:nvSpPr>
        <p:spPr/>
        <p:txBody>
          <a:bodyPr/>
          <a:lstStyle/>
          <a:p>
            <a:pPr>
              <a:lnSpc>
                <a:spcPct val="150000"/>
              </a:lnSpc>
            </a:pPr>
            <a:r>
              <a:rPr lang="en-US" altLang="zh-CN" dirty="0">
                <a:sym typeface="+mn-ea"/>
              </a:rPr>
              <a:t>Structural Definition of Graphs</a:t>
            </a:r>
            <a:endParaRPr lang="en-US" altLang="zh-CN" dirty="0"/>
          </a:p>
          <a:p>
            <a:pPr>
              <a:lnSpc>
                <a:spcPct val="150000"/>
              </a:lnSpc>
            </a:pPr>
            <a:r>
              <a:rPr lang="en-US" altLang="zh-CN" dirty="0"/>
              <a:t>Other Terminologies in Graph Theory (There are so many that...)</a:t>
            </a:r>
            <a:endParaRPr lang="en-US" altLang="zh-CN" dirty="0"/>
          </a:p>
          <a:p>
            <a:pPr>
              <a:lnSpc>
                <a:spcPct val="150000"/>
              </a:lnSpc>
            </a:pPr>
            <a:r>
              <a:rPr lang="en-US" altLang="zh-CN" dirty="0">
                <a:sym typeface="+mn-ea"/>
              </a:rPr>
              <a:t>Abstract Data Type Definition of Graphs</a:t>
            </a:r>
            <a:endParaRPr lang="en-US" altLang="zh-CN" dirty="0"/>
          </a:p>
          <a:p>
            <a:pPr>
              <a:lnSpc>
                <a:spcPct val="150000"/>
              </a:lnSpc>
            </a:pPr>
            <a:r>
              <a:rPr lang="en-US" altLang="zh-CN" dirty="0">
                <a:sym typeface="+mn-ea"/>
              </a:rPr>
              <a:t>Basic Operations on Graphs</a:t>
            </a:r>
            <a:endParaRPr lang="zh-CN" altLang="en-US" dirty="0"/>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sym typeface="+mn-ea"/>
              </a:rPr>
              <a:t>Terminologies in Graph Theory </a:t>
            </a:r>
            <a:endParaRPr lang="en-US" altLang="zh-CN" sz="3600" dirty="0">
              <a:sym typeface="+mn-ea"/>
            </a:endParaRPr>
          </a:p>
        </p:txBody>
      </p:sp>
      <p:sp>
        <p:nvSpPr>
          <p:cNvPr id="3" name="内容占位符 2"/>
          <p:cNvSpPr>
            <a:spLocks noGrp="1"/>
          </p:cNvSpPr>
          <p:nvPr>
            <p:ph idx="1"/>
          </p:nvPr>
        </p:nvSpPr>
        <p:spPr/>
        <p:txBody>
          <a:bodyPr/>
          <a:lstStyle/>
          <a:p>
            <a:pPr>
              <a:lnSpc>
                <a:spcPts val="4200"/>
              </a:lnSpc>
            </a:pPr>
            <a:r>
              <a:rPr lang="zh-CN" altLang="zh-CN" sz="2800" dirty="0">
                <a:solidFill>
                  <a:srgbClr val="000066"/>
                </a:solidFill>
                <a:ea typeface="楷体_GB2312" pitchFamily="49" charset="-122"/>
                <a:cs typeface="Arial" panose="020B0604020202020204" pitchFamily="34" charset="0"/>
              </a:rPr>
              <a:t>Adjacent Vertices, Degree, In-degree, Out-degree</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Path, Path Length, Simple Path, Simple Cycle</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Connected Graph, Connected Component</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Strongly Connected Graph, Strongly Connected Component</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Complete Graph, Sparse Graph, Dense Graph</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Spanning Tree, Spanning Forest</a:t>
            </a:r>
            <a:endParaRPr lang="zh-CN" altLang="zh-CN" sz="2800" dirty="0">
              <a:solidFill>
                <a:srgbClr val="000066"/>
              </a:solidFill>
              <a:ea typeface="楷体_GB2312" pitchFamily="49" charset="-122"/>
              <a:cs typeface="Arial" panose="020B0604020202020204" pitchFamily="34" charset="0"/>
            </a:endParaRPr>
          </a:p>
          <a:p>
            <a:pPr marR="0" defTabSz="914400" latinLnBrk="0">
              <a:lnSpc>
                <a:spcPts val="4200"/>
              </a:lnSpc>
              <a:spcBef>
                <a:spcPct val="10000"/>
              </a:spcBef>
              <a:buClrTx/>
              <a:buSzTx/>
              <a:defRPr/>
            </a:pPr>
            <a:r>
              <a:rPr lang="zh-CN" altLang="zh-CN" sz="2800" dirty="0">
                <a:solidFill>
                  <a:srgbClr val="000066"/>
                </a:solidFill>
                <a:ea typeface="楷体_GB2312" pitchFamily="49" charset="-122"/>
                <a:cs typeface="Arial" panose="020B0604020202020204" pitchFamily="34" charset="0"/>
              </a:rPr>
              <a:t>Network, Subgraph</a:t>
            </a:r>
            <a:endParaRPr lang="zh-CN" altLang="zh-CN" sz="2800" dirty="0">
              <a:solidFill>
                <a:srgbClr val="000066"/>
              </a:solidFill>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Subgragh</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a:ea typeface="楷体_GB2312" pitchFamily="49" charset="-122"/>
                <a:sym typeface="+mn-ea"/>
              </a:rPr>
              <a:t>Suppose two graphs</a:t>
            </a:r>
            <a:r>
              <a:rPr lang="zh-CN" altLang="en-US" dirty="0">
                <a:ea typeface="楷体_GB2312" pitchFamily="49" charset="-122"/>
              </a:rPr>
              <a:t> </a:t>
            </a:r>
            <a:r>
              <a:rPr lang="en-US" altLang="zh-CN" dirty="0"/>
              <a:t>G=(V, {VR}) and</a:t>
            </a:r>
            <a:r>
              <a:rPr lang="zh-CN" altLang="en-US" dirty="0"/>
              <a:t> </a:t>
            </a:r>
            <a:r>
              <a:rPr lang="en-US" altLang="zh-CN" dirty="0"/>
              <a:t>G</a:t>
            </a:r>
            <a:r>
              <a:rPr lang="en-US" altLang="zh-CN" dirty="0">
                <a:sym typeface="Symbol" panose="05050102010706020507" pitchFamily="18" charset="2"/>
              </a:rPr>
              <a:t> =(V, {VR})</a:t>
            </a:r>
            <a:r>
              <a:rPr lang="zh-CN" altLang="en-US" dirty="0">
                <a:sym typeface="Symbol" panose="05050102010706020507" pitchFamily="18" charset="2"/>
              </a:rPr>
              <a:t>，</a:t>
            </a:r>
            <a:r>
              <a:rPr lang="en-US" altLang="zh-CN" dirty="0">
                <a:sym typeface="Symbol" panose="05050102010706020507" pitchFamily="18" charset="2"/>
              </a:rPr>
              <a:t>if</a:t>
            </a:r>
            <a:r>
              <a:rPr lang="zh-CN" altLang="en-US" dirty="0">
                <a:sym typeface="Symbol" panose="05050102010706020507" pitchFamily="18" charset="2"/>
              </a:rPr>
              <a:t> </a:t>
            </a:r>
            <a:r>
              <a:rPr lang="en-US" altLang="zh-CN" dirty="0">
                <a:sym typeface="Symbol" panose="05050102010706020507" pitchFamily="18" charset="2"/>
              </a:rPr>
              <a:t>VV, VRVR</a:t>
            </a:r>
            <a:r>
              <a:rPr lang="zh-CN" altLang="en-US" dirty="0">
                <a:sym typeface="Symbol" panose="05050102010706020507" pitchFamily="18" charset="2"/>
              </a:rPr>
              <a:t>，</a:t>
            </a:r>
            <a:r>
              <a:rPr lang="zh-CN" altLang="en-US" dirty="0">
                <a:ea typeface="楷体_GB2312" pitchFamily="49" charset="-122"/>
                <a:sym typeface="+mn-ea"/>
              </a:rPr>
              <a:t>then </a:t>
            </a:r>
            <a:r>
              <a:rPr lang="en-US" altLang="zh-CN" dirty="0">
                <a:sym typeface="+mn-ea"/>
              </a:rPr>
              <a:t>G</a:t>
            </a:r>
            <a:r>
              <a:rPr lang="en-US" altLang="zh-CN" dirty="0">
                <a:sym typeface="Symbol" panose="05050102010706020507" pitchFamily="18" charset="2"/>
              </a:rPr>
              <a:t></a:t>
            </a:r>
            <a:r>
              <a:rPr lang="zh-CN" altLang="en-US" dirty="0">
                <a:ea typeface="楷体_GB2312" pitchFamily="49" charset="-122"/>
                <a:sym typeface="+mn-ea"/>
              </a:rPr>
              <a:t> is called a </a:t>
            </a:r>
            <a:r>
              <a:rPr lang="zh-CN" altLang="en-US" dirty="0">
                <a:solidFill>
                  <a:srgbClr val="FF0000"/>
                </a:solidFill>
                <a:ea typeface="楷体_GB2312" pitchFamily="49" charset="-122"/>
                <a:sym typeface="+mn-ea"/>
              </a:rPr>
              <a:t>subgraph</a:t>
            </a:r>
            <a:r>
              <a:rPr lang="zh-CN" altLang="en-US" dirty="0">
                <a:ea typeface="楷体_GB2312" pitchFamily="49" charset="-122"/>
                <a:sym typeface="+mn-ea"/>
              </a:rPr>
              <a:t> of G.</a:t>
            </a:r>
            <a:endParaRPr lang="zh-CN" altLang="en-US" dirty="0"/>
          </a:p>
        </p:txBody>
      </p:sp>
      <p:grpSp>
        <p:nvGrpSpPr>
          <p:cNvPr id="6" name="Group 14"/>
          <p:cNvGrpSpPr/>
          <p:nvPr/>
        </p:nvGrpSpPr>
        <p:grpSpPr bwMode="auto">
          <a:xfrm>
            <a:off x="762000" y="2780928"/>
            <a:ext cx="3505200" cy="2406650"/>
            <a:chOff x="336" y="288"/>
            <a:chExt cx="2208" cy="1516"/>
          </a:xfrm>
        </p:grpSpPr>
        <p:sp>
          <p:nvSpPr>
            <p:cNvPr id="7" name="Line 15"/>
            <p:cNvSpPr>
              <a:spLocks noChangeShapeType="1"/>
            </p:cNvSpPr>
            <p:nvPr/>
          </p:nvSpPr>
          <p:spPr bwMode="auto">
            <a:xfrm flipH="1">
              <a:off x="480" y="432"/>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16"/>
            <p:cNvSpPr>
              <a:spLocks noChangeShapeType="1"/>
            </p:cNvSpPr>
            <p:nvPr/>
          </p:nvSpPr>
          <p:spPr bwMode="auto">
            <a:xfrm>
              <a:off x="576" y="1152"/>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7"/>
            <p:cNvSpPr>
              <a:spLocks noChangeShapeType="1"/>
            </p:cNvSpPr>
            <p:nvPr/>
          </p:nvSpPr>
          <p:spPr bwMode="auto">
            <a:xfrm>
              <a:off x="1152" y="1584"/>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8"/>
            <p:cNvSpPr>
              <a:spLocks noChangeShapeType="1"/>
            </p:cNvSpPr>
            <p:nvPr/>
          </p:nvSpPr>
          <p:spPr bwMode="auto">
            <a:xfrm flipH="1" flipV="1">
              <a:off x="1536" y="576"/>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9"/>
            <p:cNvSpPr>
              <a:spLocks noChangeShapeType="1"/>
            </p:cNvSpPr>
            <p:nvPr/>
          </p:nvSpPr>
          <p:spPr bwMode="auto">
            <a:xfrm>
              <a:off x="1584" y="432"/>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20"/>
            <p:cNvSpPr>
              <a:spLocks noChangeShapeType="1"/>
            </p:cNvSpPr>
            <p:nvPr/>
          </p:nvSpPr>
          <p:spPr bwMode="auto">
            <a:xfrm flipH="1" flipV="1">
              <a:off x="624" y="1008"/>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21"/>
            <p:cNvSpPr>
              <a:spLocks noChangeShapeType="1"/>
            </p:cNvSpPr>
            <p:nvPr/>
          </p:nvSpPr>
          <p:spPr bwMode="auto">
            <a:xfrm flipH="1">
              <a:off x="1008" y="1008"/>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22"/>
            <p:cNvSpPr>
              <a:spLocks noChangeArrowheads="1"/>
            </p:cNvSpPr>
            <p:nvPr/>
          </p:nvSpPr>
          <p:spPr bwMode="auto">
            <a:xfrm>
              <a:off x="1296" y="28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15" name="Oval 23"/>
            <p:cNvSpPr>
              <a:spLocks noChangeArrowheads="1"/>
            </p:cNvSpPr>
            <p:nvPr/>
          </p:nvSpPr>
          <p:spPr bwMode="auto">
            <a:xfrm>
              <a:off x="336" y="86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6" name="Oval 24"/>
            <p:cNvSpPr>
              <a:spLocks noChangeArrowheads="1"/>
            </p:cNvSpPr>
            <p:nvPr/>
          </p:nvSpPr>
          <p:spPr bwMode="auto">
            <a:xfrm>
              <a:off x="2256" y="86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7" name="Oval 25"/>
            <p:cNvSpPr>
              <a:spLocks noChangeArrowheads="1"/>
            </p:cNvSpPr>
            <p:nvPr/>
          </p:nvSpPr>
          <p:spPr bwMode="auto">
            <a:xfrm>
              <a:off x="864" y="14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8" name="Oval 26"/>
            <p:cNvSpPr>
              <a:spLocks noChangeArrowheads="1"/>
            </p:cNvSpPr>
            <p:nvPr/>
          </p:nvSpPr>
          <p:spPr bwMode="auto">
            <a:xfrm>
              <a:off x="1728" y="14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19" name="Text Box 27"/>
            <p:cNvSpPr txBox="1">
              <a:spLocks noChangeArrowheads="1"/>
            </p:cNvSpPr>
            <p:nvPr/>
          </p:nvSpPr>
          <p:spPr bwMode="auto">
            <a:xfrm>
              <a:off x="710" y="355"/>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0" name="Text Box 28"/>
            <p:cNvSpPr txBox="1">
              <a:spLocks noChangeArrowheads="1"/>
            </p:cNvSpPr>
            <p:nvPr/>
          </p:nvSpPr>
          <p:spPr bwMode="auto">
            <a:xfrm>
              <a:off x="1776" y="307"/>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1" name="Text Box 29"/>
            <p:cNvSpPr txBox="1">
              <a:spLocks noChangeArrowheads="1"/>
            </p:cNvSpPr>
            <p:nvPr/>
          </p:nvSpPr>
          <p:spPr bwMode="auto">
            <a:xfrm>
              <a:off x="912" y="931"/>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2" name="Text Box 30"/>
            <p:cNvSpPr txBox="1">
              <a:spLocks noChangeArrowheads="1"/>
            </p:cNvSpPr>
            <p:nvPr/>
          </p:nvSpPr>
          <p:spPr bwMode="auto">
            <a:xfrm>
              <a:off x="1344" y="979"/>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3" name="Text Box 31"/>
            <p:cNvSpPr txBox="1">
              <a:spLocks noChangeArrowheads="1"/>
            </p:cNvSpPr>
            <p:nvPr/>
          </p:nvSpPr>
          <p:spPr bwMode="auto">
            <a:xfrm>
              <a:off x="1632" y="691"/>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4" name="Text Box 32"/>
            <p:cNvSpPr txBox="1">
              <a:spLocks noChangeArrowheads="1"/>
            </p:cNvSpPr>
            <p:nvPr/>
          </p:nvSpPr>
          <p:spPr bwMode="auto">
            <a:xfrm>
              <a:off x="540" y="1219"/>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25" name="Text Box 33"/>
            <p:cNvSpPr txBox="1">
              <a:spLocks noChangeArrowheads="1"/>
            </p:cNvSpPr>
            <p:nvPr/>
          </p:nvSpPr>
          <p:spPr bwMode="auto">
            <a:xfrm>
              <a:off x="1308" y="1516"/>
              <a:ext cx="1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grpSp>
      <p:sp>
        <p:nvSpPr>
          <p:cNvPr id="26" name="Text Box 34"/>
          <p:cNvSpPr txBox="1">
            <a:spLocks noChangeArrowheads="1"/>
          </p:cNvSpPr>
          <p:nvPr/>
        </p:nvSpPr>
        <p:spPr bwMode="auto">
          <a:xfrm>
            <a:off x="1499235" y="5325745"/>
            <a:ext cx="17011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a:sym typeface="+mn-ea"/>
              </a:rPr>
              <a:t>graph</a:t>
            </a:r>
            <a:r>
              <a:rPr lang="zh-CN" altLang="en-US" b="1"/>
              <a:t> </a:t>
            </a:r>
            <a:r>
              <a:rPr lang="en-US" altLang="zh-CN" b="1"/>
              <a:t>G</a:t>
            </a:r>
            <a:endParaRPr lang="en-US" altLang="zh-CN" b="1"/>
          </a:p>
        </p:txBody>
      </p:sp>
      <p:grpSp>
        <p:nvGrpSpPr>
          <p:cNvPr id="27" name="Group 37"/>
          <p:cNvGrpSpPr/>
          <p:nvPr/>
        </p:nvGrpSpPr>
        <p:grpSpPr bwMode="auto">
          <a:xfrm>
            <a:off x="4932040" y="2564904"/>
            <a:ext cx="3505200" cy="3617913"/>
            <a:chOff x="3299" y="1661"/>
            <a:chExt cx="2208" cy="2279"/>
          </a:xfrm>
        </p:grpSpPr>
        <p:sp>
          <p:nvSpPr>
            <p:cNvPr id="28" name="Line 3"/>
            <p:cNvSpPr>
              <a:spLocks noChangeShapeType="1"/>
            </p:cNvSpPr>
            <p:nvPr/>
          </p:nvSpPr>
          <p:spPr bwMode="auto">
            <a:xfrm>
              <a:off x="4105" y="3339"/>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4"/>
            <p:cNvSpPr>
              <a:spLocks noChangeShapeType="1"/>
            </p:cNvSpPr>
            <p:nvPr/>
          </p:nvSpPr>
          <p:spPr bwMode="auto">
            <a:xfrm flipH="1" flipV="1">
              <a:off x="4499" y="2381"/>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5"/>
            <p:cNvSpPr>
              <a:spLocks noChangeShapeType="1"/>
            </p:cNvSpPr>
            <p:nvPr/>
          </p:nvSpPr>
          <p:spPr bwMode="auto">
            <a:xfrm>
              <a:off x="4547" y="2237"/>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6"/>
            <p:cNvSpPr>
              <a:spLocks noChangeArrowheads="1"/>
            </p:cNvSpPr>
            <p:nvPr/>
          </p:nvSpPr>
          <p:spPr bwMode="auto">
            <a:xfrm>
              <a:off x="4259" y="2093"/>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32" name="Oval 7"/>
            <p:cNvSpPr>
              <a:spLocks noChangeArrowheads="1"/>
            </p:cNvSpPr>
            <p:nvPr/>
          </p:nvSpPr>
          <p:spPr bwMode="auto">
            <a:xfrm>
              <a:off x="5219" y="2669"/>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33" name="Oval 8"/>
            <p:cNvSpPr>
              <a:spLocks noChangeArrowheads="1"/>
            </p:cNvSpPr>
            <p:nvPr/>
          </p:nvSpPr>
          <p:spPr bwMode="auto">
            <a:xfrm>
              <a:off x="4691" y="3245"/>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34" name="Oval 9"/>
            <p:cNvSpPr>
              <a:spLocks noChangeArrowheads="1"/>
            </p:cNvSpPr>
            <p:nvPr/>
          </p:nvSpPr>
          <p:spPr bwMode="auto">
            <a:xfrm>
              <a:off x="3299" y="1661"/>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35" name="Line 10"/>
            <p:cNvSpPr>
              <a:spLocks noChangeShapeType="1"/>
            </p:cNvSpPr>
            <p:nvPr/>
          </p:nvSpPr>
          <p:spPr bwMode="auto">
            <a:xfrm>
              <a:off x="3545" y="2825"/>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11"/>
            <p:cNvSpPr>
              <a:spLocks noChangeArrowheads="1"/>
            </p:cNvSpPr>
            <p:nvPr/>
          </p:nvSpPr>
          <p:spPr bwMode="auto">
            <a:xfrm>
              <a:off x="3305" y="2537"/>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37" name="Oval 12"/>
            <p:cNvSpPr>
              <a:spLocks noChangeArrowheads="1"/>
            </p:cNvSpPr>
            <p:nvPr/>
          </p:nvSpPr>
          <p:spPr bwMode="auto">
            <a:xfrm>
              <a:off x="3833" y="3113"/>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38" name="Text Box 35"/>
            <p:cNvSpPr txBox="1">
              <a:spLocks noChangeArrowheads="1"/>
            </p:cNvSpPr>
            <p:nvPr/>
          </p:nvSpPr>
          <p:spPr bwMode="auto">
            <a:xfrm>
              <a:off x="3798" y="3611"/>
              <a:ext cx="96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a:sym typeface="+mn-ea"/>
                </a:rPr>
                <a:t>graph</a:t>
              </a:r>
              <a:r>
                <a:rPr lang="zh-CN" altLang="en-US" b="1"/>
                <a:t> </a:t>
              </a:r>
              <a:r>
                <a:rPr lang="en-US" altLang="zh-CN" b="1"/>
                <a:t>G’</a:t>
              </a:r>
              <a:endParaRPr lang="en-US" altLang="zh-CN" b="1"/>
            </a:p>
          </p:txBody>
        </p:sp>
      </p:grpSp>
      <p:sp>
        <p:nvSpPr>
          <p:cNvPr id="39" name="页脚占位符 38"/>
          <p:cNvSpPr>
            <a:spLocks noGrp="1"/>
          </p:cNvSpPr>
          <p:nvPr>
            <p:ph type="ftr" sz="quarter" idx="10"/>
          </p:nvPr>
        </p:nvSpPr>
        <p:spPr/>
        <p:txBody>
          <a:bodyPr/>
          <a:lstStyle/>
          <a:p>
            <a:pPr>
              <a:defRPr/>
            </a:pPr>
            <a:r>
              <a:rPr lang="en-US" altLang="zh-CN"/>
              <a:t>©Haiyang Liu, 2025</a:t>
            </a:r>
            <a:endParaRPr lang="en-US" altLang="zh-CN" dirty="0"/>
          </a:p>
        </p:txBody>
      </p:sp>
      <p:sp>
        <p:nvSpPr>
          <p:cNvPr id="40" name="灯片编号占位符 39"/>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0-#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1+#ppt_w/2"/>
                                          </p:val>
                                        </p:tav>
                                        <p:tav tm="100000">
                                          <p:val>
                                            <p:strVal val="#ppt_x"/>
                                          </p:val>
                                        </p:tav>
                                      </p:tavLst>
                                    </p:anim>
                                    <p:anim calcmode="lin" valueType="num">
                                      <p:cBhvr additive="base">
                                        <p:cTn id="18"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sym typeface="+mn-ea"/>
              </a:rPr>
              <a:t>Complete Graph, Sparse Graph, and Dense Graph</a:t>
            </a:r>
            <a:endParaRPr lang="en-US" altLang="zh-CN" sz="3600" dirty="0">
              <a:sym typeface="+mn-ea"/>
            </a:endParaRPr>
          </a:p>
        </p:txBody>
      </p:sp>
      <p:sp>
        <p:nvSpPr>
          <p:cNvPr id="3" name="内容占位符 2"/>
          <p:cNvSpPr>
            <a:spLocks noGrp="1"/>
          </p:cNvSpPr>
          <p:nvPr>
            <p:ph idx="1"/>
          </p:nvPr>
        </p:nvSpPr>
        <p:spPr>
          <a:xfrm>
            <a:off x="251520" y="1053118"/>
            <a:ext cx="8640960" cy="5256584"/>
          </a:xfrm>
        </p:spPr>
        <p:txBody>
          <a:bodyPr/>
          <a:lstStyle/>
          <a:p>
            <a:pPr>
              <a:lnSpc>
                <a:spcPts val="4200"/>
              </a:lnSpc>
            </a:pPr>
            <a:r>
              <a:rPr lang="zh-CN" altLang="en-US" dirty="0">
                <a:solidFill>
                  <a:srgbClr val="000066"/>
                </a:solidFill>
                <a:ea typeface="楷体_GB2312" pitchFamily="49" charset="-122"/>
                <a:cs typeface="Arial" panose="020B0604020202020204" pitchFamily="34" charset="0"/>
                <a:sym typeface="+mn-ea"/>
              </a:rPr>
              <a:t>Assuming the graph has </a:t>
            </a:r>
            <a:r>
              <a:rPr lang="en-US" altLang="zh-CN" dirty="0">
                <a:solidFill>
                  <a:srgbClr val="CC0000"/>
                </a:solidFill>
                <a:ea typeface="楷体_GB2312" pitchFamily="49" charset="-122"/>
                <a:sym typeface="+mn-ea"/>
              </a:rPr>
              <a:t>n</a:t>
            </a:r>
            <a:r>
              <a:rPr lang="zh-CN" altLang="en-US" dirty="0">
                <a:solidFill>
                  <a:srgbClr val="000066"/>
                </a:solidFill>
                <a:ea typeface="楷体_GB2312" pitchFamily="49" charset="-122"/>
                <a:cs typeface="Arial" panose="020B0604020202020204" pitchFamily="34" charset="0"/>
                <a:sym typeface="+mn-ea"/>
              </a:rPr>
              <a:t> vertices and </a:t>
            </a:r>
            <a:r>
              <a:rPr lang="en-US" altLang="zh-CN" dirty="0">
                <a:solidFill>
                  <a:srgbClr val="CC0000"/>
                </a:solidFill>
                <a:ea typeface="楷体_GB2312" pitchFamily="49" charset="-122"/>
                <a:sym typeface="+mn-ea"/>
              </a:rPr>
              <a:t>e</a:t>
            </a:r>
            <a:r>
              <a:rPr lang="zh-CN" altLang="en-US" dirty="0">
                <a:solidFill>
                  <a:srgbClr val="000066"/>
                </a:solidFill>
                <a:ea typeface="楷体_GB2312" pitchFamily="49" charset="-122"/>
                <a:cs typeface="Arial" panose="020B0604020202020204" pitchFamily="34" charset="0"/>
                <a:sym typeface="+mn-ea"/>
              </a:rPr>
              <a:t> edges, then:</a:t>
            </a:r>
            <a:endParaRPr lang="en-US" altLang="zh-CN" dirty="0">
              <a:solidFill>
                <a:srgbClr val="000066"/>
              </a:solidFill>
              <a:cs typeface="Arial" panose="020B0604020202020204" pitchFamily="34" charset="0"/>
            </a:endParaRPr>
          </a:p>
          <a:p>
            <a:pPr>
              <a:lnSpc>
                <a:spcPts val="4200"/>
              </a:lnSpc>
            </a:pPr>
            <a:r>
              <a:rPr lang="zh-CN" altLang="en-US" dirty="0">
                <a:solidFill>
                  <a:srgbClr val="000066"/>
                </a:solidFill>
                <a:ea typeface="楷体_GB2312" pitchFamily="49" charset="-122"/>
                <a:cs typeface="Arial" panose="020B0604020202020204" pitchFamily="34" charset="0"/>
                <a:sym typeface="+mn-ea"/>
              </a:rPr>
              <a:t>A directed graph with </a:t>
            </a:r>
            <a:r>
              <a:rPr lang="en-US" altLang="zh-CN" dirty="0">
                <a:solidFill>
                  <a:srgbClr val="CC0000"/>
                </a:solidFill>
                <a:ea typeface="楷体_GB2312" pitchFamily="49" charset="-122"/>
                <a:sym typeface="+mn-ea"/>
              </a:rPr>
              <a:t>e=n(n-1)/2</a:t>
            </a:r>
            <a:r>
              <a:rPr lang="zh-CN" altLang="en-US" dirty="0">
                <a:solidFill>
                  <a:srgbClr val="000066"/>
                </a:solidFill>
                <a:ea typeface="楷体_GB2312" pitchFamily="49" charset="-122"/>
                <a:cs typeface="Arial" panose="020B0604020202020204" pitchFamily="34" charset="0"/>
                <a:sym typeface="+mn-ea"/>
              </a:rPr>
              <a:t> edges is called a </a:t>
            </a:r>
            <a:r>
              <a:rPr lang="zh-CN" altLang="en-US" dirty="0">
                <a:solidFill>
                  <a:srgbClr val="FF0000"/>
                </a:solidFill>
                <a:ea typeface="楷体_GB2312" pitchFamily="49" charset="-122"/>
                <a:cs typeface="Arial" panose="020B0604020202020204" pitchFamily="34" charset="0"/>
                <a:sym typeface="+mn-ea"/>
              </a:rPr>
              <a:t>complete graph</a:t>
            </a:r>
            <a:r>
              <a:rPr lang="zh-CN" altLang="en-US" dirty="0">
                <a:solidFill>
                  <a:srgbClr val="000066"/>
                </a:solidFill>
                <a:ea typeface="楷体_GB2312" pitchFamily="49" charset="-122"/>
                <a:cs typeface="Arial" panose="020B0604020202020204" pitchFamily="34" charset="0"/>
                <a:sym typeface="+mn-ea"/>
              </a:rPr>
              <a:t>.</a:t>
            </a:r>
            <a:endParaRPr lang="zh-CN" altLang="en-US" dirty="0">
              <a:ea typeface="楷体_GB2312" pitchFamily="49" charset="-122"/>
              <a:cs typeface="Arial" panose="020B0604020202020204" pitchFamily="34" charset="0"/>
            </a:endParaRPr>
          </a:p>
          <a:p>
            <a:pPr>
              <a:lnSpc>
                <a:spcPts val="4200"/>
              </a:lnSpc>
            </a:pPr>
            <a:r>
              <a:rPr lang="zh-CN" altLang="en-US" dirty="0">
                <a:solidFill>
                  <a:srgbClr val="000066"/>
                </a:solidFill>
                <a:ea typeface="楷体_GB2312" pitchFamily="49" charset="-122"/>
                <a:cs typeface="Arial" panose="020B0604020202020204" pitchFamily="34" charset="0"/>
                <a:sym typeface="+mn-ea"/>
              </a:rPr>
              <a:t>A directed graph containing </a:t>
            </a:r>
            <a:r>
              <a:rPr lang="en-US" altLang="zh-CN" dirty="0">
                <a:solidFill>
                  <a:srgbClr val="CC0000"/>
                </a:solidFill>
                <a:ea typeface="楷体_GB2312" pitchFamily="49" charset="-122"/>
                <a:sym typeface="+mn-ea"/>
              </a:rPr>
              <a:t>e=n(n-1)</a:t>
            </a:r>
            <a:r>
              <a:rPr lang="zh-CN" altLang="en-US" dirty="0">
                <a:solidFill>
                  <a:srgbClr val="000066"/>
                </a:solidFill>
                <a:ea typeface="楷体_GB2312" pitchFamily="49" charset="-122"/>
                <a:cs typeface="Arial" panose="020B0604020202020204" pitchFamily="34" charset="0"/>
                <a:sym typeface="+mn-ea"/>
              </a:rPr>
              <a:t> edges is called a </a:t>
            </a:r>
            <a:r>
              <a:rPr lang="zh-CN" altLang="en-US" dirty="0">
                <a:solidFill>
                  <a:srgbClr val="FF0000"/>
                </a:solidFill>
                <a:ea typeface="楷体_GB2312" pitchFamily="49" charset="-122"/>
                <a:cs typeface="Arial" panose="020B0604020202020204" pitchFamily="34" charset="0"/>
                <a:sym typeface="+mn-ea"/>
              </a:rPr>
              <a:t>directed complete graph</a:t>
            </a:r>
            <a:r>
              <a:rPr lang="zh-CN" altLang="en-US" dirty="0">
                <a:solidFill>
                  <a:srgbClr val="000066"/>
                </a:solidFill>
                <a:ea typeface="楷体_GB2312" pitchFamily="49" charset="-122"/>
                <a:cs typeface="Arial" panose="020B0604020202020204" pitchFamily="34" charset="0"/>
                <a:sym typeface="+mn-ea"/>
              </a:rPr>
              <a:t>.</a:t>
            </a:r>
            <a:endParaRPr lang="zh-CN" altLang="en-US" dirty="0">
              <a:cs typeface="Arial" panose="020B0604020202020204" pitchFamily="34" charset="0"/>
            </a:endParaRPr>
          </a:p>
          <a:p>
            <a:pPr>
              <a:lnSpc>
                <a:spcPts val="4200"/>
              </a:lnSpc>
            </a:pPr>
            <a:r>
              <a:rPr lang="zh-CN" altLang="en-US" dirty="0">
                <a:solidFill>
                  <a:srgbClr val="000066"/>
                </a:solidFill>
                <a:ea typeface="楷体_GB2312" pitchFamily="49" charset="-122"/>
                <a:cs typeface="Arial" panose="020B0604020202020204" pitchFamily="34" charset="0"/>
                <a:sym typeface="+mn-ea"/>
              </a:rPr>
              <a:t>If the number of edges or arcs </a:t>
            </a:r>
            <a:r>
              <a:rPr lang="en-US" altLang="zh-CN" dirty="0">
                <a:solidFill>
                  <a:srgbClr val="CC0000"/>
                </a:solidFill>
                <a:ea typeface="楷体_GB2312" pitchFamily="49" charset="-122"/>
                <a:sym typeface="+mn-ea"/>
              </a:rPr>
              <a:t>e&lt;</a:t>
            </a:r>
            <a:r>
              <a:rPr lang="en-US" altLang="zh-CN" dirty="0" err="1">
                <a:solidFill>
                  <a:srgbClr val="CC0000"/>
                </a:solidFill>
                <a:ea typeface="楷体_GB2312" pitchFamily="49" charset="-122"/>
                <a:sym typeface="+mn-ea"/>
              </a:rPr>
              <a:t>nlogn</a:t>
            </a:r>
            <a:r>
              <a:rPr lang="zh-CN" altLang="en-US" dirty="0">
                <a:solidFill>
                  <a:srgbClr val="000066"/>
                </a:solidFill>
                <a:ea typeface="楷体_GB2312" pitchFamily="49" charset="-122"/>
                <a:cs typeface="Arial" panose="020B0604020202020204" pitchFamily="34" charset="0"/>
                <a:sym typeface="+mn-ea"/>
              </a:rPr>
              <a:t>, the graph is termed a </a:t>
            </a:r>
            <a:r>
              <a:rPr lang="zh-CN" altLang="en-US" dirty="0">
                <a:solidFill>
                  <a:srgbClr val="FF0000"/>
                </a:solidFill>
                <a:ea typeface="楷体_GB2312" pitchFamily="49" charset="-122"/>
                <a:cs typeface="Arial" panose="020B0604020202020204" pitchFamily="34" charset="0"/>
                <a:sym typeface="+mn-ea"/>
              </a:rPr>
              <a:t>sparse graph</a:t>
            </a:r>
            <a:r>
              <a:rPr lang="zh-CN" altLang="en-US" dirty="0">
                <a:solidFill>
                  <a:srgbClr val="000066"/>
                </a:solidFill>
                <a:ea typeface="楷体_GB2312" pitchFamily="49" charset="-122"/>
                <a:cs typeface="Arial" panose="020B0604020202020204" pitchFamily="34" charset="0"/>
                <a:sym typeface="+mn-ea"/>
              </a:rPr>
              <a:t>.</a:t>
            </a:r>
            <a:endParaRPr lang="zh-CN" altLang="en-US" dirty="0">
              <a:ea typeface="楷体_GB2312" pitchFamily="49" charset="-122"/>
              <a:cs typeface="Arial" panose="020B0604020202020204" pitchFamily="34" charset="0"/>
            </a:endParaRPr>
          </a:p>
          <a:p>
            <a:pPr>
              <a:lnSpc>
                <a:spcPts val="4200"/>
              </a:lnSpc>
            </a:pPr>
            <a:r>
              <a:rPr lang="zh-CN" altLang="en-US" dirty="0">
                <a:solidFill>
                  <a:srgbClr val="000066"/>
                </a:solidFill>
                <a:ea typeface="楷体_GB2312" pitchFamily="49" charset="-122"/>
                <a:cs typeface="Arial" panose="020B0604020202020204" pitchFamily="34" charset="0"/>
                <a:sym typeface="+mn-ea"/>
              </a:rPr>
              <a:t>Otherwise, it is called a </a:t>
            </a:r>
            <a:r>
              <a:rPr lang="zh-CN" altLang="en-US" dirty="0">
                <a:solidFill>
                  <a:srgbClr val="FF0000"/>
                </a:solidFill>
                <a:ea typeface="楷体_GB2312" pitchFamily="49" charset="-122"/>
                <a:cs typeface="Arial" panose="020B0604020202020204" pitchFamily="34" charset="0"/>
                <a:sym typeface="+mn-ea"/>
              </a:rPr>
              <a:t>dense graph</a:t>
            </a:r>
            <a:r>
              <a:rPr lang="zh-CN" altLang="en-US" dirty="0">
                <a:solidFill>
                  <a:srgbClr val="000066"/>
                </a:solidFill>
                <a:ea typeface="楷体_GB2312" pitchFamily="49" charset="-122"/>
                <a:cs typeface="Arial" panose="020B0604020202020204" pitchFamily="34" charset="0"/>
                <a:sym typeface="+mn-ea"/>
              </a:rPr>
              <a:t>.</a:t>
            </a:r>
            <a:endParaRPr lang="en-US" altLang="zh-CN"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600">
                <a:sym typeface="+mn-ea"/>
              </a:rPr>
              <a:t>Adjacent </a:t>
            </a:r>
            <a:r>
              <a:rPr lang="en-US" altLang="zh-CN" sz="3600">
                <a:sym typeface="+mn-ea"/>
              </a:rPr>
              <a:t>Vertices</a:t>
            </a:r>
            <a:r>
              <a:rPr sz="3600">
                <a:sym typeface="+mn-ea"/>
              </a:rPr>
              <a:t> and </a:t>
            </a:r>
            <a:r>
              <a:rPr lang="en-US" altLang="zh-CN" sz="3600">
                <a:sym typeface="+mn-ea"/>
              </a:rPr>
              <a:t>D</a:t>
            </a:r>
            <a:r>
              <a:rPr sz="3600">
                <a:sym typeface="+mn-ea"/>
              </a:rPr>
              <a:t>egree</a:t>
            </a:r>
            <a:endParaRPr lang="zh-CN" altLang="en-US" sz="3600" dirty="0">
              <a:sym typeface="+mn-ea"/>
            </a:endParaRPr>
          </a:p>
        </p:txBody>
      </p:sp>
      <p:sp>
        <p:nvSpPr>
          <p:cNvPr id="3" name="内容占位符 2"/>
          <p:cNvSpPr>
            <a:spLocks noGrp="1"/>
          </p:cNvSpPr>
          <p:nvPr>
            <p:ph idx="1"/>
          </p:nvPr>
        </p:nvSpPr>
        <p:spPr>
          <a:xfrm>
            <a:off x="323850" y="980728"/>
            <a:ext cx="8496300" cy="2160239"/>
          </a:xfrm>
        </p:spPr>
        <p:txBody>
          <a:bodyPr/>
          <a:lstStyle/>
          <a:p>
            <a:r>
              <a:rPr lang="zh-CN" altLang="en-US" sz="2400" dirty="0">
                <a:solidFill>
                  <a:srgbClr val="000066"/>
                </a:solidFill>
                <a:ea typeface="楷体_GB2312" pitchFamily="49" charset="-122"/>
                <a:cs typeface="Arial" panose="020B0604020202020204" pitchFamily="34" charset="0"/>
                <a:sym typeface="+mn-ea"/>
              </a:rPr>
              <a:t>If an edge exists between vertices v and w, they are called </a:t>
            </a:r>
            <a:r>
              <a:rPr lang="zh-CN" altLang="en-US" sz="2400" dirty="0">
                <a:solidFill>
                  <a:srgbClr val="FF0000"/>
                </a:solidFill>
                <a:ea typeface="楷体_GB2312" pitchFamily="49" charset="-122"/>
                <a:cs typeface="Arial" panose="020B0604020202020204" pitchFamily="34" charset="0"/>
                <a:sym typeface="+mn-ea"/>
              </a:rPr>
              <a:t>adjacent vertices</a:t>
            </a:r>
            <a:r>
              <a:rPr lang="zh-CN" altLang="en-US" sz="2400" dirty="0">
                <a:solidFill>
                  <a:srgbClr val="000066"/>
                </a:solidFill>
                <a:ea typeface="楷体_GB2312" pitchFamily="49" charset="-122"/>
                <a:cs typeface="Arial" panose="020B0604020202020204" pitchFamily="34" charset="0"/>
                <a:sym typeface="+mn-ea"/>
              </a:rPr>
              <a:t>.</a:t>
            </a:r>
            <a:endParaRPr lang="en-US" altLang="zh-CN" sz="2400" dirty="0">
              <a:ea typeface="楷体_GB2312" pitchFamily="49" charset="-122"/>
              <a:cs typeface="Arial" panose="020B0604020202020204" pitchFamily="34" charset="0"/>
            </a:endParaRPr>
          </a:p>
          <a:p>
            <a:r>
              <a:rPr lang="zh-CN" altLang="en-US" sz="2400" dirty="0">
                <a:solidFill>
                  <a:srgbClr val="000066"/>
                </a:solidFill>
                <a:ea typeface="楷体_GB2312" pitchFamily="49" charset="-122"/>
                <a:cs typeface="Arial" panose="020B0604020202020204" pitchFamily="34" charset="0"/>
                <a:sym typeface="+mn-ea"/>
              </a:rPr>
              <a:t>The edge (v, w) is </a:t>
            </a:r>
            <a:r>
              <a:rPr lang="zh-CN" altLang="en-US" sz="2400" dirty="0">
                <a:solidFill>
                  <a:srgbClr val="FF0000"/>
                </a:solidFill>
                <a:ea typeface="楷体_GB2312" pitchFamily="49" charset="-122"/>
                <a:cs typeface="Arial" panose="020B0604020202020204" pitchFamily="34" charset="0"/>
                <a:sym typeface="+mn-ea"/>
              </a:rPr>
              <a:t>associated</a:t>
            </a:r>
            <a:r>
              <a:rPr lang="zh-CN" altLang="en-US" sz="2400" dirty="0">
                <a:solidFill>
                  <a:srgbClr val="000066"/>
                </a:solidFill>
                <a:ea typeface="楷体_GB2312" pitchFamily="49" charset="-122"/>
                <a:cs typeface="Arial" panose="020B0604020202020204" pitchFamily="34" charset="0"/>
                <a:sym typeface="+mn-ea"/>
              </a:rPr>
              <a:t> with the vertices v and w;</a:t>
            </a:r>
            <a:endParaRPr lang="zh-CN" altLang="en-US" sz="2400" dirty="0">
              <a:ea typeface="楷体_GB2312" pitchFamily="49" charset="-122"/>
              <a:cs typeface="Arial" panose="020B0604020202020204" pitchFamily="34" charset="0"/>
            </a:endParaRPr>
          </a:p>
          <a:p>
            <a:r>
              <a:rPr lang="zh-CN" altLang="en-US" sz="2400" dirty="0">
                <a:solidFill>
                  <a:srgbClr val="000066"/>
                </a:solidFill>
                <a:ea typeface="楷体_GB2312" pitchFamily="49" charset="-122"/>
                <a:cs typeface="Arial" panose="020B0604020202020204" pitchFamily="34" charset="0"/>
                <a:sym typeface="+mn-ea"/>
              </a:rPr>
              <a:t>The </a:t>
            </a:r>
            <a:r>
              <a:rPr lang="zh-CN" altLang="en-US" sz="2400" dirty="0">
                <a:solidFill>
                  <a:srgbClr val="FF0000"/>
                </a:solidFill>
                <a:ea typeface="楷体_GB2312" pitchFamily="49" charset="-122"/>
                <a:cs typeface="Arial" panose="020B0604020202020204" pitchFamily="34" charset="0"/>
                <a:sym typeface="+mn-ea"/>
              </a:rPr>
              <a:t>degree</a:t>
            </a:r>
            <a:r>
              <a:rPr lang="zh-CN" altLang="en-US" sz="2400" dirty="0">
                <a:solidFill>
                  <a:srgbClr val="000066"/>
                </a:solidFill>
                <a:ea typeface="楷体_GB2312" pitchFamily="49" charset="-122"/>
                <a:cs typeface="Arial" panose="020B0604020202020204" pitchFamily="34" charset="0"/>
                <a:sym typeface="+mn-ea"/>
              </a:rPr>
              <a:t> of vertex v is defined as the number of edges connected to it.</a:t>
            </a:r>
            <a:endParaRPr lang="zh-CN" altLang="en-US" sz="2400" dirty="0">
              <a:solidFill>
                <a:srgbClr val="000066"/>
              </a:solidFill>
              <a:ea typeface="楷体_GB2312" pitchFamily="49" charset="-122"/>
              <a:cs typeface="Arial" panose="020B0604020202020204" pitchFamily="34" charset="0"/>
              <a:sym typeface="+mn-ea"/>
            </a:endParaRPr>
          </a:p>
        </p:txBody>
      </p:sp>
      <p:sp>
        <p:nvSpPr>
          <p:cNvPr id="6" name="Text Box 3"/>
          <p:cNvSpPr txBox="1">
            <a:spLocks noChangeArrowheads="1"/>
          </p:cNvSpPr>
          <p:nvPr/>
        </p:nvSpPr>
        <p:spPr bwMode="auto">
          <a:xfrm>
            <a:off x="593090" y="3910965"/>
            <a:ext cx="2449830" cy="2738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3200" b="1" dirty="0">
                <a:solidFill>
                  <a:srgbClr val="000066"/>
                </a:solidFill>
                <a:latin typeface="楷体_GB2312" pitchFamily="49" charset="-122"/>
                <a:ea typeface="楷体_GB2312" pitchFamily="49" charset="-122"/>
                <a:sym typeface="Symbol" panose="05050102010706020507" pitchFamily="18" charset="2"/>
              </a:rPr>
              <a:t>For</a:t>
            </a:r>
            <a:r>
              <a:rPr lang="en-US" altLang="zh-CN" sz="3200" b="1" dirty="0">
                <a:solidFill>
                  <a:srgbClr val="000066"/>
                </a:solidFill>
                <a:latin typeface="楷体_GB2312" pitchFamily="49" charset="-122"/>
                <a:ea typeface="楷体_GB2312" pitchFamily="49" charset="-122"/>
                <a:sym typeface="Symbol" panose="05050102010706020507" pitchFamily="18" charset="2"/>
              </a:rPr>
              <a:t> </a:t>
            </a:r>
            <a:r>
              <a:rPr lang="zh-CN" altLang="en-US" sz="3200" b="1" dirty="0">
                <a:solidFill>
                  <a:srgbClr val="000066"/>
                </a:solidFill>
                <a:latin typeface="楷体_GB2312" pitchFamily="49" charset="-122"/>
                <a:ea typeface="楷体_GB2312" pitchFamily="49" charset="-122"/>
                <a:sym typeface="Symbol" panose="05050102010706020507" pitchFamily="18" charset="2"/>
              </a:rPr>
              <a:t>example</a:t>
            </a:r>
            <a:r>
              <a:rPr lang="en-US" altLang="zh-CN" sz="3200" b="1" dirty="0">
                <a:solidFill>
                  <a:srgbClr val="000066"/>
                </a:solidFill>
                <a:latin typeface="楷体_GB2312" pitchFamily="49" charset="-122"/>
                <a:ea typeface="楷体_GB2312" pitchFamily="49" charset="-122"/>
              </a:rPr>
              <a:t>:</a:t>
            </a:r>
            <a:endParaRPr lang="en-US" altLang="zh-CN" sz="3200" b="1" dirty="0">
              <a:solidFill>
                <a:srgbClr val="000066"/>
              </a:solidFill>
              <a:latin typeface="楷体_GB2312" pitchFamily="49" charset="-122"/>
              <a:ea typeface="楷体_GB2312" pitchFamily="49" charset="-122"/>
            </a:endParaRPr>
          </a:p>
          <a:p>
            <a:pPr>
              <a:lnSpc>
                <a:spcPct val="150000"/>
              </a:lnSpc>
            </a:pPr>
            <a:r>
              <a:rPr lang="en-US" altLang="zh-CN" sz="3200" b="1" dirty="0">
                <a:solidFill>
                  <a:srgbClr val="000066"/>
                </a:solidFill>
                <a:ea typeface="楷体_GB2312" pitchFamily="49" charset="-122"/>
              </a:rPr>
              <a:t>TD(B) =3</a:t>
            </a:r>
            <a:endParaRPr lang="en-US" altLang="zh-CN" sz="3200" b="1" dirty="0">
              <a:solidFill>
                <a:srgbClr val="000066"/>
              </a:solidFill>
              <a:ea typeface="楷体_GB2312" pitchFamily="49" charset="-122"/>
            </a:endParaRPr>
          </a:p>
          <a:p>
            <a:pPr>
              <a:lnSpc>
                <a:spcPct val="150000"/>
              </a:lnSpc>
            </a:pPr>
            <a:r>
              <a:rPr lang="en-US" altLang="zh-CN" sz="3200" b="1" dirty="0">
                <a:solidFill>
                  <a:srgbClr val="000066"/>
                </a:solidFill>
                <a:ea typeface="楷体_GB2312" pitchFamily="49" charset="-122"/>
              </a:rPr>
              <a:t>TD(A) = 2</a:t>
            </a:r>
            <a:endParaRPr lang="en-US" altLang="zh-CN" sz="3200" dirty="0"/>
          </a:p>
          <a:p>
            <a:endParaRPr lang="en-US" altLang="zh-CN" dirty="0"/>
          </a:p>
        </p:txBody>
      </p:sp>
      <p:grpSp>
        <p:nvGrpSpPr>
          <p:cNvPr id="7" name="Group 7"/>
          <p:cNvGrpSpPr/>
          <p:nvPr/>
        </p:nvGrpSpPr>
        <p:grpSpPr bwMode="auto">
          <a:xfrm>
            <a:off x="4343400" y="3356992"/>
            <a:ext cx="3805238" cy="3048000"/>
            <a:chOff x="2736" y="2208"/>
            <a:chExt cx="2397" cy="1920"/>
          </a:xfrm>
        </p:grpSpPr>
        <p:sp>
          <p:nvSpPr>
            <p:cNvPr id="8" name="Oval 8"/>
            <p:cNvSpPr>
              <a:spLocks noChangeArrowheads="1"/>
            </p:cNvSpPr>
            <p:nvPr/>
          </p:nvSpPr>
          <p:spPr bwMode="auto">
            <a:xfrm>
              <a:off x="2736" y="3024"/>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9" name="Line 9"/>
            <p:cNvSpPr>
              <a:spLocks noChangeShapeType="1"/>
            </p:cNvSpPr>
            <p:nvPr/>
          </p:nvSpPr>
          <p:spPr bwMode="auto">
            <a:xfrm flipH="1">
              <a:off x="2879" y="2448"/>
              <a:ext cx="480"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a:off x="3648" y="2400"/>
              <a:ext cx="863"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1"/>
            <p:cNvSpPr>
              <a:spLocks noChangeShapeType="1"/>
            </p:cNvSpPr>
            <p:nvPr/>
          </p:nvSpPr>
          <p:spPr bwMode="auto">
            <a:xfrm>
              <a:off x="3024" y="3216"/>
              <a:ext cx="1487"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2"/>
            <p:cNvSpPr>
              <a:spLocks noChangeShapeType="1"/>
            </p:cNvSpPr>
            <p:nvPr/>
          </p:nvSpPr>
          <p:spPr bwMode="auto">
            <a:xfrm flipH="1">
              <a:off x="3592" y="2448"/>
              <a:ext cx="775"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3"/>
            <p:cNvSpPr>
              <a:spLocks noChangeShapeType="1"/>
            </p:cNvSpPr>
            <p:nvPr/>
          </p:nvSpPr>
          <p:spPr bwMode="auto">
            <a:xfrm>
              <a:off x="4655" y="2400"/>
              <a:ext cx="384"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4"/>
            <p:cNvSpPr>
              <a:spLocks noChangeShapeType="1"/>
            </p:cNvSpPr>
            <p:nvPr/>
          </p:nvSpPr>
          <p:spPr bwMode="auto">
            <a:xfrm flipH="1">
              <a:off x="3641" y="3264"/>
              <a:ext cx="1255"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5"/>
            <p:cNvSpPr>
              <a:spLocks noChangeShapeType="1"/>
            </p:cNvSpPr>
            <p:nvPr/>
          </p:nvSpPr>
          <p:spPr bwMode="auto">
            <a:xfrm flipH="1">
              <a:off x="3503" y="2577"/>
              <a:ext cx="1" cy="1215"/>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6"/>
            <p:cNvSpPr>
              <a:spLocks noChangeArrowheads="1"/>
            </p:cNvSpPr>
            <p:nvPr/>
          </p:nvSpPr>
          <p:spPr bwMode="auto">
            <a:xfrm>
              <a:off x="4366" y="2208"/>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7" name="Oval 17"/>
            <p:cNvSpPr>
              <a:spLocks noChangeArrowheads="1"/>
            </p:cNvSpPr>
            <p:nvPr/>
          </p:nvSpPr>
          <p:spPr bwMode="auto">
            <a:xfrm>
              <a:off x="4846" y="2976"/>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8" name="Oval 18"/>
            <p:cNvSpPr>
              <a:spLocks noChangeArrowheads="1"/>
            </p:cNvSpPr>
            <p:nvPr/>
          </p:nvSpPr>
          <p:spPr bwMode="auto">
            <a:xfrm>
              <a:off x="3358" y="3792"/>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9" name="Oval 19"/>
            <p:cNvSpPr>
              <a:spLocks noChangeArrowheads="1"/>
            </p:cNvSpPr>
            <p:nvPr/>
          </p:nvSpPr>
          <p:spPr bwMode="auto">
            <a:xfrm>
              <a:off x="4414" y="3744"/>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20" name="Oval 20"/>
            <p:cNvSpPr>
              <a:spLocks noChangeArrowheads="1"/>
            </p:cNvSpPr>
            <p:nvPr/>
          </p:nvSpPr>
          <p:spPr bwMode="auto">
            <a:xfrm>
              <a:off x="3358" y="2208"/>
              <a:ext cx="287" cy="336"/>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grpSp>
      <p:sp>
        <p:nvSpPr>
          <p:cNvPr id="21" name="页脚占位符 20"/>
          <p:cNvSpPr>
            <a:spLocks noGrp="1"/>
          </p:cNvSpPr>
          <p:nvPr>
            <p:ph type="ftr" sz="quarter" idx="10"/>
          </p:nvPr>
        </p:nvSpPr>
        <p:spPr/>
        <p:txBody>
          <a:bodyPr/>
          <a:lstStyle/>
          <a:p>
            <a:pPr>
              <a:defRPr/>
            </a:pPr>
            <a:r>
              <a:rPr lang="en-US" altLang="zh-CN"/>
              <a:t>©Haiyang Liu, 2025</a:t>
            </a:r>
            <a:endParaRPr lang="en-US" altLang="zh-CN" dirty="0"/>
          </a:p>
        </p:txBody>
      </p:sp>
      <p:sp>
        <p:nvSpPr>
          <p:cNvPr id="22" name="灯片编号占位符 21"/>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In-degree and Out-degree</a:t>
            </a:r>
            <a:endParaRPr lang="en-US" altLang="zh-CN" dirty="0"/>
          </a:p>
        </p:txBody>
      </p:sp>
      <p:sp>
        <p:nvSpPr>
          <p:cNvPr id="3" name="内容占位符 2"/>
          <p:cNvSpPr>
            <a:spLocks noGrp="1"/>
          </p:cNvSpPr>
          <p:nvPr>
            <p:ph idx="1"/>
          </p:nvPr>
        </p:nvSpPr>
        <p:spPr>
          <a:xfrm>
            <a:off x="323850" y="1124744"/>
            <a:ext cx="8496300" cy="2520279"/>
          </a:xfrm>
        </p:spPr>
        <p:txBody>
          <a:bodyPr/>
          <a:lstStyle/>
          <a:p>
            <a:r>
              <a:rPr lang="en-US" altLang="zh-CN" b="1" dirty="0">
                <a:solidFill>
                  <a:srgbClr val="FF0000"/>
                </a:solidFill>
                <a:ea typeface="楷体_GB2312" pitchFamily="49" charset="-122"/>
                <a:cs typeface="Arial" panose="020B0604020202020204" pitchFamily="34" charset="0"/>
              </a:rPr>
              <a:t>For a directed graph:</a:t>
            </a:r>
            <a:endParaRPr lang="en-US" altLang="zh-CN" b="1" dirty="0">
              <a:solidFill>
                <a:srgbClr val="FF0000"/>
              </a:solidFill>
              <a:ea typeface="楷体_GB2312" pitchFamily="49" charset="-122"/>
              <a:cs typeface="Arial" panose="020B0604020202020204" pitchFamily="34" charset="0"/>
            </a:endParaRPr>
          </a:p>
          <a:p>
            <a:pPr lvl="1"/>
            <a:r>
              <a:rPr lang="en-US" altLang="zh-CN" sz="2000" dirty="0">
                <a:solidFill>
                  <a:srgbClr val="FF0000"/>
                </a:solidFill>
                <a:cs typeface="Arial" panose="020B0604020202020204" pitchFamily="34" charset="0"/>
              </a:rPr>
              <a:t>Out-degree</a:t>
            </a:r>
            <a:r>
              <a:rPr lang="en-US" altLang="zh-CN" sz="2000" dirty="0">
                <a:cs typeface="Arial" panose="020B0604020202020204" pitchFamily="34" charset="0"/>
              </a:rPr>
              <a:t> of vertex</a:t>
            </a:r>
            <a:r>
              <a:rPr lang="en-US" altLang="en-US" sz="2000" dirty="0">
                <a:cs typeface="Arial" panose="020B0604020202020204" pitchFamily="34" charset="0"/>
              </a:rPr>
              <a:t> </a:t>
            </a:r>
            <a:r>
              <a:rPr lang="en-US" altLang="zh-CN" sz="2000" dirty="0">
                <a:cs typeface="Arial" panose="020B0604020202020204" pitchFamily="34" charset="0"/>
              </a:rPr>
              <a:t>v: The number of arcs with</a:t>
            </a:r>
            <a:r>
              <a:rPr lang="en-US" altLang="en-US" sz="2000" dirty="0">
                <a:cs typeface="Arial" panose="020B0604020202020204" pitchFamily="34" charset="0"/>
              </a:rPr>
              <a:t> </a:t>
            </a:r>
            <a:r>
              <a:rPr lang="en-US" altLang="zh-CN" sz="2000" dirty="0">
                <a:cs typeface="Arial" panose="020B0604020202020204" pitchFamily="34" charset="0"/>
              </a:rPr>
              <a:t>v</a:t>
            </a:r>
            <a:r>
              <a:rPr lang="en-US" altLang="en-US" sz="2000" dirty="0">
                <a:cs typeface="Arial" panose="020B0604020202020204" pitchFamily="34" charset="0"/>
              </a:rPr>
              <a:t> </a:t>
            </a:r>
            <a:r>
              <a:rPr lang="en-US" altLang="zh-CN" sz="2000" dirty="0">
                <a:cs typeface="Arial" panose="020B0604020202020204" pitchFamily="34" charset="0"/>
              </a:rPr>
              <a:t>as the tail.</a:t>
            </a:r>
            <a:endParaRPr lang="en-US" altLang="zh-CN" sz="2000" dirty="0">
              <a:cs typeface="Arial" panose="020B0604020202020204" pitchFamily="34" charset="0"/>
            </a:endParaRPr>
          </a:p>
          <a:p>
            <a:pPr lvl="1"/>
            <a:r>
              <a:rPr lang="en-US" altLang="zh-CN" sz="2000" dirty="0">
                <a:solidFill>
                  <a:srgbClr val="FF0000"/>
                </a:solidFill>
                <a:cs typeface="Arial" panose="020B0604020202020204" pitchFamily="34" charset="0"/>
              </a:rPr>
              <a:t>In-degree</a:t>
            </a:r>
            <a:r>
              <a:rPr lang="en-US" altLang="zh-CN" sz="2000" dirty="0">
                <a:cs typeface="Arial" panose="020B0604020202020204" pitchFamily="34" charset="0"/>
              </a:rPr>
              <a:t> of vertex</a:t>
            </a:r>
            <a:r>
              <a:rPr lang="en-US" altLang="en-US" sz="2000" dirty="0">
                <a:cs typeface="Arial" panose="020B0604020202020204" pitchFamily="34" charset="0"/>
              </a:rPr>
              <a:t> </a:t>
            </a:r>
            <a:r>
              <a:rPr lang="en-US" altLang="zh-CN" sz="2000" dirty="0">
                <a:cs typeface="Arial" panose="020B0604020202020204" pitchFamily="34" charset="0"/>
              </a:rPr>
              <a:t>v: The number of arcs with</a:t>
            </a:r>
            <a:r>
              <a:rPr lang="en-US" altLang="en-US" sz="2000" dirty="0">
                <a:cs typeface="Arial" panose="020B0604020202020204" pitchFamily="34" charset="0"/>
              </a:rPr>
              <a:t> </a:t>
            </a:r>
            <a:r>
              <a:rPr lang="en-US" altLang="zh-CN" sz="2000" dirty="0">
                <a:cs typeface="Arial" panose="020B0604020202020204" pitchFamily="34" charset="0"/>
              </a:rPr>
              <a:t>v</a:t>
            </a:r>
            <a:r>
              <a:rPr lang="en-US" altLang="en-US" sz="2000" dirty="0">
                <a:cs typeface="Arial" panose="020B0604020202020204" pitchFamily="34" charset="0"/>
              </a:rPr>
              <a:t> </a:t>
            </a:r>
            <a:r>
              <a:rPr lang="en-US" altLang="zh-CN" sz="2000" dirty="0">
                <a:cs typeface="Arial" panose="020B0604020202020204" pitchFamily="34" charset="0"/>
              </a:rPr>
              <a:t>as the head.</a:t>
            </a:r>
            <a:endParaRPr lang="en-US" altLang="zh-CN" sz="2000" dirty="0">
              <a:cs typeface="Arial" panose="020B0604020202020204" pitchFamily="34" charset="0"/>
            </a:endParaRPr>
          </a:p>
          <a:p>
            <a:pPr lvl="1"/>
            <a:r>
              <a:rPr lang="en-US" altLang="zh-CN" sz="2000" dirty="0">
                <a:solidFill>
                  <a:srgbClr val="FF0000"/>
                </a:solidFill>
                <a:cs typeface="Arial" panose="020B0604020202020204" pitchFamily="34" charset="0"/>
              </a:rPr>
              <a:t>Degree of a vertex (TD) = Out-degree (OD) + In-degree (ID)</a:t>
            </a:r>
            <a:endParaRPr lang="en-US" altLang="zh-CN" sz="2000" dirty="0">
              <a:solidFill>
                <a:srgbClr val="FF0000"/>
              </a:solidFill>
              <a:cs typeface="Arial" panose="020B0604020202020204" pitchFamily="34" charset="0"/>
            </a:endParaRPr>
          </a:p>
        </p:txBody>
      </p:sp>
      <p:grpSp>
        <p:nvGrpSpPr>
          <p:cNvPr id="6" name="Group 6"/>
          <p:cNvGrpSpPr/>
          <p:nvPr/>
        </p:nvGrpSpPr>
        <p:grpSpPr bwMode="auto">
          <a:xfrm>
            <a:off x="1447800" y="3573016"/>
            <a:ext cx="3505200" cy="2362200"/>
            <a:chOff x="912" y="2544"/>
            <a:chExt cx="2208" cy="1488"/>
          </a:xfrm>
        </p:grpSpPr>
        <p:sp>
          <p:nvSpPr>
            <p:cNvPr id="7" name="Line 7"/>
            <p:cNvSpPr>
              <a:spLocks noChangeShapeType="1"/>
            </p:cNvSpPr>
            <p:nvPr/>
          </p:nvSpPr>
          <p:spPr bwMode="auto">
            <a:xfrm flipH="1">
              <a:off x="1056" y="2688"/>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8"/>
            <p:cNvSpPr>
              <a:spLocks noChangeShapeType="1"/>
            </p:cNvSpPr>
            <p:nvPr/>
          </p:nvSpPr>
          <p:spPr bwMode="auto">
            <a:xfrm>
              <a:off x="1152" y="3408"/>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9"/>
            <p:cNvSpPr>
              <a:spLocks noChangeShapeType="1"/>
            </p:cNvSpPr>
            <p:nvPr/>
          </p:nvSpPr>
          <p:spPr bwMode="auto">
            <a:xfrm>
              <a:off x="1728" y="3840"/>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flipH="1" flipV="1">
              <a:off x="2112" y="2832"/>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1"/>
            <p:cNvSpPr>
              <a:spLocks noChangeShapeType="1"/>
            </p:cNvSpPr>
            <p:nvPr/>
          </p:nvSpPr>
          <p:spPr bwMode="auto">
            <a:xfrm>
              <a:off x="2160" y="2688"/>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2"/>
            <p:cNvSpPr>
              <a:spLocks noChangeShapeType="1"/>
            </p:cNvSpPr>
            <p:nvPr/>
          </p:nvSpPr>
          <p:spPr bwMode="auto">
            <a:xfrm flipH="1" flipV="1">
              <a:off x="1200" y="3264"/>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3"/>
            <p:cNvSpPr>
              <a:spLocks noChangeShapeType="1"/>
            </p:cNvSpPr>
            <p:nvPr/>
          </p:nvSpPr>
          <p:spPr bwMode="auto">
            <a:xfrm flipH="1">
              <a:off x="1584" y="3264"/>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4"/>
            <p:cNvSpPr>
              <a:spLocks noChangeArrowheads="1"/>
            </p:cNvSpPr>
            <p:nvPr/>
          </p:nvSpPr>
          <p:spPr bwMode="auto">
            <a:xfrm>
              <a:off x="1872" y="254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15" name="Oval 15"/>
            <p:cNvSpPr>
              <a:spLocks noChangeArrowheads="1"/>
            </p:cNvSpPr>
            <p:nvPr/>
          </p:nvSpPr>
          <p:spPr bwMode="auto">
            <a:xfrm>
              <a:off x="912" y="312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6" name="Oval 16"/>
            <p:cNvSpPr>
              <a:spLocks noChangeArrowheads="1"/>
            </p:cNvSpPr>
            <p:nvPr/>
          </p:nvSpPr>
          <p:spPr bwMode="auto">
            <a:xfrm>
              <a:off x="2832" y="312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7" name="Oval 17"/>
            <p:cNvSpPr>
              <a:spLocks noChangeArrowheads="1"/>
            </p:cNvSpPr>
            <p:nvPr/>
          </p:nvSpPr>
          <p:spPr bwMode="auto">
            <a:xfrm>
              <a:off x="1440" y="3696"/>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8" name="Oval 18"/>
            <p:cNvSpPr>
              <a:spLocks noChangeArrowheads="1"/>
            </p:cNvSpPr>
            <p:nvPr/>
          </p:nvSpPr>
          <p:spPr bwMode="auto">
            <a:xfrm>
              <a:off x="2304" y="3696"/>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grpSp>
      <p:sp>
        <p:nvSpPr>
          <p:cNvPr id="19" name="Text Box 19"/>
          <p:cNvSpPr txBox="1">
            <a:spLocks noChangeArrowheads="1"/>
          </p:cNvSpPr>
          <p:nvPr/>
        </p:nvSpPr>
        <p:spPr bwMode="auto">
          <a:xfrm>
            <a:off x="212725" y="3500755"/>
            <a:ext cx="22256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楷体_GB2312" pitchFamily="49" charset="-122"/>
                <a:ea typeface="楷体_GB2312" pitchFamily="49" charset="-122"/>
                <a:sym typeface="Symbol" panose="05050102010706020507" pitchFamily="18" charset="2"/>
              </a:rPr>
              <a:t>For</a:t>
            </a:r>
            <a:r>
              <a:rPr lang="en-US" altLang="zh-CN" sz="2400" b="1" dirty="0">
                <a:solidFill>
                  <a:srgbClr val="000066"/>
                </a:solidFill>
                <a:latin typeface="楷体_GB2312" pitchFamily="49" charset="-122"/>
                <a:ea typeface="楷体_GB2312" pitchFamily="49" charset="-122"/>
                <a:sym typeface="Symbol" panose="05050102010706020507" pitchFamily="18" charset="2"/>
              </a:rPr>
              <a:t> </a:t>
            </a:r>
            <a:r>
              <a:rPr lang="zh-CN" altLang="en-US" sz="2400" b="1" dirty="0">
                <a:solidFill>
                  <a:srgbClr val="000066"/>
                </a:solidFill>
                <a:latin typeface="楷体_GB2312" pitchFamily="49" charset="-122"/>
                <a:ea typeface="楷体_GB2312" pitchFamily="49" charset="-122"/>
                <a:sym typeface="Symbol" panose="05050102010706020507" pitchFamily="18" charset="2"/>
              </a:rPr>
              <a:t>example</a:t>
            </a:r>
            <a:r>
              <a:rPr lang="en-US" altLang="zh-CN" sz="2400" b="1" dirty="0">
                <a:solidFill>
                  <a:srgbClr val="000066"/>
                </a:solidFill>
                <a:latin typeface="楷体_GB2312" pitchFamily="49" charset="-122"/>
                <a:ea typeface="楷体_GB2312" pitchFamily="49" charset="-122"/>
              </a:rPr>
              <a:t>:</a:t>
            </a:r>
            <a:endParaRPr lang="en-US" altLang="zh-CN" sz="2400" b="1" dirty="0">
              <a:solidFill>
                <a:srgbClr val="000066"/>
              </a:solidFill>
              <a:latin typeface="楷体_GB2312" pitchFamily="49" charset="-122"/>
              <a:ea typeface="楷体_GB2312" pitchFamily="49" charset="-122"/>
            </a:endParaRPr>
          </a:p>
        </p:txBody>
      </p:sp>
      <p:sp>
        <p:nvSpPr>
          <p:cNvPr id="20" name="Text Box 20"/>
          <p:cNvSpPr txBox="1">
            <a:spLocks noChangeArrowheads="1"/>
          </p:cNvSpPr>
          <p:nvPr/>
        </p:nvSpPr>
        <p:spPr bwMode="auto">
          <a:xfrm>
            <a:off x="5638800" y="4438774"/>
            <a:ext cx="2286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66"/>
                </a:solidFill>
                <a:ea typeface="楷体_GB2312" pitchFamily="49" charset="-122"/>
              </a:rPr>
              <a:t>ID(B) =2</a:t>
            </a:r>
            <a:endParaRPr lang="en-US" altLang="zh-CN" sz="2000" dirty="0"/>
          </a:p>
        </p:txBody>
      </p:sp>
      <p:sp>
        <p:nvSpPr>
          <p:cNvPr id="21" name="Text Box 21"/>
          <p:cNvSpPr txBox="1">
            <a:spLocks noChangeArrowheads="1"/>
          </p:cNvSpPr>
          <p:nvPr/>
        </p:nvSpPr>
        <p:spPr bwMode="auto">
          <a:xfrm>
            <a:off x="5638800" y="3645024"/>
            <a:ext cx="2317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00066"/>
                </a:solidFill>
                <a:ea typeface="楷体_GB2312" pitchFamily="49" charset="-122"/>
              </a:rPr>
              <a:t>OD(B) =1</a:t>
            </a:r>
            <a:endParaRPr lang="en-US" altLang="zh-CN" sz="2000" dirty="0"/>
          </a:p>
        </p:txBody>
      </p:sp>
      <p:sp>
        <p:nvSpPr>
          <p:cNvPr id="22" name="Text Box 22"/>
          <p:cNvSpPr txBox="1">
            <a:spLocks noChangeArrowheads="1"/>
          </p:cNvSpPr>
          <p:nvPr/>
        </p:nvSpPr>
        <p:spPr bwMode="auto">
          <a:xfrm>
            <a:off x="5603875" y="5245224"/>
            <a:ext cx="2286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000066"/>
                </a:solidFill>
                <a:ea typeface="楷体_GB2312" pitchFamily="49" charset="-122"/>
              </a:rPr>
              <a:t>TD(B) =3</a:t>
            </a:r>
            <a:endParaRPr lang="en-US" altLang="zh-CN" sz="2000"/>
          </a:p>
        </p:txBody>
      </p:sp>
      <p:sp>
        <p:nvSpPr>
          <p:cNvPr id="23" name="页脚占位符 22"/>
          <p:cNvSpPr>
            <a:spLocks noGrp="1"/>
          </p:cNvSpPr>
          <p:nvPr>
            <p:ph type="ftr" sz="quarter" idx="10"/>
          </p:nvPr>
        </p:nvSpPr>
        <p:spPr/>
        <p:txBody>
          <a:bodyPr/>
          <a:lstStyle/>
          <a:p>
            <a:pPr>
              <a:defRPr/>
            </a:pPr>
            <a:r>
              <a:rPr lang="en-US" altLang="zh-CN"/>
              <a:t>©Haiyang Liu, 2025</a:t>
            </a:r>
            <a:endParaRPr lang="en-US" altLang="zh-CN" dirty="0"/>
          </a:p>
        </p:txBody>
      </p:sp>
      <p:sp>
        <p:nvSpPr>
          <p:cNvPr id="24" name="灯片编号占位符 23"/>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left)">
                                      <p:cBhvr>
                                        <p:cTn id="13" dur="500"/>
                                        <p:tgtEl>
                                          <p:spTgt spid="1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500"/>
                                        <p:tgtEl>
                                          <p:spTgt spid="2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autoUpdateAnimBg="0"/>
      <p:bldP spid="20" grpId="0" autoUpdateAnimBg="0"/>
      <p:bldP spid="21" grpId="0" autoUpdateAnimBg="0"/>
      <p:bldP spid="2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Path</a:t>
            </a:r>
            <a:endParaRPr lang="en-US" altLang="zh-CN" dirty="0"/>
          </a:p>
        </p:txBody>
      </p:sp>
      <p:sp>
        <p:nvSpPr>
          <p:cNvPr id="3" name="内容占位符 2"/>
          <p:cNvSpPr>
            <a:spLocks noGrp="1"/>
          </p:cNvSpPr>
          <p:nvPr>
            <p:ph idx="1"/>
          </p:nvPr>
        </p:nvSpPr>
        <p:spPr/>
        <p:txBody>
          <a:bodyPr/>
          <a:lstStyle/>
          <a:p>
            <a:pPr>
              <a:lnSpc>
                <a:spcPct val="125000"/>
              </a:lnSpc>
            </a:pP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Let</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mn-ea"/>
              </a:rPr>
              <a:t>G=(V, {VR})</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be a graph. Consider a sequence of vertices</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cs typeface="Arial" panose="020B0604020202020204" pitchFamily="34" charset="0"/>
                <a:sym typeface="+mn-ea"/>
              </a:rPr>
              <a:t>{ u=v</a:t>
            </a:r>
            <a:r>
              <a:rPr lang="en-US" altLang="zh-CN" sz="2800" baseline="-25000" dirty="0">
                <a:solidFill>
                  <a:srgbClr val="000066"/>
                </a:solidFill>
                <a:cs typeface="Arial" panose="020B0604020202020204" pitchFamily="34" charset="0"/>
                <a:sym typeface="+mn-ea"/>
              </a:rPr>
              <a:t>i,0</a:t>
            </a:r>
            <a:r>
              <a:rPr lang="en-US" altLang="zh-CN" sz="2800" dirty="0">
                <a:solidFill>
                  <a:srgbClr val="000066"/>
                </a:solidFill>
                <a:cs typeface="Arial" panose="020B0604020202020204" pitchFamily="34" charset="0"/>
                <a:sym typeface="+mn-ea"/>
              </a:rPr>
              <a:t>, v</a:t>
            </a:r>
            <a:r>
              <a:rPr lang="en-US" altLang="zh-CN" sz="2800" baseline="-25000" dirty="0">
                <a:solidFill>
                  <a:srgbClr val="000066"/>
                </a:solidFill>
                <a:cs typeface="Arial" panose="020B0604020202020204" pitchFamily="34" charset="0"/>
                <a:sym typeface="+mn-ea"/>
              </a:rPr>
              <a:t>i,1</a:t>
            </a:r>
            <a:r>
              <a:rPr lang="en-US" altLang="zh-CN" sz="2800" dirty="0">
                <a:solidFill>
                  <a:srgbClr val="000066"/>
                </a:solidFill>
                <a:cs typeface="Arial" panose="020B0604020202020204" pitchFamily="34" charset="0"/>
                <a:sym typeface="+mn-ea"/>
              </a:rPr>
              <a:t>, …, </a:t>
            </a:r>
            <a:r>
              <a:rPr lang="en-US" altLang="zh-CN" sz="2800" dirty="0" err="1">
                <a:solidFill>
                  <a:srgbClr val="000066"/>
                </a:solidFill>
                <a:cs typeface="Arial" panose="020B0604020202020204" pitchFamily="34" charset="0"/>
                <a:sym typeface="+mn-ea"/>
              </a:rPr>
              <a:t>v</a:t>
            </a:r>
            <a:r>
              <a:rPr lang="en-US" altLang="zh-CN" sz="2800" baseline="-25000" dirty="0" err="1">
                <a:solidFill>
                  <a:srgbClr val="000066"/>
                </a:solidFill>
                <a:cs typeface="Arial" panose="020B0604020202020204" pitchFamily="34" charset="0"/>
                <a:sym typeface="+mn-ea"/>
              </a:rPr>
              <a:t>i,m</a:t>
            </a:r>
            <a:r>
              <a:rPr lang="en-US" altLang="zh-CN" sz="2800" dirty="0">
                <a:solidFill>
                  <a:srgbClr val="000066"/>
                </a:solidFill>
                <a:cs typeface="Arial" panose="020B0604020202020204" pitchFamily="34" charset="0"/>
                <a:sym typeface="+mn-ea"/>
              </a:rPr>
              <a:t>=w}</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 If</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cs typeface="Arial" panose="020B0604020202020204" pitchFamily="34" charset="0"/>
                <a:sym typeface="+mn-ea"/>
              </a:rPr>
              <a:t>(v</a:t>
            </a:r>
            <a:r>
              <a:rPr lang="en-US" altLang="zh-CN" sz="2800" baseline="-25000" dirty="0">
                <a:solidFill>
                  <a:srgbClr val="000066"/>
                </a:solidFill>
                <a:cs typeface="Arial" panose="020B0604020202020204" pitchFamily="34" charset="0"/>
                <a:sym typeface="+mn-ea"/>
              </a:rPr>
              <a:t>i,j-1</a:t>
            </a:r>
            <a:r>
              <a:rPr lang="en-US" altLang="zh-CN" sz="2800" dirty="0">
                <a:solidFill>
                  <a:srgbClr val="000066"/>
                </a:solidFill>
                <a:cs typeface="Arial" panose="020B0604020202020204" pitchFamily="34" charset="0"/>
                <a:sym typeface="+mn-ea"/>
              </a:rPr>
              <a:t>,v</a:t>
            </a:r>
            <a:r>
              <a:rPr lang="en-US" altLang="zh-CN" sz="2800" baseline="-25000" dirty="0">
                <a:solidFill>
                  <a:srgbClr val="000066"/>
                </a:solidFill>
                <a:cs typeface="Arial" panose="020B0604020202020204" pitchFamily="34" charset="0"/>
                <a:sym typeface="+mn-ea"/>
              </a:rPr>
              <a:t>i,j</a:t>
            </a:r>
            <a:r>
              <a:rPr lang="en-US" altLang="zh-CN" sz="2800" dirty="0">
                <a:solidFill>
                  <a:srgbClr val="000066"/>
                </a:solidFill>
                <a:cs typeface="Arial" panose="020B0604020202020204" pitchFamily="34" charset="0"/>
                <a:sym typeface="+mn-ea"/>
              </a:rPr>
              <a:t>)</a:t>
            </a:r>
            <a:r>
              <a:rPr lang="en-US" altLang="zh-CN" sz="2800" dirty="0">
                <a:solidFill>
                  <a:srgbClr val="000066"/>
                </a:solidFill>
                <a:cs typeface="Arial" panose="020B0604020202020204" pitchFamily="34" charset="0"/>
                <a:sym typeface="Symbol" panose="05050102010706020507" pitchFamily="18" charset="2"/>
              </a:rPr>
              <a:t>VR 1≤j≤m</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 then there is a</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FF0000"/>
                </a:solidFill>
                <a:ea typeface="楷体_GB2312" pitchFamily="49" charset="-122"/>
                <a:cs typeface="Arial" panose="020B0604020202020204" pitchFamily="34" charset="0"/>
                <a:sym typeface="Symbol" panose="05050102010706020507" pitchFamily="18" charset="2"/>
              </a:rPr>
              <a:t>path</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from vertex</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u</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to vertex</a:t>
            </a:r>
            <a:r>
              <a:rPr lang="en-US" altLang="en-US" sz="2800" dirty="0">
                <a:solidFill>
                  <a:srgbClr val="000066"/>
                </a:solidFill>
                <a:ea typeface="楷体_GB2312" pitchFamily="49" charset="-122"/>
                <a:cs typeface="Arial" panose="020B0604020202020204" pitchFamily="34" charset="0"/>
                <a:sym typeface="Symbol" panose="05050102010706020507" pitchFamily="18" charset="2"/>
              </a:rPr>
              <a:t> </a:t>
            </a:r>
            <a:r>
              <a:rPr lang="en-US" altLang="zh-CN" sz="2800" dirty="0">
                <a:solidFill>
                  <a:srgbClr val="000066"/>
                </a:solidFill>
                <a:ea typeface="楷体_GB2312" pitchFamily="49" charset="-122"/>
                <a:cs typeface="Arial" panose="020B0604020202020204" pitchFamily="34" charset="0"/>
                <a:sym typeface="Symbol" panose="05050102010706020507" pitchFamily="18" charset="2"/>
              </a:rPr>
              <a:t>w.</a:t>
            </a:r>
            <a:endParaRPr lang="en-US" altLang="zh-CN" sz="2800" dirty="0">
              <a:solidFill>
                <a:srgbClr val="000066"/>
              </a:solidFill>
              <a:ea typeface="楷体_GB2312" pitchFamily="49" charset="-122"/>
              <a:cs typeface="Arial" panose="020B0604020202020204" pitchFamily="34" charset="0"/>
              <a:sym typeface="Symbol" panose="05050102010706020507" pitchFamily="18" charset="2"/>
            </a:endParaRPr>
          </a:p>
          <a:p>
            <a:pPr>
              <a:lnSpc>
                <a:spcPct val="125000"/>
              </a:lnSpc>
            </a:pPr>
            <a:r>
              <a:rPr lang="zh-CN" altLang="en-US" sz="2800" dirty="0">
                <a:solidFill>
                  <a:srgbClr val="000066"/>
                </a:solidFill>
                <a:ea typeface="楷体_GB2312" pitchFamily="49" charset="-122"/>
                <a:cs typeface="Arial" panose="020B0604020202020204" pitchFamily="34" charset="0"/>
                <a:sym typeface="Symbol" panose="05050102010706020507" pitchFamily="18" charset="2"/>
              </a:rPr>
              <a:t>The number of edges on a path is called the </a:t>
            </a:r>
            <a:r>
              <a:rPr lang="zh-CN" altLang="en-US" sz="2800" dirty="0">
                <a:solidFill>
                  <a:srgbClr val="FF0000"/>
                </a:solidFill>
                <a:ea typeface="楷体_GB2312" pitchFamily="49" charset="-122"/>
                <a:cs typeface="Arial" panose="020B0604020202020204" pitchFamily="34" charset="0"/>
                <a:sym typeface="Symbol" panose="05050102010706020507" pitchFamily="18" charset="2"/>
              </a:rPr>
              <a:t>path length</a:t>
            </a:r>
            <a:r>
              <a:rPr lang="zh-CN" altLang="en-US" sz="2800" dirty="0">
                <a:solidFill>
                  <a:srgbClr val="000066"/>
                </a:solidFill>
                <a:ea typeface="楷体_GB2312" pitchFamily="49" charset="-122"/>
                <a:cs typeface="Arial" panose="020B0604020202020204" pitchFamily="34" charset="0"/>
                <a:sym typeface="Symbol" panose="05050102010706020507" pitchFamily="18" charset="2"/>
              </a:rPr>
              <a:t>.</a:t>
            </a:r>
            <a:endParaRPr lang="zh-CN" altLang="en-US" sz="2800" dirty="0">
              <a:solidFill>
                <a:srgbClr val="000066"/>
              </a:solidFill>
              <a:ea typeface="楷体_GB2312" pitchFamily="49" charset="-122"/>
              <a:cs typeface="Arial" panose="020B0604020202020204" pitchFamily="34" charset="0"/>
              <a:sym typeface="Symbol" panose="05050102010706020507" pitchFamily="18" charset="2"/>
            </a:endParaRPr>
          </a:p>
        </p:txBody>
      </p:sp>
      <p:sp>
        <p:nvSpPr>
          <p:cNvPr id="6" name="Text Box 16"/>
          <p:cNvSpPr txBox="1">
            <a:spLocks noChangeArrowheads="1"/>
          </p:cNvSpPr>
          <p:nvPr/>
        </p:nvSpPr>
        <p:spPr bwMode="auto">
          <a:xfrm>
            <a:off x="324163" y="3959602"/>
            <a:ext cx="4283075" cy="127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dirty="0">
                <a:solidFill>
                  <a:srgbClr val="000066"/>
                </a:solidFill>
                <a:latin typeface="Arial" panose="020B0604020202020204" pitchFamily="34" charset="0"/>
                <a:ea typeface="楷体_GB2312" pitchFamily="49" charset="-122"/>
                <a:cs typeface="Arial" panose="020B0604020202020204" pitchFamily="34" charset="0"/>
              </a:rPr>
              <a:t>For example: A path of length 3:</a:t>
            </a:r>
            <a:r>
              <a:rPr lang="en-US" altLang="en-US" sz="3200" dirty="0">
                <a:solidFill>
                  <a:srgbClr val="000066"/>
                </a:solidFill>
                <a:latin typeface="Arial" panose="020B0604020202020204" pitchFamily="34" charset="0"/>
                <a:ea typeface="楷体_GB2312" pitchFamily="49" charset="-122"/>
                <a:cs typeface="Arial" panose="020B0604020202020204" pitchFamily="34" charset="0"/>
              </a:rPr>
              <a:t> </a:t>
            </a:r>
            <a:r>
              <a:rPr lang="en-US" altLang="zh-CN" sz="3200" dirty="0">
                <a:solidFill>
                  <a:srgbClr val="000066"/>
                </a:solidFill>
                <a:latin typeface="Arial" panose="020B0604020202020204" pitchFamily="34" charset="0"/>
                <a:ea typeface="楷体_GB2312" pitchFamily="49" charset="-122"/>
                <a:cs typeface="Arial" panose="020B0604020202020204" pitchFamily="34" charset="0"/>
              </a:rPr>
              <a:t>{A, B, C, F}</a:t>
            </a:r>
            <a:endParaRPr lang="en-US" altLang="zh-CN" sz="2000" dirty="0">
              <a:latin typeface="Arial" panose="020B0604020202020204" pitchFamily="34" charset="0"/>
              <a:cs typeface="Arial" panose="020B0604020202020204" pitchFamily="34" charset="0"/>
            </a:endParaRPr>
          </a:p>
        </p:txBody>
      </p:sp>
      <p:grpSp>
        <p:nvGrpSpPr>
          <p:cNvPr id="7" name="Group 3"/>
          <p:cNvGrpSpPr/>
          <p:nvPr/>
        </p:nvGrpSpPr>
        <p:grpSpPr bwMode="auto">
          <a:xfrm>
            <a:off x="4932040" y="3861048"/>
            <a:ext cx="3505200" cy="2362200"/>
            <a:chOff x="576" y="2736"/>
            <a:chExt cx="2208" cy="1488"/>
          </a:xfrm>
        </p:grpSpPr>
        <p:sp>
          <p:nvSpPr>
            <p:cNvPr id="8" name="Line 4"/>
            <p:cNvSpPr>
              <a:spLocks noChangeShapeType="1"/>
            </p:cNvSpPr>
            <p:nvPr/>
          </p:nvSpPr>
          <p:spPr bwMode="auto">
            <a:xfrm flipH="1">
              <a:off x="720" y="2880"/>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5"/>
            <p:cNvSpPr>
              <a:spLocks noChangeShapeType="1"/>
            </p:cNvSpPr>
            <p:nvPr/>
          </p:nvSpPr>
          <p:spPr bwMode="auto">
            <a:xfrm>
              <a:off x="816" y="3600"/>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6"/>
            <p:cNvSpPr>
              <a:spLocks noChangeShapeType="1"/>
            </p:cNvSpPr>
            <p:nvPr/>
          </p:nvSpPr>
          <p:spPr bwMode="auto">
            <a:xfrm>
              <a:off x="1392" y="4032"/>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7"/>
            <p:cNvSpPr>
              <a:spLocks noChangeShapeType="1"/>
            </p:cNvSpPr>
            <p:nvPr/>
          </p:nvSpPr>
          <p:spPr bwMode="auto">
            <a:xfrm flipH="1" flipV="1">
              <a:off x="1776" y="3024"/>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p:cNvSpPr>
              <a:spLocks noChangeShapeType="1"/>
            </p:cNvSpPr>
            <p:nvPr/>
          </p:nvSpPr>
          <p:spPr bwMode="auto">
            <a:xfrm>
              <a:off x="1824" y="2880"/>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9"/>
            <p:cNvSpPr>
              <a:spLocks noChangeShapeType="1"/>
            </p:cNvSpPr>
            <p:nvPr/>
          </p:nvSpPr>
          <p:spPr bwMode="auto">
            <a:xfrm flipH="1" flipV="1">
              <a:off x="864" y="3456"/>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p:cNvSpPr>
              <a:spLocks noChangeShapeType="1"/>
            </p:cNvSpPr>
            <p:nvPr/>
          </p:nvSpPr>
          <p:spPr bwMode="auto">
            <a:xfrm flipH="1">
              <a:off x="1248" y="3456"/>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1"/>
            <p:cNvSpPr>
              <a:spLocks noChangeArrowheads="1"/>
            </p:cNvSpPr>
            <p:nvPr/>
          </p:nvSpPr>
          <p:spPr bwMode="auto">
            <a:xfrm>
              <a:off x="1536" y="2736"/>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16" name="Oval 12"/>
            <p:cNvSpPr>
              <a:spLocks noChangeArrowheads="1"/>
            </p:cNvSpPr>
            <p:nvPr/>
          </p:nvSpPr>
          <p:spPr bwMode="auto">
            <a:xfrm>
              <a:off x="576" y="3312"/>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7" name="Oval 13"/>
            <p:cNvSpPr>
              <a:spLocks noChangeArrowheads="1"/>
            </p:cNvSpPr>
            <p:nvPr/>
          </p:nvSpPr>
          <p:spPr bwMode="auto">
            <a:xfrm>
              <a:off x="2496" y="3312"/>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8" name="Oval 14"/>
            <p:cNvSpPr>
              <a:spLocks noChangeArrowheads="1"/>
            </p:cNvSpPr>
            <p:nvPr/>
          </p:nvSpPr>
          <p:spPr bwMode="auto">
            <a:xfrm>
              <a:off x="1104" y="388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9" name="Oval 15"/>
            <p:cNvSpPr>
              <a:spLocks noChangeArrowheads="1"/>
            </p:cNvSpPr>
            <p:nvPr/>
          </p:nvSpPr>
          <p:spPr bwMode="auto">
            <a:xfrm>
              <a:off x="1968" y="388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grpSp>
      <p:sp>
        <p:nvSpPr>
          <p:cNvPr id="20" name="页脚占位符 19"/>
          <p:cNvSpPr>
            <a:spLocks noGrp="1"/>
          </p:cNvSpPr>
          <p:nvPr>
            <p:ph type="ftr" sz="quarter" idx="10"/>
          </p:nvPr>
        </p:nvSpPr>
        <p:spPr/>
        <p:txBody>
          <a:bodyPr/>
          <a:lstStyle/>
          <a:p>
            <a:pPr>
              <a:defRPr/>
            </a:pPr>
            <a:r>
              <a:rPr lang="en-US" altLang="zh-CN"/>
              <a:t>©Haiyang Liu, 2025</a:t>
            </a:r>
            <a:endParaRPr lang="en-US" altLang="zh-CN" dirty="0"/>
          </a:p>
        </p:txBody>
      </p:sp>
      <p:sp>
        <p:nvSpPr>
          <p:cNvPr id="21" name="灯片编号占位符 20"/>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0-#ppt_w/2"/>
                                          </p:val>
                                        </p:tav>
                                        <p:tav tm="100000">
                                          <p:val>
                                            <p:strVal val="#ppt_x"/>
                                          </p:val>
                                        </p:tav>
                                      </p:tavLst>
                                    </p:anim>
                                    <p:anim calcmode="lin" valueType="num">
                                      <p:cBhvr additive="base">
                                        <p:cTn id="1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Simple </a:t>
            </a:r>
            <a:r>
              <a:rPr lang="en-US" altLang="zh-CN">
                <a:sym typeface="+mn-ea"/>
              </a:rPr>
              <a:t>P</a:t>
            </a:r>
            <a:r>
              <a:rPr>
                <a:sym typeface="+mn-ea"/>
              </a:rPr>
              <a:t>ath and </a:t>
            </a:r>
            <a:r>
              <a:rPr lang="en-US" altLang="zh-CN">
                <a:sym typeface="+mn-ea"/>
              </a:rPr>
              <a:t>L</a:t>
            </a:r>
            <a:r>
              <a:rPr>
                <a:sym typeface="+mn-ea"/>
              </a:rPr>
              <a:t>oop</a:t>
            </a:r>
            <a:endParaRPr lang="zh-CN" altLang="en-US" dirty="0"/>
          </a:p>
        </p:txBody>
      </p:sp>
      <p:sp>
        <p:nvSpPr>
          <p:cNvPr id="3" name="内容占位符 2"/>
          <p:cNvSpPr>
            <a:spLocks noGrp="1"/>
          </p:cNvSpPr>
          <p:nvPr>
            <p:ph idx="1"/>
          </p:nvPr>
        </p:nvSpPr>
        <p:spPr/>
        <p:txBody>
          <a:bodyPr/>
          <a:lstStyle/>
          <a:p>
            <a:pPr>
              <a:lnSpc>
                <a:spcPts val="4800"/>
              </a:lnSpc>
            </a:pPr>
            <a:r>
              <a:rPr lang="zh-CN" altLang="en-US" dirty="0">
                <a:solidFill>
                  <a:srgbClr val="FF0000"/>
                </a:solidFill>
                <a:ea typeface="楷体_GB2312" pitchFamily="49" charset="-122"/>
                <a:cs typeface="Arial" panose="020B0604020202020204" pitchFamily="34" charset="0"/>
                <a:sym typeface="+mn-ea"/>
              </a:rPr>
              <a:t>Simple path: </a:t>
            </a:r>
            <a:r>
              <a:rPr lang="zh-CN" altLang="en-US" dirty="0">
                <a:solidFill>
                  <a:srgbClr val="000066"/>
                </a:solidFill>
                <a:ea typeface="楷体_GB2312" pitchFamily="49" charset="-122"/>
                <a:cs typeface="Arial" panose="020B0604020202020204" pitchFamily="34" charset="0"/>
                <a:sym typeface="+mn-ea"/>
              </a:rPr>
              <a:t>A path in a sequence where vertices do not repeat.</a:t>
            </a:r>
            <a:endParaRPr lang="zh-CN" altLang="en-US" dirty="0">
              <a:solidFill>
                <a:srgbClr val="000066"/>
              </a:solidFill>
              <a:ea typeface="楷体_GB2312" pitchFamily="49" charset="-122"/>
              <a:cs typeface="Arial" panose="020B0604020202020204" pitchFamily="34" charset="0"/>
            </a:endParaRPr>
          </a:p>
          <a:p>
            <a:pPr algn="l">
              <a:lnSpc>
                <a:spcPts val="4800"/>
              </a:lnSpc>
              <a:buClrTx/>
              <a:buSzTx/>
              <a:buBlip>
                <a:blip r:embed="rId1"/>
              </a:buBlip>
            </a:pPr>
            <a:r>
              <a:rPr lang="zh-CN" altLang="en-US" dirty="0">
                <a:solidFill>
                  <a:srgbClr val="FF0000"/>
                </a:solidFill>
                <a:ea typeface="楷体_GB2312" pitchFamily="49" charset="-122"/>
                <a:cs typeface="Arial" panose="020B0604020202020204" pitchFamily="34" charset="0"/>
                <a:sym typeface="+mn-ea"/>
              </a:rPr>
              <a:t>Loop: </a:t>
            </a:r>
            <a:r>
              <a:rPr lang="zh-CN" altLang="en-US" dirty="0">
                <a:solidFill>
                  <a:srgbClr val="000066"/>
                </a:solidFill>
                <a:ea typeface="楷体_GB2312" pitchFamily="49" charset="-122"/>
                <a:cs typeface="Arial" panose="020B0604020202020204" pitchFamily="34" charset="0"/>
                <a:sym typeface="+mn-ea"/>
              </a:rPr>
              <a:t>A path where the first vertex is the same as the last vertex in the sequence.</a:t>
            </a:r>
            <a:endParaRPr lang="zh-CN" altLang="en-US" dirty="0">
              <a:solidFill>
                <a:srgbClr val="000066"/>
              </a:solidFill>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Connected and disconnected graphs</a:t>
            </a:r>
            <a:endParaRPr lang="zh-CN" altLang="en-US" dirty="0"/>
          </a:p>
        </p:txBody>
      </p:sp>
      <p:sp>
        <p:nvSpPr>
          <p:cNvPr id="3" name="内容占位符 2"/>
          <p:cNvSpPr>
            <a:spLocks noGrp="1"/>
          </p:cNvSpPr>
          <p:nvPr>
            <p:ph idx="1"/>
          </p:nvPr>
        </p:nvSpPr>
        <p:spPr>
          <a:xfrm>
            <a:off x="323850" y="1124745"/>
            <a:ext cx="8496300" cy="1296144"/>
          </a:xfrm>
        </p:spPr>
        <p:txBody>
          <a:bodyPr/>
          <a:lstStyle/>
          <a:p>
            <a:pPr>
              <a:lnSpc>
                <a:spcPts val="4200"/>
              </a:lnSpc>
            </a:pPr>
            <a:r>
              <a:rPr lang="zh-CN" altLang="en-US" sz="2800" dirty="0">
                <a:solidFill>
                  <a:srgbClr val="000066"/>
                </a:solidFill>
                <a:ea typeface="楷体_GB2312" pitchFamily="49" charset="-122"/>
                <a:cs typeface="Arial" panose="020B0604020202020204" pitchFamily="34" charset="0"/>
                <a:sym typeface="+mn-ea"/>
              </a:rPr>
              <a:t>A graph is called a </a:t>
            </a:r>
            <a:r>
              <a:rPr lang="zh-CN" altLang="en-US" sz="2800" dirty="0">
                <a:solidFill>
                  <a:srgbClr val="FF0000"/>
                </a:solidFill>
                <a:ea typeface="楷体_GB2312" pitchFamily="49" charset="-122"/>
                <a:cs typeface="Arial" panose="020B0604020202020204" pitchFamily="34" charset="0"/>
                <a:sym typeface="+mn-ea"/>
              </a:rPr>
              <a:t>connected graph</a:t>
            </a:r>
            <a:r>
              <a:rPr lang="zh-CN" altLang="en-US" sz="2800" dirty="0">
                <a:solidFill>
                  <a:srgbClr val="000066"/>
                </a:solidFill>
                <a:ea typeface="楷体_GB2312" pitchFamily="49" charset="-122"/>
                <a:cs typeface="Arial" panose="020B0604020202020204" pitchFamily="34" charset="0"/>
                <a:sym typeface="+mn-ea"/>
              </a:rPr>
              <a:t> if any two vertices are connected by a path; otherwise, it is called a </a:t>
            </a:r>
            <a:r>
              <a:rPr lang="zh-CN" altLang="en-US" sz="2800" dirty="0">
                <a:solidFill>
                  <a:srgbClr val="FF0000"/>
                </a:solidFill>
                <a:ea typeface="楷体_GB2312" pitchFamily="49" charset="-122"/>
                <a:cs typeface="Arial" panose="020B0604020202020204" pitchFamily="34" charset="0"/>
                <a:sym typeface="+mn-ea"/>
              </a:rPr>
              <a:t>disconnected graph</a:t>
            </a:r>
            <a:r>
              <a:rPr lang="zh-CN" altLang="en-US" sz="2800" dirty="0">
                <a:solidFill>
                  <a:srgbClr val="000066"/>
                </a:solidFill>
                <a:ea typeface="楷体_GB2312" pitchFamily="49" charset="-122"/>
                <a:cs typeface="Arial" panose="020B0604020202020204" pitchFamily="34" charset="0"/>
                <a:sym typeface="+mn-ea"/>
              </a:rPr>
              <a:t>.</a:t>
            </a:r>
            <a:endParaRPr lang="zh-CN" altLang="en-US" sz="2800" dirty="0">
              <a:solidFill>
                <a:srgbClr val="000066"/>
              </a:solidFill>
              <a:ea typeface="楷体_GB2312" pitchFamily="49" charset="-122"/>
              <a:cs typeface="Arial" panose="020B0604020202020204" pitchFamily="34" charset="0"/>
              <a:sym typeface="+mn-ea"/>
            </a:endParaRPr>
          </a:p>
        </p:txBody>
      </p:sp>
      <p:grpSp>
        <p:nvGrpSpPr>
          <p:cNvPr id="6" name="Group 3"/>
          <p:cNvGrpSpPr/>
          <p:nvPr/>
        </p:nvGrpSpPr>
        <p:grpSpPr bwMode="auto">
          <a:xfrm>
            <a:off x="684213" y="2780348"/>
            <a:ext cx="3505200" cy="2743200"/>
            <a:chOff x="3026" y="240"/>
            <a:chExt cx="2397" cy="1920"/>
          </a:xfrm>
        </p:grpSpPr>
        <p:sp>
          <p:nvSpPr>
            <p:cNvPr id="7" name="Oval 4"/>
            <p:cNvSpPr>
              <a:spLocks noChangeArrowheads="1"/>
            </p:cNvSpPr>
            <p:nvPr/>
          </p:nvSpPr>
          <p:spPr bwMode="auto">
            <a:xfrm>
              <a:off x="3650" y="273"/>
              <a:ext cx="287" cy="351"/>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8" name="Oval 5"/>
            <p:cNvSpPr>
              <a:spLocks noChangeArrowheads="1"/>
            </p:cNvSpPr>
            <p:nvPr/>
          </p:nvSpPr>
          <p:spPr bwMode="auto">
            <a:xfrm>
              <a:off x="3026" y="1056"/>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9" name="Line 6"/>
            <p:cNvSpPr>
              <a:spLocks noChangeShapeType="1"/>
            </p:cNvSpPr>
            <p:nvPr/>
          </p:nvSpPr>
          <p:spPr bwMode="auto">
            <a:xfrm flipH="1">
              <a:off x="3169" y="480"/>
              <a:ext cx="480"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a:off x="3938" y="432"/>
              <a:ext cx="863"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a:off x="3314" y="1248"/>
              <a:ext cx="1487"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flipH="1">
              <a:off x="3882" y="480"/>
              <a:ext cx="775"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a:off x="4945" y="432"/>
              <a:ext cx="384"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H="1">
              <a:off x="3930" y="1248"/>
              <a:ext cx="1255"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flipH="1">
              <a:off x="3793" y="609"/>
              <a:ext cx="1" cy="1215"/>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3"/>
            <p:cNvSpPr>
              <a:spLocks noChangeArrowheads="1"/>
            </p:cNvSpPr>
            <p:nvPr/>
          </p:nvSpPr>
          <p:spPr bwMode="auto">
            <a:xfrm>
              <a:off x="4656" y="240"/>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7" name="Oval 14"/>
            <p:cNvSpPr>
              <a:spLocks noChangeArrowheads="1"/>
            </p:cNvSpPr>
            <p:nvPr/>
          </p:nvSpPr>
          <p:spPr bwMode="auto">
            <a:xfrm>
              <a:off x="5136" y="1008"/>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solidFill>
                  <a:schemeClr val="tx2"/>
                </a:solidFill>
              </a:endParaRPr>
            </a:p>
          </p:txBody>
        </p:sp>
        <p:sp>
          <p:nvSpPr>
            <p:cNvPr id="18" name="Oval 15"/>
            <p:cNvSpPr>
              <a:spLocks noChangeArrowheads="1"/>
            </p:cNvSpPr>
            <p:nvPr/>
          </p:nvSpPr>
          <p:spPr bwMode="auto">
            <a:xfrm>
              <a:off x="3648" y="1824"/>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9" name="Oval 16"/>
            <p:cNvSpPr>
              <a:spLocks noChangeArrowheads="1"/>
            </p:cNvSpPr>
            <p:nvPr/>
          </p:nvSpPr>
          <p:spPr bwMode="auto">
            <a:xfrm>
              <a:off x="4704" y="1776"/>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grpSp>
      <p:sp>
        <p:nvSpPr>
          <p:cNvPr id="20" name="Rectangle 30"/>
          <p:cNvSpPr>
            <a:spLocks noChangeArrowheads="1"/>
          </p:cNvSpPr>
          <p:nvPr/>
        </p:nvSpPr>
        <p:spPr bwMode="auto">
          <a:xfrm>
            <a:off x="742315" y="5589905"/>
            <a:ext cx="318643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latin typeface="楷体_GB2312" pitchFamily="49" charset="-122"/>
                <a:ea typeface="楷体_GB2312" pitchFamily="49" charset="-122"/>
                <a:sym typeface="+mn-ea"/>
              </a:rPr>
              <a:t>connected graph</a:t>
            </a:r>
            <a:endParaRPr lang="zh-CN" altLang="en-US" sz="2800" b="1">
              <a:latin typeface="楷体_GB2312" pitchFamily="49" charset="-122"/>
              <a:ea typeface="楷体_GB2312" pitchFamily="49" charset="-122"/>
            </a:endParaRPr>
          </a:p>
        </p:txBody>
      </p:sp>
      <p:grpSp>
        <p:nvGrpSpPr>
          <p:cNvPr id="21" name="Group 17"/>
          <p:cNvGrpSpPr/>
          <p:nvPr/>
        </p:nvGrpSpPr>
        <p:grpSpPr bwMode="auto">
          <a:xfrm>
            <a:off x="5076825" y="2708910"/>
            <a:ext cx="3429000" cy="2743200"/>
            <a:chOff x="195" y="1872"/>
            <a:chExt cx="2397" cy="1920"/>
          </a:xfrm>
        </p:grpSpPr>
        <p:sp>
          <p:nvSpPr>
            <p:cNvPr id="22" name="Oval 18"/>
            <p:cNvSpPr>
              <a:spLocks noChangeArrowheads="1"/>
            </p:cNvSpPr>
            <p:nvPr/>
          </p:nvSpPr>
          <p:spPr bwMode="auto">
            <a:xfrm>
              <a:off x="819" y="1905"/>
              <a:ext cx="287" cy="351"/>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23" name="Oval 19"/>
            <p:cNvSpPr>
              <a:spLocks noChangeArrowheads="1"/>
            </p:cNvSpPr>
            <p:nvPr/>
          </p:nvSpPr>
          <p:spPr bwMode="auto">
            <a:xfrm>
              <a:off x="195" y="2688"/>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26" name="Line 22"/>
            <p:cNvSpPr>
              <a:spLocks noChangeShapeType="1"/>
            </p:cNvSpPr>
            <p:nvPr/>
          </p:nvSpPr>
          <p:spPr bwMode="auto">
            <a:xfrm>
              <a:off x="483" y="2880"/>
              <a:ext cx="1487"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3"/>
            <p:cNvSpPr>
              <a:spLocks noChangeShapeType="1"/>
            </p:cNvSpPr>
            <p:nvPr/>
          </p:nvSpPr>
          <p:spPr bwMode="auto">
            <a:xfrm flipH="1">
              <a:off x="1051" y="2112"/>
              <a:ext cx="775"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4"/>
            <p:cNvSpPr>
              <a:spLocks noChangeShapeType="1"/>
            </p:cNvSpPr>
            <p:nvPr/>
          </p:nvSpPr>
          <p:spPr bwMode="auto">
            <a:xfrm>
              <a:off x="2114" y="2064"/>
              <a:ext cx="384"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5"/>
            <p:cNvSpPr>
              <a:spLocks noChangeShapeType="1"/>
            </p:cNvSpPr>
            <p:nvPr/>
          </p:nvSpPr>
          <p:spPr bwMode="auto">
            <a:xfrm flipH="1">
              <a:off x="1099" y="2880"/>
              <a:ext cx="1255"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26"/>
            <p:cNvSpPr>
              <a:spLocks noChangeArrowheads="1"/>
            </p:cNvSpPr>
            <p:nvPr/>
          </p:nvSpPr>
          <p:spPr bwMode="auto">
            <a:xfrm>
              <a:off x="1825" y="1872"/>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31" name="Oval 27"/>
            <p:cNvSpPr>
              <a:spLocks noChangeArrowheads="1"/>
            </p:cNvSpPr>
            <p:nvPr/>
          </p:nvSpPr>
          <p:spPr bwMode="auto">
            <a:xfrm>
              <a:off x="2305" y="2640"/>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32" name="Oval 28"/>
            <p:cNvSpPr>
              <a:spLocks noChangeArrowheads="1"/>
            </p:cNvSpPr>
            <p:nvPr/>
          </p:nvSpPr>
          <p:spPr bwMode="auto">
            <a:xfrm>
              <a:off x="817" y="3456"/>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33" name="Oval 29"/>
            <p:cNvSpPr>
              <a:spLocks noChangeArrowheads="1"/>
            </p:cNvSpPr>
            <p:nvPr/>
          </p:nvSpPr>
          <p:spPr bwMode="auto">
            <a:xfrm>
              <a:off x="1873" y="3408"/>
              <a:ext cx="287" cy="336"/>
            </a:xfrm>
            <a:prstGeom prst="ellipse">
              <a:avLst/>
            </a:prstGeom>
            <a:solidFill>
              <a:schemeClr val="accent2">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grpSp>
      <p:sp>
        <p:nvSpPr>
          <p:cNvPr id="34" name="Rectangle 31"/>
          <p:cNvSpPr>
            <a:spLocks noChangeArrowheads="1"/>
          </p:cNvSpPr>
          <p:nvPr/>
        </p:nvSpPr>
        <p:spPr bwMode="auto">
          <a:xfrm>
            <a:off x="5153025" y="5589905"/>
            <a:ext cx="36671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latin typeface="楷体_GB2312" pitchFamily="49" charset="-122"/>
                <a:ea typeface="楷体_GB2312" pitchFamily="49" charset="-122"/>
                <a:sym typeface="+mn-ea"/>
              </a:rPr>
              <a:t>unconnected graph</a:t>
            </a:r>
            <a:endParaRPr lang="zh-CN" altLang="en-US" sz="2800" b="1">
              <a:latin typeface="楷体_GB2312" pitchFamily="49" charset="-122"/>
              <a:ea typeface="楷体_GB2312" pitchFamily="49" charset="-122"/>
            </a:endParaRPr>
          </a:p>
        </p:txBody>
      </p:sp>
      <p:sp>
        <p:nvSpPr>
          <p:cNvPr id="24" name="页脚占位符 23"/>
          <p:cNvSpPr>
            <a:spLocks noGrp="1"/>
          </p:cNvSpPr>
          <p:nvPr>
            <p:ph type="ftr" sz="quarter" idx="10"/>
          </p:nvPr>
        </p:nvSpPr>
        <p:spPr/>
        <p:txBody>
          <a:bodyPr/>
          <a:lstStyle/>
          <a:p>
            <a:pPr>
              <a:defRPr/>
            </a:pPr>
            <a:r>
              <a:rPr lang="en-US" altLang="zh-CN"/>
              <a:t>©Haiyang Liu, 2025</a:t>
            </a:r>
            <a:endParaRPr lang="en-US" altLang="zh-CN" dirty="0"/>
          </a:p>
        </p:txBody>
      </p:sp>
      <p:sp>
        <p:nvSpPr>
          <p:cNvPr id="25" name="灯片编号占位符 2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0-#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0-#ppt_w/2"/>
                                          </p:val>
                                        </p:tav>
                                        <p:tav tm="100000">
                                          <p:val>
                                            <p:strVal val="#ppt_x"/>
                                          </p:val>
                                        </p:tav>
                                      </p:tavLst>
                                    </p:anim>
                                    <p:anim calcmode="lin" valueType="num">
                                      <p:cBhvr additive="base">
                                        <p:cTn id="1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0-#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autoUpdateAnimBg="0"/>
      <p:bldP spid="3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Connected Component</a:t>
            </a:r>
            <a:endParaRPr lang="en-US" altLang="zh-CN" dirty="0"/>
          </a:p>
        </p:txBody>
      </p:sp>
      <p:sp>
        <p:nvSpPr>
          <p:cNvPr id="3" name="内容占位符 2"/>
          <p:cNvSpPr>
            <a:spLocks noGrp="1"/>
          </p:cNvSpPr>
          <p:nvPr>
            <p:ph idx="1"/>
          </p:nvPr>
        </p:nvSpPr>
        <p:spPr/>
        <p:txBody>
          <a:bodyPr/>
          <a:lstStyle/>
          <a:p>
            <a:pPr>
              <a:lnSpc>
                <a:spcPts val="4200"/>
              </a:lnSpc>
            </a:pPr>
            <a:r>
              <a:rPr lang="en-US" altLang="zh-CN" sz="2600" dirty="0">
                <a:solidFill>
                  <a:srgbClr val="000099"/>
                </a:solidFill>
                <a:ea typeface="楷体_GB2312" pitchFamily="49" charset="-122"/>
                <a:cs typeface="Arial" panose="020B0604020202020204" pitchFamily="34" charset="0"/>
              </a:rPr>
              <a:t> </a:t>
            </a:r>
            <a:r>
              <a:rPr lang="zh-CN" altLang="en-US" sz="2600" dirty="0">
                <a:solidFill>
                  <a:srgbClr val="000099"/>
                </a:solidFill>
                <a:ea typeface="楷体_GB2312" pitchFamily="49" charset="-122"/>
                <a:cs typeface="Arial" panose="020B0604020202020204" pitchFamily="34" charset="0"/>
                <a:sym typeface="+mn-ea"/>
              </a:rPr>
              <a:t>If a </a:t>
            </a:r>
            <a:r>
              <a:rPr lang="zh-CN" altLang="en-US" sz="2600" dirty="0">
                <a:solidFill>
                  <a:srgbClr val="FF0000"/>
                </a:solidFill>
                <a:ea typeface="楷体_GB2312" pitchFamily="49" charset="-122"/>
                <a:cs typeface="Arial" panose="020B0604020202020204" pitchFamily="34" charset="0"/>
                <a:sym typeface="+mn-ea"/>
              </a:rPr>
              <a:t>directed graph</a:t>
            </a:r>
            <a:r>
              <a:rPr lang="zh-CN" altLang="en-US" sz="2600" dirty="0">
                <a:solidFill>
                  <a:srgbClr val="000099"/>
                </a:solidFill>
                <a:ea typeface="楷体_GB2312" pitchFamily="49" charset="-122"/>
                <a:cs typeface="Arial" panose="020B0604020202020204" pitchFamily="34" charset="0"/>
                <a:sym typeface="+mn-ea"/>
              </a:rPr>
              <a:t> is not connected, the maximal connected subgraphs in the graph are called the </a:t>
            </a:r>
            <a:r>
              <a:rPr lang="zh-CN" altLang="en-US" sz="2600" dirty="0">
                <a:solidFill>
                  <a:srgbClr val="FF0000"/>
                </a:solidFill>
                <a:ea typeface="楷体_GB2312" pitchFamily="49" charset="-122"/>
                <a:cs typeface="Arial" panose="020B0604020202020204" pitchFamily="34" charset="0"/>
                <a:sym typeface="+mn-ea"/>
              </a:rPr>
              <a:t>connected components</a:t>
            </a:r>
            <a:r>
              <a:rPr lang="zh-CN" altLang="en-US" sz="2600" dirty="0">
                <a:solidFill>
                  <a:srgbClr val="000099"/>
                </a:solidFill>
                <a:ea typeface="楷体_GB2312" pitchFamily="49" charset="-122"/>
                <a:cs typeface="Arial" panose="020B0604020202020204" pitchFamily="34" charset="0"/>
                <a:sym typeface="+mn-ea"/>
              </a:rPr>
              <a:t> of the graph.</a:t>
            </a:r>
            <a:endParaRPr lang="zh-CN" altLang="en-US" sz="2600" dirty="0">
              <a:solidFill>
                <a:srgbClr val="000099"/>
              </a:solidFill>
              <a:ea typeface="楷体_GB2312" pitchFamily="49" charset="-122"/>
              <a:cs typeface="Arial" panose="020B0604020202020204" pitchFamily="34" charset="0"/>
              <a:sym typeface="+mn-ea"/>
            </a:endParaRPr>
          </a:p>
        </p:txBody>
      </p:sp>
      <p:grpSp>
        <p:nvGrpSpPr>
          <p:cNvPr id="6" name="Group 3"/>
          <p:cNvGrpSpPr/>
          <p:nvPr/>
        </p:nvGrpSpPr>
        <p:grpSpPr bwMode="auto">
          <a:xfrm>
            <a:off x="614363" y="3124200"/>
            <a:ext cx="3271837" cy="2514600"/>
            <a:chOff x="195" y="1872"/>
            <a:chExt cx="2397" cy="1920"/>
          </a:xfrm>
        </p:grpSpPr>
        <p:sp>
          <p:nvSpPr>
            <p:cNvPr id="7" name="Oval 4"/>
            <p:cNvSpPr>
              <a:spLocks noChangeArrowheads="1"/>
            </p:cNvSpPr>
            <p:nvPr/>
          </p:nvSpPr>
          <p:spPr bwMode="auto">
            <a:xfrm>
              <a:off x="819" y="1905"/>
              <a:ext cx="287" cy="351"/>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B</a:t>
              </a:r>
              <a:endParaRPr lang="en-US" altLang="zh-CN"/>
            </a:p>
          </p:txBody>
        </p:sp>
        <p:sp>
          <p:nvSpPr>
            <p:cNvPr id="8" name="Oval 5"/>
            <p:cNvSpPr>
              <a:spLocks noChangeArrowheads="1"/>
            </p:cNvSpPr>
            <p:nvPr/>
          </p:nvSpPr>
          <p:spPr bwMode="auto">
            <a:xfrm>
              <a:off x="195" y="2688"/>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A</a:t>
              </a:r>
              <a:endParaRPr lang="en-US" altLang="zh-CN"/>
            </a:p>
          </p:txBody>
        </p:sp>
        <p:sp>
          <p:nvSpPr>
            <p:cNvPr id="9" name="Line 6"/>
            <p:cNvSpPr>
              <a:spLocks noChangeShapeType="1"/>
            </p:cNvSpPr>
            <p:nvPr/>
          </p:nvSpPr>
          <p:spPr bwMode="auto">
            <a:xfrm flipH="1">
              <a:off x="338" y="2112"/>
              <a:ext cx="480"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a:off x="1107" y="2064"/>
              <a:ext cx="863"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a:off x="483" y="2880"/>
              <a:ext cx="1487"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flipH="1">
              <a:off x="1051" y="2112"/>
              <a:ext cx="775"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a:off x="2114" y="2064"/>
              <a:ext cx="384"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H="1">
              <a:off x="1099" y="2880"/>
              <a:ext cx="1255"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2"/>
            <p:cNvSpPr>
              <a:spLocks noChangeArrowheads="1"/>
            </p:cNvSpPr>
            <p:nvPr/>
          </p:nvSpPr>
          <p:spPr bwMode="auto">
            <a:xfrm>
              <a:off x="1825" y="1872"/>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C</a:t>
              </a:r>
              <a:endParaRPr lang="en-US" altLang="zh-CN"/>
            </a:p>
          </p:txBody>
        </p:sp>
        <p:sp>
          <p:nvSpPr>
            <p:cNvPr id="16" name="Oval 13"/>
            <p:cNvSpPr>
              <a:spLocks noChangeArrowheads="1"/>
            </p:cNvSpPr>
            <p:nvPr/>
          </p:nvSpPr>
          <p:spPr bwMode="auto">
            <a:xfrm>
              <a:off x="2305" y="2640"/>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D</a:t>
              </a:r>
              <a:endParaRPr lang="en-US" altLang="zh-CN"/>
            </a:p>
          </p:txBody>
        </p:sp>
        <p:sp>
          <p:nvSpPr>
            <p:cNvPr id="17" name="Oval 14"/>
            <p:cNvSpPr>
              <a:spLocks noChangeArrowheads="1"/>
            </p:cNvSpPr>
            <p:nvPr/>
          </p:nvSpPr>
          <p:spPr bwMode="auto">
            <a:xfrm>
              <a:off x="817" y="3456"/>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F</a:t>
              </a:r>
              <a:endParaRPr lang="en-US" altLang="zh-CN"/>
            </a:p>
          </p:txBody>
        </p:sp>
        <p:sp>
          <p:nvSpPr>
            <p:cNvPr id="18" name="Oval 15"/>
            <p:cNvSpPr>
              <a:spLocks noChangeArrowheads="1"/>
            </p:cNvSpPr>
            <p:nvPr/>
          </p:nvSpPr>
          <p:spPr bwMode="auto">
            <a:xfrm>
              <a:off x="1873" y="3408"/>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E</a:t>
              </a:r>
              <a:endParaRPr lang="en-US" altLang="zh-CN"/>
            </a:p>
          </p:txBody>
        </p:sp>
      </p:grpSp>
      <p:grpSp>
        <p:nvGrpSpPr>
          <p:cNvPr id="19" name="Group 16"/>
          <p:cNvGrpSpPr/>
          <p:nvPr/>
        </p:nvGrpSpPr>
        <p:grpSpPr bwMode="auto">
          <a:xfrm>
            <a:off x="6227763" y="3429000"/>
            <a:ext cx="2438400" cy="2514600"/>
            <a:chOff x="3792" y="1872"/>
            <a:chExt cx="1775" cy="1920"/>
          </a:xfrm>
        </p:grpSpPr>
        <p:sp>
          <p:nvSpPr>
            <p:cNvPr id="20" name="Line 17"/>
            <p:cNvSpPr>
              <a:spLocks noChangeShapeType="1"/>
            </p:cNvSpPr>
            <p:nvPr/>
          </p:nvSpPr>
          <p:spPr bwMode="auto">
            <a:xfrm flipH="1">
              <a:off x="4026" y="2112"/>
              <a:ext cx="775"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auto">
            <a:xfrm>
              <a:off x="5089" y="2064"/>
              <a:ext cx="384"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9"/>
            <p:cNvSpPr>
              <a:spLocks noChangeShapeType="1"/>
            </p:cNvSpPr>
            <p:nvPr/>
          </p:nvSpPr>
          <p:spPr bwMode="auto">
            <a:xfrm flipH="1">
              <a:off x="4074" y="2880"/>
              <a:ext cx="1255" cy="624"/>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20"/>
            <p:cNvSpPr>
              <a:spLocks noChangeArrowheads="1"/>
            </p:cNvSpPr>
            <p:nvPr/>
          </p:nvSpPr>
          <p:spPr bwMode="auto">
            <a:xfrm>
              <a:off x="4800" y="1872"/>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C</a:t>
              </a:r>
              <a:endParaRPr lang="en-US" altLang="zh-CN"/>
            </a:p>
          </p:txBody>
        </p:sp>
        <p:sp>
          <p:nvSpPr>
            <p:cNvPr id="24" name="Oval 21"/>
            <p:cNvSpPr>
              <a:spLocks noChangeArrowheads="1"/>
            </p:cNvSpPr>
            <p:nvPr/>
          </p:nvSpPr>
          <p:spPr bwMode="auto">
            <a:xfrm>
              <a:off x="5280" y="2640"/>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D</a:t>
              </a:r>
              <a:endParaRPr lang="en-US" altLang="zh-CN"/>
            </a:p>
          </p:txBody>
        </p:sp>
        <p:sp>
          <p:nvSpPr>
            <p:cNvPr id="25" name="Oval 22"/>
            <p:cNvSpPr>
              <a:spLocks noChangeArrowheads="1"/>
            </p:cNvSpPr>
            <p:nvPr/>
          </p:nvSpPr>
          <p:spPr bwMode="auto">
            <a:xfrm>
              <a:off x="3792" y="3456"/>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F</a:t>
              </a:r>
              <a:endParaRPr lang="en-US" altLang="zh-CN"/>
            </a:p>
          </p:txBody>
        </p:sp>
      </p:grpSp>
      <p:grpSp>
        <p:nvGrpSpPr>
          <p:cNvPr id="26" name="Group 23"/>
          <p:cNvGrpSpPr/>
          <p:nvPr/>
        </p:nvGrpSpPr>
        <p:grpSpPr bwMode="auto">
          <a:xfrm>
            <a:off x="4246245" y="2660015"/>
            <a:ext cx="2587625" cy="2233613"/>
            <a:chOff x="2402" y="1233"/>
            <a:chExt cx="1965" cy="1839"/>
          </a:xfrm>
        </p:grpSpPr>
        <p:sp>
          <p:nvSpPr>
            <p:cNvPr id="27" name="Oval 24"/>
            <p:cNvSpPr>
              <a:spLocks noChangeArrowheads="1"/>
            </p:cNvSpPr>
            <p:nvPr/>
          </p:nvSpPr>
          <p:spPr bwMode="auto">
            <a:xfrm>
              <a:off x="3026" y="1233"/>
              <a:ext cx="287" cy="351"/>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B</a:t>
              </a:r>
              <a:endParaRPr lang="en-US" altLang="zh-CN"/>
            </a:p>
          </p:txBody>
        </p:sp>
        <p:sp>
          <p:nvSpPr>
            <p:cNvPr id="28" name="Oval 25"/>
            <p:cNvSpPr>
              <a:spLocks noChangeArrowheads="1"/>
            </p:cNvSpPr>
            <p:nvPr/>
          </p:nvSpPr>
          <p:spPr bwMode="auto">
            <a:xfrm>
              <a:off x="2402" y="2016"/>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A</a:t>
              </a:r>
              <a:endParaRPr lang="en-US" altLang="zh-CN"/>
            </a:p>
          </p:txBody>
        </p:sp>
        <p:sp>
          <p:nvSpPr>
            <p:cNvPr id="29" name="Line 26"/>
            <p:cNvSpPr>
              <a:spLocks noChangeShapeType="1"/>
            </p:cNvSpPr>
            <p:nvPr/>
          </p:nvSpPr>
          <p:spPr bwMode="auto">
            <a:xfrm flipH="1">
              <a:off x="2545" y="1440"/>
              <a:ext cx="480"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7"/>
            <p:cNvSpPr>
              <a:spLocks noChangeShapeType="1"/>
            </p:cNvSpPr>
            <p:nvPr/>
          </p:nvSpPr>
          <p:spPr bwMode="auto">
            <a:xfrm>
              <a:off x="3314" y="1392"/>
              <a:ext cx="863" cy="1392"/>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p:cNvSpPr>
              <a:spLocks noChangeShapeType="1"/>
            </p:cNvSpPr>
            <p:nvPr/>
          </p:nvSpPr>
          <p:spPr bwMode="auto">
            <a:xfrm>
              <a:off x="2690" y="2208"/>
              <a:ext cx="1487" cy="576"/>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29"/>
            <p:cNvSpPr>
              <a:spLocks noChangeArrowheads="1"/>
            </p:cNvSpPr>
            <p:nvPr/>
          </p:nvSpPr>
          <p:spPr bwMode="auto">
            <a:xfrm>
              <a:off x="4080" y="2736"/>
              <a:ext cx="287" cy="336"/>
            </a:xfrm>
            <a:prstGeom prst="ellipse">
              <a:avLst/>
            </a:prstGeom>
            <a:solidFill>
              <a:schemeClr val="accent1">
                <a:alpha val="50000"/>
              </a:scheme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t>E</a:t>
              </a:r>
              <a:endParaRPr lang="en-US" altLang="zh-CN"/>
            </a:p>
          </p:txBody>
        </p:sp>
      </p:grpSp>
      <p:sp>
        <p:nvSpPr>
          <p:cNvPr id="33" name="页脚占位符 32"/>
          <p:cNvSpPr>
            <a:spLocks noGrp="1"/>
          </p:cNvSpPr>
          <p:nvPr>
            <p:ph type="ftr" sz="quarter" idx="10"/>
          </p:nvPr>
        </p:nvSpPr>
        <p:spPr/>
        <p:txBody>
          <a:bodyPr/>
          <a:lstStyle/>
          <a:p>
            <a:pPr>
              <a:defRPr/>
            </a:pPr>
            <a:r>
              <a:rPr lang="en-US" altLang="zh-CN"/>
              <a:t>©Haiyang Liu, 2025</a:t>
            </a:r>
            <a:endParaRPr lang="en-US" altLang="zh-CN" dirty="0"/>
          </a:p>
        </p:txBody>
      </p:sp>
      <p:sp>
        <p:nvSpPr>
          <p:cNvPr id="34" name="灯片编号占位符 33"/>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0-#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solidFill>
                  <a:srgbClr val="FF0000"/>
                </a:solidFill>
              </a:rPr>
              <a:t>Strongly Connected Graph and Weakly Connected Graph</a:t>
            </a:r>
            <a:endParaRPr lang="en-US" altLang="zh-CN" sz="3600" dirty="0">
              <a:solidFill>
                <a:srgbClr val="FF0000"/>
              </a:solidFill>
            </a:endParaRPr>
          </a:p>
        </p:txBody>
      </p:sp>
      <p:sp>
        <p:nvSpPr>
          <p:cNvPr id="3" name="内容占位符 2"/>
          <p:cNvSpPr>
            <a:spLocks noGrp="1"/>
          </p:cNvSpPr>
          <p:nvPr>
            <p:ph idx="1"/>
          </p:nvPr>
        </p:nvSpPr>
        <p:spPr>
          <a:xfrm>
            <a:off x="323850" y="1124745"/>
            <a:ext cx="8496300" cy="2428799"/>
          </a:xfrm>
        </p:spPr>
        <p:txBody>
          <a:bodyPr/>
          <a:lstStyle/>
          <a:p>
            <a:r>
              <a:rPr lang="zh-CN" altLang="en-US" sz="2000" dirty="0">
                <a:solidFill>
                  <a:srgbClr val="FF0000"/>
                </a:solidFill>
                <a:ea typeface="楷体_GB2312" pitchFamily="49" charset="-122"/>
                <a:cs typeface="Arial" panose="020B0604020202020204" pitchFamily="34" charset="0"/>
                <a:sym typeface="+mn-ea"/>
              </a:rPr>
              <a:t>For a directed graph, </a:t>
            </a:r>
            <a:r>
              <a:rPr lang="zh-CN" altLang="en-US" sz="2000" dirty="0">
                <a:solidFill>
                  <a:srgbClr val="000099"/>
                </a:solidFill>
                <a:ea typeface="楷体_GB2312" pitchFamily="49" charset="-122"/>
                <a:cs typeface="Arial" panose="020B0604020202020204" pitchFamily="34" charset="0"/>
                <a:sym typeface="+mn-ea"/>
              </a:rPr>
              <a:t>if there is a directed path between any two vertices, then the directed graph is called</a:t>
            </a:r>
            <a:r>
              <a:rPr lang="zh-CN" altLang="en-US" sz="2000" dirty="0">
                <a:solidFill>
                  <a:srgbClr val="FF0000"/>
                </a:solidFill>
                <a:ea typeface="楷体_GB2312" pitchFamily="49" charset="-122"/>
                <a:cs typeface="Arial" panose="020B0604020202020204" pitchFamily="34" charset="0"/>
                <a:sym typeface="+mn-ea"/>
              </a:rPr>
              <a:t> a strongly connected graph.</a:t>
            </a:r>
            <a:endParaRPr lang="en-US" altLang="zh-CN" sz="2000" dirty="0">
              <a:ea typeface="楷体_GB2312" pitchFamily="49" charset="-122"/>
              <a:cs typeface="Arial" panose="020B0604020202020204" pitchFamily="34" charset="0"/>
            </a:endParaRPr>
          </a:p>
          <a:p>
            <a:r>
              <a:rPr lang="zh-CN" altLang="en-US" sz="2000" dirty="0">
                <a:solidFill>
                  <a:srgbClr val="FF0000"/>
                </a:solidFill>
                <a:ea typeface="楷体_GB2312" pitchFamily="49" charset="-122"/>
                <a:cs typeface="Arial" panose="020B0604020202020204" pitchFamily="34" charset="0"/>
                <a:sym typeface="+mn-ea"/>
              </a:rPr>
              <a:t>For a directed graph, </a:t>
            </a:r>
            <a:r>
              <a:rPr lang="zh-CN" altLang="en-US" sz="2000" dirty="0">
                <a:solidFill>
                  <a:srgbClr val="000099"/>
                </a:solidFill>
                <a:ea typeface="楷体_GB2312" pitchFamily="49" charset="-122"/>
                <a:cs typeface="Arial" panose="020B0604020202020204" pitchFamily="34" charset="0"/>
                <a:sym typeface="+mn-ea"/>
              </a:rPr>
              <a:t>if there is an </a:t>
            </a:r>
            <a:r>
              <a:rPr lang="zh-CN" altLang="en-US" sz="2000" dirty="0">
                <a:solidFill>
                  <a:srgbClr val="660033"/>
                </a:solidFill>
                <a:ea typeface="楷体_GB2312" pitchFamily="49" charset="-122"/>
                <a:cs typeface="Arial" panose="020B0604020202020204" pitchFamily="34" charset="0"/>
                <a:sym typeface="+mn-ea"/>
              </a:rPr>
              <a:t>undirected path</a:t>
            </a:r>
            <a:r>
              <a:rPr lang="zh-CN" altLang="en-US" sz="2000" dirty="0">
                <a:solidFill>
                  <a:srgbClr val="000099"/>
                </a:solidFill>
                <a:ea typeface="楷体_GB2312" pitchFamily="49" charset="-122"/>
                <a:cs typeface="Arial" panose="020B0604020202020204" pitchFamily="34" charset="0"/>
                <a:sym typeface="+mn-ea"/>
              </a:rPr>
              <a:t> between any two vertices without considering the direction of the arc, then the directed graph</a:t>
            </a:r>
            <a:r>
              <a:rPr lang="zh-CN" altLang="en-US" sz="2000" dirty="0">
                <a:solidFill>
                  <a:srgbClr val="FF0000"/>
                </a:solidFill>
                <a:ea typeface="楷体_GB2312" pitchFamily="49" charset="-122"/>
                <a:cs typeface="Arial" panose="020B0604020202020204" pitchFamily="34" charset="0"/>
                <a:sym typeface="+mn-ea"/>
              </a:rPr>
              <a:t> is called a weakly connected graph.</a:t>
            </a:r>
            <a:endParaRPr lang="zh-CN" altLang="en-US" sz="2000" dirty="0">
              <a:solidFill>
                <a:srgbClr val="FF0000"/>
              </a:solidFill>
              <a:ea typeface="楷体_GB2312" pitchFamily="49" charset="-122"/>
              <a:cs typeface="Arial" panose="020B0604020202020204" pitchFamily="34" charset="0"/>
              <a:sym typeface="+mn-ea"/>
            </a:endParaRPr>
          </a:p>
        </p:txBody>
      </p:sp>
      <p:grpSp>
        <p:nvGrpSpPr>
          <p:cNvPr id="6" name="Group 3"/>
          <p:cNvGrpSpPr/>
          <p:nvPr/>
        </p:nvGrpSpPr>
        <p:grpSpPr bwMode="auto">
          <a:xfrm>
            <a:off x="857250" y="3998595"/>
            <a:ext cx="2992120" cy="1806575"/>
            <a:chOff x="384" y="1776"/>
            <a:chExt cx="2208" cy="1488"/>
          </a:xfrm>
        </p:grpSpPr>
        <p:sp>
          <p:nvSpPr>
            <p:cNvPr id="7" name="Line 4"/>
            <p:cNvSpPr>
              <a:spLocks noChangeShapeType="1"/>
            </p:cNvSpPr>
            <p:nvPr/>
          </p:nvSpPr>
          <p:spPr bwMode="auto">
            <a:xfrm flipH="1">
              <a:off x="528" y="1920"/>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5"/>
            <p:cNvSpPr>
              <a:spLocks noChangeShapeType="1"/>
            </p:cNvSpPr>
            <p:nvPr/>
          </p:nvSpPr>
          <p:spPr bwMode="auto">
            <a:xfrm>
              <a:off x="624" y="2640"/>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a:off x="1200" y="3072"/>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flipH="1" flipV="1">
              <a:off x="1584" y="2064"/>
              <a:ext cx="336" cy="864"/>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a:off x="1632" y="1920"/>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flipH="1" flipV="1">
              <a:off x="672" y="2496"/>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flipH="1">
              <a:off x="1056" y="2496"/>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1"/>
            <p:cNvSpPr>
              <a:spLocks noChangeArrowheads="1"/>
            </p:cNvSpPr>
            <p:nvPr/>
          </p:nvSpPr>
          <p:spPr bwMode="auto">
            <a:xfrm>
              <a:off x="1344" y="1776"/>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15" name="Oval 12"/>
            <p:cNvSpPr>
              <a:spLocks noChangeArrowheads="1"/>
            </p:cNvSpPr>
            <p:nvPr/>
          </p:nvSpPr>
          <p:spPr bwMode="auto">
            <a:xfrm>
              <a:off x="384" y="2352"/>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6" name="Oval 13"/>
            <p:cNvSpPr>
              <a:spLocks noChangeArrowheads="1"/>
            </p:cNvSpPr>
            <p:nvPr/>
          </p:nvSpPr>
          <p:spPr bwMode="auto">
            <a:xfrm>
              <a:off x="2304" y="2352"/>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7" name="Oval 14"/>
            <p:cNvSpPr>
              <a:spLocks noChangeArrowheads="1"/>
            </p:cNvSpPr>
            <p:nvPr/>
          </p:nvSpPr>
          <p:spPr bwMode="auto">
            <a:xfrm>
              <a:off x="912" y="292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8" name="Oval 15"/>
            <p:cNvSpPr>
              <a:spLocks noChangeArrowheads="1"/>
            </p:cNvSpPr>
            <p:nvPr/>
          </p:nvSpPr>
          <p:spPr bwMode="auto">
            <a:xfrm>
              <a:off x="1776" y="292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dirty="0">
                  <a:solidFill>
                    <a:srgbClr val="000066"/>
                  </a:solidFill>
                </a:rPr>
                <a:t>F</a:t>
              </a:r>
              <a:endParaRPr lang="en-US" altLang="zh-CN" dirty="0"/>
            </a:p>
          </p:txBody>
        </p:sp>
      </p:grpSp>
      <p:sp>
        <p:nvSpPr>
          <p:cNvPr id="19" name="Rectangle 29"/>
          <p:cNvSpPr>
            <a:spLocks noChangeArrowheads="1"/>
          </p:cNvSpPr>
          <p:nvPr/>
        </p:nvSpPr>
        <p:spPr bwMode="auto">
          <a:xfrm>
            <a:off x="847725" y="6006465"/>
            <a:ext cx="3076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a:ea typeface="楷体_GB2312" pitchFamily="49" charset="-122"/>
                <a:sym typeface="+mn-ea"/>
              </a:rPr>
              <a:t>strongly </a:t>
            </a:r>
            <a:r>
              <a:rPr lang="zh-CN" altLang="en-US" sz="1800" b="1">
                <a:ea typeface="楷体_GB2312" pitchFamily="49" charset="-122"/>
                <a:sym typeface="+mn-ea"/>
              </a:rPr>
              <a:t>connected graph</a:t>
            </a:r>
            <a:endParaRPr lang="zh-CN" altLang="en-US" sz="1800" b="1">
              <a:ea typeface="楷体_GB2312" pitchFamily="49" charset="-122"/>
              <a:sym typeface="+mn-ea"/>
            </a:endParaRPr>
          </a:p>
        </p:txBody>
      </p:sp>
      <p:grpSp>
        <p:nvGrpSpPr>
          <p:cNvPr id="20" name="Group 16"/>
          <p:cNvGrpSpPr/>
          <p:nvPr/>
        </p:nvGrpSpPr>
        <p:grpSpPr bwMode="auto">
          <a:xfrm>
            <a:off x="4867275" y="4116705"/>
            <a:ext cx="2914015" cy="1688465"/>
            <a:chOff x="3216" y="1776"/>
            <a:chExt cx="2208" cy="1488"/>
          </a:xfrm>
        </p:grpSpPr>
        <p:sp>
          <p:nvSpPr>
            <p:cNvPr id="21" name="Line 17"/>
            <p:cNvSpPr>
              <a:spLocks noChangeShapeType="1"/>
            </p:cNvSpPr>
            <p:nvPr/>
          </p:nvSpPr>
          <p:spPr bwMode="auto">
            <a:xfrm flipH="1">
              <a:off x="3360" y="1920"/>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8"/>
            <p:cNvSpPr>
              <a:spLocks noChangeShapeType="1"/>
            </p:cNvSpPr>
            <p:nvPr/>
          </p:nvSpPr>
          <p:spPr bwMode="auto">
            <a:xfrm>
              <a:off x="3456" y="2640"/>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p:cNvSpPr>
              <a:spLocks noChangeShapeType="1"/>
            </p:cNvSpPr>
            <p:nvPr/>
          </p:nvSpPr>
          <p:spPr bwMode="auto">
            <a:xfrm>
              <a:off x="4032" y="3072"/>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0"/>
            <p:cNvSpPr>
              <a:spLocks noChangeShapeType="1"/>
            </p:cNvSpPr>
            <p:nvPr/>
          </p:nvSpPr>
          <p:spPr bwMode="auto">
            <a:xfrm>
              <a:off x="4464" y="1920"/>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1"/>
            <p:cNvSpPr>
              <a:spLocks noChangeShapeType="1"/>
            </p:cNvSpPr>
            <p:nvPr/>
          </p:nvSpPr>
          <p:spPr bwMode="auto">
            <a:xfrm flipH="1" flipV="1">
              <a:off x="3504" y="2496"/>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2"/>
            <p:cNvSpPr>
              <a:spLocks noChangeShapeType="1"/>
            </p:cNvSpPr>
            <p:nvPr/>
          </p:nvSpPr>
          <p:spPr bwMode="auto">
            <a:xfrm flipH="1">
              <a:off x="3888" y="2496"/>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3"/>
            <p:cNvSpPr>
              <a:spLocks noChangeArrowheads="1"/>
            </p:cNvSpPr>
            <p:nvPr/>
          </p:nvSpPr>
          <p:spPr bwMode="auto">
            <a:xfrm>
              <a:off x="4176" y="1776"/>
              <a:ext cx="288" cy="336"/>
            </a:xfrm>
            <a:prstGeom prst="ellipse">
              <a:avLst/>
            </a:prstGeom>
            <a:solidFill>
              <a:srgbClr val="FF99CC">
                <a:alpha val="50000"/>
              </a:srgbClr>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28" name="Oval 24"/>
            <p:cNvSpPr>
              <a:spLocks noChangeArrowheads="1"/>
            </p:cNvSpPr>
            <p:nvPr/>
          </p:nvSpPr>
          <p:spPr bwMode="auto">
            <a:xfrm>
              <a:off x="3216" y="2352"/>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29" name="Oval 25"/>
            <p:cNvSpPr>
              <a:spLocks noChangeArrowheads="1"/>
            </p:cNvSpPr>
            <p:nvPr/>
          </p:nvSpPr>
          <p:spPr bwMode="auto">
            <a:xfrm>
              <a:off x="5136" y="2352"/>
              <a:ext cx="288" cy="336"/>
            </a:xfrm>
            <a:prstGeom prst="ellipse">
              <a:avLst/>
            </a:prstGeom>
            <a:solidFill>
              <a:schemeClr val="accent2">
                <a:alpha val="50000"/>
              </a:schemeClr>
            </a:solidFill>
            <a:ln w="254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30" name="Oval 26"/>
            <p:cNvSpPr>
              <a:spLocks noChangeArrowheads="1"/>
            </p:cNvSpPr>
            <p:nvPr/>
          </p:nvSpPr>
          <p:spPr bwMode="auto">
            <a:xfrm>
              <a:off x="3744" y="292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dirty="0">
                  <a:solidFill>
                    <a:srgbClr val="000066"/>
                  </a:solidFill>
                </a:rPr>
                <a:t>C</a:t>
              </a:r>
              <a:endParaRPr lang="en-US" altLang="zh-CN" dirty="0"/>
            </a:p>
          </p:txBody>
        </p:sp>
        <p:sp>
          <p:nvSpPr>
            <p:cNvPr id="31" name="Oval 27"/>
            <p:cNvSpPr>
              <a:spLocks noChangeArrowheads="1"/>
            </p:cNvSpPr>
            <p:nvPr/>
          </p:nvSpPr>
          <p:spPr bwMode="auto">
            <a:xfrm>
              <a:off x="4608" y="2928"/>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grpSp>
      <p:sp>
        <p:nvSpPr>
          <p:cNvPr id="32" name="Rectangle 29"/>
          <p:cNvSpPr>
            <a:spLocks noChangeArrowheads="1"/>
          </p:cNvSpPr>
          <p:nvPr/>
        </p:nvSpPr>
        <p:spPr bwMode="auto">
          <a:xfrm>
            <a:off x="5057775" y="5877560"/>
            <a:ext cx="28352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ea typeface="楷体_GB2312" pitchFamily="49" charset="-122"/>
                <a:sym typeface="+mn-ea"/>
              </a:rPr>
              <a:t>weakly connected graph</a:t>
            </a:r>
            <a:endParaRPr lang="zh-CN" altLang="en-US" sz="1800" b="1" dirty="0">
              <a:ea typeface="楷体_GB2312" pitchFamily="49" charset="-122"/>
              <a:sym typeface="+mn-ea"/>
            </a:endParaRPr>
          </a:p>
        </p:txBody>
      </p:sp>
      <p:sp>
        <p:nvSpPr>
          <p:cNvPr id="33" name="页脚占位符 32"/>
          <p:cNvSpPr>
            <a:spLocks noGrp="1"/>
          </p:cNvSpPr>
          <p:nvPr>
            <p:ph type="ftr" sz="quarter" idx="10"/>
          </p:nvPr>
        </p:nvSpPr>
        <p:spPr/>
        <p:txBody>
          <a:bodyPr/>
          <a:lstStyle/>
          <a:p>
            <a:pPr>
              <a:defRPr/>
            </a:pPr>
            <a:r>
              <a:rPr lang="en-US" altLang="zh-CN"/>
              <a:t>©Haiyang Liu, 2025</a:t>
            </a:r>
            <a:endParaRPr lang="en-US" altLang="zh-CN" dirty="0"/>
          </a:p>
        </p:txBody>
      </p:sp>
      <p:sp>
        <p:nvSpPr>
          <p:cNvPr id="34" name="灯片编号占位符 33"/>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0-#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0-#ppt_w/2"/>
                                          </p:val>
                                        </p:tav>
                                        <p:tav tm="100000">
                                          <p:val>
                                            <p:strVal val="#ppt_x"/>
                                          </p:val>
                                        </p:tav>
                                      </p:tavLst>
                                    </p:anim>
                                    <p:anim calcmode="lin" valueType="num">
                                      <p:cBhvr additive="base">
                                        <p:cTn id="20"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0-#ppt_w/2"/>
                                          </p:val>
                                        </p:tav>
                                        <p:tav tm="100000">
                                          <p:val>
                                            <p:strVal val="#ppt_x"/>
                                          </p:val>
                                        </p:tav>
                                      </p:tavLst>
                                    </p:anim>
                                    <p:anim calcmode="lin" valueType="num">
                                      <p:cBhvr additive="base">
                                        <p:cTn id="26"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autoUpdateAnimBg="0"/>
      <p:bldP spid="32"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460" y="188595"/>
            <a:ext cx="7571105" cy="720090"/>
          </a:xfrm>
        </p:spPr>
        <p:txBody>
          <a:bodyPr/>
          <a:lstStyle/>
          <a:p>
            <a:r>
              <a:rPr lang="en-US" altLang="zh-CN" sz="3600" dirty="0"/>
              <a:t>Strongly Connected Components</a:t>
            </a:r>
            <a:endParaRPr lang="en-US" altLang="zh-CN" sz="3600" dirty="0"/>
          </a:p>
        </p:txBody>
      </p:sp>
      <p:sp>
        <p:nvSpPr>
          <p:cNvPr id="3" name="内容占位符 2"/>
          <p:cNvSpPr>
            <a:spLocks noGrp="1"/>
          </p:cNvSpPr>
          <p:nvPr>
            <p:ph idx="1"/>
          </p:nvPr>
        </p:nvSpPr>
        <p:spPr>
          <a:xfrm>
            <a:off x="323850" y="1124745"/>
            <a:ext cx="8496300" cy="2376264"/>
          </a:xfrm>
        </p:spPr>
        <p:txBody>
          <a:bodyPr/>
          <a:lstStyle/>
          <a:p>
            <a:pPr>
              <a:lnSpc>
                <a:spcPts val="4200"/>
              </a:lnSpc>
            </a:pPr>
            <a:r>
              <a:rPr lang="zh-CN" altLang="en-US" sz="2400" dirty="0">
                <a:solidFill>
                  <a:srgbClr val="FF0000"/>
                </a:solidFill>
                <a:ea typeface="楷体_GB2312" pitchFamily="49" charset="-122"/>
                <a:cs typeface="Arial" panose="020B0604020202020204" pitchFamily="34" charset="0"/>
                <a:sym typeface="+mn-ea"/>
              </a:rPr>
              <a:t>For a directed graph, </a:t>
            </a:r>
            <a:r>
              <a:rPr lang="zh-CN" altLang="en-US" sz="2400" dirty="0">
                <a:solidFill>
                  <a:srgbClr val="000099"/>
                </a:solidFill>
                <a:ea typeface="楷体_GB2312" pitchFamily="49" charset="-122"/>
                <a:cs typeface="Arial" panose="020B0604020202020204" pitchFamily="34" charset="0"/>
                <a:sym typeface="+mn-ea"/>
              </a:rPr>
              <a:t>if there is a directed path between any two vertices, then the directed graph is</a:t>
            </a:r>
            <a:r>
              <a:rPr lang="zh-CN" altLang="en-US" sz="2400" dirty="0">
                <a:solidFill>
                  <a:srgbClr val="FF0000"/>
                </a:solidFill>
                <a:ea typeface="楷体_GB2312" pitchFamily="49" charset="-122"/>
                <a:cs typeface="Arial" panose="020B0604020202020204" pitchFamily="34" charset="0"/>
                <a:sym typeface="+mn-ea"/>
              </a:rPr>
              <a:t> strongly connected.</a:t>
            </a:r>
            <a:endParaRPr lang="en-US" altLang="zh-CN" sz="2400" dirty="0">
              <a:ea typeface="楷体_GB2312" pitchFamily="49" charset="-122"/>
              <a:cs typeface="Arial" panose="020B0604020202020204" pitchFamily="34" charset="0"/>
            </a:endParaRPr>
          </a:p>
          <a:p>
            <a:pPr>
              <a:lnSpc>
                <a:spcPts val="4200"/>
              </a:lnSpc>
            </a:pPr>
            <a:r>
              <a:rPr lang="zh-CN" altLang="en-US" sz="2400" dirty="0">
                <a:solidFill>
                  <a:srgbClr val="000099"/>
                </a:solidFill>
                <a:ea typeface="楷体_GB2312" pitchFamily="49" charset="-122"/>
                <a:cs typeface="Arial" panose="020B0604020202020204" pitchFamily="34" charset="0"/>
                <a:sym typeface="+mn-ea"/>
              </a:rPr>
              <a:t>Otherwise, its strongly connected subgraphs are called strongly connected components.</a:t>
            </a:r>
            <a:endParaRPr lang="zh-CN" altLang="en-US" sz="2400" dirty="0">
              <a:solidFill>
                <a:srgbClr val="000099"/>
              </a:solidFill>
              <a:ea typeface="楷体_GB2312" pitchFamily="49" charset="-122"/>
              <a:cs typeface="Arial" panose="020B0604020202020204" pitchFamily="34" charset="0"/>
              <a:sym typeface="+mn-ea"/>
            </a:endParaRPr>
          </a:p>
        </p:txBody>
      </p:sp>
      <p:grpSp>
        <p:nvGrpSpPr>
          <p:cNvPr id="6" name="Group 2"/>
          <p:cNvGrpSpPr/>
          <p:nvPr/>
        </p:nvGrpSpPr>
        <p:grpSpPr bwMode="auto">
          <a:xfrm>
            <a:off x="609600" y="3884295"/>
            <a:ext cx="3505200" cy="2209165"/>
            <a:chOff x="384" y="1488"/>
            <a:chExt cx="2208" cy="1488"/>
          </a:xfrm>
        </p:grpSpPr>
        <p:sp>
          <p:nvSpPr>
            <p:cNvPr id="7" name="Line 3"/>
            <p:cNvSpPr>
              <a:spLocks noChangeShapeType="1"/>
            </p:cNvSpPr>
            <p:nvPr/>
          </p:nvSpPr>
          <p:spPr bwMode="auto">
            <a:xfrm flipH="1">
              <a:off x="528" y="1632"/>
              <a:ext cx="816"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4"/>
            <p:cNvSpPr>
              <a:spLocks noChangeShapeType="1"/>
            </p:cNvSpPr>
            <p:nvPr/>
          </p:nvSpPr>
          <p:spPr bwMode="auto">
            <a:xfrm>
              <a:off x="624" y="2352"/>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5"/>
            <p:cNvSpPr>
              <a:spLocks noChangeShapeType="1"/>
            </p:cNvSpPr>
            <p:nvPr/>
          </p:nvSpPr>
          <p:spPr bwMode="auto">
            <a:xfrm>
              <a:off x="1200" y="2784"/>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6"/>
            <p:cNvSpPr>
              <a:spLocks noChangeShapeType="1"/>
            </p:cNvSpPr>
            <p:nvPr/>
          </p:nvSpPr>
          <p:spPr bwMode="auto">
            <a:xfrm>
              <a:off x="1632" y="1632"/>
              <a:ext cx="76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7"/>
            <p:cNvSpPr>
              <a:spLocks noChangeShapeType="1"/>
            </p:cNvSpPr>
            <p:nvPr/>
          </p:nvSpPr>
          <p:spPr bwMode="auto">
            <a:xfrm flipH="1" flipV="1">
              <a:off x="672" y="2208"/>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p:cNvSpPr>
              <a:spLocks noChangeShapeType="1"/>
            </p:cNvSpPr>
            <p:nvPr/>
          </p:nvSpPr>
          <p:spPr bwMode="auto">
            <a:xfrm flipH="1">
              <a:off x="1056" y="2208"/>
              <a:ext cx="124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9"/>
            <p:cNvSpPr>
              <a:spLocks noChangeArrowheads="1"/>
            </p:cNvSpPr>
            <p:nvPr/>
          </p:nvSpPr>
          <p:spPr bwMode="auto">
            <a:xfrm>
              <a:off x="1344" y="1488"/>
              <a:ext cx="288" cy="336"/>
            </a:xfrm>
            <a:prstGeom prst="ellipse">
              <a:avLst/>
            </a:prstGeom>
            <a:solidFill>
              <a:srgbClr val="FF99CC">
                <a:alpha val="50000"/>
              </a:srgbClr>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4" name="Oval 10"/>
            <p:cNvSpPr>
              <a:spLocks noChangeArrowheads="1"/>
            </p:cNvSpPr>
            <p:nvPr/>
          </p:nvSpPr>
          <p:spPr bwMode="auto">
            <a:xfrm>
              <a:off x="384" y="2064"/>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15" name="Oval 11"/>
            <p:cNvSpPr>
              <a:spLocks noChangeArrowheads="1"/>
            </p:cNvSpPr>
            <p:nvPr/>
          </p:nvSpPr>
          <p:spPr bwMode="auto">
            <a:xfrm>
              <a:off x="2304" y="2064"/>
              <a:ext cx="288" cy="336"/>
            </a:xfrm>
            <a:prstGeom prst="ellipse">
              <a:avLst/>
            </a:prstGeom>
            <a:solidFill>
              <a:schemeClr val="accent2">
                <a:alpha val="50000"/>
              </a:schemeClr>
            </a:solidFill>
            <a:ln w="254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6" name="Oval 12"/>
            <p:cNvSpPr>
              <a:spLocks noChangeArrowheads="1"/>
            </p:cNvSpPr>
            <p:nvPr/>
          </p:nvSpPr>
          <p:spPr bwMode="auto">
            <a:xfrm>
              <a:off x="912" y="26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7" name="Oval 13"/>
            <p:cNvSpPr>
              <a:spLocks noChangeArrowheads="1"/>
            </p:cNvSpPr>
            <p:nvPr/>
          </p:nvSpPr>
          <p:spPr bwMode="auto">
            <a:xfrm>
              <a:off x="1776" y="2640"/>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grpSp>
      <p:grpSp>
        <p:nvGrpSpPr>
          <p:cNvPr id="18" name="Group 15"/>
          <p:cNvGrpSpPr/>
          <p:nvPr/>
        </p:nvGrpSpPr>
        <p:grpSpPr bwMode="auto">
          <a:xfrm>
            <a:off x="5004048" y="3429000"/>
            <a:ext cx="3276600" cy="2687638"/>
            <a:chOff x="3264" y="1968"/>
            <a:chExt cx="2064" cy="1693"/>
          </a:xfrm>
        </p:grpSpPr>
        <p:sp>
          <p:nvSpPr>
            <p:cNvPr id="19" name="Line 16"/>
            <p:cNvSpPr>
              <a:spLocks noChangeShapeType="1"/>
            </p:cNvSpPr>
            <p:nvPr/>
          </p:nvSpPr>
          <p:spPr bwMode="auto">
            <a:xfrm>
              <a:off x="3504" y="3037"/>
              <a:ext cx="288" cy="432"/>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7"/>
            <p:cNvSpPr>
              <a:spLocks noChangeShapeType="1"/>
            </p:cNvSpPr>
            <p:nvPr/>
          </p:nvSpPr>
          <p:spPr bwMode="auto">
            <a:xfrm>
              <a:off x="4080" y="3469"/>
              <a:ext cx="576" cy="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auto">
            <a:xfrm flipH="1" flipV="1">
              <a:off x="3552" y="2893"/>
              <a:ext cx="1104" cy="480"/>
            </a:xfrm>
            <a:prstGeom prst="line">
              <a:avLst/>
            </a:prstGeom>
            <a:noFill/>
            <a:ln w="25400" cap="sq">
              <a:solidFill>
                <a:srgbClr val="000066"/>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19"/>
            <p:cNvSpPr>
              <a:spLocks noChangeArrowheads="1"/>
            </p:cNvSpPr>
            <p:nvPr/>
          </p:nvSpPr>
          <p:spPr bwMode="auto">
            <a:xfrm>
              <a:off x="3264" y="2749"/>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23" name="Oval 20"/>
            <p:cNvSpPr>
              <a:spLocks noChangeArrowheads="1"/>
            </p:cNvSpPr>
            <p:nvPr/>
          </p:nvSpPr>
          <p:spPr bwMode="auto">
            <a:xfrm>
              <a:off x="3792" y="3325"/>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24" name="Oval 21"/>
            <p:cNvSpPr>
              <a:spLocks noChangeArrowheads="1"/>
            </p:cNvSpPr>
            <p:nvPr/>
          </p:nvSpPr>
          <p:spPr bwMode="auto">
            <a:xfrm>
              <a:off x="4656" y="3325"/>
              <a:ext cx="288" cy="336"/>
            </a:xfrm>
            <a:prstGeom prst="ellipse">
              <a:avLst/>
            </a:prstGeom>
            <a:solidFill>
              <a:srgbClr val="A7E2FF">
                <a:alpha val="50000"/>
              </a:srgbClr>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25" name="Oval 22"/>
            <p:cNvSpPr>
              <a:spLocks noChangeArrowheads="1"/>
            </p:cNvSpPr>
            <p:nvPr/>
          </p:nvSpPr>
          <p:spPr bwMode="auto">
            <a:xfrm>
              <a:off x="4128" y="1968"/>
              <a:ext cx="288" cy="336"/>
            </a:xfrm>
            <a:prstGeom prst="ellipse">
              <a:avLst/>
            </a:prstGeom>
            <a:solidFill>
              <a:srgbClr val="FF99CC">
                <a:alpha val="50000"/>
              </a:srgbClr>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26" name="Oval 23"/>
            <p:cNvSpPr>
              <a:spLocks noChangeArrowheads="1"/>
            </p:cNvSpPr>
            <p:nvPr/>
          </p:nvSpPr>
          <p:spPr bwMode="auto">
            <a:xfrm>
              <a:off x="5040" y="2544"/>
              <a:ext cx="288" cy="336"/>
            </a:xfrm>
            <a:prstGeom prst="ellipse">
              <a:avLst/>
            </a:prstGeom>
            <a:solidFill>
              <a:schemeClr val="accent2">
                <a:alpha val="50000"/>
              </a:schemeClr>
            </a:solidFill>
            <a:ln w="254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grpSp>
      <p:sp>
        <p:nvSpPr>
          <p:cNvPr id="27" name="页脚占位符 26"/>
          <p:cNvSpPr>
            <a:spLocks noGrp="1"/>
          </p:cNvSpPr>
          <p:nvPr>
            <p:ph type="ftr" sz="quarter" idx="10"/>
          </p:nvPr>
        </p:nvSpPr>
        <p:spPr/>
        <p:txBody>
          <a:bodyPr/>
          <a:lstStyle/>
          <a:p>
            <a:pPr>
              <a:defRPr/>
            </a:pPr>
            <a:r>
              <a:rPr lang="en-US" altLang="zh-CN"/>
              <a:t>©Haiyang Liu, 2025</a:t>
            </a:r>
            <a:endParaRPr lang="en-US" altLang="zh-CN" dirty="0"/>
          </a:p>
        </p:txBody>
      </p:sp>
      <p:sp>
        <p:nvSpPr>
          <p:cNvPr id="28" name="灯片编号占位符 27"/>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0-#ppt_w/2"/>
                                          </p:val>
                                        </p:tav>
                                        <p:tav tm="100000">
                                          <p:val>
                                            <p:strVal val="#ppt_x"/>
                                          </p:val>
                                        </p:tav>
                                      </p:tavLst>
                                    </p:anim>
                                    <p:anim calcmode="lin" valueType="num">
                                      <p:cBhvr additive="base">
                                        <p:cTn id="1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Spanning Tree of a Connected Graph</a:t>
            </a:r>
            <a:endParaRPr lang="en-US" altLang="zh-CN" sz="3600" dirty="0"/>
          </a:p>
        </p:txBody>
      </p:sp>
      <p:sp>
        <p:nvSpPr>
          <p:cNvPr id="3" name="内容占位符 2"/>
          <p:cNvSpPr>
            <a:spLocks noGrp="1"/>
          </p:cNvSpPr>
          <p:nvPr>
            <p:ph idx="1"/>
          </p:nvPr>
        </p:nvSpPr>
        <p:spPr/>
        <p:txBody>
          <a:bodyPr/>
          <a:lstStyle/>
          <a:p>
            <a:r>
              <a:rPr lang="zh-CN" altLang="en-US" sz="2400" dirty="0">
                <a:solidFill>
                  <a:srgbClr val="000099"/>
                </a:solidFill>
                <a:ea typeface="楷体_GB2312" pitchFamily="49" charset="-122"/>
                <a:cs typeface="Arial" panose="020B0604020202020204" pitchFamily="34" charset="0"/>
              </a:rPr>
              <a:t>Suppose a connected graph has n vertices and e edges. A minimal connected subgraph consisting of n-1edges and n vertices is called a spanning tree of this </a:t>
            </a:r>
            <a:r>
              <a:rPr lang="en-US" altLang="zh-CN" sz="2400" dirty="0">
                <a:solidFill>
                  <a:srgbClr val="FF0000"/>
                </a:solidFill>
                <a:cs typeface="Arial" panose="020B0604020202020204" pitchFamily="34" charset="0"/>
              </a:rPr>
              <a:t>connected graph.</a:t>
            </a:r>
            <a:endParaRPr lang="en-US" altLang="zh-CN" sz="2400" dirty="0">
              <a:solidFill>
                <a:srgbClr val="FF0000"/>
              </a:solidFill>
              <a:cs typeface="Arial" panose="020B0604020202020204" pitchFamily="34" charset="0"/>
            </a:endParaRPr>
          </a:p>
        </p:txBody>
      </p:sp>
      <p:grpSp>
        <p:nvGrpSpPr>
          <p:cNvPr id="6" name="Group 3"/>
          <p:cNvGrpSpPr/>
          <p:nvPr/>
        </p:nvGrpSpPr>
        <p:grpSpPr bwMode="auto">
          <a:xfrm>
            <a:off x="684213" y="2694136"/>
            <a:ext cx="3805237" cy="3048000"/>
            <a:chOff x="432" y="1680"/>
            <a:chExt cx="2397" cy="1920"/>
          </a:xfrm>
        </p:grpSpPr>
        <p:sp>
          <p:nvSpPr>
            <p:cNvPr id="7" name="Oval 4"/>
            <p:cNvSpPr>
              <a:spLocks noChangeArrowheads="1"/>
            </p:cNvSpPr>
            <p:nvPr/>
          </p:nvSpPr>
          <p:spPr bwMode="auto">
            <a:xfrm>
              <a:off x="1056" y="1713"/>
              <a:ext cx="287" cy="351"/>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8" name="Oval 5"/>
            <p:cNvSpPr>
              <a:spLocks noChangeArrowheads="1"/>
            </p:cNvSpPr>
            <p:nvPr/>
          </p:nvSpPr>
          <p:spPr bwMode="auto">
            <a:xfrm>
              <a:off x="432" y="2496"/>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9" name="Line 6"/>
            <p:cNvSpPr>
              <a:spLocks noChangeShapeType="1"/>
            </p:cNvSpPr>
            <p:nvPr/>
          </p:nvSpPr>
          <p:spPr bwMode="auto">
            <a:xfrm flipH="1">
              <a:off x="575" y="1920"/>
              <a:ext cx="480" cy="576"/>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a:off x="1344" y="1872"/>
              <a:ext cx="863" cy="1392"/>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a:off x="720" y="2688"/>
              <a:ext cx="1487" cy="576"/>
            </a:xfrm>
            <a:prstGeom prst="line">
              <a:avLst/>
            </a:prstGeom>
            <a:noFill/>
            <a:ln w="19050"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flipH="1">
              <a:off x="1288" y="1920"/>
              <a:ext cx="775" cy="1392"/>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a:off x="2351" y="1872"/>
              <a:ext cx="384" cy="624"/>
            </a:xfrm>
            <a:prstGeom prst="line">
              <a:avLst/>
            </a:prstGeom>
            <a:noFill/>
            <a:ln w="19050" cap="sq">
              <a:solidFill>
                <a:srgbClr val="00006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H="1">
              <a:off x="1336" y="2688"/>
              <a:ext cx="1255" cy="624"/>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auto">
            <a:xfrm flipH="1">
              <a:off x="1199" y="2049"/>
              <a:ext cx="1" cy="1215"/>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3"/>
            <p:cNvSpPr>
              <a:spLocks noChangeArrowheads="1"/>
            </p:cNvSpPr>
            <p:nvPr/>
          </p:nvSpPr>
          <p:spPr bwMode="auto">
            <a:xfrm>
              <a:off x="2062" y="1680"/>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7" name="Oval 14"/>
            <p:cNvSpPr>
              <a:spLocks noChangeArrowheads="1"/>
            </p:cNvSpPr>
            <p:nvPr/>
          </p:nvSpPr>
          <p:spPr bwMode="auto">
            <a:xfrm>
              <a:off x="2542" y="2448"/>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D</a:t>
              </a:r>
              <a:endParaRPr lang="en-US" altLang="zh-CN"/>
            </a:p>
          </p:txBody>
        </p:sp>
        <p:sp>
          <p:nvSpPr>
            <p:cNvPr id="18" name="Oval 15"/>
            <p:cNvSpPr>
              <a:spLocks noChangeArrowheads="1"/>
            </p:cNvSpPr>
            <p:nvPr/>
          </p:nvSpPr>
          <p:spPr bwMode="auto">
            <a:xfrm>
              <a:off x="1054" y="3264"/>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19" name="Oval 16"/>
            <p:cNvSpPr>
              <a:spLocks noChangeArrowheads="1"/>
            </p:cNvSpPr>
            <p:nvPr/>
          </p:nvSpPr>
          <p:spPr bwMode="auto">
            <a:xfrm>
              <a:off x="2110" y="3216"/>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grpSp>
      <p:sp>
        <p:nvSpPr>
          <p:cNvPr id="20" name="Rectangle 29"/>
          <p:cNvSpPr>
            <a:spLocks noChangeArrowheads="1"/>
          </p:cNvSpPr>
          <p:nvPr/>
        </p:nvSpPr>
        <p:spPr bwMode="auto">
          <a:xfrm>
            <a:off x="1043940" y="5877074"/>
            <a:ext cx="287845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楷体_GB2312" pitchFamily="49" charset="-122"/>
                <a:ea typeface="楷体_GB2312" pitchFamily="49" charset="-122"/>
                <a:sym typeface="+mn-ea"/>
              </a:rPr>
              <a:t>C</a:t>
            </a:r>
            <a:r>
              <a:rPr lang="zh-CN" altLang="en-US" b="1">
                <a:solidFill>
                  <a:srgbClr val="000099"/>
                </a:solidFill>
                <a:latin typeface="楷体_GB2312" pitchFamily="49" charset="-122"/>
                <a:ea typeface="楷体_GB2312" pitchFamily="49" charset="-122"/>
                <a:sym typeface="+mn-ea"/>
              </a:rPr>
              <a:t>onnected </a:t>
            </a:r>
            <a:r>
              <a:rPr lang="en-US" altLang="zh-CN" b="1">
                <a:solidFill>
                  <a:srgbClr val="000099"/>
                </a:solidFill>
                <a:latin typeface="楷体_GB2312" pitchFamily="49" charset="-122"/>
                <a:ea typeface="楷体_GB2312" pitchFamily="49" charset="-122"/>
                <a:sym typeface="+mn-ea"/>
              </a:rPr>
              <a:t>G</a:t>
            </a:r>
            <a:r>
              <a:rPr lang="zh-CN" altLang="en-US" b="1">
                <a:solidFill>
                  <a:srgbClr val="000099"/>
                </a:solidFill>
                <a:latin typeface="楷体_GB2312" pitchFamily="49" charset="-122"/>
                <a:ea typeface="楷体_GB2312" pitchFamily="49" charset="-122"/>
                <a:sym typeface="+mn-ea"/>
              </a:rPr>
              <a:t>raph</a:t>
            </a:r>
            <a:endParaRPr lang="zh-CN" altLang="en-US" sz="2800" b="1">
              <a:solidFill>
                <a:srgbClr val="000099"/>
              </a:solidFill>
              <a:latin typeface="楷体_GB2312" pitchFamily="49" charset="-122"/>
              <a:ea typeface="楷体_GB2312" pitchFamily="49" charset="-122"/>
            </a:endParaRPr>
          </a:p>
        </p:txBody>
      </p:sp>
      <p:grpSp>
        <p:nvGrpSpPr>
          <p:cNvPr id="21" name="Group 17"/>
          <p:cNvGrpSpPr/>
          <p:nvPr/>
        </p:nvGrpSpPr>
        <p:grpSpPr bwMode="auto">
          <a:xfrm>
            <a:off x="4860032" y="2622128"/>
            <a:ext cx="3805237" cy="3048000"/>
            <a:chOff x="3026" y="1632"/>
            <a:chExt cx="2397" cy="1920"/>
          </a:xfrm>
        </p:grpSpPr>
        <p:sp>
          <p:nvSpPr>
            <p:cNvPr id="22" name="Oval 18"/>
            <p:cNvSpPr>
              <a:spLocks noChangeArrowheads="1"/>
            </p:cNvSpPr>
            <p:nvPr/>
          </p:nvSpPr>
          <p:spPr bwMode="auto">
            <a:xfrm>
              <a:off x="3650" y="1665"/>
              <a:ext cx="287" cy="351"/>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23" name="Oval 19"/>
            <p:cNvSpPr>
              <a:spLocks noChangeArrowheads="1"/>
            </p:cNvSpPr>
            <p:nvPr/>
          </p:nvSpPr>
          <p:spPr bwMode="auto">
            <a:xfrm>
              <a:off x="3026" y="2448"/>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24" name="Line 20"/>
            <p:cNvSpPr>
              <a:spLocks noChangeShapeType="1"/>
            </p:cNvSpPr>
            <p:nvPr/>
          </p:nvSpPr>
          <p:spPr bwMode="auto">
            <a:xfrm flipH="1">
              <a:off x="3169" y="1872"/>
              <a:ext cx="480" cy="576"/>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1"/>
            <p:cNvSpPr>
              <a:spLocks noChangeShapeType="1"/>
            </p:cNvSpPr>
            <p:nvPr/>
          </p:nvSpPr>
          <p:spPr bwMode="auto">
            <a:xfrm>
              <a:off x="3938" y="1824"/>
              <a:ext cx="863" cy="1392"/>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2"/>
            <p:cNvSpPr>
              <a:spLocks noChangeShapeType="1"/>
            </p:cNvSpPr>
            <p:nvPr/>
          </p:nvSpPr>
          <p:spPr bwMode="auto">
            <a:xfrm flipH="1">
              <a:off x="3882" y="1872"/>
              <a:ext cx="775" cy="1392"/>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3"/>
            <p:cNvSpPr>
              <a:spLocks noChangeShapeType="1"/>
            </p:cNvSpPr>
            <p:nvPr/>
          </p:nvSpPr>
          <p:spPr bwMode="auto">
            <a:xfrm flipH="1">
              <a:off x="3930" y="2640"/>
              <a:ext cx="1255" cy="624"/>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4"/>
            <p:cNvSpPr>
              <a:spLocks noChangeShapeType="1"/>
            </p:cNvSpPr>
            <p:nvPr/>
          </p:nvSpPr>
          <p:spPr bwMode="auto">
            <a:xfrm flipH="1">
              <a:off x="3793" y="2001"/>
              <a:ext cx="1" cy="1215"/>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Oval 25"/>
            <p:cNvSpPr>
              <a:spLocks noChangeArrowheads="1"/>
            </p:cNvSpPr>
            <p:nvPr/>
          </p:nvSpPr>
          <p:spPr bwMode="auto">
            <a:xfrm>
              <a:off x="4656" y="1632"/>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30" name="Oval 26"/>
            <p:cNvSpPr>
              <a:spLocks noChangeArrowheads="1"/>
            </p:cNvSpPr>
            <p:nvPr/>
          </p:nvSpPr>
          <p:spPr bwMode="auto">
            <a:xfrm>
              <a:off x="5136" y="2400"/>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D</a:t>
              </a:r>
              <a:endParaRPr lang="en-US" altLang="zh-CN"/>
            </a:p>
          </p:txBody>
        </p:sp>
        <p:sp>
          <p:nvSpPr>
            <p:cNvPr id="31" name="Oval 27"/>
            <p:cNvSpPr>
              <a:spLocks noChangeArrowheads="1"/>
            </p:cNvSpPr>
            <p:nvPr/>
          </p:nvSpPr>
          <p:spPr bwMode="auto">
            <a:xfrm>
              <a:off x="3648" y="3216"/>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32" name="Oval 28"/>
            <p:cNvSpPr>
              <a:spLocks noChangeArrowheads="1"/>
            </p:cNvSpPr>
            <p:nvPr/>
          </p:nvSpPr>
          <p:spPr bwMode="auto">
            <a:xfrm>
              <a:off x="4704" y="3168"/>
              <a:ext cx="287"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grpSp>
      <p:sp>
        <p:nvSpPr>
          <p:cNvPr id="33" name="Rectangle 30"/>
          <p:cNvSpPr>
            <a:spLocks noChangeArrowheads="1"/>
          </p:cNvSpPr>
          <p:nvPr/>
        </p:nvSpPr>
        <p:spPr bwMode="auto">
          <a:xfrm>
            <a:off x="5363269" y="5862216"/>
            <a:ext cx="26987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800" b="1">
                <a:solidFill>
                  <a:srgbClr val="000099"/>
                </a:solidFill>
                <a:latin typeface="楷体_GB2312" pitchFamily="49" charset="-122"/>
                <a:ea typeface="楷体_GB2312" pitchFamily="49" charset="-122"/>
              </a:rPr>
              <a:t>Spanning Tree </a:t>
            </a:r>
            <a:endParaRPr lang="zh-CN" altLang="en-US" sz="2800" b="1">
              <a:solidFill>
                <a:srgbClr val="000099"/>
              </a:solidFill>
              <a:latin typeface="楷体_GB2312" pitchFamily="49" charset="-122"/>
              <a:ea typeface="楷体_GB2312" pitchFamily="49" charset="-122"/>
            </a:endParaRPr>
          </a:p>
        </p:txBody>
      </p:sp>
      <p:sp>
        <p:nvSpPr>
          <p:cNvPr id="34" name="页脚占位符 33"/>
          <p:cNvSpPr>
            <a:spLocks noGrp="1"/>
          </p:cNvSpPr>
          <p:nvPr>
            <p:ph type="ftr" sz="quarter" idx="10"/>
          </p:nvPr>
        </p:nvSpPr>
        <p:spPr/>
        <p:txBody>
          <a:bodyPr/>
          <a:lstStyle/>
          <a:p>
            <a:pPr>
              <a:defRPr/>
            </a:pPr>
            <a:r>
              <a:rPr lang="en-US" altLang="zh-CN"/>
              <a:t>©Haiyang Liu, 2025</a:t>
            </a:r>
            <a:endParaRPr lang="en-US" altLang="zh-CN" dirty="0"/>
          </a:p>
        </p:txBody>
      </p:sp>
      <p:sp>
        <p:nvSpPr>
          <p:cNvPr id="35" name="灯片编号占位符 3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0-#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0-#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500" fill="hold"/>
                                        <p:tgtEl>
                                          <p:spTgt spid="33"/>
                                        </p:tgtEl>
                                        <p:attrNameLst>
                                          <p:attrName>ppt_x</p:attrName>
                                        </p:attrNameLst>
                                      </p:cBhvr>
                                      <p:tavLst>
                                        <p:tav tm="0">
                                          <p:val>
                                            <p:strVal val="0-#ppt_w/2"/>
                                          </p:val>
                                        </p:tav>
                                        <p:tav tm="100000">
                                          <p:val>
                                            <p:strVal val="#ppt_x"/>
                                          </p:val>
                                        </p:tav>
                                      </p:tavLst>
                                    </p:anim>
                                    <p:anim calcmode="lin" valueType="num">
                                      <p:cBhvr additive="base">
                                        <p:cTn id="26"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autoUpdateAnimBg="0"/>
      <p:bldP spid="33"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Spanning Forest of a Disconnected Graph</a:t>
            </a:r>
            <a:endParaRPr lang="en-US" altLang="zh-CN" dirty="0"/>
          </a:p>
        </p:txBody>
      </p:sp>
      <p:sp>
        <p:nvSpPr>
          <p:cNvPr id="3" name="内容占位符 2"/>
          <p:cNvSpPr>
            <a:spLocks noGrp="1"/>
          </p:cNvSpPr>
          <p:nvPr>
            <p:ph idx="1"/>
          </p:nvPr>
        </p:nvSpPr>
        <p:spPr>
          <a:xfrm>
            <a:off x="323850" y="1124745"/>
            <a:ext cx="8496300" cy="2520279"/>
          </a:xfrm>
        </p:spPr>
        <p:txBody>
          <a:bodyPr/>
          <a:lstStyle/>
          <a:p>
            <a:pPr>
              <a:lnSpc>
                <a:spcPts val="3800"/>
              </a:lnSpc>
            </a:pPr>
            <a:r>
              <a:rPr lang="zh-CN" altLang="en-US" sz="2000" dirty="0">
                <a:solidFill>
                  <a:srgbClr val="000099"/>
                </a:solidFill>
                <a:ea typeface="楷体_GB2312" pitchFamily="49" charset="-122"/>
                <a:cs typeface="Arial" panose="020B0604020202020204" pitchFamily="34" charset="0"/>
                <a:sym typeface="+mn-ea"/>
              </a:rPr>
              <a:t>For a non-connected graph, the set of spanning trees from its connected components is called the </a:t>
            </a:r>
            <a:r>
              <a:rPr lang="zh-CN" altLang="en-US" sz="2000" dirty="0">
                <a:solidFill>
                  <a:srgbClr val="FF0000"/>
                </a:solidFill>
                <a:ea typeface="楷体_GB2312" pitchFamily="49" charset="-122"/>
                <a:cs typeface="Arial" panose="020B0604020202020204" pitchFamily="34" charset="0"/>
                <a:sym typeface="+mn-ea"/>
              </a:rPr>
              <a:t>spanning forest of the graph</a:t>
            </a:r>
            <a:r>
              <a:rPr lang="zh-CN" altLang="en-US" sz="2000" dirty="0">
                <a:solidFill>
                  <a:srgbClr val="000099"/>
                </a:solidFill>
                <a:ea typeface="楷体_GB2312" pitchFamily="49" charset="-122"/>
                <a:cs typeface="Arial" panose="020B0604020202020204" pitchFamily="34" charset="0"/>
                <a:sym typeface="+mn-ea"/>
              </a:rPr>
              <a:t>.</a:t>
            </a:r>
            <a:endParaRPr lang="en-US" altLang="zh-CN" sz="2000" dirty="0">
              <a:solidFill>
                <a:srgbClr val="FF0000"/>
              </a:solidFill>
              <a:ea typeface="楷体_GB2312" pitchFamily="49" charset="-122"/>
              <a:cs typeface="Arial" panose="020B0604020202020204" pitchFamily="34" charset="0"/>
            </a:endParaRPr>
          </a:p>
          <a:p>
            <a:pPr>
              <a:lnSpc>
                <a:spcPts val="3800"/>
              </a:lnSpc>
            </a:pPr>
            <a:r>
              <a:rPr lang="en-US" altLang="zh-CN" sz="2000" dirty="0">
                <a:cs typeface="Arial" panose="020B0604020202020204" pitchFamily="34" charset="0"/>
              </a:rPr>
              <a:t>The</a:t>
            </a:r>
            <a:r>
              <a:rPr lang="en-US" altLang="zh-CN" sz="2000" dirty="0">
                <a:solidFill>
                  <a:srgbClr val="FF0000"/>
                </a:solidFill>
                <a:cs typeface="Arial" panose="020B0604020202020204" pitchFamily="34" charset="0"/>
              </a:rPr>
              <a:t> spanning forest </a:t>
            </a:r>
            <a:r>
              <a:rPr lang="en-US" altLang="zh-CN" sz="2000" dirty="0">
                <a:cs typeface="Arial" panose="020B0604020202020204" pitchFamily="34" charset="0"/>
              </a:rPr>
              <a:t>of a </a:t>
            </a:r>
            <a:r>
              <a:rPr lang="zh-CN" altLang="en-US" sz="2000" dirty="0">
                <a:solidFill>
                  <a:srgbClr val="A50021"/>
                </a:solidFill>
                <a:ea typeface="楷体_GB2312" pitchFamily="49" charset="-122"/>
                <a:cs typeface="Arial" panose="020B0604020202020204" pitchFamily="34" charset="0"/>
              </a:rPr>
              <a:t>directed graph</a:t>
            </a:r>
            <a:r>
              <a:rPr lang="en-US" altLang="zh-CN" sz="2000" dirty="0">
                <a:cs typeface="Arial" panose="020B0604020202020204" pitchFamily="34" charset="0"/>
              </a:rPr>
              <a:t> consists of several directed trees. It contains all the vertices in the graph but only the arcs sufficient to form several disjoint directed trees.</a:t>
            </a:r>
            <a:endParaRPr lang="en-US" altLang="zh-CN" sz="2000" dirty="0">
              <a:cs typeface="Arial" panose="020B0604020202020204" pitchFamily="34" charset="0"/>
            </a:endParaRPr>
          </a:p>
        </p:txBody>
      </p:sp>
      <p:grpSp>
        <p:nvGrpSpPr>
          <p:cNvPr id="6" name="Group 3"/>
          <p:cNvGrpSpPr/>
          <p:nvPr/>
        </p:nvGrpSpPr>
        <p:grpSpPr bwMode="auto">
          <a:xfrm>
            <a:off x="914400" y="3808115"/>
            <a:ext cx="3352800" cy="1981200"/>
            <a:chOff x="576" y="1920"/>
            <a:chExt cx="2112" cy="1248"/>
          </a:xfrm>
        </p:grpSpPr>
        <p:sp>
          <p:nvSpPr>
            <p:cNvPr id="7" name="Oval 4"/>
            <p:cNvSpPr>
              <a:spLocks noChangeArrowheads="1"/>
            </p:cNvSpPr>
            <p:nvPr/>
          </p:nvSpPr>
          <p:spPr bwMode="auto">
            <a:xfrm>
              <a:off x="1488" y="1920"/>
              <a:ext cx="336" cy="351"/>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8" name="Oval 5"/>
            <p:cNvSpPr>
              <a:spLocks noChangeArrowheads="1"/>
            </p:cNvSpPr>
            <p:nvPr/>
          </p:nvSpPr>
          <p:spPr bwMode="auto">
            <a:xfrm>
              <a:off x="624" y="1920"/>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9" name="Oval 6"/>
            <p:cNvSpPr>
              <a:spLocks noChangeArrowheads="1"/>
            </p:cNvSpPr>
            <p:nvPr/>
          </p:nvSpPr>
          <p:spPr bwMode="auto">
            <a:xfrm>
              <a:off x="2352" y="1920"/>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10" name="Oval 7"/>
            <p:cNvSpPr>
              <a:spLocks noChangeArrowheads="1"/>
            </p:cNvSpPr>
            <p:nvPr/>
          </p:nvSpPr>
          <p:spPr bwMode="auto">
            <a:xfrm>
              <a:off x="2352" y="2832"/>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D</a:t>
              </a:r>
              <a:endParaRPr lang="en-US" altLang="zh-CN"/>
            </a:p>
          </p:txBody>
        </p:sp>
        <p:sp>
          <p:nvSpPr>
            <p:cNvPr id="11" name="Oval 8"/>
            <p:cNvSpPr>
              <a:spLocks noChangeArrowheads="1"/>
            </p:cNvSpPr>
            <p:nvPr/>
          </p:nvSpPr>
          <p:spPr bwMode="auto">
            <a:xfrm>
              <a:off x="576" y="2832"/>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F</a:t>
              </a:r>
              <a:endParaRPr lang="en-US" altLang="zh-CN"/>
            </a:p>
          </p:txBody>
        </p:sp>
        <p:sp>
          <p:nvSpPr>
            <p:cNvPr id="12" name="Oval 9"/>
            <p:cNvSpPr>
              <a:spLocks noChangeArrowheads="1"/>
            </p:cNvSpPr>
            <p:nvPr/>
          </p:nvSpPr>
          <p:spPr bwMode="auto">
            <a:xfrm>
              <a:off x="1488" y="2832"/>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13" name="Line 10"/>
            <p:cNvSpPr>
              <a:spLocks noChangeShapeType="1"/>
            </p:cNvSpPr>
            <p:nvPr/>
          </p:nvSpPr>
          <p:spPr bwMode="auto">
            <a:xfrm>
              <a:off x="768" y="2256"/>
              <a:ext cx="0" cy="57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11"/>
            <p:cNvSpPr>
              <a:spLocks noChangeShapeType="1"/>
            </p:cNvSpPr>
            <p:nvPr/>
          </p:nvSpPr>
          <p:spPr bwMode="auto">
            <a:xfrm>
              <a:off x="960" y="2064"/>
              <a:ext cx="528"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Line 12"/>
            <p:cNvSpPr>
              <a:spLocks noChangeShapeType="1"/>
            </p:cNvSpPr>
            <p:nvPr/>
          </p:nvSpPr>
          <p:spPr bwMode="auto">
            <a:xfrm flipH="1">
              <a:off x="1824" y="2064"/>
              <a:ext cx="528"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3"/>
            <p:cNvSpPr>
              <a:spLocks noChangeShapeType="1"/>
            </p:cNvSpPr>
            <p:nvPr/>
          </p:nvSpPr>
          <p:spPr bwMode="auto">
            <a:xfrm flipV="1">
              <a:off x="2544" y="2256"/>
              <a:ext cx="0" cy="57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Line 14"/>
            <p:cNvSpPr>
              <a:spLocks noChangeShapeType="1"/>
            </p:cNvSpPr>
            <p:nvPr/>
          </p:nvSpPr>
          <p:spPr bwMode="auto">
            <a:xfrm flipH="1">
              <a:off x="1824" y="2976"/>
              <a:ext cx="528"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 name="Line 15"/>
            <p:cNvSpPr>
              <a:spLocks noChangeShapeType="1"/>
            </p:cNvSpPr>
            <p:nvPr/>
          </p:nvSpPr>
          <p:spPr bwMode="auto">
            <a:xfrm flipH="1">
              <a:off x="1776" y="2208"/>
              <a:ext cx="624" cy="624"/>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6"/>
            <p:cNvSpPr>
              <a:spLocks noChangeShapeType="1"/>
            </p:cNvSpPr>
            <p:nvPr/>
          </p:nvSpPr>
          <p:spPr bwMode="auto">
            <a:xfrm flipV="1">
              <a:off x="1632" y="2256"/>
              <a:ext cx="0" cy="57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17"/>
            <p:cNvSpPr>
              <a:spLocks noChangeShapeType="1"/>
            </p:cNvSpPr>
            <p:nvPr/>
          </p:nvSpPr>
          <p:spPr bwMode="auto">
            <a:xfrm>
              <a:off x="912" y="2998"/>
              <a:ext cx="576"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18"/>
            <p:cNvSpPr>
              <a:spLocks noChangeShapeType="1"/>
            </p:cNvSpPr>
            <p:nvPr/>
          </p:nvSpPr>
          <p:spPr bwMode="auto">
            <a:xfrm flipH="1" flipV="1">
              <a:off x="912" y="2208"/>
              <a:ext cx="624" cy="672"/>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19"/>
            <p:cNvSpPr>
              <a:spLocks noChangeShapeType="1"/>
            </p:cNvSpPr>
            <p:nvPr/>
          </p:nvSpPr>
          <p:spPr bwMode="auto">
            <a:xfrm flipV="1">
              <a:off x="864" y="2208"/>
              <a:ext cx="672" cy="672"/>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3" name="Group 20"/>
          <p:cNvGrpSpPr/>
          <p:nvPr/>
        </p:nvGrpSpPr>
        <p:grpSpPr bwMode="auto">
          <a:xfrm>
            <a:off x="5220335" y="3566160"/>
            <a:ext cx="3276600" cy="2454910"/>
            <a:chOff x="3216" y="1872"/>
            <a:chExt cx="2064" cy="1632"/>
          </a:xfrm>
        </p:grpSpPr>
        <p:sp>
          <p:nvSpPr>
            <p:cNvPr id="24" name="Oval 21"/>
            <p:cNvSpPr>
              <a:spLocks noChangeArrowheads="1"/>
            </p:cNvSpPr>
            <p:nvPr/>
          </p:nvSpPr>
          <p:spPr bwMode="auto">
            <a:xfrm>
              <a:off x="4032" y="2481"/>
              <a:ext cx="336" cy="351"/>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B</a:t>
              </a:r>
              <a:endParaRPr lang="en-US" altLang="zh-CN"/>
            </a:p>
          </p:txBody>
        </p:sp>
        <p:sp>
          <p:nvSpPr>
            <p:cNvPr id="25" name="Oval 22"/>
            <p:cNvSpPr>
              <a:spLocks noChangeArrowheads="1"/>
            </p:cNvSpPr>
            <p:nvPr/>
          </p:nvSpPr>
          <p:spPr bwMode="auto">
            <a:xfrm>
              <a:off x="3648" y="1872"/>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A</a:t>
              </a:r>
              <a:endParaRPr lang="en-US" altLang="zh-CN"/>
            </a:p>
          </p:txBody>
        </p:sp>
        <p:sp>
          <p:nvSpPr>
            <p:cNvPr id="26" name="Oval 23"/>
            <p:cNvSpPr>
              <a:spLocks noChangeArrowheads="1"/>
            </p:cNvSpPr>
            <p:nvPr/>
          </p:nvSpPr>
          <p:spPr bwMode="auto">
            <a:xfrm>
              <a:off x="4944" y="2544"/>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C</a:t>
              </a:r>
              <a:endParaRPr lang="en-US" altLang="zh-CN"/>
            </a:p>
          </p:txBody>
        </p:sp>
        <p:sp>
          <p:nvSpPr>
            <p:cNvPr id="27" name="Oval 24"/>
            <p:cNvSpPr>
              <a:spLocks noChangeArrowheads="1"/>
            </p:cNvSpPr>
            <p:nvPr/>
          </p:nvSpPr>
          <p:spPr bwMode="auto">
            <a:xfrm>
              <a:off x="4944" y="1920"/>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D</a:t>
              </a:r>
              <a:endParaRPr lang="en-US" altLang="zh-CN"/>
            </a:p>
          </p:txBody>
        </p:sp>
        <p:sp>
          <p:nvSpPr>
            <p:cNvPr id="28" name="Oval 25"/>
            <p:cNvSpPr>
              <a:spLocks noChangeArrowheads="1"/>
            </p:cNvSpPr>
            <p:nvPr/>
          </p:nvSpPr>
          <p:spPr bwMode="auto">
            <a:xfrm>
              <a:off x="3216" y="2496"/>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dirty="0">
                  <a:solidFill>
                    <a:srgbClr val="000066"/>
                  </a:solidFill>
                </a:rPr>
                <a:t>F</a:t>
              </a:r>
              <a:endParaRPr lang="en-US" altLang="zh-CN" dirty="0"/>
            </a:p>
          </p:txBody>
        </p:sp>
        <p:sp>
          <p:nvSpPr>
            <p:cNvPr id="29" name="Oval 26"/>
            <p:cNvSpPr>
              <a:spLocks noChangeArrowheads="1"/>
            </p:cNvSpPr>
            <p:nvPr/>
          </p:nvSpPr>
          <p:spPr bwMode="auto">
            <a:xfrm>
              <a:off x="3216" y="3168"/>
              <a:ext cx="336" cy="336"/>
            </a:xfrm>
            <a:prstGeom prst="ellipse">
              <a:avLst/>
            </a:prstGeom>
            <a:noFill/>
            <a:ln w="28575" cap="sq">
              <a:solidFill>
                <a:srgbClr val="000066"/>
              </a:solidFill>
              <a:round/>
              <a:headEnd type="none" w="sm" len="sm"/>
              <a:tailEnd type="none" w="sm" len="sm"/>
            </a:ln>
            <a:effectLst/>
            <a:extLst>
              <a:ext uri="{909E8E84-426E-40DD-AFC4-6F175D3DCCD1}">
                <a14:hiddenFill xmlns:a14="http://schemas.microsoft.com/office/drawing/2010/main">
                  <a:solidFill>
                    <a:srgbClr val="9966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000066"/>
                  </a:solidFill>
                </a:rPr>
                <a:t>E</a:t>
              </a:r>
              <a:endParaRPr lang="en-US" altLang="zh-CN"/>
            </a:p>
          </p:txBody>
        </p:sp>
        <p:sp>
          <p:nvSpPr>
            <p:cNvPr id="30" name="Line 27"/>
            <p:cNvSpPr>
              <a:spLocks noChangeShapeType="1"/>
            </p:cNvSpPr>
            <p:nvPr/>
          </p:nvSpPr>
          <p:spPr bwMode="auto">
            <a:xfrm flipH="1">
              <a:off x="3456" y="2208"/>
              <a:ext cx="288" cy="288"/>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28"/>
            <p:cNvSpPr>
              <a:spLocks noChangeShapeType="1"/>
            </p:cNvSpPr>
            <p:nvPr/>
          </p:nvSpPr>
          <p:spPr bwMode="auto">
            <a:xfrm>
              <a:off x="3888" y="2208"/>
              <a:ext cx="288" cy="288"/>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29"/>
            <p:cNvSpPr>
              <a:spLocks noChangeShapeType="1"/>
            </p:cNvSpPr>
            <p:nvPr/>
          </p:nvSpPr>
          <p:spPr bwMode="auto">
            <a:xfrm>
              <a:off x="3360" y="2832"/>
              <a:ext cx="0" cy="33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30"/>
            <p:cNvSpPr>
              <a:spLocks noChangeShapeType="1"/>
            </p:cNvSpPr>
            <p:nvPr/>
          </p:nvSpPr>
          <p:spPr bwMode="auto">
            <a:xfrm>
              <a:off x="5123" y="2256"/>
              <a:ext cx="0" cy="288"/>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4" name="Rectangle 31"/>
          <p:cNvSpPr>
            <a:spLocks noChangeArrowheads="1"/>
          </p:cNvSpPr>
          <p:nvPr/>
        </p:nvSpPr>
        <p:spPr bwMode="auto">
          <a:xfrm>
            <a:off x="1061085" y="6014740"/>
            <a:ext cx="702183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200">
                <a:solidFill>
                  <a:srgbClr val="000099"/>
                </a:solidFill>
                <a:ea typeface="楷体_GB2312" pitchFamily="49" charset="-122"/>
              </a:rPr>
              <a:t>A Directed Graph and Its </a:t>
            </a:r>
            <a:r>
              <a:rPr lang="en-US" altLang="zh-CN" sz="3200">
                <a:solidFill>
                  <a:srgbClr val="FF0000"/>
                </a:solidFill>
                <a:ea typeface="楷体_GB2312" pitchFamily="49" charset="-122"/>
              </a:rPr>
              <a:t>Spanning Forest</a:t>
            </a:r>
            <a:endParaRPr lang="zh-CN" altLang="en-US" sz="3200" b="1">
              <a:solidFill>
                <a:srgbClr val="FF0000"/>
              </a:solidFill>
              <a:ea typeface="楷体_GB2312" pitchFamily="49" charset="-122"/>
            </a:endParaRPr>
          </a:p>
        </p:txBody>
      </p:sp>
      <p:sp>
        <p:nvSpPr>
          <p:cNvPr id="35" name="页脚占位符 34"/>
          <p:cNvSpPr>
            <a:spLocks noGrp="1"/>
          </p:cNvSpPr>
          <p:nvPr>
            <p:ph type="ftr" sz="quarter" idx="10"/>
          </p:nvPr>
        </p:nvSpPr>
        <p:spPr/>
        <p:txBody>
          <a:bodyPr/>
          <a:lstStyle/>
          <a:p>
            <a:pPr>
              <a:defRPr/>
            </a:pPr>
            <a:r>
              <a:rPr lang="en-US" altLang="zh-CN"/>
              <a:t>©Haiyang Liu, 2025</a:t>
            </a:r>
            <a:endParaRPr lang="en-US" altLang="zh-CN" dirty="0"/>
          </a:p>
        </p:txBody>
      </p:sp>
      <p:sp>
        <p:nvSpPr>
          <p:cNvPr id="36" name="灯片编号占位符 3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0-#ppt_w/2"/>
                                          </p:val>
                                        </p:tav>
                                        <p:tav tm="100000">
                                          <p:val>
                                            <p:strVal val="#ppt_x"/>
                                          </p:val>
                                        </p:tav>
                                      </p:tavLst>
                                    </p:anim>
                                    <p:anim calcmode="lin" valueType="num">
                                      <p:cBhvr additive="base">
                                        <p:cTn id="13" dur="500" fill="hold"/>
                                        <p:tgtEl>
                                          <p:spTgt spid="2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0-#ppt_w/2"/>
                                          </p:val>
                                        </p:tav>
                                        <p:tav tm="100000">
                                          <p:val>
                                            <p:strVal val="#ppt_x"/>
                                          </p:val>
                                        </p:tav>
                                      </p:tavLst>
                                    </p:anim>
                                    <p:anim calcmode="lin" valueType="num">
                                      <p:cBhvr additive="base">
                                        <p:cTn id="18"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a:solidFill>
                  <a:srgbClr val="FF0000"/>
                </a:solidFill>
                <a:sym typeface="+mn-ea"/>
              </a:rPr>
              <a:t>Basic Concepts of Graph Theory</a:t>
            </a:r>
            <a:endParaRPr lang="en-US" altLang="zh-CN" sz="3200" dirty="0">
              <a:solidFill>
                <a:srgbClr val="FF0000"/>
              </a:solidFill>
              <a:sym typeface="+mn-ea"/>
            </a:endParaRPr>
          </a:p>
        </p:txBody>
      </p:sp>
      <p:sp>
        <p:nvSpPr>
          <p:cNvPr id="3" name="内容占位符 2"/>
          <p:cNvSpPr>
            <a:spLocks noGrp="1"/>
          </p:cNvSpPr>
          <p:nvPr>
            <p:ph idx="1"/>
          </p:nvPr>
        </p:nvSpPr>
        <p:spPr/>
        <p:txBody>
          <a:bodyPr/>
          <a:lstStyle/>
          <a:p>
            <a:pPr>
              <a:lnSpc>
                <a:spcPct val="150000"/>
              </a:lnSpc>
            </a:pPr>
            <a:r>
              <a:rPr lang="en-US" altLang="zh-CN" dirty="0">
                <a:sym typeface="+mn-ea"/>
              </a:rPr>
              <a:t>Structural Definition of Graphs</a:t>
            </a:r>
            <a:endParaRPr lang="en-US" altLang="zh-CN" dirty="0"/>
          </a:p>
          <a:p>
            <a:pPr>
              <a:lnSpc>
                <a:spcPct val="150000"/>
              </a:lnSpc>
            </a:pPr>
            <a:r>
              <a:rPr lang="en-US" altLang="zh-CN" dirty="0"/>
              <a:t>Terminologies in Graph Theory </a:t>
            </a:r>
            <a:endParaRPr lang="en-US" altLang="zh-CN" dirty="0"/>
          </a:p>
          <a:p>
            <a:pPr>
              <a:lnSpc>
                <a:spcPct val="150000"/>
              </a:lnSpc>
            </a:pPr>
            <a:r>
              <a:rPr lang="en-US" altLang="zh-CN" dirty="0">
                <a:solidFill>
                  <a:srgbClr val="FF0000"/>
                </a:solidFill>
                <a:sym typeface="+mn-ea"/>
              </a:rPr>
              <a:t>Abstract Data Type Definition of Graphs</a:t>
            </a:r>
            <a:endParaRPr lang="en-US" altLang="zh-CN" dirty="0">
              <a:solidFill>
                <a:srgbClr val="FF0000"/>
              </a:solidFill>
            </a:endParaRPr>
          </a:p>
          <a:p>
            <a:pPr>
              <a:lnSpc>
                <a:spcPct val="150000"/>
              </a:lnSpc>
            </a:pPr>
            <a:r>
              <a:rPr lang="en-US" altLang="zh-CN" dirty="0">
                <a:solidFill>
                  <a:srgbClr val="FF0000"/>
                </a:solidFill>
                <a:sym typeface="+mn-ea"/>
              </a:rPr>
              <a:t>Basic Operations on Graphs</a:t>
            </a:r>
            <a:endParaRPr lang="en-US" altLang="zh-CN" dirty="0">
              <a:solidFill>
                <a:srgbClr val="FF0000"/>
              </a:solidFill>
              <a:sym typeface="+mn-ea"/>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a:solidFill>
                  <a:srgbClr val="FF0000"/>
                </a:solidFill>
                <a:sym typeface="+mn-ea"/>
              </a:rPr>
              <a:t>Abstract Data Type Definition of Graphs</a:t>
            </a:r>
            <a:endParaRPr lang="en-US" altLang="zh-CN" sz="2800" dirty="0">
              <a:solidFill>
                <a:srgbClr val="FF0000"/>
              </a:solidFill>
              <a:sym typeface="+mn-ea"/>
            </a:endParaRPr>
          </a:p>
        </p:txBody>
      </p:sp>
      <p:sp>
        <p:nvSpPr>
          <p:cNvPr id="3" name="内容占位符 2"/>
          <p:cNvSpPr>
            <a:spLocks noGrp="1"/>
          </p:cNvSpPr>
          <p:nvPr>
            <p:ph idx="1"/>
          </p:nvPr>
        </p:nvSpPr>
        <p:spPr/>
        <p:txBody>
          <a:bodyPr/>
          <a:lstStyle/>
          <a:p>
            <a:pPr marL="0" indent="0">
              <a:lnSpc>
                <a:spcPts val="3500"/>
              </a:lnSpc>
              <a:buNone/>
            </a:pPr>
            <a:r>
              <a:rPr lang="en-US" altLang="zh-CN" sz="2800" dirty="0">
                <a:latin typeface="Consolas" panose="020B0609020204030204" pitchFamily="49" charset="0"/>
                <a:ea typeface="楷体_GB2312" pitchFamily="49" charset="-122"/>
              </a:rPr>
              <a:t>ADT </a:t>
            </a:r>
            <a:r>
              <a:rPr lang="en-US" altLang="zh-CN" sz="2800" dirty="0">
                <a:solidFill>
                  <a:srgbClr val="A50021"/>
                </a:solidFill>
                <a:latin typeface="Consolas" panose="020B0609020204030204" pitchFamily="49" charset="0"/>
                <a:ea typeface="楷体_GB2312" pitchFamily="49" charset="-122"/>
              </a:rPr>
              <a:t>Graph</a:t>
            </a:r>
            <a:r>
              <a:rPr lang="en-US" altLang="zh-CN" sz="2800" dirty="0">
                <a:latin typeface="Consolas" panose="020B0609020204030204" pitchFamily="49" charset="0"/>
                <a:ea typeface="楷体_GB2312" pitchFamily="49" charset="-122"/>
              </a:rPr>
              <a:t>{</a:t>
            </a:r>
            <a:endParaRPr lang="en-US" altLang="zh-CN" sz="2800" dirty="0">
              <a:latin typeface="Consolas" panose="020B0609020204030204" pitchFamily="49" charset="0"/>
              <a:ea typeface="楷体_GB2312" pitchFamily="49" charset="-122"/>
            </a:endParaRPr>
          </a:p>
          <a:p>
            <a:pPr marL="0" indent="0">
              <a:lnSpc>
                <a:spcPts val="3500"/>
              </a:lnSpc>
              <a:buNone/>
            </a:pPr>
            <a:r>
              <a:rPr lang="en-US" altLang="zh-CN" sz="2800" dirty="0">
                <a:latin typeface="Consolas" panose="020B0609020204030204" pitchFamily="49" charset="0"/>
                <a:ea typeface="楷体_GB2312" pitchFamily="49" charset="-122"/>
              </a:rPr>
              <a:t>  </a:t>
            </a:r>
            <a:r>
              <a:rPr lang="en-US" altLang="zh-CN" sz="28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Data Object V:</a:t>
            </a:r>
            <a:r>
              <a:rPr lang="en-US"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V</a:t>
            </a:r>
            <a:r>
              <a:rPr lang="en-US"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is a set of data elements with the 			  same characteristics, called 	the</a:t>
            </a:r>
            <a:r>
              <a:rPr lang="en-US"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vertex 			  set.</a:t>
            </a:r>
            <a:endParaRPr lang="en-US" altLang="zh-CN" sz="2700" dirty="0">
              <a:ea typeface="楷体_GB2312" pitchFamily="49" charset="-122"/>
              <a:cs typeface="Arial" panose="020B0604020202020204" pitchFamily="34" charset="0"/>
            </a:endParaRPr>
          </a:p>
          <a:p>
            <a:pPr marL="0" indent="0">
              <a:lnSpc>
                <a:spcPts val="3500"/>
              </a:lnSpc>
              <a:buNone/>
            </a:pPr>
            <a:r>
              <a:rPr lang="zh-CN"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Data Relationship R:</a:t>
            </a:r>
            <a:r>
              <a:rPr lang="en-US"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sym typeface="+mn-ea"/>
              </a:rPr>
              <a:t>R={VR}</a:t>
            </a:r>
            <a:r>
              <a:rPr lang="en-US" altLang="zh-CN" sz="2700" dirty="0">
                <a:ea typeface="楷体_GB2312" pitchFamily="49" charset="-122"/>
                <a:cs typeface="Arial" panose="020B0604020202020204" pitchFamily="34" charset="0"/>
              </a:rPr>
              <a:t>, where</a:t>
            </a:r>
            <a:r>
              <a:rPr lang="en-US"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sym typeface="+mn-ea"/>
              </a:rPr>
              <a:t>R={&lt;v, w&gt;|= v, 			</a:t>
            </a:r>
            <a:r>
              <a:rPr lang="en-US" altLang="zh-CN" sz="2700" dirty="0" err="1">
                <a:ea typeface="楷体_GB2312" pitchFamily="49" charset="-122"/>
                <a:cs typeface="Arial" panose="020B0604020202020204" pitchFamily="34" charset="0"/>
                <a:sym typeface="+mn-ea"/>
              </a:rPr>
              <a:t>w∈v and </a:t>
            </a:r>
            <a:r>
              <a:rPr lang="en-US" altLang="zh-CN" sz="2700" dirty="0">
                <a:ea typeface="楷体_GB2312" pitchFamily="49" charset="-122"/>
                <a:cs typeface="Arial" panose="020B0604020202020204" pitchFamily="34" charset="0"/>
                <a:sym typeface="+mn-ea"/>
              </a:rPr>
              <a:t>P(</a:t>
            </a:r>
            <a:r>
              <a:rPr altLang="en-US" sz="2700" dirty="0">
                <a:ea typeface="楷体_GB2312" pitchFamily="49" charset="-122"/>
                <a:cs typeface="Arial" panose="020B0604020202020204" pitchFamily="34" charset="0"/>
                <a:sym typeface="+mn-ea"/>
              </a:rPr>
              <a:t>v, w)},&lt;v,w&gt;</a:t>
            </a:r>
            <a:r>
              <a:rPr altLang="en-US" sz="2700" dirty="0">
                <a:ea typeface="楷体_GB2312" pitchFamily="49" charset="-122"/>
                <a:cs typeface="Arial" panose="020B0604020202020204" pitchFamily="34" charset="0"/>
              </a:rPr>
              <a:t> represents </a:t>
            </a:r>
            <a:endParaRPr altLang="en-US" sz="2700" dirty="0">
              <a:ea typeface="楷体_GB2312" pitchFamily="49" charset="-122"/>
              <a:cs typeface="Arial" panose="020B0604020202020204" pitchFamily="34" charset="0"/>
            </a:endParaRPr>
          </a:p>
          <a:p>
            <a:pPr marL="0" indent="0">
              <a:lnSpc>
                <a:spcPts val="3500"/>
              </a:lnSpc>
              <a:buNone/>
            </a:pPr>
            <a:r>
              <a:rPr altLang="en-US" sz="2700" dirty="0">
                <a:ea typeface="楷体_GB2312" pitchFamily="49" charset="-122"/>
                <a:cs typeface="Arial" panose="020B0604020202020204" pitchFamily="34" charset="0"/>
              </a:rPr>
              <a:t>                   </a:t>
            </a:r>
            <a:r>
              <a:rPr altLang="en-US" sz="2700" dirty="0">
                <a:solidFill>
                  <a:srgbClr val="000000"/>
                </a:solidFill>
                <a:latin typeface="Arial" panose="020B0604020202020204" pitchFamily="34" charset="0"/>
                <a:ea typeface="楷体_GB2312" pitchFamily="49" charset="-122"/>
                <a:cs typeface="Arial" panose="020B0604020202020204" pitchFamily="34" charset="0"/>
              </a:rPr>
              <a:t>an arc from v to w, and the predicate </a:t>
            </a:r>
            <a:r>
              <a:rPr altLang="en-US" sz="2700" dirty="0">
                <a:solidFill>
                  <a:srgbClr val="000000"/>
                </a:solidFill>
                <a:latin typeface="Arial" panose="020B0604020202020204" pitchFamily="34" charset="0"/>
                <a:ea typeface="楷体_GB2312" pitchFamily="49" charset="-122"/>
                <a:cs typeface="Arial" panose="020B0604020202020204" pitchFamily="34" charset="0"/>
                <a:sym typeface="+mn-ea"/>
              </a:rPr>
              <a:t>P(v, w) 		</a:t>
            </a:r>
            <a:r>
              <a:rPr altLang="en-US" sz="2700" dirty="0">
                <a:solidFill>
                  <a:srgbClr val="000000"/>
                </a:solidFill>
                <a:latin typeface="Arial" panose="020B0604020202020204" pitchFamily="34" charset="0"/>
                <a:ea typeface="楷体_GB2312" pitchFamily="49" charset="-122"/>
                <a:cs typeface="Arial" panose="020B0604020202020204" pitchFamily="34" charset="0"/>
              </a:rPr>
              <a:t>defines the meaning or information of the 			arc </a:t>
            </a:r>
            <a:r>
              <a:rPr altLang="en-US" sz="2700" dirty="0">
                <a:solidFill>
                  <a:srgbClr val="000000"/>
                </a:solidFill>
                <a:latin typeface="Arial" panose="020B0604020202020204" pitchFamily="34" charset="0"/>
                <a:ea typeface="楷体_GB2312" pitchFamily="49" charset="-122"/>
                <a:cs typeface="Arial" panose="020B0604020202020204" pitchFamily="34" charset="0"/>
                <a:sym typeface="+mn-ea"/>
              </a:rPr>
              <a:t>&lt;v, w&gt;</a:t>
            </a:r>
            <a:r>
              <a:rPr altLang="en-US" sz="2700" dirty="0">
                <a:solidFill>
                  <a:srgbClr val="000000"/>
                </a:solidFill>
                <a:latin typeface="Arial" panose="020B0604020202020204" pitchFamily="34" charset="0"/>
                <a:ea typeface="楷体_GB2312" pitchFamily="49" charset="-122"/>
                <a:cs typeface="Arial" panose="020B0604020202020204" pitchFamily="34" charset="0"/>
              </a:rPr>
              <a:t>.  </a:t>
            </a:r>
            <a:r>
              <a:rPr lang="en-US" altLang="zh-CN" sz="2700" dirty="0" err="1">
                <a:solidFill>
                  <a:srgbClr val="000000"/>
                </a:solidFill>
                <a:latin typeface="Arial" panose="020B0604020202020204" pitchFamily="34" charset="0"/>
                <a:ea typeface="楷体_GB2312" pitchFamily="49" charset="-122"/>
                <a:cs typeface="Arial" panose="020B0604020202020204" pitchFamily="34" charset="0"/>
              </a:rPr>
              <a:t> </a:t>
            </a:r>
            <a:endParaRPr lang="en-US" altLang="zh-CN" sz="2700" dirty="0" err="1">
              <a:solidFill>
                <a:srgbClr val="000000"/>
              </a:solidFill>
              <a:latin typeface="Arial" panose="020B0604020202020204" pitchFamily="34" charset="0"/>
              <a:ea typeface="楷体_GB2312" pitchFamily="49" charset="-122"/>
              <a:cs typeface="Arial" panose="020B0604020202020204" pitchFamily="34" charset="0"/>
            </a:endParaRPr>
          </a:p>
          <a:p>
            <a:pPr marL="0" indent="0">
              <a:lnSpc>
                <a:spcPts val="3500"/>
              </a:lnSpc>
              <a:buNone/>
            </a:pPr>
            <a:r>
              <a:rPr lang="zh-CN" altLang="en-US" sz="2700" dirty="0">
                <a:ea typeface="楷体_GB2312" pitchFamily="49" charset="-122"/>
                <a:cs typeface="Arial" panose="020B0604020202020204" pitchFamily="34" charset="0"/>
              </a:rPr>
              <a:t> </a:t>
            </a:r>
            <a:r>
              <a:rPr lang="en-US" altLang="zh-CN" sz="2700" dirty="0">
                <a:ea typeface="楷体_GB2312" pitchFamily="49" charset="-122"/>
                <a:cs typeface="Arial" panose="020B0604020202020204" pitchFamily="34" charset="0"/>
              </a:rPr>
              <a:t>  </a:t>
            </a:r>
            <a:r>
              <a:rPr lang="zh-CN" altLang="en-US" sz="2700" dirty="0">
                <a:ea typeface="楷体_GB2312" pitchFamily="49" charset="-122"/>
                <a:cs typeface="Arial" panose="020B0604020202020204" pitchFamily="34" charset="0"/>
                <a:sym typeface="+mn-ea"/>
              </a:rPr>
              <a:t>Basic operation P:......</a:t>
            </a:r>
            <a:endParaRPr lang="en-US" altLang="zh-CN" sz="2700" dirty="0">
              <a:ea typeface="楷体_GB2312" pitchFamily="49" charset="-122"/>
              <a:cs typeface="Arial" panose="020B0604020202020204" pitchFamily="34" charset="0"/>
            </a:endParaRPr>
          </a:p>
          <a:p>
            <a:pPr marL="0" indent="0">
              <a:lnSpc>
                <a:spcPts val="3500"/>
              </a:lnSpc>
              <a:buNone/>
            </a:pPr>
            <a:r>
              <a:rPr lang="en-US" altLang="zh-CN" sz="2800" dirty="0"/>
              <a:t>} </a:t>
            </a:r>
            <a:r>
              <a:rPr lang="en-US" altLang="zh-CN" sz="2800" dirty="0">
                <a:solidFill>
                  <a:srgbClr val="A50021"/>
                </a:solidFill>
                <a:latin typeface="Consolas" panose="020B0609020204030204" pitchFamily="49" charset="0"/>
                <a:ea typeface="楷体_GB2312" pitchFamily="49" charset="-122"/>
              </a:rPr>
              <a:t>ADT Graph</a:t>
            </a:r>
            <a:endParaRPr lang="zh-CN" altLang="en-US" sz="2800" dirty="0">
              <a:latin typeface="Consolas" panose="020B0609020204030204" pitchFamily="49" charset="0"/>
              <a:ea typeface="楷体_GB2312" pitchFamily="49" charset="-122"/>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Basic Operations on Graphs</a:t>
            </a:r>
            <a:endParaRPr lang="zh-CN" altLang="en-US" dirty="0"/>
          </a:p>
        </p:txBody>
      </p:sp>
      <p:sp>
        <p:nvSpPr>
          <p:cNvPr id="6" name="Text Box 2"/>
          <p:cNvSpPr txBox="1">
            <a:spLocks noChangeArrowheads="1"/>
          </p:cNvSpPr>
          <p:nvPr/>
        </p:nvSpPr>
        <p:spPr bwMode="auto">
          <a:xfrm>
            <a:off x="1259205" y="1268730"/>
            <a:ext cx="7035165" cy="397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Creation and Destruction of Structure</a:t>
            </a:r>
            <a:endParaRPr lang="en-US" altLang="zh-CN" sz="3200" dirty="0">
              <a:latin typeface="Arial" panose="020B0604020202020204" pitchFamily="34" charset="0"/>
              <a:ea typeface="楷体_GB2312" pitchFamily="49" charset="-122"/>
              <a:cs typeface="Arial" panose="020B0604020202020204" pitchFamily="34" charset="0"/>
            </a:endParaRPr>
          </a:p>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Access Operations on Vertices</a:t>
            </a:r>
            <a:endParaRPr lang="en-US" altLang="zh-CN" sz="3200" dirty="0">
              <a:latin typeface="Arial" panose="020B0604020202020204" pitchFamily="34" charset="0"/>
              <a:ea typeface="楷体_GB2312" pitchFamily="49" charset="-122"/>
              <a:cs typeface="Arial" panose="020B0604020202020204" pitchFamily="34" charset="0"/>
            </a:endParaRPr>
          </a:p>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Insertion or Deletion of Vertices</a:t>
            </a:r>
            <a:endParaRPr lang="en-US" altLang="zh-CN" sz="3200" dirty="0">
              <a:latin typeface="Arial" panose="020B0604020202020204" pitchFamily="34" charset="0"/>
              <a:ea typeface="楷体_GB2312" pitchFamily="49" charset="-122"/>
              <a:cs typeface="Arial" panose="020B0604020202020204" pitchFamily="34" charset="0"/>
            </a:endParaRPr>
          </a:p>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Insertion and Deletion of Arcs</a:t>
            </a:r>
            <a:endParaRPr lang="en-US" altLang="zh-CN" sz="3200" dirty="0">
              <a:latin typeface="Arial" panose="020B0604020202020204" pitchFamily="34" charset="0"/>
              <a:ea typeface="楷体_GB2312" pitchFamily="49" charset="-122"/>
              <a:cs typeface="Arial" panose="020B0604020202020204" pitchFamily="34" charset="0"/>
            </a:endParaRPr>
          </a:p>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Operations on Adjacent Vertices</a:t>
            </a:r>
            <a:endParaRPr lang="en-US" altLang="zh-CN" sz="3200" dirty="0">
              <a:latin typeface="Arial" panose="020B0604020202020204" pitchFamily="34" charset="0"/>
              <a:ea typeface="楷体_GB2312" pitchFamily="49" charset="-122"/>
              <a:cs typeface="Arial" panose="020B0604020202020204" pitchFamily="34" charset="0"/>
            </a:endParaRPr>
          </a:p>
          <a:p>
            <a:pPr algn="l">
              <a:lnSpc>
                <a:spcPct val="150000"/>
              </a:lnSpc>
              <a:buFontTx/>
              <a:buChar char="•"/>
            </a:pPr>
            <a:r>
              <a:rPr lang="en-US" altLang="zh-CN" sz="3200" dirty="0">
                <a:latin typeface="Arial" panose="020B0604020202020204" pitchFamily="34" charset="0"/>
                <a:ea typeface="楷体_GB2312" pitchFamily="49" charset="-122"/>
                <a:cs typeface="Arial" panose="020B0604020202020204" pitchFamily="34" charset="0"/>
              </a:rPr>
              <a:t>Traversal</a:t>
            </a:r>
            <a:endParaRPr lang="en-US" altLang="zh-CN" sz="3200" dirty="0">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12" name="灯片编号占位符 11"/>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0000FF"/>
                </a:solidFill>
                <a:ea typeface="楷体_GB2312" pitchFamily="49" charset="-122"/>
                <a:sym typeface="+mn-ea"/>
              </a:rPr>
              <a:t>Creation and Destruction of Structure</a:t>
            </a:r>
            <a:endParaRPr lang="zh-CN" altLang="en-US" dirty="0">
              <a:solidFill>
                <a:srgbClr val="0000FF"/>
              </a:solidFill>
              <a:ea typeface="楷体_GB2312" pitchFamily="49" charset="-122"/>
            </a:endParaRPr>
          </a:p>
        </p:txBody>
      </p:sp>
      <p:sp>
        <p:nvSpPr>
          <p:cNvPr id="6" name="Text Box 2"/>
          <p:cNvSpPr txBox="1">
            <a:spLocks noChangeArrowheads="1"/>
          </p:cNvSpPr>
          <p:nvPr/>
        </p:nvSpPr>
        <p:spPr bwMode="auto">
          <a:xfrm>
            <a:off x="305435" y="1557020"/>
            <a:ext cx="9511665" cy="1553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pPr>
            <a:r>
              <a:rPr lang="en-US" altLang="zh-CN" sz="4000" b="1" dirty="0" err="1">
                <a:solidFill>
                  <a:srgbClr val="000099"/>
                </a:solidFill>
              </a:rPr>
              <a:t>CreateGraph</a:t>
            </a:r>
            <a:r>
              <a:rPr lang="en-US" altLang="zh-CN" sz="4000" b="1" dirty="0">
                <a:solidFill>
                  <a:srgbClr val="000099"/>
                </a:solidFill>
              </a:rPr>
              <a:t>(&amp;G, V, VR);</a:t>
            </a:r>
            <a:endParaRPr lang="en-US" altLang="zh-CN" sz="4000" dirty="0">
              <a:solidFill>
                <a:srgbClr val="000099"/>
              </a:solidFill>
            </a:endParaRPr>
          </a:p>
          <a:p>
            <a:pPr algn="l">
              <a:lnSpc>
                <a:spcPct val="125000"/>
              </a:lnSpc>
            </a:pPr>
            <a:r>
              <a:rPr lang="en-US" altLang="zh-CN" sz="3600" b="1" dirty="0">
                <a:solidFill>
                  <a:srgbClr val="006600"/>
                </a:solidFill>
              </a:rPr>
              <a:t>// </a:t>
            </a:r>
            <a:r>
              <a:rPr lang="en-US" altLang="zh-CN" sz="3600" b="1" dirty="0">
                <a:solidFill>
                  <a:srgbClr val="006600"/>
                </a:solidFill>
                <a:sym typeface="+mn-ea"/>
              </a:rPr>
              <a:t>Construct the graph by definition (V, VR)</a:t>
            </a:r>
            <a:endParaRPr lang="zh-CN" altLang="en-US" sz="3600" b="1" dirty="0">
              <a:solidFill>
                <a:srgbClr val="006600"/>
              </a:solidFill>
            </a:endParaRPr>
          </a:p>
        </p:txBody>
      </p:sp>
      <p:sp>
        <p:nvSpPr>
          <p:cNvPr id="7" name="Text Box 3"/>
          <p:cNvSpPr txBox="1">
            <a:spLocks noChangeArrowheads="1"/>
          </p:cNvSpPr>
          <p:nvPr/>
        </p:nvSpPr>
        <p:spPr bwMode="auto">
          <a:xfrm>
            <a:off x="304800" y="3614420"/>
            <a:ext cx="5440680"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5000"/>
              </a:lnSpc>
            </a:pPr>
            <a:r>
              <a:rPr lang="en-US" altLang="zh-CN" sz="4000" b="1" dirty="0" err="1">
                <a:solidFill>
                  <a:srgbClr val="000099"/>
                </a:solidFill>
              </a:rPr>
              <a:t>DestroyGraph</a:t>
            </a:r>
            <a:r>
              <a:rPr lang="en-US" altLang="zh-CN" sz="4000" b="1" dirty="0">
                <a:solidFill>
                  <a:srgbClr val="000099"/>
                </a:solidFill>
              </a:rPr>
              <a:t>(&amp;G);</a:t>
            </a:r>
            <a:endParaRPr lang="en-US" altLang="zh-CN" sz="4000" dirty="0">
              <a:solidFill>
                <a:srgbClr val="000099"/>
              </a:solidFill>
            </a:endParaRPr>
          </a:p>
          <a:p>
            <a:pPr algn="l">
              <a:lnSpc>
                <a:spcPct val="125000"/>
              </a:lnSpc>
            </a:pPr>
            <a:r>
              <a:rPr lang="en-US" altLang="zh-CN" sz="4000" dirty="0">
                <a:solidFill>
                  <a:srgbClr val="000099"/>
                </a:solidFill>
              </a:rPr>
              <a:t>     </a:t>
            </a:r>
            <a:r>
              <a:rPr lang="en-US" altLang="zh-CN" sz="3600" b="1" dirty="0">
                <a:solidFill>
                  <a:srgbClr val="006600"/>
                </a:solidFill>
                <a:ea typeface="楷体_GB2312" pitchFamily="49" charset="-122"/>
              </a:rPr>
              <a:t>// </a:t>
            </a:r>
            <a:r>
              <a:rPr lang="en-US" altLang="zh-CN" sz="3600" b="1" dirty="0">
                <a:solidFill>
                  <a:srgbClr val="006600"/>
                </a:solidFill>
                <a:ea typeface="楷体_GB2312" pitchFamily="49" charset="-122"/>
                <a:sym typeface="+mn-ea"/>
              </a:rPr>
              <a:t>Destroy graph</a:t>
            </a:r>
            <a:endParaRPr lang="zh-CN" altLang="en-US" sz="3600" b="1" dirty="0">
              <a:solidFill>
                <a:srgbClr val="006600"/>
              </a:solidFill>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8" name="灯片编号占位符 7"/>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0000FF"/>
                </a:solidFill>
                <a:ea typeface="楷体_GB2312" pitchFamily="49" charset="-122"/>
                <a:sym typeface="+mn-ea"/>
              </a:rPr>
              <a:t>Access Operations on Vertices</a:t>
            </a:r>
            <a:endParaRPr lang="zh-CN" altLang="en-US" dirty="0">
              <a:solidFill>
                <a:srgbClr val="0000FF"/>
              </a:solidFill>
              <a:ea typeface="楷体_GB2312" pitchFamily="49" charset="-122"/>
            </a:endParaRPr>
          </a:p>
        </p:txBody>
      </p:sp>
      <p:sp>
        <p:nvSpPr>
          <p:cNvPr id="6" name="Text Box 3"/>
          <p:cNvSpPr txBox="1">
            <a:spLocks noChangeArrowheads="1"/>
          </p:cNvSpPr>
          <p:nvPr/>
        </p:nvSpPr>
        <p:spPr bwMode="auto">
          <a:xfrm>
            <a:off x="539552" y="1268760"/>
            <a:ext cx="8505825" cy="230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4000" b="1" dirty="0" err="1">
                <a:solidFill>
                  <a:srgbClr val="000099"/>
                </a:solidFill>
                <a:ea typeface="楷体_GB2312" pitchFamily="49" charset="-122"/>
              </a:rPr>
              <a:t>LocateVex</a:t>
            </a:r>
            <a:r>
              <a:rPr lang="en-US" altLang="zh-CN" sz="4000" b="1" dirty="0">
                <a:solidFill>
                  <a:srgbClr val="000099"/>
                </a:solidFill>
                <a:ea typeface="楷体_GB2312" pitchFamily="49" charset="-122"/>
              </a:rPr>
              <a:t>(G, u);</a:t>
            </a:r>
            <a:r>
              <a:rPr lang="en-US" altLang="zh-CN" sz="4000" dirty="0">
                <a:solidFill>
                  <a:srgbClr val="000099"/>
                </a:solidFill>
                <a:ea typeface="楷体_GB2312" pitchFamily="49" charset="-122"/>
              </a:rPr>
              <a:t>  </a:t>
            </a:r>
            <a:endParaRPr lang="en-US" altLang="zh-CN" sz="4000" dirty="0">
              <a:solidFill>
                <a:srgbClr val="000099"/>
              </a:solidFill>
              <a:ea typeface="楷体_GB2312" pitchFamily="49" charset="-122"/>
            </a:endParaRPr>
          </a:p>
          <a:p>
            <a:pPr>
              <a:lnSpc>
                <a:spcPct val="120000"/>
              </a:lnSpc>
            </a:pPr>
            <a:r>
              <a:rPr lang="en-US" altLang="zh-CN" sz="2400" b="1" dirty="0">
                <a:solidFill>
                  <a:srgbClr val="006600"/>
                </a:solidFill>
                <a:ea typeface="楷体_GB2312" pitchFamily="49" charset="-122"/>
              </a:rPr>
              <a:t>// </a:t>
            </a:r>
            <a:r>
              <a:rPr lang="en-US" altLang="zh-CN" sz="2400" b="1" dirty="0">
                <a:solidFill>
                  <a:srgbClr val="006600"/>
                </a:solidFill>
                <a:ea typeface="楷体_GB2312" pitchFamily="49" charset="-122"/>
                <a:sym typeface="+mn-ea"/>
              </a:rPr>
              <a:t>If vertex u exists in G, return the vertex in</a:t>
            </a:r>
            <a:endParaRPr lang="zh-CN" altLang="en-US" sz="2400" b="1" dirty="0">
              <a:solidFill>
                <a:srgbClr val="006600"/>
              </a:solidFill>
              <a:ea typeface="楷体_GB2312" pitchFamily="49" charset="-122"/>
            </a:endParaRPr>
          </a:p>
          <a:p>
            <a:pPr>
              <a:lnSpc>
                <a:spcPct val="120000"/>
              </a:lnSpc>
            </a:pPr>
            <a:r>
              <a:rPr lang="en-US" altLang="zh-CN" sz="2400" b="1" dirty="0">
                <a:solidFill>
                  <a:srgbClr val="006600"/>
                </a:solidFill>
                <a:ea typeface="楷体_GB2312" pitchFamily="49" charset="-122"/>
                <a:sym typeface="+mn-ea"/>
              </a:rPr>
              <a:t>// Location in the image; otherwise, return other information.</a:t>
            </a:r>
            <a:endParaRPr lang="zh-CN" altLang="en-US" sz="3200" b="1" dirty="0">
              <a:solidFill>
                <a:srgbClr val="006600"/>
              </a:solidFill>
              <a:ea typeface="楷体_GB2312" pitchFamily="49" charset="-122"/>
            </a:endParaRPr>
          </a:p>
          <a:p>
            <a:pPr>
              <a:lnSpc>
                <a:spcPct val="120000"/>
              </a:lnSpc>
            </a:pPr>
            <a:endParaRPr lang="zh-CN" altLang="en-US" sz="3200" b="1" dirty="0">
              <a:solidFill>
                <a:srgbClr val="006600"/>
              </a:solidFill>
              <a:ea typeface="楷体_GB2312" pitchFamily="49" charset="-122"/>
            </a:endParaRPr>
          </a:p>
        </p:txBody>
      </p:sp>
      <p:sp>
        <p:nvSpPr>
          <p:cNvPr id="7" name="Rectangle 4"/>
          <p:cNvSpPr>
            <a:spLocks noChangeArrowheads="1"/>
          </p:cNvSpPr>
          <p:nvPr/>
        </p:nvSpPr>
        <p:spPr bwMode="auto">
          <a:xfrm>
            <a:off x="547490" y="3635722"/>
            <a:ext cx="829183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dirty="0" err="1">
                <a:solidFill>
                  <a:srgbClr val="000099"/>
                </a:solidFill>
                <a:ea typeface="楷体_GB2312" pitchFamily="49" charset="-122"/>
              </a:rPr>
              <a:t>GetVex</a:t>
            </a:r>
            <a:r>
              <a:rPr lang="en-US" altLang="zh-CN" sz="4000" b="1" dirty="0">
                <a:solidFill>
                  <a:srgbClr val="000099"/>
                </a:solidFill>
                <a:ea typeface="楷体_GB2312" pitchFamily="49" charset="-122"/>
              </a:rPr>
              <a:t>(G, v);</a:t>
            </a:r>
            <a:r>
              <a:rPr lang="en-US" altLang="zh-CN" sz="4000" dirty="0">
                <a:solidFill>
                  <a:srgbClr val="000099"/>
                </a:solidFill>
                <a:ea typeface="楷体_GB2312" pitchFamily="49" charset="-122"/>
              </a:rPr>
              <a:t>       </a:t>
            </a:r>
            <a:r>
              <a:rPr lang="en-US" altLang="zh-CN" sz="3200" b="1" dirty="0">
                <a:solidFill>
                  <a:srgbClr val="006600"/>
                </a:solidFill>
                <a:ea typeface="楷体_GB2312" pitchFamily="49" charset="-122"/>
              </a:rPr>
              <a:t>// </a:t>
            </a:r>
            <a:r>
              <a:rPr lang="en-US" altLang="zh-CN" sz="3200" b="1" dirty="0">
                <a:solidFill>
                  <a:srgbClr val="006600"/>
                </a:solidFill>
                <a:ea typeface="楷体_GB2312" pitchFamily="49" charset="-122"/>
                <a:sym typeface="+mn-ea"/>
              </a:rPr>
              <a:t>Returns the value of v.</a:t>
            </a:r>
            <a:endParaRPr lang="zh-CN" altLang="en-US" sz="3200" b="1" dirty="0">
              <a:solidFill>
                <a:srgbClr val="006600"/>
              </a:solidFill>
              <a:ea typeface="楷体_GB2312" pitchFamily="49" charset="-122"/>
            </a:endParaRPr>
          </a:p>
        </p:txBody>
      </p:sp>
      <p:sp>
        <p:nvSpPr>
          <p:cNvPr id="8" name="Rectangle 5"/>
          <p:cNvSpPr>
            <a:spLocks noChangeArrowheads="1"/>
          </p:cNvSpPr>
          <p:nvPr/>
        </p:nvSpPr>
        <p:spPr bwMode="auto">
          <a:xfrm>
            <a:off x="539552" y="4680297"/>
            <a:ext cx="508635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4000" b="1" dirty="0" err="1">
                <a:solidFill>
                  <a:srgbClr val="000099"/>
                </a:solidFill>
                <a:ea typeface="楷体_GB2312" pitchFamily="49" charset="-122"/>
              </a:rPr>
              <a:t>PutVex</a:t>
            </a:r>
            <a:r>
              <a:rPr lang="en-US" altLang="zh-CN" sz="4000" b="1" dirty="0">
                <a:solidFill>
                  <a:srgbClr val="000099"/>
                </a:solidFill>
                <a:ea typeface="楷体_GB2312" pitchFamily="49" charset="-122"/>
              </a:rPr>
              <a:t>(&amp;G, v, value); </a:t>
            </a:r>
            <a:endParaRPr lang="en-US" altLang="zh-CN" sz="4000" b="1" dirty="0">
              <a:solidFill>
                <a:srgbClr val="000099"/>
              </a:solidFill>
              <a:ea typeface="楷体_GB2312" pitchFamily="49" charset="-122"/>
            </a:endParaRPr>
          </a:p>
          <a:p>
            <a:pPr algn="l">
              <a:lnSpc>
                <a:spcPct val="120000"/>
              </a:lnSpc>
            </a:pPr>
            <a:r>
              <a:rPr lang="en-US" altLang="zh-CN" sz="4000" b="1" dirty="0">
                <a:solidFill>
                  <a:srgbClr val="000099"/>
                </a:solidFill>
                <a:ea typeface="楷体_GB2312" pitchFamily="49" charset="-122"/>
              </a:rPr>
              <a:t>    </a:t>
            </a:r>
            <a:r>
              <a:rPr lang="en-US" altLang="zh-CN" sz="3200" b="1" dirty="0">
                <a:solidFill>
                  <a:srgbClr val="006600"/>
                </a:solidFill>
                <a:ea typeface="楷体_GB2312" pitchFamily="49" charset="-122"/>
              </a:rPr>
              <a:t>// </a:t>
            </a:r>
            <a:r>
              <a:rPr lang="en-US" altLang="zh-CN" sz="3200" b="1" dirty="0">
                <a:solidFill>
                  <a:srgbClr val="006600"/>
                </a:solidFill>
                <a:ea typeface="楷体_GB2312" pitchFamily="49" charset="-122"/>
                <a:sym typeface="+mn-ea"/>
              </a:rPr>
              <a:t>Assigns value to v.</a:t>
            </a:r>
            <a:endParaRPr lang="zh-CN" altLang="en-US" sz="4000" dirty="0">
              <a:solidFill>
                <a:srgbClr val="000099"/>
              </a:solidFill>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9" name="灯片编号占位符 8"/>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P spid="8"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0000FF"/>
                </a:solidFill>
                <a:ea typeface="楷体_GB2312" pitchFamily="49" charset="-122"/>
                <a:sym typeface="+mn-ea"/>
              </a:rPr>
              <a:t>Operations on Adjacent Vertices</a:t>
            </a:r>
            <a:endParaRPr lang="zh-CN" altLang="en-US">
              <a:solidFill>
                <a:srgbClr val="0000FF"/>
              </a:solidFill>
              <a:ea typeface="楷体_GB2312" pitchFamily="49" charset="-122"/>
            </a:endParaRPr>
          </a:p>
        </p:txBody>
      </p:sp>
      <p:sp>
        <p:nvSpPr>
          <p:cNvPr id="6" name="Text Box 3"/>
          <p:cNvSpPr txBox="1">
            <a:spLocks noChangeArrowheads="1"/>
          </p:cNvSpPr>
          <p:nvPr/>
        </p:nvSpPr>
        <p:spPr bwMode="auto">
          <a:xfrm>
            <a:off x="468313" y="1196975"/>
            <a:ext cx="8458200" cy="201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dirty="0" err="1">
                <a:solidFill>
                  <a:srgbClr val="000099"/>
                </a:solidFill>
                <a:ea typeface="楷体_GB2312" pitchFamily="49" charset="-122"/>
              </a:rPr>
              <a:t>FirstAdjVex</a:t>
            </a:r>
            <a:r>
              <a:rPr lang="en-US" altLang="zh-CN" sz="3200" b="1" dirty="0">
                <a:solidFill>
                  <a:srgbClr val="000099"/>
                </a:solidFill>
                <a:ea typeface="楷体_GB2312" pitchFamily="49" charset="-122"/>
              </a:rPr>
              <a:t>(G, v);</a:t>
            </a:r>
            <a:r>
              <a:rPr lang="en-US" altLang="zh-CN" sz="3200" dirty="0">
                <a:solidFill>
                  <a:srgbClr val="000099"/>
                </a:solidFill>
                <a:ea typeface="楷体_GB2312" pitchFamily="49" charset="-122"/>
              </a:rPr>
              <a:t> </a:t>
            </a:r>
            <a:endParaRPr lang="en-US" altLang="zh-CN" sz="3200" dirty="0">
              <a:solidFill>
                <a:srgbClr val="000099"/>
              </a:solidFill>
              <a:ea typeface="楷体_GB2312" pitchFamily="49" charset="-122"/>
            </a:endParaRPr>
          </a:p>
          <a:p>
            <a:pPr>
              <a:lnSpc>
                <a:spcPct val="120000"/>
              </a:lnSpc>
            </a:pPr>
            <a:r>
              <a:rPr lang="en-US" altLang="zh-CN" sz="2400" b="1" dirty="0">
                <a:solidFill>
                  <a:srgbClr val="006600"/>
                </a:solidFill>
                <a:ea typeface="楷体_GB2312" pitchFamily="49" charset="-122"/>
              </a:rPr>
              <a:t>   </a:t>
            </a:r>
            <a:r>
              <a:rPr lang="en-US" altLang="zh-CN" sz="2400" b="1" dirty="0">
                <a:solidFill>
                  <a:srgbClr val="006600"/>
                </a:solidFill>
                <a:ea typeface="楷体_GB2312" pitchFamily="49" charset="-122"/>
                <a:sym typeface="+mn-ea"/>
              </a:rPr>
              <a:t>// Returns the first adjacent vertex of v. If this vertex</a:t>
            </a:r>
            <a:endParaRPr lang="zh-CN" altLang="en-US" sz="2400" b="1" dirty="0">
              <a:solidFill>
                <a:srgbClr val="006600"/>
              </a:solidFill>
              <a:ea typeface="楷体_GB2312" pitchFamily="49" charset="-122"/>
            </a:endParaRPr>
          </a:p>
          <a:p>
            <a:pPr>
              <a:lnSpc>
                <a:spcPct val="120000"/>
              </a:lnSpc>
            </a:pPr>
            <a:r>
              <a:rPr lang="en-US" altLang="zh-CN" sz="2400" b="1" dirty="0">
                <a:solidFill>
                  <a:srgbClr val="006600"/>
                </a:solidFill>
                <a:ea typeface="楷体_GB2312" pitchFamily="49" charset="-122"/>
                <a:sym typeface="+mn-ea"/>
              </a:rPr>
              <a:t>// Returns "empty" if there are no adjacent vertices in G.</a:t>
            </a:r>
            <a:endParaRPr lang="zh-CN" altLang="en-US" sz="2400" b="1" dirty="0">
              <a:solidFill>
                <a:srgbClr val="006600"/>
              </a:solidFill>
              <a:ea typeface="楷体_GB2312" pitchFamily="49" charset="-122"/>
            </a:endParaRPr>
          </a:p>
          <a:p>
            <a:pPr>
              <a:lnSpc>
                <a:spcPct val="120000"/>
              </a:lnSpc>
            </a:pPr>
            <a:endParaRPr lang="zh-CN" altLang="en-US" sz="2400" b="1" dirty="0">
              <a:solidFill>
                <a:srgbClr val="006600"/>
              </a:solidFill>
              <a:ea typeface="楷体_GB2312" pitchFamily="49" charset="-122"/>
            </a:endParaRPr>
          </a:p>
        </p:txBody>
      </p:sp>
      <p:sp>
        <p:nvSpPr>
          <p:cNvPr id="7" name="Rectangle 4"/>
          <p:cNvSpPr>
            <a:spLocks noChangeArrowheads="1"/>
          </p:cNvSpPr>
          <p:nvPr/>
        </p:nvSpPr>
        <p:spPr bwMode="auto">
          <a:xfrm>
            <a:off x="468313" y="3284538"/>
            <a:ext cx="8675687" cy="1715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4000" b="1">
                <a:solidFill>
                  <a:srgbClr val="000099"/>
                </a:solidFill>
                <a:ea typeface="楷体_GB2312" pitchFamily="49" charset="-122"/>
              </a:rPr>
              <a:t>NextAdjVex(G, v, w);</a:t>
            </a:r>
            <a:r>
              <a:rPr lang="en-US" altLang="zh-CN" sz="4000">
                <a:solidFill>
                  <a:srgbClr val="000099"/>
                </a:solidFill>
                <a:ea typeface="楷体_GB2312" pitchFamily="49" charset="-122"/>
              </a:rPr>
              <a:t> </a:t>
            </a:r>
            <a:endParaRPr lang="en-US" altLang="zh-CN" sz="4000">
              <a:solidFill>
                <a:srgbClr val="000099"/>
              </a:solidFill>
              <a:ea typeface="楷体_GB2312" pitchFamily="49" charset="-122"/>
            </a:endParaRPr>
          </a:p>
          <a:p>
            <a:pPr>
              <a:lnSpc>
                <a:spcPct val="120000"/>
              </a:lnSpc>
            </a:pPr>
            <a:r>
              <a:rPr lang="en-US" altLang="zh-CN" sz="2400" b="1">
                <a:solidFill>
                  <a:srgbClr val="006600"/>
                </a:solidFill>
                <a:ea typeface="楷体_GB2312" pitchFamily="49" charset="-122"/>
                <a:sym typeface="+mn-ea"/>
              </a:rPr>
              <a:t>// Returns the next adjacent point of v relative to w.</a:t>
            </a:r>
            <a:endParaRPr lang="zh-CN" altLang="en-US" sz="2400" b="1">
              <a:solidFill>
                <a:srgbClr val="800000"/>
              </a:solidFill>
              <a:ea typeface="楷体_GB2312" pitchFamily="49" charset="-122"/>
            </a:endParaRPr>
          </a:p>
          <a:p>
            <a:pPr>
              <a:lnSpc>
                <a:spcPct val="120000"/>
              </a:lnSpc>
            </a:pPr>
            <a:r>
              <a:rPr lang="en-US" altLang="zh-CN" sz="2400" b="1">
                <a:solidFill>
                  <a:srgbClr val="006600"/>
                </a:solidFill>
                <a:ea typeface="楷体_GB2312" pitchFamily="49" charset="-122"/>
                <a:sym typeface="+mn-ea"/>
              </a:rPr>
              <a:t>// Return "empty" if w is the last adjacent point of v.</a:t>
            </a:r>
            <a:endParaRPr lang="en-US" altLang="zh-CN" sz="2400" b="1">
              <a:solidFill>
                <a:srgbClr val="006600"/>
              </a:solidFill>
              <a:ea typeface="楷体_GB2312" pitchFamily="49" charset="-122"/>
              <a:sym typeface="+mn-ea"/>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8" name="灯片编号占位符 7"/>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
        <p:nvSpPr>
          <p:cNvPr id="4" name="文本框 3"/>
          <p:cNvSpPr txBox="1"/>
          <p:nvPr/>
        </p:nvSpPr>
        <p:spPr>
          <a:xfrm>
            <a:off x="2286000" y="3198495"/>
            <a:ext cx="4572000" cy="460375"/>
          </a:xfrm>
          <a:prstGeom prst="rect">
            <a:avLst/>
          </a:prstGeom>
          <a:noFill/>
        </p:spPr>
        <p:txBody>
          <a:bodyPr wrap="square" rtlCol="0">
            <a:spAutoFit/>
          </a:bodyPr>
          <a:p>
            <a:r>
              <a:rPr lang="en-US" altLang="zh-CN" sz="2400" b="1" dirty="0">
                <a:solidFill>
                  <a:srgbClr val="006600"/>
                </a:solidFill>
                <a:ea typeface="楷体_GB2312" pitchFamily="49" charset="-122"/>
                <a:sym typeface="+mn-ea"/>
              </a:rPr>
              <a:t>  </a:t>
            </a:r>
            <a:endParaRPr lang="en-US" altLang="zh-CN" sz="2400" b="1" dirty="0">
              <a:solidFill>
                <a:srgbClr val="0066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0000FF"/>
                </a:solidFill>
                <a:ea typeface="楷体_GB2312" pitchFamily="49" charset="-122"/>
                <a:sym typeface="+mn-ea"/>
              </a:rPr>
              <a:t>Insert or delete vertex</a:t>
            </a:r>
            <a:endParaRPr lang="zh-CN" altLang="en-US" dirty="0"/>
          </a:p>
        </p:txBody>
      </p:sp>
      <p:sp>
        <p:nvSpPr>
          <p:cNvPr id="6" name="Text Box 3"/>
          <p:cNvSpPr txBox="1">
            <a:spLocks noChangeArrowheads="1"/>
          </p:cNvSpPr>
          <p:nvPr/>
        </p:nvSpPr>
        <p:spPr bwMode="auto">
          <a:xfrm>
            <a:off x="692150" y="1412776"/>
            <a:ext cx="535305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4000" b="1" dirty="0" err="1">
                <a:solidFill>
                  <a:srgbClr val="000099"/>
                </a:solidFill>
                <a:ea typeface="楷体_GB2312" pitchFamily="49" charset="-122"/>
              </a:rPr>
              <a:t>InsertVex</a:t>
            </a:r>
            <a:r>
              <a:rPr lang="en-US" altLang="zh-CN" sz="4000" b="1" dirty="0">
                <a:solidFill>
                  <a:srgbClr val="000099"/>
                </a:solidFill>
                <a:ea typeface="楷体_GB2312" pitchFamily="49" charset="-122"/>
              </a:rPr>
              <a:t>(&amp;G, v);</a:t>
            </a:r>
            <a:r>
              <a:rPr lang="en-US" altLang="zh-CN" sz="4000" dirty="0">
                <a:solidFill>
                  <a:srgbClr val="000099"/>
                </a:solidFill>
                <a:ea typeface="楷体_GB2312" pitchFamily="49" charset="-122"/>
              </a:rPr>
              <a:t> </a:t>
            </a:r>
            <a:endParaRPr lang="en-US" altLang="zh-CN" sz="4000" dirty="0">
              <a:solidFill>
                <a:srgbClr val="000099"/>
              </a:solidFill>
              <a:ea typeface="楷体_GB2312" pitchFamily="49" charset="-122"/>
            </a:endParaRPr>
          </a:p>
          <a:p>
            <a:pPr algn="l">
              <a:lnSpc>
                <a:spcPct val="125000"/>
              </a:lnSpc>
            </a:pPr>
            <a:r>
              <a:rPr lang="en-US" altLang="zh-CN" sz="3200" b="1" dirty="0">
                <a:solidFill>
                  <a:srgbClr val="006600"/>
                </a:solidFill>
                <a:ea typeface="楷体_GB2312" pitchFamily="49" charset="-122"/>
              </a:rPr>
              <a:t>      //</a:t>
            </a:r>
            <a:r>
              <a:rPr lang="en-US" altLang="zh-CN" sz="3200" b="1" dirty="0">
                <a:solidFill>
                  <a:srgbClr val="006600"/>
                </a:solidFill>
                <a:ea typeface="楷体_GB2312" pitchFamily="49" charset="-122"/>
                <a:sym typeface="+mn-ea"/>
              </a:rPr>
              <a:t>Add vertex v to graph G.</a:t>
            </a:r>
            <a:endParaRPr lang="zh-CN" altLang="en-US" sz="3200" b="1" dirty="0">
              <a:solidFill>
                <a:srgbClr val="006600"/>
              </a:solidFill>
              <a:ea typeface="楷体_GB2312" pitchFamily="49" charset="-122"/>
            </a:endParaRPr>
          </a:p>
        </p:txBody>
      </p:sp>
      <p:sp>
        <p:nvSpPr>
          <p:cNvPr id="7" name="Rectangle 4"/>
          <p:cNvSpPr>
            <a:spLocks noChangeArrowheads="1"/>
          </p:cNvSpPr>
          <p:nvPr/>
        </p:nvSpPr>
        <p:spPr bwMode="auto">
          <a:xfrm>
            <a:off x="685800" y="3241576"/>
            <a:ext cx="8338185" cy="209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4000" b="1" dirty="0" err="1">
                <a:solidFill>
                  <a:srgbClr val="000099"/>
                </a:solidFill>
                <a:ea typeface="楷体_GB2312" pitchFamily="49" charset="-122"/>
              </a:rPr>
              <a:t>DeleteVex</a:t>
            </a:r>
            <a:r>
              <a:rPr lang="en-US" altLang="zh-CN" sz="4000" b="1" dirty="0">
                <a:solidFill>
                  <a:srgbClr val="000099"/>
                </a:solidFill>
                <a:ea typeface="楷体_GB2312" pitchFamily="49" charset="-122"/>
              </a:rPr>
              <a:t>(&amp;G, v);</a:t>
            </a:r>
            <a:endParaRPr lang="en-US" altLang="zh-CN" sz="4000" dirty="0">
              <a:solidFill>
                <a:srgbClr val="000099"/>
              </a:solidFill>
              <a:ea typeface="楷体_GB2312" pitchFamily="49" charset="-122"/>
            </a:endParaRPr>
          </a:p>
          <a:p>
            <a:pPr algn="l">
              <a:lnSpc>
                <a:spcPct val="125000"/>
              </a:lnSpc>
            </a:pPr>
            <a:r>
              <a:rPr lang="en-US" altLang="zh-CN" sz="3200" b="1" dirty="0">
                <a:solidFill>
                  <a:srgbClr val="006600"/>
                </a:solidFill>
                <a:ea typeface="楷体_GB2312" pitchFamily="49" charset="-122"/>
              </a:rPr>
              <a:t>// </a:t>
            </a:r>
            <a:r>
              <a:rPr lang="en-US" altLang="zh-CN" sz="3200" b="1" dirty="0">
                <a:solidFill>
                  <a:srgbClr val="006600"/>
                </a:solidFill>
                <a:ea typeface="楷体_GB2312" pitchFamily="49" charset="-122"/>
                <a:sym typeface="+mn-ea"/>
              </a:rPr>
              <a:t>Delete vertex v and its associated arc from G.</a:t>
            </a:r>
            <a:endParaRPr lang="zh-CN" altLang="en-US" sz="3200" b="1" dirty="0">
              <a:solidFill>
                <a:srgbClr val="006600"/>
              </a:solidFill>
              <a:ea typeface="楷体_GB2312" pitchFamily="49" charset="-122"/>
            </a:endParaRPr>
          </a:p>
          <a:p>
            <a:pPr>
              <a:lnSpc>
                <a:spcPct val="125000"/>
              </a:lnSpc>
            </a:pPr>
            <a:endParaRPr lang="zh-CN" altLang="en-US" sz="3200" b="1" dirty="0">
              <a:solidFill>
                <a:srgbClr val="006600"/>
              </a:solidFill>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8" name="灯片编号占位符 7"/>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FF"/>
                </a:solidFill>
                <a:ea typeface="楷体_GB2312" pitchFamily="49" charset="-122"/>
              </a:rPr>
              <a:t>Traversal</a:t>
            </a:r>
            <a:endParaRPr lang="zh-CN" altLang="en-US" dirty="0"/>
          </a:p>
        </p:txBody>
      </p:sp>
      <p:sp>
        <p:nvSpPr>
          <p:cNvPr id="6" name="Text Box 3"/>
          <p:cNvSpPr txBox="1">
            <a:spLocks noChangeArrowheads="1"/>
          </p:cNvSpPr>
          <p:nvPr/>
        </p:nvSpPr>
        <p:spPr bwMode="auto">
          <a:xfrm>
            <a:off x="35574" y="1412776"/>
            <a:ext cx="767588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2400" b="1">
                <a:solidFill>
                  <a:srgbClr val="000099"/>
                </a:solidFill>
                <a:ea typeface="楷体_GB2312" pitchFamily="49" charset="-122"/>
              </a:rPr>
              <a:t>DFSTraverse(G, v, Visit()); </a:t>
            </a:r>
            <a:endParaRPr lang="en-US" altLang="zh-CN" sz="2400" b="1">
              <a:solidFill>
                <a:srgbClr val="000099"/>
              </a:solidFill>
              <a:ea typeface="楷体_GB2312" pitchFamily="49" charset="-122"/>
            </a:endParaRPr>
          </a:p>
          <a:p>
            <a:pPr algn="l">
              <a:lnSpc>
                <a:spcPct val="125000"/>
              </a:lnSpc>
            </a:pPr>
            <a:r>
              <a:rPr lang="en-US" altLang="zh-CN" sz="2000" b="1">
                <a:solidFill>
                  <a:srgbClr val="006600"/>
                </a:solidFill>
                <a:ea typeface="楷体_GB2312" pitchFamily="49" charset="-122"/>
              </a:rPr>
              <a:t>   //</a:t>
            </a:r>
            <a:r>
              <a:rPr lang="en-US" altLang="zh-CN" sz="2000" b="1">
                <a:solidFill>
                  <a:srgbClr val="006600"/>
                </a:solidFill>
                <a:ea typeface="楷体_GB2312" pitchFamily="49" charset="-122"/>
                <a:sym typeface="+mn-ea"/>
              </a:rPr>
              <a:t>Perform a </a:t>
            </a:r>
            <a:r>
              <a:rPr lang="en-US" altLang="zh-CN" sz="2000" b="1">
                <a:solidFill>
                  <a:srgbClr val="FF0000"/>
                </a:solidFill>
                <a:ea typeface="楷体_GB2312" pitchFamily="49" charset="-122"/>
                <a:sym typeface="+mn-ea"/>
              </a:rPr>
              <a:t>depth-first traversal</a:t>
            </a:r>
            <a:r>
              <a:rPr lang="en-US" altLang="zh-CN" sz="2000" b="1">
                <a:solidFill>
                  <a:srgbClr val="006600"/>
                </a:solidFill>
                <a:ea typeface="楷体_GB2312" pitchFamily="49" charset="-122"/>
                <a:sym typeface="+mn-ea"/>
              </a:rPr>
              <a:t> of graph G starting from vertex v, </a:t>
            </a:r>
            <a:endParaRPr lang="en-US" altLang="zh-CN" sz="2000" b="1">
              <a:solidFill>
                <a:srgbClr val="006600"/>
              </a:solidFill>
              <a:ea typeface="楷体_GB2312" pitchFamily="49" charset="-122"/>
              <a:sym typeface="+mn-ea"/>
            </a:endParaRPr>
          </a:p>
          <a:p>
            <a:pPr algn="l">
              <a:lnSpc>
                <a:spcPct val="125000"/>
              </a:lnSpc>
            </a:pPr>
            <a:r>
              <a:rPr lang="en-US" altLang="zh-CN" sz="2000" b="1">
                <a:solidFill>
                  <a:srgbClr val="006600"/>
                </a:solidFill>
                <a:ea typeface="楷体_GB2312" pitchFamily="49" charset="-122"/>
                <a:sym typeface="+mn-ea"/>
              </a:rPr>
              <a:t>//and for each vertex is visited once and only once.</a:t>
            </a:r>
            <a:endParaRPr lang="en-US" altLang="zh-CN" sz="2000" b="1">
              <a:solidFill>
                <a:srgbClr val="006600"/>
              </a:solidFill>
              <a:ea typeface="楷体_GB2312" pitchFamily="49" charset="-122"/>
              <a:sym typeface="+mn-ea"/>
            </a:endParaRPr>
          </a:p>
        </p:txBody>
      </p:sp>
      <p:sp>
        <p:nvSpPr>
          <p:cNvPr id="7" name="Rectangle 4"/>
          <p:cNvSpPr>
            <a:spLocks noChangeArrowheads="1"/>
          </p:cNvSpPr>
          <p:nvPr/>
        </p:nvSpPr>
        <p:spPr bwMode="auto">
          <a:xfrm>
            <a:off x="107329" y="3646388"/>
            <a:ext cx="791083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2400" b="1">
                <a:solidFill>
                  <a:srgbClr val="000099"/>
                </a:solidFill>
                <a:ea typeface="楷体_GB2312" pitchFamily="49" charset="-122"/>
              </a:rPr>
              <a:t>BFSTraverse(G, v, Visit());</a:t>
            </a:r>
            <a:r>
              <a:rPr lang="en-US" altLang="zh-CN" sz="2400">
                <a:solidFill>
                  <a:srgbClr val="000099"/>
                </a:solidFill>
                <a:ea typeface="楷体_GB2312" pitchFamily="49" charset="-122"/>
              </a:rPr>
              <a:t> </a:t>
            </a:r>
            <a:endParaRPr lang="en-US" altLang="zh-CN" sz="2400">
              <a:solidFill>
                <a:srgbClr val="000099"/>
              </a:solidFill>
              <a:ea typeface="楷体_GB2312" pitchFamily="49" charset="-122"/>
            </a:endParaRPr>
          </a:p>
          <a:p>
            <a:pPr algn="l">
              <a:lnSpc>
                <a:spcPct val="125000"/>
              </a:lnSpc>
            </a:pPr>
            <a:r>
              <a:rPr lang="en-US" altLang="zh-CN" sz="2000" b="1">
                <a:solidFill>
                  <a:srgbClr val="006600"/>
                </a:solidFill>
                <a:ea typeface="楷体_GB2312" pitchFamily="49" charset="-122"/>
              </a:rPr>
              <a:t>   //</a:t>
            </a:r>
            <a:r>
              <a:rPr lang="en-US" altLang="zh-CN" sz="2000" b="1">
                <a:solidFill>
                  <a:srgbClr val="006600"/>
                </a:solidFill>
                <a:ea typeface="楷体_GB2312" pitchFamily="49" charset="-122"/>
                <a:sym typeface="+mn-ea"/>
              </a:rPr>
              <a:t>Perform a breadth-first traversal of graph G starting from vertex v, </a:t>
            </a:r>
            <a:endParaRPr lang="en-US" altLang="zh-CN" sz="2000" b="1">
              <a:solidFill>
                <a:srgbClr val="006600"/>
              </a:solidFill>
              <a:ea typeface="楷体_GB2312" pitchFamily="49" charset="-122"/>
              <a:sym typeface="+mn-ea"/>
            </a:endParaRPr>
          </a:p>
          <a:p>
            <a:pPr algn="l">
              <a:lnSpc>
                <a:spcPct val="125000"/>
              </a:lnSpc>
            </a:pPr>
            <a:r>
              <a:rPr lang="en-US" altLang="zh-CN" sz="2000" b="1">
                <a:solidFill>
                  <a:srgbClr val="006600"/>
                </a:solidFill>
                <a:ea typeface="楷体_GB2312" pitchFamily="49" charset="-122"/>
                <a:sym typeface="+mn-ea"/>
              </a:rPr>
              <a:t>//and for each vertex is visited once and only once.</a:t>
            </a:r>
            <a:endParaRPr lang="en-US" altLang="zh-CN" sz="2000" b="1">
              <a:solidFill>
                <a:srgbClr val="006600"/>
              </a:solidFill>
              <a:ea typeface="楷体_GB2312" pitchFamily="49" charset="-122"/>
              <a:sym typeface="+mn-ea"/>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8" name="灯片编号占位符 7"/>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Graph storage representations</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Graph traversal</a:t>
            </a:r>
            <a:endParaRPr lang="en-US" altLang="zh-CN"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Graph connectivity and spanning tree</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The shortest path between two </a:t>
            </a:r>
            <a:r>
              <a:rPr lang="en-US" altLang="zh-CN" dirty="0">
                <a:latin typeface="Times New Roman" panose="02020603050405020304" pitchFamily="18" charset="0"/>
                <a:cs typeface="Times New Roman" panose="02020603050405020304" pitchFamily="18" charset="0"/>
              </a:rPr>
              <a:t>vertices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latin typeface="Times New Roman" panose="02020603050405020304" pitchFamily="18" charset="0"/>
                <a:cs typeface="Times New Roman" panose="02020603050405020304" pitchFamily="18" charset="0"/>
                <a:sym typeface="+mn-ea"/>
              </a:rPr>
              <a:t>Graph storage representations</a:t>
            </a:r>
            <a:endParaRPr lang="zh-CN" altLang="en-US" sz="4000" dirty="0">
              <a:solidFill>
                <a:srgbClr val="FF0000"/>
              </a:solidFill>
              <a:latin typeface="宋体" panose="02010600030101010101" pitchFamily="2" charset="-122"/>
            </a:endParaRPr>
          </a:p>
        </p:txBody>
      </p:sp>
      <p:sp>
        <p:nvSpPr>
          <p:cNvPr id="3" name="内容占位符 2"/>
          <p:cNvSpPr>
            <a:spLocks noGrp="1"/>
          </p:cNvSpPr>
          <p:nvPr>
            <p:ph idx="1"/>
          </p:nvPr>
        </p:nvSpPr>
        <p:spPr/>
        <p:txBody>
          <a:bodyPr/>
          <a:lstStyle/>
          <a:p>
            <a:pPr>
              <a:lnSpc>
                <a:spcPts val="4800"/>
              </a:lnSpc>
            </a:pPr>
            <a:r>
              <a:rPr lang="en-US" altLang="zh-CN" dirty="0">
                <a:ea typeface="+mn-ea"/>
                <a:cs typeface="Arial" panose="020B0604020202020204" pitchFamily="34" charset="0"/>
              </a:rPr>
              <a:t>Array (</a:t>
            </a:r>
            <a:r>
              <a:rPr lang="en-US" altLang="zh-CN" dirty="0">
                <a:solidFill>
                  <a:srgbClr val="FF0000"/>
                </a:solidFill>
                <a:ea typeface="+mn-ea"/>
                <a:cs typeface="Arial" panose="020B0604020202020204" pitchFamily="34" charset="0"/>
              </a:rPr>
              <a:t>Adjacency Matrix</a:t>
            </a:r>
            <a:r>
              <a:rPr lang="en-US" altLang="zh-CN" dirty="0">
                <a:ea typeface="+mn-ea"/>
                <a:cs typeface="Arial" panose="020B0604020202020204" pitchFamily="34" charset="0"/>
              </a:rPr>
              <a:t>) Storage Representation of Graphs</a:t>
            </a:r>
            <a:endParaRPr lang="en-US" altLang="zh-CN" dirty="0">
              <a:ea typeface="+mn-ea"/>
              <a:cs typeface="Arial" panose="020B0604020202020204" pitchFamily="34" charset="0"/>
            </a:endParaRPr>
          </a:p>
          <a:p>
            <a:pPr>
              <a:lnSpc>
                <a:spcPts val="4800"/>
              </a:lnSpc>
            </a:pPr>
            <a:r>
              <a:rPr lang="en-US" altLang="zh-CN" dirty="0">
                <a:solidFill>
                  <a:srgbClr val="FF0000"/>
                </a:solidFill>
                <a:ea typeface="+mn-ea"/>
                <a:cs typeface="Arial" panose="020B0604020202020204" pitchFamily="34" charset="0"/>
              </a:rPr>
              <a:t>Adjacency List </a:t>
            </a:r>
            <a:r>
              <a:rPr lang="en-US" altLang="zh-CN" dirty="0">
                <a:ea typeface="+mn-ea"/>
                <a:cs typeface="Arial" panose="020B0604020202020204" pitchFamily="34" charset="0"/>
              </a:rPr>
              <a:t>Storage Representation of Graphs</a:t>
            </a:r>
            <a:endParaRPr lang="en-US" altLang="zh-CN" dirty="0">
              <a:ea typeface="+mn-ea"/>
              <a:cs typeface="Arial" panose="020B0604020202020204" pitchFamily="34" charset="0"/>
            </a:endParaRPr>
          </a:p>
          <a:p>
            <a:pPr>
              <a:lnSpc>
                <a:spcPts val="4800"/>
              </a:lnSpc>
            </a:pPr>
            <a:r>
              <a:rPr lang="en-US" altLang="zh-CN" dirty="0">
                <a:solidFill>
                  <a:srgbClr val="7030A0"/>
                </a:solidFill>
                <a:ea typeface="+mn-ea"/>
                <a:cs typeface="Arial" panose="020B0604020202020204" pitchFamily="34" charset="0"/>
              </a:rPr>
              <a:t>Orthogonal List</a:t>
            </a:r>
            <a:r>
              <a:rPr lang="en-US" altLang="zh-CN" dirty="0">
                <a:ea typeface="+mn-ea"/>
                <a:cs typeface="Arial" panose="020B0604020202020204" pitchFamily="34" charset="0"/>
              </a:rPr>
              <a:t> Storage Representation of Directed Graphs</a:t>
            </a:r>
            <a:endParaRPr lang="en-US" altLang="zh-CN" dirty="0">
              <a:ea typeface="+mn-ea"/>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a:ea typeface="+mn-ea"/>
                <a:cs typeface="Arial" panose="020B0604020202020204" pitchFamily="34" charset="0"/>
                <a:sym typeface="+mn-ea"/>
              </a:rPr>
              <a:t>Array (</a:t>
            </a:r>
            <a:r>
              <a:rPr lang="en-US" altLang="zh-CN" sz="3200">
                <a:ea typeface="+mn-ea"/>
                <a:cs typeface="Arial" panose="020B0604020202020204" pitchFamily="34" charset="0"/>
              </a:rPr>
              <a:t>Adjacency Matrix) Sto</a:t>
            </a:r>
            <a:r>
              <a:rPr lang="en-US" altLang="zh-CN" sz="3200">
                <a:ea typeface="+mn-ea"/>
                <a:cs typeface="Arial" panose="020B0604020202020204" pitchFamily="34" charset="0"/>
                <a:sym typeface="+mn-ea"/>
              </a:rPr>
              <a:t>rage Representation of Graphs</a:t>
            </a:r>
            <a:endParaRPr lang="en-US" altLang="zh-CN" sz="3200" dirty="0">
              <a:ea typeface="+mn-ea"/>
              <a:cs typeface="Arial" panose="020B0604020202020204" pitchFamily="34" charset="0"/>
              <a:sym typeface="+mn-ea"/>
            </a:endParaRPr>
          </a:p>
        </p:txBody>
      </p:sp>
      <p:sp>
        <p:nvSpPr>
          <p:cNvPr id="3" name="内容占位符 2"/>
          <p:cNvSpPr>
            <a:spLocks noGrp="1"/>
          </p:cNvSpPr>
          <p:nvPr>
            <p:ph idx="1"/>
          </p:nvPr>
        </p:nvSpPr>
        <p:spPr/>
        <p:txBody>
          <a:bodyPr/>
          <a:lstStyle/>
          <a:p>
            <a:pPr>
              <a:lnSpc>
                <a:spcPts val="4200"/>
              </a:lnSpc>
              <a:spcBef>
                <a:spcPts val="600"/>
              </a:spcBef>
              <a:buClr>
                <a:schemeClr val="hlink"/>
              </a:buClr>
              <a:buSzPct val="50000"/>
              <a:buFont typeface="Monotype Sorts" pitchFamily="2" charset="2"/>
              <a:buNone/>
            </a:pPr>
            <a:r>
              <a:rPr lang="zh-CN" altLang="en-US" sz="2800" dirty="0">
                <a:ea typeface="楷体_GB2312" pitchFamily="49" charset="-122"/>
                <a:cs typeface="Arial" panose="020B0604020202020204" pitchFamily="34" charset="0"/>
                <a:sym typeface="+mn-ea"/>
              </a:rPr>
              <a:t>adjacency matrix ：</a:t>
            </a:r>
            <a:endParaRPr lang="en-US" altLang="zh-CN" sz="2800" dirty="0">
              <a:ea typeface="楷体_GB2312" pitchFamily="49" charset="-122"/>
              <a:cs typeface="Arial" panose="020B0604020202020204" pitchFamily="34" charset="0"/>
            </a:endParaRPr>
          </a:p>
          <a:p>
            <a:pPr>
              <a:lnSpc>
                <a:spcPts val="4200"/>
              </a:lnSpc>
              <a:spcBef>
                <a:spcPts val="600"/>
              </a:spcBef>
              <a:buClr>
                <a:schemeClr val="hlink"/>
              </a:buClr>
              <a:buSzPct val="50000"/>
              <a:buFont typeface="Monotype Sorts" pitchFamily="2" charset="2"/>
              <a:buNone/>
            </a:pPr>
            <a:r>
              <a:rPr lang="zh-CN" altLang="en-US" sz="2800" dirty="0">
                <a:ea typeface="楷体_GB2312" pitchFamily="49" charset="-122"/>
                <a:cs typeface="Arial" panose="020B0604020202020204" pitchFamily="34" charset="0"/>
                <a:sym typeface="+mn-ea"/>
              </a:rPr>
              <a:t>A matrix representing the adjacency relationships between vertices, represented by a two-dimensional array for the set VR. This array is called the adjacency matrix.</a:t>
            </a:r>
            <a:endParaRPr lang="zh-CN" altLang="en-US" sz="2800" dirty="0">
              <a:ea typeface="楷体_GB2312" pitchFamily="49" charset="-122"/>
              <a:cs typeface="Arial" panose="020B0604020202020204" pitchFamily="34" charset="0"/>
            </a:endParaRPr>
          </a:p>
          <a:p>
            <a:pPr>
              <a:lnSpc>
                <a:spcPts val="4200"/>
              </a:lnSpc>
              <a:spcBef>
                <a:spcPts val="600"/>
              </a:spcBef>
              <a:buClr>
                <a:schemeClr val="hlink"/>
              </a:buClr>
              <a:buSzPct val="50000"/>
              <a:buFont typeface="Monotype Sorts" pitchFamily="2" charset="2"/>
              <a:buNone/>
            </a:pPr>
            <a:r>
              <a:rPr lang="zh-CN" altLang="en-US" sz="2800" dirty="0">
                <a:ea typeface="楷体_GB2312" pitchFamily="49" charset="-122"/>
                <a:cs typeface="Arial" panose="020B0604020202020204" pitchFamily="34" charset="0"/>
                <a:sym typeface="+mn-ea"/>
              </a:rPr>
              <a:t>If G is a graph with n vertices, its adjacency matrix is an n-order square matrix.</a:t>
            </a:r>
            <a:endParaRPr lang="zh-CN" altLang="en-US" sz="2800" dirty="0">
              <a:ea typeface="楷体_GB2312" pitchFamily="49" charset="-122"/>
              <a:cs typeface="Arial" panose="020B0604020202020204" pitchFamily="34" charset="0"/>
              <a:sym typeface="+mn-ea"/>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ea typeface="楷体_GB2312" pitchFamily="49" charset="-122"/>
                <a:cs typeface="Arial" panose="020B0604020202020204" pitchFamily="34" charset="0"/>
                <a:sym typeface="+mn-ea"/>
              </a:rPr>
              <a:t>Adjacency </a:t>
            </a:r>
            <a:r>
              <a:rPr lang="en-US" altLang="zh-CN">
                <a:solidFill>
                  <a:srgbClr val="FF0000"/>
                </a:solidFill>
                <a:ea typeface="楷体_GB2312" pitchFamily="49" charset="-122"/>
                <a:cs typeface="Arial" panose="020B0604020202020204" pitchFamily="34" charset="0"/>
                <a:sym typeface="+mn-ea"/>
              </a:rPr>
              <a:t>M</a:t>
            </a:r>
            <a:r>
              <a:rPr>
                <a:solidFill>
                  <a:srgbClr val="FF0000"/>
                </a:solidFill>
                <a:ea typeface="楷体_GB2312" pitchFamily="49" charset="-122"/>
                <a:cs typeface="Arial" panose="020B0604020202020204" pitchFamily="34" charset="0"/>
                <a:sym typeface="+mn-ea"/>
              </a:rPr>
              <a:t>atrix </a:t>
            </a:r>
            <a:r>
              <a:rPr>
                <a:solidFill>
                  <a:srgbClr val="800000"/>
                </a:solidFill>
                <a:ea typeface="楷体_GB2312" pitchFamily="49" charset="-122"/>
                <a:cs typeface="Arial" panose="020B0604020202020204" pitchFamily="34" charset="0"/>
                <a:sym typeface="+mn-ea"/>
              </a:rPr>
              <a:t>of an </a:t>
            </a:r>
            <a:r>
              <a:rPr lang="en-US" altLang="zh-CN">
                <a:solidFill>
                  <a:srgbClr val="800000"/>
                </a:solidFill>
                <a:ea typeface="楷体_GB2312" pitchFamily="49" charset="-122"/>
                <a:cs typeface="Arial" panose="020B0604020202020204" pitchFamily="34" charset="0"/>
                <a:sym typeface="+mn-ea"/>
              </a:rPr>
              <a:t>U</a:t>
            </a:r>
            <a:r>
              <a:rPr>
                <a:solidFill>
                  <a:srgbClr val="800000"/>
                </a:solidFill>
                <a:ea typeface="楷体_GB2312" pitchFamily="49" charset="-122"/>
                <a:cs typeface="Arial" panose="020B0604020202020204" pitchFamily="34" charset="0"/>
                <a:sym typeface="+mn-ea"/>
              </a:rPr>
              <a:t>ndirected </a:t>
            </a:r>
            <a:r>
              <a:rPr lang="en-US" altLang="zh-CN">
                <a:solidFill>
                  <a:srgbClr val="800000"/>
                </a:solidFill>
                <a:ea typeface="楷体_GB2312" pitchFamily="49" charset="-122"/>
                <a:cs typeface="Arial" panose="020B0604020202020204" pitchFamily="34" charset="0"/>
                <a:sym typeface="+mn-ea"/>
              </a:rPr>
              <a:t>G</a:t>
            </a:r>
            <a:r>
              <a:rPr>
                <a:solidFill>
                  <a:srgbClr val="800000"/>
                </a:solidFill>
                <a:ea typeface="楷体_GB2312" pitchFamily="49" charset="-122"/>
                <a:cs typeface="Arial" panose="020B0604020202020204" pitchFamily="34" charset="0"/>
                <a:sym typeface="+mn-ea"/>
              </a:rPr>
              <a:t>raph</a:t>
            </a:r>
            <a:endParaRPr lang="zh-CN" altLang="en-US" dirty="0">
              <a:solidFill>
                <a:srgbClr val="800000"/>
              </a:solidFill>
              <a:ea typeface="楷体_GB2312" pitchFamily="49" charset="-122"/>
              <a:cs typeface="Arial" panose="020B0604020202020204" pitchFamily="34" charset="0"/>
            </a:endParaRPr>
          </a:p>
        </p:txBody>
      </p:sp>
      <p:sp>
        <p:nvSpPr>
          <p:cNvPr id="6" name="Rectangle 3"/>
          <p:cNvSpPr>
            <a:spLocks noChangeArrowheads="1"/>
          </p:cNvSpPr>
          <p:nvPr/>
        </p:nvSpPr>
        <p:spPr bwMode="auto">
          <a:xfrm>
            <a:off x="457200" y="1371600"/>
            <a:ext cx="8458200" cy="2489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130000"/>
              </a:lnSpc>
              <a:spcBef>
                <a:spcPct val="20000"/>
              </a:spcBef>
              <a:buFontTx/>
              <a:buChar char="•"/>
            </a:pPr>
            <a:r>
              <a:rPr lang="zh-CN" altLang="en-US" sz="4000" b="1" dirty="0">
                <a:solidFill>
                  <a:srgbClr val="800000"/>
                </a:solidFill>
                <a:latin typeface="Arial" panose="020B0604020202020204" pitchFamily="34" charset="0"/>
                <a:ea typeface="楷体_GB2312" pitchFamily="49" charset="-122"/>
                <a:cs typeface="Arial" panose="020B0604020202020204" pitchFamily="34" charset="0"/>
                <a:sym typeface="+mn-ea"/>
              </a:rPr>
              <a:t>Definition</a:t>
            </a:r>
            <a:r>
              <a:rPr lang="zh-CN" altLang="en-US" sz="3200" b="1" dirty="0">
                <a:latin typeface="Arial" panose="020B0604020202020204" pitchFamily="34" charset="0"/>
                <a:ea typeface="楷体_GB2312" pitchFamily="49" charset="-122"/>
                <a:cs typeface="Arial" panose="020B0604020202020204" pitchFamily="34" charset="0"/>
              </a:rPr>
              <a:t>（</a:t>
            </a:r>
            <a:r>
              <a:rPr lang="en-US" altLang="zh-CN" sz="3200" b="1" dirty="0" err="1">
                <a:latin typeface="Arial" panose="020B0604020202020204" pitchFamily="34" charset="0"/>
                <a:ea typeface="楷体_GB2312" pitchFamily="49" charset="-122"/>
                <a:cs typeface="Arial" panose="020B0604020202020204" pitchFamily="34" charset="0"/>
              </a:rPr>
              <a:t>Boolean,Symmetric</a:t>
            </a:r>
            <a:r>
              <a:rPr lang="zh-CN" altLang="en-US" sz="3200" b="1" dirty="0">
                <a:latin typeface="Arial" panose="020B0604020202020204" pitchFamily="34" charset="0"/>
                <a:ea typeface="楷体_GB2312" pitchFamily="49" charset="-122"/>
                <a:cs typeface="Arial" panose="020B0604020202020204" pitchFamily="34" charset="0"/>
              </a:rPr>
              <a:t>）</a:t>
            </a:r>
            <a:endParaRPr lang="zh-CN" altLang="en-US" sz="3200" b="1" dirty="0">
              <a:latin typeface="Arial" panose="020B0604020202020204" pitchFamily="34" charset="0"/>
              <a:ea typeface="楷体_GB2312" pitchFamily="49" charset="-122"/>
              <a:cs typeface="Arial" panose="020B0604020202020204" pitchFamily="34" charset="0"/>
            </a:endParaRPr>
          </a:p>
          <a:p>
            <a:pPr marL="342900" indent="-342900">
              <a:lnSpc>
                <a:spcPct val="130000"/>
              </a:lnSpc>
              <a:spcBef>
                <a:spcPct val="20000"/>
              </a:spcBef>
            </a:pPr>
            <a:r>
              <a:rPr lang="zh-CN" altLang="en-US" sz="3200" b="1" dirty="0">
                <a:latin typeface="Arial" panose="020B0604020202020204" pitchFamily="34" charset="0"/>
                <a:ea typeface="楷体_GB2312" pitchFamily="49" charset="-122"/>
                <a:cs typeface="Arial" panose="020B0604020202020204" pitchFamily="34" charset="0"/>
              </a:rPr>
              <a:t>      </a:t>
            </a:r>
            <a:r>
              <a:rPr lang="zh-CN" altLang="en-US" sz="3200" b="1" dirty="0">
                <a:latin typeface="Arial" panose="020B0604020202020204" pitchFamily="34" charset="0"/>
                <a:ea typeface="楷体_GB2312" pitchFamily="49" charset="-122"/>
                <a:cs typeface="Arial" panose="020B0604020202020204" pitchFamily="34" charset="0"/>
                <a:sym typeface="+mn-ea"/>
              </a:rPr>
              <a:t>Given an undirected graph G=(V, VR) with n (n ≥ 1) vertices, its adjacency matrix is an n×n matrix:</a:t>
            </a:r>
            <a:endParaRPr lang="en-US" altLang="zh-CN" sz="3200" b="1" dirty="0">
              <a:latin typeface="Arial" panose="020B0604020202020204" pitchFamily="34" charset="0"/>
              <a:ea typeface="楷体_GB2312" pitchFamily="49" charset="-122"/>
              <a:cs typeface="Arial" panose="020B0604020202020204" pitchFamily="34" charset="0"/>
            </a:endParaRPr>
          </a:p>
        </p:txBody>
      </p:sp>
      <p:sp>
        <p:nvSpPr>
          <p:cNvPr id="7" name="AutoShape 4"/>
          <p:cNvSpPr/>
          <p:nvPr/>
        </p:nvSpPr>
        <p:spPr bwMode="auto">
          <a:xfrm>
            <a:off x="4638675" y="4557713"/>
            <a:ext cx="238125" cy="806450"/>
          </a:xfrm>
          <a:prstGeom prst="leftBrace">
            <a:avLst>
              <a:gd name="adj1" fmla="val 28222"/>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5"/>
          <p:cNvSpPr txBox="1">
            <a:spLocks noChangeArrowheads="1"/>
          </p:cNvSpPr>
          <p:nvPr/>
        </p:nvSpPr>
        <p:spPr bwMode="auto">
          <a:xfrm>
            <a:off x="1187624" y="4618038"/>
            <a:ext cx="331452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r>
              <a:rPr lang="en-US" altLang="zh-CN" sz="3600" b="1" dirty="0">
                <a:ea typeface="楷体_GB2312" pitchFamily="49" charset="-122"/>
              </a:rPr>
              <a:t>A[</a:t>
            </a:r>
            <a:r>
              <a:rPr lang="en-US" altLang="zh-CN" sz="3600" b="1" dirty="0" err="1">
                <a:ea typeface="楷体_GB2312" pitchFamily="49" charset="-122"/>
              </a:rPr>
              <a:t>i</a:t>
            </a:r>
            <a:r>
              <a:rPr lang="en-US" altLang="zh-CN" sz="3600" b="1" dirty="0">
                <a:ea typeface="楷体_GB2312" pitchFamily="49" charset="-122"/>
              </a:rPr>
              <a:t>, j]=A[j, </a:t>
            </a:r>
            <a:r>
              <a:rPr lang="en-US" altLang="zh-CN" sz="3600" b="1" dirty="0" err="1">
                <a:ea typeface="楷体_GB2312" pitchFamily="49" charset="-122"/>
              </a:rPr>
              <a:t>i</a:t>
            </a:r>
            <a:r>
              <a:rPr lang="en-US" altLang="zh-CN" sz="3600" b="1" dirty="0">
                <a:ea typeface="楷体_GB2312" pitchFamily="49" charset="-122"/>
              </a:rPr>
              <a:t>] =</a:t>
            </a:r>
            <a:endParaRPr lang="en-US" altLang="zh-CN" sz="3600" b="1" dirty="0">
              <a:ea typeface="楷体_GB2312" pitchFamily="49" charset="-122"/>
            </a:endParaRPr>
          </a:p>
        </p:txBody>
      </p:sp>
      <p:sp>
        <p:nvSpPr>
          <p:cNvPr id="9" name="Rectangle 6"/>
          <p:cNvSpPr>
            <a:spLocks noChangeArrowheads="1"/>
          </p:cNvSpPr>
          <p:nvPr/>
        </p:nvSpPr>
        <p:spPr bwMode="auto">
          <a:xfrm>
            <a:off x="4953000" y="4906963"/>
            <a:ext cx="2987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a:solidFill>
                  <a:srgbClr val="000099"/>
                </a:solidFill>
              </a:rPr>
              <a:t>0     </a:t>
            </a:r>
            <a:r>
              <a:rPr lang="en-US" altLang="zh-CN" sz="3200" b="1">
                <a:ea typeface="楷体_GB2312" pitchFamily="49" charset="-122"/>
              </a:rPr>
              <a:t>(v</a:t>
            </a:r>
            <a:r>
              <a:rPr lang="en-US" altLang="zh-CN" sz="3200" b="1" baseline="-25000">
                <a:ea typeface="楷体_GB2312" pitchFamily="49" charset="-122"/>
              </a:rPr>
              <a:t>i</a:t>
            </a:r>
            <a:r>
              <a:rPr lang="en-US" altLang="zh-CN" sz="3200" b="1">
                <a:ea typeface="楷体_GB2312" pitchFamily="49" charset="-122"/>
              </a:rPr>
              <a:t>,v</a:t>
            </a:r>
            <a:r>
              <a:rPr lang="en-US" altLang="zh-CN" sz="3200" b="1" baseline="-25000">
                <a:ea typeface="楷体_GB2312" pitchFamily="49" charset="-122"/>
              </a:rPr>
              <a:t>j</a:t>
            </a:r>
            <a:r>
              <a:rPr lang="en-US" altLang="zh-CN" sz="3200">
                <a:solidFill>
                  <a:srgbClr val="000099"/>
                </a:solidFill>
              </a:rPr>
              <a:t>)</a:t>
            </a:r>
            <a:r>
              <a:rPr lang="en-US" altLang="zh-CN" sz="3200">
                <a:solidFill>
                  <a:srgbClr val="000099"/>
                </a:solidFill>
                <a:sym typeface="Symbol" panose="05050102010706020507" pitchFamily="18" charset="2"/>
              </a:rPr>
              <a:t>VR</a:t>
            </a:r>
            <a:endParaRPr lang="en-US" altLang="zh-CN" sz="3200">
              <a:solidFill>
                <a:srgbClr val="000099"/>
              </a:solidFill>
              <a:sym typeface="Symbol" panose="05050102010706020507" pitchFamily="18" charset="2"/>
            </a:endParaRPr>
          </a:p>
        </p:txBody>
      </p:sp>
      <p:sp>
        <p:nvSpPr>
          <p:cNvPr id="10" name="Rectangle 7"/>
          <p:cNvSpPr>
            <a:spLocks noChangeArrowheads="1"/>
          </p:cNvSpPr>
          <p:nvPr/>
        </p:nvSpPr>
        <p:spPr bwMode="auto">
          <a:xfrm>
            <a:off x="4953000" y="4348163"/>
            <a:ext cx="2987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a:solidFill>
                  <a:srgbClr val="000099"/>
                </a:solidFill>
              </a:rPr>
              <a:t>1     </a:t>
            </a:r>
            <a:r>
              <a:rPr lang="en-US" altLang="zh-CN" sz="3200" b="1">
                <a:ea typeface="楷体_GB2312" pitchFamily="49" charset="-122"/>
              </a:rPr>
              <a:t>(v</a:t>
            </a:r>
            <a:r>
              <a:rPr lang="en-US" altLang="zh-CN" sz="3200" b="1" baseline="-25000">
                <a:ea typeface="楷体_GB2312" pitchFamily="49" charset="-122"/>
              </a:rPr>
              <a:t>i</a:t>
            </a:r>
            <a:r>
              <a:rPr lang="en-US" altLang="zh-CN" sz="3200" b="1">
                <a:ea typeface="楷体_GB2312" pitchFamily="49" charset="-122"/>
              </a:rPr>
              <a:t>,v</a:t>
            </a:r>
            <a:r>
              <a:rPr lang="en-US" altLang="zh-CN" sz="3200" b="1" baseline="-25000">
                <a:ea typeface="楷体_GB2312" pitchFamily="49" charset="-122"/>
              </a:rPr>
              <a:t>j</a:t>
            </a:r>
            <a:r>
              <a:rPr lang="en-US" altLang="zh-CN" sz="3200">
                <a:solidFill>
                  <a:srgbClr val="000099"/>
                </a:solidFill>
              </a:rPr>
              <a:t>)</a:t>
            </a:r>
            <a:r>
              <a:rPr lang="en-US" altLang="zh-CN" sz="3200">
                <a:solidFill>
                  <a:srgbClr val="000099"/>
                </a:solidFill>
                <a:sym typeface="Symbol" panose="05050102010706020507" pitchFamily="18" charset="2"/>
              </a:rPr>
              <a:t>VR</a:t>
            </a:r>
            <a:endParaRPr lang="en-US" altLang="zh-CN" sz="3200">
              <a:solidFill>
                <a:srgbClr val="000099"/>
              </a:solidFill>
              <a:sym typeface="Symbol" panose="05050102010706020507" pitchFamily="18" charset="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11" name="灯片编号占位符 10"/>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200">
                <a:sym typeface="+mn-ea"/>
              </a:rPr>
              <a:t>Characteristics of the </a:t>
            </a:r>
            <a:r>
              <a:rPr lang="en-US" altLang="zh-CN" sz="3200">
                <a:sym typeface="+mn-ea"/>
              </a:rPr>
              <a:t>A</a:t>
            </a:r>
            <a:r>
              <a:rPr sz="3200">
                <a:sym typeface="+mn-ea"/>
              </a:rPr>
              <a:t>djacency </a:t>
            </a:r>
            <a:r>
              <a:rPr lang="en-US" altLang="zh-CN" sz="3200">
                <a:sym typeface="+mn-ea"/>
              </a:rPr>
              <a:t>M</a:t>
            </a:r>
            <a:r>
              <a:rPr sz="3200">
                <a:sym typeface="+mn-ea"/>
              </a:rPr>
              <a:t>atrix of an </a:t>
            </a:r>
            <a:r>
              <a:rPr lang="en-US" altLang="zh-CN" sz="3200">
                <a:sym typeface="+mn-ea"/>
              </a:rPr>
              <a:t>U</a:t>
            </a:r>
            <a:r>
              <a:rPr sz="3200">
                <a:sym typeface="+mn-ea"/>
              </a:rPr>
              <a:t>ndirected </a:t>
            </a:r>
            <a:r>
              <a:rPr lang="en-US" altLang="zh-CN" sz="3200">
                <a:sym typeface="+mn-ea"/>
              </a:rPr>
              <a:t>G</a:t>
            </a:r>
            <a:r>
              <a:rPr sz="3200">
                <a:sym typeface="+mn-ea"/>
              </a:rPr>
              <a:t>raph</a:t>
            </a:r>
            <a:endParaRPr lang="zh-CN" altLang="en-US" sz="3200" dirty="0">
              <a:sym typeface="+mn-ea"/>
            </a:endParaRPr>
          </a:p>
        </p:txBody>
      </p:sp>
      <p:sp>
        <p:nvSpPr>
          <p:cNvPr id="6" name="Oval 5"/>
          <p:cNvSpPr>
            <a:spLocks noChangeArrowheads="1"/>
          </p:cNvSpPr>
          <p:nvPr/>
        </p:nvSpPr>
        <p:spPr bwMode="auto">
          <a:xfrm>
            <a:off x="1752600" y="1143000"/>
            <a:ext cx="381000" cy="3810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dirty="0"/>
              <a:t>V1</a:t>
            </a:r>
            <a:endParaRPr lang="en-US" altLang="zh-CN" sz="2000" b="1" dirty="0"/>
          </a:p>
        </p:txBody>
      </p:sp>
      <p:sp>
        <p:nvSpPr>
          <p:cNvPr id="7" name="Oval 6"/>
          <p:cNvSpPr>
            <a:spLocks noChangeArrowheads="1"/>
          </p:cNvSpPr>
          <p:nvPr/>
        </p:nvSpPr>
        <p:spPr bwMode="auto">
          <a:xfrm>
            <a:off x="2971800" y="1143000"/>
            <a:ext cx="457200" cy="3810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8" name="Oval 7"/>
          <p:cNvSpPr>
            <a:spLocks noChangeArrowheads="1"/>
          </p:cNvSpPr>
          <p:nvPr/>
        </p:nvSpPr>
        <p:spPr bwMode="auto">
          <a:xfrm>
            <a:off x="1828800" y="2362200"/>
            <a:ext cx="381000" cy="3810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9" name="Oval 8"/>
          <p:cNvSpPr>
            <a:spLocks noChangeArrowheads="1"/>
          </p:cNvSpPr>
          <p:nvPr/>
        </p:nvSpPr>
        <p:spPr bwMode="auto">
          <a:xfrm>
            <a:off x="2438400" y="1828800"/>
            <a:ext cx="381000" cy="3810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10" name="Oval 9"/>
          <p:cNvSpPr>
            <a:spLocks noChangeArrowheads="1"/>
          </p:cNvSpPr>
          <p:nvPr/>
        </p:nvSpPr>
        <p:spPr bwMode="auto">
          <a:xfrm>
            <a:off x="2971800" y="2362200"/>
            <a:ext cx="381000" cy="3810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V5</a:t>
            </a:r>
            <a:endParaRPr lang="en-US" altLang="zh-CN" sz="2000" b="1"/>
          </a:p>
        </p:txBody>
      </p:sp>
      <p:sp>
        <p:nvSpPr>
          <p:cNvPr id="11" name="Line 10"/>
          <p:cNvSpPr>
            <a:spLocks noChangeShapeType="1"/>
          </p:cNvSpPr>
          <p:nvPr/>
        </p:nvSpPr>
        <p:spPr bwMode="auto">
          <a:xfrm>
            <a:off x="1981200" y="1524000"/>
            <a:ext cx="0" cy="83820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12" name="Line 11"/>
          <p:cNvSpPr>
            <a:spLocks noChangeShapeType="1"/>
          </p:cNvSpPr>
          <p:nvPr/>
        </p:nvSpPr>
        <p:spPr bwMode="auto">
          <a:xfrm>
            <a:off x="2133600" y="1371600"/>
            <a:ext cx="838200" cy="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13" name="Line 12"/>
          <p:cNvSpPr>
            <a:spLocks noChangeShapeType="1"/>
          </p:cNvSpPr>
          <p:nvPr/>
        </p:nvSpPr>
        <p:spPr bwMode="auto">
          <a:xfrm>
            <a:off x="3124200" y="1524000"/>
            <a:ext cx="0" cy="83820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14" name="Line 13"/>
          <p:cNvSpPr>
            <a:spLocks noChangeShapeType="1"/>
          </p:cNvSpPr>
          <p:nvPr/>
        </p:nvSpPr>
        <p:spPr bwMode="auto">
          <a:xfrm flipH="1">
            <a:off x="2743200" y="1524000"/>
            <a:ext cx="304800" cy="30480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15" name="Line 15"/>
          <p:cNvSpPr>
            <a:spLocks noChangeShapeType="1"/>
          </p:cNvSpPr>
          <p:nvPr/>
        </p:nvSpPr>
        <p:spPr bwMode="auto">
          <a:xfrm>
            <a:off x="2698750" y="2101850"/>
            <a:ext cx="304800" cy="30480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16" name="AutoShape 16"/>
          <p:cNvSpPr>
            <a:spLocks noChangeArrowheads="1"/>
          </p:cNvSpPr>
          <p:nvPr/>
        </p:nvSpPr>
        <p:spPr bwMode="auto">
          <a:xfrm>
            <a:off x="4876800" y="1219200"/>
            <a:ext cx="2590800" cy="1752600"/>
          </a:xfrm>
          <a:prstGeom prst="bracketPair">
            <a:avLst>
              <a:gd name="adj" fmla="val 1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0   1   0   1   0</a:t>
            </a:r>
            <a:endParaRPr lang="en-US" altLang="zh-CN" sz="2800" b="1"/>
          </a:p>
          <a:p>
            <a:pPr algn="ctr"/>
            <a:r>
              <a:rPr lang="en-US" altLang="zh-CN" sz="2800" b="1"/>
              <a:t>1   0   1   0   1</a:t>
            </a:r>
            <a:endParaRPr lang="en-US" altLang="zh-CN" sz="2800" b="1"/>
          </a:p>
          <a:p>
            <a:pPr algn="ctr"/>
            <a:r>
              <a:rPr lang="en-US" altLang="zh-CN" sz="2800" b="1"/>
              <a:t>0   1   0   1   1</a:t>
            </a:r>
            <a:endParaRPr lang="en-US" altLang="zh-CN" sz="2800" b="1"/>
          </a:p>
          <a:p>
            <a:pPr algn="ctr"/>
            <a:r>
              <a:rPr lang="en-US" altLang="zh-CN" sz="2800" b="1"/>
              <a:t>1   0   1   0   0</a:t>
            </a:r>
            <a:endParaRPr lang="en-US" altLang="zh-CN" sz="2800" b="1"/>
          </a:p>
          <a:p>
            <a:pPr algn="ctr"/>
            <a:r>
              <a:rPr lang="en-US" altLang="zh-CN" sz="2800" b="1"/>
              <a:t>0   1   1   0   0</a:t>
            </a:r>
            <a:endParaRPr lang="en-US" altLang="zh-CN" sz="2800" b="1"/>
          </a:p>
        </p:txBody>
      </p:sp>
      <p:sp>
        <p:nvSpPr>
          <p:cNvPr id="17" name="Rectangle 17"/>
          <p:cNvSpPr>
            <a:spLocks noChangeArrowheads="1"/>
          </p:cNvSpPr>
          <p:nvPr/>
        </p:nvSpPr>
        <p:spPr bwMode="auto">
          <a:xfrm>
            <a:off x="539750" y="3284538"/>
            <a:ext cx="815340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90830" indent="-290830">
              <a:lnSpc>
                <a:spcPct val="115000"/>
              </a:lnSpc>
              <a:spcBef>
                <a:spcPct val="15000"/>
              </a:spcBef>
              <a:buSzPct val="160000"/>
            </a:pPr>
            <a:r>
              <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rPr>
              <a:t>characteristic ：</a:t>
            </a:r>
            <a:endParaRPr lang="en-US" altLang="zh-CN" sz="2400" b="1" dirty="0">
              <a:solidFill>
                <a:srgbClr val="000099"/>
              </a:solidFill>
              <a:latin typeface="Arial" panose="020B0604020202020204" pitchFamily="34" charset="0"/>
              <a:ea typeface="楷体_GB2312" pitchFamily="49" charset="-122"/>
              <a:cs typeface="Arial" panose="020B0604020202020204" pitchFamily="34" charset="0"/>
            </a:endParaRPr>
          </a:p>
          <a:p>
            <a:pPr marL="290830" indent="-290830">
              <a:lnSpc>
                <a:spcPct val="115000"/>
              </a:lnSpc>
              <a:spcBef>
                <a:spcPct val="15000"/>
              </a:spcBef>
              <a:buSzPct val="160000"/>
              <a:buFontTx/>
              <a:buChar char="•"/>
            </a:pPr>
            <a:r>
              <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rPr>
              <a:t>The adjacency matrix of an undirected graph is a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sym typeface="+mn-ea"/>
              </a:rPr>
              <a:t>symmetric square matrix</a:t>
            </a:r>
            <a:r>
              <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rPr>
              <a:t>;</a:t>
            </a:r>
            <a:endParaRPr lang="zh-CN" altLang="en-US" sz="2400" b="1" dirty="0">
              <a:latin typeface="Arial" panose="020B0604020202020204" pitchFamily="34" charset="0"/>
              <a:ea typeface="楷体_GB2312" pitchFamily="49" charset="-122"/>
              <a:cs typeface="Arial" panose="020B0604020202020204" pitchFamily="34" charset="0"/>
            </a:endParaRPr>
          </a:p>
          <a:p>
            <a:pPr marL="290830" indent="-290830">
              <a:lnSpc>
                <a:spcPct val="115000"/>
              </a:lnSpc>
              <a:spcBef>
                <a:spcPct val="15000"/>
              </a:spcBef>
              <a:buSzPct val="160000"/>
              <a:buFontTx/>
              <a:buChar char="•"/>
            </a:pPr>
            <a:r>
              <a:rPr lang="zh-CN" altLang="zh-CN" sz="2400" b="1" dirty="0">
                <a:solidFill>
                  <a:srgbClr val="000099"/>
                </a:solidFill>
                <a:latin typeface="Arial" panose="020B0604020202020204" pitchFamily="34" charset="0"/>
                <a:ea typeface="楷体_GB2312" pitchFamily="49" charset="-122"/>
                <a:cs typeface="Arial" panose="020B0604020202020204" pitchFamily="34" charset="0"/>
                <a:sym typeface="+mn-ea"/>
              </a:rPr>
              <a:t>The </a:t>
            </a:r>
            <a:r>
              <a:rPr lang="zh-CN" altLang="zh-CN" sz="2400" b="1" dirty="0">
                <a:solidFill>
                  <a:srgbClr val="FF0000"/>
                </a:solidFill>
                <a:latin typeface="Arial" panose="020B0604020202020204" pitchFamily="34" charset="0"/>
                <a:ea typeface="楷体_GB2312" pitchFamily="49" charset="-122"/>
                <a:cs typeface="Arial" panose="020B0604020202020204" pitchFamily="34" charset="0"/>
                <a:sym typeface="+mn-ea"/>
              </a:rPr>
              <a:t>degree </a:t>
            </a:r>
            <a:r>
              <a:rPr lang="zh-CN" altLang="zh-CN" sz="2400" b="1" dirty="0">
                <a:solidFill>
                  <a:srgbClr val="000099"/>
                </a:solidFill>
                <a:latin typeface="Arial" panose="020B0604020202020204" pitchFamily="34" charset="0"/>
                <a:ea typeface="楷体_GB2312" pitchFamily="49" charset="-122"/>
                <a:cs typeface="Arial" panose="020B0604020202020204" pitchFamily="34" charset="0"/>
                <a:sym typeface="+mn-ea"/>
              </a:rPr>
              <a:t>of vertex </a:t>
            </a:r>
            <a:r>
              <a:rPr lang="en-US" altLang="zh-CN" sz="2400" b="1" dirty="0">
                <a:solidFill>
                  <a:srgbClr val="000099"/>
                </a:solidFill>
                <a:latin typeface="Consolas" panose="020B0609020204030204" pitchFamily="49" charset="0"/>
                <a:ea typeface="楷体_GB2312" pitchFamily="49" charset="-122"/>
                <a:sym typeface="+mn-ea"/>
              </a:rPr>
              <a:t>V</a:t>
            </a:r>
            <a:r>
              <a:rPr lang="en-US" altLang="zh-CN" sz="2400" b="1" baseline="-25000" dirty="0">
                <a:solidFill>
                  <a:srgbClr val="000099"/>
                </a:solidFill>
                <a:latin typeface="Consolas" panose="020B0609020204030204" pitchFamily="49" charset="0"/>
                <a:ea typeface="楷体_GB2312" pitchFamily="49" charset="-122"/>
                <a:sym typeface="+mn-ea"/>
              </a:rPr>
              <a:t>i</a:t>
            </a:r>
            <a:r>
              <a:rPr lang="zh-CN" altLang="zh-CN" sz="2400" b="1" dirty="0">
                <a:solidFill>
                  <a:srgbClr val="000099"/>
                </a:solidFill>
                <a:latin typeface="Arial" panose="020B0604020202020204" pitchFamily="34" charset="0"/>
                <a:ea typeface="楷体_GB2312" pitchFamily="49" charset="-122"/>
                <a:cs typeface="Arial" panose="020B0604020202020204" pitchFamily="34" charset="0"/>
                <a:sym typeface="+mn-ea"/>
              </a:rPr>
              <a:t> is the sum of the elements in the </a:t>
            </a:r>
            <a:r>
              <a:rPr lang="zh-CN" altLang="zh-CN" sz="2400" b="1" dirty="0">
                <a:solidFill>
                  <a:srgbClr val="FF0000"/>
                </a:solidFill>
                <a:latin typeface="Arial" panose="020B0604020202020204" pitchFamily="34" charset="0"/>
                <a:ea typeface="楷体_GB2312" pitchFamily="49" charset="-122"/>
                <a:cs typeface="Arial" panose="020B0604020202020204" pitchFamily="34" charset="0"/>
                <a:sym typeface="+mn-ea"/>
              </a:rPr>
              <a:t>i-th row </a:t>
            </a:r>
            <a:r>
              <a:rPr lang="zh-CN" altLang="zh-CN" sz="2400" b="1" dirty="0">
                <a:solidFill>
                  <a:srgbClr val="000099"/>
                </a:solidFill>
                <a:latin typeface="Arial" panose="020B0604020202020204" pitchFamily="34" charset="0"/>
                <a:ea typeface="楷体_GB2312" pitchFamily="49" charset="-122"/>
                <a:cs typeface="Arial" panose="020B0604020202020204" pitchFamily="34" charset="0"/>
                <a:sym typeface="+mn-ea"/>
              </a:rPr>
              <a:t>(or column) of the adjacency matrix.</a:t>
            </a:r>
            <a:endParaRPr lang="zh-CN" altLang="zh-CN" sz="2400" b="1"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8" name="Line 14"/>
          <p:cNvSpPr>
            <a:spLocks noChangeShapeType="1"/>
          </p:cNvSpPr>
          <p:nvPr/>
        </p:nvSpPr>
        <p:spPr bwMode="auto">
          <a:xfrm flipH="1">
            <a:off x="2101850" y="2101850"/>
            <a:ext cx="381000" cy="304800"/>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tIns="0"/>
          <a:lstStyle/>
          <a:p>
            <a:endParaRPr lang="zh-CN" altLang="en-US"/>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19" name="灯片编号占位符 18"/>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7">
                                            <p:txEl>
                                              <p:pRg st="4294967295" end="4294967295"/>
                                            </p:txEl>
                                          </p:spTgt>
                                        </p:tgtEl>
                                        <p:attrNameLst>
                                          <p:attrName>style.visibility</p:attrName>
                                        </p:attrNameLst>
                                      </p:cBhvr>
                                      <p:to>
                                        <p:strVal val="visible"/>
                                      </p:to>
                                    </p:set>
                                    <p:animEffect transition="in" filter="slide(fromBottom)">
                                      <p:cBhvr>
                                        <p:cTn id="7" dur="500"/>
                                        <p:tgtEl>
                                          <p:spTgt spid="17">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slide(fromBottom)">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slide(fromBottom)">
                                      <p:cBhvr>
                                        <p:cTn id="17" dur="500"/>
                                        <p:tgtEl>
                                          <p:spTgt spid="1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7">
                                            <p:txEl>
                                              <p:pRg st="2" end="2"/>
                                            </p:txEl>
                                          </p:spTgt>
                                        </p:tgtEl>
                                        <p:attrNameLst>
                                          <p:attrName>style.visibility</p:attrName>
                                        </p:attrNameLst>
                                      </p:cBhvr>
                                      <p:to>
                                        <p:strVal val="visible"/>
                                      </p:to>
                                    </p:set>
                                    <p:animEffect transition="in" filter="slide(fromBottom)">
                                      <p:cBhvr>
                                        <p:cTn id="22"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ea typeface="楷体_GB2312" pitchFamily="49" charset="-122"/>
                <a:cs typeface="Arial" panose="020B0604020202020204" pitchFamily="34" charset="0"/>
                <a:sym typeface="+mn-ea"/>
              </a:rPr>
              <a:t>Adjacency matrix </a:t>
            </a:r>
            <a:r>
              <a:rPr>
                <a:solidFill>
                  <a:srgbClr val="800000"/>
                </a:solidFill>
                <a:ea typeface="楷体_GB2312" pitchFamily="49" charset="-122"/>
                <a:cs typeface="Arial" panose="020B0604020202020204" pitchFamily="34" charset="0"/>
                <a:sym typeface="+mn-ea"/>
              </a:rPr>
              <a:t>of a directed graph</a:t>
            </a:r>
            <a:endParaRPr lang="zh-CN" altLang="en-US" dirty="0">
              <a:solidFill>
                <a:srgbClr val="800000"/>
              </a:solidFill>
              <a:ea typeface="楷体_GB2312" pitchFamily="49" charset="-122"/>
              <a:cs typeface="Arial" panose="020B0604020202020204" pitchFamily="34" charset="0"/>
            </a:endParaRPr>
          </a:p>
        </p:txBody>
      </p:sp>
      <p:sp>
        <p:nvSpPr>
          <p:cNvPr id="6" name="Rectangle 2"/>
          <p:cNvSpPr>
            <a:spLocks noChangeArrowheads="1"/>
          </p:cNvSpPr>
          <p:nvPr/>
        </p:nvSpPr>
        <p:spPr bwMode="auto">
          <a:xfrm>
            <a:off x="457200" y="1065882"/>
            <a:ext cx="8003232" cy="4883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130000"/>
              </a:lnSpc>
              <a:spcBef>
                <a:spcPct val="20000"/>
              </a:spcBef>
              <a:buFontTx/>
              <a:buChar char="•"/>
            </a:pPr>
            <a:r>
              <a:rPr lang="en-US" altLang="zh-CN" sz="2700" b="1" dirty="0">
                <a:solidFill>
                  <a:srgbClr val="800000"/>
                </a:solidFill>
                <a:latin typeface="Arial" panose="020B0604020202020204" pitchFamily="34" charset="0"/>
                <a:ea typeface="楷体_GB2312" pitchFamily="49" charset="-122"/>
                <a:cs typeface="Arial" panose="020B0604020202020204" pitchFamily="34" charset="0"/>
                <a:sym typeface="+mn-ea"/>
              </a:rPr>
              <a:t>D</a:t>
            </a:r>
            <a:r>
              <a:rPr lang="zh-CN" altLang="en-US" sz="2700" b="1" dirty="0">
                <a:solidFill>
                  <a:srgbClr val="800000"/>
                </a:solidFill>
                <a:latin typeface="Arial" panose="020B0604020202020204" pitchFamily="34" charset="0"/>
                <a:ea typeface="楷体_GB2312" pitchFamily="49" charset="-122"/>
                <a:cs typeface="Arial" panose="020B0604020202020204" pitchFamily="34" charset="0"/>
                <a:sym typeface="+mn-ea"/>
              </a:rPr>
              <a:t>efinition</a:t>
            </a:r>
            <a:endParaRPr lang="zh-CN" altLang="en-US" sz="2700" b="1" dirty="0">
              <a:latin typeface="Arial" panose="020B0604020202020204" pitchFamily="34" charset="0"/>
              <a:ea typeface="楷体_GB2312" pitchFamily="49" charset="-122"/>
              <a:cs typeface="Arial" panose="020B0604020202020204" pitchFamily="34" charset="0"/>
            </a:endParaRPr>
          </a:p>
          <a:p>
            <a:pPr marL="342900" indent="-342900">
              <a:lnSpc>
                <a:spcPct val="130000"/>
              </a:lnSpc>
              <a:spcBef>
                <a:spcPct val="20000"/>
              </a:spcBef>
            </a:pPr>
            <a:r>
              <a:rPr lang="zh-CN" altLang="en-US" sz="2700" b="1" dirty="0">
                <a:latin typeface="Arial" panose="020B0604020202020204" pitchFamily="34" charset="0"/>
                <a:ea typeface="楷体_GB2312" pitchFamily="49" charset="-122"/>
                <a:cs typeface="Arial" panose="020B0604020202020204" pitchFamily="34" charset="0"/>
                <a:sym typeface="+mn-ea"/>
              </a:rPr>
              <a:t>Let G=(V, VR) be a directed graph with n (n≥1) vertices. The adjacency matrix of G is an n×n square matrix with the following properties:</a:t>
            </a:r>
            <a:endParaRPr lang="en-US" altLang="zh-CN" sz="2700" b="1" dirty="0">
              <a:latin typeface="Arial" panose="020B0604020202020204" pitchFamily="34" charset="0"/>
              <a:ea typeface="楷体_GB2312" pitchFamily="49" charset="-122"/>
              <a:cs typeface="Arial" panose="020B0604020202020204" pitchFamily="34" charset="0"/>
            </a:endParaRPr>
          </a:p>
          <a:p>
            <a:pPr marL="342900" indent="-342900">
              <a:lnSpc>
                <a:spcPct val="130000"/>
              </a:lnSpc>
              <a:spcBef>
                <a:spcPct val="20000"/>
              </a:spcBef>
            </a:pPr>
            <a:r>
              <a:rPr lang="en-US" altLang="zh-CN" sz="3200" b="1" dirty="0">
                <a:latin typeface="Consolas" panose="020B0609020204030204" pitchFamily="49" charset="0"/>
                <a:ea typeface="楷体_GB2312" pitchFamily="49" charset="-122"/>
              </a:rPr>
              <a:t>      A[</a:t>
            </a:r>
            <a:r>
              <a:rPr lang="en-US" altLang="zh-CN" sz="3200" b="1" dirty="0" err="1">
                <a:latin typeface="Consolas" panose="020B0609020204030204" pitchFamily="49" charset="0"/>
                <a:ea typeface="楷体_GB2312" pitchFamily="49" charset="-122"/>
              </a:rPr>
              <a:t>i,j</a:t>
            </a:r>
            <a:r>
              <a:rPr lang="en-US" altLang="zh-CN" sz="3200" b="1" dirty="0">
                <a:latin typeface="Consolas" panose="020B0609020204030204" pitchFamily="49" charset="0"/>
                <a:ea typeface="楷体_GB2312" pitchFamily="49" charset="-122"/>
              </a:rPr>
              <a:t>]=</a:t>
            </a:r>
            <a:br>
              <a:rPr lang="en-US" altLang="zh-CN" sz="3200" b="1" dirty="0">
                <a:latin typeface="Consolas" panose="020B0609020204030204" pitchFamily="49" charset="0"/>
                <a:ea typeface="楷体_GB2312" pitchFamily="49" charset="-122"/>
              </a:rPr>
            </a:br>
            <a:endParaRPr lang="en-US" altLang="zh-CN" sz="3200" b="1" dirty="0">
              <a:latin typeface="Consolas" panose="020B0609020204030204" pitchFamily="49" charset="0"/>
              <a:ea typeface="楷体_GB2312" pitchFamily="49" charset="-122"/>
            </a:endParaRPr>
          </a:p>
        </p:txBody>
      </p:sp>
      <p:sp>
        <p:nvSpPr>
          <p:cNvPr id="7" name="AutoShape 3"/>
          <p:cNvSpPr/>
          <p:nvPr/>
        </p:nvSpPr>
        <p:spPr bwMode="auto">
          <a:xfrm>
            <a:off x="3779912" y="3945632"/>
            <a:ext cx="152400" cy="838200"/>
          </a:xfrm>
          <a:prstGeom prst="leftBrace">
            <a:avLst>
              <a:gd name="adj1" fmla="val 4583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5"/>
          <p:cNvSpPr txBox="1">
            <a:spLocks noChangeArrowheads="1"/>
          </p:cNvSpPr>
          <p:nvPr/>
        </p:nvSpPr>
        <p:spPr bwMode="auto">
          <a:xfrm>
            <a:off x="4008755" y="3717290"/>
            <a:ext cx="460756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b="1" dirty="0">
                <a:ea typeface="楷体_GB2312" pitchFamily="49" charset="-122"/>
              </a:rPr>
              <a:t>1     when</a:t>
            </a:r>
            <a:r>
              <a:rPr lang="zh-CN" altLang="en-US" sz="3200" b="1" dirty="0">
                <a:ea typeface="楷体_GB2312" pitchFamily="49" charset="-122"/>
              </a:rPr>
              <a:t> </a:t>
            </a:r>
            <a:r>
              <a:rPr lang="en-US" altLang="zh-CN" sz="3200" b="1" dirty="0">
                <a:ea typeface="楷体_GB2312" pitchFamily="49" charset="-122"/>
              </a:rPr>
              <a:t>&lt;v</a:t>
            </a:r>
            <a:r>
              <a:rPr lang="en-US" altLang="zh-CN" sz="3200" b="1" baseline="-25000" dirty="0">
                <a:ea typeface="楷体_GB2312" pitchFamily="49" charset="-122"/>
              </a:rPr>
              <a:t>i</a:t>
            </a:r>
            <a:r>
              <a:rPr lang="en-US" altLang="zh-CN" sz="3200" b="1" dirty="0">
                <a:ea typeface="楷体_GB2312" pitchFamily="49" charset="-122"/>
              </a:rPr>
              <a:t>, </a:t>
            </a:r>
            <a:r>
              <a:rPr lang="en-US" altLang="zh-CN" sz="3200" b="1" dirty="0" err="1">
                <a:ea typeface="楷体_GB2312" pitchFamily="49" charset="-122"/>
              </a:rPr>
              <a:t>v</a:t>
            </a:r>
            <a:r>
              <a:rPr lang="en-US" altLang="zh-CN" sz="3200" b="1" baseline="-25000" dirty="0" err="1">
                <a:ea typeface="楷体_GB2312" pitchFamily="49" charset="-122"/>
              </a:rPr>
              <a:t>j</a:t>
            </a:r>
            <a:r>
              <a:rPr lang="en-US" altLang="zh-CN" sz="3200" b="1" dirty="0">
                <a:ea typeface="楷体_GB2312" pitchFamily="49" charset="-122"/>
              </a:rPr>
              <a:t>&gt; </a:t>
            </a:r>
            <a:r>
              <a:rPr lang="en-US" altLang="zh-CN" sz="3200" dirty="0">
                <a:solidFill>
                  <a:srgbClr val="000099"/>
                </a:solidFill>
                <a:sym typeface="Symbol" panose="05050102010706020507" pitchFamily="18" charset="2"/>
              </a:rPr>
              <a:t></a:t>
            </a:r>
            <a:r>
              <a:rPr lang="en-US" altLang="zh-CN" sz="3200" b="1" dirty="0">
                <a:ea typeface="楷体_GB2312" pitchFamily="49" charset="-122"/>
              </a:rPr>
              <a:t> E</a:t>
            </a:r>
            <a:endParaRPr lang="en-US" altLang="zh-CN" sz="3200" b="1" dirty="0">
              <a:ea typeface="楷体_GB2312" pitchFamily="49" charset="-122"/>
            </a:endParaRPr>
          </a:p>
        </p:txBody>
      </p:sp>
      <p:sp>
        <p:nvSpPr>
          <p:cNvPr id="9" name="Text Box 6"/>
          <p:cNvSpPr txBox="1">
            <a:spLocks noChangeArrowheads="1"/>
          </p:cNvSpPr>
          <p:nvPr/>
        </p:nvSpPr>
        <p:spPr bwMode="auto">
          <a:xfrm>
            <a:off x="4008755" y="4250690"/>
            <a:ext cx="4392295" cy="730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spcBef>
                <a:spcPct val="20000"/>
              </a:spcBef>
            </a:pPr>
            <a:r>
              <a:rPr lang="en-US" altLang="zh-CN" sz="3200" b="1" dirty="0">
                <a:ea typeface="楷体_GB2312" pitchFamily="49" charset="-122"/>
              </a:rPr>
              <a:t>0     when</a:t>
            </a:r>
            <a:r>
              <a:rPr lang="zh-CN" altLang="en-US" sz="3200" b="1" dirty="0">
                <a:ea typeface="楷体_GB2312" pitchFamily="49" charset="-122"/>
              </a:rPr>
              <a:t> </a:t>
            </a:r>
            <a:r>
              <a:rPr lang="en-US" altLang="zh-CN" sz="3200" b="1" dirty="0">
                <a:ea typeface="楷体_GB2312" pitchFamily="49" charset="-122"/>
              </a:rPr>
              <a:t>&lt;v</a:t>
            </a:r>
            <a:r>
              <a:rPr lang="en-US" altLang="zh-CN" sz="3200" b="1" baseline="-25000" dirty="0">
                <a:ea typeface="楷体_GB2312" pitchFamily="49" charset="-122"/>
              </a:rPr>
              <a:t>i</a:t>
            </a:r>
            <a:r>
              <a:rPr lang="en-US" altLang="zh-CN" sz="3200" b="1" dirty="0">
                <a:ea typeface="楷体_GB2312" pitchFamily="49" charset="-122"/>
              </a:rPr>
              <a:t>, </a:t>
            </a:r>
            <a:r>
              <a:rPr lang="en-US" altLang="zh-CN" sz="3200" b="1" dirty="0" err="1">
                <a:ea typeface="楷体_GB2312" pitchFamily="49" charset="-122"/>
              </a:rPr>
              <a:t>v</a:t>
            </a:r>
            <a:r>
              <a:rPr lang="en-US" altLang="zh-CN" sz="3200" b="1" baseline="-25000" dirty="0" err="1">
                <a:ea typeface="楷体_GB2312" pitchFamily="49" charset="-122"/>
              </a:rPr>
              <a:t>j</a:t>
            </a:r>
            <a:r>
              <a:rPr lang="en-US" altLang="zh-CN" sz="3200" b="1" dirty="0">
                <a:ea typeface="楷体_GB2312" pitchFamily="49" charset="-122"/>
              </a:rPr>
              <a:t>&gt; </a:t>
            </a:r>
            <a:r>
              <a:rPr lang="en-US" altLang="zh-CN" sz="3200" dirty="0">
                <a:solidFill>
                  <a:srgbClr val="000099"/>
                </a:solidFill>
                <a:sym typeface="Symbol" panose="05050102010706020507" pitchFamily="18" charset="2"/>
              </a:rPr>
              <a:t></a:t>
            </a:r>
            <a:r>
              <a:rPr lang="en-US" altLang="zh-CN" sz="3200" b="1" dirty="0">
                <a:ea typeface="楷体_GB2312" pitchFamily="49" charset="-122"/>
              </a:rPr>
              <a:t> E</a:t>
            </a:r>
            <a:endParaRPr lang="en-US" altLang="zh-CN" sz="3200" b="1" dirty="0">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10" name="灯片编号占位符 9"/>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3200">
                <a:sym typeface="+mn-ea"/>
              </a:rPr>
              <a:t>Characteristics of the </a:t>
            </a:r>
            <a:r>
              <a:rPr lang="en-US" altLang="zh-CN" sz="3200">
                <a:sym typeface="+mn-ea"/>
              </a:rPr>
              <a:t>A</a:t>
            </a:r>
            <a:r>
              <a:rPr sz="3200">
                <a:sym typeface="+mn-ea"/>
              </a:rPr>
              <a:t>djacency </a:t>
            </a:r>
            <a:r>
              <a:rPr lang="en-US" altLang="zh-CN" sz="3200">
                <a:sym typeface="+mn-ea"/>
              </a:rPr>
              <a:t>M</a:t>
            </a:r>
            <a:r>
              <a:rPr sz="3200">
                <a:sym typeface="+mn-ea"/>
              </a:rPr>
              <a:t>atrix of an </a:t>
            </a:r>
            <a:r>
              <a:rPr lang="en-US" altLang="zh-CN" sz="3200">
                <a:sym typeface="+mn-ea"/>
              </a:rPr>
              <a:t>D</a:t>
            </a:r>
            <a:r>
              <a:rPr sz="3200">
                <a:sym typeface="+mn-ea"/>
              </a:rPr>
              <a:t>irected </a:t>
            </a:r>
            <a:r>
              <a:rPr lang="en-US" altLang="zh-CN" sz="3200">
                <a:sym typeface="+mn-ea"/>
              </a:rPr>
              <a:t>G</a:t>
            </a:r>
            <a:r>
              <a:rPr sz="3200">
                <a:sym typeface="+mn-ea"/>
              </a:rPr>
              <a:t>raph</a:t>
            </a:r>
            <a:endParaRPr lang="zh-CN" altLang="en-US" sz="3200" dirty="0">
              <a:sym typeface="+mn-ea"/>
            </a:endParaRPr>
          </a:p>
        </p:txBody>
      </p:sp>
      <p:sp>
        <p:nvSpPr>
          <p:cNvPr id="6" name="Rectangle 2"/>
          <p:cNvSpPr>
            <a:spLocks noChangeArrowheads="1"/>
          </p:cNvSpPr>
          <p:nvPr/>
        </p:nvSpPr>
        <p:spPr bwMode="auto">
          <a:xfrm>
            <a:off x="611188" y="3402533"/>
            <a:ext cx="8280400" cy="1722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73380" indent="-373380">
              <a:lnSpc>
                <a:spcPct val="125000"/>
              </a:lnSpc>
              <a:buSzPct val="175000"/>
              <a:buFontTx/>
              <a:buChar char="•"/>
            </a:pP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The adjacency matrix of a directed graph is an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asymmetric matrix.</a:t>
            </a:r>
            <a:endParaRPr lang="zh-CN" altLang="en-US" sz="2000" b="1" dirty="0">
              <a:solidFill>
                <a:srgbClr val="000099"/>
              </a:solidFill>
              <a:latin typeface="Arial" panose="020B0604020202020204" pitchFamily="34" charset="0"/>
              <a:ea typeface="楷体_GB2312" pitchFamily="49" charset="-122"/>
              <a:cs typeface="Arial" panose="020B0604020202020204" pitchFamily="34" charset="0"/>
            </a:endParaRPr>
          </a:p>
          <a:p>
            <a:pPr marL="373380" indent="-373380">
              <a:lnSpc>
                <a:spcPct val="130000"/>
              </a:lnSpc>
              <a:spcBef>
                <a:spcPct val="20000"/>
              </a:spcBef>
              <a:buSzPct val="175000"/>
              <a:buFontTx/>
              <a:buChar char="•"/>
            </a:pP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The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sum</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 of elements in the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i-th</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 row of the adjacency matrix represents the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out-degree</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 of vertex Vi.</a:t>
            </a:r>
            <a:endPar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7" name="Oval 3"/>
          <p:cNvSpPr>
            <a:spLocks noChangeArrowheads="1"/>
          </p:cNvSpPr>
          <p:nvPr/>
        </p:nvSpPr>
        <p:spPr bwMode="auto">
          <a:xfrm>
            <a:off x="1752600" y="131973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8" name="Oval 4"/>
          <p:cNvSpPr>
            <a:spLocks noChangeArrowheads="1"/>
          </p:cNvSpPr>
          <p:nvPr/>
        </p:nvSpPr>
        <p:spPr bwMode="auto">
          <a:xfrm>
            <a:off x="3124200" y="131973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9" name="Oval 5"/>
          <p:cNvSpPr>
            <a:spLocks noChangeArrowheads="1"/>
          </p:cNvSpPr>
          <p:nvPr/>
        </p:nvSpPr>
        <p:spPr bwMode="auto">
          <a:xfrm>
            <a:off x="1752600" y="261513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10" name="Oval 6"/>
          <p:cNvSpPr>
            <a:spLocks noChangeArrowheads="1"/>
          </p:cNvSpPr>
          <p:nvPr/>
        </p:nvSpPr>
        <p:spPr bwMode="auto">
          <a:xfrm>
            <a:off x="3124200" y="261513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11" name="Line 7"/>
          <p:cNvSpPr>
            <a:spLocks noChangeShapeType="1"/>
          </p:cNvSpPr>
          <p:nvPr/>
        </p:nvSpPr>
        <p:spPr bwMode="auto">
          <a:xfrm>
            <a:off x="1981200" y="1776933"/>
            <a:ext cx="0" cy="8382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 name="Line 8"/>
          <p:cNvSpPr>
            <a:spLocks noChangeShapeType="1"/>
          </p:cNvSpPr>
          <p:nvPr/>
        </p:nvSpPr>
        <p:spPr bwMode="auto">
          <a:xfrm>
            <a:off x="2209800" y="1548333"/>
            <a:ext cx="9906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3" name="Line 9"/>
          <p:cNvSpPr>
            <a:spLocks noChangeShapeType="1"/>
          </p:cNvSpPr>
          <p:nvPr/>
        </p:nvSpPr>
        <p:spPr bwMode="auto">
          <a:xfrm>
            <a:off x="2209800" y="2843733"/>
            <a:ext cx="9144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4" name="Line 10"/>
          <p:cNvSpPr>
            <a:spLocks noChangeShapeType="1"/>
          </p:cNvSpPr>
          <p:nvPr/>
        </p:nvSpPr>
        <p:spPr bwMode="auto">
          <a:xfrm flipH="1" flipV="1">
            <a:off x="2209800" y="1700733"/>
            <a:ext cx="990600" cy="9906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 name="AutoShape 11"/>
          <p:cNvSpPr>
            <a:spLocks noChangeArrowheads="1"/>
          </p:cNvSpPr>
          <p:nvPr/>
        </p:nvSpPr>
        <p:spPr bwMode="auto">
          <a:xfrm>
            <a:off x="4724400" y="1243533"/>
            <a:ext cx="2514600" cy="1905000"/>
          </a:xfrm>
          <a:prstGeom prst="bracketPair">
            <a:avLst>
              <a:gd name="adj" fmla="val 1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0   1   1   0</a:t>
            </a:r>
            <a:endParaRPr lang="en-US" altLang="zh-CN" sz="2800" b="1"/>
          </a:p>
          <a:p>
            <a:pPr algn="ctr"/>
            <a:r>
              <a:rPr lang="en-US" altLang="zh-CN" sz="2800" b="1"/>
              <a:t>0   0   0   0</a:t>
            </a:r>
            <a:endParaRPr lang="en-US" altLang="zh-CN" sz="2800" b="1"/>
          </a:p>
          <a:p>
            <a:pPr algn="ctr"/>
            <a:r>
              <a:rPr lang="en-US" altLang="zh-CN" sz="2800" b="1"/>
              <a:t>0   0   0   1</a:t>
            </a:r>
            <a:endParaRPr lang="en-US" altLang="zh-CN" sz="2800" b="1"/>
          </a:p>
          <a:p>
            <a:pPr algn="ctr"/>
            <a:r>
              <a:rPr lang="en-US" altLang="zh-CN" sz="2800" b="1"/>
              <a:t>1   0   0   0</a:t>
            </a:r>
            <a:endParaRPr lang="en-US" altLang="zh-CN" sz="2800" b="1"/>
          </a:p>
        </p:txBody>
      </p:sp>
      <p:sp>
        <p:nvSpPr>
          <p:cNvPr id="16" name="Rectangle 12"/>
          <p:cNvSpPr>
            <a:spLocks noChangeArrowheads="1"/>
          </p:cNvSpPr>
          <p:nvPr/>
        </p:nvSpPr>
        <p:spPr bwMode="auto">
          <a:xfrm>
            <a:off x="584200" y="5044643"/>
            <a:ext cx="82804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73380" indent="-373380">
              <a:lnSpc>
                <a:spcPct val="125000"/>
              </a:lnSpc>
              <a:buSzPct val="175000"/>
              <a:buFontTx/>
              <a:buChar char="•"/>
            </a:pP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The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sum</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 of elements in </a:t>
            </a:r>
            <a:r>
              <a:rPr lang="en-US" altLang="zh-CN" sz="2000" b="1" dirty="0">
                <a:solidFill>
                  <a:srgbClr val="FF0000"/>
                </a:solidFill>
                <a:latin typeface="Arial" panose="020B0604020202020204" pitchFamily="34" charset="0"/>
                <a:ea typeface="楷体_GB2312" pitchFamily="49" charset="-122"/>
                <a:cs typeface="Arial" panose="020B0604020202020204" pitchFamily="34" charset="0"/>
                <a:sym typeface="+mn-ea"/>
              </a:rPr>
              <a:t>j-th</a:t>
            </a:r>
            <a:r>
              <a:rPr lang="en-US" altLang="zh-CN" sz="2000" b="1" dirty="0">
                <a:solidFill>
                  <a:srgbClr val="000099"/>
                </a:solidFill>
                <a:latin typeface="Arial" panose="020B0604020202020204" pitchFamily="34" charset="0"/>
                <a:ea typeface="楷体_GB2312" pitchFamily="49" charset="-122"/>
                <a:cs typeface="Arial" panose="020B0604020202020204" pitchFamily="34" charset="0"/>
                <a:sym typeface="+mn-ea"/>
              </a:rPr>
              <a:t> </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column of the adjacency matrix represents the </a:t>
            </a:r>
            <a:r>
              <a:rPr lang="zh-CN" altLang="en-US" sz="2000" b="1" dirty="0">
                <a:solidFill>
                  <a:srgbClr val="FF0000"/>
                </a:solidFill>
                <a:latin typeface="Arial" panose="020B0604020202020204" pitchFamily="34" charset="0"/>
                <a:ea typeface="楷体_GB2312" pitchFamily="49" charset="-122"/>
                <a:cs typeface="Arial" panose="020B0604020202020204" pitchFamily="34" charset="0"/>
                <a:sym typeface="+mn-ea"/>
              </a:rPr>
              <a:t>in-degree</a:t>
            </a:r>
            <a:r>
              <a:rPr lang="zh-CN" altLang="en-US" sz="2000" b="1" dirty="0">
                <a:solidFill>
                  <a:srgbClr val="000099"/>
                </a:solidFill>
                <a:latin typeface="Arial" panose="020B0604020202020204" pitchFamily="34" charset="0"/>
                <a:ea typeface="楷体_GB2312" pitchFamily="49" charset="-122"/>
                <a:cs typeface="Arial" panose="020B0604020202020204" pitchFamily="34" charset="0"/>
                <a:sym typeface="+mn-ea"/>
              </a:rPr>
              <a:t> of vertex Vj.</a:t>
            </a:r>
            <a:endParaRPr lang="zh-CN" altLang="en-US" sz="2000" b="1" dirty="0">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17" name="灯片编号占位符 1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xEl>
                                              <p:pRg st="4294967295" end="4294967295"/>
                                            </p:txEl>
                                          </p:spTgt>
                                        </p:tgtEl>
                                        <p:attrNameLst>
                                          <p:attrName>style.visibility</p:attrName>
                                        </p:attrNameLst>
                                      </p:cBhvr>
                                      <p:to>
                                        <p:strVal val="visible"/>
                                      </p:to>
                                    </p:set>
                                    <p:animEffect transition="in" filter="slide(fromBottom)">
                                      <p:cBhvr>
                                        <p:cTn id="7" dur="500"/>
                                        <p:tgtEl>
                                          <p:spTgt spid="6">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slide(fromBottom)">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slide(fromBottom)">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
                                            <p:txEl>
                                              <p:pRg st="4294967295" end="4294967295"/>
                                            </p:txEl>
                                          </p:spTgt>
                                        </p:tgtEl>
                                        <p:attrNameLst>
                                          <p:attrName>style.visibility</p:attrName>
                                        </p:attrNameLst>
                                      </p:cBhvr>
                                      <p:to>
                                        <p:strVal val="visible"/>
                                      </p:to>
                                    </p:set>
                                    <p:animEffect transition="in" filter="slide(fromBottom)">
                                      <p:cBhvr>
                                        <p:cTn id="22" dur="500"/>
                                        <p:tgtEl>
                                          <p:spTgt spid="16">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slide(fromBottom)">
                                      <p:cBhvr>
                                        <p:cTn id="27"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ea typeface="楷体_GB2312" pitchFamily="49" charset="-122"/>
                <a:sym typeface="+mn-ea"/>
              </a:rPr>
              <a:t>Network </a:t>
            </a:r>
            <a:r>
              <a:rPr lang="en-US" altLang="zh-CN">
                <a:solidFill>
                  <a:srgbClr val="FF0000"/>
                </a:solidFill>
                <a:ea typeface="楷体_GB2312" pitchFamily="49" charset="-122"/>
                <a:sym typeface="+mn-ea"/>
              </a:rPr>
              <a:t>A</a:t>
            </a:r>
            <a:r>
              <a:rPr>
                <a:sym typeface="+mn-ea"/>
              </a:rPr>
              <a:t>djacency </a:t>
            </a:r>
            <a:r>
              <a:rPr lang="en-US" altLang="zh-CN">
                <a:sym typeface="+mn-ea"/>
              </a:rPr>
              <a:t>M</a:t>
            </a:r>
            <a:r>
              <a:rPr>
                <a:sym typeface="+mn-ea"/>
              </a:rPr>
              <a:t>atrix</a:t>
            </a:r>
            <a:endParaRPr lang="zh-CN" altLang="en-US" dirty="0"/>
          </a:p>
        </p:txBody>
      </p:sp>
      <p:sp>
        <p:nvSpPr>
          <p:cNvPr id="19" name="Text Box 3"/>
          <p:cNvSpPr txBox="1">
            <a:spLocks noChangeArrowheads="1"/>
          </p:cNvSpPr>
          <p:nvPr/>
        </p:nvSpPr>
        <p:spPr bwMode="auto">
          <a:xfrm>
            <a:off x="762000" y="1215676"/>
            <a:ext cx="7772400" cy="478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4800"/>
              </a:lnSpc>
              <a:spcBef>
                <a:spcPts val="0"/>
              </a:spcBef>
              <a:spcAft>
                <a:spcPts val="600"/>
              </a:spcAft>
              <a:buFontTx/>
              <a:buChar char="•"/>
            </a:pPr>
            <a:r>
              <a:rPr lang="en-US" altLang="zh-CN" sz="2400" b="1" dirty="0">
                <a:solidFill>
                  <a:srgbClr val="800000"/>
                </a:solidFill>
                <a:latin typeface="Arial" panose="020B0604020202020204" pitchFamily="34" charset="0"/>
                <a:ea typeface="楷体_GB2312" pitchFamily="49" charset="-122"/>
                <a:cs typeface="Arial" panose="020B0604020202020204" pitchFamily="34" charset="0"/>
                <a:sym typeface="+mn-ea"/>
              </a:rPr>
              <a:t>D</a:t>
            </a:r>
            <a:r>
              <a:rPr lang="zh-CN" altLang="en-US" sz="2400" b="1" dirty="0">
                <a:solidFill>
                  <a:srgbClr val="800000"/>
                </a:solidFill>
                <a:latin typeface="Arial" panose="020B0604020202020204" pitchFamily="34" charset="0"/>
                <a:ea typeface="楷体_GB2312" pitchFamily="49" charset="-122"/>
                <a:cs typeface="Arial" panose="020B0604020202020204" pitchFamily="34" charset="0"/>
                <a:sym typeface="+mn-ea"/>
              </a:rPr>
              <a:t>efinition</a:t>
            </a:r>
            <a:endParaRPr lang="zh-CN" altLang="en-US" sz="2400" b="1" dirty="0">
              <a:latin typeface="Arial" panose="020B0604020202020204" pitchFamily="34" charset="0"/>
              <a:ea typeface="楷体_GB2312" pitchFamily="49" charset="-122"/>
              <a:cs typeface="Arial" panose="020B0604020202020204" pitchFamily="34" charset="0"/>
            </a:endParaRPr>
          </a:p>
          <a:p>
            <a:pPr>
              <a:lnSpc>
                <a:spcPts val="4800"/>
              </a:lnSpc>
              <a:spcBef>
                <a:spcPts val="0"/>
              </a:spcBef>
              <a:spcAft>
                <a:spcPts val="600"/>
              </a:spcAft>
            </a:pPr>
            <a:r>
              <a:rPr lang="zh-CN" altLang="en-US" sz="2400" b="1" dirty="0">
                <a:latin typeface="Arial" panose="020B0604020202020204" pitchFamily="34" charset="0"/>
                <a:ea typeface="楷体_GB2312" pitchFamily="49" charset="-122"/>
                <a:cs typeface="Arial" panose="020B0604020202020204" pitchFamily="34" charset="0"/>
                <a:sym typeface="+mn-ea"/>
              </a:rPr>
              <a:t>Let G=(V, VR) be a directed network with n (n≥1) vertices. The adjacency matrix of G is an n×n square matrix with the following properties:</a:t>
            </a:r>
            <a:endParaRPr lang="en-US" altLang="zh-CN" sz="2400" b="1" dirty="0">
              <a:latin typeface="Arial" panose="020B0604020202020204" pitchFamily="34" charset="0"/>
              <a:ea typeface="楷体_GB2312" pitchFamily="49" charset="-122"/>
              <a:cs typeface="Arial" panose="020B0604020202020204" pitchFamily="34" charset="0"/>
            </a:endParaRPr>
          </a:p>
          <a:p>
            <a:pPr>
              <a:lnSpc>
                <a:spcPts val="4800"/>
              </a:lnSpc>
              <a:spcBef>
                <a:spcPts val="0"/>
              </a:spcBef>
              <a:spcAft>
                <a:spcPts val="600"/>
              </a:spcAft>
            </a:pPr>
            <a:r>
              <a:rPr lang="en-US" altLang="zh-CN" sz="3200" b="1" dirty="0">
                <a:latin typeface="楷体_GB2312" pitchFamily="49" charset="-122"/>
                <a:ea typeface="楷体_GB2312" pitchFamily="49" charset="-122"/>
              </a:rPr>
              <a:t>     </a:t>
            </a:r>
            <a:endParaRPr lang="en-US" altLang="zh-CN" sz="3200" b="1" dirty="0">
              <a:latin typeface="楷体_GB2312" pitchFamily="49" charset="-122"/>
              <a:ea typeface="楷体_GB2312" pitchFamily="49" charset="-122"/>
            </a:endParaRPr>
          </a:p>
          <a:p>
            <a:pPr>
              <a:lnSpc>
                <a:spcPct val="130000"/>
              </a:lnSpc>
              <a:spcBef>
                <a:spcPct val="20000"/>
              </a:spcBef>
            </a:pPr>
            <a:r>
              <a:rPr lang="en-US" altLang="zh-CN" sz="3200" b="1" dirty="0">
                <a:latin typeface="楷体_GB2312" pitchFamily="49" charset="-122"/>
                <a:ea typeface="楷体_GB2312" pitchFamily="49" charset="-122"/>
              </a:rPr>
              <a:t>   </a:t>
            </a:r>
            <a:r>
              <a:rPr lang="en-US" altLang="zh-CN" sz="3200" b="1" dirty="0">
                <a:ea typeface="楷体_GB2312" pitchFamily="49" charset="-122"/>
              </a:rPr>
              <a:t>A[</a:t>
            </a:r>
            <a:r>
              <a:rPr lang="en-US" altLang="zh-CN" sz="3200" b="1" dirty="0" err="1">
                <a:ea typeface="楷体_GB2312" pitchFamily="49" charset="-122"/>
              </a:rPr>
              <a:t>i</a:t>
            </a:r>
            <a:r>
              <a:rPr lang="en-US" altLang="zh-CN" sz="3200" b="1" dirty="0">
                <a:ea typeface="楷体_GB2312" pitchFamily="49" charset="-122"/>
              </a:rPr>
              <a:t>, j] =</a:t>
            </a:r>
            <a:endParaRPr lang="en-US" altLang="zh-CN" sz="3200" b="1" dirty="0">
              <a:ea typeface="楷体_GB2312" pitchFamily="49" charset="-122"/>
            </a:endParaRPr>
          </a:p>
          <a:p>
            <a:pPr>
              <a:spcBef>
                <a:spcPct val="50000"/>
              </a:spcBef>
            </a:pPr>
            <a:endParaRPr lang="en-US" altLang="zh-CN" dirty="0"/>
          </a:p>
        </p:txBody>
      </p:sp>
      <p:sp>
        <p:nvSpPr>
          <p:cNvPr id="20" name="Text Box 4"/>
          <p:cNvSpPr txBox="1">
            <a:spLocks noChangeArrowheads="1"/>
          </p:cNvSpPr>
          <p:nvPr/>
        </p:nvSpPr>
        <p:spPr bwMode="auto">
          <a:xfrm>
            <a:off x="3418205" y="4225290"/>
            <a:ext cx="4521200" cy="122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b="1">
                <a:ea typeface="楷体_GB2312" pitchFamily="49" charset="-122"/>
              </a:rPr>
              <a:t>w</a:t>
            </a:r>
            <a:r>
              <a:rPr lang="en-US" altLang="zh-CN" sz="3200" b="1" baseline="-25000">
                <a:ea typeface="楷体_GB2312" pitchFamily="49" charset="-122"/>
              </a:rPr>
              <a:t>ij</a:t>
            </a:r>
            <a:r>
              <a:rPr lang="en-US" altLang="zh-CN" sz="3200" b="1">
                <a:ea typeface="楷体_GB2312" pitchFamily="49" charset="-122"/>
              </a:rPr>
              <a:t>    when</a:t>
            </a:r>
            <a:r>
              <a:rPr lang="zh-CN" altLang="en-US" sz="3200" b="1">
                <a:ea typeface="楷体_GB2312" pitchFamily="49" charset="-122"/>
              </a:rPr>
              <a:t> </a:t>
            </a:r>
            <a:r>
              <a:rPr lang="en-US" altLang="zh-CN" sz="3200" b="1">
                <a:ea typeface="楷体_GB2312" pitchFamily="49" charset="-122"/>
              </a:rPr>
              <a:t>&lt;v</a:t>
            </a:r>
            <a:r>
              <a:rPr lang="en-US" altLang="zh-CN" sz="3200" b="1" baseline="-25000">
                <a:ea typeface="楷体_GB2312" pitchFamily="49" charset="-122"/>
              </a:rPr>
              <a:t>i</a:t>
            </a:r>
            <a:r>
              <a:rPr lang="en-US" altLang="zh-CN" sz="3200" b="1">
                <a:ea typeface="楷体_GB2312" pitchFamily="49" charset="-122"/>
              </a:rPr>
              <a:t>,v</a:t>
            </a:r>
            <a:r>
              <a:rPr lang="en-US" altLang="zh-CN" sz="3200" b="1" baseline="-25000">
                <a:ea typeface="楷体_GB2312" pitchFamily="49" charset="-122"/>
              </a:rPr>
              <a:t>j</a:t>
            </a:r>
            <a:r>
              <a:rPr lang="en-US" altLang="zh-CN" sz="3200" b="1">
                <a:ea typeface="楷体_GB2312" pitchFamily="49" charset="-122"/>
              </a:rPr>
              <a:t>&gt; </a:t>
            </a:r>
            <a:r>
              <a:rPr lang="en-US" altLang="zh-CN" sz="3200">
                <a:solidFill>
                  <a:srgbClr val="000099"/>
                </a:solidFill>
                <a:sym typeface="Symbol" panose="05050102010706020507" pitchFamily="18" charset="2"/>
              </a:rPr>
              <a:t></a:t>
            </a:r>
            <a:r>
              <a:rPr lang="en-US" altLang="zh-CN" sz="3200" b="1">
                <a:ea typeface="楷体_GB2312" pitchFamily="49" charset="-122"/>
              </a:rPr>
              <a:t> E</a:t>
            </a:r>
            <a:endParaRPr lang="en-US" altLang="zh-CN" sz="3200" b="1">
              <a:ea typeface="楷体_GB2312" pitchFamily="49" charset="-122"/>
            </a:endParaRPr>
          </a:p>
          <a:p>
            <a:pPr>
              <a:spcBef>
                <a:spcPct val="50000"/>
              </a:spcBef>
            </a:pPr>
            <a:endParaRPr lang="en-US" altLang="zh-CN"/>
          </a:p>
        </p:txBody>
      </p:sp>
      <p:sp>
        <p:nvSpPr>
          <p:cNvPr id="21" name="Text Box 5"/>
          <p:cNvSpPr txBox="1">
            <a:spLocks noChangeArrowheads="1"/>
          </p:cNvSpPr>
          <p:nvPr/>
        </p:nvSpPr>
        <p:spPr bwMode="auto">
          <a:xfrm>
            <a:off x="3342005" y="5153660"/>
            <a:ext cx="498983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b="1">
                <a:latin typeface="宋体" panose="02010600030101010101" pitchFamily="2" charset="-122"/>
              </a:rPr>
              <a:t>∞</a:t>
            </a:r>
            <a:r>
              <a:rPr lang="en-US" altLang="zh-CN" sz="3200" b="1">
                <a:ea typeface="楷体_GB2312" pitchFamily="49" charset="-122"/>
              </a:rPr>
              <a:t>     when</a:t>
            </a:r>
            <a:r>
              <a:rPr lang="zh-CN" altLang="en-US" sz="3200" b="1">
                <a:ea typeface="楷体_GB2312" pitchFamily="49" charset="-122"/>
              </a:rPr>
              <a:t> </a:t>
            </a:r>
            <a:r>
              <a:rPr lang="en-US" altLang="zh-CN" sz="3200" b="1">
                <a:ea typeface="楷体_GB2312" pitchFamily="49" charset="-122"/>
              </a:rPr>
              <a:t>&lt;v</a:t>
            </a:r>
            <a:r>
              <a:rPr lang="en-US" altLang="zh-CN" sz="3200" b="1" baseline="-25000">
                <a:ea typeface="楷体_GB2312" pitchFamily="49" charset="-122"/>
              </a:rPr>
              <a:t>i</a:t>
            </a:r>
            <a:r>
              <a:rPr lang="en-US" altLang="zh-CN" sz="3200" b="1">
                <a:ea typeface="楷体_GB2312" pitchFamily="49" charset="-122"/>
              </a:rPr>
              <a:t>,v</a:t>
            </a:r>
            <a:r>
              <a:rPr lang="en-US" altLang="zh-CN" sz="3200" b="1" baseline="-25000">
                <a:ea typeface="楷体_GB2312" pitchFamily="49" charset="-122"/>
              </a:rPr>
              <a:t>j</a:t>
            </a:r>
            <a:r>
              <a:rPr lang="en-US" altLang="zh-CN" sz="3200" b="1">
                <a:ea typeface="楷体_GB2312" pitchFamily="49" charset="-122"/>
              </a:rPr>
              <a:t>&gt; </a:t>
            </a:r>
            <a:r>
              <a:rPr lang="en-US" altLang="zh-CN" sz="3200">
                <a:solidFill>
                  <a:srgbClr val="000099"/>
                </a:solidFill>
                <a:sym typeface="Symbol" panose="05050102010706020507" pitchFamily="18" charset="2"/>
              </a:rPr>
              <a:t></a:t>
            </a:r>
            <a:r>
              <a:rPr lang="en-US" altLang="zh-CN" sz="3200" b="1">
                <a:ea typeface="楷体_GB2312" pitchFamily="49" charset="-122"/>
              </a:rPr>
              <a:t> E</a:t>
            </a:r>
            <a:endParaRPr lang="en-US" altLang="zh-CN" sz="3200" b="1">
              <a:ea typeface="楷体_GB2312" pitchFamily="49" charset="-122"/>
            </a:endParaRPr>
          </a:p>
        </p:txBody>
      </p:sp>
      <p:sp>
        <p:nvSpPr>
          <p:cNvPr id="22" name="AutoShape 7"/>
          <p:cNvSpPr/>
          <p:nvPr/>
        </p:nvSpPr>
        <p:spPr bwMode="auto">
          <a:xfrm>
            <a:off x="3036912" y="4437856"/>
            <a:ext cx="228600" cy="1066800"/>
          </a:xfrm>
          <a:prstGeom prst="leftBrace">
            <a:avLst>
              <a:gd name="adj1" fmla="val 38889"/>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E</a:t>
            </a:r>
            <a:r>
              <a:rPr>
                <a:sym typeface="+mn-ea"/>
              </a:rPr>
              <a:t>xample of a </a:t>
            </a:r>
            <a:r>
              <a:rPr lang="en-US" altLang="zh-CN">
                <a:sym typeface="+mn-ea"/>
              </a:rPr>
              <a:t>N</a:t>
            </a:r>
            <a:r>
              <a:rPr>
                <a:sym typeface="+mn-ea"/>
              </a:rPr>
              <a:t>etwork </a:t>
            </a:r>
            <a:r>
              <a:rPr lang="en-US" altLang="zh-CN">
                <a:sym typeface="+mn-ea"/>
              </a:rPr>
              <a:t>A</a:t>
            </a:r>
            <a:r>
              <a:rPr>
                <a:sym typeface="+mn-ea"/>
              </a:rPr>
              <a:t>djacency </a:t>
            </a:r>
            <a:r>
              <a:rPr lang="en-US" altLang="zh-CN">
                <a:sym typeface="+mn-ea"/>
              </a:rPr>
              <a:t>M</a:t>
            </a:r>
            <a:r>
              <a:rPr>
                <a:sym typeface="+mn-ea"/>
              </a:rPr>
              <a:t>atrix</a:t>
            </a:r>
            <a:endParaRPr lang="zh-CN" altLang="en-US" dirty="0"/>
          </a:p>
        </p:txBody>
      </p:sp>
      <p:sp>
        <p:nvSpPr>
          <p:cNvPr id="128" name="Oval 2"/>
          <p:cNvSpPr>
            <a:spLocks noChangeArrowheads="1"/>
          </p:cNvSpPr>
          <p:nvPr/>
        </p:nvSpPr>
        <p:spPr bwMode="auto">
          <a:xfrm>
            <a:off x="560512" y="129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V1</a:t>
            </a:r>
            <a:endParaRPr lang="en-US" altLang="zh-CN" b="1"/>
          </a:p>
        </p:txBody>
      </p:sp>
      <p:sp>
        <p:nvSpPr>
          <p:cNvPr id="129" name="Oval 3"/>
          <p:cNvSpPr>
            <a:spLocks noChangeArrowheads="1"/>
          </p:cNvSpPr>
          <p:nvPr/>
        </p:nvSpPr>
        <p:spPr bwMode="auto">
          <a:xfrm>
            <a:off x="2770312" y="1295400"/>
            <a:ext cx="533400" cy="457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 name="Oval 4"/>
          <p:cNvSpPr>
            <a:spLocks noChangeArrowheads="1"/>
          </p:cNvSpPr>
          <p:nvPr/>
        </p:nvSpPr>
        <p:spPr bwMode="auto">
          <a:xfrm>
            <a:off x="4065712" y="26670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V3</a:t>
            </a:r>
            <a:endParaRPr lang="en-US" altLang="zh-CN" b="1"/>
          </a:p>
        </p:txBody>
      </p:sp>
      <p:sp>
        <p:nvSpPr>
          <p:cNvPr id="131" name="Oval 5"/>
          <p:cNvSpPr>
            <a:spLocks noChangeArrowheads="1"/>
          </p:cNvSpPr>
          <p:nvPr/>
        </p:nvSpPr>
        <p:spPr bwMode="auto">
          <a:xfrm>
            <a:off x="179512" y="31242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V6</a:t>
            </a:r>
            <a:endParaRPr lang="en-US" altLang="zh-CN" b="1"/>
          </a:p>
        </p:txBody>
      </p:sp>
      <p:sp>
        <p:nvSpPr>
          <p:cNvPr id="132" name="Oval 6"/>
          <p:cNvSpPr>
            <a:spLocks noChangeArrowheads="1"/>
          </p:cNvSpPr>
          <p:nvPr/>
        </p:nvSpPr>
        <p:spPr bwMode="auto">
          <a:xfrm>
            <a:off x="941512" y="43434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V5</a:t>
            </a:r>
            <a:endParaRPr lang="en-US" altLang="zh-CN" b="1"/>
          </a:p>
        </p:txBody>
      </p:sp>
      <p:sp>
        <p:nvSpPr>
          <p:cNvPr id="133" name="Oval 7"/>
          <p:cNvSpPr>
            <a:spLocks noChangeArrowheads="1"/>
          </p:cNvSpPr>
          <p:nvPr/>
        </p:nvSpPr>
        <p:spPr bwMode="auto">
          <a:xfrm>
            <a:off x="2617912" y="5257800"/>
            <a:ext cx="533400" cy="5334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t>V4</a:t>
            </a:r>
            <a:endParaRPr lang="en-US" altLang="zh-CN" b="1"/>
          </a:p>
        </p:txBody>
      </p:sp>
      <p:sp>
        <p:nvSpPr>
          <p:cNvPr id="134" name="Text Box 8"/>
          <p:cNvSpPr txBox="1">
            <a:spLocks noChangeArrowheads="1"/>
          </p:cNvSpPr>
          <p:nvPr/>
        </p:nvSpPr>
        <p:spPr bwMode="auto">
          <a:xfrm>
            <a:off x="2770312" y="1295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V2</a:t>
            </a:r>
            <a:endParaRPr lang="en-US" altLang="zh-CN" b="1"/>
          </a:p>
        </p:txBody>
      </p:sp>
      <p:sp>
        <p:nvSpPr>
          <p:cNvPr id="135" name="Line 9"/>
          <p:cNvSpPr>
            <a:spLocks noChangeShapeType="1"/>
          </p:cNvSpPr>
          <p:nvPr/>
        </p:nvSpPr>
        <p:spPr bwMode="auto">
          <a:xfrm flipV="1">
            <a:off x="484312" y="1752600"/>
            <a:ext cx="228600" cy="1371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10"/>
          <p:cNvSpPr>
            <a:spLocks noChangeShapeType="1"/>
          </p:cNvSpPr>
          <p:nvPr/>
        </p:nvSpPr>
        <p:spPr bwMode="auto">
          <a:xfrm>
            <a:off x="1093912" y="1524000"/>
            <a:ext cx="1676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Line 11"/>
          <p:cNvSpPr>
            <a:spLocks noChangeShapeType="1"/>
          </p:cNvSpPr>
          <p:nvPr/>
        </p:nvSpPr>
        <p:spPr bwMode="auto">
          <a:xfrm>
            <a:off x="3227512" y="1676400"/>
            <a:ext cx="914400" cy="990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Line 12"/>
          <p:cNvSpPr>
            <a:spLocks noChangeShapeType="1"/>
          </p:cNvSpPr>
          <p:nvPr/>
        </p:nvSpPr>
        <p:spPr bwMode="auto">
          <a:xfrm>
            <a:off x="1017712" y="1676400"/>
            <a:ext cx="1752600" cy="3581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Line 13"/>
          <p:cNvSpPr>
            <a:spLocks noChangeShapeType="1"/>
          </p:cNvSpPr>
          <p:nvPr/>
        </p:nvSpPr>
        <p:spPr bwMode="auto">
          <a:xfrm flipH="1" flipV="1">
            <a:off x="1093912" y="1676400"/>
            <a:ext cx="2971800" cy="1295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Line 14"/>
          <p:cNvSpPr>
            <a:spLocks noChangeShapeType="1"/>
          </p:cNvSpPr>
          <p:nvPr/>
        </p:nvSpPr>
        <p:spPr bwMode="auto">
          <a:xfrm>
            <a:off x="484312" y="3657600"/>
            <a:ext cx="457200" cy="838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1" name="Line 15"/>
          <p:cNvSpPr>
            <a:spLocks noChangeShapeType="1"/>
          </p:cNvSpPr>
          <p:nvPr/>
        </p:nvSpPr>
        <p:spPr bwMode="auto">
          <a:xfrm>
            <a:off x="1322512" y="4876800"/>
            <a:ext cx="12954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2" name="Line 16"/>
          <p:cNvSpPr>
            <a:spLocks noChangeShapeType="1"/>
          </p:cNvSpPr>
          <p:nvPr/>
        </p:nvSpPr>
        <p:spPr bwMode="auto">
          <a:xfrm flipH="1" flipV="1">
            <a:off x="712912" y="3505200"/>
            <a:ext cx="1981200" cy="1828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 name="Line 17"/>
          <p:cNvSpPr>
            <a:spLocks noChangeShapeType="1"/>
          </p:cNvSpPr>
          <p:nvPr/>
        </p:nvSpPr>
        <p:spPr bwMode="auto">
          <a:xfrm flipV="1">
            <a:off x="2998912" y="3200400"/>
            <a:ext cx="1219200" cy="2133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 name="Line 18"/>
          <p:cNvSpPr>
            <a:spLocks noChangeShapeType="1"/>
          </p:cNvSpPr>
          <p:nvPr/>
        </p:nvSpPr>
        <p:spPr bwMode="auto">
          <a:xfrm flipH="1">
            <a:off x="712912" y="3048000"/>
            <a:ext cx="3352800" cy="304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 name="Text Box 19"/>
          <p:cNvSpPr txBox="1">
            <a:spLocks noChangeArrowheads="1"/>
          </p:cNvSpPr>
          <p:nvPr/>
        </p:nvSpPr>
        <p:spPr bwMode="auto">
          <a:xfrm>
            <a:off x="255712" y="2133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3</a:t>
            </a:r>
            <a:endParaRPr lang="en-US" altLang="zh-CN" b="1"/>
          </a:p>
        </p:txBody>
      </p:sp>
      <p:sp>
        <p:nvSpPr>
          <p:cNvPr id="146" name="Text Box 20"/>
          <p:cNvSpPr txBox="1">
            <a:spLocks noChangeArrowheads="1"/>
          </p:cNvSpPr>
          <p:nvPr/>
        </p:nvSpPr>
        <p:spPr bwMode="auto">
          <a:xfrm>
            <a:off x="1703512" y="1143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5</a:t>
            </a:r>
            <a:endParaRPr lang="en-US" altLang="zh-CN" b="1"/>
          </a:p>
        </p:txBody>
      </p:sp>
      <p:sp>
        <p:nvSpPr>
          <p:cNvPr id="147" name="Text Box 21"/>
          <p:cNvSpPr txBox="1">
            <a:spLocks noChangeArrowheads="1"/>
          </p:cNvSpPr>
          <p:nvPr/>
        </p:nvSpPr>
        <p:spPr bwMode="auto">
          <a:xfrm>
            <a:off x="3608512" y="1828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4</a:t>
            </a:r>
            <a:endParaRPr lang="en-US" altLang="zh-CN" b="1"/>
          </a:p>
        </p:txBody>
      </p:sp>
      <p:sp>
        <p:nvSpPr>
          <p:cNvPr id="148" name="Text Box 22"/>
          <p:cNvSpPr txBox="1">
            <a:spLocks noChangeArrowheads="1"/>
          </p:cNvSpPr>
          <p:nvPr/>
        </p:nvSpPr>
        <p:spPr bwMode="auto">
          <a:xfrm>
            <a:off x="2541712" y="1981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8</a:t>
            </a:r>
            <a:endParaRPr lang="en-US" altLang="zh-CN" b="1"/>
          </a:p>
        </p:txBody>
      </p:sp>
      <p:sp>
        <p:nvSpPr>
          <p:cNvPr id="149" name="Text Box 23"/>
          <p:cNvSpPr txBox="1">
            <a:spLocks noChangeArrowheads="1"/>
          </p:cNvSpPr>
          <p:nvPr/>
        </p:nvSpPr>
        <p:spPr bwMode="auto">
          <a:xfrm>
            <a:off x="1551112" y="2590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7</a:t>
            </a:r>
            <a:endParaRPr lang="en-US" altLang="zh-CN" b="1"/>
          </a:p>
        </p:txBody>
      </p:sp>
      <p:sp>
        <p:nvSpPr>
          <p:cNvPr id="150" name="Text Box 24"/>
          <p:cNvSpPr txBox="1">
            <a:spLocks noChangeArrowheads="1"/>
          </p:cNvSpPr>
          <p:nvPr/>
        </p:nvSpPr>
        <p:spPr bwMode="auto">
          <a:xfrm>
            <a:off x="408112" y="3810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a:t>
            </a:r>
            <a:endParaRPr lang="en-US" altLang="zh-CN" b="1"/>
          </a:p>
        </p:txBody>
      </p:sp>
      <p:sp>
        <p:nvSpPr>
          <p:cNvPr id="151" name="Text Box 25"/>
          <p:cNvSpPr txBox="1">
            <a:spLocks noChangeArrowheads="1"/>
          </p:cNvSpPr>
          <p:nvPr/>
        </p:nvSpPr>
        <p:spPr bwMode="auto">
          <a:xfrm>
            <a:off x="1551112" y="5029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5</a:t>
            </a:r>
            <a:endParaRPr lang="en-US" altLang="zh-CN" b="1"/>
          </a:p>
        </p:txBody>
      </p:sp>
      <p:sp>
        <p:nvSpPr>
          <p:cNvPr id="152" name="Text Box 26"/>
          <p:cNvSpPr txBox="1">
            <a:spLocks noChangeArrowheads="1"/>
          </p:cNvSpPr>
          <p:nvPr/>
        </p:nvSpPr>
        <p:spPr bwMode="auto">
          <a:xfrm>
            <a:off x="1398712" y="38862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6</a:t>
            </a:r>
            <a:endParaRPr lang="en-US" altLang="zh-CN" b="1"/>
          </a:p>
        </p:txBody>
      </p:sp>
      <p:sp>
        <p:nvSpPr>
          <p:cNvPr id="153" name="Text Box 27"/>
          <p:cNvSpPr txBox="1">
            <a:spLocks noChangeArrowheads="1"/>
          </p:cNvSpPr>
          <p:nvPr/>
        </p:nvSpPr>
        <p:spPr bwMode="auto">
          <a:xfrm>
            <a:off x="2389312" y="2819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9</a:t>
            </a:r>
            <a:endParaRPr lang="en-US" altLang="zh-CN" b="1"/>
          </a:p>
        </p:txBody>
      </p:sp>
      <p:sp>
        <p:nvSpPr>
          <p:cNvPr id="154" name="Text Box 28"/>
          <p:cNvSpPr txBox="1">
            <a:spLocks noChangeArrowheads="1"/>
          </p:cNvSpPr>
          <p:nvPr/>
        </p:nvSpPr>
        <p:spPr bwMode="auto">
          <a:xfrm>
            <a:off x="3303712" y="3962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5</a:t>
            </a:r>
            <a:endParaRPr lang="en-US" altLang="zh-CN" b="1"/>
          </a:p>
        </p:txBody>
      </p:sp>
      <p:sp>
        <p:nvSpPr>
          <p:cNvPr id="155" name="Text Box 29"/>
          <p:cNvSpPr txBox="1">
            <a:spLocks noChangeArrowheads="1"/>
          </p:cNvSpPr>
          <p:nvPr/>
        </p:nvSpPr>
        <p:spPr bwMode="auto">
          <a:xfrm>
            <a:off x="5361112" y="1600200"/>
            <a:ext cx="3276600"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t>       5               7                         </a:t>
            </a:r>
            <a:endParaRPr lang="en-US" altLang="zh-CN" b="1"/>
          </a:p>
          <a:p>
            <a:pPr>
              <a:spcBef>
                <a:spcPct val="50000"/>
              </a:spcBef>
            </a:pPr>
            <a:r>
              <a:rPr lang="en-US" altLang="zh-CN" b="1"/>
              <a:t>                4                              </a:t>
            </a:r>
            <a:endParaRPr lang="en-US" altLang="zh-CN" b="1"/>
          </a:p>
          <a:p>
            <a:pPr>
              <a:spcBef>
                <a:spcPct val="50000"/>
              </a:spcBef>
              <a:buFontTx/>
              <a:buAutoNum type="arabicPlain" startAt="8"/>
            </a:pPr>
            <a:r>
              <a:rPr lang="en-US" altLang="zh-CN" b="1"/>
              <a:t>                                9</a:t>
            </a:r>
            <a:endParaRPr lang="en-US" altLang="zh-CN" b="1"/>
          </a:p>
          <a:p>
            <a:pPr>
              <a:spcBef>
                <a:spcPct val="50000"/>
              </a:spcBef>
            </a:pPr>
            <a:r>
              <a:rPr lang="en-US" altLang="zh-CN" b="1"/>
              <a:t>                5                    6</a:t>
            </a:r>
            <a:endParaRPr lang="en-US" altLang="zh-CN" b="1"/>
          </a:p>
          <a:p>
            <a:pPr>
              <a:spcBef>
                <a:spcPct val="50000"/>
              </a:spcBef>
            </a:pPr>
            <a:r>
              <a:rPr lang="en-US" altLang="zh-CN" b="1"/>
              <a:t>                        5                    </a:t>
            </a:r>
            <a:endParaRPr lang="en-US" altLang="zh-CN" b="1"/>
          </a:p>
          <a:p>
            <a:pPr>
              <a:spcBef>
                <a:spcPct val="50000"/>
              </a:spcBef>
            </a:pPr>
            <a:r>
              <a:rPr lang="en-US" altLang="zh-CN" b="1"/>
              <a:t>3                             1             </a:t>
            </a:r>
            <a:endParaRPr lang="en-US" altLang="zh-CN" b="1"/>
          </a:p>
        </p:txBody>
      </p:sp>
      <p:sp>
        <p:nvSpPr>
          <p:cNvPr id="156" name="AutoShape 30"/>
          <p:cNvSpPr/>
          <p:nvPr/>
        </p:nvSpPr>
        <p:spPr bwMode="auto">
          <a:xfrm>
            <a:off x="5208712" y="1676400"/>
            <a:ext cx="76200" cy="3048000"/>
          </a:xfrm>
          <a:prstGeom prst="leftBracket">
            <a:avLst>
              <a:gd name="adj" fmla="val 333333"/>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 name="AutoShape 31"/>
          <p:cNvSpPr/>
          <p:nvPr/>
        </p:nvSpPr>
        <p:spPr bwMode="auto">
          <a:xfrm>
            <a:off x="8637712" y="1676400"/>
            <a:ext cx="152400" cy="3048000"/>
          </a:xfrm>
          <a:prstGeom prst="rightBracket">
            <a:avLst>
              <a:gd name="adj" fmla="val 166667"/>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8" name="Text Box 32"/>
          <p:cNvSpPr txBox="1">
            <a:spLocks noChangeArrowheads="1"/>
          </p:cNvSpPr>
          <p:nvPr/>
        </p:nvSpPr>
        <p:spPr bwMode="auto">
          <a:xfrm>
            <a:off x="5284912" y="160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59" name="Text Box 33"/>
          <p:cNvSpPr txBox="1">
            <a:spLocks noChangeArrowheads="1"/>
          </p:cNvSpPr>
          <p:nvPr/>
        </p:nvSpPr>
        <p:spPr bwMode="auto">
          <a:xfrm>
            <a:off x="6504112" y="160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0" name="Text Box 34"/>
          <p:cNvSpPr txBox="1">
            <a:spLocks noChangeArrowheads="1"/>
          </p:cNvSpPr>
          <p:nvPr/>
        </p:nvSpPr>
        <p:spPr bwMode="auto">
          <a:xfrm>
            <a:off x="7647112" y="2667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1" name="Text Box 35"/>
          <p:cNvSpPr txBox="1">
            <a:spLocks noChangeArrowheads="1"/>
          </p:cNvSpPr>
          <p:nvPr/>
        </p:nvSpPr>
        <p:spPr bwMode="auto">
          <a:xfrm>
            <a:off x="7113712" y="2667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2" name="Text Box 36"/>
          <p:cNvSpPr txBox="1">
            <a:spLocks noChangeArrowheads="1"/>
          </p:cNvSpPr>
          <p:nvPr/>
        </p:nvSpPr>
        <p:spPr bwMode="auto">
          <a:xfrm>
            <a:off x="6504112" y="2667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3" name="Text Box 37"/>
          <p:cNvSpPr txBox="1">
            <a:spLocks noChangeArrowheads="1"/>
          </p:cNvSpPr>
          <p:nvPr/>
        </p:nvSpPr>
        <p:spPr bwMode="auto">
          <a:xfrm>
            <a:off x="5818312" y="2667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4" name="Text Box 38"/>
          <p:cNvSpPr txBox="1">
            <a:spLocks noChangeArrowheads="1"/>
          </p:cNvSpPr>
          <p:nvPr/>
        </p:nvSpPr>
        <p:spPr bwMode="auto">
          <a:xfrm>
            <a:off x="7647112" y="3276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5" name="Text Box 39"/>
          <p:cNvSpPr txBox="1">
            <a:spLocks noChangeArrowheads="1"/>
          </p:cNvSpPr>
          <p:nvPr/>
        </p:nvSpPr>
        <p:spPr bwMode="auto">
          <a:xfrm>
            <a:off x="7113712" y="3276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6" name="Text Box 40"/>
          <p:cNvSpPr txBox="1">
            <a:spLocks noChangeArrowheads="1"/>
          </p:cNvSpPr>
          <p:nvPr/>
        </p:nvSpPr>
        <p:spPr bwMode="auto">
          <a:xfrm>
            <a:off x="5818312" y="3276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7" name="Text Box 41"/>
          <p:cNvSpPr txBox="1">
            <a:spLocks noChangeArrowheads="1"/>
          </p:cNvSpPr>
          <p:nvPr/>
        </p:nvSpPr>
        <p:spPr bwMode="auto">
          <a:xfrm>
            <a:off x="5284912" y="3276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8" name="Text Box 42"/>
          <p:cNvSpPr txBox="1">
            <a:spLocks noChangeArrowheads="1"/>
          </p:cNvSpPr>
          <p:nvPr/>
        </p:nvSpPr>
        <p:spPr bwMode="auto">
          <a:xfrm>
            <a:off x="6504112"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69" name="Text Box 43"/>
          <p:cNvSpPr txBox="1">
            <a:spLocks noChangeArrowheads="1"/>
          </p:cNvSpPr>
          <p:nvPr/>
        </p:nvSpPr>
        <p:spPr bwMode="auto">
          <a:xfrm>
            <a:off x="5818312"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0" name="Text Box 44"/>
          <p:cNvSpPr txBox="1">
            <a:spLocks noChangeArrowheads="1"/>
          </p:cNvSpPr>
          <p:nvPr/>
        </p:nvSpPr>
        <p:spPr bwMode="auto">
          <a:xfrm>
            <a:off x="5284912"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1" name="Text Box 45"/>
          <p:cNvSpPr txBox="1">
            <a:spLocks noChangeArrowheads="1"/>
          </p:cNvSpPr>
          <p:nvPr/>
        </p:nvSpPr>
        <p:spPr bwMode="auto">
          <a:xfrm>
            <a:off x="7647112"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2" name="Text Box 46"/>
          <p:cNvSpPr txBox="1">
            <a:spLocks noChangeArrowheads="1"/>
          </p:cNvSpPr>
          <p:nvPr/>
        </p:nvSpPr>
        <p:spPr bwMode="auto">
          <a:xfrm>
            <a:off x="8180512"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3" name="Text Box 47"/>
          <p:cNvSpPr txBox="1">
            <a:spLocks noChangeArrowheads="1"/>
          </p:cNvSpPr>
          <p:nvPr/>
        </p:nvSpPr>
        <p:spPr bwMode="auto">
          <a:xfrm>
            <a:off x="6504112" y="4343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4" name="Text Box 48"/>
          <p:cNvSpPr txBox="1">
            <a:spLocks noChangeArrowheads="1"/>
          </p:cNvSpPr>
          <p:nvPr/>
        </p:nvSpPr>
        <p:spPr bwMode="auto">
          <a:xfrm>
            <a:off x="5818312" y="4343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5" name="Text Box 49"/>
          <p:cNvSpPr txBox="1">
            <a:spLocks noChangeArrowheads="1"/>
          </p:cNvSpPr>
          <p:nvPr/>
        </p:nvSpPr>
        <p:spPr bwMode="auto">
          <a:xfrm>
            <a:off x="7113712" y="4343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6" name="Text Box 50"/>
          <p:cNvSpPr txBox="1">
            <a:spLocks noChangeArrowheads="1"/>
          </p:cNvSpPr>
          <p:nvPr/>
        </p:nvSpPr>
        <p:spPr bwMode="auto">
          <a:xfrm>
            <a:off x="8104312" y="4343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7" name="Text Box 51"/>
          <p:cNvSpPr txBox="1">
            <a:spLocks noChangeArrowheads="1"/>
          </p:cNvSpPr>
          <p:nvPr/>
        </p:nvSpPr>
        <p:spPr bwMode="auto">
          <a:xfrm>
            <a:off x="5284912"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8" name="Text Box 52"/>
          <p:cNvSpPr txBox="1">
            <a:spLocks noChangeArrowheads="1"/>
          </p:cNvSpPr>
          <p:nvPr/>
        </p:nvSpPr>
        <p:spPr bwMode="auto">
          <a:xfrm>
            <a:off x="7113712"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79" name="Text Box 53"/>
          <p:cNvSpPr txBox="1">
            <a:spLocks noChangeArrowheads="1"/>
          </p:cNvSpPr>
          <p:nvPr/>
        </p:nvSpPr>
        <p:spPr bwMode="auto">
          <a:xfrm>
            <a:off x="7647112"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80" name="Text Box 54"/>
          <p:cNvSpPr txBox="1">
            <a:spLocks noChangeArrowheads="1"/>
          </p:cNvSpPr>
          <p:nvPr/>
        </p:nvSpPr>
        <p:spPr bwMode="auto">
          <a:xfrm>
            <a:off x="8256712"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81" name="Text Box 55"/>
          <p:cNvSpPr txBox="1">
            <a:spLocks noChangeArrowheads="1"/>
          </p:cNvSpPr>
          <p:nvPr/>
        </p:nvSpPr>
        <p:spPr bwMode="auto">
          <a:xfrm>
            <a:off x="8256712" y="160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82" name="Text Box 56"/>
          <p:cNvSpPr txBox="1">
            <a:spLocks noChangeArrowheads="1"/>
          </p:cNvSpPr>
          <p:nvPr/>
        </p:nvSpPr>
        <p:spPr bwMode="auto">
          <a:xfrm>
            <a:off x="7647112" y="1600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83" name="Text Box 57"/>
          <p:cNvSpPr txBox="1">
            <a:spLocks noChangeArrowheads="1"/>
          </p:cNvSpPr>
          <p:nvPr/>
        </p:nvSpPr>
        <p:spPr bwMode="auto">
          <a:xfrm>
            <a:off x="5818312" y="2133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宋体" panose="02010600030101010101" pitchFamily="2" charset="-122"/>
              </a:rPr>
              <a:t>∞</a:t>
            </a:r>
            <a:r>
              <a:rPr lang="en-US" altLang="zh-CN" b="1"/>
              <a:t> </a:t>
            </a:r>
            <a:endParaRPr lang="en-US" altLang="zh-CN" b="1"/>
          </a:p>
        </p:txBody>
      </p:sp>
      <p:sp>
        <p:nvSpPr>
          <p:cNvPr id="184" name="Text Box 58"/>
          <p:cNvSpPr txBox="1">
            <a:spLocks noChangeArrowheads="1"/>
          </p:cNvSpPr>
          <p:nvPr/>
        </p:nvSpPr>
        <p:spPr bwMode="auto">
          <a:xfrm>
            <a:off x="1017905" y="5733415"/>
            <a:ext cx="26981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Network N</a:t>
            </a:r>
            <a:endParaRPr lang="en-US" altLang="zh-CN" b="1">
              <a:latin typeface="Arial" panose="020B0604020202020204" pitchFamily="34" charset="0"/>
              <a:ea typeface="楷体_GB2312" pitchFamily="49" charset="-122"/>
              <a:cs typeface="Arial" panose="020B0604020202020204" pitchFamily="34" charset="0"/>
            </a:endParaRPr>
          </a:p>
        </p:txBody>
      </p:sp>
      <p:sp>
        <p:nvSpPr>
          <p:cNvPr id="185" name="Text Box 59"/>
          <p:cNvSpPr txBox="1">
            <a:spLocks noChangeArrowheads="1"/>
          </p:cNvSpPr>
          <p:nvPr/>
        </p:nvSpPr>
        <p:spPr bwMode="auto">
          <a:xfrm>
            <a:off x="5151755" y="5486400"/>
            <a:ext cx="402844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Adjacency Matrix of Network N</a:t>
            </a:r>
            <a:endParaRPr lang="en-US" altLang="zh-CN" b="1">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6595" y="620440"/>
            <a:ext cx="7200800" cy="720080"/>
          </a:xfrm>
        </p:spPr>
        <p:txBody>
          <a:bodyPr/>
          <a:lstStyle/>
          <a:p>
            <a:r>
              <a:rPr lang="en-US" altLang="zh-CN" dirty="0"/>
              <a:t>Adjacency Matrix Storage Representation of Graphs (1)</a:t>
            </a:r>
            <a:br>
              <a:rPr lang="en-US" altLang="zh-CN" dirty="0"/>
            </a:br>
            <a:endParaRPr lang="en-US" altLang="zh-CN" dirty="0"/>
          </a:p>
        </p:txBody>
      </p:sp>
      <p:sp>
        <p:nvSpPr>
          <p:cNvPr id="7" name="Text Box 2"/>
          <p:cNvSpPr txBox="1">
            <a:spLocks noChangeArrowheads="1"/>
          </p:cNvSpPr>
          <p:nvPr/>
        </p:nvSpPr>
        <p:spPr bwMode="auto">
          <a:xfrm>
            <a:off x="652463" y="1228725"/>
            <a:ext cx="8110537" cy="4861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3600"/>
              </a:lnSpc>
              <a:spcAft>
                <a:spcPts val="600"/>
              </a:spcAft>
            </a:pPr>
            <a:r>
              <a:rPr lang="en-US" altLang="zh-CN" b="1" dirty="0">
                <a:solidFill>
                  <a:srgbClr val="006600"/>
                </a:solidFill>
                <a:latin typeface="Consolas" panose="020B0609020204030204" pitchFamily="49" charset="0"/>
                <a:ea typeface="楷体_GB2312" pitchFamily="49" charset="-122"/>
              </a:rPr>
              <a:t>// Maximum </a:t>
            </a:r>
            <a:r>
              <a:rPr lang="zh-CN" altLang="en-US" b="1" dirty="0">
                <a:solidFill>
                  <a:srgbClr val="006600"/>
                </a:solidFill>
                <a:latin typeface="Consolas" panose="020B0609020204030204" pitchFamily="49" charset="0"/>
                <a:ea typeface="楷体_GB2312" pitchFamily="49" charset="-122"/>
              </a:rPr>
              <a:t>∞</a:t>
            </a:r>
            <a:endParaRPr lang="en-US" altLang="zh-CN" b="1" dirty="0">
              <a:solidFill>
                <a:srgbClr val="006600"/>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#define INFINITY    INF_MAX</a:t>
            </a:r>
            <a:r>
              <a:rPr lang="en-US" altLang="zh-CN" dirty="0">
                <a:solidFill>
                  <a:srgbClr val="000099"/>
                </a:solidFill>
                <a:latin typeface="Consolas" panose="020B0609020204030204" pitchFamily="49" charset="0"/>
                <a:ea typeface="楷体_GB2312" pitchFamily="49" charset="-122"/>
              </a:rPr>
              <a:t> </a:t>
            </a:r>
            <a:endParaRPr lang="zh-CN" altLang="en-US" b="1" dirty="0">
              <a:solidFill>
                <a:srgbClr val="006600"/>
              </a:solidFill>
              <a:latin typeface="Consolas" panose="020B0609020204030204" pitchFamily="49" charset="0"/>
              <a:ea typeface="楷体_GB2312" pitchFamily="49" charset="-122"/>
            </a:endParaRPr>
          </a:p>
          <a:p>
            <a:pPr>
              <a:lnSpc>
                <a:spcPts val="3600"/>
              </a:lnSpc>
              <a:spcAft>
                <a:spcPts val="600"/>
              </a:spcAft>
            </a:pPr>
            <a:endParaRPr lang="en-US" altLang="zh-CN" b="1" dirty="0">
              <a:solidFill>
                <a:srgbClr val="006600"/>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6600"/>
                </a:solidFill>
                <a:latin typeface="Consolas" panose="020B0609020204030204" pitchFamily="49" charset="0"/>
                <a:ea typeface="楷体_GB2312" pitchFamily="49" charset="-122"/>
              </a:rPr>
              <a:t>// Maximum of vertices</a:t>
            </a:r>
            <a:endParaRPr lang="en-US" altLang="zh-CN" b="1" dirty="0">
              <a:solidFill>
                <a:srgbClr val="006600"/>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#define MAX_VERTEX_NUM  20</a:t>
            </a:r>
            <a:r>
              <a:rPr lang="en-US" altLang="zh-CN" dirty="0">
                <a:solidFill>
                  <a:srgbClr val="000099"/>
                </a:solidFill>
                <a:latin typeface="Consolas" panose="020B0609020204030204" pitchFamily="49" charset="0"/>
                <a:ea typeface="楷体_GB2312" pitchFamily="49" charset="-122"/>
              </a:rPr>
              <a:t>  </a:t>
            </a:r>
            <a:endParaRPr lang="en-US" altLang="zh-CN" dirty="0">
              <a:solidFill>
                <a:srgbClr val="000099"/>
              </a:solidFill>
              <a:latin typeface="Consolas" panose="020B0609020204030204" pitchFamily="49" charset="0"/>
              <a:ea typeface="楷体_GB2312" pitchFamily="49" charset="-122"/>
            </a:endParaRPr>
          </a:p>
          <a:p>
            <a:pPr>
              <a:lnSpc>
                <a:spcPts val="3600"/>
              </a:lnSpc>
              <a:spcAft>
                <a:spcPts val="600"/>
              </a:spcAft>
            </a:pP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6600"/>
                </a:solidFill>
                <a:latin typeface="Consolas" panose="020B0609020204030204" pitchFamily="49" charset="0"/>
                <a:ea typeface="楷体_GB2312" pitchFamily="49" charset="-122"/>
              </a:rPr>
              <a:t>// </a:t>
            </a:r>
            <a:r>
              <a:rPr lang="en-US" altLang="zh-CN" sz="1400" b="1" dirty="0">
                <a:solidFill>
                  <a:srgbClr val="006600"/>
                </a:solidFill>
                <a:latin typeface="Consolas" panose="020B0609020204030204" pitchFamily="49" charset="0"/>
                <a:ea typeface="楷体_GB2312" pitchFamily="49" charset="-122"/>
              </a:rPr>
              <a:t>{Directed Graph, Directed Network, Undirected Graph, Undirected Network}</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err="1">
                <a:solidFill>
                  <a:srgbClr val="000099"/>
                </a:solidFill>
                <a:latin typeface="Consolas" panose="020B0609020204030204" pitchFamily="49" charset="0"/>
                <a:ea typeface="楷体_GB2312" pitchFamily="49" charset="-122"/>
              </a:rPr>
              <a:t>Typedef</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enum</a:t>
            </a:r>
            <a:r>
              <a:rPr lang="en-US" altLang="zh-CN" b="1" dirty="0">
                <a:solidFill>
                  <a:srgbClr val="000099"/>
                </a:solidFill>
                <a:latin typeface="Consolas" panose="020B0609020204030204" pitchFamily="49" charset="0"/>
                <a:ea typeface="楷体_GB2312" pitchFamily="49" charset="-122"/>
              </a:rPr>
              <a:t> {DG,DN,UDG,UDN} </a:t>
            </a:r>
            <a:r>
              <a:rPr lang="en-US" altLang="zh-CN" b="1" dirty="0" err="1">
                <a:solidFill>
                  <a:srgbClr val="000099"/>
                </a:solidFill>
                <a:latin typeface="Consolas" panose="020B0609020204030204" pitchFamily="49" charset="0"/>
                <a:ea typeface="楷体_GB2312" pitchFamily="49" charset="-122"/>
              </a:rPr>
              <a:t>GraphKind</a:t>
            </a:r>
            <a:r>
              <a:rPr lang="en-US" altLang="zh-CN" b="1" dirty="0">
                <a:solidFill>
                  <a:srgbClr val="000099"/>
                </a:solidFill>
                <a:latin typeface="Consolas" panose="020B0609020204030204" pitchFamily="49" charset="0"/>
                <a:ea typeface="楷体_GB2312" pitchFamily="49" charset="-122"/>
              </a:rPr>
              <a:t>;</a:t>
            </a:r>
            <a:endParaRPr lang="en-US" altLang="zh-CN"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dirty="0">
                <a:solidFill>
                  <a:srgbClr val="000099"/>
                </a:solidFill>
                <a:latin typeface="Consolas" panose="020B0609020204030204" pitchFamily="49" charset="0"/>
                <a:ea typeface="楷体_GB2312" pitchFamily="49" charset="-122"/>
              </a:rPr>
              <a:t>               </a:t>
            </a:r>
            <a:endParaRPr lang="en-US" altLang="zh-CN" b="1" dirty="0">
              <a:solidFill>
                <a:srgbClr val="006600"/>
              </a:solidFill>
              <a:latin typeface="Consolas" panose="020B0609020204030204" pitchFamily="49" charset="0"/>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65" y="476930"/>
            <a:ext cx="7200800" cy="720080"/>
          </a:xfrm>
        </p:spPr>
        <p:txBody>
          <a:bodyPr/>
          <a:lstStyle/>
          <a:p>
            <a:r>
              <a:rPr lang="en-US" altLang="zh-CN">
                <a:sym typeface="+mn-ea"/>
              </a:rPr>
              <a:t>Adjacency Matrix Storage Representation of Graphs (2)</a:t>
            </a:r>
            <a:br>
              <a:rPr lang="en-US" altLang="zh-CN">
                <a:sym typeface="+mn-ea"/>
              </a:rPr>
            </a:br>
            <a:endParaRPr lang="zh-CN" altLang="en-US" dirty="0"/>
          </a:p>
        </p:txBody>
      </p:sp>
      <p:sp>
        <p:nvSpPr>
          <p:cNvPr id="7" name="Text Box 2"/>
          <p:cNvSpPr txBox="1">
            <a:spLocks noChangeArrowheads="1"/>
          </p:cNvSpPr>
          <p:nvPr/>
        </p:nvSpPr>
        <p:spPr bwMode="auto">
          <a:xfrm>
            <a:off x="180340" y="1228725"/>
            <a:ext cx="8740775" cy="441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8000"/>
              </a:lnSpc>
              <a:spcAft>
                <a:spcPts val="600"/>
              </a:spcAft>
            </a:pPr>
            <a:r>
              <a:rPr lang="en-US" altLang="zh-CN" sz="2000" b="1" dirty="0" err="1">
                <a:solidFill>
                  <a:srgbClr val="000099"/>
                </a:solidFill>
                <a:latin typeface="Consolas" panose="020B0609020204030204" pitchFamily="49" charset="0"/>
                <a:ea typeface="楷体_GB2312" pitchFamily="49" charset="-122"/>
              </a:rPr>
              <a:t>typedef</a:t>
            </a:r>
            <a:r>
              <a:rPr lang="en-US" altLang="zh-CN" sz="2000" b="1" dirty="0">
                <a:solidFill>
                  <a:srgbClr val="000099"/>
                </a:solidFill>
                <a:latin typeface="Consolas" panose="020B0609020204030204" pitchFamily="49" charset="0"/>
                <a:ea typeface="楷体_GB2312" pitchFamily="49" charset="-122"/>
              </a:rPr>
              <a:t> </a:t>
            </a:r>
            <a:r>
              <a:rPr lang="en-US" altLang="zh-CN" sz="2000" b="1" dirty="0" err="1">
                <a:solidFill>
                  <a:srgbClr val="000099"/>
                </a:solidFill>
                <a:latin typeface="Consolas" panose="020B0609020204030204" pitchFamily="49" charset="0"/>
                <a:ea typeface="楷体_GB2312" pitchFamily="49" charset="-122"/>
              </a:rPr>
              <a:t>struct</a:t>
            </a:r>
            <a:r>
              <a:rPr lang="en-US" altLang="zh-CN" sz="2000"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ArcCell</a:t>
            </a:r>
            <a:r>
              <a:rPr lang="en-US" altLang="zh-CN" sz="2000" b="1" dirty="0">
                <a:solidFill>
                  <a:srgbClr val="000099"/>
                </a:solidFill>
                <a:latin typeface="Consolas" panose="020B0609020204030204" pitchFamily="49" charset="0"/>
                <a:ea typeface="楷体_GB2312" pitchFamily="49" charset="-122"/>
              </a:rPr>
              <a:t> { </a:t>
            </a:r>
            <a:r>
              <a:rPr lang="en-US" altLang="zh-CN" sz="2000" b="1" dirty="0">
                <a:solidFill>
                  <a:srgbClr val="006600"/>
                </a:solidFill>
                <a:latin typeface="Consolas" panose="020B0609020204030204" pitchFamily="49" charset="0"/>
                <a:ea typeface="楷体_GB2312" pitchFamily="49" charset="-122"/>
              </a:rPr>
              <a:t>// </a:t>
            </a:r>
            <a:r>
              <a:rPr lang="en-US" altLang="zh-CN" sz="2000" dirty="0">
                <a:solidFill>
                  <a:srgbClr val="FF0000"/>
                </a:solidFill>
                <a:latin typeface="Consolas" panose="020B0609020204030204" pitchFamily="49" charset="0"/>
                <a:ea typeface="楷体_GB2312" pitchFamily="49" charset="-122"/>
              </a:rPr>
              <a:t>Definition of an arc</a:t>
            </a:r>
            <a:endParaRPr lang="en-US" altLang="zh-CN" sz="2000" dirty="0">
              <a:solidFill>
                <a:srgbClr val="FF0000"/>
              </a:solidFill>
              <a:latin typeface="Consolas" panose="020B0609020204030204" pitchFamily="49" charset="0"/>
              <a:ea typeface="楷体_GB2312" pitchFamily="49" charset="-122"/>
            </a:endParaRPr>
          </a:p>
          <a:p>
            <a:pPr>
              <a:lnSpc>
                <a:spcPct val="118000"/>
              </a:lnSpc>
              <a:spcAft>
                <a:spcPts val="600"/>
              </a:spcAft>
            </a:pPr>
            <a:r>
              <a:rPr lang="zh-CN" altLang="en-US" sz="2000"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VRType</a:t>
            </a:r>
            <a:r>
              <a:rPr lang="en-US" altLang="zh-CN" sz="2000"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adj</a:t>
            </a:r>
            <a:r>
              <a:rPr lang="en-US" altLang="zh-CN" sz="2000" dirty="0">
                <a:solidFill>
                  <a:srgbClr val="000099"/>
                </a:solidFill>
                <a:latin typeface="Consolas" panose="020B0609020204030204" pitchFamily="49" charset="0"/>
                <a:ea typeface="楷体_GB2312" pitchFamily="49" charset="-122"/>
              </a:rPr>
              <a:t>; </a:t>
            </a:r>
            <a:endParaRPr lang="en-US" altLang="zh-CN" sz="2000" dirty="0">
              <a:solidFill>
                <a:srgbClr val="000099"/>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6600"/>
                </a:solidFill>
                <a:latin typeface="Consolas" panose="020B0609020204030204" pitchFamily="49" charset="0"/>
                <a:ea typeface="楷体_GB2312" pitchFamily="49" charset="-122"/>
              </a:rPr>
              <a:t>//VRType is the vertex relationship type</a:t>
            </a:r>
            <a:r>
              <a:rPr lang="zh-CN" altLang="en-US" sz="2000" b="1" dirty="0">
                <a:solidFill>
                  <a:srgbClr val="006600"/>
                </a:solidFill>
                <a:latin typeface="Consolas" panose="020B0609020204030204" pitchFamily="49" charset="0"/>
                <a:ea typeface="楷体_GB2312" pitchFamily="49" charset="-122"/>
              </a:rPr>
              <a:t>，</a:t>
            </a:r>
            <a:endParaRPr lang="zh-CN" altLang="en-US" sz="2000" b="1" dirty="0">
              <a:solidFill>
                <a:srgbClr val="006600"/>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6600"/>
                </a:solidFill>
                <a:latin typeface="Consolas" panose="020B0609020204030204" pitchFamily="49" charset="0"/>
                <a:ea typeface="楷体_GB2312" pitchFamily="49" charset="-122"/>
              </a:rPr>
              <a:t>//For unweighted graphs, it uses 1 or 0 to indicate adjacency</a:t>
            </a:r>
            <a:r>
              <a:rPr lang="zh-CN" altLang="en-US" sz="2000" b="1" dirty="0">
                <a:solidFill>
                  <a:srgbClr val="006600"/>
                </a:solidFill>
                <a:latin typeface="Consolas" panose="020B0609020204030204" pitchFamily="49" charset="0"/>
                <a:ea typeface="楷体_GB2312" pitchFamily="49" charset="-122"/>
              </a:rPr>
              <a:t>，</a:t>
            </a:r>
            <a:endParaRPr lang="zh-CN" altLang="en-US" sz="2000" b="1" dirty="0">
              <a:solidFill>
                <a:srgbClr val="006600"/>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6600"/>
                </a:solidFill>
                <a:latin typeface="Consolas" panose="020B0609020204030204" pitchFamily="49" charset="0"/>
                <a:ea typeface="楷体_GB2312" pitchFamily="49" charset="-122"/>
              </a:rPr>
              <a:t>// For weighted networks, it is the weight type.</a:t>
            </a:r>
            <a:endParaRPr lang="en-US" altLang="zh-CN" sz="2000" b="1" dirty="0">
              <a:solidFill>
                <a:srgbClr val="006600"/>
              </a:solidFill>
              <a:latin typeface="Consolas" panose="020B0609020204030204" pitchFamily="49" charset="0"/>
              <a:ea typeface="楷体_GB2312" pitchFamily="49" charset="-122"/>
            </a:endParaRPr>
          </a:p>
          <a:p>
            <a:pPr>
              <a:lnSpc>
                <a:spcPct val="118000"/>
              </a:lnSpc>
              <a:spcAft>
                <a:spcPts val="600"/>
              </a:spcAft>
            </a:pPr>
            <a:r>
              <a:rPr lang="zh-CN" altLang="en-US" sz="2000"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InfoType</a:t>
            </a:r>
            <a:r>
              <a:rPr lang="en-US" altLang="zh-CN" sz="2000" dirty="0">
                <a:solidFill>
                  <a:srgbClr val="000099"/>
                </a:solidFill>
                <a:latin typeface="Consolas" panose="020B0609020204030204" pitchFamily="49" charset="0"/>
                <a:ea typeface="楷体_GB2312" pitchFamily="49" charset="-122"/>
              </a:rPr>
              <a:t>  *info;</a:t>
            </a:r>
            <a:endParaRPr lang="en-US" altLang="zh-CN" sz="2000" dirty="0">
              <a:solidFill>
                <a:srgbClr val="000099"/>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6600"/>
                </a:solidFill>
                <a:latin typeface="Consolas" panose="020B0609020204030204" pitchFamily="49" charset="0"/>
                <a:ea typeface="楷体_GB2312" pitchFamily="49" charset="-122"/>
              </a:rPr>
              <a:t>//Pointer to information related to this arc</a:t>
            </a:r>
            <a:endParaRPr lang="en-US" altLang="zh-CN" sz="2000" b="1" dirty="0">
              <a:solidFill>
                <a:srgbClr val="006600"/>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ArcCell</a:t>
            </a:r>
            <a:r>
              <a:rPr lang="en-US" altLang="zh-CN" sz="2000" dirty="0">
                <a:solidFill>
                  <a:srgbClr val="000099"/>
                </a:solidFill>
                <a:latin typeface="Consolas" panose="020B0609020204030204" pitchFamily="49" charset="0"/>
                <a:ea typeface="楷体_GB2312" pitchFamily="49" charset="-122"/>
              </a:rPr>
              <a:t>, </a:t>
            </a:r>
            <a:r>
              <a:rPr lang="en-US" altLang="zh-CN" sz="2000" dirty="0" err="1">
                <a:solidFill>
                  <a:srgbClr val="000099"/>
                </a:solidFill>
                <a:latin typeface="Consolas" panose="020B0609020204030204" pitchFamily="49" charset="0"/>
                <a:ea typeface="楷体_GB2312" pitchFamily="49" charset="-122"/>
              </a:rPr>
              <a:t>AdjMatrix</a:t>
            </a:r>
            <a:r>
              <a:rPr lang="en-US" altLang="zh-CN" sz="2000" dirty="0">
                <a:solidFill>
                  <a:srgbClr val="000099"/>
                </a:solidFill>
                <a:latin typeface="Consolas" panose="020B0609020204030204" pitchFamily="49" charset="0"/>
                <a:ea typeface="楷体_GB2312" pitchFamily="49" charset="-122"/>
              </a:rPr>
              <a:t> </a:t>
            </a:r>
            <a:r>
              <a:rPr lang="en-US" altLang="zh-CN" sz="2000" b="1" dirty="0">
                <a:solidFill>
                  <a:srgbClr val="000099"/>
                </a:solidFill>
                <a:latin typeface="Consolas" panose="020B0609020204030204" pitchFamily="49" charset="0"/>
                <a:ea typeface="楷体_GB2312" pitchFamily="49" charset="-122"/>
              </a:rPr>
              <a:t>[MAX_VERTEX_NUM]</a:t>
            </a:r>
            <a:endParaRPr lang="en-US" altLang="zh-CN" sz="2000" b="1" dirty="0">
              <a:solidFill>
                <a:srgbClr val="000099"/>
              </a:solidFill>
              <a:latin typeface="Consolas" panose="020B0609020204030204" pitchFamily="49" charset="0"/>
              <a:ea typeface="楷体_GB2312" pitchFamily="49" charset="-122"/>
            </a:endParaRPr>
          </a:p>
          <a:p>
            <a:pPr>
              <a:lnSpc>
                <a:spcPct val="118000"/>
              </a:lnSpc>
              <a:spcAft>
                <a:spcPts val="600"/>
              </a:spcAft>
            </a:pPr>
            <a:r>
              <a:rPr lang="en-US" altLang="zh-CN" sz="2000" b="1" dirty="0">
                <a:solidFill>
                  <a:srgbClr val="000099"/>
                </a:solidFill>
                <a:latin typeface="Consolas" panose="020B0609020204030204" pitchFamily="49" charset="0"/>
                <a:ea typeface="楷体_GB2312" pitchFamily="49" charset="-122"/>
              </a:rPr>
              <a:t>                     [MAX_VERTEX_NUM];</a:t>
            </a:r>
            <a:endParaRPr lang="en-US" altLang="zh-CN" sz="2000" b="1" dirty="0">
              <a:solidFill>
                <a:srgbClr val="000099"/>
              </a:solidFill>
              <a:latin typeface="Consolas" panose="020B0609020204030204" pitchFamily="49" charset="0"/>
              <a:ea typeface="楷体_GB2312" pitchFamily="49" charset="-122"/>
            </a:endParaRPr>
          </a:p>
          <a:p>
            <a:pPr>
              <a:lnSpc>
                <a:spcPct val="118000"/>
              </a:lnSpc>
              <a:spcAft>
                <a:spcPts val="600"/>
              </a:spcAft>
            </a:pPr>
            <a:r>
              <a:rPr lang="en-US" altLang="zh-CN" sz="2000" dirty="0">
                <a:solidFill>
                  <a:srgbClr val="000099"/>
                </a:solidFill>
                <a:latin typeface="Consolas" panose="020B0609020204030204" pitchFamily="49" charset="0"/>
                <a:ea typeface="楷体_GB2312" pitchFamily="49" charset="-122"/>
              </a:rPr>
              <a:t>               </a:t>
            </a:r>
            <a:endParaRPr lang="en-US" altLang="zh-CN" sz="2000" b="1" dirty="0">
              <a:solidFill>
                <a:srgbClr val="000099"/>
              </a:solidFill>
              <a:latin typeface="Consolas" panose="020B0609020204030204" pitchFamily="49" charset="0"/>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Adjacency Matrix Storage Representation of Graphs </a:t>
            </a:r>
            <a:r>
              <a:rPr>
                <a:sym typeface="+mn-ea"/>
              </a:rPr>
              <a:t>(</a:t>
            </a:r>
            <a:r>
              <a:rPr lang="en-US" altLang="zh-CN">
                <a:sym typeface="+mn-ea"/>
              </a:rPr>
              <a:t>3</a:t>
            </a:r>
            <a:r>
              <a:rPr>
                <a:sym typeface="+mn-ea"/>
              </a:rPr>
              <a:t>)</a:t>
            </a:r>
            <a:endParaRPr lang="zh-CN" altLang="en-US" dirty="0"/>
          </a:p>
        </p:txBody>
      </p:sp>
      <p:sp>
        <p:nvSpPr>
          <p:cNvPr id="7" name="Text Box 2"/>
          <p:cNvSpPr txBox="1">
            <a:spLocks noChangeArrowheads="1"/>
          </p:cNvSpPr>
          <p:nvPr/>
        </p:nvSpPr>
        <p:spPr bwMode="auto">
          <a:xfrm>
            <a:off x="467545" y="1052736"/>
            <a:ext cx="8295456" cy="5323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600"/>
              </a:lnSpc>
              <a:spcAft>
                <a:spcPts val="600"/>
              </a:spcAft>
            </a:pPr>
            <a:r>
              <a:rPr lang="en-US" altLang="zh-CN" b="1" dirty="0" err="1">
                <a:solidFill>
                  <a:srgbClr val="000099"/>
                </a:solidFill>
                <a:latin typeface="Consolas" panose="020B0609020204030204" pitchFamily="49" charset="0"/>
                <a:ea typeface="楷体_GB2312" pitchFamily="49" charset="-122"/>
              </a:rPr>
              <a:t>typedef</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struct</a:t>
            </a:r>
            <a:r>
              <a:rPr lang="en-US" altLang="zh-CN" b="1" dirty="0">
                <a:solidFill>
                  <a:srgbClr val="000099"/>
                </a:solidFill>
                <a:latin typeface="Consolas" panose="020B0609020204030204" pitchFamily="49" charset="0"/>
                <a:ea typeface="楷体_GB2312" pitchFamily="49" charset="-122"/>
              </a:rPr>
              <a:t> {</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6600"/>
                </a:solidFill>
                <a:latin typeface="Consolas" panose="020B0609020204030204" pitchFamily="49" charset="0"/>
                <a:ea typeface="楷体_GB2312" pitchFamily="49" charset="-122"/>
              </a:rPr>
              <a:t>//</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FF0000"/>
                </a:solidFill>
                <a:latin typeface="Consolas" panose="020B0609020204030204" pitchFamily="49" charset="0"/>
                <a:ea typeface="楷体_GB2312" pitchFamily="49" charset="-122"/>
                <a:sym typeface="+mn-ea"/>
              </a:rPr>
              <a:t>Definition of the graph</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sz="2600"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VertexType</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vexs</a:t>
            </a:r>
            <a:r>
              <a:rPr lang="en-US" altLang="zh-CN" b="1" dirty="0">
                <a:solidFill>
                  <a:srgbClr val="000099"/>
                </a:solidFill>
                <a:latin typeface="Consolas" panose="020B0609020204030204" pitchFamily="49" charset="0"/>
                <a:ea typeface="楷体_GB2312" pitchFamily="49" charset="-122"/>
              </a:rPr>
              <a:t>[MAX_VERTEX_NUM];</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  </a:t>
            </a:r>
            <a:r>
              <a:rPr lang="en-US" altLang="zh-CN" b="1" dirty="0">
                <a:solidFill>
                  <a:srgbClr val="006600"/>
                </a:solidFill>
                <a:latin typeface="Consolas" panose="020B0609020204030204" pitchFamily="49" charset="0"/>
                <a:ea typeface="楷体_GB2312" pitchFamily="49" charset="-122"/>
              </a:rPr>
              <a:t>// </a:t>
            </a:r>
            <a:r>
              <a:rPr lang="en-US" altLang="zh-CN" b="1" dirty="0">
                <a:solidFill>
                  <a:srgbClr val="006600"/>
                </a:solidFill>
                <a:latin typeface="Consolas" panose="020B0609020204030204" pitchFamily="49" charset="0"/>
                <a:ea typeface="楷体_GB2312" pitchFamily="49" charset="-122"/>
                <a:sym typeface="+mn-ea"/>
              </a:rPr>
              <a:t>vertex vector</a:t>
            </a:r>
            <a:endParaRPr lang="zh-CN" altLang="en-US"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AdjMatrix</a:t>
            </a:r>
            <a:r>
              <a:rPr lang="en-US" altLang="zh-CN" b="1" dirty="0">
                <a:solidFill>
                  <a:srgbClr val="000099"/>
                </a:solidFill>
                <a:latin typeface="Consolas" panose="020B0609020204030204" pitchFamily="49" charset="0"/>
                <a:ea typeface="楷体_GB2312" pitchFamily="49" charset="-122"/>
              </a:rPr>
              <a:t>  arcs; </a:t>
            </a:r>
            <a:r>
              <a:rPr lang="en-US" altLang="zh-CN" b="1" dirty="0">
                <a:solidFill>
                  <a:srgbClr val="006600"/>
                </a:solidFill>
                <a:latin typeface="Consolas" panose="020B0609020204030204" pitchFamily="49" charset="0"/>
                <a:ea typeface="楷体_GB2312" pitchFamily="49" charset="-122"/>
              </a:rPr>
              <a:t>// </a:t>
            </a:r>
            <a:r>
              <a:rPr lang="zh-CN" altLang="en-US" b="1" dirty="0">
                <a:solidFill>
                  <a:srgbClr val="006600"/>
                </a:solidFill>
                <a:latin typeface="Consolas" panose="020B0609020204030204" pitchFamily="49" charset="0"/>
                <a:ea typeface="楷体_GB2312" pitchFamily="49" charset="-122"/>
                <a:sym typeface="+mn-ea"/>
              </a:rPr>
              <a:t>Adjacency matrix</a:t>
            </a:r>
            <a:r>
              <a:rPr lang="zh-CN" altLang="en-US" b="1" dirty="0">
                <a:solidFill>
                  <a:srgbClr val="006600"/>
                </a:solidFill>
                <a:latin typeface="Consolas" panose="020B0609020204030204" pitchFamily="49" charset="0"/>
                <a:ea typeface="楷体_GB2312" pitchFamily="49" charset="-122"/>
              </a:rPr>
              <a:t>                  </a:t>
            </a:r>
            <a:r>
              <a:rPr lang="zh-CN" altLang="en-US" b="1" dirty="0">
                <a:solidFill>
                  <a:srgbClr val="000099"/>
                </a:solidFill>
                <a:latin typeface="Consolas" panose="020B0609020204030204" pitchFamily="49" charset="0"/>
                <a:ea typeface="楷体_GB2312" pitchFamily="49" charset="-122"/>
              </a:rPr>
              <a:t>  </a:t>
            </a:r>
            <a:endParaRPr lang="zh-CN" altLang="en-US"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int</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vexnum</a:t>
            </a: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arcnum</a:t>
            </a:r>
            <a:r>
              <a:rPr lang="en-US" altLang="zh-CN" b="1" dirty="0">
                <a:solidFill>
                  <a:srgbClr val="000099"/>
                </a:solidFill>
                <a:latin typeface="Consolas" panose="020B0609020204030204" pitchFamily="49" charset="0"/>
                <a:ea typeface="楷体_GB2312" pitchFamily="49" charset="-122"/>
              </a:rPr>
              <a:t>;</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  </a:t>
            </a:r>
            <a:r>
              <a:rPr lang="en-US" altLang="zh-CN" b="1" dirty="0">
                <a:solidFill>
                  <a:srgbClr val="006600"/>
                </a:solidFill>
                <a:latin typeface="Consolas" panose="020B0609020204030204" pitchFamily="49" charset="0"/>
                <a:ea typeface="楷体_GB2312" pitchFamily="49" charset="-122"/>
              </a:rPr>
              <a:t>// </a:t>
            </a:r>
            <a:r>
              <a:rPr lang="en-US" altLang="zh-CN" b="1" dirty="0">
                <a:solidFill>
                  <a:srgbClr val="006600"/>
                </a:solidFill>
                <a:latin typeface="Consolas" panose="020B0609020204030204" pitchFamily="49" charset="0"/>
                <a:ea typeface="楷体_GB2312" pitchFamily="49" charset="-122"/>
                <a:sym typeface="+mn-ea"/>
              </a:rPr>
              <a:t>The current number of vertices and                      // arcs in the graph</a:t>
            </a:r>
            <a:r>
              <a:rPr lang="zh-CN" altLang="en-US" b="1" dirty="0">
                <a:solidFill>
                  <a:srgbClr val="000099"/>
                </a:solidFill>
                <a:latin typeface="Consolas" panose="020B0609020204030204" pitchFamily="49" charset="0"/>
                <a:ea typeface="楷体_GB2312" pitchFamily="49" charset="-122"/>
              </a:rPr>
              <a:t>    </a:t>
            </a:r>
            <a:endParaRPr lang="en-US" altLang="zh-CN"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err="1">
                <a:solidFill>
                  <a:srgbClr val="000099"/>
                </a:solidFill>
                <a:latin typeface="Consolas" panose="020B0609020204030204" pitchFamily="49" charset="0"/>
                <a:ea typeface="楷体_GB2312" pitchFamily="49" charset="-122"/>
              </a:rPr>
              <a:t>GraphKind</a:t>
            </a:r>
            <a:r>
              <a:rPr lang="en-US" altLang="zh-CN" b="1" dirty="0">
                <a:solidFill>
                  <a:srgbClr val="000099"/>
                </a:solidFill>
                <a:latin typeface="Consolas" panose="020B0609020204030204" pitchFamily="49" charset="0"/>
                <a:ea typeface="楷体_GB2312" pitchFamily="49" charset="-122"/>
              </a:rPr>
              <a:t>  kind;</a:t>
            </a:r>
            <a:r>
              <a:rPr lang="en-US" altLang="zh-CN" b="1" dirty="0">
                <a:solidFill>
                  <a:srgbClr val="006600"/>
                </a:solidFill>
                <a:latin typeface="Consolas" panose="020B0609020204030204" pitchFamily="49" charset="0"/>
                <a:ea typeface="楷体_GB2312" pitchFamily="49" charset="-122"/>
              </a:rPr>
              <a:t>// </a:t>
            </a:r>
            <a:r>
              <a:rPr lang="en-US" altLang="zh-CN" b="1" dirty="0">
                <a:solidFill>
                  <a:srgbClr val="006600"/>
                </a:solidFill>
                <a:latin typeface="Consolas" panose="020B0609020204030204" pitchFamily="49" charset="0"/>
                <a:ea typeface="楷体_GB2312" pitchFamily="49" charset="-122"/>
                <a:sym typeface="+mn-ea"/>
              </a:rPr>
              <a:t>Graph type identifier</a:t>
            </a:r>
            <a:r>
              <a:rPr lang="zh-CN" altLang="en-US" b="1" dirty="0">
                <a:solidFill>
                  <a:srgbClr val="000099"/>
                </a:solidFill>
                <a:latin typeface="Consolas" panose="020B0609020204030204" pitchFamily="49" charset="0"/>
                <a:ea typeface="楷体_GB2312" pitchFamily="49" charset="-122"/>
              </a:rPr>
              <a:t>             </a:t>
            </a:r>
            <a:endParaRPr lang="zh-CN" altLang="en-US" b="1" dirty="0">
              <a:solidFill>
                <a:srgbClr val="000099"/>
              </a:solidFill>
              <a:latin typeface="Consolas" panose="020B0609020204030204" pitchFamily="49" charset="0"/>
              <a:ea typeface="楷体_GB2312" pitchFamily="49" charset="-122"/>
            </a:endParaRPr>
          </a:p>
          <a:p>
            <a:pPr>
              <a:lnSpc>
                <a:spcPts val="3600"/>
              </a:lnSpc>
              <a:spcAft>
                <a:spcPts val="600"/>
              </a:spcAft>
            </a:pPr>
            <a:r>
              <a:rPr lang="en-US" altLang="zh-CN" b="1" dirty="0">
                <a:solidFill>
                  <a:srgbClr val="000099"/>
                </a:solidFill>
                <a:latin typeface="Consolas" panose="020B0609020204030204" pitchFamily="49" charset="0"/>
                <a:ea typeface="楷体_GB2312" pitchFamily="49" charset="-122"/>
              </a:rPr>
              <a:t>} </a:t>
            </a:r>
            <a:r>
              <a:rPr lang="en-US" altLang="zh-CN" b="1" dirty="0" err="1">
                <a:solidFill>
                  <a:srgbClr val="000099"/>
                </a:solidFill>
                <a:latin typeface="Consolas" panose="020B0609020204030204" pitchFamily="49" charset="0"/>
                <a:ea typeface="楷体_GB2312" pitchFamily="49" charset="-122"/>
              </a:rPr>
              <a:t>MGraph</a:t>
            </a:r>
            <a:r>
              <a:rPr lang="en-US" altLang="zh-CN" b="1" dirty="0">
                <a:solidFill>
                  <a:srgbClr val="000099"/>
                </a:solidFill>
                <a:latin typeface="Consolas" panose="020B0609020204030204" pitchFamily="49" charset="0"/>
                <a:ea typeface="楷体_GB2312" pitchFamily="49" charset="-122"/>
              </a:rPr>
              <a:t>;               </a:t>
            </a:r>
            <a:endParaRPr lang="en-US" altLang="zh-CN" b="1" dirty="0">
              <a:solidFill>
                <a:srgbClr val="006600"/>
              </a:solidFill>
              <a:latin typeface="Consolas" panose="020B0609020204030204" pitchFamily="49" charset="0"/>
              <a:ea typeface="楷体_GB2312" pitchFamily="49" charset="-122"/>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Advantages of </a:t>
            </a:r>
            <a:r>
              <a:rPr lang="en-US" altLang="zh-CN" dirty="0"/>
              <a:t>A</a:t>
            </a:r>
            <a:r>
              <a:rPr lang="zh-CN" altLang="en-US" dirty="0"/>
              <a:t>djacency </a:t>
            </a:r>
            <a:r>
              <a:rPr lang="en-US" altLang="zh-CN" dirty="0"/>
              <a:t>M</a:t>
            </a:r>
            <a:r>
              <a:rPr lang="zh-CN" altLang="en-US" dirty="0"/>
              <a:t>atrix </a:t>
            </a:r>
            <a:r>
              <a:rPr lang="en-US" altLang="zh-CN" dirty="0"/>
              <a:t>R</a:t>
            </a:r>
            <a:r>
              <a:rPr lang="zh-CN" altLang="en-US" dirty="0"/>
              <a:t>epresentation</a:t>
            </a:r>
            <a:endParaRPr lang="zh-CN" altLang="en-US" dirty="0"/>
          </a:p>
        </p:txBody>
      </p:sp>
      <p:sp>
        <p:nvSpPr>
          <p:cNvPr id="3" name="内容占位符 2"/>
          <p:cNvSpPr>
            <a:spLocks noGrp="1"/>
          </p:cNvSpPr>
          <p:nvPr>
            <p:ph idx="1"/>
          </p:nvPr>
        </p:nvSpPr>
        <p:spPr/>
        <p:txBody>
          <a:bodyPr/>
          <a:lstStyle/>
          <a:p>
            <a:pPr>
              <a:lnSpc>
                <a:spcPts val="4200"/>
              </a:lnSpc>
            </a:pPr>
            <a:r>
              <a:rPr lang="zh-CN" altLang="en-US" sz="2000" b="1" dirty="0">
                <a:solidFill>
                  <a:srgbClr val="FF0000"/>
                </a:solidFill>
                <a:cs typeface="Arial" panose="020B0604020202020204" pitchFamily="34" charset="0"/>
              </a:rPr>
              <a:t>Advantages: </a:t>
            </a:r>
            <a:r>
              <a:rPr lang="zh-CN" altLang="en-US" sz="2000" b="1" dirty="0">
                <a:cs typeface="Arial" panose="020B0604020202020204" pitchFamily="34" charset="0"/>
              </a:rPr>
              <a:t>With the help of adjacency matrix, it is easy to</a:t>
            </a:r>
            <a:r>
              <a:rPr lang="zh-CN" altLang="en-US" sz="2000" b="1" dirty="0">
                <a:solidFill>
                  <a:srgbClr val="FF0000"/>
                </a:solidFill>
                <a:cs typeface="Arial" panose="020B0604020202020204" pitchFamily="34" charset="0"/>
              </a:rPr>
              <a:t> determine whether there is an edge (or arc) connecting any two vertices, </a:t>
            </a:r>
            <a:r>
              <a:rPr lang="zh-CN" altLang="en-US" sz="2000" b="1" dirty="0">
                <a:cs typeface="Arial" panose="020B0604020202020204" pitchFamily="34" charset="0"/>
              </a:rPr>
              <a:t>and it is easy to find the degree of each vertex.</a:t>
            </a:r>
            <a:endParaRPr lang="en-US" altLang="zh-CN" sz="2000" b="1" dirty="0">
              <a:cs typeface="Arial" panose="020B0604020202020204" pitchFamily="34" charset="0"/>
            </a:endParaRPr>
          </a:p>
          <a:p>
            <a:pPr lvl="1">
              <a:lnSpc>
                <a:spcPts val="4200"/>
              </a:lnSpc>
              <a:spcAft>
                <a:spcPts val="600"/>
              </a:spcAft>
            </a:pPr>
            <a:r>
              <a:rPr lang="zh-CN" altLang="en-US" sz="2000" dirty="0">
                <a:ea typeface="楷体_GB2312" pitchFamily="49" charset="-122"/>
                <a:cs typeface="Arial" panose="020B0604020202020204" pitchFamily="34" charset="0"/>
              </a:rPr>
              <a:t>For an undirected graph, the degree of vertex </a:t>
            </a:r>
            <a:r>
              <a:rPr lang="en-US" altLang="zh-CN" sz="2000" dirty="0">
                <a:sym typeface="+mn-ea"/>
              </a:rPr>
              <a:t>V</a:t>
            </a:r>
            <a:r>
              <a:rPr lang="en-US" altLang="zh-CN" sz="2000" baseline="-25000" dirty="0">
                <a:sym typeface="+mn-ea"/>
              </a:rPr>
              <a:t>i</a:t>
            </a:r>
            <a:r>
              <a:rPr lang="en-US" altLang="zh-CN" sz="2000" dirty="0">
                <a:sym typeface="+mn-ea"/>
              </a:rPr>
              <a:t> </a:t>
            </a:r>
            <a:r>
              <a:rPr lang="zh-CN" altLang="en-US" sz="2000" dirty="0">
                <a:ea typeface="楷体_GB2312" pitchFamily="49" charset="-122"/>
                <a:cs typeface="Arial" panose="020B0604020202020204" pitchFamily="34" charset="0"/>
              </a:rPr>
              <a:t> is the sum of the elements in the i-th row (or column) of the adjacency matrix.</a:t>
            </a:r>
            <a:endParaRPr lang="zh-CN" altLang="en-US" sz="2000" dirty="0">
              <a:ea typeface="楷体_GB2312" pitchFamily="49" charset="-122"/>
              <a:cs typeface="Arial" panose="020B0604020202020204" pitchFamily="34" charset="0"/>
            </a:endParaRPr>
          </a:p>
          <a:p>
            <a:pPr lvl="1">
              <a:lnSpc>
                <a:spcPts val="4200"/>
              </a:lnSpc>
              <a:spcAft>
                <a:spcPts val="600"/>
              </a:spcAft>
            </a:pPr>
            <a:r>
              <a:rPr lang="zh-CN" altLang="en-US" sz="2000" dirty="0">
                <a:ea typeface="楷体_GB2312" pitchFamily="49" charset="-122"/>
                <a:cs typeface="Arial" panose="020B0604020202020204" pitchFamily="34" charset="0"/>
              </a:rPr>
              <a:t>For a directed graph, the sum of elements in the i-th row represents the out-degree of vertex </a:t>
            </a:r>
            <a:r>
              <a:rPr lang="en-US" altLang="zh-CN" sz="2000" dirty="0">
                <a:sym typeface="+mn-ea"/>
              </a:rPr>
              <a:t>V</a:t>
            </a:r>
            <a:r>
              <a:rPr lang="en-US" altLang="zh-CN" sz="2000" baseline="-25000" dirty="0">
                <a:sym typeface="+mn-ea"/>
              </a:rPr>
              <a:t>i</a:t>
            </a:r>
            <a:r>
              <a:rPr lang="en-US" altLang="zh-CN" sz="2000" dirty="0">
                <a:sym typeface="+mn-ea"/>
              </a:rPr>
              <a:t> ,</a:t>
            </a:r>
            <a:r>
              <a:rPr lang="zh-CN" altLang="en-US" sz="2000" dirty="0">
                <a:ea typeface="楷体_GB2312" pitchFamily="49" charset="-122"/>
                <a:cs typeface="Arial" panose="020B0604020202020204" pitchFamily="34" charset="0"/>
              </a:rPr>
              <a:t> while the sum of elements in the j-th column represents the in-degree of vertex </a:t>
            </a:r>
            <a:r>
              <a:rPr lang="en-US" altLang="zh-CN" sz="2000" dirty="0" err="1">
                <a:sym typeface="+mn-ea"/>
              </a:rPr>
              <a:t>V</a:t>
            </a:r>
            <a:r>
              <a:rPr lang="en-US" altLang="zh-CN" sz="2000" baseline="-25000" dirty="0" err="1">
                <a:sym typeface="+mn-ea"/>
              </a:rPr>
              <a:t>j</a:t>
            </a:r>
            <a:r>
              <a:rPr lang="zh-CN" altLang="en-US" sz="2000" dirty="0">
                <a:ea typeface="楷体_GB2312" pitchFamily="49" charset="-122"/>
                <a:cs typeface="Arial" panose="020B0604020202020204" pitchFamily="34" charset="0"/>
              </a:rPr>
              <a:t>.</a:t>
            </a:r>
            <a:endParaRPr lang="zh-CN" altLang="en-US" sz="2000" dirty="0">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Disadvantages of adjacency matrix representation</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ea typeface="楷体_GB2312" pitchFamily="49" charset="-122"/>
                <a:cs typeface="Arial" panose="020B0604020202020204" pitchFamily="34" charset="0"/>
              </a:rPr>
              <a:t>shortcoming ：</a:t>
            </a:r>
            <a:endParaRPr lang="zh-CN" altLang="en-US" dirty="0">
              <a:solidFill>
                <a:srgbClr val="FF0000"/>
              </a:solidFill>
              <a:ea typeface="楷体_GB2312" pitchFamily="49" charset="-122"/>
              <a:cs typeface="Arial" panose="020B0604020202020204" pitchFamily="34" charset="0"/>
            </a:endParaRPr>
          </a:p>
          <a:p>
            <a:pPr marL="342900" indent="-342900">
              <a:lnSpc>
                <a:spcPct val="110000"/>
              </a:lnSpc>
              <a:spcBef>
                <a:spcPct val="20000"/>
              </a:spcBef>
              <a:buClr>
                <a:schemeClr val="hlink"/>
              </a:buClr>
              <a:buSzPct val="50000"/>
              <a:buFont typeface="Monotype Sorts" pitchFamily="2" charset="2"/>
              <a:buNone/>
            </a:pPr>
            <a:r>
              <a:rPr lang="zh-CN" altLang="en-US" dirty="0">
                <a:ea typeface="楷体_GB2312" pitchFamily="49" charset="-122"/>
                <a:cs typeface="Arial" panose="020B0604020202020204" pitchFamily="34" charset="0"/>
              </a:rPr>
              <a:t>The number of occupied storage units depends only on </a:t>
            </a:r>
            <a:r>
              <a:rPr lang="zh-CN" altLang="en-US" dirty="0">
                <a:solidFill>
                  <a:srgbClr val="A50021"/>
                </a:solidFill>
                <a:ea typeface="楷体_GB2312" pitchFamily="49" charset="-122"/>
                <a:cs typeface="Arial" panose="020B0604020202020204" pitchFamily="34" charset="0"/>
              </a:rPr>
              <a:t>the number of vertices in the graph</a:t>
            </a:r>
            <a:r>
              <a:rPr lang="zh-CN" altLang="en-US" dirty="0">
                <a:ea typeface="楷体_GB2312" pitchFamily="49" charset="-122"/>
                <a:cs typeface="Arial" panose="020B0604020202020204" pitchFamily="34" charset="0"/>
              </a:rPr>
              <a:t>, </a:t>
            </a:r>
            <a:r>
              <a:rPr lang="zh-CN" altLang="en-US" dirty="0">
                <a:solidFill>
                  <a:srgbClr val="A50021"/>
                </a:solidFill>
                <a:ea typeface="楷体_GB2312" pitchFamily="49" charset="-122"/>
                <a:cs typeface="Arial" panose="020B0604020202020204" pitchFamily="34" charset="0"/>
              </a:rPr>
              <a:t>not on the number of edges</a:t>
            </a:r>
            <a:r>
              <a:rPr lang="zh-CN" altLang="en-US" dirty="0">
                <a:ea typeface="楷体_GB2312" pitchFamily="49" charset="-122"/>
                <a:cs typeface="Arial" panose="020B0604020202020204" pitchFamily="34" charset="0"/>
              </a:rPr>
              <a:t>.</a:t>
            </a:r>
            <a:endParaRPr lang="en-US" altLang="zh-CN" dirty="0">
              <a:ea typeface="楷体_GB2312" pitchFamily="49" charset="-122"/>
              <a:cs typeface="Arial" panose="020B0604020202020204" pitchFamily="34" charset="0"/>
            </a:endParaRPr>
          </a:p>
          <a:p>
            <a:pPr marL="342900" indent="-342900">
              <a:lnSpc>
                <a:spcPct val="110000"/>
              </a:lnSpc>
              <a:spcBef>
                <a:spcPct val="20000"/>
              </a:spcBef>
              <a:buClr>
                <a:schemeClr val="hlink"/>
              </a:buClr>
              <a:buSzPct val="50000"/>
              <a:buFont typeface="Monotype Sorts" pitchFamily="2" charset="2"/>
              <a:buNone/>
            </a:pPr>
            <a:endParaRPr lang="en-US" altLang="zh-CN" dirty="0">
              <a:ea typeface="楷体_GB2312" pitchFamily="49" charset="-122"/>
              <a:cs typeface="Arial" panose="020B0604020202020204" pitchFamily="34" charset="0"/>
            </a:endParaRPr>
          </a:p>
          <a:p>
            <a:pPr marL="342900" indent="-342900">
              <a:lnSpc>
                <a:spcPct val="110000"/>
              </a:lnSpc>
              <a:spcBef>
                <a:spcPct val="20000"/>
              </a:spcBef>
              <a:buClr>
                <a:schemeClr val="hlink"/>
              </a:buClr>
              <a:buSzPct val="50000"/>
              <a:buFont typeface="Monotype Sorts" pitchFamily="2" charset="2"/>
              <a:buNone/>
            </a:pPr>
            <a:r>
              <a:rPr lang="en-US" altLang="zh-CN" dirty="0">
                <a:ea typeface="楷体_GB2312" pitchFamily="49" charset="-122"/>
                <a:cs typeface="Arial" panose="020B0604020202020204" pitchFamily="34" charset="0"/>
              </a:rPr>
              <a:t>NB.</a:t>
            </a:r>
            <a:r>
              <a:rPr lang="zh-CN" altLang="en-US" dirty="0">
                <a:ea typeface="楷体_GB2312" pitchFamily="49" charset="-122"/>
                <a:cs typeface="Arial" panose="020B0604020202020204" pitchFamily="34" charset="0"/>
              </a:rPr>
              <a:t>Sparse graph?</a:t>
            </a:r>
            <a:endParaRPr lang="zh-CN" altLang="en-US"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latin typeface="Times New Roman" panose="02020603050405020304" pitchFamily="18" charset="0"/>
                <a:cs typeface="Times New Roman" panose="02020603050405020304" pitchFamily="18" charset="0"/>
                <a:sym typeface="+mn-ea"/>
              </a:rPr>
              <a:t>Graph storage representations</a:t>
            </a:r>
            <a:endParaRPr lang="zh-CN" altLang="en-US" sz="4000" dirty="0">
              <a:solidFill>
                <a:srgbClr val="FF0000"/>
              </a:solidFill>
              <a:latin typeface="宋体" panose="02010600030101010101" pitchFamily="2" charset="-122"/>
            </a:endParaRPr>
          </a:p>
        </p:txBody>
      </p:sp>
      <p:sp>
        <p:nvSpPr>
          <p:cNvPr id="3" name="内容占位符 2"/>
          <p:cNvSpPr>
            <a:spLocks noGrp="1"/>
          </p:cNvSpPr>
          <p:nvPr>
            <p:ph idx="1"/>
          </p:nvPr>
        </p:nvSpPr>
        <p:spPr/>
        <p:txBody>
          <a:bodyPr/>
          <a:lstStyle/>
          <a:p>
            <a:pPr>
              <a:lnSpc>
                <a:spcPts val="4800"/>
              </a:lnSpc>
            </a:pPr>
            <a:r>
              <a:rPr lang="zh-CN" altLang="en-US" dirty="0">
                <a:ea typeface="+mn-ea"/>
                <a:cs typeface="Arial" panose="020B0604020202020204" pitchFamily="34" charset="0"/>
              </a:rPr>
              <a:t>Array (Adjacency Matrix) Storage Representation of Graphs</a:t>
            </a:r>
            <a:endParaRPr lang="zh-CN" altLang="en-US" dirty="0">
              <a:ea typeface="+mn-ea"/>
              <a:cs typeface="Arial" panose="020B0604020202020204" pitchFamily="34" charset="0"/>
            </a:endParaRPr>
          </a:p>
          <a:p>
            <a:pPr>
              <a:lnSpc>
                <a:spcPts val="4800"/>
              </a:lnSpc>
            </a:pPr>
            <a:r>
              <a:rPr lang="zh-CN" altLang="en-US" b="1" dirty="0">
                <a:solidFill>
                  <a:srgbClr val="FF0000"/>
                </a:solidFill>
                <a:ea typeface="+mn-ea"/>
                <a:cs typeface="Arial" panose="020B0604020202020204" pitchFamily="34" charset="0"/>
              </a:rPr>
              <a:t>Adjacency List Storage Representation of Graphs</a:t>
            </a:r>
            <a:endParaRPr lang="zh-CN" altLang="en-US" b="1" dirty="0">
              <a:solidFill>
                <a:srgbClr val="FF0000"/>
              </a:solidFill>
              <a:ea typeface="+mn-ea"/>
              <a:cs typeface="Arial" panose="020B0604020202020204" pitchFamily="34" charset="0"/>
            </a:endParaRPr>
          </a:p>
          <a:p>
            <a:pPr>
              <a:lnSpc>
                <a:spcPts val="4800"/>
              </a:lnSpc>
            </a:pPr>
            <a:r>
              <a:rPr lang="en-US" altLang="zh-CN" dirty="0">
                <a:solidFill>
                  <a:srgbClr val="7030A0"/>
                </a:solidFill>
                <a:ea typeface="+mn-ea"/>
                <a:cs typeface="Arial" panose="020B0604020202020204" pitchFamily="34" charset="0"/>
              </a:rPr>
              <a:t>Orthogonal List</a:t>
            </a:r>
            <a:r>
              <a:rPr lang="en-US" altLang="zh-CN" dirty="0">
                <a:ea typeface="+mn-ea"/>
                <a:cs typeface="Arial" panose="020B0604020202020204" pitchFamily="34" charset="0"/>
              </a:rPr>
              <a:t> Storage Representation of Directed Graphs</a:t>
            </a:r>
            <a:endParaRPr lang="en-US" altLang="zh-CN" dirty="0">
              <a:ea typeface="+mn-ea"/>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2173288" y="3352800"/>
            <a:ext cx="5446712" cy="6858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4995" name="Rectangle 3"/>
          <p:cNvSpPr>
            <a:spLocks noChangeArrowheads="1"/>
          </p:cNvSpPr>
          <p:nvPr/>
        </p:nvSpPr>
        <p:spPr bwMode="auto">
          <a:xfrm>
            <a:off x="250825" y="1268413"/>
            <a:ext cx="86868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90000"/>
              </a:lnSpc>
              <a:spcBef>
                <a:spcPct val="30000"/>
              </a:spcBef>
              <a:spcAft>
                <a:spcPct val="20000"/>
              </a:spcAft>
            </a:pPr>
            <a:r>
              <a:rPr lang="en-US" altLang="zh-CN" sz="2400" b="1" dirty="0">
                <a:latin typeface="Arial" panose="020B0604020202020204" pitchFamily="34" charset="0"/>
                <a:ea typeface="楷体_GB2312" pitchFamily="49" charset="-122"/>
                <a:cs typeface="Arial" panose="020B0604020202020204" pitchFamily="34" charset="0"/>
              </a:rPr>
              <a:t>      The adjacency list is a linked storage structure for graphs. In an adjacency list, a singly linked list is created for each vertex of the graph. The nodes in the i-th singly linked list represent all adjacent vertices of vertex i. Each node in the linked list consists of three fields:</a:t>
            </a:r>
            <a:endParaRPr lang="en-US" altLang="zh-CN" sz="2400" b="1" dirty="0">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30000"/>
              </a:spcBef>
            </a:pPr>
            <a:r>
              <a:rPr lang="en-US" altLang="zh-CN" b="1" dirty="0" err="1">
                <a:latin typeface="Arial" panose="020B0604020202020204" pitchFamily="34" charset="0"/>
                <a:cs typeface="Arial" panose="020B0604020202020204" pitchFamily="34" charset="0"/>
              </a:rPr>
              <a:t>                       adivex</a:t>
            </a:r>
            <a:r>
              <a:rPr lang="en-US" altLang="zh-CN" b="1" dirty="0">
                <a:latin typeface="Arial" panose="020B0604020202020204" pitchFamily="34" charset="0"/>
                <a:cs typeface="Arial" panose="020B0604020202020204" pitchFamily="34" charset="0"/>
              </a:rPr>
              <a:t>        info        </a:t>
            </a:r>
            <a:r>
              <a:rPr lang="en-US" altLang="zh-CN" b="1" dirty="0" err="1">
                <a:latin typeface="Arial" panose="020B0604020202020204" pitchFamily="34" charset="0"/>
                <a:cs typeface="Arial" panose="020B0604020202020204" pitchFamily="34" charset="0"/>
              </a:rPr>
              <a:t>nextarc</a:t>
            </a:r>
            <a:endParaRPr lang="en-US" altLang="zh-CN" b="1" dirty="0">
              <a:latin typeface="Arial" panose="020B0604020202020204" pitchFamily="34" charset="0"/>
              <a:cs typeface="Arial" panose="020B0604020202020204" pitchFamily="34" charset="0"/>
            </a:endParaRPr>
          </a:p>
          <a:p>
            <a:pPr marL="533400" lvl="1">
              <a:lnSpc>
                <a:spcPct val="90000"/>
              </a:lnSpc>
              <a:spcBef>
                <a:spcPct val="60000"/>
              </a:spcBef>
              <a:buFontTx/>
              <a:buChar char="–"/>
            </a:pPr>
            <a:r>
              <a:rPr lang="en-US" altLang="zh-CN" sz="2400" b="1" dirty="0" err="1">
                <a:latin typeface="Arial" panose="020B0604020202020204" pitchFamily="34" charset="0"/>
                <a:ea typeface="楷体_GB2312" pitchFamily="49" charset="-122"/>
                <a:cs typeface="Arial" panose="020B0604020202020204" pitchFamily="34" charset="0"/>
              </a:rPr>
              <a:t>adivex</a:t>
            </a:r>
            <a:r>
              <a:rPr lang="en-US" altLang="zh-CN" sz="2400" b="1" dirty="0">
                <a:latin typeface="Arial" panose="020B0604020202020204" pitchFamily="34" charset="0"/>
                <a:ea typeface="楷体_GB2312" pitchFamily="49" charset="-122"/>
                <a:cs typeface="Arial" panose="020B0604020202020204" pitchFamily="34" charset="0"/>
              </a:rPr>
              <a:t>  — The </a:t>
            </a:r>
            <a:r>
              <a:rPr lang="en-US" altLang="zh-CN" sz="2400" b="1" dirty="0">
                <a:solidFill>
                  <a:srgbClr val="FF0000"/>
                </a:solidFill>
                <a:latin typeface="Arial" panose="020B0604020202020204" pitchFamily="34" charset="0"/>
                <a:ea typeface="楷体_GB2312" pitchFamily="49" charset="-122"/>
                <a:cs typeface="Arial" panose="020B0604020202020204" pitchFamily="34" charset="0"/>
              </a:rPr>
              <a:t>adjacent vertex</a:t>
            </a:r>
            <a:r>
              <a:rPr lang="en-US" altLang="zh-CN" sz="2400" b="1" dirty="0">
                <a:latin typeface="Arial" panose="020B0604020202020204" pitchFamily="34" charset="0"/>
                <a:ea typeface="楷体_GB2312" pitchFamily="49" charset="-122"/>
                <a:cs typeface="Arial" panose="020B0604020202020204" pitchFamily="34" charset="0"/>
              </a:rPr>
              <a:t> of vertex vi</a:t>
            </a:r>
            <a:endParaRPr lang="zh-CN" altLang="en-US" sz="2400" b="1" dirty="0">
              <a:solidFill>
                <a:srgbClr val="FF0000"/>
              </a:solidFill>
              <a:latin typeface="Arial" panose="020B0604020202020204" pitchFamily="34" charset="0"/>
              <a:ea typeface="楷体_GB2312" pitchFamily="49" charset="-122"/>
              <a:cs typeface="Arial" panose="020B0604020202020204" pitchFamily="34" charset="0"/>
            </a:endParaRPr>
          </a:p>
          <a:p>
            <a:pPr marL="533400" lvl="1">
              <a:lnSpc>
                <a:spcPct val="90000"/>
              </a:lnSpc>
              <a:spcBef>
                <a:spcPct val="20000"/>
              </a:spcBef>
              <a:buFontTx/>
              <a:buChar char="–"/>
            </a:pPr>
            <a:r>
              <a:rPr lang="en-US" altLang="zh-CN" sz="2400" b="1" dirty="0">
                <a:latin typeface="Arial" panose="020B0604020202020204" pitchFamily="34" charset="0"/>
                <a:ea typeface="楷体_GB2312" pitchFamily="49" charset="-122"/>
                <a:cs typeface="Arial" panose="020B0604020202020204" pitchFamily="34" charset="0"/>
              </a:rPr>
              <a:t>info      —Stores the </a:t>
            </a:r>
            <a:r>
              <a:rPr lang="en-US" altLang="zh-CN" sz="2400" b="1" dirty="0">
                <a:solidFill>
                  <a:srgbClr val="FF0000"/>
                </a:solidFill>
                <a:latin typeface="Arial" panose="020B0604020202020204" pitchFamily="34" charset="0"/>
                <a:ea typeface="楷体_GB2312" pitchFamily="49" charset="-122"/>
                <a:cs typeface="Arial" panose="020B0604020202020204" pitchFamily="34" charset="0"/>
              </a:rPr>
              <a:t>weight</a:t>
            </a:r>
            <a:r>
              <a:rPr lang="en-US" altLang="zh-CN" sz="2400" b="1" dirty="0">
                <a:latin typeface="Arial" panose="020B0604020202020204" pitchFamily="34" charset="0"/>
                <a:ea typeface="楷体_GB2312" pitchFamily="49" charset="-122"/>
                <a:cs typeface="Arial" panose="020B0604020202020204" pitchFamily="34" charset="0"/>
              </a:rPr>
              <a:t> related to edges and arcs</a:t>
            </a:r>
            <a:endParaRPr lang="zh-CN" altLang="en-US" sz="2400" b="1" dirty="0">
              <a:solidFill>
                <a:srgbClr val="FF0000"/>
              </a:solidFill>
              <a:latin typeface="Arial" panose="020B0604020202020204" pitchFamily="34" charset="0"/>
              <a:ea typeface="楷体_GB2312" pitchFamily="49" charset="-122"/>
              <a:cs typeface="Arial" panose="020B0604020202020204" pitchFamily="34" charset="0"/>
            </a:endParaRPr>
          </a:p>
          <a:p>
            <a:pPr marL="533400" lvl="1">
              <a:lnSpc>
                <a:spcPct val="90000"/>
              </a:lnSpc>
              <a:spcBef>
                <a:spcPct val="20000"/>
              </a:spcBef>
              <a:buFontTx/>
              <a:buChar char="–"/>
            </a:pPr>
            <a:r>
              <a:rPr lang="en-US" altLang="zh-CN" sz="2400" b="1" dirty="0" err="1">
                <a:latin typeface="Arial" panose="020B0604020202020204" pitchFamily="34" charset="0"/>
                <a:ea typeface="楷体_GB2312" pitchFamily="49" charset="-122"/>
                <a:cs typeface="Arial" panose="020B0604020202020204" pitchFamily="34" charset="0"/>
              </a:rPr>
              <a:t>nextarc</a:t>
            </a:r>
            <a:r>
              <a:rPr lang="en-US" altLang="zh-CN" sz="2400" b="1" dirty="0">
                <a:latin typeface="Arial" panose="020B0604020202020204" pitchFamily="34" charset="0"/>
                <a:ea typeface="楷体_GB2312" pitchFamily="49" charset="-122"/>
                <a:cs typeface="Arial" panose="020B0604020202020204" pitchFamily="34" charset="0"/>
              </a:rPr>
              <a:t>—</a:t>
            </a:r>
            <a:r>
              <a:rPr lang="en-US" altLang="zh-CN" sz="2400" b="1" dirty="0">
                <a:solidFill>
                  <a:srgbClr val="FF0000"/>
                </a:solidFill>
                <a:latin typeface="Arial" panose="020B0604020202020204" pitchFamily="34" charset="0"/>
                <a:ea typeface="楷体_GB2312" pitchFamily="49" charset="-122"/>
                <a:cs typeface="Arial" panose="020B0604020202020204" pitchFamily="34" charset="0"/>
              </a:rPr>
              <a:t>Pointer</a:t>
            </a:r>
            <a:r>
              <a:rPr lang="en-US" altLang="zh-CN" sz="2400" b="1" dirty="0">
                <a:latin typeface="Arial" panose="020B0604020202020204" pitchFamily="34" charset="0"/>
                <a:ea typeface="楷体_GB2312" pitchFamily="49" charset="-122"/>
                <a:cs typeface="Arial" panose="020B0604020202020204" pitchFamily="34" charset="0"/>
              </a:rPr>
              <a:t> to the next adjacent vertex of</a:t>
            </a:r>
            <a:r>
              <a:rPr lang="en-US" altLang="en-US" sz="2400" b="1" dirty="0">
                <a:latin typeface="Arial" panose="020B0604020202020204" pitchFamily="34" charset="0"/>
                <a:ea typeface="楷体_GB2312" pitchFamily="49" charset="-122"/>
                <a:cs typeface="Arial" panose="020B0604020202020204" pitchFamily="34" charset="0"/>
              </a:rPr>
              <a:t> </a:t>
            </a:r>
            <a:r>
              <a:rPr lang="en-US" sz="2400" b="1" dirty="0">
                <a:latin typeface="Arial" panose="020B0604020202020204" pitchFamily="34" charset="0"/>
                <a:ea typeface="楷体_GB2312" pitchFamily="49" charset="-122"/>
                <a:cs typeface="Arial" panose="020B0604020202020204" pitchFamily="34" charset="0"/>
              </a:rPr>
              <a:t> </a:t>
            </a:r>
            <a:r>
              <a:rPr lang="en-US" altLang="zh-CN" sz="2400" b="1" dirty="0">
                <a:latin typeface="Arial" panose="020B0604020202020204" pitchFamily="34" charset="0"/>
                <a:ea typeface="楷体_GB2312" pitchFamily="49" charset="-122"/>
                <a:cs typeface="Arial" panose="020B0604020202020204" pitchFamily="34" charset="0"/>
              </a:rPr>
              <a:t>vi</a:t>
            </a:r>
            <a:r>
              <a:rPr lang="zh-CN" altLang="en-US" sz="2400" dirty="0">
                <a:latin typeface="Arial" panose="020B0604020202020204" pitchFamily="34" charset="0"/>
                <a:cs typeface="Arial" panose="020B0604020202020204" pitchFamily="34" charset="0"/>
              </a:rPr>
              <a:t>   </a:t>
            </a:r>
            <a:endParaRPr lang="zh-CN" altLang="en-US" sz="2400" dirty="0">
              <a:latin typeface="Arial" panose="020B0604020202020204" pitchFamily="34" charset="0"/>
              <a:cs typeface="Arial" panose="020B0604020202020204" pitchFamily="34" charset="0"/>
            </a:endParaRPr>
          </a:p>
        </p:txBody>
      </p:sp>
      <p:sp>
        <p:nvSpPr>
          <p:cNvPr id="84996" name="Text Box 4"/>
          <p:cNvSpPr txBox="1">
            <a:spLocks noChangeArrowheads="1"/>
          </p:cNvSpPr>
          <p:nvPr/>
        </p:nvSpPr>
        <p:spPr bwMode="auto">
          <a:xfrm>
            <a:off x="539750" y="-99695"/>
            <a:ext cx="7428865" cy="209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3200" b="1" dirty="0">
                <a:solidFill>
                  <a:srgbClr val="0000FF"/>
                </a:solidFill>
                <a:latin typeface="Arial" panose="020B0604020202020204" pitchFamily="34" charset="0"/>
                <a:ea typeface="楷体_GB2312" pitchFamily="49" charset="-122"/>
                <a:cs typeface="Arial" panose="020B0604020202020204" pitchFamily="34" charset="0"/>
                <a:sym typeface="+mn-ea"/>
              </a:rPr>
              <a:t>Adjacency List Storage Representation of Graphs</a:t>
            </a:r>
            <a:endParaRPr lang="zh-CN" altLang="en-US" sz="3600" b="1" dirty="0">
              <a:solidFill>
                <a:srgbClr val="FF0000"/>
              </a:solidFill>
              <a:ea typeface="+mn-ea"/>
              <a:cs typeface="Arial" panose="020B0604020202020204" pitchFamily="34" charset="0"/>
            </a:endParaRPr>
          </a:p>
          <a:p>
            <a:pPr>
              <a:lnSpc>
                <a:spcPct val="130000"/>
              </a:lnSpc>
            </a:pPr>
            <a:endParaRPr lang="zh-CN" altLang="en-US" sz="3600" b="1" dirty="0">
              <a:solidFill>
                <a:srgbClr val="FF0000"/>
              </a:solidFill>
              <a:ea typeface="+mn-ea"/>
              <a:cs typeface="Arial" panose="020B0604020202020204" pitchFamily="34" charset="0"/>
            </a:endParaRPr>
          </a:p>
        </p:txBody>
      </p:sp>
      <p:sp>
        <p:nvSpPr>
          <p:cNvPr id="84997" name="Line 5"/>
          <p:cNvSpPr>
            <a:spLocks noChangeShapeType="1"/>
          </p:cNvSpPr>
          <p:nvPr/>
        </p:nvSpPr>
        <p:spPr bwMode="auto">
          <a:xfrm>
            <a:off x="4038600" y="33528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4998" name="Line 6"/>
          <p:cNvSpPr>
            <a:spLocks noChangeShapeType="1"/>
          </p:cNvSpPr>
          <p:nvPr/>
        </p:nvSpPr>
        <p:spPr bwMode="auto">
          <a:xfrm>
            <a:off x="5715000" y="3352800"/>
            <a:ext cx="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4999" name="Text Box 7"/>
          <p:cNvSpPr txBox="1">
            <a:spLocks noChangeArrowheads="1"/>
          </p:cNvSpPr>
          <p:nvPr/>
        </p:nvSpPr>
        <p:spPr bwMode="auto">
          <a:xfrm>
            <a:off x="381000" y="3352800"/>
            <a:ext cx="16764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olidFill>
                  <a:srgbClr val="A50021"/>
                </a:solidFill>
                <a:latin typeface="Arial" panose="020B0604020202020204" pitchFamily="34" charset="0"/>
                <a:ea typeface="楷体_GB2312" pitchFamily="49" charset="-122"/>
                <a:cs typeface="Arial" panose="020B0604020202020204" pitchFamily="34" charset="0"/>
              </a:rPr>
              <a:t>List Node</a:t>
            </a:r>
            <a:endParaRPr lang="en-US" altLang="zh-CN" sz="2400" b="1"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2489200" y="2171700"/>
            <a:ext cx="3149600" cy="5715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6019" name="Rectangle 3"/>
          <p:cNvSpPr>
            <a:spLocks noChangeArrowheads="1"/>
          </p:cNvSpPr>
          <p:nvPr/>
        </p:nvSpPr>
        <p:spPr bwMode="auto">
          <a:xfrm>
            <a:off x="304800" y="685800"/>
            <a:ext cx="8382000" cy="5351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20000"/>
              </a:lnSpc>
              <a:spcBef>
                <a:spcPct val="50000"/>
              </a:spcBef>
            </a:pPr>
            <a:r>
              <a:rPr lang="en-US" altLang="zh-CN" sz="3200" b="1">
                <a:latin typeface="Arial" panose="020B0604020202020204" pitchFamily="34" charset="0"/>
                <a:ea typeface="楷体_GB2312" pitchFamily="49" charset="-122"/>
                <a:cs typeface="Arial" panose="020B0604020202020204" pitchFamily="34" charset="0"/>
              </a:rPr>
              <a:t>A</a:t>
            </a:r>
            <a:r>
              <a:rPr lang="en-US" altLang="zh-CN" sz="3200" b="1">
                <a:solidFill>
                  <a:srgbClr val="FF0000"/>
                </a:solidFill>
                <a:latin typeface="Arial" panose="020B0604020202020204" pitchFamily="34" charset="0"/>
                <a:ea typeface="楷体_GB2312" pitchFamily="49" charset="-122"/>
                <a:cs typeface="Arial" panose="020B0604020202020204" pitchFamily="34" charset="0"/>
              </a:rPr>
              <a:t> head node</a:t>
            </a:r>
            <a:r>
              <a:rPr lang="en-US" altLang="zh-CN" sz="3200" b="1">
                <a:latin typeface="Arial" panose="020B0604020202020204" pitchFamily="34" charset="0"/>
                <a:ea typeface="楷体_GB2312" pitchFamily="49" charset="-122"/>
                <a:cs typeface="Arial" panose="020B0604020202020204" pitchFamily="34" charset="0"/>
              </a:rPr>
              <a:t> is attached to each linked list, consisting of two fields:</a:t>
            </a:r>
            <a:endParaRPr lang="en-US" altLang="zh-CN" sz="3200" b="1">
              <a:latin typeface="Arial" panose="020B0604020202020204" pitchFamily="34" charset="0"/>
              <a:ea typeface="楷体_GB2312" pitchFamily="49" charset="-122"/>
              <a:cs typeface="Arial" panose="020B0604020202020204" pitchFamily="34" charset="0"/>
            </a:endParaRPr>
          </a:p>
          <a:p>
            <a:pPr lvl="1">
              <a:lnSpc>
                <a:spcPct val="120000"/>
              </a:lnSpc>
              <a:spcBef>
                <a:spcPct val="50000"/>
              </a:spcBef>
            </a:pPr>
            <a:r>
              <a:rPr lang="zh-CN" altLang="en-US" sz="3200" b="1">
                <a:latin typeface="Arial" panose="020B0604020202020204" pitchFamily="34" charset="0"/>
                <a:ea typeface="楷体_GB2312" pitchFamily="49" charset="-122"/>
                <a:cs typeface="Arial" panose="020B0604020202020204" pitchFamily="34" charset="0"/>
              </a:rPr>
              <a:t>                 </a:t>
            </a:r>
            <a:r>
              <a:rPr lang="en-US" altLang="zh-CN" sz="3200" b="1">
                <a:ea typeface="楷体_GB2312" pitchFamily="49" charset="-122"/>
              </a:rPr>
              <a:t>data      fristarc</a:t>
            </a:r>
            <a:r>
              <a:rPr lang="en-US" altLang="zh-CN" sz="3200" b="1">
                <a:latin typeface="Arial" panose="020B0604020202020204" pitchFamily="34" charset="0"/>
                <a:ea typeface="楷体_GB2312" pitchFamily="49" charset="-122"/>
                <a:cs typeface="Arial" panose="020B0604020202020204" pitchFamily="34" charset="0"/>
              </a:rPr>
              <a:t> </a:t>
            </a:r>
            <a:endParaRPr lang="en-US" altLang="zh-CN" sz="3200" b="1">
              <a:latin typeface="Arial" panose="020B0604020202020204" pitchFamily="34" charset="0"/>
              <a:ea typeface="楷体_GB2312" pitchFamily="49" charset="-122"/>
              <a:cs typeface="Arial" panose="020B0604020202020204" pitchFamily="34" charset="0"/>
            </a:endParaRPr>
          </a:p>
          <a:p>
            <a:pPr lvl="1">
              <a:lnSpc>
                <a:spcPct val="120000"/>
              </a:lnSpc>
              <a:buFontTx/>
              <a:buChar char="–"/>
            </a:pPr>
            <a:endParaRPr lang="en-US" altLang="zh-CN" sz="3200" b="1">
              <a:latin typeface="Arial" panose="020B0604020202020204" pitchFamily="34" charset="0"/>
              <a:ea typeface="楷体_GB2312" pitchFamily="49" charset="-122"/>
              <a:cs typeface="Arial" panose="020B0604020202020204" pitchFamily="34" charset="0"/>
            </a:endParaRPr>
          </a:p>
          <a:p>
            <a:pPr lvl="1">
              <a:lnSpc>
                <a:spcPct val="120000"/>
              </a:lnSpc>
              <a:buFontTx/>
              <a:buChar char="–"/>
            </a:pPr>
            <a:r>
              <a:rPr lang="en-US" altLang="zh-CN" sz="2400" b="1">
                <a:latin typeface="Arial" panose="020B0604020202020204" pitchFamily="34" charset="0"/>
                <a:ea typeface="楷体_GB2312" pitchFamily="49" charset="-122"/>
                <a:cs typeface="Arial" panose="020B0604020202020204" pitchFamily="34" charset="0"/>
              </a:rPr>
              <a:t>data      — Stores data related to vertex</a:t>
            </a:r>
            <a:r>
              <a:rPr lang="en-US" altLang="en-US" sz="2400" b="1">
                <a:latin typeface="Arial" panose="020B0604020202020204" pitchFamily="34" charset="0"/>
                <a:ea typeface="楷体_GB2312" pitchFamily="49" charset="-122"/>
                <a:cs typeface="Arial" panose="020B0604020202020204" pitchFamily="34" charset="0"/>
              </a:rPr>
              <a:t> </a:t>
            </a:r>
            <a:r>
              <a:rPr lang="en-US" altLang="zh-CN" sz="2400" b="1">
                <a:latin typeface="Arial" panose="020B0604020202020204" pitchFamily="34" charset="0"/>
                <a:ea typeface="楷体_GB2312" pitchFamily="49" charset="-122"/>
                <a:cs typeface="Arial" panose="020B0604020202020204" pitchFamily="34" charset="0"/>
              </a:rPr>
              <a:t>vi</a:t>
            </a:r>
            <a:endParaRPr lang="zh-CN" altLang="en-US" sz="2400" b="1">
              <a:latin typeface="Arial" panose="020B0604020202020204" pitchFamily="34" charset="0"/>
              <a:ea typeface="楷体_GB2312" pitchFamily="49" charset="-122"/>
              <a:cs typeface="Arial" panose="020B0604020202020204" pitchFamily="34" charset="0"/>
            </a:endParaRPr>
          </a:p>
          <a:p>
            <a:pPr lvl="1">
              <a:lnSpc>
                <a:spcPct val="120000"/>
              </a:lnSpc>
              <a:buFontTx/>
              <a:buChar char="–"/>
            </a:pPr>
            <a:r>
              <a:rPr lang="en-US" altLang="zh-CN" sz="2400" b="1">
                <a:latin typeface="Arial" panose="020B0604020202020204" pitchFamily="34" charset="0"/>
                <a:ea typeface="楷体_GB2312" pitchFamily="49" charset="-122"/>
                <a:cs typeface="Arial" panose="020B0604020202020204" pitchFamily="34" charset="0"/>
              </a:rPr>
              <a:t>fristarc — </a:t>
            </a:r>
            <a:r>
              <a:rPr lang="en-US" altLang="zh-CN" sz="2400" b="1">
                <a:solidFill>
                  <a:srgbClr val="FF0000"/>
                </a:solidFill>
                <a:latin typeface="Arial" panose="020B0604020202020204" pitchFamily="34" charset="0"/>
                <a:ea typeface="楷体_GB2312" pitchFamily="49" charset="-122"/>
                <a:cs typeface="Arial" panose="020B0604020202020204" pitchFamily="34" charset="0"/>
              </a:rPr>
              <a:t>Pointer</a:t>
            </a:r>
            <a:r>
              <a:rPr lang="en-US" altLang="zh-CN" sz="2400" b="1">
                <a:latin typeface="Arial" panose="020B0604020202020204" pitchFamily="34" charset="0"/>
                <a:ea typeface="楷体_GB2312" pitchFamily="49" charset="-122"/>
                <a:cs typeface="Arial" panose="020B0604020202020204" pitchFamily="34" charset="0"/>
              </a:rPr>
              <a:t> to the first adjacent vertex of</a:t>
            </a:r>
            <a:r>
              <a:rPr lang="en-US" altLang="en-US" sz="2400" b="1">
                <a:latin typeface="Arial" panose="020B0604020202020204" pitchFamily="34" charset="0"/>
                <a:ea typeface="楷体_GB2312" pitchFamily="49" charset="-122"/>
                <a:cs typeface="Arial" panose="020B0604020202020204" pitchFamily="34" charset="0"/>
              </a:rPr>
              <a:t> </a:t>
            </a:r>
            <a:r>
              <a:rPr lang="en-US" sz="2400" b="1">
                <a:latin typeface="Arial" panose="020B0604020202020204" pitchFamily="34" charset="0"/>
                <a:ea typeface="楷体_GB2312" pitchFamily="49" charset="-122"/>
                <a:cs typeface="Arial" panose="020B0604020202020204" pitchFamily="34" charset="0"/>
              </a:rPr>
              <a:t> </a:t>
            </a:r>
            <a:r>
              <a:rPr lang="en-US" altLang="zh-CN" sz="2400" b="1">
                <a:latin typeface="Arial" panose="020B0604020202020204" pitchFamily="34" charset="0"/>
                <a:ea typeface="楷体_GB2312" pitchFamily="49" charset="-122"/>
                <a:cs typeface="Arial" panose="020B0604020202020204" pitchFamily="34" charset="0"/>
              </a:rPr>
              <a:t>vi</a:t>
            </a:r>
            <a:endParaRPr lang="zh-CN" altLang="en-US" sz="2400" b="1">
              <a:latin typeface="Arial" panose="020B0604020202020204" pitchFamily="34" charset="0"/>
              <a:ea typeface="楷体_GB2312" pitchFamily="49" charset="-122"/>
              <a:cs typeface="Arial" panose="020B0604020202020204" pitchFamily="34" charset="0"/>
            </a:endParaRPr>
          </a:p>
          <a:p>
            <a:pPr lvl="1">
              <a:lnSpc>
                <a:spcPct val="120000"/>
              </a:lnSpc>
              <a:spcBef>
                <a:spcPct val="50000"/>
              </a:spcBef>
            </a:pPr>
            <a:r>
              <a:rPr lang="en-US" altLang="zh-CN" b="1">
                <a:solidFill>
                  <a:srgbClr val="FF0000"/>
                </a:solidFill>
                <a:latin typeface="Arial" panose="020B0604020202020204" pitchFamily="34" charset="0"/>
                <a:ea typeface="楷体_GB2312" pitchFamily="49" charset="-122"/>
                <a:cs typeface="Arial" panose="020B0604020202020204" pitchFamily="34" charset="0"/>
              </a:rPr>
              <a:t>Head nodes </a:t>
            </a:r>
            <a:r>
              <a:rPr lang="en-US" altLang="zh-CN" b="1">
                <a:latin typeface="Arial" panose="020B0604020202020204" pitchFamily="34" charset="0"/>
                <a:ea typeface="楷体_GB2312" pitchFamily="49" charset="-122"/>
                <a:cs typeface="Arial" panose="020B0604020202020204" pitchFamily="34" charset="0"/>
              </a:rPr>
              <a:t>are usually stored in </a:t>
            </a:r>
            <a:r>
              <a:rPr lang="en-US" altLang="zh-CN" b="1">
                <a:solidFill>
                  <a:srgbClr val="FF0000"/>
                </a:solidFill>
                <a:latin typeface="Arial" panose="020B0604020202020204" pitchFamily="34" charset="0"/>
                <a:ea typeface="楷体_GB2312" pitchFamily="49" charset="-122"/>
                <a:cs typeface="Arial" panose="020B0604020202020204" pitchFamily="34" charset="0"/>
              </a:rPr>
              <a:t>a sequential structure</a:t>
            </a:r>
            <a:r>
              <a:rPr lang="en-US" altLang="zh-CN" b="1">
                <a:latin typeface="Arial" panose="020B0604020202020204" pitchFamily="34" charset="0"/>
                <a:ea typeface="楷体_GB2312" pitchFamily="49" charset="-122"/>
                <a:cs typeface="Arial" panose="020B0604020202020204" pitchFamily="34" charset="0"/>
              </a:rPr>
              <a:t> to enable random access to the adjacency linked list of any vertex.</a:t>
            </a:r>
            <a:endParaRPr lang="en-US" altLang="zh-CN" b="1">
              <a:latin typeface="Arial" panose="020B0604020202020204" pitchFamily="34" charset="0"/>
              <a:ea typeface="楷体_GB2312" pitchFamily="49" charset="-122"/>
              <a:cs typeface="Arial" panose="020B0604020202020204" pitchFamily="34" charset="0"/>
            </a:endParaRPr>
          </a:p>
        </p:txBody>
      </p:sp>
      <p:sp>
        <p:nvSpPr>
          <p:cNvPr id="86020" name="Line 4"/>
          <p:cNvSpPr>
            <a:spLocks noChangeShapeType="1"/>
          </p:cNvSpPr>
          <p:nvPr/>
        </p:nvSpPr>
        <p:spPr bwMode="auto">
          <a:xfrm>
            <a:off x="3810000" y="2154238"/>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6021" name="Text Box 5"/>
          <p:cNvSpPr txBox="1">
            <a:spLocks noChangeArrowheads="1"/>
          </p:cNvSpPr>
          <p:nvPr/>
        </p:nvSpPr>
        <p:spPr bwMode="auto">
          <a:xfrm>
            <a:off x="583565" y="2133600"/>
            <a:ext cx="18548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a:solidFill>
                  <a:srgbClr val="A50021"/>
                </a:solidFill>
                <a:ea typeface="楷体_GB2312" pitchFamily="49" charset="-122"/>
                <a:sym typeface="+mn-ea"/>
              </a:rPr>
              <a:t>Head node</a:t>
            </a:r>
            <a:endParaRPr lang="zh-CN" altLang="en-US" sz="2400" b="1">
              <a:solidFill>
                <a:srgbClr val="A50021"/>
              </a:solidFill>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Adjacency </a:t>
            </a:r>
            <a:r>
              <a:rPr lang="en-US" altLang="zh-CN">
                <a:sym typeface="+mn-ea"/>
              </a:rPr>
              <a:t>L</a:t>
            </a:r>
            <a:r>
              <a:rPr>
                <a:sym typeface="+mn-ea"/>
              </a:rPr>
              <a:t>ist of an </a:t>
            </a:r>
            <a:r>
              <a:rPr lang="en-US" altLang="zh-CN">
                <a:sym typeface="+mn-ea"/>
              </a:rPr>
              <a:t>U</a:t>
            </a:r>
            <a:r>
              <a:rPr>
                <a:sym typeface="+mn-ea"/>
              </a:rPr>
              <a:t>ndirected </a:t>
            </a:r>
            <a:r>
              <a:rPr lang="en-US" altLang="zh-CN">
                <a:sym typeface="+mn-ea"/>
              </a:rPr>
              <a:t>G</a:t>
            </a:r>
            <a:r>
              <a:rPr>
                <a:sym typeface="+mn-ea"/>
              </a:rPr>
              <a:t>raph</a:t>
            </a:r>
            <a:endParaRPr lang="zh-CN" altLang="en-US" dirty="0"/>
          </a:p>
        </p:txBody>
      </p:sp>
      <p:grpSp>
        <p:nvGrpSpPr>
          <p:cNvPr id="6" name="Group 63"/>
          <p:cNvGrpSpPr/>
          <p:nvPr/>
        </p:nvGrpSpPr>
        <p:grpSpPr bwMode="auto">
          <a:xfrm>
            <a:off x="3505200" y="1916113"/>
            <a:ext cx="4495800" cy="1998663"/>
            <a:chOff x="2112" y="1111"/>
            <a:chExt cx="2832" cy="1259"/>
          </a:xfrm>
        </p:grpSpPr>
        <p:sp>
          <p:nvSpPr>
            <p:cNvPr id="7" name="Rectangle 2"/>
            <p:cNvSpPr>
              <a:spLocks noChangeArrowheads="1"/>
            </p:cNvSpPr>
            <p:nvPr/>
          </p:nvSpPr>
          <p:spPr bwMode="auto">
            <a:xfrm>
              <a:off x="2400" y="117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8" name="Rectangle 3"/>
            <p:cNvSpPr>
              <a:spLocks noChangeArrowheads="1"/>
            </p:cNvSpPr>
            <p:nvPr/>
          </p:nvSpPr>
          <p:spPr bwMode="auto">
            <a:xfrm>
              <a:off x="2640" y="117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 name="Rectangle 4"/>
            <p:cNvSpPr>
              <a:spLocks noChangeArrowheads="1"/>
            </p:cNvSpPr>
            <p:nvPr/>
          </p:nvSpPr>
          <p:spPr bwMode="auto">
            <a:xfrm>
              <a:off x="2400" y="141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10" name="Rectangle 5"/>
            <p:cNvSpPr>
              <a:spLocks noChangeArrowheads="1"/>
            </p:cNvSpPr>
            <p:nvPr/>
          </p:nvSpPr>
          <p:spPr bwMode="auto">
            <a:xfrm>
              <a:off x="2640" y="141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11" name="Rectangle 6"/>
            <p:cNvSpPr>
              <a:spLocks noChangeArrowheads="1"/>
            </p:cNvSpPr>
            <p:nvPr/>
          </p:nvSpPr>
          <p:spPr bwMode="auto">
            <a:xfrm>
              <a:off x="2400" y="165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12" name="Rectangle 7"/>
            <p:cNvSpPr>
              <a:spLocks noChangeArrowheads="1"/>
            </p:cNvSpPr>
            <p:nvPr/>
          </p:nvSpPr>
          <p:spPr bwMode="auto">
            <a:xfrm>
              <a:off x="2640" y="165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13" name="Rectangle 8"/>
            <p:cNvSpPr>
              <a:spLocks noChangeArrowheads="1"/>
            </p:cNvSpPr>
            <p:nvPr/>
          </p:nvSpPr>
          <p:spPr bwMode="auto">
            <a:xfrm>
              <a:off x="2400" y="189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14" name="Rectangle 9"/>
            <p:cNvSpPr>
              <a:spLocks noChangeArrowheads="1"/>
            </p:cNvSpPr>
            <p:nvPr/>
          </p:nvSpPr>
          <p:spPr bwMode="auto">
            <a:xfrm>
              <a:off x="2640" y="189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15" name="Rectangle 10"/>
            <p:cNvSpPr>
              <a:spLocks noChangeArrowheads="1"/>
            </p:cNvSpPr>
            <p:nvPr/>
          </p:nvSpPr>
          <p:spPr bwMode="auto">
            <a:xfrm>
              <a:off x="2400" y="213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V5</a:t>
              </a:r>
              <a:endParaRPr lang="en-US" altLang="zh-CN" sz="2000" b="1"/>
            </a:p>
          </p:txBody>
        </p:sp>
        <p:sp>
          <p:nvSpPr>
            <p:cNvPr id="16" name="Rectangle 11"/>
            <p:cNvSpPr>
              <a:spLocks noChangeArrowheads="1"/>
            </p:cNvSpPr>
            <p:nvPr/>
          </p:nvSpPr>
          <p:spPr bwMode="auto">
            <a:xfrm>
              <a:off x="2640" y="213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17" name="Rectangle 12"/>
            <p:cNvSpPr>
              <a:spLocks noChangeArrowheads="1"/>
            </p:cNvSpPr>
            <p:nvPr/>
          </p:nvSpPr>
          <p:spPr bwMode="auto">
            <a:xfrm>
              <a:off x="3120" y="121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18" name="Rectangle 13"/>
            <p:cNvSpPr>
              <a:spLocks noChangeArrowheads="1"/>
            </p:cNvSpPr>
            <p:nvPr/>
          </p:nvSpPr>
          <p:spPr bwMode="auto">
            <a:xfrm>
              <a:off x="3360" y="121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19" name="Rectangle 14"/>
            <p:cNvSpPr>
              <a:spLocks noChangeArrowheads="1"/>
            </p:cNvSpPr>
            <p:nvPr/>
          </p:nvSpPr>
          <p:spPr bwMode="auto">
            <a:xfrm>
              <a:off x="3792" y="121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20" name="Rectangle 15"/>
            <p:cNvSpPr>
              <a:spLocks noChangeArrowheads="1"/>
            </p:cNvSpPr>
            <p:nvPr/>
          </p:nvSpPr>
          <p:spPr bwMode="auto">
            <a:xfrm>
              <a:off x="4032" y="121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p>
          </p:txBody>
        </p:sp>
        <p:sp>
          <p:nvSpPr>
            <p:cNvPr id="21" name="Rectangle 16"/>
            <p:cNvSpPr>
              <a:spLocks noChangeArrowheads="1"/>
            </p:cNvSpPr>
            <p:nvPr/>
          </p:nvSpPr>
          <p:spPr bwMode="auto">
            <a:xfrm>
              <a:off x="3120"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22" name="Rectangle 17"/>
            <p:cNvSpPr>
              <a:spLocks noChangeArrowheads="1"/>
            </p:cNvSpPr>
            <p:nvPr/>
          </p:nvSpPr>
          <p:spPr bwMode="auto">
            <a:xfrm>
              <a:off x="3360"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3" name="Rectangle 18"/>
            <p:cNvSpPr>
              <a:spLocks noChangeArrowheads="1"/>
            </p:cNvSpPr>
            <p:nvPr/>
          </p:nvSpPr>
          <p:spPr bwMode="auto">
            <a:xfrm>
              <a:off x="3792"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24" name="Rectangle 19"/>
            <p:cNvSpPr>
              <a:spLocks noChangeArrowheads="1"/>
            </p:cNvSpPr>
            <p:nvPr/>
          </p:nvSpPr>
          <p:spPr bwMode="auto">
            <a:xfrm>
              <a:off x="4032"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5" name="Rectangle 20"/>
            <p:cNvSpPr>
              <a:spLocks noChangeArrowheads="1"/>
            </p:cNvSpPr>
            <p:nvPr/>
          </p:nvSpPr>
          <p:spPr bwMode="auto">
            <a:xfrm>
              <a:off x="3120" y="169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26" name="Rectangle 21"/>
            <p:cNvSpPr>
              <a:spLocks noChangeArrowheads="1"/>
            </p:cNvSpPr>
            <p:nvPr/>
          </p:nvSpPr>
          <p:spPr bwMode="auto">
            <a:xfrm>
              <a:off x="3360" y="169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7" name="Rectangle 22"/>
            <p:cNvSpPr>
              <a:spLocks noChangeArrowheads="1"/>
            </p:cNvSpPr>
            <p:nvPr/>
          </p:nvSpPr>
          <p:spPr bwMode="auto">
            <a:xfrm>
              <a:off x="3792" y="169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28" name="Rectangle 23"/>
            <p:cNvSpPr>
              <a:spLocks noChangeArrowheads="1"/>
            </p:cNvSpPr>
            <p:nvPr/>
          </p:nvSpPr>
          <p:spPr bwMode="auto">
            <a:xfrm>
              <a:off x="4032" y="169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9" name="Rectangle 24"/>
            <p:cNvSpPr>
              <a:spLocks noChangeArrowheads="1"/>
            </p:cNvSpPr>
            <p:nvPr/>
          </p:nvSpPr>
          <p:spPr bwMode="auto">
            <a:xfrm>
              <a:off x="3120" y="193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30" name="Rectangle 25"/>
            <p:cNvSpPr>
              <a:spLocks noChangeArrowheads="1"/>
            </p:cNvSpPr>
            <p:nvPr/>
          </p:nvSpPr>
          <p:spPr bwMode="auto">
            <a:xfrm>
              <a:off x="3360" y="193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31" name="Rectangle 26"/>
            <p:cNvSpPr>
              <a:spLocks noChangeArrowheads="1"/>
            </p:cNvSpPr>
            <p:nvPr/>
          </p:nvSpPr>
          <p:spPr bwMode="auto">
            <a:xfrm>
              <a:off x="3792" y="193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32" name="Rectangle 27"/>
            <p:cNvSpPr>
              <a:spLocks noChangeArrowheads="1"/>
            </p:cNvSpPr>
            <p:nvPr/>
          </p:nvSpPr>
          <p:spPr bwMode="auto">
            <a:xfrm>
              <a:off x="4032" y="193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33" name="Rectangle 28"/>
            <p:cNvSpPr>
              <a:spLocks noChangeArrowheads="1"/>
            </p:cNvSpPr>
            <p:nvPr/>
          </p:nvSpPr>
          <p:spPr bwMode="auto">
            <a:xfrm>
              <a:off x="3120" y="217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34" name="Rectangle 29"/>
            <p:cNvSpPr>
              <a:spLocks noChangeArrowheads="1"/>
            </p:cNvSpPr>
            <p:nvPr/>
          </p:nvSpPr>
          <p:spPr bwMode="auto">
            <a:xfrm>
              <a:off x="3360" y="217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35" name="Rectangle 30"/>
            <p:cNvSpPr>
              <a:spLocks noChangeArrowheads="1"/>
            </p:cNvSpPr>
            <p:nvPr/>
          </p:nvSpPr>
          <p:spPr bwMode="auto">
            <a:xfrm>
              <a:off x="3792" y="217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36" name="Rectangle 31"/>
            <p:cNvSpPr>
              <a:spLocks noChangeArrowheads="1"/>
            </p:cNvSpPr>
            <p:nvPr/>
          </p:nvSpPr>
          <p:spPr bwMode="auto">
            <a:xfrm>
              <a:off x="4032" y="217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37" name="Rectangle 32"/>
            <p:cNvSpPr>
              <a:spLocks noChangeArrowheads="1"/>
            </p:cNvSpPr>
            <p:nvPr/>
          </p:nvSpPr>
          <p:spPr bwMode="auto">
            <a:xfrm>
              <a:off x="4464"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38" name="Rectangle 33"/>
            <p:cNvSpPr>
              <a:spLocks noChangeArrowheads="1"/>
            </p:cNvSpPr>
            <p:nvPr/>
          </p:nvSpPr>
          <p:spPr bwMode="auto">
            <a:xfrm>
              <a:off x="4704" y="145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39" name="Rectangle 34"/>
            <p:cNvSpPr>
              <a:spLocks noChangeArrowheads="1"/>
            </p:cNvSpPr>
            <p:nvPr/>
          </p:nvSpPr>
          <p:spPr bwMode="auto">
            <a:xfrm>
              <a:off x="4464" y="169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40" name="Rectangle 35"/>
            <p:cNvSpPr>
              <a:spLocks noChangeArrowheads="1"/>
            </p:cNvSpPr>
            <p:nvPr/>
          </p:nvSpPr>
          <p:spPr bwMode="auto">
            <a:xfrm>
              <a:off x="4704" y="169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41" name="Text Box 36"/>
            <p:cNvSpPr txBox="1">
              <a:spLocks noChangeArrowheads="1"/>
            </p:cNvSpPr>
            <p:nvPr/>
          </p:nvSpPr>
          <p:spPr bwMode="auto">
            <a:xfrm>
              <a:off x="2112" y="1111"/>
              <a:ext cx="240" cy="1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dirty="0"/>
                <a:t>0</a:t>
              </a:r>
              <a:endParaRPr lang="en-US" altLang="zh-CN" b="1" dirty="0"/>
            </a:p>
            <a:p>
              <a:r>
                <a:rPr lang="en-US" altLang="zh-CN" b="1" dirty="0"/>
                <a:t>1</a:t>
              </a:r>
              <a:endParaRPr lang="en-US" altLang="zh-CN" b="1" dirty="0"/>
            </a:p>
            <a:p>
              <a:r>
                <a:rPr lang="en-US" altLang="zh-CN" b="1" dirty="0"/>
                <a:t>2</a:t>
              </a:r>
              <a:endParaRPr lang="en-US" altLang="zh-CN" b="1" dirty="0"/>
            </a:p>
            <a:p>
              <a:r>
                <a:rPr lang="en-US" altLang="zh-CN" b="1" dirty="0"/>
                <a:t>3</a:t>
              </a:r>
              <a:endParaRPr lang="en-US" altLang="zh-CN" b="1" dirty="0"/>
            </a:p>
            <a:p>
              <a:r>
                <a:rPr lang="en-US" altLang="zh-CN" b="1" dirty="0"/>
                <a:t>4</a:t>
              </a:r>
              <a:endParaRPr lang="en-US" altLang="zh-CN" b="1" dirty="0"/>
            </a:p>
          </p:txBody>
        </p:sp>
        <p:sp>
          <p:nvSpPr>
            <p:cNvPr id="42" name="Line 37"/>
            <p:cNvSpPr>
              <a:spLocks noChangeShapeType="1"/>
            </p:cNvSpPr>
            <p:nvPr/>
          </p:nvSpPr>
          <p:spPr bwMode="auto">
            <a:xfrm>
              <a:off x="2784" y="131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3" name="Line 38"/>
            <p:cNvSpPr>
              <a:spLocks noChangeShapeType="1"/>
            </p:cNvSpPr>
            <p:nvPr/>
          </p:nvSpPr>
          <p:spPr bwMode="auto">
            <a:xfrm>
              <a:off x="3456" y="131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4" name="Line 39"/>
            <p:cNvSpPr>
              <a:spLocks noChangeShapeType="1"/>
            </p:cNvSpPr>
            <p:nvPr/>
          </p:nvSpPr>
          <p:spPr bwMode="auto">
            <a:xfrm>
              <a:off x="2784" y="155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5" name="Line 40"/>
            <p:cNvSpPr>
              <a:spLocks noChangeShapeType="1"/>
            </p:cNvSpPr>
            <p:nvPr/>
          </p:nvSpPr>
          <p:spPr bwMode="auto">
            <a:xfrm>
              <a:off x="3456" y="155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6" name="Line 41"/>
            <p:cNvSpPr>
              <a:spLocks noChangeShapeType="1"/>
            </p:cNvSpPr>
            <p:nvPr/>
          </p:nvSpPr>
          <p:spPr bwMode="auto">
            <a:xfrm>
              <a:off x="4128" y="155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7" name="Line 42"/>
            <p:cNvSpPr>
              <a:spLocks noChangeShapeType="1"/>
            </p:cNvSpPr>
            <p:nvPr/>
          </p:nvSpPr>
          <p:spPr bwMode="auto">
            <a:xfrm>
              <a:off x="2784" y="179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8" name="Line 43"/>
            <p:cNvSpPr>
              <a:spLocks noChangeShapeType="1"/>
            </p:cNvSpPr>
            <p:nvPr/>
          </p:nvSpPr>
          <p:spPr bwMode="auto">
            <a:xfrm>
              <a:off x="3456" y="179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9" name="Line 44"/>
            <p:cNvSpPr>
              <a:spLocks noChangeShapeType="1"/>
            </p:cNvSpPr>
            <p:nvPr/>
          </p:nvSpPr>
          <p:spPr bwMode="auto">
            <a:xfrm>
              <a:off x="4128" y="179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0" name="Line 45"/>
            <p:cNvSpPr>
              <a:spLocks noChangeShapeType="1"/>
            </p:cNvSpPr>
            <p:nvPr/>
          </p:nvSpPr>
          <p:spPr bwMode="auto">
            <a:xfrm>
              <a:off x="2784" y="203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1" name="Line 46"/>
            <p:cNvSpPr>
              <a:spLocks noChangeShapeType="1"/>
            </p:cNvSpPr>
            <p:nvPr/>
          </p:nvSpPr>
          <p:spPr bwMode="auto">
            <a:xfrm>
              <a:off x="3456" y="203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2" name="Line 47"/>
            <p:cNvSpPr>
              <a:spLocks noChangeShapeType="1"/>
            </p:cNvSpPr>
            <p:nvPr/>
          </p:nvSpPr>
          <p:spPr bwMode="auto">
            <a:xfrm>
              <a:off x="2784" y="227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3" name="Line 48"/>
            <p:cNvSpPr>
              <a:spLocks noChangeShapeType="1"/>
            </p:cNvSpPr>
            <p:nvPr/>
          </p:nvSpPr>
          <p:spPr bwMode="auto">
            <a:xfrm>
              <a:off x="3456" y="2274"/>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54" name="Text Box 49"/>
          <p:cNvSpPr txBox="1">
            <a:spLocks noChangeArrowheads="1"/>
          </p:cNvSpPr>
          <p:nvPr/>
        </p:nvSpPr>
        <p:spPr bwMode="auto">
          <a:xfrm>
            <a:off x="762000" y="4722813"/>
            <a:ext cx="8153400" cy="1337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50000"/>
              </a:spcBef>
            </a:pPr>
            <a:r>
              <a:rPr lang="en-US" altLang="zh-CN" b="1">
                <a:latin typeface="Arial" panose="020B0604020202020204" pitchFamily="34" charset="0"/>
                <a:ea typeface="楷体_GB2312" pitchFamily="49" charset="-122"/>
                <a:cs typeface="Arial" panose="020B0604020202020204" pitchFamily="34" charset="0"/>
              </a:rPr>
              <a:t>  </a:t>
            </a:r>
            <a:r>
              <a:rPr lang="zh-CN" altLang="en-US" b="1">
                <a:latin typeface="Arial" panose="020B0604020202020204" pitchFamily="34" charset="0"/>
                <a:ea typeface="楷体_GB2312" pitchFamily="49" charset="-122"/>
                <a:cs typeface="Arial" panose="020B0604020202020204" pitchFamily="34" charset="0"/>
                <a:sym typeface="+mn-ea"/>
              </a:rPr>
              <a:t>In an undirected graphs adjacency list, vertex </a:t>
            </a:r>
            <a:r>
              <a:rPr lang="en-US" altLang="zh-CN" b="1">
                <a:latin typeface="Arial" panose="020B0604020202020204" pitchFamily="34" charset="0"/>
                <a:ea typeface="楷体_GB2312" pitchFamily="49" charset="-122"/>
                <a:cs typeface="Arial" panose="020B0604020202020204" pitchFamily="34" charset="0"/>
                <a:sym typeface="+mn-ea"/>
              </a:rPr>
              <a:t>Vi </a:t>
            </a:r>
            <a:r>
              <a:rPr lang="zh-CN" altLang="en-US" b="1">
                <a:latin typeface="Arial" panose="020B0604020202020204" pitchFamily="34" charset="0"/>
                <a:ea typeface="楷体_GB2312" pitchFamily="49" charset="-122"/>
                <a:cs typeface="Arial" panose="020B0604020202020204" pitchFamily="34" charset="0"/>
                <a:sym typeface="+mn-ea"/>
              </a:rPr>
              <a:t>is degree equals the number of nodes in the i-th linked list.</a:t>
            </a:r>
            <a:endParaRPr lang="zh-CN" altLang="en-US" b="1">
              <a:latin typeface="Arial" panose="020B0604020202020204" pitchFamily="34" charset="0"/>
              <a:ea typeface="楷体_GB2312" pitchFamily="49" charset="-122"/>
              <a:cs typeface="Arial" panose="020B0604020202020204" pitchFamily="34" charset="0"/>
              <a:sym typeface="+mn-ea"/>
            </a:endParaRPr>
          </a:p>
        </p:txBody>
      </p:sp>
      <p:grpSp>
        <p:nvGrpSpPr>
          <p:cNvPr id="55" name="Group 50"/>
          <p:cNvGrpSpPr/>
          <p:nvPr/>
        </p:nvGrpSpPr>
        <p:grpSpPr bwMode="auto">
          <a:xfrm>
            <a:off x="1371600" y="2147888"/>
            <a:ext cx="1676400" cy="1600200"/>
            <a:chOff x="768" y="1257"/>
            <a:chExt cx="1056" cy="1008"/>
          </a:xfrm>
        </p:grpSpPr>
        <p:sp>
          <p:nvSpPr>
            <p:cNvPr id="56" name="Oval 51"/>
            <p:cNvSpPr>
              <a:spLocks noChangeArrowheads="1"/>
            </p:cNvSpPr>
            <p:nvPr/>
          </p:nvSpPr>
          <p:spPr bwMode="auto">
            <a:xfrm>
              <a:off x="768" y="1257"/>
              <a:ext cx="240" cy="24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57" name="Oval 52"/>
            <p:cNvSpPr>
              <a:spLocks noChangeArrowheads="1"/>
            </p:cNvSpPr>
            <p:nvPr/>
          </p:nvSpPr>
          <p:spPr bwMode="auto">
            <a:xfrm>
              <a:off x="1536" y="1257"/>
              <a:ext cx="288" cy="24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58" name="Oval 53"/>
            <p:cNvSpPr>
              <a:spLocks noChangeArrowheads="1"/>
            </p:cNvSpPr>
            <p:nvPr/>
          </p:nvSpPr>
          <p:spPr bwMode="auto">
            <a:xfrm>
              <a:off x="816" y="2025"/>
              <a:ext cx="240" cy="24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59" name="Oval 54"/>
            <p:cNvSpPr>
              <a:spLocks noChangeArrowheads="1"/>
            </p:cNvSpPr>
            <p:nvPr/>
          </p:nvSpPr>
          <p:spPr bwMode="auto">
            <a:xfrm>
              <a:off x="1200" y="1689"/>
              <a:ext cx="240" cy="24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60" name="Oval 55"/>
            <p:cNvSpPr>
              <a:spLocks noChangeArrowheads="1"/>
            </p:cNvSpPr>
            <p:nvPr/>
          </p:nvSpPr>
          <p:spPr bwMode="auto">
            <a:xfrm>
              <a:off x="1536" y="2025"/>
              <a:ext cx="240" cy="24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V5</a:t>
              </a:r>
              <a:endParaRPr lang="en-US" altLang="zh-CN" sz="2000" b="1"/>
            </a:p>
          </p:txBody>
        </p:sp>
        <p:sp>
          <p:nvSpPr>
            <p:cNvPr id="61" name="Line 56"/>
            <p:cNvSpPr>
              <a:spLocks noChangeShapeType="1"/>
            </p:cNvSpPr>
            <p:nvPr/>
          </p:nvSpPr>
          <p:spPr bwMode="auto">
            <a:xfrm>
              <a:off x="912" y="1497"/>
              <a:ext cx="0" cy="513"/>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sp>
          <p:nvSpPr>
            <p:cNvPr id="62" name="Line 57"/>
            <p:cNvSpPr>
              <a:spLocks noChangeShapeType="1"/>
            </p:cNvSpPr>
            <p:nvPr/>
          </p:nvSpPr>
          <p:spPr bwMode="auto">
            <a:xfrm>
              <a:off x="1008" y="1401"/>
              <a:ext cx="528" cy="0"/>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sp>
          <p:nvSpPr>
            <p:cNvPr id="63" name="Line 58"/>
            <p:cNvSpPr>
              <a:spLocks noChangeShapeType="1"/>
            </p:cNvSpPr>
            <p:nvPr/>
          </p:nvSpPr>
          <p:spPr bwMode="auto">
            <a:xfrm>
              <a:off x="1632" y="1497"/>
              <a:ext cx="0" cy="528"/>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sp>
          <p:nvSpPr>
            <p:cNvPr id="64" name="Line 59"/>
            <p:cNvSpPr>
              <a:spLocks noChangeShapeType="1"/>
            </p:cNvSpPr>
            <p:nvPr/>
          </p:nvSpPr>
          <p:spPr bwMode="auto">
            <a:xfrm flipH="1">
              <a:off x="1392" y="1497"/>
              <a:ext cx="192" cy="192"/>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sp>
          <p:nvSpPr>
            <p:cNvPr id="65" name="Line 60"/>
            <p:cNvSpPr>
              <a:spLocks noChangeShapeType="1"/>
            </p:cNvSpPr>
            <p:nvPr/>
          </p:nvSpPr>
          <p:spPr bwMode="auto">
            <a:xfrm flipH="1">
              <a:off x="988" y="1861"/>
              <a:ext cx="240" cy="192"/>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sp>
          <p:nvSpPr>
            <p:cNvPr id="66" name="Line 61"/>
            <p:cNvSpPr>
              <a:spLocks noChangeShapeType="1"/>
            </p:cNvSpPr>
            <p:nvPr/>
          </p:nvSpPr>
          <p:spPr bwMode="auto">
            <a:xfrm>
              <a:off x="1364" y="1861"/>
              <a:ext cx="192" cy="192"/>
            </a:xfrm>
            <a:prstGeom prst="line">
              <a:avLst/>
            </a:prstGeom>
            <a:ln>
              <a:headEnd type="none" w="sm" len="sm"/>
              <a:tailEnd type="none" w="sm" len="sm"/>
            </a:ln>
          </p:spPr>
          <p:style>
            <a:lnRef idx="2">
              <a:schemeClr val="dk1"/>
            </a:lnRef>
            <a:fillRef idx="0">
              <a:schemeClr val="dk1"/>
            </a:fillRef>
            <a:effectRef idx="1">
              <a:schemeClr val="dk1"/>
            </a:effectRef>
            <a:fontRef idx="minor">
              <a:schemeClr val="tx1"/>
            </a:fontRef>
          </p:style>
          <p:txBody>
            <a:bodyPr tIns="0"/>
            <a:lstStyle/>
            <a:p>
              <a:endParaRPr lang="zh-CN" altLang="en-US"/>
            </a:p>
          </p:txBody>
        </p:sp>
      </p:gr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7" name="灯片编号占位符 6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slide(fromBottom)">
                                      <p:cBhvr>
                                        <p:cTn id="1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97" name="Group 33"/>
          <p:cNvGrpSpPr/>
          <p:nvPr/>
        </p:nvGrpSpPr>
        <p:grpSpPr bwMode="auto">
          <a:xfrm>
            <a:off x="4114800" y="1560513"/>
            <a:ext cx="3429000" cy="1524000"/>
            <a:chOff x="2592" y="983"/>
            <a:chExt cx="2160" cy="960"/>
          </a:xfrm>
        </p:grpSpPr>
        <p:sp>
          <p:nvSpPr>
            <p:cNvPr id="88066" name="Rectangle 2"/>
            <p:cNvSpPr>
              <a:spLocks noChangeArrowheads="1"/>
            </p:cNvSpPr>
            <p:nvPr/>
          </p:nvSpPr>
          <p:spPr bwMode="auto">
            <a:xfrm>
              <a:off x="3600" y="100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88067" name="Rectangle 3"/>
            <p:cNvSpPr>
              <a:spLocks noChangeArrowheads="1"/>
            </p:cNvSpPr>
            <p:nvPr/>
          </p:nvSpPr>
          <p:spPr bwMode="auto">
            <a:xfrm>
              <a:off x="3840" y="100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8068" name="Rectangle 4"/>
            <p:cNvSpPr>
              <a:spLocks noChangeArrowheads="1"/>
            </p:cNvSpPr>
            <p:nvPr/>
          </p:nvSpPr>
          <p:spPr bwMode="auto">
            <a:xfrm>
              <a:off x="4272" y="100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88069" name="Rectangle 5"/>
            <p:cNvSpPr>
              <a:spLocks noChangeArrowheads="1"/>
            </p:cNvSpPr>
            <p:nvPr/>
          </p:nvSpPr>
          <p:spPr bwMode="auto">
            <a:xfrm>
              <a:off x="4512" y="100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8070" name="Rectangle 6"/>
            <p:cNvSpPr>
              <a:spLocks noChangeArrowheads="1"/>
            </p:cNvSpPr>
            <p:nvPr/>
          </p:nvSpPr>
          <p:spPr bwMode="auto">
            <a:xfrm>
              <a:off x="3600" y="1481"/>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88071" name="Rectangle 7"/>
            <p:cNvSpPr>
              <a:spLocks noChangeArrowheads="1"/>
            </p:cNvSpPr>
            <p:nvPr/>
          </p:nvSpPr>
          <p:spPr bwMode="auto">
            <a:xfrm>
              <a:off x="3840" y="1481"/>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8072" name="Rectangle 8"/>
            <p:cNvSpPr>
              <a:spLocks noChangeArrowheads="1"/>
            </p:cNvSpPr>
            <p:nvPr/>
          </p:nvSpPr>
          <p:spPr bwMode="auto">
            <a:xfrm>
              <a:off x="3600" y="1701"/>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88073" name="Rectangle 9"/>
            <p:cNvSpPr>
              <a:spLocks noChangeArrowheads="1"/>
            </p:cNvSpPr>
            <p:nvPr/>
          </p:nvSpPr>
          <p:spPr bwMode="auto">
            <a:xfrm>
              <a:off x="3840" y="1701"/>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8074" name="Rectangle 10"/>
            <p:cNvSpPr>
              <a:spLocks noChangeArrowheads="1"/>
            </p:cNvSpPr>
            <p:nvPr/>
          </p:nvSpPr>
          <p:spPr bwMode="auto">
            <a:xfrm>
              <a:off x="2880" y="98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88075" name="Rectangle 11"/>
            <p:cNvSpPr>
              <a:spLocks noChangeArrowheads="1"/>
            </p:cNvSpPr>
            <p:nvPr/>
          </p:nvSpPr>
          <p:spPr bwMode="auto">
            <a:xfrm>
              <a:off x="3120" y="98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8076" name="Rectangle 12"/>
            <p:cNvSpPr>
              <a:spLocks noChangeArrowheads="1"/>
            </p:cNvSpPr>
            <p:nvPr/>
          </p:nvSpPr>
          <p:spPr bwMode="auto">
            <a:xfrm>
              <a:off x="2880" y="122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88077" name="Rectangle 13"/>
            <p:cNvSpPr>
              <a:spLocks noChangeArrowheads="1"/>
            </p:cNvSpPr>
            <p:nvPr/>
          </p:nvSpPr>
          <p:spPr bwMode="auto">
            <a:xfrm>
              <a:off x="3120" y="122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8078" name="Rectangle 14"/>
            <p:cNvSpPr>
              <a:spLocks noChangeArrowheads="1"/>
            </p:cNvSpPr>
            <p:nvPr/>
          </p:nvSpPr>
          <p:spPr bwMode="auto">
            <a:xfrm>
              <a:off x="2880" y="146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88079" name="Rectangle 15"/>
            <p:cNvSpPr>
              <a:spLocks noChangeArrowheads="1"/>
            </p:cNvSpPr>
            <p:nvPr/>
          </p:nvSpPr>
          <p:spPr bwMode="auto">
            <a:xfrm>
              <a:off x="3120" y="146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8080" name="Rectangle 16"/>
            <p:cNvSpPr>
              <a:spLocks noChangeArrowheads="1"/>
            </p:cNvSpPr>
            <p:nvPr/>
          </p:nvSpPr>
          <p:spPr bwMode="auto">
            <a:xfrm>
              <a:off x="2880" y="170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88081" name="Rectangle 17"/>
            <p:cNvSpPr>
              <a:spLocks noChangeArrowheads="1"/>
            </p:cNvSpPr>
            <p:nvPr/>
          </p:nvSpPr>
          <p:spPr bwMode="auto">
            <a:xfrm>
              <a:off x="3120" y="1703"/>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8082" name="Text Box 18"/>
            <p:cNvSpPr txBox="1">
              <a:spLocks noChangeArrowheads="1"/>
            </p:cNvSpPr>
            <p:nvPr/>
          </p:nvSpPr>
          <p:spPr bwMode="auto">
            <a:xfrm>
              <a:off x="2592" y="983"/>
              <a:ext cx="240" cy="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dirty="0"/>
                <a:t>0</a:t>
              </a:r>
              <a:endParaRPr lang="en-US" altLang="zh-CN" b="1" dirty="0"/>
            </a:p>
            <a:p>
              <a:r>
                <a:rPr lang="en-US" altLang="zh-CN" b="1" dirty="0"/>
                <a:t>1</a:t>
              </a:r>
              <a:endParaRPr lang="en-US" altLang="zh-CN" b="1" dirty="0"/>
            </a:p>
            <a:p>
              <a:r>
                <a:rPr lang="en-US" altLang="zh-CN" b="1" dirty="0"/>
                <a:t>2</a:t>
              </a:r>
              <a:endParaRPr lang="en-US" altLang="zh-CN" b="1" dirty="0"/>
            </a:p>
            <a:p>
              <a:r>
                <a:rPr lang="en-US" altLang="zh-CN" b="1" dirty="0"/>
                <a:t>3</a:t>
              </a:r>
              <a:endParaRPr lang="en-US" altLang="zh-CN" b="1" dirty="0"/>
            </a:p>
          </p:txBody>
        </p:sp>
        <p:sp>
          <p:nvSpPr>
            <p:cNvPr id="88083" name="Line 19"/>
            <p:cNvSpPr>
              <a:spLocks noChangeShapeType="1"/>
            </p:cNvSpPr>
            <p:nvPr/>
          </p:nvSpPr>
          <p:spPr bwMode="auto">
            <a:xfrm>
              <a:off x="3264" y="1127"/>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84" name="Line 20"/>
            <p:cNvSpPr>
              <a:spLocks noChangeShapeType="1"/>
            </p:cNvSpPr>
            <p:nvPr/>
          </p:nvSpPr>
          <p:spPr bwMode="auto">
            <a:xfrm>
              <a:off x="3264" y="1607"/>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85" name="Line 21"/>
            <p:cNvSpPr>
              <a:spLocks noChangeShapeType="1"/>
            </p:cNvSpPr>
            <p:nvPr/>
          </p:nvSpPr>
          <p:spPr bwMode="auto">
            <a:xfrm>
              <a:off x="3264" y="1847"/>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86" name="Line 22"/>
            <p:cNvSpPr>
              <a:spLocks noChangeShapeType="1"/>
            </p:cNvSpPr>
            <p:nvPr/>
          </p:nvSpPr>
          <p:spPr bwMode="auto">
            <a:xfrm>
              <a:off x="3936" y="1127"/>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88087" name="Text Box 23"/>
          <p:cNvSpPr txBox="1">
            <a:spLocks noChangeArrowheads="1"/>
          </p:cNvSpPr>
          <p:nvPr/>
        </p:nvSpPr>
        <p:spPr bwMode="auto">
          <a:xfrm>
            <a:off x="539750" y="3644900"/>
            <a:ext cx="8229600" cy="207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50000"/>
              </a:spcBef>
            </a:pPr>
            <a:r>
              <a:rPr lang="en-US" altLang="zh-CN" sz="2400" b="1" dirty="0">
                <a:latin typeface="Arial" panose="020B0604020202020204" pitchFamily="34" charset="0"/>
                <a:ea typeface="楷体_GB2312" pitchFamily="49" charset="-122"/>
                <a:cs typeface="Arial" panose="020B0604020202020204" pitchFamily="34" charset="0"/>
              </a:rPr>
              <a:t>        </a:t>
            </a:r>
            <a:r>
              <a:rPr lang="zh-CN" altLang="en-US" sz="2400" b="1" dirty="0">
                <a:latin typeface="Arial" panose="020B0604020202020204" pitchFamily="34" charset="0"/>
                <a:ea typeface="楷体_GB2312" pitchFamily="49" charset="-122"/>
                <a:cs typeface="Arial" panose="020B0604020202020204" pitchFamily="34" charset="0"/>
                <a:sym typeface="+mn-ea"/>
              </a:rPr>
              <a:t>In the adjacency list of a directed graph, the number of nodes in the i-th linked list equals the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sym typeface="+mn-ea"/>
              </a:rPr>
              <a:t>out-degree</a:t>
            </a:r>
            <a:r>
              <a:rPr lang="zh-CN" altLang="en-US" sz="2400" b="1" dirty="0">
                <a:latin typeface="Arial" panose="020B0604020202020204" pitchFamily="34" charset="0"/>
                <a:ea typeface="楷体_GB2312" pitchFamily="49" charset="-122"/>
                <a:cs typeface="Arial" panose="020B0604020202020204" pitchFamily="34" charset="0"/>
                <a:sym typeface="+mn-ea"/>
              </a:rPr>
              <a:t> of vertex Vi.</a:t>
            </a:r>
            <a:endParaRPr lang="zh-CN" altLang="en-US" sz="2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sym typeface="+mn-ea"/>
              </a:rPr>
              <a:t>It is difficult to find the arc pointing to the vertex in the adjacency list of a directed graph.</a:t>
            </a:r>
            <a:endParaRPr lang="zh-CN" altLang="en-US" sz="2400" b="1" dirty="0">
              <a:latin typeface="Arial" panose="020B0604020202020204" pitchFamily="34" charset="0"/>
              <a:ea typeface="楷体_GB2312" pitchFamily="49" charset="-122"/>
              <a:cs typeface="Arial" panose="020B0604020202020204" pitchFamily="34" charset="0"/>
              <a:sym typeface="+mn-ea"/>
            </a:endParaRPr>
          </a:p>
        </p:txBody>
      </p:sp>
      <p:sp>
        <p:nvSpPr>
          <p:cNvPr id="88088" name="Rectangle 24"/>
          <p:cNvSpPr>
            <a:spLocks noChangeArrowheads="1"/>
          </p:cNvSpPr>
          <p:nvPr/>
        </p:nvSpPr>
        <p:spPr bwMode="auto">
          <a:xfrm>
            <a:off x="251460" y="-17145"/>
            <a:ext cx="7606665" cy="144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4400" b="1" dirty="0">
                <a:solidFill>
                  <a:srgbClr val="800000"/>
                </a:solidFill>
                <a:latin typeface="Arial" panose="020B0604020202020204" pitchFamily="34" charset="0"/>
                <a:ea typeface="楷体_GB2312" pitchFamily="49" charset="-122"/>
                <a:cs typeface="Arial" panose="020B0604020202020204" pitchFamily="34" charset="0"/>
                <a:sym typeface="+mn-ea"/>
              </a:rPr>
              <a:t>Adjacency List of</a:t>
            </a:r>
            <a:r>
              <a:rPr sz="4400">
                <a:solidFill>
                  <a:srgbClr val="FF0000"/>
                </a:solidFill>
                <a:latin typeface="Arial" panose="020B0604020202020204" pitchFamily="34" charset="0"/>
                <a:cs typeface="Arial" panose="020B0604020202020204" pitchFamily="34" charset="0"/>
                <a:sym typeface="+mn-ea"/>
              </a:rPr>
              <a:t> an </a:t>
            </a:r>
            <a:r>
              <a:rPr lang="en-US" sz="4400">
                <a:solidFill>
                  <a:srgbClr val="FF0000"/>
                </a:solidFill>
                <a:latin typeface="Arial" panose="020B0604020202020204" pitchFamily="34" charset="0"/>
                <a:cs typeface="Arial" panose="020B0604020202020204" pitchFamily="34" charset="0"/>
                <a:sym typeface="+mn-ea"/>
              </a:rPr>
              <a:t>D</a:t>
            </a:r>
            <a:r>
              <a:rPr sz="4400">
                <a:solidFill>
                  <a:srgbClr val="FF0000"/>
                </a:solidFill>
                <a:latin typeface="Arial" panose="020B0604020202020204" pitchFamily="34" charset="0"/>
                <a:cs typeface="Arial" panose="020B0604020202020204" pitchFamily="34" charset="0"/>
                <a:sym typeface="+mn-ea"/>
              </a:rPr>
              <a:t>irected </a:t>
            </a:r>
            <a:r>
              <a:rPr lang="en-US" altLang="zh-CN" sz="4400">
                <a:solidFill>
                  <a:srgbClr val="FF0000"/>
                </a:solidFill>
                <a:latin typeface="Arial" panose="020B0604020202020204" pitchFamily="34" charset="0"/>
                <a:cs typeface="Arial" panose="020B0604020202020204" pitchFamily="34" charset="0"/>
                <a:sym typeface="+mn-ea"/>
              </a:rPr>
              <a:t>G</a:t>
            </a:r>
            <a:r>
              <a:rPr sz="4400">
                <a:solidFill>
                  <a:srgbClr val="FF0000"/>
                </a:solidFill>
                <a:latin typeface="Arial" panose="020B0604020202020204" pitchFamily="34" charset="0"/>
                <a:cs typeface="Arial" panose="020B0604020202020204" pitchFamily="34" charset="0"/>
                <a:sym typeface="+mn-ea"/>
              </a:rPr>
              <a:t>raph</a:t>
            </a:r>
            <a:endParaRPr lang="zh-CN" altLang="en-US" sz="4400" b="1" dirty="0">
              <a:solidFill>
                <a:srgbClr val="FF0000"/>
              </a:solidFill>
              <a:latin typeface="Arial" panose="020B0604020202020204" pitchFamily="34" charset="0"/>
              <a:ea typeface="楷体_GB2312" pitchFamily="49" charset="-122"/>
              <a:cs typeface="Arial" panose="020B0604020202020204" pitchFamily="34" charset="0"/>
              <a:sym typeface="+mn-ea"/>
            </a:endParaRPr>
          </a:p>
        </p:txBody>
      </p:sp>
      <p:sp>
        <p:nvSpPr>
          <p:cNvPr id="88089" name="Oval 25"/>
          <p:cNvSpPr>
            <a:spLocks noChangeArrowheads="1"/>
          </p:cNvSpPr>
          <p:nvPr/>
        </p:nvSpPr>
        <p:spPr bwMode="auto">
          <a:xfrm>
            <a:off x="1295400" y="148431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dirty="0"/>
              <a:t>V1</a:t>
            </a:r>
            <a:endParaRPr lang="en-US" altLang="zh-CN" sz="2000" b="1" dirty="0"/>
          </a:p>
        </p:txBody>
      </p:sp>
      <p:sp>
        <p:nvSpPr>
          <p:cNvPr id="88090" name="Oval 26"/>
          <p:cNvSpPr>
            <a:spLocks noChangeArrowheads="1"/>
          </p:cNvSpPr>
          <p:nvPr/>
        </p:nvSpPr>
        <p:spPr bwMode="auto">
          <a:xfrm>
            <a:off x="2667000" y="148431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88091" name="Oval 27"/>
          <p:cNvSpPr>
            <a:spLocks noChangeArrowheads="1"/>
          </p:cNvSpPr>
          <p:nvPr/>
        </p:nvSpPr>
        <p:spPr bwMode="auto">
          <a:xfrm>
            <a:off x="1295400" y="277971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88092" name="Oval 28"/>
          <p:cNvSpPr>
            <a:spLocks noChangeArrowheads="1"/>
          </p:cNvSpPr>
          <p:nvPr/>
        </p:nvSpPr>
        <p:spPr bwMode="auto">
          <a:xfrm>
            <a:off x="2667000" y="2779713"/>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88093" name="Line 29"/>
          <p:cNvSpPr>
            <a:spLocks noChangeShapeType="1"/>
          </p:cNvSpPr>
          <p:nvPr/>
        </p:nvSpPr>
        <p:spPr bwMode="auto">
          <a:xfrm>
            <a:off x="1524000" y="1941513"/>
            <a:ext cx="0" cy="8382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94" name="Line 30"/>
          <p:cNvSpPr>
            <a:spLocks noChangeShapeType="1"/>
          </p:cNvSpPr>
          <p:nvPr/>
        </p:nvSpPr>
        <p:spPr bwMode="auto">
          <a:xfrm>
            <a:off x="1752600" y="1712913"/>
            <a:ext cx="9906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95" name="Line 31"/>
          <p:cNvSpPr>
            <a:spLocks noChangeShapeType="1"/>
          </p:cNvSpPr>
          <p:nvPr/>
        </p:nvSpPr>
        <p:spPr bwMode="auto">
          <a:xfrm>
            <a:off x="1752600" y="3008313"/>
            <a:ext cx="9144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8096" name="Line 32"/>
          <p:cNvSpPr>
            <a:spLocks noChangeShapeType="1"/>
          </p:cNvSpPr>
          <p:nvPr/>
        </p:nvSpPr>
        <p:spPr bwMode="auto">
          <a:xfrm flipH="1" flipV="1">
            <a:off x="1752600" y="1865313"/>
            <a:ext cx="990600" cy="9906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8097"/>
                                        </p:tgtEl>
                                        <p:attrNameLst>
                                          <p:attrName>style.visibility</p:attrName>
                                        </p:attrNameLst>
                                      </p:cBhvr>
                                      <p:to>
                                        <p:strVal val="visible"/>
                                      </p:to>
                                    </p:set>
                                    <p:animEffect transition="in" filter="wipe(left)">
                                      <p:cBhvr>
                                        <p:cTn id="7" dur="500"/>
                                        <p:tgtEl>
                                          <p:spTgt spid="8809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8087">
                                            <p:txEl>
                                              <p:pRg st="4294967295" end="4294967295"/>
                                            </p:txEl>
                                          </p:spTgt>
                                        </p:tgtEl>
                                        <p:attrNameLst>
                                          <p:attrName>style.visibility</p:attrName>
                                        </p:attrNameLst>
                                      </p:cBhvr>
                                      <p:to>
                                        <p:strVal val="visible"/>
                                      </p:to>
                                    </p:set>
                                    <p:animEffect transition="in" filter="slide(fromBottom)">
                                      <p:cBhvr>
                                        <p:cTn id="12" dur="500"/>
                                        <p:tgtEl>
                                          <p:spTgt spid="88087">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8087">
                                            <p:txEl>
                                              <p:pRg st="0" end="0"/>
                                            </p:txEl>
                                          </p:spTgt>
                                        </p:tgtEl>
                                        <p:attrNameLst>
                                          <p:attrName>style.visibility</p:attrName>
                                        </p:attrNameLst>
                                      </p:cBhvr>
                                      <p:to>
                                        <p:strVal val="visible"/>
                                      </p:to>
                                    </p:set>
                                    <p:animEffect transition="in" filter="slide(fromBottom)">
                                      <p:cBhvr>
                                        <p:cTn id="17" dur="500"/>
                                        <p:tgtEl>
                                          <p:spTgt spid="8808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8087">
                                            <p:txEl>
                                              <p:pRg st="1" end="1"/>
                                            </p:txEl>
                                          </p:spTgt>
                                        </p:tgtEl>
                                        <p:attrNameLst>
                                          <p:attrName>style.visibility</p:attrName>
                                        </p:attrNameLst>
                                      </p:cBhvr>
                                      <p:to>
                                        <p:strVal val="visible"/>
                                      </p:to>
                                    </p:set>
                                    <p:animEffect transition="in" filter="slide(fromBottom)">
                                      <p:cBhvr>
                                        <p:cTn id="22" dur="500"/>
                                        <p:tgtEl>
                                          <p:spTgt spid="880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121" name="Group 33"/>
          <p:cNvGrpSpPr/>
          <p:nvPr/>
        </p:nvGrpSpPr>
        <p:grpSpPr bwMode="auto">
          <a:xfrm>
            <a:off x="4643438" y="2349500"/>
            <a:ext cx="2362200" cy="1524000"/>
            <a:chOff x="2976" y="1056"/>
            <a:chExt cx="1488" cy="960"/>
          </a:xfrm>
        </p:grpSpPr>
        <p:sp>
          <p:nvSpPr>
            <p:cNvPr id="89090" name="Rectangle 2"/>
            <p:cNvSpPr>
              <a:spLocks noChangeArrowheads="1"/>
            </p:cNvSpPr>
            <p:nvPr/>
          </p:nvSpPr>
          <p:spPr bwMode="auto">
            <a:xfrm>
              <a:off x="3264" y="105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89091" name="Rectangle 3"/>
            <p:cNvSpPr>
              <a:spLocks noChangeArrowheads="1"/>
            </p:cNvSpPr>
            <p:nvPr/>
          </p:nvSpPr>
          <p:spPr bwMode="auto">
            <a:xfrm>
              <a:off x="3504" y="105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9092" name="Rectangle 4"/>
            <p:cNvSpPr>
              <a:spLocks noChangeArrowheads="1"/>
            </p:cNvSpPr>
            <p:nvPr/>
          </p:nvSpPr>
          <p:spPr bwMode="auto">
            <a:xfrm>
              <a:off x="3264" y="129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89093" name="Rectangle 5"/>
            <p:cNvSpPr>
              <a:spLocks noChangeArrowheads="1"/>
            </p:cNvSpPr>
            <p:nvPr/>
          </p:nvSpPr>
          <p:spPr bwMode="auto">
            <a:xfrm>
              <a:off x="3504" y="129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9094" name="Rectangle 6"/>
            <p:cNvSpPr>
              <a:spLocks noChangeArrowheads="1"/>
            </p:cNvSpPr>
            <p:nvPr/>
          </p:nvSpPr>
          <p:spPr bwMode="auto">
            <a:xfrm>
              <a:off x="3264" y="153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89095" name="Rectangle 7"/>
            <p:cNvSpPr>
              <a:spLocks noChangeArrowheads="1"/>
            </p:cNvSpPr>
            <p:nvPr/>
          </p:nvSpPr>
          <p:spPr bwMode="auto">
            <a:xfrm>
              <a:off x="3504" y="153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9096" name="Rectangle 8"/>
            <p:cNvSpPr>
              <a:spLocks noChangeArrowheads="1"/>
            </p:cNvSpPr>
            <p:nvPr/>
          </p:nvSpPr>
          <p:spPr bwMode="auto">
            <a:xfrm>
              <a:off x="3264" y="177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89097" name="Rectangle 9"/>
            <p:cNvSpPr>
              <a:spLocks noChangeArrowheads="1"/>
            </p:cNvSpPr>
            <p:nvPr/>
          </p:nvSpPr>
          <p:spPr bwMode="auto">
            <a:xfrm>
              <a:off x="3504" y="1776"/>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89098" name="Rectangle 10"/>
            <p:cNvSpPr>
              <a:spLocks noChangeArrowheads="1"/>
            </p:cNvSpPr>
            <p:nvPr/>
          </p:nvSpPr>
          <p:spPr bwMode="auto">
            <a:xfrm>
              <a:off x="3984" y="1082"/>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89099" name="Rectangle 11"/>
            <p:cNvSpPr>
              <a:spLocks noChangeArrowheads="1"/>
            </p:cNvSpPr>
            <p:nvPr/>
          </p:nvSpPr>
          <p:spPr bwMode="auto">
            <a:xfrm>
              <a:off x="4224" y="1082"/>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9100" name="Rectangle 12"/>
            <p:cNvSpPr>
              <a:spLocks noChangeArrowheads="1"/>
            </p:cNvSpPr>
            <p:nvPr/>
          </p:nvSpPr>
          <p:spPr bwMode="auto">
            <a:xfrm>
              <a:off x="3984" y="155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89101" name="Rectangle 13"/>
            <p:cNvSpPr>
              <a:spLocks noChangeArrowheads="1"/>
            </p:cNvSpPr>
            <p:nvPr/>
          </p:nvSpPr>
          <p:spPr bwMode="auto">
            <a:xfrm>
              <a:off x="4224" y="155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9102" name="Rectangle 14"/>
            <p:cNvSpPr>
              <a:spLocks noChangeArrowheads="1"/>
            </p:cNvSpPr>
            <p:nvPr/>
          </p:nvSpPr>
          <p:spPr bwMode="auto">
            <a:xfrm>
              <a:off x="3984" y="179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89103" name="Rectangle 15"/>
            <p:cNvSpPr>
              <a:spLocks noChangeArrowheads="1"/>
            </p:cNvSpPr>
            <p:nvPr/>
          </p:nvSpPr>
          <p:spPr bwMode="auto">
            <a:xfrm>
              <a:off x="4224" y="179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9104" name="Rectangle 16"/>
            <p:cNvSpPr>
              <a:spLocks noChangeArrowheads="1"/>
            </p:cNvSpPr>
            <p:nvPr/>
          </p:nvSpPr>
          <p:spPr bwMode="auto">
            <a:xfrm>
              <a:off x="3984" y="131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89105" name="Rectangle 17"/>
            <p:cNvSpPr>
              <a:spLocks noChangeArrowheads="1"/>
            </p:cNvSpPr>
            <p:nvPr/>
          </p:nvSpPr>
          <p:spPr bwMode="auto">
            <a:xfrm>
              <a:off x="4224" y="131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89106" name="Text Box 18"/>
            <p:cNvSpPr txBox="1">
              <a:spLocks noChangeArrowheads="1"/>
            </p:cNvSpPr>
            <p:nvPr/>
          </p:nvSpPr>
          <p:spPr bwMode="auto">
            <a:xfrm>
              <a:off x="2976" y="1056"/>
              <a:ext cx="240" cy="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a:t>0</a:t>
              </a:r>
              <a:endParaRPr lang="en-US" altLang="zh-CN" b="1"/>
            </a:p>
            <a:p>
              <a:r>
                <a:rPr lang="en-US" altLang="zh-CN" b="1"/>
                <a:t>1</a:t>
              </a:r>
              <a:endParaRPr lang="en-US" altLang="zh-CN" b="1"/>
            </a:p>
            <a:p>
              <a:r>
                <a:rPr lang="en-US" altLang="zh-CN" b="1"/>
                <a:t>2</a:t>
              </a:r>
              <a:endParaRPr lang="en-US" altLang="zh-CN" b="1"/>
            </a:p>
            <a:p>
              <a:r>
                <a:rPr lang="en-US" altLang="zh-CN" b="1"/>
                <a:t>3</a:t>
              </a:r>
              <a:endParaRPr lang="en-US" altLang="zh-CN" b="1"/>
            </a:p>
          </p:txBody>
        </p:sp>
        <p:sp>
          <p:nvSpPr>
            <p:cNvPr id="89107" name="Line 19"/>
            <p:cNvSpPr>
              <a:spLocks noChangeShapeType="1"/>
            </p:cNvSpPr>
            <p:nvPr/>
          </p:nvSpPr>
          <p:spPr bwMode="auto">
            <a:xfrm>
              <a:off x="3648" y="1200"/>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08" name="Line 20"/>
            <p:cNvSpPr>
              <a:spLocks noChangeShapeType="1"/>
            </p:cNvSpPr>
            <p:nvPr/>
          </p:nvSpPr>
          <p:spPr bwMode="auto">
            <a:xfrm>
              <a:off x="3648" y="1440"/>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09" name="Line 21"/>
            <p:cNvSpPr>
              <a:spLocks noChangeShapeType="1"/>
            </p:cNvSpPr>
            <p:nvPr/>
          </p:nvSpPr>
          <p:spPr bwMode="auto">
            <a:xfrm>
              <a:off x="3648" y="1680"/>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10" name="Line 22"/>
            <p:cNvSpPr>
              <a:spLocks noChangeShapeType="1"/>
            </p:cNvSpPr>
            <p:nvPr/>
          </p:nvSpPr>
          <p:spPr bwMode="auto">
            <a:xfrm>
              <a:off x="3648" y="1920"/>
              <a:ext cx="336" cy="1"/>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89111" name="Rectangle 23"/>
          <p:cNvSpPr>
            <a:spLocks noChangeArrowheads="1"/>
          </p:cNvSpPr>
          <p:nvPr/>
        </p:nvSpPr>
        <p:spPr bwMode="auto">
          <a:xfrm>
            <a:off x="432246" y="299293"/>
            <a:ext cx="8604250" cy="185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solidFill>
                  <a:srgbClr val="FF0000"/>
                </a:solidFill>
                <a:latin typeface="Arial" panose="020B0604020202020204" pitchFamily="34" charset="0"/>
                <a:ea typeface="楷体_GB2312" pitchFamily="49" charset="-122"/>
                <a:cs typeface="Arial" panose="020B0604020202020204" pitchFamily="34" charset="0"/>
              </a:rPr>
              <a:t>Inverse</a:t>
            </a:r>
            <a:r>
              <a:rPr lang="en-US" altLang="zh-CN" b="1" dirty="0">
                <a:solidFill>
                  <a:srgbClr val="800000"/>
                </a:solidFill>
                <a:latin typeface="Arial" panose="020B0604020202020204" pitchFamily="34" charset="0"/>
                <a:ea typeface="楷体_GB2312" pitchFamily="49" charset="-122"/>
                <a:cs typeface="Arial" panose="020B0604020202020204" pitchFamily="34" charset="0"/>
              </a:rPr>
              <a:t> Adjacency List of Directed Graphs</a:t>
            </a:r>
            <a:endParaRPr lang="zh-CN" altLang="en-US" b="1" dirty="0">
              <a:solidFill>
                <a:srgbClr val="800000"/>
              </a:solidFill>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3200" b="1" dirty="0">
                <a:latin typeface="Arial" panose="020B0604020202020204" pitchFamily="34" charset="0"/>
                <a:ea typeface="楷体_GB2312" pitchFamily="49" charset="-122"/>
                <a:cs typeface="Arial" panose="020B0604020202020204" pitchFamily="34" charset="0"/>
              </a:rPr>
              <a:t>        </a:t>
            </a:r>
            <a:r>
              <a:rPr lang="en-US" altLang="zh-CN" sz="2400" b="1" dirty="0">
                <a:latin typeface="Arial" panose="020B0604020202020204" pitchFamily="34" charset="0"/>
                <a:ea typeface="楷体_GB2312" pitchFamily="49" charset="-122"/>
                <a:cs typeface="Arial" panose="020B0604020202020204" pitchFamily="34" charset="0"/>
              </a:rPr>
              <a:t>In the inverse adjacency list of a directed graph, for each vertex, the linked nodes represent the arcs that point to this vertex.</a:t>
            </a:r>
            <a:endParaRPr lang="en-US" altLang="zh-CN" sz="2400" b="1" dirty="0">
              <a:latin typeface="Arial" panose="020B0604020202020204" pitchFamily="34" charset="0"/>
              <a:ea typeface="楷体_GB2312" pitchFamily="49" charset="-122"/>
              <a:cs typeface="Arial" panose="020B0604020202020204" pitchFamily="34" charset="0"/>
            </a:endParaRPr>
          </a:p>
        </p:txBody>
      </p:sp>
      <p:sp>
        <p:nvSpPr>
          <p:cNvPr id="89112" name="Oval 24"/>
          <p:cNvSpPr>
            <a:spLocks noChangeArrowheads="1"/>
          </p:cNvSpPr>
          <p:nvPr/>
        </p:nvSpPr>
        <p:spPr bwMode="auto">
          <a:xfrm>
            <a:off x="1676400" y="2108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89113" name="Oval 25"/>
          <p:cNvSpPr>
            <a:spLocks noChangeArrowheads="1"/>
          </p:cNvSpPr>
          <p:nvPr/>
        </p:nvSpPr>
        <p:spPr bwMode="auto">
          <a:xfrm>
            <a:off x="3048000" y="2108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89114" name="Oval 26"/>
          <p:cNvSpPr>
            <a:spLocks noChangeArrowheads="1"/>
          </p:cNvSpPr>
          <p:nvPr/>
        </p:nvSpPr>
        <p:spPr bwMode="auto">
          <a:xfrm>
            <a:off x="1676400" y="3403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89115" name="Oval 27"/>
          <p:cNvSpPr>
            <a:spLocks noChangeArrowheads="1"/>
          </p:cNvSpPr>
          <p:nvPr/>
        </p:nvSpPr>
        <p:spPr bwMode="auto">
          <a:xfrm>
            <a:off x="3048000" y="3403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89116" name="Line 28"/>
          <p:cNvSpPr>
            <a:spLocks noChangeShapeType="1"/>
          </p:cNvSpPr>
          <p:nvPr/>
        </p:nvSpPr>
        <p:spPr bwMode="auto">
          <a:xfrm>
            <a:off x="1905000" y="2565400"/>
            <a:ext cx="0" cy="8382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17" name="Line 29"/>
          <p:cNvSpPr>
            <a:spLocks noChangeShapeType="1"/>
          </p:cNvSpPr>
          <p:nvPr/>
        </p:nvSpPr>
        <p:spPr bwMode="auto">
          <a:xfrm>
            <a:off x="2133600" y="2336800"/>
            <a:ext cx="9906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18" name="Line 30"/>
          <p:cNvSpPr>
            <a:spLocks noChangeShapeType="1"/>
          </p:cNvSpPr>
          <p:nvPr/>
        </p:nvSpPr>
        <p:spPr bwMode="auto">
          <a:xfrm>
            <a:off x="2124075" y="3652838"/>
            <a:ext cx="914400" cy="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19" name="Line 31"/>
          <p:cNvSpPr>
            <a:spLocks noChangeShapeType="1"/>
          </p:cNvSpPr>
          <p:nvPr/>
        </p:nvSpPr>
        <p:spPr bwMode="auto">
          <a:xfrm flipH="1" flipV="1">
            <a:off x="2133600" y="2489200"/>
            <a:ext cx="990600" cy="990600"/>
          </a:xfrm>
          <a:prstGeom prst="line">
            <a:avLst/>
          </a:prstGeom>
          <a:noFill/>
          <a:ln w="38100" cap="sq">
            <a:solidFill>
              <a:srgbClr val="00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9120" name="Text Box 32"/>
          <p:cNvSpPr txBox="1">
            <a:spLocks noChangeArrowheads="1"/>
          </p:cNvSpPr>
          <p:nvPr/>
        </p:nvSpPr>
        <p:spPr bwMode="auto">
          <a:xfrm>
            <a:off x="539750" y="4508500"/>
            <a:ext cx="8229600" cy="217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40000"/>
              </a:spcBef>
            </a:pPr>
            <a:r>
              <a:rPr lang="en-US" altLang="zh-CN" sz="4000" b="1" dirty="0">
                <a:ea typeface="楷体_GB2312" pitchFamily="49" charset="-122"/>
              </a:rPr>
              <a:t>        </a:t>
            </a:r>
            <a:r>
              <a:rPr lang="en-US" altLang="zh-CN" sz="2400" b="1" dirty="0">
                <a:latin typeface="Arial" panose="020B0604020202020204" pitchFamily="34" charset="0"/>
                <a:ea typeface="楷体_GB2312" pitchFamily="49" charset="-122"/>
                <a:cs typeface="Arial" panose="020B0604020202020204" pitchFamily="34" charset="0"/>
              </a:rPr>
              <a:t>In the inverse adjacency list of a directed graph, the number of list nodes in the i-th linked list is the</a:t>
            </a:r>
            <a:r>
              <a:rPr lang="en-US" altLang="en-US" sz="2400" b="1" dirty="0">
                <a:latin typeface="Arial" panose="020B0604020202020204" pitchFamily="34" charset="0"/>
                <a:ea typeface="楷体_GB2312" pitchFamily="49" charset="-122"/>
                <a:cs typeface="Arial" panose="020B0604020202020204" pitchFamily="34" charset="0"/>
              </a:rPr>
              <a:t> </a:t>
            </a:r>
            <a:r>
              <a:rPr lang="en-US" altLang="zh-CN" sz="2400" b="1" dirty="0">
                <a:solidFill>
                  <a:srgbClr val="FF0000"/>
                </a:solidFill>
                <a:latin typeface="Arial" panose="020B0604020202020204" pitchFamily="34" charset="0"/>
                <a:ea typeface="楷体_GB2312" pitchFamily="49" charset="-122"/>
                <a:cs typeface="Arial" panose="020B0604020202020204" pitchFamily="34" charset="0"/>
              </a:rPr>
              <a:t>in-degree</a:t>
            </a:r>
            <a:r>
              <a:rPr lang="en-US" altLang="en-US" sz="2400" b="1" dirty="0">
                <a:latin typeface="Arial" panose="020B0604020202020204" pitchFamily="34" charset="0"/>
                <a:ea typeface="楷体_GB2312" pitchFamily="49" charset="-122"/>
                <a:cs typeface="Arial" panose="020B0604020202020204" pitchFamily="34" charset="0"/>
              </a:rPr>
              <a:t> </a:t>
            </a:r>
            <a:r>
              <a:rPr lang="en-US" altLang="zh-CN" sz="2400" b="1" dirty="0">
                <a:latin typeface="Arial" panose="020B0604020202020204" pitchFamily="34" charset="0"/>
                <a:ea typeface="楷体_GB2312" pitchFamily="49" charset="-122"/>
                <a:cs typeface="Arial" panose="020B0604020202020204" pitchFamily="34" charset="0"/>
              </a:rPr>
              <a:t>of vertex</a:t>
            </a:r>
            <a:r>
              <a:rPr lang="en-US" altLang="en-US" sz="2400" b="1" dirty="0">
                <a:latin typeface="Arial" panose="020B0604020202020204" pitchFamily="34" charset="0"/>
                <a:ea typeface="楷体_GB2312" pitchFamily="49" charset="-122"/>
                <a:cs typeface="Arial" panose="020B0604020202020204" pitchFamily="34" charset="0"/>
              </a:rPr>
              <a:t> </a:t>
            </a:r>
            <a:r>
              <a:rPr lang="en-US" altLang="zh-CN" sz="2400" b="1" dirty="0">
                <a:latin typeface="Arial" panose="020B0604020202020204" pitchFamily="34" charset="0"/>
                <a:ea typeface="楷体_GB2312" pitchFamily="49" charset="-122"/>
                <a:cs typeface="Arial" panose="020B0604020202020204" pitchFamily="34" charset="0"/>
                <a:sym typeface="+mn-ea"/>
              </a:rPr>
              <a:t>Vi</a:t>
            </a:r>
            <a:r>
              <a:rPr lang="en-US" altLang="zh-CN" sz="2400" b="1" dirty="0">
                <a:latin typeface="Arial" panose="020B0604020202020204" pitchFamily="34" charset="0"/>
                <a:ea typeface="楷体_GB2312" pitchFamily="49" charset="-122"/>
                <a:cs typeface="Arial" panose="020B0604020202020204" pitchFamily="34" charset="0"/>
              </a:rPr>
              <a:t>.</a:t>
            </a:r>
            <a:endParaRPr lang="en-US" altLang="zh-CN" sz="4000" b="1" dirty="0">
              <a:ea typeface="楷体_GB2312" pitchFamily="49" charset="-122"/>
            </a:endParaRPr>
          </a:p>
          <a:p>
            <a:pPr>
              <a:spcBef>
                <a:spcPct val="40000"/>
              </a:spcBef>
            </a:pPr>
            <a:r>
              <a:rPr lang="zh-CN" altLang="en-US" sz="3600" b="1" dirty="0">
                <a:ea typeface="楷体_GB2312" pitchFamily="49" charset="-122"/>
              </a:rPr>
              <a:t>         </a:t>
            </a:r>
            <a:endParaRPr lang="zh-CN" altLang="en-US" sz="3600" b="1" dirty="0">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9121"/>
                                        </p:tgtEl>
                                        <p:attrNameLst>
                                          <p:attrName>style.visibility</p:attrName>
                                        </p:attrNameLst>
                                      </p:cBhvr>
                                      <p:to>
                                        <p:strVal val="visible"/>
                                      </p:to>
                                    </p:set>
                                    <p:anim calcmode="lin" valueType="num">
                                      <p:cBhvr additive="base">
                                        <p:cTn id="7" dur="500" fill="hold"/>
                                        <p:tgtEl>
                                          <p:spTgt spid="89121"/>
                                        </p:tgtEl>
                                        <p:attrNameLst>
                                          <p:attrName>ppt_x</p:attrName>
                                        </p:attrNameLst>
                                      </p:cBhvr>
                                      <p:tavLst>
                                        <p:tav tm="0">
                                          <p:val>
                                            <p:strVal val="1+#ppt_w/2"/>
                                          </p:val>
                                        </p:tav>
                                        <p:tav tm="100000">
                                          <p:val>
                                            <p:strVal val="#ppt_x"/>
                                          </p:val>
                                        </p:tav>
                                      </p:tavLst>
                                    </p:anim>
                                    <p:anim calcmode="lin" valueType="num">
                                      <p:cBhvr additive="base">
                                        <p:cTn id="8" dur="500" fill="hold"/>
                                        <p:tgtEl>
                                          <p:spTgt spid="891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9120"/>
                                        </p:tgtEl>
                                        <p:attrNameLst>
                                          <p:attrName>style.visibility</p:attrName>
                                        </p:attrNameLst>
                                      </p:cBhvr>
                                      <p:to>
                                        <p:strVal val="visible"/>
                                      </p:to>
                                    </p:set>
                                    <p:animEffect transition="in" filter="box(in)">
                                      <p:cBhvr>
                                        <p:cTn id="13" dur="500"/>
                                        <p:tgtEl>
                                          <p:spTgt spid="89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20"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Adjacency List Storage Representation of Graphs</a:t>
            </a:r>
            <a:endParaRPr lang="en-US" altLang="zh-CN" dirty="0"/>
          </a:p>
        </p:txBody>
      </p:sp>
      <p:sp>
        <p:nvSpPr>
          <p:cNvPr id="6" name="Text Box 2"/>
          <p:cNvSpPr txBox="1">
            <a:spLocks noChangeArrowheads="1"/>
          </p:cNvSpPr>
          <p:nvPr/>
        </p:nvSpPr>
        <p:spPr bwMode="auto">
          <a:xfrm>
            <a:off x="747713" y="2204541"/>
            <a:ext cx="7862887" cy="439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dirty="0" err="1">
                <a:solidFill>
                  <a:srgbClr val="000099"/>
                </a:solidFill>
                <a:ea typeface="楷体_GB2312" pitchFamily="49" charset="-122"/>
              </a:rPr>
              <a:t>typedef</a:t>
            </a:r>
            <a:r>
              <a:rPr lang="en-US" altLang="zh-CN" b="1" dirty="0">
                <a:solidFill>
                  <a:srgbClr val="000099"/>
                </a:solidFill>
                <a:ea typeface="楷体_GB2312" pitchFamily="49" charset="-122"/>
              </a:rPr>
              <a:t> </a:t>
            </a:r>
            <a:r>
              <a:rPr lang="en-US" altLang="zh-CN" b="1" dirty="0" err="1">
                <a:solidFill>
                  <a:srgbClr val="000099"/>
                </a:solidFill>
                <a:ea typeface="楷体_GB2312" pitchFamily="49" charset="-122"/>
              </a:rPr>
              <a:t>struct</a:t>
            </a:r>
            <a:r>
              <a:rPr lang="en-US" altLang="zh-CN" dirty="0">
                <a:solidFill>
                  <a:srgbClr val="000099"/>
                </a:solidFill>
                <a:ea typeface="楷体_GB2312" pitchFamily="49" charset="-122"/>
              </a:rPr>
              <a:t> </a:t>
            </a:r>
            <a:r>
              <a:rPr lang="en-US" altLang="zh-CN" dirty="0" err="1">
                <a:solidFill>
                  <a:srgbClr val="000099"/>
                </a:solidFill>
                <a:ea typeface="楷体_GB2312" pitchFamily="49" charset="-122"/>
              </a:rPr>
              <a:t>ArcNode</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a:t>
            </a:r>
            <a:r>
              <a:rPr lang="en-US" altLang="zh-CN" b="1" dirty="0">
                <a:ea typeface="楷体_GB2312" pitchFamily="49" charset="-122"/>
              </a:rPr>
              <a:t>  </a:t>
            </a:r>
            <a:endParaRPr lang="en-US" altLang="zh-CN" dirty="0">
              <a:ea typeface="楷体_GB2312" pitchFamily="49" charset="-122"/>
            </a:endParaRPr>
          </a:p>
          <a:p>
            <a:pPr>
              <a:lnSpc>
                <a:spcPct val="125000"/>
              </a:lnSpc>
            </a:pPr>
            <a:r>
              <a:rPr lang="en-US" altLang="zh-CN" dirty="0">
                <a:ea typeface="楷体_GB2312" pitchFamily="49" charset="-122"/>
              </a:rPr>
              <a:t>    </a:t>
            </a:r>
            <a:r>
              <a:rPr lang="en-US" altLang="zh-CN" b="1" dirty="0" err="1">
                <a:solidFill>
                  <a:srgbClr val="000099"/>
                </a:solidFill>
                <a:ea typeface="楷体_GB2312" pitchFamily="49" charset="-122"/>
              </a:rPr>
              <a:t>int</a:t>
            </a:r>
            <a:r>
              <a:rPr lang="en-US" altLang="zh-CN" dirty="0">
                <a:solidFill>
                  <a:srgbClr val="000099"/>
                </a:solidFill>
                <a:ea typeface="楷体_GB2312" pitchFamily="49" charset="-122"/>
              </a:rPr>
              <a:t>  </a:t>
            </a:r>
            <a:r>
              <a:rPr lang="en-US" altLang="zh-CN" dirty="0" err="1">
                <a:solidFill>
                  <a:srgbClr val="000099"/>
                </a:solidFill>
                <a:ea typeface="楷体_GB2312" pitchFamily="49" charset="-122"/>
              </a:rPr>
              <a:t>adjvex</a:t>
            </a:r>
            <a:r>
              <a:rPr lang="en-US" altLang="zh-CN" dirty="0">
                <a:solidFill>
                  <a:srgbClr val="000099"/>
                </a:solidFill>
                <a:ea typeface="楷体_GB2312" pitchFamily="49" charset="-122"/>
              </a:rPr>
              <a:t>;     </a:t>
            </a:r>
            <a:endParaRPr lang="en-US" altLang="zh-CN" dirty="0">
              <a:solidFill>
                <a:srgbClr val="000099"/>
              </a:solidFill>
              <a:ea typeface="楷体_GB2312" pitchFamily="49" charset="-122"/>
            </a:endParaRPr>
          </a:p>
          <a:p>
            <a:pPr>
              <a:lnSpc>
                <a:spcPct val="125000"/>
              </a:lnSpc>
            </a:pPr>
            <a:r>
              <a:rPr lang="en-US" altLang="zh-CN" b="1" dirty="0">
                <a:solidFill>
                  <a:srgbClr val="006600"/>
                </a:solidFill>
                <a:ea typeface="楷体_GB2312" pitchFamily="49" charset="-122"/>
              </a:rPr>
              <a:t>// The position of the vertex pointed to by this arc</a:t>
            </a:r>
            <a:endParaRPr lang="en-US" altLang="zh-CN" b="1" dirty="0">
              <a:solidFill>
                <a:srgbClr val="006600"/>
              </a:solidFill>
              <a:ea typeface="楷体_GB2312" pitchFamily="49" charset="-122"/>
            </a:endParaRPr>
          </a:p>
          <a:p>
            <a:pPr>
              <a:lnSpc>
                <a:spcPct val="125000"/>
              </a:lnSpc>
            </a:pPr>
            <a:r>
              <a:rPr lang="zh-CN" altLang="en-US" dirty="0">
                <a:solidFill>
                  <a:srgbClr val="000099"/>
                </a:solidFill>
                <a:ea typeface="楷体_GB2312" pitchFamily="49" charset="-122"/>
              </a:rPr>
              <a:t>    </a:t>
            </a:r>
            <a:r>
              <a:rPr lang="en-US" altLang="zh-CN" b="1" dirty="0" err="1">
                <a:solidFill>
                  <a:srgbClr val="000099"/>
                </a:solidFill>
                <a:ea typeface="楷体_GB2312" pitchFamily="49" charset="-122"/>
              </a:rPr>
              <a:t>struct</a:t>
            </a:r>
            <a:r>
              <a:rPr lang="en-US" altLang="zh-CN" dirty="0">
                <a:solidFill>
                  <a:srgbClr val="000099"/>
                </a:solidFill>
                <a:ea typeface="楷体_GB2312" pitchFamily="49" charset="-122"/>
              </a:rPr>
              <a:t> </a:t>
            </a:r>
            <a:r>
              <a:rPr lang="en-US" altLang="zh-CN" dirty="0" err="1">
                <a:solidFill>
                  <a:srgbClr val="000099"/>
                </a:solidFill>
                <a:ea typeface="楷体_GB2312" pitchFamily="49" charset="-122"/>
              </a:rPr>
              <a:t>ArcNode</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 *</a:t>
            </a:r>
            <a:r>
              <a:rPr lang="en-US" altLang="zh-CN" dirty="0" err="1">
                <a:solidFill>
                  <a:srgbClr val="000099"/>
                </a:solidFill>
                <a:ea typeface="楷体_GB2312" pitchFamily="49" charset="-122"/>
              </a:rPr>
              <a:t>nextarc</a:t>
            </a:r>
            <a:r>
              <a:rPr lang="en-US" altLang="zh-CN" dirty="0">
                <a:solidFill>
                  <a:srgbClr val="000099"/>
                </a:solidFill>
                <a:ea typeface="楷体_GB2312" pitchFamily="49" charset="-122"/>
              </a:rPr>
              <a:t>; </a:t>
            </a:r>
            <a:endParaRPr lang="en-US" altLang="zh-CN" dirty="0">
              <a:solidFill>
                <a:srgbClr val="000099"/>
              </a:solidFill>
              <a:ea typeface="楷体_GB2312" pitchFamily="49" charset="-122"/>
            </a:endParaRPr>
          </a:p>
          <a:p>
            <a:pPr>
              <a:lnSpc>
                <a:spcPct val="125000"/>
              </a:lnSpc>
            </a:pPr>
            <a:r>
              <a:rPr lang="en-US" altLang="zh-CN" dirty="0">
                <a:solidFill>
                  <a:srgbClr val="000099"/>
                </a:solidFill>
                <a:ea typeface="楷体_GB2312" pitchFamily="49" charset="-122"/>
              </a:rPr>
              <a:t>                                 </a:t>
            </a:r>
            <a:r>
              <a:rPr lang="en-US" altLang="zh-CN" b="1" dirty="0">
                <a:solidFill>
                  <a:srgbClr val="006600"/>
                </a:solidFill>
                <a:ea typeface="楷体_GB2312" pitchFamily="49" charset="-122"/>
              </a:rPr>
              <a:t>// Pointer to the next arc</a:t>
            </a:r>
            <a:endParaRPr lang="en-US" altLang="zh-CN" b="1" dirty="0">
              <a:solidFill>
                <a:srgbClr val="006600"/>
              </a:solidFill>
              <a:ea typeface="楷体_GB2312" pitchFamily="49" charset="-122"/>
            </a:endParaRPr>
          </a:p>
          <a:p>
            <a:pPr>
              <a:lnSpc>
                <a:spcPct val="125000"/>
              </a:lnSpc>
            </a:pPr>
            <a:r>
              <a:rPr lang="zh-CN" altLang="en-US" dirty="0">
                <a:solidFill>
                  <a:srgbClr val="000099"/>
                </a:solidFill>
                <a:ea typeface="楷体_GB2312" pitchFamily="49" charset="-122"/>
              </a:rPr>
              <a:t>    </a:t>
            </a:r>
            <a:r>
              <a:rPr lang="en-US" altLang="zh-CN" dirty="0" err="1">
                <a:solidFill>
                  <a:srgbClr val="000099"/>
                </a:solidFill>
                <a:ea typeface="楷体_GB2312" pitchFamily="49" charset="-122"/>
              </a:rPr>
              <a:t>InfoType</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 *</a:t>
            </a:r>
            <a:r>
              <a:rPr lang="en-US" altLang="zh-CN" dirty="0">
                <a:solidFill>
                  <a:srgbClr val="000099"/>
                </a:solidFill>
                <a:ea typeface="楷体_GB2312" pitchFamily="49" charset="-122"/>
              </a:rPr>
              <a:t>info;   </a:t>
            </a:r>
            <a:endParaRPr lang="en-US" altLang="zh-CN" dirty="0">
              <a:solidFill>
                <a:srgbClr val="000099"/>
              </a:solidFill>
              <a:ea typeface="楷体_GB2312" pitchFamily="49" charset="-122"/>
            </a:endParaRPr>
          </a:p>
          <a:p>
            <a:pPr>
              <a:lnSpc>
                <a:spcPct val="125000"/>
              </a:lnSpc>
            </a:pPr>
            <a:r>
              <a:rPr lang="en-US" altLang="zh-CN" b="1" dirty="0">
                <a:solidFill>
                  <a:srgbClr val="006600"/>
                </a:solidFill>
                <a:ea typeface="楷体_GB2312" pitchFamily="49" charset="-122"/>
              </a:rPr>
              <a:t>// Pointer to information related to this arc</a:t>
            </a:r>
            <a:endParaRPr lang="en-US" altLang="zh-CN" b="1" dirty="0">
              <a:solidFill>
                <a:srgbClr val="006600"/>
              </a:solidFill>
              <a:ea typeface="楷体_GB2312" pitchFamily="49" charset="-122"/>
            </a:endParaRPr>
          </a:p>
          <a:p>
            <a:pPr>
              <a:lnSpc>
                <a:spcPct val="125000"/>
              </a:lnSpc>
            </a:pPr>
            <a:r>
              <a:rPr lang="en-US" altLang="zh-CN" b="1" dirty="0">
                <a:solidFill>
                  <a:srgbClr val="000099"/>
                </a:solidFill>
                <a:ea typeface="楷体_GB2312" pitchFamily="49" charset="-122"/>
              </a:rPr>
              <a:t>}</a:t>
            </a:r>
            <a:r>
              <a:rPr lang="en-US" altLang="zh-CN" dirty="0">
                <a:solidFill>
                  <a:srgbClr val="000099"/>
                </a:solidFill>
                <a:ea typeface="楷体_GB2312" pitchFamily="49" charset="-122"/>
              </a:rPr>
              <a:t> </a:t>
            </a:r>
            <a:r>
              <a:rPr lang="en-US" altLang="zh-CN" dirty="0" err="1">
                <a:solidFill>
                  <a:srgbClr val="000099"/>
                </a:solidFill>
                <a:ea typeface="楷体_GB2312" pitchFamily="49" charset="-122"/>
              </a:rPr>
              <a:t>ArcNode</a:t>
            </a:r>
            <a:r>
              <a:rPr lang="en-US" altLang="zh-CN" dirty="0">
                <a:solidFill>
                  <a:srgbClr val="000099"/>
                </a:solidFill>
                <a:ea typeface="楷体_GB2312" pitchFamily="49" charset="-122"/>
              </a:rPr>
              <a:t>;</a:t>
            </a:r>
            <a:endParaRPr lang="en-US" altLang="zh-CN" dirty="0">
              <a:solidFill>
                <a:srgbClr val="000099"/>
              </a:solidFill>
              <a:ea typeface="楷体_GB2312" pitchFamily="49" charset="-122"/>
            </a:endParaRPr>
          </a:p>
        </p:txBody>
      </p:sp>
      <p:sp>
        <p:nvSpPr>
          <p:cNvPr id="7" name="Rectangle 3"/>
          <p:cNvSpPr>
            <a:spLocks noChangeArrowheads="1"/>
          </p:cNvSpPr>
          <p:nvPr/>
        </p:nvSpPr>
        <p:spPr bwMode="auto">
          <a:xfrm>
            <a:off x="4419600" y="1366976"/>
            <a:ext cx="4200525" cy="669925"/>
          </a:xfrm>
          <a:prstGeom prst="rect">
            <a:avLst/>
          </a:prstGeom>
          <a:solidFill>
            <a:srgbClr val="BEC1FE">
              <a:alpha val="50000"/>
            </a:srgbClr>
          </a:solidFill>
          <a:ln w="28575" cap="sq">
            <a:solidFill>
              <a:srgbClr val="0000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0099"/>
                </a:solidFill>
                <a:ea typeface="楷体_GB2312" pitchFamily="49" charset="-122"/>
              </a:rPr>
              <a:t>adjvex   nextarc   info</a:t>
            </a:r>
            <a:endParaRPr lang="en-US" altLang="zh-CN" sz="3600">
              <a:solidFill>
                <a:srgbClr val="000099"/>
              </a:solidFill>
              <a:ea typeface="楷体_GB2312" pitchFamily="49" charset="-122"/>
            </a:endParaRPr>
          </a:p>
        </p:txBody>
      </p:sp>
      <p:sp>
        <p:nvSpPr>
          <p:cNvPr id="8" name="Comment 6"/>
          <p:cNvSpPr>
            <a:spLocks noChangeArrowheads="1"/>
          </p:cNvSpPr>
          <p:nvPr/>
        </p:nvSpPr>
        <p:spPr bwMode="auto">
          <a:xfrm>
            <a:off x="755650" y="1354276"/>
            <a:ext cx="3336925" cy="953135"/>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a:spcBef>
                <a:spcPct val="50000"/>
              </a:spcBef>
            </a:pPr>
            <a:r>
              <a:rPr lang="en-US" altLang="zh-CN" b="1" dirty="0">
                <a:solidFill>
                  <a:srgbClr val="800000"/>
                </a:solidFill>
                <a:latin typeface="Arial" panose="020B0604020202020204" pitchFamily="34" charset="0"/>
                <a:ea typeface="楷体_GB2312" pitchFamily="49" charset="-122"/>
                <a:cs typeface="Arial" panose="020B0604020202020204" pitchFamily="34" charset="0"/>
              </a:rPr>
              <a:t>Node Structure of Arc (List Node)</a:t>
            </a:r>
            <a:endParaRPr lang="en-US" altLang="zh-CN" b="1" dirty="0">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9" name="灯片编号占位符 8"/>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18" presetClass="entr" presetSubtype="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downRigh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animBg="1" autoUpdateAnimBg="0"/>
      <p:bldP spid="8" grpId="0" bldLvl="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512763" y="1935163"/>
            <a:ext cx="7555865" cy="353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30000"/>
              </a:lnSpc>
            </a:pPr>
            <a:r>
              <a:rPr lang="en-US" altLang="zh-CN" sz="3600" b="1" dirty="0" err="1">
                <a:solidFill>
                  <a:srgbClr val="000099"/>
                </a:solidFill>
                <a:ea typeface="楷体_GB2312" pitchFamily="49" charset="-122"/>
              </a:rPr>
              <a:t>typedef</a:t>
            </a:r>
            <a:r>
              <a:rPr lang="en-US" altLang="zh-CN" sz="3600" b="1" dirty="0">
                <a:solidFill>
                  <a:srgbClr val="000099"/>
                </a:solidFill>
                <a:ea typeface="楷体_GB2312" pitchFamily="49" charset="-122"/>
              </a:rPr>
              <a:t> </a:t>
            </a:r>
            <a:r>
              <a:rPr lang="en-US" altLang="zh-CN" sz="3600" b="1" dirty="0" err="1">
                <a:solidFill>
                  <a:srgbClr val="000099"/>
                </a:solidFill>
                <a:ea typeface="楷体_GB2312" pitchFamily="49" charset="-122"/>
              </a:rPr>
              <a:t>struct</a:t>
            </a:r>
            <a:r>
              <a:rPr lang="en-US" altLang="zh-CN" sz="3600" dirty="0">
                <a:solidFill>
                  <a:srgbClr val="000099"/>
                </a:solidFill>
                <a:ea typeface="楷体_GB2312" pitchFamily="49" charset="-122"/>
              </a:rPr>
              <a:t> </a:t>
            </a:r>
            <a:r>
              <a:rPr lang="en-US" altLang="zh-CN" sz="3200" dirty="0" err="1">
                <a:solidFill>
                  <a:srgbClr val="000099"/>
                </a:solidFill>
                <a:ea typeface="楷体_GB2312" pitchFamily="49" charset="-122"/>
              </a:rPr>
              <a:t>VNode</a:t>
            </a:r>
            <a:r>
              <a:rPr lang="en-US" altLang="zh-CN" sz="3600" dirty="0">
                <a:solidFill>
                  <a:srgbClr val="000099"/>
                </a:solidFill>
                <a:ea typeface="楷体_GB2312" pitchFamily="49" charset="-122"/>
              </a:rPr>
              <a:t> </a:t>
            </a:r>
            <a:r>
              <a:rPr lang="en-US" altLang="zh-CN" sz="3600" b="1" dirty="0">
                <a:solidFill>
                  <a:srgbClr val="000099"/>
                </a:solidFill>
                <a:ea typeface="楷体_GB2312" pitchFamily="49" charset="-122"/>
              </a:rPr>
              <a:t>{</a:t>
            </a:r>
            <a:r>
              <a:rPr lang="en-US" altLang="zh-CN" sz="3600" b="1" dirty="0">
                <a:ea typeface="楷体_GB2312" pitchFamily="49" charset="-122"/>
              </a:rPr>
              <a:t> </a:t>
            </a:r>
            <a:endParaRPr lang="en-US" altLang="zh-CN" sz="3600" dirty="0">
              <a:ea typeface="楷体_GB2312" pitchFamily="49" charset="-122"/>
            </a:endParaRPr>
          </a:p>
          <a:p>
            <a:pPr algn="l">
              <a:lnSpc>
                <a:spcPct val="130000"/>
              </a:lnSpc>
            </a:pPr>
            <a:r>
              <a:rPr lang="en-US" altLang="zh-CN" sz="3600" dirty="0">
                <a:ea typeface="楷体_GB2312" pitchFamily="49" charset="-122"/>
              </a:rPr>
              <a:t>    </a:t>
            </a:r>
            <a:r>
              <a:rPr lang="en-US" altLang="zh-CN" sz="3600" dirty="0" err="1">
                <a:solidFill>
                  <a:srgbClr val="000099"/>
                </a:solidFill>
                <a:ea typeface="楷体_GB2312" pitchFamily="49" charset="-122"/>
              </a:rPr>
              <a:t>VertexType</a:t>
            </a:r>
            <a:r>
              <a:rPr lang="en-US" altLang="zh-CN" sz="3600" dirty="0">
                <a:solidFill>
                  <a:srgbClr val="000099"/>
                </a:solidFill>
                <a:ea typeface="楷体_GB2312" pitchFamily="49" charset="-122"/>
              </a:rPr>
              <a:t>  data;   </a:t>
            </a:r>
            <a:r>
              <a:rPr lang="en-US" altLang="zh-CN" sz="2800" b="1" dirty="0">
                <a:solidFill>
                  <a:srgbClr val="006600"/>
                </a:solidFill>
                <a:ea typeface="楷体_GB2312" pitchFamily="49" charset="-122"/>
              </a:rPr>
              <a:t>// </a:t>
            </a:r>
            <a:r>
              <a:rPr lang="zh-CN" altLang="en-US" b="1" dirty="0">
                <a:solidFill>
                  <a:srgbClr val="006600"/>
                </a:solidFill>
                <a:ea typeface="楷体_GB2312" pitchFamily="49" charset="-122"/>
                <a:sym typeface="+mn-ea"/>
              </a:rPr>
              <a:t>vertex information</a:t>
            </a:r>
            <a:endParaRPr lang="zh-CN" altLang="en-US" sz="2800" b="1" dirty="0">
              <a:solidFill>
                <a:srgbClr val="006600"/>
              </a:solidFill>
              <a:ea typeface="楷体_GB2312" pitchFamily="49" charset="-122"/>
            </a:endParaRPr>
          </a:p>
          <a:p>
            <a:pPr algn="l">
              <a:lnSpc>
                <a:spcPct val="130000"/>
              </a:lnSpc>
            </a:pPr>
            <a:r>
              <a:rPr lang="zh-CN" altLang="en-US" sz="3600" dirty="0">
                <a:solidFill>
                  <a:srgbClr val="000099"/>
                </a:solidFill>
                <a:ea typeface="楷体_GB2312" pitchFamily="49" charset="-122"/>
              </a:rPr>
              <a:t>    </a:t>
            </a:r>
            <a:r>
              <a:rPr lang="en-US" altLang="zh-CN" sz="3600" dirty="0" err="1">
                <a:solidFill>
                  <a:srgbClr val="000099"/>
                </a:solidFill>
                <a:ea typeface="楷体_GB2312" pitchFamily="49" charset="-122"/>
              </a:rPr>
              <a:t>ArcNode</a:t>
            </a:r>
            <a:r>
              <a:rPr lang="en-US" altLang="zh-CN" sz="3600" dirty="0">
                <a:solidFill>
                  <a:srgbClr val="000099"/>
                </a:solidFill>
                <a:ea typeface="楷体_GB2312" pitchFamily="49" charset="-122"/>
              </a:rPr>
              <a:t>  </a:t>
            </a:r>
            <a:r>
              <a:rPr lang="en-US" altLang="zh-CN" sz="3600" b="1" dirty="0">
                <a:solidFill>
                  <a:srgbClr val="000099"/>
                </a:solidFill>
                <a:ea typeface="楷体_GB2312" pitchFamily="49" charset="-122"/>
              </a:rPr>
              <a:t>*</a:t>
            </a:r>
            <a:r>
              <a:rPr lang="en-US" altLang="zh-CN" sz="3600" dirty="0" err="1">
                <a:solidFill>
                  <a:srgbClr val="000099"/>
                </a:solidFill>
                <a:ea typeface="楷体_GB2312" pitchFamily="49" charset="-122"/>
              </a:rPr>
              <a:t>firstarc</a:t>
            </a:r>
            <a:r>
              <a:rPr lang="en-US" altLang="zh-CN" sz="3600" dirty="0">
                <a:solidFill>
                  <a:srgbClr val="000099"/>
                </a:solidFill>
                <a:ea typeface="楷体_GB2312" pitchFamily="49" charset="-122"/>
              </a:rPr>
              <a:t>; </a:t>
            </a:r>
            <a:endParaRPr lang="en-US" altLang="zh-CN" sz="3600" dirty="0">
              <a:solidFill>
                <a:srgbClr val="000099"/>
              </a:solidFill>
              <a:ea typeface="楷体_GB2312" pitchFamily="49" charset="-122"/>
            </a:endParaRPr>
          </a:p>
          <a:p>
            <a:pPr algn="l">
              <a:lnSpc>
                <a:spcPct val="130000"/>
              </a:lnSpc>
            </a:pPr>
            <a:r>
              <a:rPr lang="en-US" altLang="zh-CN" sz="2800" b="1" dirty="0">
                <a:solidFill>
                  <a:srgbClr val="006600"/>
                </a:solidFill>
                <a:ea typeface="楷体_GB2312" pitchFamily="49" charset="-122"/>
              </a:rPr>
              <a:t>// </a:t>
            </a:r>
            <a:r>
              <a:rPr lang="en-US" altLang="zh-CN" b="1" dirty="0">
                <a:solidFill>
                  <a:srgbClr val="006600"/>
                </a:solidFill>
                <a:ea typeface="楷体_GB2312" pitchFamily="49" charset="-122"/>
                <a:sym typeface="+mn-ea"/>
              </a:rPr>
              <a:t>points to the first arc attached to the vertex</a:t>
            </a:r>
            <a:endParaRPr lang="zh-CN" altLang="en-US" sz="2800" b="1" dirty="0">
              <a:solidFill>
                <a:srgbClr val="006600"/>
              </a:solidFill>
              <a:ea typeface="楷体_GB2312" pitchFamily="49" charset="-122"/>
            </a:endParaRPr>
          </a:p>
          <a:p>
            <a:pPr algn="l">
              <a:lnSpc>
                <a:spcPct val="130000"/>
              </a:lnSpc>
            </a:pPr>
            <a:r>
              <a:rPr lang="zh-CN" altLang="en-US" sz="3600" dirty="0">
                <a:solidFill>
                  <a:srgbClr val="000099"/>
                </a:solidFill>
                <a:ea typeface="楷体_GB2312" pitchFamily="49" charset="-122"/>
              </a:rPr>
              <a:t>  </a:t>
            </a:r>
            <a:r>
              <a:rPr lang="en-US" altLang="zh-CN" sz="3200" b="1" dirty="0">
                <a:solidFill>
                  <a:srgbClr val="000099"/>
                </a:solidFill>
                <a:ea typeface="楷体_GB2312" pitchFamily="49" charset="-122"/>
              </a:rPr>
              <a:t>}</a:t>
            </a:r>
            <a:r>
              <a:rPr lang="en-US" altLang="zh-CN" sz="3200" dirty="0">
                <a:solidFill>
                  <a:srgbClr val="000099"/>
                </a:solidFill>
                <a:ea typeface="楷体_GB2312" pitchFamily="49" charset="-122"/>
              </a:rPr>
              <a:t> </a:t>
            </a:r>
            <a:r>
              <a:rPr lang="en-US" altLang="zh-CN" sz="3200" dirty="0" err="1">
                <a:solidFill>
                  <a:srgbClr val="000099"/>
                </a:solidFill>
                <a:ea typeface="楷体_GB2312" pitchFamily="49" charset="-122"/>
              </a:rPr>
              <a:t>VNode</a:t>
            </a:r>
            <a:r>
              <a:rPr lang="en-US" altLang="zh-CN" sz="3200" dirty="0">
                <a:solidFill>
                  <a:srgbClr val="000099"/>
                </a:solidFill>
                <a:ea typeface="楷体_GB2312" pitchFamily="49" charset="-122"/>
              </a:rPr>
              <a:t>, </a:t>
            </a:r>
            <a:r>
              <a:rPr lang="en-US" altLang="zh-CN" sz="3200" dirty="0" err="1">
                <a:solidFill>
                  <a:srgbClr val="000099"/>
                </a:solidFill>
                <a:ea typeface="楷体_GB2312" pitchFamily="49" charset="-122"/>
              </a:rPr>
              <a:t>AdjList</a:t>
            </a:r>
            <a:r>
              <a:rPr lang="en-US" altLang="zh-CN" sz="3200" dirty="0">
                <a:solidFill>
                  <a:srgbClr val="000099"/>
                </a:solidFill>
                <a:ea typeface="楷体_GB2312" pitchFamily="49" charset="-122"/>
              </a:rPr>
              <a:t>[MAX_VERTEX_NUM];</a:t>
            </a:r>
            <a:endParaRPr lang="en-US" altLang="zh-CN" sz="3200" dirty="0">
              <a:solidFill>
                <a:srgbClr val="000099"/>
              </a:solidFill>
              <a:ea typeface="楷体_GB2312" pitchFamily="49" charset="-122"/>
            </a:endParaRPr>
          </a:p>
        </p:txBody>
      </p:sp>
      <p:sp>
        <p:nvSpPr>
          <p:cNvPr id="91139" name="Rectangle 3"/>
          <p:cNvSpPr>
            <a:spLocks noChangeArrowheads="1"/>
          </p:cNvSpPr>
          <p:nvPr/>
        </p:nvSpPr>
        <p:spPr bwMode="auto">
          <a:xfrm>
            <a:off x="5349875" y="806450"/>
            <a:ext cx="2727325" cy="669925"/>
          </a:xfrm>
          <a:prstGeom prst="rect">
            <a:avLst/>
          </a:prstGeom>
          <a:solidFill>
            <a:srgbClr val="BEC1FE">
              <a:alpha val="50000"/>
            </a:srgbClr>
          </a:solidFill>
          <a:ln w="28575" cap="sq">
            <a:solidFill>
              <a:srgbClr val="0000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0099"/>
                </a:solidFill>
                <a:ea typeface="楷体_GB2312" pitchFamily="49" charset="-122"/>
              </a:rPr>
              <a:t> data   firstarc</a:t>
            </a:r>
            <a:endParaRPr lang="en-US" altLang="zh-CN" sz="3600">
              <a:solidFill>
                <a:srgbClr val="000099"/>
              </a:solidFill>
              <a:ea typeface="楷体_GB2312" pitchFamily="49" charset="-122"/>
            </a:endParaRPr>
          </a:p>
        </p:txBody>
      </p:sp>
      <p:sp>
        <p:nvSpPr>
          <p:cNvPr id="91140" name="Line 4"/>
          <p:cNvSpPr>
            <a:spLocks noChangeShapeType="1"/>
          </p:cNvSpPr>
          <p:nvPr/>
        </p:nvSpPr>
        <p:spPr bwMode="auto">
          <a:xfrm flipH="1">
            <a:off x="6477000" y="78105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41" name="Comment 5"/>
          <p:cNvSpPr>
            <a:spLocks noChangeArrowheads="1"/>
          </p:cNvSpPr>
          <p:nvPr/>
        </p:nvSpPr>
        <p:spPr bwMode="auto">
          <a:xfrm>
            <a:off x="838200" y="746125"/>
            <a:ext cx="3794125" cy="953135"/>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a:spcBef>
                <a:spcPct val="50000"/>
              </a:spcBef>
            </a:pPr>
            <a:r>
              <a:rPr lang="zh-CN" altLang="en-US" b="1">
                <a:solidFill>
                  <a:srgbClr val="800000"/>
                </a:solidFill>
                <a:ea typeface="楷体_GB2312" pitchFamily="49" charset="-122"/>
                <a:sym typeface="+mn-ea"/>
              </a:rPr>
              <a:t>The vertex node structure (head node)</a:t>
            </a:r>
            <a:endParaRPr lang="zh-CN" altLang="en-US" b="1">
              <a:solidFill>
                <a:srgbClr val="800000"/>
              </a:solidFill>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914400" y="1905000"/>
            <a:ext cx="7391400" cy="4707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sz="4000" b="1">
                <a:solidFill>
                  <a:srgbClr val="000099"/>
                </a:solidFill>
                <a:ea typeface="楷体_GB2312" pitchFamily="49" charset="-122"/>
              </a:rPr>
              <a:t>typedef struct {</a:t>
            </a:r>
            <a:r>
              <a:rPr lang="en-US" altLang="zh-CN" sz="4000" b="1">
                <a:ea typeface="楷体_GB2312" pitchFamily="49" charset="-122"/>
              </a:rPr>
              <a:t>  </a:t>
            </a:r>
            <a:endParaRPr lang="en-US" altLang="zh-CN" sz="4000" b="1">
              <a:solidFill>
                <a:srgbClr val="800000"/>
              </a:solidFill>
              <a:ea typeface="楷体_GB2312" pitchFamily="49" charset="-122"/>
            </a:endParaRPr>
          </a:p>
          <a:p>
            <a:pPr>
              <a:spcBef>
                <a:spcPct val="10000"/>
              </a:spcBef>
            </a:pPr>
            <a:r>
              <a:rPr lang="en-US" altLang="zh-CN" sz="4000">
                <a:ea typeface="楷体_GB2312" pitchFamily="49" charset="-122"/>
              </a:rPr>
              <a:t>     </a:t>
            </a:r>
            <a:r>
              <a:rPr lang="en-US" altLang="zh-CN" sz="4000">
                <a:solidFill>
                  <a:srgbClr val="000099"/>
                </a:solidFill>
                <a:ea typeface="楷体_GB2312" pitchFamily="49" charset="-122"/>
              </a:rPr>
              <a:t>AdjList  vertices;  </a:t>
            </a:r>
            <a:endParaRPr lang="en-US" altLang="zh-CN" sz="4000">
              <a:solidFill>
                <a:srgbClr val="000099"/>
              </a:solidFill>
              <a:ea typeface="楷体_GB2312" pitchFamily="49" charset="-122"/>
            </a:endParaRPr>
          </a:p>
          <a:p>
            <a:pPr>
              <a:spcBef>
                <a:spcPct val="10000"/>
              </a:spcBef>
            </a:pPr>
            <a:r>
              <a:rPr lang="en-US" altLang="zh-CN" sz="4000">
                <a:solidFill>
                  <a:srgbClr val="000099"/>
                </a:solidFill>
                <a:ea typeface="楷体_GB2312" pitchFamily="49" charset="-122"/>
              </a:rPr>
              <a:t> </a:t>
            </a:r>
            <a:r>
              <a:rPr lang="en-US" altLang="zh-CN" sz="2800" b="1">
                <a:solidFill>
                  <a:srgbClr val="006600"/>
                </a:solidFill>
                <a:ea typeface="楷体_GB2312" pitchFamily="49" charset="-122"/>
              </a:rPr>
              <a:t>// Vector of head nodes</a:t>
            </a:r>
            <a:endParaRPr lang="en-US" altLang="zh-CN" sz="4000">
              <a:solidFill>
                <a:srgbClr val="000099"/>
              </a:solidFill>
              <a:ea typeface="楷体_GB2312" pitchFamily="49" charset="-122"/>
            </a:endParaRPr>
          </a:p>
          <a:p>
            <a:pPr>
              <a:spcBef>
                <a:spcPct val="10000"/>
              </a:spcBef>
            </a:pPr>
            <a:r>
              <a:rPr lang="zh-CN" altLang="en-US" sz="4000">
                <a:solidFill>
                  <a:srgbClr val="000099"/>
                </a:solidFill>
                <a:ea typeface="楷体_GB2312" pitchFamily="49" charset="-122"/>
              </a:rPr>
              <a:t>     </a:t>
            </a:r>
            <a:r>
              <a:rPr lang="en-US" altLang="zh-CN" sz="4000" b="1">
                <a:solidFill>
                  <a:srgbClr val="000099"/>
                </a:solidFill>
                <a:ea typeface="楷体_GB2312" pitchFamily="49" charset="-122"/>
              </a:rPr>
              <a:t>int</a:t>
            </a:r>
            <a:r>
              <a:rPr lang="en-US" altLang="zh-CN" sz="4000">
                <a:solidFill>
                  <a:srgbClr val="000099"/>
                </a:solidFill>
                <a:ea typeface="楷体_GB2312" pitchFamily="49" charset="-122"/>
              </a:rPr>
              <a:t>      vexnum, arcnum; </a:t>
            </a:r>
            <a:endParaRPr lang="en-US" altLang="zh-CN" sz="4000">
              <a:solidFill>
                <a:srgbClr val="000099"/>
              </a:solidFill>
              <a:ea typeface="楷体_GB2312" pitchFamily="49" charset="-122"/>
            </a:endParaRPr>
          </a:p>
          <a:p>
            <a:pPr>
              <a:spcBef>
                <a:spcPct val="10000"/>
              </a:spcBef>
            </a:pPr>
            <a:r>
              <a:rPr lang="en-US" altLang="zh-CN" sz="2800" b="1">
                <a:solidFill>
                  <a:srgbClr val="006600"/>
                </a:solidFill>
                <a:ea typeface="楷体_GB2312" pitchFamily="49" charset="-122"/>
              </a:rPr>
              <a:t>// </a:t>
            </a:r>
            <a:r>
              <a:rPr lang="en-US" altLang="zh-CN" sz="2400" b="1">
                <a:solidFill>
                  <a:srgbClr val="006600"/>
                </a:solidFill>
                <a:ea typeface="楷体_GB2312" pitchFamily="49" charset="-122"/>
              </a:rPr>
              <a:t>Current number of vertices and arcs in the graph</a:t>
            </a:r>
            <a:r>
              <a:rPr lang="zh-CN" altLang="en-US" sz="3600">
                <a:solidFill>
                  <a:srgbClr val="000099"/>
                </a:solidFill>
                <a:ea typeface="楷体_GB2312" pitchFamily="49" charset="-122"/>
              </a:rPr>
              <a:t> </a:t>
            </a:r>
            <a:r>
              <a:rPr lang="zh-CN" altLang="en-US" sz="4000">
                <a:solidFill>
                  <a:srgbClr val="000099"/>
                </a:solidFill>
                <a:ea typeface="楷体_GB2312" pitchFamily="49" charset="-122"/>
              </a:rPr>
              <a:t>    </a:t>
            </a:r>
            <a:r>
              <a:rPr lang="en-US" altLang="zh-CN" sz="4000" b="1">
                <a:solidFill>
                  <a:srgbClr val="000099"/>
                </a:solidFill>
                <a:ea typeface="楷体_GB2312" pitchFamily="49" charset="-122"/>
              </a:rPr>
              <a:t>int</a:t>
            </a:r>
            <a:r>
              <a:rPr lang="en-US" altLang="zh-CN" sz="4000">
                <a:solidFill>
                  <a:srgbClr val="000099"/>
                </a:solidFill>
                <a:ea typeface="楷体_GB2312" pitchFamily="49" charset="-122"/>
              </a:rPr>
              <a:t>      kind;   </a:t>
            </a:r>
            <a:r>
              <a:rPr lang="en-US" altLang="zh-CN" sz="2800" b="1">
                <a:solidFill>
                  <a:srgbClr val="006600"/>
                </a:solidFill>
                <a:ea typeface="楷体_GB2312" pitchFamily="49" charset="-122"/>
              </a:rPr>
              <a:t>// </a:t>
            </a:r>
            <a:r>
              <a:rPr lang="en-US" altLang="zh-CN" b="1" dirty="0">
                <a:solidFill>
                  <a:srgbClr val="006600"/>
                </a:solidFill>
                <a:latin typeface="Consolas" panose="020B0609020204030204" pitchFamily="49" charset="0"/>
                <a:ea typeface="楷体_GB2312" pitchFamily="49" charset="-122"/>
                <a:sym typeface="+mn-ea"/>
              </a:rPr>
              <a:t>Graph type identifier</a:t>
            </a:r>
            <a:endParaRPr lang="zh-CN" altLang="en-US" sz="2800" b="1">
              <a:solidFill>
                <a:srgbClr val="006600"/>
              </a:solidFill>
              <a:ea typeface="楷体_GB2312" pitchFamily="49" charset="-122"/>
            </a:endParaRPr>
          </a:p>
          <a:p>
            <a:pPr>
              <a:spcBef>
                <a:spcPct val="10000"/>
              </a:spcBef>
            </a:pPr>
            <a:r>
              <a:rPr lang="zh-CN" altLang="en-US" sz="4000" b="1">
                <a:solidFill>
                  <a:srgbClr val="000099"/>
                </a:solidFill>
                <a:ea typeface="楷体_GB2312" pitchFamily="49" charset="-122"/>
              </a:rPr>
              <a:t>  </a:t>
            </a:r>
            <a:r>
              <a:rPr lang="en-US" altLang="zh-CN" sz="4000" b="1">
                <a:solidFill>
                  <a:srgbClr val="000099"/>
                </a:solidFill>
                <a:ea typeface="楷体_GB2312" pitchFamily="49" charset="-122"/>
              </a:rPr>
              <a:t>}</a:t>
            </a:r>
            <a:r>
              <a:rPr lang="en-US" altLang="zh-CN" sz="4000">
                <a:solidFill>
                  <a:srgbClr val="000099"/>
                </a:solidFill>
                <a:ea typeface="楷体_GB2312" pitchFamily="49" charset="-122"/>
              </a:rPr>
              <a:t> ALGraph;</a:t>
            </a:r>
            <a:endParaRPr lang="en-US" altLang="zh-CN" sz="4000">
              <a:solidFill>
                <a:srgbClr val="000099"/>
              </a:solidFill>
              <a:ea typeface="楷体_GB2312" pitchFamily="49" charset="-122"/>
            </a:endParaRPr>
          </a:p>
        </p:txBody>
      </p:sp>
      <p:sp>
        <p:nvSpPr>
          <p:cNvPr id="92163" name="Rectangle 3"/>
          <p:cNvSpPr>
            <a:spLocks noChangeArrowheads="1"/>
          </p:cNvSpPr>
          <p:nvPr/>
        </p:nvSpPr>
        <p:spPr bwMode="auto">
          <a:xfrm>
            <a:off x="533400" y="657225"/>
            <a:ext cx="6216015" cy="1322070"/>
          </a:xfrm>
          <a:prstGeom prst="rect">
            <a:avLst/>
          </a:prstGeom>
          <a:solidFill>
            <a:srgbClr val="FFCC99">
              <a:alpha val="50000"/>
            </a:srgbClr>
          </a:solidFill>
          <a:ln w="12700" cap="sq">
            <a:solidFill>
              <a:srgbClr val="FFCC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4000" b="1">
                <a:solidFill>
                  <a:srgbClr val="800000"/>
                </a:solidFill>
                <a:latin typeface="Arial" panose="020B0604020202020204" pitchFamily="34" charset="0"/>
                <a:ea typeface="楷体_GB2312" pitchFamily="49" charset="-122"/>
                <a:cs typeface="Arial" panose="020B0604020202020204" pitchFamily="34" charset="0"/>
              </a:rPr>
              <a:t>Structure Definition of Graph</a:t>
            </a:r>
            <a:endParaRPr lang="en-US" altLang="zh-CN" sz="40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81000" y="381000"/>
            <a:ext cx="8458200"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90000"/>
              </a:lnSpc>
              <a:spcBef>
                <a:spcPct val="20000"/>
              </a:spcBef>
              <a:buClr>
                <a:schemeClr val="hlink"/>
              </a:buClr>
              <a:buFont typeface="Wingdings" panose="05000000000000000000" pitchFamily="2" charset="2"/>
              <a:buChar char="§"/>
            </a:pPr>
            <a:r>
              <a:rPr lang="en-US" altLang="zh-CN" b="1" dirty="0">
                <a:solidFill>
                  <a:srgbClr val="A50021"/>
                </a:solidFill>
                <a:latin typeface="Arial" panose="020B0604020202020204" pitchFamily="34" charset="0"/>
                <a:ea typeface="楷体_GB2312" pitchFamily="49" charset="-122"/>
                <a:cs typeface="Arial" panose="020B0604020202020204" pitchFamily="34" charset="0"/>
              </a:rPr>
              <a:t>Advantages:</a:t>
            </a:r>
            <a:endParaRPr lang="en-US" altLang="zh-CN" b="1" dirty="0">
              <a:solidFill>
                <a:srgbClr val="A50021"/>
              </a:solidFill>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SzPct val="50000"/>
              <a:buFont typeface="Monotype Sorts" pitchFamily="2" charset="2"/>
              <a:buNone/>
            </a:pPr>
            <a:r>
              <a:rPr lang="zh-CN" altLang="en-US" b="1" dirty="0">
                <a:latin typeface="Arial" panose="020B0604020202020204" pitchFamily="34" charset="0"/>
                <a:ea typeface="楷体_GB2312" pitchFamily="49" charset="-122"/>
                <a:cs typeface="Arial" panose="020B0604020202020204" pitchFamily="34" charset="0"/>
              </a:rPr>
              <a:t>          </a:t>
            </a:r>
            <a:r>
              <a:rPr lang="zh-CN" altLang="en-US" b="1" dirty="0">
                <a:latin typeface="Arial" panose="020B0604020202020204" pitchFamily="34" charset="0"/>
                <a:ea typeface="楷体_GB2312" pitchFamily="49" charset="-122"/>
                <a:cs typeface="Arial" panose="020B0604020202020204" pitchFamily="34" charset="0"/>
                <a:sym typeface="+mn-ea"/>
              </a:rPr>
              <a:t>When the edge count is less than the square of the vertex count (m &lt;&lt;n²), it saves storage space.</a:t>
            </a:r>
            <a:endParaRPr lang="zh-CN" altLang="en-US" b="1" dirty="0">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SzPct val="50000"/>
              <a:buFont typeface="Monotype Sorts" pitchFamily="2" charset="2"/>
              <a:buNone/>
            </a:pPr>
            <a:r>
              <a:rPr lang="zh-CN" altLang="en-US" b="1" dirty="0">
                <a:latin typeface="Arial" panose="020B0604020202020204" pitchFamily="34" charset="0"/>
                <a:ea typeface="楷体_GB2312" pitchFamily="49" charset="-122"/>
                <a:cs typeface="Arial" panose="020B0604020202020204" pitchFamily="34" charset="0"/>
              </a:rPr>
              <a:t>           </a:t>
            </a:r>
            <a:r>
              <a:rPr lang="en-US" altLang="zh-CN" b="1" dirty="0">
                <a:latin typeface="Arial" panose="020B0604020202020204" pitchFamily="34" charset="0"/>
                <a:ea typeface="楷体_GB2312" pitchFamily="49" charset="-122"/>
                <a:cs typeface="Arial" panose="020B0604020202020204" pitchFamily="34" charset="0"/>
              </a:rPr>
              <a:t>It is convenient for operations, and it is easy to find the first adjacent vertex and the next adjacent vertex of any vertex.</a:t>
            </a:r>
            <a:endParaRPr lang="en-US" altLang="zh-CN" b="1" dirty="0">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SzPct val="50000"/>
              <a:buFont typeface="Monotype Sorts" pitchFamily="2" charset="2"/>
              <a:buNone/>
            </a:pPr>
            <a:endParaRPr lang="zh-CN" altLang="en-US" b="1" dirty="0">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Font typeface="Wingdings" panose="05000000000000000000" pitchFamily="2" charset="2"/>
              <a:buChar char="§"/>
            </a:pPr>
            <a:r>
              <a:rPr lang="en-US" altLang="zh-CN" b="1" dirty="0">
                <a:solidFill>
                  <a:srgbClr val="A50021"/>
                </a:solidFill>
                <a:latin typeface="Arial" panose="020B0604020202020204" pitchFamily="34" charset="0"/>
                <a:ea typeface="楷体_GB2312" pitchFamily="49" charset="-122"/>
                <a:cs typeface="Arial" panose="020B0604020202020204" pitchFamily="34" charset="0"/>
                <a:sym typeface="+mn-ea"/>
              </a:rPr>
              <a:t>S</a:t>
            </a:r>
            <a:r>
              <a:rPr lang="zh-CN" altLang="en-US" b="1" dirty="0">
                <a:solidFill>
                  <a:srgbClr val="A50021"/>
                </a:solidFill>
                <a:latin typeface="Arial" panose="020B0604020202020204" pitchFamily="34" charset="0"/>
                <a:ea typeface="楷体_GB2312" pitchFamily="49" charset="-122"/>
                <a:cs typeface="Arial" panose="020B0604020202020204" pitchFamily="34" charset="0"/>
                <a:sym typeface="+mn-ea"/>
              </a:rPr>
              <a:t>hortcoming </a:t>
            </a:r>
            <a:r>
              <a:rPr lang="zh-CN" altLang="en-US" b="1" dirty="0">
                <a:solidFill>
                  <a:srgbClr val="A50021"/>
                </a:solidFill>
                <a:latin typeface="Arial" panose="020B0604020202020204" pitchFamily="34" charset="0"/>
                <a:ea typeface="楷体_GB2312" pitchFamily="49" charset="-122"/>
                <a:cs typeface="Arial" panose="020B0604020202020204" pitchFamily="34" charset="0"/>
              </a:rPr>
              <a:t>：</a:t>
            </a:r>
            <a:endParaRPr lang="zh-CN" altLang="en-US" b="1" dirty="0">
              <a:solidFill>
                <a:srgbClr val="A50021"/>
              </a:solidFill>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SzPct val="50000"/>
              <a:buFont typeface="Monotype Sorts" pitchFamily="2" charset="2"/>
              <a:buNone/>
            </a:pPr>
            <a:r>
              <a:rPr lang="zh-CN" altLang="en-US" b="1" dirty="0">
                <a:latin typeface="Arial" panose="020B0604020202020204" pitchFamily="34" charset="0"/>
                <a:ea typeface="楷体_GB2312" pitchFamily="49" charset="-122"/>
                <a:cs typeface="Arial" panose="020B0604020202020204" pitchFamily="34" charset="0"/>
              </a:rPr>
              <a:t>           </a:t>
            </a:r>
            <a:r>
              <a:rPr lang="zh-CN" altLang="en-US" b="1" dirty="0">
                <a:latin typeface="Arial" panose="020B0604020202020204" pitchFamily="34" charset="0"/>
                <a:ea typeface="楷体_GB2312" pitchFamily="49" charset="-122"/>
                <a:cs typeface="Arial" panose="020B0604020202020204" pitchFamily="34" charset="0"/>
                <a:sym typeface="+mn-ea"/>
              </a:rPr>
              <a:t>To determine whether an edge or arc exists between any two vertices, you need to scan the i-th or j-th linked list, which is less convenient than the adjacency matrix.</a:t>
            </a:r>
            <a:endParaRPr lang="zh-CN" altLang="en-US" b="1" dirty="0">
              <a:latin typeface="Arial" panose="020B0604020202020204" pitchFamily="34" charset="0"/>
              <a:ea typeface="楷体_GB2312" pitchFamily="49" charset="-122"/>
              <a:cs typeface="Arial" panose="020B0604020202020204" pitchFamily="34" charset="0"/>
            </a:endParaRPr>
          </a:p>
          <a:p>
            <a:pPr marL="342900" indent="-342900">
              <a:lnSpc>
                <a:spcPct val="90000"/>
              </a:lnSpc>
              <a:spcBef>
                <a:spcPct val="20000"/>
              </a:spcBef>
              <a:buClr>
                <a:schemeClr val="hlink"/>
              </a:buClr>
              <a:buSzPct val="50000"/>
              <a:buFont typeface="Monotype Sorts" pitchFamily="2" charset="2"/>
              <a:buNone/>
            </a:pPr>
            <a:endParaRPr lang="zh-CN" altLang="en-US" b="1" dirty="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animEffect transition="in" filter="box(in)">
                                      <p:cBhvr>
                                        <p:cTn id="7" dur="500"/>
                                        <p:tgtEl>
                                          <p:spTgt spid="93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3186">
                                            <p:txEl>
                                              <p:pRg st="1" end="1"/>
                                            </p:txEl>
                                          </p:spTgt>
                                        </p:tgtEl>
                                        <p:attrNameLst>
                                          <p:attrName>style.visibility</p:attrName>
                                        </p:attrNameLst>
                                      </p:cBhvr>
                                      <p:to>
                                        <p:strVal val="visible"/>
                                      </p:to>
                                    </p:set>
                                    <p:animEffect transition="in" filter="box(in)">
                                      <p:cBhvr>
                                        <p:cTn id="12" dur="500"/>
                                        <p:tgtEl>
                                          <p:spTgt spid="93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3186">
                                            <p:txEl>
                                              <p:pRg st="2" end="2"/>
                                            </p:txEl>
                                          </p:spTgt>
                                        </p:tgtEl>
                                        <p:attrNameLst>
                                          <p:attrName>style.visibility</p:attrName>
                                        </p:attrNameLst>
                                      </p:cBhvr>
                                      <p:to>
                                        <p:strVal val="visible"/>
                                      </p:to>
                                    </p:set>
                                    <p:animEffect transition="in" filter="box(in)">
                                      <p:cBhvr>
                                        <p:cTn id="17" dur="500"/>
                                        <p:tgtEl>
                                          <p:spTgt spid="931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3186">
                                            <p:txEl>
                                              <p:pRg st="4" end="4"/>
                                            </p:txEl>
                                          </p:spTgt>
                                        </p:tgtEl>
                                        <p:attrNameLst>
                                          <p:attrName>style.visibility</p:attrName>
                                        </p:attrNameLst>
                                      </p:cBhvr>
                                      <p:to>
                                        <p:strVal val="visible"/>
                                      </p:to>
                                    </p:set>
                                    <p:animEffect transition="in" filter="box(in)">
                                      <p:cBhvr>
                                        <p:cTn id="22" dur="500"/>
                                        <p:tgtEl>
                                          <p:spTgt spid="9318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3186">
                                            <p:txEl>
                                              <p:pRg st="5" end="5"/>
                                            </p:txEl>
                                          </p:spTgt>
                                        </p:tgtEl>
                                        <p:attrNameLst>
                                          <p:attrName>style.visibility</p:attrName>
                                        </p:attrNameLst>
                                      </p:cBhvr>
                                      <p:to>
                                        <p:strVal val="visible"/>
                                      </p:to>
                                    </p:set>
                                    <p:animEffect transition="in" filter="box(in)">
                                      <p:cBhvr>
                                        <p:cTn id="27" dur="500"/>
                                        <p:tgtEl>
                                          <p:spTgt spid="9318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latin typeface="Times New Roman" panose="02020603050405020304" pitchFamily="18" charset="0"/>
                <a:cs typeface="Times New Roman" panose="02020603050405020304" pitchFamily="18" charset="0"/>
                <a:sym typeface="+mn-ea"/>
              </a:rPr>
              <a:t>Graph storage representations</a:t>
            </a:r>
            <a:endParaRPr lang="zh-CN" altLang="en-US" sz="4000" dirty="0">
              <a:solidFill>
                <a:srgbClr val="FF0000"/>
              </a:solidFill>
              <a:latin typeface="宋体" panose="02010600030101010101" pitchFamily="2" charset="-122"/>
            </a:endParaRPr>
          </a:p>
        </p:txBody>
      </p:sp>
      <p:sp>
        <p:nvSpPr>
          <p:cNvPr id="3" name="内容占位符 2"/>
          <p:cNvSpPr>
            <a:spLocks noGrp="1"/>
          </p:cNvSpPr>
          <p:nvPr>
            <p:ph idx="1"/>
          </p:nvPr>
        </p:nvSpPr>
        <p:spPr/>
        <p:txBody>
          <a:bodyPr/>
          <a:lstStyle/>
          <a:p>
            <a:pPr>
              <a:lnSpc>
                <a:spcPts val="4800"/>
              </a:lnSpc>
            </a:pPr>
            <a:r>
              <a:rPr lang="zh-CN" altLang="en-US" dirty="0">
                <a:ea typeface="+mn-ea"/>
                <a:cs typeface="Arial" panose="020B0604020202020204" pitchFamily="34" charset="0"/>
              </a:rPr>
              <a:t>Array (</a:t>
            </a:r>
            <a:r>
              <a:rPr lang="zh-CN" altLang="en-US" dirty="0">
                <a:solidFill>
                  <a:schemeClr val="accent2"/>
                </a:solidFill>
                <a:ea typeface="+mn-ea"/>
                <a:cs typeface="Arial" panose="020B0604020202020204" pitchFamily="34" charset="0"/>
              </a:rPr>
              <a:t>Adjacency Matrix</a:t>
            </a:r>
            <a:r>
              <a:rPr lang="zh-CN" altLang="en-US" dirty="0">
                <a:ea typeface="+mn-ea"/>
                <a:cs typeface="Arial" panose="020B0604020202020204" pitchFamily="34" charset="0"/>
              </a:rPr>
              <a:t>) Storage Representation of Graphs</a:t>
            </a:r>
            <a:endParaRPr lang="zh-CN" altLang="en-US" dirty="0">
              <a:ea typeface="+mn-ea"/>
              <a:cs typeface="Arial" panose="020B0604020202020204" pitchFamily="34" charset="0"/>
            </a:endParaRPr>
          </a:p>
          <a:p>
            <a:pPr>
              <a:lnSpc>
                <a:spcPts val="4800"/>
              </a:lnSpc>
            </a:pPr>
            <a:r>
              <a:rPr lang="zh-CN" altLang="en-US" dirty="0">
                <a:solidFill>
                  <a:schemeClr val="accent2"/>
                </a:solidFill>
                <a:ea typeface="+mn-ea"/>
                <a:cs typeface="Arial" panose="020B0604020202020204" pitchFamily="34" charset="0"/>
              </a:rPr>
              <a:t>Adjacency List</a:t>
            </a:r>
            <a:r>
              <a:rPr lang="zh-CN" altLang="en-US" dirty="0">
                <a:ea typeface="+mn-ea"/>
                <a:cs typeface="Arial" panose="020B0604020202020204" pitchFamily="34" charset="0"/>
              </a:rPr>
              <a:t> Storage Representation of Graphs</a:t>
            </a:r>
            <a:endParaRPr lang="zh-CN" altLang="en-US" dirty="0">
              <a:ea typeface="+mn-ea"/>
              <a:cs typeface="Arial" panose="020B0604020202020204" pitchFamily="34" charset="0"/>
            </a:endParaRPr>
          </a:p>
          <a:p>
            <a:pPr>
              <a:lnSpc>
                <a:spcPts val="4800"/>
              </a:lnSpc>
            </a:pPr>
            <a:r>
              <a:rPr lang="zh-CN" altLang="en-US" b="1" dirty="0">
                <a:solidFill>
                  <a:srgbClr val="FF0000"/>
                </a:solidFill>
                <a:ea typeface="+mn-ea"/>
                <a:cs typeface="Arial" panose="020B0604020202020204" pitchFamily="34" charset="0"/>
              </a:rPr>
              <a:t>Orthogonal List Storage Representation of Directed Graphs</a:t>
            </a:r>
            <a:endParaRPr lang="zh-CN" altLang="en-US" b="1" dirty="0">
              <a:solidFill>
                <a:srgbClr val="FF0000"/>
              </a:solidFill>
              <a:ea typeface="+mn-ea"/>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107950" y="44450"/>
            <a:ext cx="7907655"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3600" b="1">
                <a:solidFill>
                  <a:srgbClr val="0000FF"/>
                </a:solidFill>
                <a:latin typeface="Arial" panose="020B0604020202020204" pitchFamily="34" charset="0"/>
                <a:ea typeface="楷体_GB2312" pitchFamily="49" charset="-122"/>
                <a:cs typeface="Arial" panose="020B0604020202020204" pitchFamily="34" charset="0"/>
                <a:sym typeface="+mn-ea"/>
              </a:rPr>
              <a:t>Orthogonal List Storage Representation of Directed Graphs</a:t>
            </a:r>
            <a:endParaRPr lang="zh-CN" altLang="en-US" sz="3600" b="1">
              <a:solidFill>
                <a:srgbClr val="0000FF"/>
              </a:solidFill>
              <a:latin typeface="Arial" panose="020B0604020202020204" pitchFamily="34" charset="0"/>
              <a:ea typeface="楷体_GB2312" pitchFamily="49" charset="-122"/>
              <a:cs typeface="Arial" panose="020B0604020202020204" pitchFamily="34" charset="0"/>
            </a:endParaRPr>
          </a:p>
          <a:p>
            <a:pPr algn="l"/>
            <a:r>
              <a:rPr lang="zh-CN" altLang="en-US" b="1">
                <a:solidFill>
                  <a:srgbClr val="0000FF"/>
                </a:solidFill>
                <a:latin typeface="Arial" panose="020B0604020202020204" pitchFamily="34" charset="0"/>
                <a:ea typeface="楷体_GB2312" pitchFamily="49" charset="-122"/>
                <a:cs typeface="Arial" panose="020B0604020202020204" pitchFamily="34" charset="0"/>
              </a:rPr>
              <a:t> </a:t>
            </a:r>
            <a:endParaRPr lang="zh-CN" altLang="en-US" b="1">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94211" name="Rectangle 3"/>
          <p:cNvSpPr>
            <a:spLocks noChangeArrowheads="1"/>
          </p:cNvSpPr>
          <p:nvPr/>
        </p:nvSpPr>
        <p:spPr bwMode="auto">
          <a:xfrm>
            <a:off x="228600" y="1600200"/>
            <a:ext cx="86106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130000"/>
              </a:lnSpc>
              <a:spcBef>
                <a:spcPct val="30000"/>
              </a:spcBef>
              <a:spcAft>
                <a:spcPct val="20000"/>
              </a:spcAft>
              <a:buClr>
                <a:schemeClr val="hlink"/>
              </a:buClr>
              <a:buSzPct val="50000"/>
              <a:buFont typeface="Monotype Sorts" pitchFamily="2" charset="2"/>
              <a:buNone/>
            </a:pPr>
            <a:r>
              <a:rPr lang="en-US" altLang="zh-CN" b="1" dirty="0">
                <a:latin typeface="Arial" panose="020B0604020202020204" pitchFamily="34" charset="0"/>
                <a:ea typeface="楷体_GB2312" pitchFamily="49" charset="-122"/>
                <a:cs typeface="Arial" panose="020B0604020202020204" pitchFamily="34" charset="0"/>
              </a:rPr>
              <a:t>      The Orthogonal List is another linked storage structure for graphs.</a:t>
            </a:r>
            <a:r>
              <a:rPr lang="zh-CN" altLang="en-US" b="1" dirty="0">
                <a:solidFill>
                  <a:srgbClr val="A50021"/>
                </a:solidFill>
                <a:latin typeface="Arial" panose="020B0604020202020204" pitchFamily="34" charset="0"/>
                <a:ea typeface="楷体_GB2312" pitchFamily="49" charset="-122"/>
                <a:cs typeface="Arial" panose="020B0604020202020204" pitchFamily="34" charset="0"/>
              </a:rPr>
              <a:t> It can be regarded as a linked list formed by combining the </a:t>
            </a:r>
            <a:r>
              <a:rPr lang="zh-CN" altLang="en-US" b="1" dirty="0">
                <a:solidFill>
                  <a:srgbClr val="008000"/>
                </a:solidFill>
                <a:latin typeface="Arial" panose="020B0604020202020204" pitchFamily="34" charset="0"/>
                <a:ea typeface="楷体_GB2312" pitchFamily="49" charset="-122"/>
                <a:cs typeface="Arial" panose="020B0604020202020204" pitchFamily="34" charset="0"/>
              </a:rPr>
              <a:t>adjacency list and the inverse adjacency list </a:t>
            </a:r>
            <a:r>
              <a:rPr lang="zh-CN" altLang="en-US" b="1" dirty="0">
                <a:solidFill>
                  <a:srgbClr val="A50021"/>
                </a:solidFill>
                <a:latin typeface="Arial" panose="020B0604020202020204" pitchFamily="34" charset="0"/>
                <a:ea typeface="楷体_GB2312" pitchFamily="49" charset="-122"/>
                <a:cs typeface="Arial" panose="020B0604020202020204" pitchFamily="34" charset="0"/>
              </a:rPr>
              <a:t>of a directed graph. </a:t>
            </a:r>
            <a:r>
              <a:rPr lang="en-US" altLang="zh-CN" b="1" dirty="0">
                <a:latin typeface="Arial" panose="020B0604020202020204" pitchFamily="34" charset="0"/>
                <a:ea typeface="楷体_GB2312" pitchFamily="49" charset="-122"/>
                <a:cs typeface="Arial" panose="020B0604020202020204" pitchFamily="34" charset="0"/>
              </a:rPr>
              <a:t>In the orthogonal list, there is a node corresponding to each vertex and each arc of the directed graph.</a:t>
            </a:r>
            <a:r>
              <a:rPr lang="zh-CN" altLang="en-US" b="1" dirty="0">
                <a:latin typeface="Arial" panose="020B0604020202020204" pitchFamily="34" charset="0"/>
                <a:ea typeface="楷体_GB2312" pitchFamily="49" charset="-122"/>
                <a:cs typeface="Arial" panose="020B0604020202020204" pitchFamily="34" charset="0"/>
              </a:rPr>
              <a:t>                          </a:t>
            </a:r>
            <a:endParaRPr lang="zh-CN" altLang="en-US" b="1" dirty="0">
              <a:latin typeface="Arial" panose="020B0604020202020204" pitchFamily="34" charset="0"/>
              <a:ea typeface="楷体_GB2312" pitchFamily="49" charset="-122"/>
              <a:cs typeface="Arial" panose="020B0604020202020204" pitchFamily="34" charset="0"/>
            </a:endParaRPr>
          </a:p>
          <a:p>
            <a:pPr marL="342900" indent="-342900">
              <a:lnSpc>
                <a:spcPct val="130000"/>
              </a:lnSpc>
              <a:spcBef>
                <a:spcPct val="30000"/>
              </a:spcBef>
              <a:spcAft>
                <a:spcPct val="20000"/>
              </a:spcAft>
              <a:buClr>
                <a:schemeClr val="hlink"/>
              </a:buClr>
              <a:buSzPct val="50000"/>
              <a:buFont typeface="Monotype Sorts" pitchFamily="2" charset="2"/>
              <a:buNone/>
            </a:pPr>
            <a:r>
              <a:rPr lang="zh-CN" altLang="en-US" b="1" dirty="0">
                <a:latin typeface="Arial" panose="020B0604020202020204" pitchFamily="34" charset="0"/>
                <a:ea typeface="楷体_GB2312" pitchFamily="49" charset="-122"/>
                <a:cs typeface="Arial" panose="020B0604020202020204" pitchFamily="34" charset="0"/>
              </a:rPr>
              <a:t>                </a:t>
            </a:r>
            <a:endParaRPr lang="zh-CN" altLang="en-US" b="1" dirty="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Effect transition="in" filter="slide(fromTop)">
                                      <p:cBhvr>
                                        <p:cTn id="7" dur="500"/>
                                        <p:tgtEl>
                                          <p:spTgt spid="942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4211"/>
                                        </p:tgtEl>
                                        <p:attrNameLst>
                                          <p:attrName>style.visibility</p:attrName>
                                        </p:attrNameLst>
                                      </p:cBhvr>
                                      <p:to>
                                        <p:strVal val="visible"/>
                                      </p:to>
                                    </p:set>
                                    <p:anim calcmode="lin" valueType="num">
                                      <p:cBhvr additive="base">
                                        <p:cTn id="12" dur="500" fill="hold"/>
                                        <p:tgtEl>
                                          <p:spTgt spid="94211"/>
                                        </p:tgtEl>
                                        <p:attrNameLst>
                                          <p:attrName>ppt_x</p:attrName>
                                        </p:attrNameLst>
                                      </p:cBhvr>
                                      <p:tavLst>
                                        <p:tav tm="0">
                                          <p:val>
                                            <p:strVal val="0-#ppt_w/2"/>
                                          </p:val>
                                        </p:tav>
                                        <p:tav tm="100000">
                                          <p:val>
                                            <p:strVal val="#ppt_x"/>
                                          </p:val>
                                        </p:tav>
                                      </p:tavLst>
                                    </p:anim>
                                    <p:anim calcmode="lin" valueType="num">
                                      <p:cBhvr additive="base">
                                        <p:cTn id="13" dur="500" fill="hold"/>
                                        <p:tgtEl>
                                          <p:spTgt spid="94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ldLvl="0" animBg="1" autoUpdateAnimBg="0"/>
      <p:bldP spid="94211"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51" name="Group 19"/>
          <p:cNvGrpSpPr/>
          <p:nvPr/>
        </p:nvGrpSpPr>
        <p:grpSpPr bwMode="auto">
          <a:xfrm>
            <a:off x="533400" y="1428750"/>
            <a:ext cx="7924800" cy="609600"/>
            <a:chOff x="336" y="900"/>
            <a:chExt cx="4992" cy="384"/>
          </a:xfrm>
        </p:grpSpPr>
        <p:sp>
          <p:nvSpPr>
            <p:cNvPr id="95246" name="Rectangle 14"/>
            <p:cNvSpPr>
              <a:spLocks noChangeArrowheads="1"/>
            </p:cNvSpPr>
            <p:nvPr/>
          </p:nvSpPr>
          <p:spPr bwMode="auto">
            <a:xfrm>
              <a:off x="336" y="912"/>
              <a:ext cx="4992" cy="251"/>
            </a:xfrm>
            <a:prstGeom prst="rect">
              <a:avLst/>
            </a:prstGeom>
            <a:solidFill>
              <a:schemeClr val="bg1"/>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A50021"/>
                  </a:solidFill>
                  <a:ea typeface="楷体_GB2312" pitchFamily="49" charset="-122"/>
                  <a:sym typeface="+mn-ea"/>
                </a:rPr>
                <a:t>Arc tail position </a:t>
              </a:r>
              <a:r>
                <a:rPr lang="en-US" altLang="zh-CN" sz="2000" b="1">
                  <a:solidFill>
                    <a:srgbClr val="A50021"/>
                  </a:solidFill>
                  <a:ea typeface="楷体_GB2312" pitchFamily="49" charset="-122"/>
                  <a:sym typeface="+mn-ea"/>
                </a:rPr>
                <a:t>        </a:t>
              </a:r>
              <a:r>
                <a:rPr lang="zh-CN" altLang="en-US" sz="2000" b="1">
                  <a:solidFill>
                    <a:srgbClr val="A50021"/>
                  </a:solidFill>
                  <a:ea typeface="楷体_GB2312" pitchFamily="49" charset="-122"/>
                  <a:sym typeface="+mn-ea"/>
                </a:rPr>
                <a:t>Arc </a:t>
              </a:r>
              <a:r>
                <a:rPr lang="en-US" altLang="zh-CN" sz="2000" b="1">
                  <a:solidFill>
                    <a:srgbClr val="A50021"/>
                  </a:solidFill>
                  <a:ea typeface="楷体_GB2312" pitchFamily="49" charset="-122"/>
                  <a:sym typeface="+mn-ea"/>
                </a:rPr>
                <a:t>head</a:t>
              </a:r>
              <a:r>
                <a:rPr lang="zh-CN" altLang="en-US" sz="2000" b="1">
                  <a:solidFill>
                    <a:srgbClr val="A50021"/>
                  </a:solidFill>
                  <a:ea typeface="楷体_GB2312" pitchFamily="49" charset="-122"/>
                  <a:sym typeface="+mn-ea"/>
                </a:rPr>
                <a:t> position </a:t>
              </a:r>
              <a:r>
                <a:rPr lang="en-US" altLang="zh-CN" sz="2000" b="1">
                  <a:solidFill>
                    <a:srgbClr val="A50021"/>
                  </a:solidFill>
                  <a:ea typeface="楷体_GB2312" pitchFamily="49" charset="-122"/>
                  <a:sym typeface="+mn-ea"/>
                </a:rPr>
                <a:t>                        </a:t>
              </a:r>
              <a:r>
                <a:rPr lang="zh-CN" altLang="en-US" sz="2000" b="1">
                  <a:solidFill>
                    <a:srgbClr val="A50021"/>
                  </a:solidFill>
                  <a:ea typeface="楷体_GB2312" pitchFamily="49" charset="-122"/>
                  <a:sym typeface="+mn-ea"/>
                </a:rPr>
                <a:t>Arc information</a:t>
              </a:r>
              <a:endParaRPr lang="zh-CN" altLang="en-US" sz="2000" b="1">
                <a:solidFill>
                  <a:srgbClr val="A50021"/>
                </a:solidFill>
                <a:ea typeface="楷体_GB2312" pitchFamily="49" charset="-122"/>
                <a:sym typeface="+mn-ea"/>
              </a:endParaRPr>
            </a:p>
          </p:txBody>
        </p:sp>
        <p:sp>
          <p:nvSpPr>
            <p:cNvPr id="95236" name="Line 4"/>
            <p:cNvSpPr>
              <a:spLocks noChangeShapeType="1"/>
            </p:cNvSpPr>
            <p:nvPr/>
          </p:nvSpPr>
          <p:spPr bwMode="auto">
            <a:xfrm>
              <a:off x="1776" y="924"/>
              <a:ext cx="0" cy="324"/>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7" name="Line 5"/>
            <p:cNvSpPr>
              <a:spLocks noChangeShapeType="1"/>
            </p:cNvSpPr>
            <p:nvPr/>
          </p:nvSpPr>
          <p:spPr bwMode="auto">
            <a:xfrm>
              <a:off x="3168" y="924"/>
              <a:ext cx="0" cy="324"/>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8" name="Line 6"/>
            <p:cNvSpPr>
              <a:spLocks noChangeShapeType="1"/>
            </p:cNvSpPr>
            <p:nvPr/>
          </p:nvSpPr>
          <p:spPr bwMode="auto">
            <a:xfrm>
              <a:off x="3792" y="900"/>
              <a:ext cx="0" cy="384"/>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39" name="Line 7"/>
            <p:cNvSpPr>
              <a:spLocks noChangeShapeType="1"/>
            </p:cNvSpPr>
            <p:nvPr/>
          </p:nvSpPr>
          <p:spPr bwMode="auto">
            <a:xfrm>
              <a:off x="3480" y="900"/>
              <a:ext cx="0" cy="384"/>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5244" name="Rectangle 12"/>
          <p:cNvSpPr>
            <a:spLocks noChangeArrowheads="1"/>
          </p:cNvSpPr>
          <p:nvPr/>
        </p:nvSpPr>
        <p:spPr bwMode="auto">
          <a:xfrm>
            <a:off x="533400" y="3598863"/>
            <a:ext cx="7543800" cy="278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1">
                <a:solidFill>
                  <a:srgbClr val="000099"/>
                </a:solidFill>
                <a:ea typeface="楷体_GB2312" pitchFamily="49" charset="-122"/>
              </a:rPr>
              <a:t>typedef struct</a:t>
            </a:r>
            <a:r>
              <a:rPr lang="en-US" altLang="zh-CN" sz="2400">
                <a:solidFill>
                  <a:srgbClr val="000099"/>
                </a:solidFill>
                <a:ea typeface="楷体_GB2312" pitchFamily="49" charset="-122"/>
              </a:rPr>
              <a:t> ArcBox </a:t>
            </a:r>
            <a:r>
              <a:rPr lang="en-US" altLang="zh-CN" sz="2400" b="1">
                <a:solidFill>
                  <a:srgbClr val="000099"/>
                </a:solidFill>
                <a:ea typeface="楷体_GB2312" pitchFamily="49" charset="-122"/>
              </a:rPr>
              <a:t>{       </a:t>
            </a:r>
            <a:endParaRPr lang="en-US" altLang="zh-CN" sz="2400" b="1">
              <a:solidFill>
                <a:srgbClr val="000099"/>
              </a:solidFill>
              <a:ea typeface="楷体_GB2312" pitchFamily="49" charset="-122"/>
            </a:endParaRPr>
          </a:p>
          <a:p>
            <a:pPr>
              <a:lnSpc>
                <a:spcPct val="125000"/>
              </a:lnSpc>
            </a:pPr>
            <a:r>
              <a:rPr lang="en-US" altLang="zh-CN" sz="2000" b="1">
                <a:solidFill>
                  <a:srgbClr val="006600"/>
                </a:solidFill>
                <a:ea typeface="楷体_GB2312" pitchFamily="49" charset="-122"/>
              </a:rPr>
              <a:t>// </a:t>
            </a:r>
            <a:r>
              <a:rPr lang="en-US" altLang="zh-CN" sz="2000" b="1">
                <a:solidFill>
                  <a:srgbClr val="006600"/>
                </a:solidFill>
                <a:ea typeface="楷体_GB2312" pitchFamily="49" charset="-122"/>
                <a:sym typeface="+mn-ea"/>
              </a:rPr>
              <a:t>Structure for arc representation</a:t>
            </a:r>
            <a:endParaRPr lang="zh-CN" altLang="en-US" sz="2000" b="1">
              <a:solidFill>
                <a:srgbClr val="006600"/>
              </a:solidFill>
              <a:ea typeface="楷体_GB2312" pitchFamily="49" charset="-122"/>
            </a:endParaRPr>
          </a:p>
          <a:p>
            <a:pPr>
              <a:lnSpc>
                <a:spcPct val="125000"/>
              </a:lnSpc>
            </a:pPr>
            <a:r>
              <a:rPr lang="zh-CN" altLang="en-US" sz="2400">
                <a:solidFill>
                  <a:srgbClr val="000099"/>
                </a:solidFill>
                <a:ea typeface="楷体_GB2312" pitchFamily="49" charset="-122"/>
              </a:rPr>
              <a:t>     </a:t>
            </a:r>
            <a:r>
              <a:rPr lang="en-US" altLang="zh-CN" sz="2400" b="1">
                <a:solidFill>
                  <a:srgbClr val="000099"/>
                </a:solidFill>
                <a:ea typeface="楷体_GB2312" pitchFamily="49" charset="-122"/>
              </a:rPr>
              <a:t>int</a:t>
            </a:r>
            <a:r>
              <a:rPr lang="en-US" altLang="zh-CN" sz="2400">
                <a:solidFill>
                  <a:srgbClr val="000099"/>
                </a:solidFill>
                <a:ea typeface="楷体_GB2312" pitchFamily="49" charset="-122"/>
              </a:rPr>
              <a:t> tailvex, headvex;  </a:t>
            </a:r>
            <a:endParaRPr lang="en-US" altLang="zh-CN" sz="2400">
              <a:solidFill>
                <a:srgbClr val="000099"/>
              </a:solidFill>
              <a:ea typeface="楷体_GB2312" pitchFamily="49" charset="-122"/>
            </a:endParaRPr>
          </a:p>
          <a:p>
            <a:pPr>
              <a:lnSpc>
                <a:spcPct val="125000"/>
              </a:lnSpc>
            </a:pPr>
            <a:r>
              <a:rPr lang="en-US" altLang="zh-CN" sz="2400">
                <a:solidFill>
                  <a:srgbClr val="000099"/>
                </a:solidFill>
                <a:ea typeface="楷体_GB2312" pitchFamily="49" charset="-122"/>
              </a:rPr>
              <a:t>     InfoType  *info;</a:t>
            </a:r>
            <a:endParaRPr lang="en-US" altLang="zh-CN" sz="2400">
              <a:solidFill>
                <a:srgbClr val="000099"/>
              </a:solidFill>
              <a:ea typeface="楷体_GB2312" pitchFamily="49" charset="-122"/>
            </a:endParaRPr>
          </a:p>
          <a:p>
            <a:pPr>
              <a:lnSpc>
                <a:spcPct val="125000"/>
              </a:lnSpc>
            </a:pPr>
            <a:r>
              <a:rPr lang="en-US" altLang="zh-CN" sz="2400">
                <a:solidFill>
                  <a:srgbClr val="000099"/>
                </a:solidFill>
                <a:ea typeface="楷体_GB2312" pitchFamily="49" charset="-122"/>
              </a:rPr>
              <a:t>     struct ArcBox </a:t>
            </a:r>
            <a:r>
              <a:rPr lang="en-US" altLang="zh-CN" sz="2400" b="1">
                <a:solidFill>
                  <a:srgbClr val="000099"/>
                </a:solidFill>
                <a:ea typeface="楷体_GB2312" pitchFamily="49" charset="-122"/>
              </a:rPr>
              <a:t>*</a:t>
            </a:r>
            <a:r>
              <a:rPr lang="en-US" altLang="zh-CN" sz="2400">
                <a:solidFill>
                  <a:srgbClr val="000099"/>
                </a:solidFill>
                <a:ea typeface="楷体_GB2312" pitchFamily="49" charset="-122"/>
              </a:rPr>
              <a:t>tlink,</a:t>
            </a:r>
            <a:r>
              <a:rPr lang="en-US" altLang="zh-CN" sz="2400" b="1">
                <a:solidFill>
                  <a:srgbClr val="000099"/>
                </a:solidFill>
                <a:ea typeface="楷体_GB2312" pitchFamily="49" charset="-122"/>
              </a:rPr>
              <a:t> *</a:t>
            </a:r>
            <a:r>
              <a:rPr lang="en-US" altLang="zh-CN" sz="2400">
                <a:solidFill>
                  <a:srgbClr val="000099"/>
                </a:solidFill>
                <a:ea typeface="楷体_GB2312" pitchFamily="49" charset="-122"/>
              </a:rPr>
              <a:t>hlink;   </a:t>
            </a:r>
            <a:endParaRPr lang="en-US" altLang="zh-CN" sz="2400">
              <a:solidFill>
                <a:srgbClr val="000099"/>
              </a:solidFill>
              <a:ea typeface="楷体_GB2312" pitchFamily="49" charset="-122"/>
            </a:endParaRPr>
          </a:p>
          <a:p>
            <a:pPr>
              <a:lnSpc>
                <a:spcPct val="125000"/>
              </a:lnSpc>
            </a:pPr>
            <a:r>
              <a:rPr lang="en-US" altLang="zh-CN" sz="2400" b="1">
                <a:solidFill>
                  <a:srgbClr val="000099"/>
                </a:solidFill>
                <a:ea typeface="楷体_GB2312" pitchFamily="49" charset="-122"/>
              </a:rPr>
              <a:t>}</a:t>
            </a:r>
            <a:r>
              <a:rPr lang="en-US" altLang="zh-CN" sz="2400">
                <a:solidFill>
                  <a:srgbClr val="000099"/>
                </a:solidFill>
                <a:ea typeface="楷体_GB2312" pitchFamily="49" charset="-122"/>
              </a:rPr>
              <a:t> ArcBox;</a:t>
            </a:r>
            <a:endParaRPr lang="en-US" altLang="zh-CN" sz="2400">
              <a:solidFill>
                <a:srgbClr val="000099"/>
              </a:solidFill>
              <a:ea typeface="楷体_GB2312" pitchFamily="49" charset="-122"/>
            </a:endParaRPr>
          </a:p>
        </p:txBody>
      </p:sp>
      <p:sp>
        <p:nvSpPr>
          <p:cNvPr id="95245" name="Comment 13"/>
          <p:cNvSpPr>
            <a:spLocks noChangeArrowheads="1"/>
          </p:cNvSpPr>
          <p:nvPr/>
        </p:nvSpPr>
        <p:spPr bwMode="auto">
          <a:xfrm>
            <a:off x="457200" y="609600"/>
            <a:ext cx="6553200" cy="64516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a:spcBef>
                <a:spcPct val="50000"/>
              </a:spcBef>
            </a:pPr>
            <a:r>
              <a:rPr lang="zh-CN" altLang="en-US" sz="3600" b="1">
                <a:solidFill>
                  <a:srgbClr val="800000"/>
                </a:solidFill>
                <a:ea typeface="楷体_GB2312" pitchFamily="49" charset="-122"/>
                <a:sym typeface="+mn-ea"/>
              </a:rPr>
              <a:t>Arc node structure (arc node)</a:t>
            </a:r>
            <a:endParaRPr lang="en-US" altLang="zh-CN" sz="3600" b="1">
              <a:solidFill>
                <a:srgbClr val="800000"/>
              </a:solidFill>
              <a:ea typeface="楷体_GB2312" pitchFamily="49" charset="-122"/>
            </a:endParaRPr>
          </a:p>
        </p:txBody>
      </p:sp>
      <p:sp>
        <p:nvSpPr>
          <p:cNvPr id="95247" name="Line 15"/>
          <p:cNvSpPr>
            <a:spLocks noChangeShapeType="1"/>
          </p:cNvSpPr>
          <p:nvPr>
            <p:custDataLst>
              <p:tags r:id="rId1"/>
            </p:custDataLst>
          </p:nvPr>
        </p:nvSpPr>
        <p:spPr bwMode="auto">
          <a:xfrm>
            <a:off x="5276850" y="1771650"/>
            <a:ext cx="0" cy="685800"/>
          </a:xfrm>
          <a:prstGeom prst="line">
            <a:avLst/>
          </a:prstGeom>
          <a:noFill/>
          <a:ln w="31750" cap="sq">
            <a:solidFill>
              <a:schemeClr val="tx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8" name="Line 16"/>
          <p:cNvSpPr>
            <a:spLocks noChangeShapeType="1"/>
          </p:cNvSpPr>
          <p:nvPr>
            <p:custDataLst>
              <p:tags r:id="rId2"/>
            </p:custDataLst>
          </p:nvPr>
        </p:nvSpPr>
        <p:spPr bwMode="auto">
          <a:xfrm>
            <a:off x="5886450" y="1771650"/>
            <a:ext cx="0" cy="685800"/>
          </a:xfrm>
          <a:prstGeom prst="line">
            <a:avLst/>
          </a:prstGeom>
          <a:noFill/>
          <a:ln w="31750" cap="sq">
            <a:solidFill>
              <a:schemeClr val="tx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249" name="Comment 17"/>
          <p:cNvSpPr>
            <a:spLocks noChangeArrowheads="1"/>
          </p:cNvSpPr>
          <p:nvPr>
            <p:custDataLst>
              <p:tags r:id="rId3"/>
            </p:custDataLst>
          </p:nvPr>
        </p:nvSpPr>
        <p:spPr bwMode="auto">
          <a:xfrm>
            <a:off x="2743200" y="2503488"/>
            <a:ext cx="2743200" cy="1014730"/>
          </a:xfrm>
          <a:prstGeom prst="rect">
            <a:avLst/>
          </a:prstGeom>
          <a:solidFill>
            <a:srgbClr val="CCFFFF"/>
          </a:solidFill>
          <a:ln w="12700" cap="sq">
            <a:solidFill>
              <a:schemeClr val="tx1"/>
            </a:solidFill>
            <a:miter lim="800000"/>
            <a:headEnd type="none" w="sm" len="sm"/>
            <a:tailEnd type="none" w="sm" len="sm"/>
          </a:ln>
          <a:effectLst>
            <a:outerShdw dist="107763" dir="2700000" algn="ctr" rotWithShape="0">
              <a:schemeClr val="bg2"/>
            </a:outerShdw>
          </a:effectLst>
        </p:spPr>
        <p:txBody>
          <a:bodyPr>
            <a:spAutoFit/>
          </a:bodyPr>
          <a:lstStyle/>
          <a:p>
            <a:r>
              <a:rPr lang="zh-CN" altLang="en-US" sz="2000">
                <a:solidFill>
                  <a:schemeClr val="tx2"/>
                </a:solidFill>
                <a:ea typeface="楷体_GB2312" pitchFamily="49" charset="-122"/>
                <a:sym typeface="+mn-ea"/>
              </a:rPr>
              <a:t>Navigate to the next node with the same arc tail</a:t>
            </a:r>
            <a:endParaRPr lang="zh-CN" altLang="en-US" sz="2000">
              <a:solidFill>
                <a:schemeClr val="tx2"/>
              </a:solidFill>
              <a:latin typeface="Arial" panose="020B0604020202020204" pitchFamily="34" charset="0"/>
              <a:ea typeface="楷体_GB2312" pitchFamily="49" charset="-122"/>
              <a:sym typeface="+mn-ea"/>
            </a:endParaRPr>
          </a:p>
        </p:txBody>
      </p:sp>
      <p:sp>
        <p:nvSpPr>
          <p:cNvPr id="95250" name="Comment 18"/>
          <p:cNvSpPr>
            <a:spLocks noChangeArrowheads="1"/>
          </p:cNvSpPr>
          <p:nvPr>
            <p:custDataLst>
              <p:tags r:id="rId4"/>
            </p:custDataLst>
          </p:nvPr>
        </p:nvSpPr>
        <p:spPr bwMode="auto">
          <a:xfrm>
            <a:off x="5715000" y="2503488"/>
            <a:ext cx="2743200" cy="1014730"/>
          </a:xfrm>
          <a:prstGeom prst="rect">
            <a:avLst/>
          </a:prstGeom>
          <a:solidFill>
            <a:srgbClr val="CCFFFF"/>
          </a:solidFill>
          <a:ln w="12700" cap="sq">
            <a:solidFill>
              <a:schemeClr val="tx1"/>
            </a:solidFill>
            <a:miter lim="800000"/>
            <a:headEnd type="none" w="sm" len="sm"/>
            <a:tailEnd type="none" w="sm" len="sm"/>
          </a:ln>
          <a:effectLst>
            <a:outerShdw dist="107763" dir="2700000" algn="ctr" rotWithShape="0">
              <a:schemeClr val="bg2"/>
            </a:outerShdw>
          </a:effectLst>
        </p:spPr>
        <p:txBody>
          <a:bodyPr>
            <a:spAutoFit/>
          </a:bodyPr>
          <a:lstStyle/>
          <a:p>
            <a:r>
              <a:rPr lang="zh-CN" altLang="en-US" sz="2000">
                <a:solidFill>
                  <a:schemeClr val="tx2"/>
                </a:solidFill>
                <a:ea typeface="楷体_GB2312" pitchFamily="49" charset="-122"/>
                <a:sym typeface="+mn-ea"/>
              </a:rPr>
              <a:t>Navigate to the next node with the same arc head</a:t>
            </a:r>
            <a:endParaRPr lang="zh-CN" altLang="en-US" sz="2000">
              <a:solidFill>
                <a:schemeClr val="tx2"/>
              </a:solidFill>
              <a:latin typeface="Arial" panose="020B0604020202020204" pitchFamily="34" charset="0"/>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95251"/>
                                        </p:tgtEl>
                                        <p:attrNameLst>
                                          <p:attrName>style.visibility</p:attrName>
                                        </p:attrNameLst>
                                      </p:cBhvr>
                                      <p:to>
                                        <p:strVal val="visible"/>
                                      </p:to>
                                    </p:set>
                                    <p:animEffect transition="in" filter="slide(fromLeft)">
                                      <p:cBhvr>
                                        <p:cTn id="7" dur="500"/>
                                        <p:tgtEl>
                                          <p:spTgt spid="952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5247"/>
                                        </p:tgtEl>
                                        <p:attrNameLst>
                                          <p:attrName>style.visibility</p:attrName>
                                        </p:attrNameLst>
                                      </p:cBhvr>
                                      <p:to>
                                        <p:strVal val="visible"/>
                                      </p:to>
                                    </p:set>
                                    <p:animEffect transition="in" filter="wipe(up)">
                                      <p:cBhvr>
                                        <p:cTn id="12" dur="500"/>
                                        <p:tgtEl>
                                          <p:spTgt spid="9524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5249"/>
                                        </p:tgtEl>
                                        <p:attrNameLst>
                                          <p:attrName>style.visibility</p:attrName>
                                        </p:attrNameLst>
                                      </p:cBhvr>
                                      <p:to>
                                        <p:strVal val="visible"/>
                                      </p:to>
                                    </p:set>
                                    <p:animEffect transition="in" filter="wipe(up)">
                                      <p:cBhvr>
                                        <p:cTn id="16" dur="500"/>
                                        <p:tgtEl>
                                          <p:spTgt spid="9524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5248"/>
                                        </p:tgtEl>
                                        <p:attrNameLst>
                                          <p:attrName>style.visibility</p:attrName>
                                        </p:attrNameLst>
                                      </p:cBhvr>
                                      <p:to>
                                        <p:strVal val="visible"/>
                                      </p:to>
                                    </p:set>
                                    <p:animEffect transition="in" filter="wipe(up)">
                                      <p:cBhvr>
                                        <p:cTn id="21" dur="500"/>
                                        <p:tgtEl>
                                          <p:spTgt spid="95248"/>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95250"/>
                                        </p:tgtEl>
                                        <p:attrNameLst>
                                          <p:attrName>style.visibility</p:attrName>
                                        </p:attrNameLst>
                                      </p:cBhvr>
                                      <p:to>
                                        <p:strVal val="visible"/>
                                      </p:to>
                                    </p:set>
                                    <p:animEffect transition="in" filter="wipe(up)">
                                      <p:cBhvr>
                                        <p:cTn id="25" dur="500"/>
                                        <p:tgtEl>
                                          <p:spTgt spid="95250"/>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5244"/>
                                        </p:tgtEl>
                                        <p:attrNameLst>
                                          <p:attrName>style.visibility</p:attrName>
                                        </p:attrNameLst>
                                      </p:cBhvr>
                                      <p:to>
                                        <p:strVal val="visible"/>
                                      </p:to>
                                    </p:set>
                                    <p:anim calcmode="lin" valueType="num">
                                      <p:cBhvr additive="base">
                                        <p:cTn id="30" dur="500" fill="hold"/>
                                        <p:tgtEl>
                                          <p:spTgt spid="95244"/>
                                        </p:tgtEl>
                                        <p:attrNameLst>
                                          <p:attrName>ppt_x</p:attrName>
                                        </p:attrNameLst>
                                      </p:cBhvr>
                                      <p:tavLst>
                                        <p:tav tm="0">
                                          <p:val>
                                            <p:strVal val="#ppt_x"/>
                                          </p:val>
                                        </p:tav>
                                        <p:tav tm="100000">
                                          <p:val>
                                            <p:strVal val="#ppt_x"/>
                                          </p:val>
                                        </p:tav>
                                      </p:tavLst>
                                    </p:anim>
                                    <p:anim calcmode="lin" valueType="num">
                                      <p:cBhvr additive="base">
                                        <p:cTn id="31" dur="500" fill="hold"/>
                                        <p:tgtEl>
                                          <p:spTgt spid="952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4" grpId="0" bldLvl="0" animBg="1" autoUpdateAnimBg="0"/>
      <p:bldP spid="95247" grpId="0" animBg="1"/>
      <p:bldP spid="95248" grpId="0" animBg="1"/>
      <p:bldP spid="95249" grpId="0" bldLvl="0" animBg="1" autoUpdateAnimBg="0"/>
      <p:bldP spid="95250" grpId="0" bldLvl="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Comment 2"/>
          <p:cNvSpPr>
            <a:spLocks noChangeArrowheads="1"/>
          </p:cNvSpPr>
          <p:nvPr/>
        </p:nvSpPr>
        <p:spPr bwMode="auto">
          <a:xfrm>
            <a:off x="179705" y="109220"/>
            <a:ext cx="6629400" cy="1198880"/>
          </a:xfrm>
          <a:prstGeom prst="rect">
            <a:avLst/>
          </a:prstGeom>
          <a:noFill/>
          <a:ln>
            <a:noFill/>
          </a:ln>
          <a:effectLst/>
          <a:extLst>
            <a:ext uri="{909E8E84-426E-40DD-AFC4-6F175D3DCCD1}">
              <a14:hiddenFill xmlns:a14="http://schemas.microsoft.com/office/drawing/2010/main">
                <a:solidFill>
                  <a:srgbClr val="FCFDC6"/>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a:spAutoFit/>
          </a:bodyPr>
          <a:lstStyle/>
          <a:p>
            <a:pPr>
              <a:spcBef>
                <a:spcPct val="50000"/>
              </a:spcBef>
            </a:pPr>
            <a:r>
              <a:rPr lang="zh-CN" altLang="en-US" sz="3600" b="1">
                <a:solidFill>
                  <a:srgbClr val="800000"/>
                </a:solidFill>
                <a:latin typeface="Arial" panose="020B0604020202020204" pitchFamily="34" charset="0"/>
                <a:ea typeface="楷体_GB2312" pitchFamily="49" charset="-122"/>
                <a:cs typeface="Arial" panose="020B0604020202020204" pitchFamily="34" charset="0"/>
                <a:sym typeface="+mn-ea"/>
              </a:rPr>
              <a:t>Vertex node structure (vertex node)</a:t>
            </a:r>
            <a:endParaRPr lang="zh-CN" altLang="en-US" sz="3600" b="1">
              <a:solidFill>
                <a:srgbClr val="800000"/>
              </a:solidFill>
              <a:latin typeface="Arial" panose="020B0604020202020204" pitchFamily="34" charset="0"/>
              <a:ea typeface="楷体_GB2312" pitchFamily="49" charset="-122"/>
              <a:cs typeface="Arial" panose="020B0604020202020204" pitchFamily="34" charset="0"/>
              <a:sym typeface="+mn-ea"/>
            </a:endParaRPr>
          </a:p>
        </p:txBody>
      </p:sp>
      <p:sp>
        <p:nvSpPr>
          <p:cNvPr id="96259" name="Rectangle 3"/>
          <p:cNvSpPr>
            <a:spLocks noChangeArrowheads="1"/>
          </p:cNvSpPr>
          <p:nvPr/>
        </p:nvSpPr>
        <p:spPr bwMode="auto">
          <a:xfrm>
            <a:off x="838200" y="1308100"/>
            <a:ext cx="6019800" cy="554990"/>
          </a:xfrm>
          <a:prstGeom prst="rect">
            <a:avLst/>
          </a:prstGeom>
          <a:solidFill>
            <a:schemeClr val="bg1"/>
          </a:solidFill>
          <a:ln w="3175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r>
              <a:rPr lang="zh-CN" altLang="en-US" sz="1800" b="1">
                <a:ea typeface="楷体_GB2312" pitchFamily="49" charset="-122"/>
                <a:sym typeface="+mn-ea"/>
              </a:rPr>
              <a:t>Vertex information data</a:t>
            </a:r>
            <a:endParaRPr lang="zh-CN" altLang="en-US" sz="1800" b="1">
              <a:ea typeface="楷体_GB2312" pitchFamily="49" charset="-122"/>
              <a:sym typeface="+mn-ea"/>
            </a:endParaRPr>
          </a:p>
        </p:txBody>
      </p:sp>
      <p:sp>
        <p:nvSpPr>
          <p:cNvPr id="96260" name="Line 4"/>
          <p:cNvSpPr>
            <a:spLocks noChangeShapeType="1"/>
          </p:cNvSpPr>
          <p:nvPr/>
        </p:nvSpPr>
        <p:spPr bwMode="auto">
          <a:xfrm>
            <a:off x="3498850" y="1327150"/>
            <a:ext cx="6350" cy="50165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1" name="Line 5"/>
          <p:cNvSpPr>
            <a:spLocks noChangeShapeType="1"/>
          </p:cNvSpPr>
          <p:nvPr/>
        </p:nvSpPr>
        <p:spPr bwMode="auto">
          <a:xfrm>
            <a:off x="5181600" y="1327150"/>
            <a:ext cx="0" cy="50165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2" name="Line 6"/>
          <p:cNvSpPr>
            <a:spLocks noChangeShapeType="1"/>
          </p:cNvSpPr>
          <p:nvPr>
            <p:custDataLst>
              <p:tags r:id="rId1"/>
            </p:custDataLst>
          </p:nvPr>
        </p:nvSpPr>
        <p:spPr bwMode="auto">
          <a:xfrm>
            <a:off x="4343400" y="1612900"/>
            <a:ext cx="0" cy="685800"/>
          </a:xfrm>
          <a:prstGeom prst="line">
            <a:avLst/>
          </a:prstGeom>
          <a:noFill/>
          <a:ln w="31750" cap="sq">
            <a:solidFill>
              <a:schemeClr val="tx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3" name="Line 7"/>
          <p:cNvSpPr>
            <a:spLocks noChangeShapeType="1"/>
          </p:cNvSpPr>
          <p:nvPr>
            <p:custDataLst>
              <p:tags r:id="rId2"/>
            </p:custDataLst>
          </p:nvPr>
        </p:nvSpPr>
        <p:spPr bwMode="auto">
          <a:xfrm>
            <a:off x="6019800" y="1631950"/>
            <a:ext cx="0" cy="685800"/>
          </a:xfrm>
          <a:prstGeom prst="line">
            <a:avLst/>
          </a:prstGeom>
          <a:noFill/>
          <a:ln w="31750" cap="sq">
            <a:solidFill>
              <a:schemeClr val="tx2"/>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264" name="Comment 8"/>
          <p:cNvSpPr>
            <a:spLocks noChangeArrowheads="1"/>
          </p:cNvSpPr>
          <p:nvPr>
            <p:custDataLst>
              <p:tags r:id="rId3"/>
            </p:custDataLst>
          </p:nvPr>
        </p:nvSpPr>
        <p:spPr bwMode="auto">
          <a:xfrm>
            <a:off x="2667000" y="2324100"/>
            <a:ext cx="2362200" cy="706755"/>
          </a:xfrm>
          <a:prstGeom prst="rect">
            <a:avLst/>
          </a:prstGeom>
          <a:solidFill>
            <a:srgbClr val="CCFFFF"/>
          </a:solidFill>
          <a:ln w="12700" cap="sq">
            <a:solidFill>
              <a:schemeClr val="tx1"/>
            </a:solidFill>
            <a:miter lim="800000"/>
            <a:headEnd type="none" w="sm" len="sm"/>
            <a:tailEnd type="none" w="sm" len="sm"/>
          </a:ln>
          <a:effectLst>
            <a:outerShdw dist="107763" dir="2700000" algn="ctr" rotWithShape="0">
              <a:schemeClr val="bg2"/>
            </a:outerShdw>
          </a:effectLst>
        </p:spPr>
        <p:txBody>
          <a:bodyPr>
            <a:spAutoFit/>
          </a:bodyPr>
          <a:lstStyle/>
          <a:p>
            <a:r>
              <a:rPr lang="zh-CN" altLang="en-US" sz="2000">
                <a:solidFill>
                  <a:schemeClr val="tx2"/>
                </a:solidFill>
                <a:ea typeface="楷体_GB2312" pitchFamily="49" charset="-122"/>
                <a:sym typeface="+mn-ea"/>
              </a:rPr>
              <a:t>The first incoming arc to this vertex</a:t>
            </a:r>
            <a:endParaRPr lang="zh-CN" altLang="en-US" sz="2000" b="1">
              <a:solidFill>
                <a:schemeClr val="tx2"/>
              </a:solidFill>
              <a:ea typeface="楷体_GB2312" pitchFamily="49" charset="-122"/>
              <a:sym typeface="+mn-ea"/>
            </a:endParaRPr>
          </a:p>
        </p:txBody>
      </p:sp>
      <p:sp>
        <p:nvSpPr>
          <p:cNvPr id="96265" name="Comment 9"/>
          <p:cNvSpPr>
            <a:spLocks noChangeArrowheads="1"/>
          </p:cNvSpPr>
          <p:nvPr>
            <p:custDataLst>
              <p:tags r:id="rId4"/>
            </p:custDataLst>
          </p:nvPr>
        </p:nvSpPr>
        <p:spPr bwMode="auto">
          <a:xfrm>
            <a:off x="5334000" y="2324100"/>
            <a:ext cx="2362200" cy="706755"/>
          </a:xfrm>
          <a:prstGeom prst="rect">
            <a:avLst/>
          </a:prstGeom>
          <a:solidFill>
            <a:srgbClr val="CCFFFF"/>
          </a:solidFill>
          <a:ln w="12700" cap="sq">
            <a:solidFill>
              <a:schemeClr val="tx1"/>
            </a:solidFill>
            <a:miter lim="800000"/>
            <a:headEnd type="none" w="sm" len="sm"/>
            <a:tailEnd type="none" w="sm" len="sm"/>
          </a:ln>
          <a:effectLst>
            <a:outerShdw dist="107763" dir="2700000" algn="ctr" rotWithShape="0">
              <a:schemeClr val="bg2"/>
            </a:outerShdw>
          </a:effectLst>
        </p:spPr>
        <p:txBody>
          <a:bodyPr>
            <a:spAutoFit/>
          </a:bodyPr>
          <a:lstStyle/>
          <a:p>
            <a:r>
              <a:rPr lang="zh-CN" altLang="en-US" sz="2000">
                <a:solidFill>
                  <a:schemeClr val="tx2"/>
                </a:solidFill>
                <a:ea typeface="楷体_GB2312" pitchFamily="49" charset="-122"/>
                <a:sym typeface="+mn-ea"/>
              </a:rPr>
              <a:t>The first outgoing arc to this vertex</a:t>
            </a:r>
            <a:endParaRPr lang="zh-CN" altLang="en-US" sz="2000" b="1">
              <a:solidFill>
                <a:schemeClr val="tx2"/>
              </a:solidFill>
              <a:ea typeface="楷体_GB2312" pitchFamily="49" charset="-122"/>
              <a:sym typeface="+mn-ea"/>
            </a:endParaRPr>
          </a:p>
        </p:txBody>
      </p:sp>
      <p:sp>
        <p:nvSpPr>
          <p:cNvPr id="96266" name="Rectangle 10"/>
          <p:cNvSpPr>
            <a:spLocks noChangeArrowheads="1"/>
          </p:cNvSpPr>
          <p:nvPr/>
        </p:nvSpPr>
        <p:spPr bwMode="auto">
          <a:xfrm>
            <a:off x="649288" y="3352800"/>
            <a:ext cx="5974080" cy="3399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3600" b="1">
                <a:solidFill>
                  <a:srgbClr val="000099"/>
                </a:solidFill>
                <a:ea typeface="楷体_GB2312" pitchFamily="49" charset="-122"/>
              </a:rPr>
              <a:t>typedef struct</a:t>
            </a:r>
            <a:r>
              <a:rPr lang="en-US" altLang="zh-CN" sz="3600">
                <a:solidFill>
                  <a:srgbClr val="000099"/>
                </a:solidFill>
                <a:ea typeface="楷体_GB2312" pitchFamily="49" charset="-122"/>
              </a:rPr>
              <a:t> VexNode </a:t>
            </a:r>
            <a:r>
              <a:rPr lang="en-US" altLang="zh-CN" sz="3600" b="1">
                <a:solidFill>
                  <a:srgbClr val="000099"/>
                </a:solidFill>
                <a:ea typeface="楷体_GB2312" pitchFamily="49" charset="-122"/>
              </a:rPr>
              <a:t>{ </a:t>
            </a:r>
            <a:endParaRPr lang="en-US" altLang="zh-CN" sz="3600" b="1">
              <a:solidFill>
                <a:srgbClr val="000099"/>
              </a:solidFill>
              <a:ea typeface="楷体_GB2312" pitchFamily="49" charset="-122"/>
            </a:endParaRPr>
          </a:p>
          <a:p>
            <a:pPr algn="l">
              <a:lnSpc>
                <a:spcPct val="125000"/>
              </a:lnSpc>
            </a:pPr>
            <a:r>
              <a:rPr lang="en-US" altLang="zh-CN" sz="2800" b="1">
                <a:solidFill>
                  <a:srgbClr val="006600"/>
                </a:solidFill>
                <a:ea typeface="楷体_GB2312" pitchFamily="49" charset="-122"/>
              </a:rPr>
              <a:t>// </a:t>
            </a:r>
            <a:r>
              <a:rPr lang="en-US" altLang="zh-CN" b="1">
                <a:solidFill>
                  <a:srgbClr val="006600"/>
                </a:solidFill>
                <a:ea typeface="楷体_GB2312" pitchFamily="49" charset="-122"/>
                <a:sym typeface="+mn-ea"/>
              </a:rPr>
              <a:t>Structure for vertex representation</a:t>
            </a:r>
            <a:endParaRPr lang="zh-CN" altLang="en-US" sz="2800" b="1">
              <a:solidFill>
                <a:srgbClr val="006600"/>
              </a:solidFill>
              <a:ea typeface="楷体_GB2312" pitchFamily="49" charset="-122"/>
            </a:endParaRPr>
          </a:p>
          <a:p>
            <a:pPr algn="l">
              <a:lnSpc>
                <a:spcPct val="125000"/>
              </a:lnSpc>
            </a:pPr>
            <a:r>
              <a:rPr lang="zh-CN" altLang="en-US" sz="3600">
                <a:solidFill>
                  <a:srgbClr val="000099"/>
                </a:solidFill>
                <a:ea typeface="楷体_GB2312" pitchFamily="49" charset="-122"/>
              </a:rPr>
              <a:t>     </a:t>
            </a:r>
            <a:r>
              <a:rPr lang="en-US" altLang="zh-CN" sz="3600">
                <a:solidFill>
                  <a:srgbClr val="000099"/>
                </a:solidFill>
                <a:ea typeface="楷体_GB2312" pitchFamily="49" charset="-122"/>
              </a:rPr>
              <a:t>VertexType  data;</a:t>
            </a:r>
            <a:endParaRPr lang="en-US" altLang="zh-CN" sz="3600">
              <a:solidFill>
                <a:srgbClr val="000099"/>
              </a:solidFill>
              <a:ea typeface="楷体_GB2312" pitchFamily="49" charset="-122"/>
            </a:endParaRPr>
          </a:p>
          <a:p>
            <a:pPr algn="l">
              <a:lnSpc>
                <a:spcPct val="125000"/>
              </a:lnSpc>
            </a:pPr>
            <a:r>
              <a:rPr lang="en-US" altLang="zh-CN" sz="3600">
                <a:solidFill>
                  <a:srgbClr val="000099"/>
                </a:solidFill>
                <a:ea typeface="楷体_GB2312" pitchFamily="49" charset="-122"/>
              </a:rPr>
              <a:t>     ArcBox  </a:t>
            </a:r>
            <a:r>
              <a:rPr lang="en-US" altLang="zh-CN" sz="3600" b="1">
                <a:solidFill>
                  <a:srgbClr val="000099"/>
                </a:solidFill>
                <a:ea typeface="楷体_GB2312" pitchFamily="49" charset="-122"/>
              </a:rPr>
              <a:t>*</a:t>
            </a:r>
            <a:r>
              <a:rPr lang="en-US" altLang="zh-CN" sz="3600">
                <a:solidFill>
                  <a:srgbClr val="000099"/>
                </a:solidFill>
                <a:ea typeface="楷体_GB2312" pitchFamily="49" charset="-122"/>
              </a:rPr>
              <a:t>firstin,</a:t>
            </a:r>
            <a:r>
              <a:rPr lang="en-US" altLang="zh-CN" sz="3600" b="1">
                <a:solidFill>
                  <a:srgbClr val="000099"/>
                </a:solidFill>
                <a:ea typeface="楷体_GB2312" pitchFamily="49" charset="-122"/>
              </a:rPr>
              <a:t> *</a:t>
            </a:r>
            <a:r>
              <a:rPr lang="en-US" altLang="zh-CN" sz="3600">
                <a:solidFill>
                  <a:srgbClr val="000099"/>
                </a:solidFill>
                <a:ea typeface="楷体_GB2312" pitchFamily="49" charset="-122"/>
              </a:rPr>
              <a:t>firstout;   </a:t>
            </a:r>
            <a:endParaRPr lang="en-US" altLang="zh-CN" sz="3600">
              <a:solidFill>
                <a:srgbClr val="000099"/>
              </a:solidFill>
              <a:ea typeface="楷体_GB2312" pitchFamily="49" charset="-122"/>
            </a:endParaRPr>
          </a:p>
          <a:p>
            <a:pPr algn="l">
              <a:lnSpc>
                <a:spcPct val="125000"/>
              </a:lnSpc>
            </a:pPr>
            <a:r>
              <a:rPr lang="en-US" altLang="zh-CN" sz="3600" b="1">
                <a:solidFill>
                  <a:srgbClr val="000099"/>
                </a:solidFill>
                <a:ea typeface="楷体_GB2312" pitchFamily="49" charset="-122"/>
              </a:rPr>
              <a:t>}</a:t>
            </a:r>
            <a:r>
              <a:rPr lang="en-US" altLang="zh-CN" sz="3600">
                <a:solidFill>
                  <a:srgbClr val="000099"/>
                </a:solidFill>
                <a:ea typeface="楷体_GB2312" pitchFamily="49" charset="-122"/>
              </a:rPr>
              <a:t> VexNode;</a:t>
            </a:r>
            <a:endParaRPr lang="en-US" altLang="zh-CN" sz="3600">
              <a:solidFill>
                <a:srgbClr val="000099"/>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6262"/>
                                        </p:tgtEl>
                                        <p:attrNameLst>
                                          <p:attrName>style.visibility</p:attrName>
                                        </p:attrNameLst>
                                      </p:cBhvr>
                                      <p:to>
                                        <p:strVal val="visible"/>
                                      </p:to>
                                    </p:set>
                                    <p:animEffect transition="in" filter="wipe(up)">
                                      <p:cBhvr>
                                        <p:cTn id="7" dur="500"/>
                                        <p:tgtEl>
                                          <p:spTgt spid="9626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6264"/>
                                        </p:tgtEl>
                                        <p:attrNameLst>
                                          <p:attrName>style.visibility</p:attrName>
                                        </p:attrNameLst>
                                      </p:cBhvr>
                                      <p:to>
                                        <p:strVal val="visible"/>
                                      </p:to>
                                    </p:set>
                                    <p:animEffect transition="in" filter="wipe(up)">
                                      <p:cBhvr>
                                        <p:cTn id="11" dur="500"/>
                                        <p:tgtEl>
                                          <p:spTgt spid="9626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6263"/>
                                        </p:tgtEl>
                                        <p:attrNameLst>
                                          <p:attrName>style.visibility</p:attrName>
                                        </p:attrNameLst>
                                      </p:cBhvr>
                                      <p:to>
                                        <p:strVal val="visible"/>
                                      </p:to>
                                    </p:set>
                                    <p:animEffect transition="in" filter="wipe(up)">
                                      <p:cBhvr>
                                        <p:cTn id="16" dur="500"/>
                                        <p:tgtEl>
                                          <p:spTgt spid="96263"/>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96265"/>
                                        </p:tgtEl>
                                        <p:attrNameLst>
                                          <p:attrName>style.visibility</p:attrName>
                                        </p:attrNameLst>
                                      </p:cBhvr>
                                      <p:to>
                                        <p:strVal val="visible"/>
                                      </p:to>
                                    </p:set>
                                    <p:animEffect transition="in" filter="wipe(up)">
                                      <p:cBhvr>
                                        <p:cTn id="20" dur="500"/>
                                        <p:tgtEl>
                                          <p:spTgt spid="96265"/>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6266"/>
                                        </p:tgtEl>
                                        <p:attrNameLst>
                                          <p:attrName>style.visibility</p:attrName>
                                        </p:attrNameLst>
                                      </p:cBhvr>
                                      <p:to>
                                        <p:strVal val="visible"/>
                                      </p:to>
                                    </p:set>
                                    <p:anim calcmode="lin" valueType="num">
                                      <p:cBhvr additive="base">
                                        <p:cTn id="25" dur="500" fill="hold"/>
                                        <p:tgtEl>
                                          <p:spTgt spid="96266"/>
                                        </p:tgtEl>
                                        <p:attrNameLst>
                                          <p:attrName>ppt_x</p:attrName>
                                        </p:attrNameLst>
                                      </p:cBhvr>
                                      <p:tavLst>
                                        <p:tav tm="0">
                                          <p:val>
                                            <p:strVal val="#ppt_x"/>
                                          </p:val>
                                        </p:tav>
                                        <p:tav tm="100000">
                                          <p:val>
                                            <p:strVal val="#ppt_x"/>
                                          </p:val>
                                        </p:tav>
                                      </p:tavLst>
                                    </p:anim>
                                    <p:anim calcmode="lin" valueType="num">
                                      <p:cBhvr additive="base">
                                        <p:cTn id="26" dur="500" fill="hold"/>
                                        <p:tgtEl>
                                          <p:spTgt spid="962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animBg="1"/>
      <p:bldP spid="96263" grpId="0" animBg="1"/>
      <p:bldP spid="96264" grpId="0" bldLvl="0" animBg="1" autoUpdateAnimBg="0"/>
      <p:bldP spid="96265" grpId="0" bldLvl="0" animBg="1" autoUpdateAnimBg="0"/>
      <p:bldP spid="96266"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533400" y="1752600"/>
            <a:ext cx="8305800" cy="408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en-US" altLang="zh-CN" sz="3600" b="1" dirty="0" err="1">
                <a:solidFill>
                  <a:srgbClr val="000099"/>
                </a:solidFill>
                <a:ea typeface="楷体_GB2312" pitchFamily="49" charset="-122"/>
              </a:rPr>
              <a:t>typedef</a:t>
            </a:r>
            <a:r>
              <a:rPr lang="en-US" altLang="zh-CN" sz="3600" b="1" dirty="0">
                <a:solidFill>
                  <a:srgbClr val="000099"/>
                </a:solidFill>
                <a:ea typeface="楷体_GB2312" pitchFamily="49" charset="-122"/>
              </a:rPr>
              <a:t> </a:t>
            </a:r>
            <a:r>
              <a:rPr lang="en-US" altLang="zh-CN" sz="3600" b="1" dirty="0" err="1">
                <a:solidFill>
                  <a:srgbClr val="000099"/>
                </a:solidFill>
                <a:ea typeface="楷体_GB2312" pitchFamily="49" charset="-122"/>
              </a:rPr>
              <a:t>struct</a:t>
            </a:r>
            <a:r>
              <a:rPr lang="en-US" altLang="zh-CN" sz="3600" b="1" dirty="0">
                <a:solidFill>
                  <a:srgbClr val="000099"/>
                </a:solidFill>
                <a:ea typeface="楷体_GB2312" pitchFamily="49" charset="-122"/>
              </a:rPr>
              <a:t> { </a:t>
            </a:r>
            <a:endParaRPr lang="en-US" altLang="zh-CN" sz="3600" b="1" dirty="0">
              <a:solidFill>
                <a:srgbClr val="000099"/>
              </a:solidFill>
              <a:ea typeface="楷体_GB2312" pitchFamily="49" charset="-122"/>
            </a:endParaRPr>
          </a:p>
          <a:p>
            <a:pPr>
              <a:spcBef>
                <a:spcPct val="30000"/>
              </a:spcBef>
            </a:pPr>
            <a:r>
              <a:rPr lang="en-US" altLang="zh-CN" sz="3600" dirty="0">
                <a:solidFill>
                  <a:srgbClr val="000099"/>
                </a:solidFill>
                <a:ea typeface="楷体_GB2312" pitchFamily="49" charset="-122"/>
              </a:rPr>
              <a:t>   </a:t>
            </a:r>
            <a:r>
              <a:rPr lang="en-US" altLang="zh-CN" sz="3600" dirty="0" err="1">
                <a:solidFill>
                  <a:srgbClr val="000099"/>
                </a:solidFill>
                <a:ea typeface="楷体_GB2312" pitchFamily="49" charset="-122"/>
              </a:rPr>
              <a:t>VexNode</a:t>
            </a:r>
            <a:r>
              <a:rPr lang="en-US" altLang="zh-CN" sz="3600" dirty="0">
                <a:solidFill>
                  <a:srgbClr val="000099"/>
                </a:solidFill>
                <a:ea typeface="楷体_GB2312" pitchFamily="49" charset="-122"/>
              </a:rPr>
              <a:t>  </a:t>
            </a:r>
            <a:r>
              <a:rPr lang="en-US" altLang="zh-CN" sz="3600" dirty="0" err="1">
                <a:solidFill>
                  <a:srgbClr val="000099"/>
                </a:solidFill>
                <a:ea typeface="楷体_GB2312" pitchFamily="49" charset="-122"/>
              </a:rPr>
              <a:t>xlist</a:t>
            </a:r>
            <a:r>
              <a:rPr lang="en-US" altLang="zh-CN" sz="3600" dirty="0">
                <a:solidFill>
                  <a:srgbClr val="000099"/>
                </a:solidFill>
                <a:ea typeface="楷体_GB2312" pitchFamily="49" charset="-122"/>
              </a:rPr>
              <a:t>[MAX_VERTEX_NUM]; </a:t>
            </a:r>
            <a:endParaRPr lang="en-US" altLang="zh-CN" sz="3600" dirty="0">
              <a:solidFill>
                <a:srgbClr val="000099"/>
              </a:solidFill>
              <a:ea typeface="楷体_GB2312" pitchFamily="49" charset="-122"/>
            </a:endParaRPr>
          </a:p>
          <a:p>
            <a:pPr>
              <a:spcBef>
                <a:spcPct val="30000"/>
              </a:spcBef>
            </a:pPr>
            <a:r>
              <a:rPr lang="en-US" altLang="zh-CN" sz="3600" dirty="0">
                <a:solidFill>
                  <a:srgbClr val="000099"/>
                </a:solidFill>
                <a:ea typeface="楷体_GB2312" pitchFamily="49" charset="-122"/>
              </a:rPr>
              <a:t> </a:t>
            </a:r>
            <a:r>
              <a:rPr lang="en-US" altLang="zh-CN" sz="2800" b="1" dirty="0">
                <a:solidFill>
                  <a:srgbClr val="006600"/>
                </a:solidFill>
                <a:ea typeface="楷体_GB2312" pitchFamily="49" charset="-122"/>
              </a:rPr>
              <a:t>// </a:t>
            </a:r>
            <a:r>
              <a:rPr lang="en-US" altLang="zh-CN" sz="2800" b="1" dirty="0">
                <a:solidFill>
                  <a:srgbClr val="006600"/>
                </a:solidFill>
                <a:ea typeface="楷体_GB2312" pitchFamily="49" charset="-122"/>
              </a:rPr>
              <a:t>Vertex nodes (head vector)</a:t>
            </a:r>
            <a:endParaRPr lang="en-US" altLang="zh-CN" sz="3600" dirty="0">
              <a:solidFill>
                <a:srgbClr val="000099"/>
              </a:solidFill>
              <a:ea typeface="楷体_GB2312" pitchFamily="49" charset="-122"/>
            </a:endParaRPr>
          </a:p>
          <a:p>
            <a:pPr>
              <a:spcBef>
                <a:spcPct val="30000"/>
              </a:spcBef>
            </a:pPr>
            <a:r>
              <a:rPr lang="en-US" altLang="zh-CN" sz="3600" dirty="0">
                <a:solidFill>
                  <a:srgbClr val="000099"/>
                </a:solidFill>
                <a:ea typeface="楷体_GB2312" pitchFamily="49" charset="-122"/>
              </a:rPr>
              <a:t>  </a:t>
            </a:r>
            <a:r>
              <a:rPr lang="en-US" altLang="zh-CN" sz="3600" b="1" dirty="0">
                <a:solidFill>
                  <a:srgbClr val="000099"/>
                </a:solidFill>
                <a:ea typeface="楷体_GB2312" pitchFamily="49" charset="-122"/>
              </a:rPr>
              <a:t> </a:t>
            </a:r>
            <a:r>
              <a:rPr lang="en-US" altLang="zh-CN" sz="3600" b="1" dirty="0" err="1">
                <a:solidFill>
                  <a:srgbClr val="000099"/>
                </a:solidFill>
                <a:ea typeface="楷体_GB2312" pitchFamily="49" charset="-122"/>
              </a:rPr>
              <a:t>int</a:t>
            </a:r>
            <a:r>
              <a:rPr lang="en-US" altLang="zh-CN" sz="3600" dirty="0">
                <a:solidFill>
                  <a:srgbClr val="000099"/>
                </a:solidFill>
                <a:ea typeface="楷体_GB2312" pitchFamily="49" charset="-122"/>
              </a:rPr>
              <a:t>   </a:t>
            </a:r>
            <a:r>
              <a:rPr lang="en-US" altLang="zh-CN" sz="3600" dirty="0" err="1">
                <a:solidFill>
                  <a:srgbClr val="000099"/>
                </a:solidFill>
                <a:ea typeface="楷体_GB2312" pitchFamily="49" charset="-122"/>
              </a:rPr>
              <a:t>vexnum</a:t>
            </a:r>
            <a:r>
              <a:rPr lang="en-US" altLang="zh-CN" sz="3600" dirty="0">
                <a:solidFill>
                  <a:srgbClr val="000099"/>
                </a:solidFill>
                <a:ea typeface="楷体_GB2312" pitchFamily="49" charset="-122"/>
              </a:rPr>
              <a:t>, </a:t>
            </a:r>
            <a:r>
              <a:rPr lang="en-US" altLang="zh-CN" sz="3600" dirty="0" err="1">
                <a:solidFill>
                  <a:srgbClr val="000099"/>
                </a:solidFill>
                <a:ea typeface="楷体_GB2312" pitchFamily="49" charset="-122"/>
              </a:rPr>
              <a:t>arcnum</a:t>
            </a:r>
            <a:r>
              <a:rPr lang="en-US" altLang="zh-CN" sz="3600" dirty="0">
                <a:solidFill>
                  <a:srgbClr val="000099"/>
                </a:solidFill>
                <a:ea typeface="楷体_GB2312" pitchFamily="49" charset="-122"/>
              </a:rPr>
              <a:t>;</a:t>
            </a:r>
            <a:endParaRPr lang="en-US" altLang="zh-CN" sz="3600" dirty="0">
              <a:solidFill>
                <a:srgbClr val="000099"/>
              </a:solidFill>
              <a:ea typeface="楷体_GB2312" pitchFamily="49" charset="-122"/>
            </a:endParaRPr>
          </a:p>
          <a:p>
            <a:pPr>
              <a:spcBef>
                <a:spcPct val="30000"/>
              </a:spcBef>
            </a:pPr>
            <a:r>
              <a:rPr lang="en-US" altLang="zh-CN" sz="2800" b="1" dirty="0">
                <a:solidFill>
                  <a:srgbClr val="006600"/>
                </a:solidFill>
                <a:ea typeface="楷体_GB2312" pitchFamily="49" charset="-122"/>
              </a:rPr>
              <a:t>//</a:t>
            </a:r>
            <a:r>
              <a:rPr lang="en-US" altLang="zh-CN" sz="2400" b="1" dirty="0">
                <a:solidFill>
                  <a:srgbClr val="006600"/>
                </a:solidFill>
                <a:ea typeface="楷体_GB2312" pitchFamily="49" charset="-122"/>
              </a:rPr>
              <a:t> Current number of vertices and arcs in the directed graph</a:t>
            </a:r>
            <a:endParaRPr lang="en-US" altLang="zh-CN" sz="2800" b="1" dirty="0">
              <a:solidFill>
                <a:srgbClr val="006600"/>
              </a:solidFill>
              <a:ea typeface="楷体_GB2312" pitchFamily="49" charset="-122"/>
            </a:endParaRPr>
          </a:p>
          <a:p>
            <a:pPr>
              <a:spcBef>
                <a:spcPct val="30000"/>
              </a:spcBef>
            </a:pPr>
            <a:r>
              <a:rPr lang="en-US" altLang="zh-CN" sz="3600" b="1" dirty="0">
                <a:solidFill>
                  <a:srgbClr val="000099"/>
                </a:solidFill>
                <a:ea typeface="楷体_GB2312" pitchFamily="49" charset="-122"/>
              </a:rPr>
              <a:t>}</a:t>
            </a:r>
            <a:r>
              <a:rPr lang="en-US" altLang="zh-CN" sz="3600" dirty="0">
                <a:solidFill>
                  <a:srgbClr val="000099"/>
                </a:solidFill>
                <a:ea typeface="楷体_GB2312" pitchFamily="49" charset="-122"/>
              </a:rPr>
              <a:t> </a:t>
            </a:r>
            <a:r>
              <a:rPr lang="en-US" altLang="zh-CN" sz="3600" b="1" dirty="0" err="1">
                <a:solidFill>
                  <a:srgbClr val="000099"/>
                </a:solidFill>
                <a:ea typeface="楷体_GB2312" pitchFamily="49" charset="-122"/>
              </a:rPr>
              <a:t>OLGraph</a:t>
            </a:r>
            <a:r>
              <a:rPr lang="en-US" altLang="zh-CN" sz="3600" b="1" dirty="0">
                <a:solidFill>
                  <a:srgbClr val="000099"/>
                </a:solidFill>
                <a:ea typeface="楷体_GB2312" pitchFamily="49" charset="-122"/>
              </a:rPr>
              <a:t>;</a:t>
            </a:r>
            <a:endParaRPr lang="en-US" altLang="zh-CN" sz="3600" b="1" dirty="0">
              <a:solidFill>
                <a:srgbClr val="000099"/>
              </a:solidFill>
              <a:ea typeface="楷体_GB2312" pitchFamily="49" charset="-122"/>
            </a:endParaRPr>
          </a:p>
        </p:txBody>
      </p:sp>
      <p:sp>
        <p:nvSpPr>
          <p:cNvPr id="97283" name="Rectangle 3"/>
          <p:cNvSpPr>
            <a:spLocks noChangeArrowheads="1"/>
          </p:cNvSpPr>
          <p:nvPr/>
        </p:nvSpPr>
        <p:spPr bwMode="auto">
          <a:xfrm>
            <a:off x="35560" y="116205"/>
            <a:ext cx="7514590" cy="1391920"/>
          </a:xfrm>
          <a:prstGeom prst="rect">
            <a:avLst/>
          </a:prstGeom>
          <a:solidFill>
            <a:srgbClr val="FFCC99">
              <a:alpha val="50000"/>
            </a:srgbClr>
          </a:solidFill>
          <a:ln w="12700" cap="sq">
            <a:solidFill>
              <a:srgbClr val="FFCC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lgn="l">
              <a:spcBef>
                <a:spcPct val="40000"/>
              </a:spcBef>
            </a:pPr>
            <a:r>
              <a:rPr lang="en-US" altLang="zh-CN" sz="3200" b="1">
                <a:solidFill>
                  <a:srgbClr val="663300"/>
                </a:solidFill>
                <a:latin typeface="Arial" panose="020B0604020202020204" pitchFamily="34" charset="0"/>
                <a:ea typeface="楷体_GB2312" pitchFamily="49" charset="-122"/>
                <a:cs typeface="Arial" panose="020B0604020202020204" pitchFamily="34" charset="0"/>
              </a:rPr>
              <a:t>Structure Representation of </a:t>
            </a:r>
            <a:endParaRPr lang="en-US" altLang="zh-CN" sz="3200" b="1">
              <a:solidFill>
                <a:srgbClr val="663300"/>
              </a:solidFill>
              <a:latin typeface="Arial" panose="020B0604020202020204" pitchFamily="34" charset="0"/>
              <a:ea typeface="楷体_GB2312" pitchFamily="49" charset="-122"/>
              <a:cs typeface="Arial" panose="020B0604020202020204" pitchFamily="34" charset="0"/>
            </a:endParaRPr>
          </a:p>
          <a:p>
            <a:pPr algn="l">
              <a:spcBef>
                <a:spcPct val="40000"/>
              </a:spcBef>
            </a:pPr>
            <a:r>
              <a:rPr lang="en-US" altLang="zh-CN" sz="3200" b="1">
                <a:solidFill>
                  <a:srgbClr val="663300"/>
                </a:solidFill>
                <a:latin typeface="Arial" panose="020B0604020202020204" pitchFamily="34" charset="0"/>
                <a:ea typeface="楷体_GB2312" pitchFamily="49" charset="-122"/>
                <a:cs typeface="Arial" panose="020B0604020202020204" pitchFamily="34" charset="0"/>
              </a:rPr>
              <a:t>Directed Graph (Orthogonal List)</a:t>
            </a:r>
            <a:endParaRPr lang="en-US" altLang="zh-CN" sz="3200" b="1">
              <a:solidFill>
                <a:srgbClr val="663300"/>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7283"/>
                                        </p:tgtEl>
                                        <p:attrNameLst>
                                          <p:attrName>style.visibility</p:attrName>
                                        </p:attrNameLst>
                                      </p:cBhvr>
                                      <p:to>
                                        <p:strVal val="visible"/>
                                      </p:to>
                                    </p:set>
                                    <p:anim calcmode="lin" valueType="num">
                                      <p:cBhvr additive="base">
                                        <p:cTn id="7" dur="500" fill="hold"/>
                                        <p:tgtEl>
                                          <p:spTgt spid="97283"/>
                                        </p:tgtEl>
                                        <p:attrNameLst>
                                          <p:attrName>ppt_x</p:attrName>
                                        </p:attrNameLst>
                                      </p:cBhvr>
                                      <p:tavLst>
                                        <p:tav tm="0">
                                          <p:val>
                                            <p:strVal val="#ppt_x"/>
                                          </p:val>
                                        </p:tav>
                                        <p:tav tm="100000">
                                          <p:val>
                                            <p:strVal val="#ppt_x"/>
                                          </p:val>
                                        </p:tav>
                                      </p:tavLst>
                                    </p:anim>
                                    <p:anim calcmode="lin" valueType="num">
                                      <p:cBhvr additive="base">
                                        <p:cTn id="8" dur="500" fill="hold"/>
                                        <p:tgtEl>
                                          <p:spTgt spid="9728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97282"/>
                                        </p:tgtEl>
                                        <p:attrNameLst>
                                          <p:attrName>style.visibility</p:attrName>
                                        </p:attrNameLst>
                                      </p:cBhvr>
                                      <p:to>
                                        <p:strVal val="visible"/>
                                      </p:to>
                                    </p:set>
                                    <p:animEffect transition="in" filter="barn(outVertical)">
                                      <p:cBhvr>
                                        <p:cTn id="13" dur="500"/>
                                        <p:tgtEl>
                                          <p:spTgt spid="97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ldLvl="0" animBg="1" autoUpdateAnimBg="0"/>
      <p:bldP spid="97283" grpId="0" bldLvl="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2"/>
          <p:cNvGrpSpPr/>
          <p:nvPr/>
        </p:nvGrpSpPr>
        <p:grpSpPr bwMode="auto">
          <a:xfrm>
            <a:off x="3200400" y="609600"/>
            <a:ext cx="1981200" cy="1905000"/>
            <a:chOff x="1872" y="624"/>
            <a:chExt cx="768" cy="816"/>
          </a:xfrm>
        </p:grpSpPr>
        <p:sp>
          <p:nvSpPr>
            <p:cNvPr id="98307" name="Oval 3"/>
            <p:cNvSpPr>
              <a:spLocks noChangeArrowheads="1"/>
            </p:cNvSpPr>
            <p:nvPr/>
          </p:nvSpPr>
          <p:spPr bwMode="auto">
            <a:xfrm>
              <a:off x="1920" y="62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V1</a:t>
              </a:r>
              <a:endParaRPr lang="en-US" altLang="zh-CN" sz="2000" b="1"/>
            </a:p>
          </p:txBody>
        </p:sp>
        <p:sp>
          <p:nvSpPr>
            <p:cNvPr id="98308" name="Oval 4"/>
            <p:cNvSpPr>
              <a:spLocks noChangeArrowheads="1"/>
            </p:cNvSpPr>
            <p:nvPr/>
          </p:nvSpPr>
          <p:spPr bwMode="auto">
            <a:xfrm>
              <a:off x="2448" y="62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V2</a:t>
              </a:r>
              <a:endParaRPr lang="en-US" altLang="zh-CN" sz="2000" b="1"/>
            </a:p>
          </p:txBody>
        </p:sp>
        <p:sp>
          <p:nvSpPr>
            <p:cNvPr id="98309" name="Oval 5"/>
            <p:cNvSpPr>
              <a:spLocks noChangeArrowheads="1"/>
            </p:cNvSpPr>
            <p:nvPr/>
          </p:nvSpPr>
          <p:spPr bwMode="auto">
            <a:xfrm>
              <a:off x="1920" y="1152"/>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V3</a:t>
              </a:r>
              <a:endParaRPr lang="en-US" altLang="zh-CN" sz="2000" b="1"/>
            </a:p>
          </p:txBody>
        </p:sp>
        <p:sp>
          <p:nvSpPr>
            <p:cNvPr id="98310" name="Oval 6"/>
            <p:cNvSpPr>
              <a:spLocks noChangeArrowheads="1"/>
            </p:cNvSpPr>
            <p:nvPr/>
          </p:nvSpPr>
          <p:spPr bwMode="auto">
            <a:xfrm>
              <a:off x="2448" y="1152"/>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V4</a:t>
              </a:r>
              <a:endParaRPr lang="en-US" altLang="zh-CN" sz="2000" b="1"/>
            </a:p>
          </p:txBody>
        </p:sp>
        <p:sp>
          <p:nvSpPr>
            <p:cNvPr id="98311" name="Line 7"/>
            <p:cNvSpPr>
              <a:spLocks noChangeShapeType="1"/>
            </p:cNvSpPr>
            <p:nvPr/>
          </p:nvSpPr>
          <p:spPr bwMode="auto">
            <a:xfrm>
              <a:off x="2112" y="720"/>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2" name="Line 8"/>
            <p:cNvSpPr>
              <a:spLocks noChangeShapeType="1"/>
            </p:cNvSpPr>
            <p:nvPr/>
          </p:nvSpPr>
          <p:spPr bwMode="auto">
            <a:xfrm flipV="1">
              <a:off x="2544" y="816"/>
              <a:ext cx="0" cy="336"/>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3" name="Line 9"/>
            <p:cNvSpPr>
              <a:spLocks noChangeShapeType="1"/>
            </p:cNvSpPr>
            <p:nvPr/>
          </p:nvSpPr>
          <p:spPr bwMode="auto">
            <a:xfrm flipH="1" flipV="1">
              <a:off x="2064" y="816"/>
              <a:ext cx="384" cy="384"/>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4" name="Line 10"/>
            <p:cNvSpPr>
              <a:spLocks noChangeShapeType="1"/>
            </p:cNvSpPr>
            <p:nvPr/>
          </p:nvSpPr>
          <p:spPr bwMode="auto">
            <a:xfrm>
              <a:off x="2112" y="1248"/>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5" name="Line 11"/>
            <p:cNvSpPr>
              <a:spLocks noChangeShapeType="1"/>
            </p:cNvSpPr>
            <p:nvPr/>
          </p:nvSpPr>
          <p:spPr bwMode="auto">
            <a:xfrm>
              <a:off x="2016" y="816"/>
              <a:ext cx="0" cy="336"/>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6" name="Freeform 12"/>
            <p:cNvSpPr/>
            <p:nvPr/>
          </p:nvSpPr>
          <p:spPr bwMode="auto">
            <a:xfrm>
              <a:off x="1872" y="768"/>
              <a:ext cx="48" cy="432"/>
            </a:xfrm>
            <a:custGeom>
              <a:avLst/>
              <a:gdLst>
                <a:gd name="T0" fmla="*/ 48 w 48"/>
                <a:gd name="T1" fmla="*/ 432 h 432"/>
                <a:gd name="T2" fmla="*/ 0 w 48"/>
                <a:gd name="T3" fmla="*/ 192 h 432"/>
                <a:gd name="T4" fmla="*/ 48 w 48"/>
                <a:gd name="T5" fmla="*/ 0 h 432"/>
              </a:gdLst>
              <a:ahLst/>
              <a:cxnLst>
                <a:cxn ang="0">
                  <a:pos x="T0" y="T1"/>
                </a:cxn>
                <a:cxn ang="0">
                  <a:pos x="T2" y="T3"/>
                </a:cxn>
                <a:cxn ang="0">
                  <a:pos x="T4" y="T5"/>
                </a:cxn>
              </a:cxnLst>
              <a:rect l="0" t="0" r="r" b="b"/>
              <a:pathLst>
                <a:path w="48" h="432">
                  <a:moveTo>
                    <a:pt x="48" y="432"/>
                  </a:moveTo>
                  <a:cubicBezTo>
                    <a:pt x="24" y="348"/>
                    <a:pt x="0" y="264"/>
                    <a:pt x="0" y="192"/>
                  </a:cubicBezTo>
                  <a:cubicBezTo>
                    <a:pt x="0" y="120"/>
                    <a:pt x="40" y="32"/>
                    <a:pt x="48" y="0"/>
                  </a:cubicBezTo>
                </a:path>
              </a:pathLst>
            </a:custGeom>
            <a:noFill/>
            <a:ln w="28575" cap="sq"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17" name="Freeform 13"/>
            <p:cNvSpPr/>
            <p:nvPr/>
          </p:nvSpPr>
          <p:spPr bwMode="auto">
            <a:xfrm>
              <a:off x="1968" y="1344"/>
              <a:ext cx="576" cy="96"/>
            </a:xfrm>
            <a:custGeom>
              <a:avLst/>
              <a:gdLst>
                <a:gd name="T0" fmla="*/ 576 w 576"/>
                <a:gd name="T1" fmla="*/ 0 h 96"/>
                <a:gd name="T2" fmla="*/ 336 w 576"/>
                <a:gd name="T3" fmla="*/ 96 h 96"/>
                <a:gd name="T4" fmla="*/ 0 w 576"/>
                <a:gd name="T5" fmla="*/ 0 h 96"/>
              </a:gdLst>
              <a:ahLst/>
              <a:cxnLst>
                <a:cxn ang="0">
                  <a:pos x="T0" y="T1"/>
                </a:cxn>
                <a:cxn ang="0">
                  <a:pos x="T2" y="T3"/>
                </a:cxn>
                <a:cxn ang="0">
                  <a:pos x="T4" y="T5"/>
                </a:cxn>
              </a:cxnLst>
              <a:rect l="0" t="0" r="r" b="b"/>
              <a:pathLst>
                <a:path w="576" h="96">
                  <a:moveTo>
                    <a:pt x="576" y="0"/>
                  </a:moveTo>
                  <a:cubicBezTo>
                    <a:pt x="504" y="48"/>
                    <a:pt x="432" y="96"/>
                    <a:pt x="336" y="96"/>
                  </a:cubicBezTo>
                  <a:cubicBezTo>
                    <a:pt x="240" y="96"/>
                    <a:pt x="56" y="16"/>
                    <a:pt x="0" y="0"/>
                  </a:cubicBezTo>
                </a:path>
              </a:pathLst>
            </a:custGeom>
            <a:noFill/>
            <a:ln w="28575" cap="sq"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98318" name="Rectangle 14"/>
          <p:cNvSpPr>
            <a:spLocks noChangeArrowheads="1"/>
          </p:cNvSpPr>
          <p:nvPr/>
        </p:nvSpPr>
        <p:spPr bwMode="auto">
          <a:xfrm>
            <a:off x="1828800" y="32766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19" name="Rectangle 15"/>
          <p:cNvSpPr>
            <a:spLocks noChangeArrowheads="1"/>
          </p:cNvSpPr>
          <p:nvPr/>
        </p:nvSpPr>
        <p:spPr bwMode="auto">
          <a:xfrm>
            <a:off x="2209800" y="32766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0" name="Rectangle 16"/>
          <p:cNvSpPr>
            <a:spLocks noChangeArrowheads="1"/>
          </p:cNvSpPr>
          <p:nvPr/>
        </p:nvSpPr>
        <p:spPr bwMode="auto">
          <a:xfrm>
            <a:off x="2590800" y="32766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1" name="Rectangle 17"/>
          <p:cNvSpPr>
            <a:spLocks noChangeArrowheads="1"/>
          </p:cNvSpPr>
          <p:nvPr/>
        </p:nvSpPr>
        <p:spPr bwMode="auto">
          <a:xfrm>
            <a:off x="1828800" y="3733800"/>
            <a:ext cx="1143000" cy="2286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2" name="Rectangle 18"/>
          <p:cNvSpPr>
            <a:spLocks noChangeArrowheads="1"/>
          </p:cNvSpPr>
          <p:nvPr/>
        </p:nvSpPr>
        <p:spPr bwMode="auto">
          <a:xfrm>
            <a:off x="1828800" y="32766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V1</a:t>
            </a:r>
            <a:endParaRPr lang="en-US" altLang="zh-CN" b="1"/>
          </a:p>
        </p:txBody>
      </p:sp>
      <p:sp>
        <p:nvSpPr>
          <p:cNvPr id="98323" name="Rectangle 19"/>
          <p:cNvSpPr>
            <a:spLocks noChangeArrowheads="1"/>
          </p:cNvSpPr>
          <p:nvPr/>
        </p:nvSpPr>
        <p:spPr bwMode="auto">
          <a:xfrm>
            <a:off x="2209800" y="39624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4" name="Rectangle 20"/>
          <p:cNvSpPr>
            <a:spLocks noChangeArrowheads="1"/>
          </p:cNvSpPr>
          <p:nvPr/>
        </p:nvSpPr>
        <p:spPr bwMode="auto">
          <a:xfrm>
            <a:off x="2590800" y="39624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25" name="Rectangle 21"/>
          <p:cNvSpPr>
            <a:spLocks noChangeArrowheads="1"/>
          </p:cNvSpPr>
          <p:nvPr/>
        </p:nvSpPr>
        <p:spPr bwMode="auto">
          <a:xfrm>
            <a:off x="1828800" y="4419600"/>
            <a:ext cx="1143000" cy="2286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6" name="Rectangle 22"/>
          <p:cNvSpPr>
            <a:spLocks noChangeArrowheads="1"/>
          </p:cNvSpPr>
          <p:nvPr/>
        </p:nvSpPr>
        <p:spPr bwMode="auto">
          <a:xfrm>
            <a:off x="1828800" y="39624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V2</a:t>
            </a:r>
            <a:endParaRPr lang="en-US" altLang="zh-CN" b="1"/>
          </a:p>
        </p:txBody>
      </p:sp>
      <p:sp>
        <p:nvSpPr>
          <p:cNvPr id="98327" name="Rectangle 23"/>
          <p:cNvSpPr>
            <a:spLocks noChangeArrowheads="1"/>
          </p:cNvSpPr>
          <p:nvPr/>
        </p:nvSpPr>
        <p:spPr bwMode="auto">
          <a:xfrm>
            <a:off x="2209800" y="46482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8" name="Rectangle 24"/>
          <p:cNvSpPr>
            <a:spLocks noChangeArrowheads="1"/>
          </p:cNvSpPr>
          <p:nvPr/>
        </p:nvSpPr>
        <p:spPr bwMode="auto">
          <a:xfrm>
            <a:off x="2590800" y="46482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29" name="Rectangle 25"/>
          <p:cNvSpPr>
            <a:spLocks noChangeArrowheads="1"/>
          </p:cNvSpPr>
          <p:nvPr/>
        </p:nvSpPr>
        <p:spPr bwMode="auto">
          <a:xfrm>
            <a:off x="1828800" y="5105400"/>
            <a:ext cx="1143000" cy="2286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30" name="Rectangle 26"/>
          <p:cNvSpPr>
            <a:spLocks noChangeArrowheads="1"/>
          </p:cNvSpPr>
          <p:nvPr/>
        </p:nvSpPr>
        <p:spPr bwMode="auto">
          <a:xfrm>
            <a:off x="1828800" y="46482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V3</a:t>
            </a:r>
            <a:endParaRPr lang="en-US" altLang="zh-CN" b="1"/>
          </a:p>
        </p:txBody>
      </p:sp>
      <p:sp>
        <p:nvSpPr>
          <p:cNvPr id="98331" name="Rectangle 27"/>
          <p:cNvSpPr>
            <a:spLocks noChangeArrowheads="1"/>
          </p:cNvSpPr>
          <p:nvPr/>
        </p:nvSpPr>
        <p:spPr bwMode="auto">
          <a:xfrm>
            <a:off x="2209800" y="53340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32" name="Rectangle 28"/>
          <p:cNvSpPr>
            <a:spLocks noChangeArrowheads="1"/>
          </p:cNvSpPr>
          <p:nvPr/>
        </p:nvSpPr>
        <p:spPr bwMode="auto">
          <a:xfrm>
            <a:off x="2590800" y="53340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33" name="Rectangle 29"/>
          <p:cNvSpPr>
            <a:spLocks noChangeArrowheads="1"/>
          </p:cNvSpPr>
          <p:nvPr/>
        </p:nvSpPr>
        <p:spPr bwMode="auto">
          <a:xfrm>
            <a:off x="1828800" y="5334000"/>
            <a:ext cx="381000" cy="4572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V4</a:t>
            </a:r>
            <a:endParaRPr lang="en-US" altLang="zh-CN" b="1"/>
          </a:p>
        </p:txBody>
      </p:sp>
      <p:sp>
        <p:nvSpPr>
          <p:cNvPr id="98334" name="Rectangle 30"/>
          <p:cNvSpPr>
            <a:spLocks noChangeArrowheads="1"/>
          </p:cNvSpPr>
          <p:nvPr/>
        </p:nvSpPr>
        <p:spPr bwMode="auto">
          <a:xfrm>
            <a:off x="3368675" y="4656138"/>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98335" name="Rectangle 31"/>
          <p:cNvSpPr>
            <a:spLocks noChangeArrowheads="1"/>
          </p:cNvSpPr>
          <p:nvPr/>
        </p:nvSpPr>
        <p:spPr bwMode="auto">
          <a:xfrm>
            <a:off x="3657600" y="4648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98336" name="Rectangle 32"/>
          <p:cNvSpPr>
            <a:spLocks noChangeArrowheads="1"/>
          </p:cNvSpPr>
          <p:nvPr/>
        </p:nvSpPr>
        <p:spPr bwMode="auto">
          <a:xfrm>
            <a:off x="3962400" y="4648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37" name="Rectangle 33"/>
          <p:cNvSpPr>
            <a:spLocks noChangeArrowheads="1"/>
          </p:cNvSpPr>
          <p:nvPr/>
        </p:nvSpPr>
        <p:spPr bwMode="auto">
          <a:xfrm>
            <a:off x="4251325" y="46545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38" name="Rectangle 34"/>
          <p:cNvSpPr>
            <a:spLocks noChangeArrowheads="1"/>
          </p:cNvSpPr>
          <p:nvPr/>
        </p:nvSpPr>
        <p:spPr bwMode="auto">
          <a:xfrm>
            <a:off x="3368675" y="5418138"/>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98339" name="Rectangle 35"/>
          <p:cNvSpPr>
            <a:spLocks noChangeArrowheads="1"/>
          </p:cNvSpPr>
          <p:nvPr/>
        </p:nvSpPr>
        <p:spPr bwMode="auto">
          <a:xfrm>
            <a:off x="3657600"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a:t>
            </a:r>
            <a:endParaRPr lang="en-US" altLang="zh-CN" b="1"/>
          </a:p>
        </p:txBody>
      </p:sp>
      <p:sp>
        <p:nvSpPr>
          <p:cNvPr id="98340" name="Rectangle 36"/>
          <p:cNvSpPr>
            <a:spLocks noChangeArrowheads="1"/>
          </p:cNvSpPr>
          <p:nvPr/>
        </p:nvSpPr>
        <p:spPr bwMode="auto">
          <a:xfrm>
            <a:off x="3962400"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41" name="Rectangle 37"/>
          <p:cNvSpPr>
            <a:spLocks noChangeArrowheads="1"/>
          </p:cNvSpPr>
          <p:nvPr/>
        </p:nvSpPr>
        <p:spPr bwMode="auto">
          <a:xfrm>
            <a:off x="4251325" y="54165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42" name="Rectangle 38"/>
          <p:cNvSpPr>
            <a:spLocks noChangeArrowheads="1"/>
          </p:cNvSpPr>
          <p:nvPr/>
        </p:nvSpPr>
        <p:spPr bwMode="auto">
          <a:xfrm>
            <a:off x="4781550" y="5418138"/>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98343" name="Rectangle 39"/>
          <p:cNvSpPr>
            <a:spLocks noChangeArrowheads="1"/>
          </p:cNvSpPr>
          <p:nvPr/>
        </p:nvSpPr>
        <p:spPr bwMode="auto">
          <a:xfrm>
            <a:off x="5070475"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solidFill>
                  <a:srgbClr val="FF0000"/>
                </a:solidFill>
              </a:rPr>
              <a:t>1</a:t>
            </a:r>
            <a:endParaRPr lang="en-US" altLang="zh-CN" b="1">
              <a:solidFill>
                <a:srgbClr val="FF0000"/>
              </a:solidFill>
            </a:endParaRPr>
          </a:p>
        </p:txBody>
      </p:sp>
      <p:sp>
        <p:nvSpPr>
          <p:cNvPr id="98344" name="Rectangle 40"/>
          <p:cNvSpPr>
            <a:spLocks noChangeArrowheads="1"/>
          </p:cNvSpPr>
          <p:nvPr/>
        </p:nvSpPr>
        <p:spPr bwMode="auto">
          <a:xfrm>
            <a:off x="5375275"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45" name="Rectangle 41"/>
          <p:cNvSpPr>
            <a:spLocks noChangeArrowheads="1"/>
          </p:cNvSpPr>
          <p:nvPr/>
        </p:nvSpPr>
        <p:spPr bwMode="auto">
          <a:xfrm>
            <a:off x="5664200" y="54165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46" name="Rectangle 42"/>
          <p:cNvSpPr>
            <a:spLocks noChangeArrowheads="1"/>
          </p:cNvSpPr>
          <p:nvPr/>
        </p:nvSpPr>
        <p:spPr bwMode="auto">
          <a:xfrm>
            <a:off x="6194425" y="5418138"/>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98347" name="Rectangle 43"/>
          <p:cNvSpPr>
            <a:spLocks noChangeArrowheads="1"/>
          </p:cNvSpPr>
          <p:nvPr/>
        </p:nvSpPr>
        <p:spPr bwMode="auto">
          <a:xfrm>
            <a:off x="6483350"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98348" name="Rectangle 44"/>
          <p:cNvSpPr>
            <a:spLocks noChangeArrowheads="1"/>
          </p:cNvSpPr>
          <p:nvPr/>
        </p:nvSpPr>
        <p:spPr bwMode="auto">
          <a:xfrm>
            <a:off x="6788150" y="5410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49" name="Rectangle 45"/>
          <p:cNvSpPr>
            <a:spLocks noChangeArrowheads="1"/>
          </p:cNvSpPr>
          <p:nvPr/>
        </p:nvSpPr>
        <p:spPr bwMode="auto">
          <a:xfrm>
            <a:off x="7077075" y="54165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50" name="Rectangle 46"/>
          <p:cNvSpPr>
            <a:spLocks noChangeArrowheads="1"/>
          </p:cNvSpPr>
          <p:nvPr/>
        </p:nvSpPr>
        <p:spPr bwMode="auto">
          <a:xfrm>
            <a:off x="7604125" y="4656138"/>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98351" name="Rectangle 47"/>
          <p:cNvSpPr>
            <a:spLocks noChangeArrowheads="1"/>
          </p:cNvSpPr>
          <p:nvPr/>
        </p:nvSpPr>
        <p:spPr bwMode="auto">
          <a:xfrm>
            <a:off x="7893050" y="4648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98352" name="Rectangle 48"/>
          <p:cNvSpPr>
            <a:spLocks noChangeArrowheads="1"/>
          </p:cNvSpPr>
          <p:nvPr/>
        </p:nvSpPr>
        <p:spPr bwMode="auto">
          <a:xfrm>
            <a:off x="8197850" y="46482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53" name="Rectangle 49"/>
          <p:cNvSpPr>
            <a:spLocks noChangeArrowheads="1"/>
          </p:cNvSpPr>
          <p:nvPr/>
        </p:nvSpPr>
        <p:spPr bwMode="auto">
          <a:xfrm>
            <a:off x="8486775" y="46545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54" name="Rectangle 50"/>
          <p:cNvSpPr>
            <a:spLocks noChangeArrowheads="1"/>
          </p:cNvSpPr>
          <p:nvPr/>
        </p:nvSpPr>
        <p:spPr bwMode="auto">
          <a:xfrm>
            <a:off x="4784725" y="33464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solidFill>
                  <a:srgbClr val="003399"/>
                </a:solidFill>
              </a:rPr>
              <a:t>0</a:t>
            </a:r>
            <a:endParaRPr lang="en-US" altLang="zh-CN" b="1">
              <a:solidFill>
                <a:srgbClr val="003399"/>
              </a:solidFill>
            </a:endParaRPr>
          </a:p>
        </p:txBody>
      </p:sp>
      <p:sp>
        <p:nvSpPr>
          <p:cNvPr id="98355" name="Rectangle 51"/>
          <p:cNvSpPr>
            <a:spLocks noChangeArrowheads="1"/>
          </p:cNvSpPr>
          <p:nvPr/>
        </p:nvSpPr>
        <p:spPr bwMode="auto">
          <a:xfrm>
            <a:off x="5073650" y="33528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solidFill>
                  <a:srgbClr val="FF0000"/>
                </a:solidFill>
              </a:rPr>
              <a:t>1</a:t>
            </a:r>
            <a:endParaRPr lang="en-US" altLang="zh-CN" b="1">
              <a:solidFill>
                <a:srgbClr val="FF0000"/>
              </a:solidFill>
            </a:endParaRPr>
          </a:p>
        </p:txBody>
      </p:sp>
      <p:sp>
        <p:nvSpPr>
          <p:cNvPr id="98356" name="Rectangle 52"/>
          <p:cNvSpPr>
            <a:spLocks noChangeArrowheads="1"/>
          </p:cNvSpPr>
          <p:nvPr/>
        </p:nvSpPr>
        <p:spPr bwMode="auto">
          <a:xfrm>
            <a:off x="5378450" y="33528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57" name="Rectangle 53"/>
          <p:cNvSpPr>
            <a:spLocks noChangeArrowheads="1"/>
          </p:cNvSpPr>
          <p:nvPr/>
        </p:nvSpPr>
        <p:spPr bwMode="auto">
          <a:xfrm>
            <a:off x="5667375" y="3344863"/>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58" name="Rectangle 54"/>
          <p:cNvSpPr>
            <a:spLocks noChangeArrowheads="1"/>
          </p:cNvSpPr>
          <p:nvPr/>
        </p:nvSpPr>
        <p:spPr bwMode="auto">
          <a:xfrm>
            <a:off x="6200775" y="334645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solidFill>
                  <a:srgbClr val="003399"/>
                </a:solidFill>
              </a:rPr>
              <a:t>0</a:t>
            </a:r>
            <a:endParaRPr lang="en-US" altLang="zh-CN" b="1">
              <a:solidFill>
                <a:srgbClr val="003399"/>
              </a:solidFill>
            </a:endParaRPr>
          </a:p>
        </p:txBody>
      </p:sp>
      <p:sp>
        <p:nvSpPr>
          <p:cNvPr id="98359" name="Rectangle 55"/>
          <p:cNvSpPr>
            <a:spLocks noChangeArrowheads="1"/>
          </p:cNvSpPr>
          <p:nvPr/>
        </p:nvSpPr>
        <p:spPr bwMode="auto">
          <a:xfrm>
            <a:off x="6489700" y="33528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98360" name="Rectangle 56"/>
          <p:cNvSpPr>
            <a:spLocks noChangeArrowheads="1"/>
          </p:cNvSpPr>
          <p:nvPr/>
        </p:nvSpPr>
        <p:spPr bwMode="auto">
          <a:xfrm>
            <a:off x="6794500" y="3352800"/>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98361" name="Rectangle 57"/>
          <p:cNvSpPr>
            <a:spLocks noChangeArrowheads="1"/>
          </p:cNvSpPr>
          <p:nvPr/>
        </p:nvSpPr>
        <p:spPr bwMode="auto">
          <a:xfrm>
            <a:off x="7083425" y="3344863"/>
            <a:ext cx="304800" cy="38100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98362" name="Line 58"/>
          <p:cNvSpPr>
            <a:spLocks noChangeShapeType="1"/>
          </p:cNvSpPr>
          <p:nvPr/>
        </p:nvSpPr>
        <p:spPr bwMode="auto">
          <a:xfrm>
            <a:off x="2743200" y="3505200"/>
            <a:ext cx="20574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3" name="Line 59"/>
          <p:cNvSpPr>
            <a:spLocks noChangeShapeType="1"/>
          </p:cNvSpPr>
          <p:nvPr/>
        </p:nvSpPr>
        <p:spPr bwMode="auto">
          <a:xfrm>
            <a:off x="5867400" y="3505200"/>
            <a:ext cx="3048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4" name="Line 60"/>
          <p:cNvSpPr>
            <a:spLocks noChangeShapeType="1"/>
          </p:cNvSpPr>
          <p:nvPr/>
        </p:nvSpPr>
        <p:spPr bwMode="auto">
          <a:xfrm>
            <a:off x="2819400" y="4876800"/>
            <a:ext cx="5334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5" name="Line 61"/>
          <p:cNvSpPr>
            <a:spLocks noChangeShapeType="1"/>
          </p:cNvSpPr>
          <p:nvPr/>
        </p:nvSpPr>
        <p:spPr bwMode="auto">
          <a:xfrm>
            <a:off x="4406900" y="4876800"/>
            <a:ext cx="32004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6" name="Line 62"/>
          <p:cNvSpPr>
            <a:spLocks noChangeShapeType="1"/>
          </p:cNvSpPr>
          <p:nvPr/>
        </p:nvSpPr>
        <p:spPr bwMode="auto">
          <a:xfrm>
            <a:off x="2835275" y="5578475"/>
            <a:ext cx="5334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7" name="Line 63"/>
          <p:cNvSpPr>
            <a:spLocks noChangeShapeType="1"/>
          </p:cNvSpPr>
          <p:nvPr/>
        </p:nvSpPr>
        <p:spPr bwMode="auto">
          <a:xfrm>
            <a:off x="4419600" y="5594350"/>
            <a:ext cx="3810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8" name="Line 64"/>
          <p:cNvSpPr>
            <a:spLocks noChangeShapeType="1"/>
          </p:cNvSpPr>
          <p:nvPr/>
        </p:nvSpPr>
        <p:spPr bwMode="auto">
          <a:xfrm>
            <a:off x="5867400" y="5607050"/>
            <a:ext cx="3048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69" name="Line 65"/>
          <p:cNvSpPr>
            <a:spLocks noChangeShapeType="1"/>
          </p:cNvSpPr>
          <p:nvPr/>
        </p:nvSpPr>
        <p:spPr bwMode="auto">
          <a:xfrm>
            <a:off x="2362200" y="3505200"/>
            <a:ext cx="0" cy="304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0" name="Line 66"/>
          <p:cNvSpPr>
            <a:spLocks noChangeShapeType="1"/>
          </p:cNvSpPr>
          <p:nvPr/>
        </p:nvSpPr>
        <p:spPr bwMode="auto">
          <a:xfrm>
            <a:off x="2362200" y="3810000"/>
            <a:ext cx="17526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1" name="Line 67"/>
          <p:cNvSpPr>
            <a:spLocks noChangeShapeType="1"/>
          </p:cNvSpPr>
          <p:nvPr/>
        </p:nvSpPr>
        <p:spPr bwMode="auto">
          <a:xfrm>
            <a:off x="4114800" y="3810000"/>
            <a:ext cx="0" cy="8382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2" name="Line 68"/>
          <p:cNvSpPr>
            <a:spLocks noChangeShapeType="1"/>
          </p:cNvSpPr>
          <p:nvPr/>
        </p:nvSpPr>
        <p:spPr bwMode="auto">
          <a:xfrm>
            <a:off x="2362200" y="4159250"/>
            <a:ext cx="0" cy="3810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3" name="Line 69"/>
          <p:cNvSpPr>
            <a:spLocks noChangeShapeType="1"/>
          </p:cNvSpPr>
          <p:nvPr/>
        </p:nvSpPr>
        <p:spPr bwMode="auto">
          <a:xfrm>
            <a:off x="2362200" y="4524375"/>
            <a:ext cx="28956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4" name="Line 70"/>
          <p:cNvSpPr>
            <a:spLocks noChangeShapeType="1"/>
          </p:cNvSpPr>
          <p:nvPr/>
        </p:nvSpPr>
        <p:spPr bwMode="auto">
          <a:xfrm flipV="1">
            <a:off x="5257800" y="3733800"/>
            <a:ext cx="0" cy="7620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5" name="Line 71"/>
          <p:cNvSpPr>
            <a:spLocks noChangeShapeType="1"/>
          </p:cNvSpPr>
          <p:nvPr/>
        </p:nvSpPr>
        <p:spPr bwMode="auto">
          <a:xfrm>
            <a:off x="2362200" y="4876800"/>
            <a:ext cx="0" cy="3810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6" name="Line 72"/>
          <p:cNvSpPr>
            <a:spLocks noChangeShapeType="1"/>
          </p:cNvSpPr>
          <p:nvPr/>
        </p:nvSpPr>
        <p:spPr bwMode="auto">
          <a:xfrm>
            <a:off x="2362200" y="5257800"/>
            <a:ext cx="42672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7" name="Line 73"/>
          <p:cNvSpPr>
            <a:spLocks noChangeShapeType="1"/>
          </p:cNvSpPr>
          <p:nvPr/>
        </p:nvSpPr>
        <p:spPr bwMode="auto">
          <a:xfrm flipV="1">
            <a:off x="6648450" y="3733800"/>
            <a:ext cx="0" cy="15240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8" name="Line 74"/>
          <p:cNvSpPr>
            <a:spLocks noChangeShapeType="1"/>
          </p:cNvSpPr>
          <p:nvPr/>
        </p:nvSpPr>
        <p:spPr bwMode="auto">
          <a:xfrm>
            <a:off x="2362200" y="5562600"/>
            <a:ext cx="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79" name="Line 75"/>
          <p:cNvSpPr>
            <a:spLocks noChangeShapeType="1"/>
          </p:cNvSpPr>
          <p:nvPr/>
        </p:nvSpPr>
        <p:spPr bwMode="auto">
          <a:xfrm>
            <a:off x="2362200" y="6019800"/>
            <a:ext cx="57150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80" name="Line 76"/>
          <p:cNvSpPr>
            <a:spLocks noChangeShapeType="1"/>
          </p:cNvSpPr>
          <p:nvPr/>
        </p:nvSpPr>
        <p:spPr bwMode="auto">
          <a:xfrm flipV="1">
            <a:off x="8077200" y="5029200"/>
            <a:ext cx="0" cy="9906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81" name="Line 77"/>
          <p:cNvSpPr>
            <a:spLocks noChangeShapeType="1"/>
          </p:cNvSpPr>
          <p:nvPr/>
        </p:nvSpPr>
        <p:spPr bwMode="auto">
          <a:xfrm>
            <a:off x="5562600" y="3505200"/>
            <a:ext cx="0" cy="19050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82" name="Line 78"/>
          <p:cNvSpPr>
            <a:spLocks noChangeShapeType="1"/>
          </p:cNvSpPr>
          <p:nvPr/>
        </p:nvSpPr>
        <p:spPr bwMode="auto">
          <a:xfrm>
            <a:off x="6934200" y="3505200"/>
            <a:ext cx="0" cy="19050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83" name="Line 79"/>
          <p:cNvSpPr>
            <a:spLocks noChangeShapeType="1"/>
          </p:cNvSpPr>
          <p:nvPr/>
        </p:nvSpPr>
        <p:spPr bwMode="auto">
          <a:xfrm>
            <a:off x="4114800" y="4876800"/>
            <a:ext cx="0" cy="5334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98384" name="Text Box 80"/>
          <p:cNvSpPr txBox="1">
            <a:spLocks noChangeArrowheads="1"/>
          </p:cNvSpPr>
          <p:nvPr/>
        </p:nvSpPr>
        <p:spPr bwMode="auto">
          <a:xfrm>
            <a:off x="1295400" y="3276600"/>
            <a:ext cx="381000" cy="254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sz="2800" b="1"/>
              <a:t>0</a:t>
            </a:r>
            <a:endParaRPr lang="en-US" altLang="zh-CN" sz="2800" b="1"/>
          </a:p>
          <a:p>
            <a:endParaRPr lang="en-US" altLang="zh-CN" sz="1600" b="1"/>
          </a:p>
          <a:p>
            <a:r>
              <a:rPr lang="en-US" altLang="zh-CN" sz="2800" b="1"/>
              <a:t>1</a:t>
            </a:r>
            <a:endParaRPr lang="en-US" altLang="zh-CN" sz="2800" b="1"/>
          </a:p>
          <a:p>
            <a:endParaRPr lang="en-US" altLang="zh-CN" sz="1800" b="1"/>
          </a:p>
          <a:p>
            <a:r>
              <a:rPr lang="en-US" altLang="zh-CN" sz="2800" b="1"/>
              <a:t>2</a:t>
            </a:r>
            <a:endParaRPr lang="en-US" altLang="zh-CN" sz="2800" b="1"/>
          </a:p>
          <a:p>
            <a:endParaRPr lang="en-US" altLang="zh-CN" sz="1800" b="1"/>
          </a:p>
          <a:p>
            <a:r>
              <a:rPr lang="en-US" altLang="zh-CN" sz="2800" b="1"/>
              <a:t>3</a:t>
            </a:r>
            <a:endParaRPr lang="en-US" altLang="zh-CN" sz="2800" b="1"/>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8369"/>
                                        </p:tgtEl>
                                        <p:attrNameLst>
                                          <p:attrName>style.visibility</p:attrName>
                                        </p:attrNameLst>
                                      </p:cBhvr>
                                      <p:to>
                                        <p:strVal val="visible"/>
                                      </p:to>
                                    </p:set>
                                    <p:animEffect transition="in" filter="wipe(up)">
                                      <p:cBhvr>
                                        <p:cTn id="7" dur="500"/>
                                        <p:tgtEl>
                                          <p:spTgt spid="9836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8370"/>
                                        </p:tgtEl>
                                        <p:attrNameLst>
                                          <p:attrName>style.visibility</p:attrName>
                                        </p:attrNameLst>
                                      </p:cBhvr>
                                      <p:to>
                                        <p:strVal val="visible"/>
                                      </p:to>
                                    </p:set>
                                    <p:animEffect transition="in" filter="wipe(left)">
                                      <p:cBhvr>
                                        <p:cTn id="11" dur="500"/>
                                        <p:tgtEl>
                                          <p:spTgt spid="98370"/>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8371"/>
                                        </p:tgtEl>
                                        <p:attrNameLst>
                                          <p:attrName>style.visibility</p:attrName>
                                        </p:attrNameLst>
                                      </p:cBhvr>
                                      <p:to>
                                        <p:strVal val="visible"/>
                                      </p:to>
                                    </p:set>
                                    <p:animEffect transition="in" filter="wipe(up)">
                                      <p:cBhvr>
                                        <p:cTn id="15" dur="500"/>
                                        <p:tgtEl>
                                          <p:spTgt spid="9837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98383"/>
                                        </p:tgtEl>
                                        <p:attrNameLst>
                                          <p:attrName>style.visibility</p:attrName>
                                        </p:attrNameLst>
                                      </p:cBhvr>
                                      <p:to>
                                        <p:strVal val="visible"/>
                                      </p:to>
                                    </p:set>
                                    <p:animEffect transition="in" filter="wipe(up)">
                                      <p:cBhvr>
                                        <p:cTn id="20" dur="500"/>
                                        <p:tgtEl>
                                          <p:spTgt spid="9838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98372"/>
                                        </p:tgtEl>
                                        <p:attrNameLst>
                                          <p:attrName>style.visibility</p:attrName>
                                        </p:attrNameLst>
                                      </p:cBhvr>
                                      <p:to>
                                        <p:strVal val="visible"/>
                                      </p:to>
                                    </p:set>
                                    <p:animEffect transition="in" filter="wipe(up)">
                                      <p:cBhvr>
                                        <p:cTn id="25" dur="500"/>
                                        <p:tgtEl>
                                          <p:spTgt spid="9837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98373"/>
                                        </p:tgtEl>
                                        <p:attrNameLst>
                                          <p:attrName>style.visibility</p:attrName>
                                        </p:attrNameLst>
                                      </p:cBhvr>
                                      <p:to>
                                        <p:strVal val="visible"/>
                                      </p:to>
                                    </p:set>
                                    <p:animEffect transition="in" filter="wipe(left)">
                                      <p:cBhvr>
                                        <p:cTn id="29" dur="500"/>
                                        <p:tgtEl>
                                          <p:spTgt spid="98373"/>
                                        </p:tgtEl>
                                      </p:cBhvr>
                                    </p:animEffect>
                                  </p:childTnLst>
                                </p:cTn>
                              </p:par>
                            </p:childTnLst>
                          </p:cTn>
                        </p:par>
                        <p:par>
                          <p:cTn id="30" fill="hold">
                            <p:stCondLst>
                              <p:cond delay="1000"/>
                            </p:stCondLst>
                            <p:childTnLst>
                              <p:par>
                                <p:cTn id="31" presetID="22" presetClass="entr" presetSubtype="4" fill="hold" grpId="0" nodeType="afterEffect">
                                  <p:stCondLst>
                                    <p:cond delay="0"/>
                                  </p:stCondLst>
                                  <p:childTnLst>
                                    <p:set>
                                      <p:cBhvr>
                                        <p:cTn id="32" dur="1" fill="hold">
                                          <p:stCondLst>
                                            <p:cond delay="0"/>
                                          </p:stCondLst>
                                        </p:cTn>
                                        <p:tgtEl>
                                          <p:spTgt spid="98374"/>
                                        </p:tgtEl>
                                        <p:attrNameLst>
                                          <p:attrName>style.visibility</p:attrName>
                                        </p:attrNameLst>
                                      </p:cBhvr>
                                      <p:to>
                                        <p:strVal val="visible"/>
                                      </p:to>
                                    </p:set>
                                    <p:animEffect transition="in" filter="wipe(down)">
                                      <p:cBhvr>
                                        <p:cTn id="33" dur="500"/>
                                        <p:tgtEl>
                                          <p:spTgt spid="9837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98381"/>
                                        </p:tgtEl>
                                        <p:attrNameLst>
                                          <p:attrName>style.visibility</p:attrName>
                                        </p:attrNameLst>
                                      </p:cBhvr>
                                      <p:to>
                                        <p:strVal val="visible"/>
                                      </p:to>
                                    </p:set>
                                    <p:animEffect transition="in" filter="wipe(up)">
                                      <p:cBhvr>
                                        <p:cTn id="38" dur="500"/>
                                        <p:tgtEl>
                                          <p:spTgt spid="9838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8375"/>
                                        </p:tgtEl>
                                        <p:attrNameLst>
                                          <p:attrName>style.visibility</p:attrName>
                                        </p:attrNameLst>
                                      </p:cBhvr>
                                      <p:to>
                                        <p:strVal val="visible"/>
                                      </p:to>
                                    </p:set>
                                    <p:animEffect transition="in" filter="wipe(up)">
                                      <p:cBhvr>
                                        <p:cTn id="43" dur="500"/>
                                        <p:tgtEl>
                                          <p:spTgt spid="98375"/>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8376"/>
                                        </p:tgtEl>
                                        <p:attrNameLst>
                                          <p:attrName>style.visibility</p:attrName>
                                        </p:attrNameLst>
                                      </p:cBhvr>
                                      <p:to>
                                        <p:strVal val="visible"/>
                                      </p:to>
                                    </p:set>
                                    <p:animEffect transition="in" filter="wipe(left)">
                                      <p:cBhvr>
                                        <p:cTn id="47" dur="500"/>
                                        <p:tgtEl>
                                          <p:spTgt spid="98376"/>
                                        </p:tgtEl>
                                      </p:cBhvr>
                                    </p:animEffect>
                                  </p:childTnLst>
                                </p:cTn>
                              </p:par>
                            </p:childTnLst>
                          </p:cTn>
                        </p:par>
                        <p:par>
                          <p:cTn id="48" fill="hold">
                            <p:stCondLst>
                              <p:cond delay="1000"/>
                            </p:stCondLst>
                            <p:childTnLst>
                              <p:par>
                                <p:cTn id="49" presetID="22" presetClass="entr" presetSubtype="4" fill="hold" grpId="0" nodeType="afterEffect">
                                  <p:stCondLst>
                                    <p:cond delay="0"/>
                                  </p:stCondLst>
                                  <p:childTnLst>
                                    <p:set>
                                      <p:cBhvr>
                                        <p:cTn id="50" dur="1" fill="hold">
                                          <p:stCondLst>
                                            <p:cond delay="0"/>
                                          </p:stCondLst>
                                        </p:cTn>
                                        <p:tgtEl>
                                          <p:spTgt spid="98377"/>
                                        </p:tgtEl>
                                        <p:attrNameLst>
                                          <p:attrName>style.visibility</p:attrName>
                                        </p:attrNameLst>
                                      </p:cBhvr>
                                      <p:to>
                                        <p:strVal val="visible"/>
                                      </p:to>
                                    </p:set>
                                    <p:animEffect transition="in" filter="wipe(down)">
                                      <p:cBhvr>
                                        <p:cTn id="51" dur="500"/>
                                        <p:tgtEl>
                                          <p:spTgt spid="9837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98382"/>
                                        </p:tgtEl>
                                        <p:attrNameLst>
                                          <p:attrName>style.visibility</p:attrName>
                                        </p:attrNameLst>
                                      </p:cBhvr>
                                      <p:to>
                                        <p:strVal val="visible"/>
                                      </p:to>
                                    </p:set>
                                    <p:animEffect transition="in" filter="wipe(up)">
                                      <p:cBhvr>
                                        <p:cTn id="56" dur="500"/>
                                        <p:tgtEl>
                                          <p:spTgt spid="9838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98378"/>
                                        </p:tgtEl>
                                        <p:attrNameLst>
                                          <p:attrName>style.visibility</p:attrName>
                                        </p:attrNameLst>
                                      </p:cBhvr>
                                      <p:to>
                                        <p:strVal val="visible"/>
                                      </p:to>
                                    </p:set>
                                    <p:animEffect transition="in" filter="wipe(up)">
                                      <p:cBhvr>
                                        <p:cTn id="61" dur="500"/>
                                        <p:tgtEl>
                                          <p:spTgt spid="98378"/>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98379"/>
                                        </p:tgtEl>
                                        <p:attrNameLst>
                                          <p:attrName>style.visibility</p:attrName>
                                        </p:attrNameLst>
                                      </p:cBhvr>
                                      <p:to>
                                        <p:strVal val="visible"/>
                                      </p:to>
                                    </p:set>
                                    <p:animEffect transition="in" filter="wipe(left)">
                                      <p:cBhvr>
                                        <p:cTn id="65" dur="500"/>
                                        <p:tgtEl>
                                          <p:spTgt spid="98379"/>
                                        </p:tgtEl>
                                      </p:cBhvr>
                                    </p:animEffect>
                                  </p:childTnLst>
                                </p:cTn>
                              </p:par>
                            </p:childTnLst>
                          </p:cTn>
                        </p:par>
                        <p:par>
                          <p:cTn id="66" fill="hold">
                            <p:stCondLst>
                              <p:cond delay="1000"/>
                            </p:stCondLst>
                            <p:childTnLst>
                              <p:par>
                                <p:cTn id="67" presetID="22" presetClass="entr" presetSubtype="4" fill="hold" grpId="0" nodeType="afterEffect">
                                  <p:stCondLst>
                                    <p:cond delay="0"/>
                                  </p:stCondLst>
                                  <p:childTnLst>
                                    <p:set>
                                      <p:cBhvr>
                                        <p:cTn id="68" dur="1" fill="hold">
                                          <p:stCondLst>
                                            <p:cond delay="0"/>
                                          </p:stCondLst>
                                        </p:cTn>
                                        <p:tgtEl>
                                          <p:spTgt spid="98380"/>
                                        </p:tgtEl>
                                        <p:attrNameLst>
                                          <p:attrName>style.visibility</p:attrName>
                                        </p:attrNameLst>
                                      </p:cBhvr>
                                      <p:to>
                                        <p:strVal val="visible"/>
                                      </p:to>
                                    </p:set>
                                    <p:animEffect transition="in" filter="wipe(down)">
                                      <p:cBhvr>
                                        <p:cTn id="69" dur="500"/>
                                        <p:tgtEl>
                                          <p:spTgt spid="98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69" grpId="0" animBg="1"/>
      <p:bldP spid="98370" grpId="0" animBg="1"/>
      <p:bldP spid="98371" grpId="0" animBg="1"/>
      <p:bldP spid="98372" grpId="0" animBg="1"/>
      <p:bldP spid="98373" grpId="0" animBg="1"/>
      <p:bldP spid="98374" grpId="0" animBg="1"/>
      <p:bldP spid="98375" grpId="0" animBg="1"/>
      <p:bldP spid="98376" grpId="0" animBg="1"/>
      <p:bldP spid="98377" grpId="0" animBg="1"/>
      <p:bldP spid="98378" grpId="0" animBg="1"/>
      <p:bldP spid="98379" grpId="0" animBg="1"/>
      <p:bldP spid="98380" grpId="0" animBg="1"/>
      <p:bldP spid="98381" grpId="0" animBg="1"/>
      <p:bldP spid="98382" grpId="0" animBg="1"/>
      <p:bldP spid="9838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304800" y="762000"/>
            <a:ext cx="86106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pPr marL="342900" indent="-342900">
              <a:lnSpc>
                <a:spcPct val="120000"/>
              </a:lnSpc>
              <a:spcBef>
                <a:spcPct val="20000"/>
              </a:spcBef>
              <a:buClr>
                <a:schemeClr val="hlink"/>
              </a:buClr>
              <a:buSzPct val="50000"/>
              <a:buFont typeface="Monotype Sorts" pitchFamily="2" charset="2"/>
              <a:buChar char="n"/>
            </a:pPr>
            <a:r>
              <a:rPr lang="en-US" altLang="zh-CN" sz="4000" b="1">
                <a:solidFill>
                  <a:srgbClr val="A50021"/>
                </a:solidFill>
                <a:latin typeface="Arial" panose="020B0604020202020204" pitchFamily="34" charset="0"/>
                <a:ea typeface="楷体_GB2312" pitchFamily="49" charset="-122"/>
                <a:cs typeface="Arial" panose="020B0604020202020204" pitchFamily="34" charset="0"/>
              </a:rPr>
              <a:t>Advantage</a:t>
            </a:r>
            <a:r>
              <a:rPr lang="zh-CN" altLang="en-US" sz="3200" b="1">
                <a:solidFill>
                  <a:srgbClr val="A50021"/>
                </a:solidFill>
                <a:latin typeface="Arial" panose="020B0604020202020204" pitchFamily="34" charset="0"/>
                <a:ea typeface="楷体_GB2312" pitchFamily="49" charset="-122"/>
                <a:cs typeface="Arial" panose="020B0604020202020204" pitchFamily="34" charset="0"/>
              </a:rPr>
              <a:t>：</a:t>
            </a:r>
            <a:endParaRPr lang="zh-CN" altLang="en-US" sz="3200" b="1">
              <a:solidFill>
                <a:srgbClr val="A50021"/>
              </a:solidFill>
              <a:latin typeface="Arial" panose="020B0604020202020204" pitchFamily="34" charset="0"/>
              <a:ea typeface="楷体_GB2312" pitchFamily="49" charset="-122"/>
              <a:cs typeface="Arial" panose="020B0604020202020204" pitchFamily="34" charset="0"/>
            </a:endParaRPr>
          </a:p>
          <a:p>
            <a:pPr marL="342900" indent="-342900">
              <a:lnSpc>
                <a:spcPct val="120000"/>
              </a:lnSpc>
              <a:spcBef>
                <a:spcPct val="20000"/>
              </a:spcBef>
              <a:buClr>
                <a:schemeClr val="hlink"/>
              </a:buClr>
              <a:buSzPct val="50000"/>
              <a:buFont typeface="Monotype Sorts" pitchFamily="2" charset="2"/>
              <a:buNone/>
            </a:pPr>
            <a:r>
              <a:rPr lang="zh-CN" altLang="en-US" sz="3200" b="1">
                <a:latin typeface="Arial" panose="020B0604020202020204" pitchFamily="34" charset="0"/>
                <a:ea typeface="楷体_GB2312" pitchFamily="49" charset="-122"/>
                <a:cs typeface="Arial" panose="020B0604020202020204" pitchFamily="34" charset="0"/>
              </a:rPr>
              <a:t>    </a:t>
            </a:r>
            <a:r>
              <a:rPr lang="zh-CN" altLang="en-US" b="1">
                <a:latin typeface="Arial" panose="020B0604020202020204" pitchFamily="34" charset="0"/>
                <a:ea typeface="楷体_GB2312" pitchFamily="49" charset="-122"/>
                <a:cs typeface="Arial" panose="020B0604020202020204" pitchFamily="34" charset="0"/>
                <a:sym typeface="+mn-ea"/>
              </a:rPr>
              <a:t>It is easy to identify arcs ending at Vi and arcs starting at Vi, making it straightforward to calculate the o</a:t>
            </a:r>
            <a:r>
              <a:rPr lang="zh-CN" altLang="en-US" b="1">
                <a:solidFill>
                  <a:srgbClr val="A50021"/>
                </a:solidFill>
                <a:latin typeface="Arial" panose="020B0604020202020204" pitchFamily="34" charset="0"/>
                <a:ea typeface="楷体_GB2312" pitchFamily="49" charset="-122"/>
                <a:cs typeface="Arial" panose="020B0604020202020204" pitchFamily="34" charset="0"/>
                <a:sym typeface="+mn-ea"/>
              </a:rPr>
              <a:t>ut-degree and in-degree</a:t>
            </a:r>
            <a:r>
              <a:rPr lang="zh-CN" altLang="en-US" b="1">
                <a:latin typeface="Arial" panose="020B0604020202020204" pitchFamily="34" charset="0"/>
                <a:ea typeface="楷体_GB2312" pitchFamily="49" charset="-122"/>
                <a:cs typeface="Arial" panose="020B0604020202020204" pitchFamily="34" charset="0"/>
                <a:sym typeface="+mn-ea"/>
              </a:rPr>
              <a:t> of vertices</a:t>
            </a:r>
            <a:r>
              <a:rPr lang="zh-CN" altLang="en-US" sz="3200" b="1">
                <a:latin typeface="Arial" panose="020B0604020202020204" pitchFamily="34" charset="0"/>
                <a:ea typeface="楷体_GB2312" pitchFamily="49" charset="-122"/>
                <a:cs typeface="Arial" panose="020B0604020202020204" pitchFamily="34" charset="0"/>
                <a:sym typeface="+mn-ea"/>
              </a:rPr>
              <a:t>.</a:t>
            </a:r>
            <a:endParaRPr lang="zh-CN" altLang="en-US" sz="3200" b="1" baseline="-25000">
              <a:latin typeface="Arial" panose="020B0604020202020204" pitchFamily="34" charset="0"/>
              <a:ea typeface="楷体_GB2312" pitchFamily="49" charset="-122"/>
              <a:cs typeface="Arial" panose="020B0604020202020204" pitchFamily="34" charset="0"/>
            </a:endParaRPr>
          </a:p>
          <a:p>
            <a:pPr marL="342900" indent="-342900">
              <a:lnSpc>
                <a:spcPct val="120000"/>
              </a:lnSpc>
              <a:spcBef>
                <a:spcPct val="20000"/>
              </a:spcBef>
              <a:buClr>
                <a:schemeClr val="hlink"/>
              </a:buClr>
              <a:buSzPct val="50000"/>
              <a:buFont typeface="Monotype Sorts" pitchFamily="2" charset="2"/>
              <a:buNone/>
            </a:pPr>
            <a:endParaRPr lang="zh-CN" altLang="en-US" sz="3200" b="1" baseline="-2500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storage representations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Graph traversal</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Graph connectivity and spanning tree</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The shortest path between two </a:t>
            </a:r>
            <a:r>
              <a:rPr lang="en-US" altLang="zh-CN" dirty="0">
                <a:latin typeface="Times New Roman" panose="02020603050405020304" pitchFamily="18" charset="0"/>
                <a:cs typeface="Times New Roman" panose="02020603050405020304" pitchFamily="18" charset="0"/>
              </a:rPr>
              <a:t>vertices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Graph </a:t>
            </a:r>
            <a:r>
              <a:rPr lang="en-US" altLang="zh-CN">
                <a:sym typeface="+mn-ea"/>
              </a:rPr>
              <a:t>T</a:t>
            </a:r>
            <a:r>
              <a:rPr>
                <a:sym typeface="+mn-ea"/>
              </a:rPr>
              <a:t>raversal </a:t>
            </a:r>
            <a:r>
              <a:rPr lang="en-US" altLang="zh-CN">
                <a:sym typeface="+mn-ea"/>
              </a:rPr>
              <a:t>D</a:t>
            </a:r>
            <a:r>
              <a:rPr>
                <a:sym typeface="+mn-ea"/>
              </a:rPr>
              <a:t>efinition</a:t>
            </a:r>
            <a:endParaRPr lang="zh-CN" altLang="en-US" sz="4000" dirty="0"/>
          </a:p>
        </p:txBody>
      </p:sp>
      <p:sp>
        <p:nvSpPr>
          <p:cNvPr id="3" name="内容占位符 2"/>
          <p:cNvSpPr>
            <a:spLocks noGrp="1"/>
          </p:cNvSpPr>
          <p:nvPr>
            <p:ph idx="1"/>
          </p:nvPr>
        </p:nvSpPr>
        <p:spPr>
          <a:xfrm>
            <a:off x="323850" y="1389112"/>
            <a:ext cx="4032126" cy="4200128"/>
          </a:xfrm>
        </p:spPr>
        <p:txBody>
          <a:bodyPr/>
          <a:lstStyle/>
          <a:p>
            <a:r>
              <a:rPr lang="en-US" altLang="zh-CN" sz="2800" dirty="0">
                <a:ea typeface="楷体_GB2312" pitchFamily="49" charset="-122"/>
                <a:cs typeface="Arial" panose="020B0604020202020204" pitchFamily="34" charset="0"/>
              </a:rPr>
              <a:t> </a:t>
            </a:r>
            <a:r>
              <a:rPr lang="zh-CN" altLang="en-US" sz="2400" dirty="0">
                <a:solidFill>
                  <a:srgbClr val="000099"/>
                </a:solidFill>
                <a:ea typeface="楷体_GB2312" pitchFamily="49" charset="-122"/>
                <a:cs typeface="Arial" panose="020B0604020202020204" pitchFamily="34" charset="0"/>
                <a:sym typeface="+mn-ea"/>
              </a:rPr>
              <a:t>The process of starting from a vertex in a graph, visiting all the other vertices in the graph, and making sure that each vertex in the graph is visited only once, is called </a:t>
            </a:r>
            <a:r>
              <a:rPr lang="zh-CN" altLang="en-US" sz="2400" dirty="0">
                <a:solidFill>
                  <a:srgbClr val="FF0000"/>
                </a:solidFill>
                <a:ea typeface="楷体_GB2312" pitchFamily="49" charset="-122"/>
                <a:cs typeface="Arial" panose="020B0604020202020204" pitchFamily="34" charset="0"/>
                <a:sym typeface="+mn-ea"/>
              </a:rPr>
              <a:t>graph traversal.</a:t>
            </a:r>
            <a:endParaRPr lang="zh-CN" altLang="en-US" sz="2400" dirty="0">
              <a:solidFill>
                <a:srgbClr val="FF0000"/>
              </a:solidFill>
              <a:ea typeface="楷体_GB2312" pitchFamily="49" charset="-122"/>
              <a:cs typeface="Arial" panose="020B0604020202020204" pitchFamily="34" charset="0"/>
              <a:sym typeface="+mn-ea"/>
            </a:endParaRPr>
          </a:p>
        </p:txBody>
      </p:sp>
      <p:sp>
        <p:nvSpPr>
          <p:cNvPr id="6" name="Oval 4"/>
          <p:cNvSpPr>
            <a:spLocks noChangeArrowheads="1"/>
          </p:cNvSpPr>
          <p:nvPr/>
        </p:nvSpPr>
        <p:spPr bwMode="auto">
          <a:xfrm>
            <a:off x="6180584" y="22768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1</a:t>
            </a:r>
            <a:endParaRPr lang="en-US" altLang="zh-CN" sz="2800" b="1" baseline="-10000"/>
          </a:p>
        </p:txBody>
      </p:sp>
      <p:sp>
        <p:nvSpPr>
          <p:cNvPr id="7" name="Oval 5"/>
          <p:cNvSpPr>
            <a:spLocks noChangeArrowheads="1"/>
          </p:cNvSpPr>
          <p:nvPr/>
        </p:nvSpPr>
        <p:spPr bwMode="auto">
          <a:xfrm>
            <a:off x="5037584" y="30388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dirty="0"/>
              <a:t>V</a:t>
            </a:r>
            <a:r>
              <a:rPr lang="en-US" altLang="zh-CN" sz="2800" b="1" baseline="-10000" dirty="0"/>
              <a:t>2</a:t>
            </a:r>
            <a:endParaRPr lang="en-US" altLang="zh-CN" sz="2800" b="1" baseline="-10000" dirty="0"/>
          </a:p>
        </p:txBody>
      </p:sp>
      <p:sp>
        <p:nvSpPr>
          <p:cNvPr id="8" name="Oval 6"/>
          <p:cNvSpPr>
            <a:spLocks noChangeArrowheads="1"/>
          </p:cNvSpPr>
          <p:nvPr/>
        </p:nvSpPr>
        <p:spPr bwMode="auto">
          <a:xfrm>
            <a:off x="7399784" y="31150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3</a:t>
            </a:r>
            <a:endParaRPr lang="en-US" altLang="zh-CN" sz="2800" b="1" baseline="-10000"/>
          </a:p>
        </p:txBody>
      </p:sp>
      <p:sp>
        <p:nvSpPr>
          <p:cNvPr id="9" name="Oval 7"/>
          <p:cNvSpPr>
            <a:spLocks noChangeArrowheads="1"/>
          </p:cNvSpPr>
          <p:nvPr/>
        </p:nvSpPr>
        <p:spPr bwMode="auto">
          <a:xfrm>
            <a:off x="4427984" y="39532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4</a:t>
            </a:r>
            <a:endParaRPr lang="en-US" altLang="zh-CN" sz="2800" b="1" baseline="-10000"/>
          </a:p>
        </p:txBody>
      </p:sp>
      <p:sp>
        <p:nvSpPr>
          <p:cNvPr id="10" name="Oval 8"/>
          <p:cNvSpPr>
            <a:spLocks noChangeArrowheads="1"/>
          </p:cNvSpPr>
          <p:nvPr/>
        </p:nvSpPr>
        <p:spPr bwMode="auto">
          <a:xfrm>
            <a:off x="5542409" y="39532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5</a:t>
            </a:r>
            <a:endParaRPr lang="en-US" altLang="zh-CN" sz="2800" b="1" baseline="-10000"/>
          </a:p>
        </p:txBody>
      </p:sp>
      <p:sp>
        <p:nvSpPr>
          <p:cNvPr id="11" name="Oval 9"/>
          <p:cNvSpPr>
            <a:spLocks noChangeArrowheads="1"/>
          </p:cNvSpPr>
          <p:nvPr/>
        </p:nvSpPr>
        <p:spPr bwMode="auto">
          <a:xfrm>
            <a:off x="6866384" y="40294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6</a:t>
            </a:r>
            <a:endParaRPr lang="en-US" altLang="zh-CN" sz="2800" b="1" baseline="-10000"/>
          </a:p>
        </p:txBody>
      </p:sp>
      <p:sp>
        <p:nvSpPr>
          <p:cNvPr id="12" name="Oval 10"/>
          <p:cNvSpPr>
            <a:spLocks noChangeArrowheads="1"/>
          </p:cNvSpPr>
          <p:nvPr/>
        </p:nvSpPr>
        <p:spPr bwMode="auto">
          <a:xfrm>
            <a:off x="7856984" y="40294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7</a:t>
            </a:r>
            <a:endParaRPr lang="en-US" altLang="zh-CN" sz="2800" b="1" baseline="-10000"/>
          </a:p>
        </p:txBody>
      </p:sp>
      <p:sp>
        <p:nvSpPr>
          <p:cNvPr id="13" name="Oval 11"/>
          <p:cNvSpPr>
            <a:spLocks noChangeArrowheads="1"/>
          </p:cNvSpPr>
          <p:nvPr/>
        </p:nvSpPr>
        <p:spPr bwMode="auto">
          <a:xfrm>
            <a:off x="5647184" y="5096272"/>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8</a:t>
            </a:r>
            <a:endParaRPr lang="en-US" altLang="zh-CN" sz="2800" b="1" baseline="-10000"/>
          </a:p>
        </p:txBody>
      </p:sp>
      <p:sp>
        <p:nvSpPr>
          <p:cNvPr id="14" name="Line 12"/>
          <p:cNvSpPr>
            <a:spLocks noChangeShapeType="1"/>
          </p:cNvSpPr>
          <p:nvPr/>
        </p:nvSpPr>
        <p:spPr bwMode="auto">
          <a:xfrm flipH="1">
            <a:off x="5494784" y="2657872"/>
            <a:ext cx="7620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 name="Line 13"/>
          <p:cNvSpPr>
            <a:spLocks noChangeShapeType="1"/>
          </p:cNvSpPr>
          <p:nvPr/>
        </p:nvSpPr>
        <p:spPr bwMode="auto">
          <a:xfrm>
            <a:off x="6561584" y="2657872"/>
            <a:ext cx="914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6" name="Line 14"/>
          <p:cNvSpPr>
            <a:spLocks noChangeShapeType="1"/>
          </p:cNvSpPr>
          <p:nvPr/>
        </p:nvSpPr>
        <p:spPr bwMode="auto">
          <a:xfrm flipH="1">
            <a:off x="4732784" y="3496072"/>
            <a:ext cx="4572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7" name="Line 17"/>
          <p:cNvSpPr>
            <a:spLocks noChangeShapeType="1"/>
          </p:cNvSpPr>
          <p:nvPr/>
        </p:nvSpPr>
        <p:spPr bwMode="auto">
          <a:xfrm>
            <a:off x="6012309" y="4221560"/>
            <a:ext cx="792163" cy="73025"/>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8" name="Line 18"/>
          <p:cNvSpPr>
            <a:spLocks noChangeShapeType="1"/>
          </p:cNvSpPr>
          <p:nvPr/>
        </p:nvSpPr>
        <p:spPr bwMode="auto">
          <a:xfrm flipH="1">
            <a:off x="7171184" y="3572272"/>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 name="Line 19"/>
          <p:cNvSpPr>
            <a:spLocks noChangeShapeType="1"/>
          </p:cNvSpPr>
          <p:nvPr/>
        </p:nvSpPr>
        <p:spPr bwMode="auto">
          <a:xfrm>
            <a:off x="7704584" y="3572272"/>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 name="Line 20"/>
          <p:cNvSpPr>
            <a:spLocks noChangeShapeType="1"/>
          </p:cNvSpPr>
          <p:nvPr/>
        </p:nvSpPr>
        <p:spPr bwMode="auto">
          <a:xfrm>
            <a:off x="7323584" y="4334272"/>
            <a:ext cx="5334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1" name="Line 22"/>
          <p:cNvSpPr>
            <a:spLocks noChangeShapeType="1"/>
          </p:cNvSpPr>
          <p:nvPr/>
        </p:nvSpPr>
        <p:spPr bwMode="auto">
          <a:xfrm>
            <a:off x="5813872" y="4435872"/>
            <a:ext cx="53975" cy="649288"/>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2" name="Line 16"/>
          <p:cNvSpPr>
            <a:spLocks noChangeShapeType="1"/>
          </p:cNvSpPr>
          <p:nvPr/>
        </p:nvSpPr>
        <p:spPr bwMode="auto">
          <a:xfrm>
            <a:off x="4716016" y="4437112"/>
            <a:ext cx="990600" cy="7620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3" name="Line 15"/>
          <p:cNvSpPr>
            <a:spLocks noChangeShapeType="1"/>
          </p:cNvSpPr>
          <p:nvPr/>
        </p:nvSpPr>
        <p:spPr bwMode="auto">
          <a:xfrm>
            <a:off x="5347320" y="3501008"/>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4" name="页脚占位符 23"/>
          <p:cNvSpPr>
            <a:spLocks noGrp="1"/>
          </p:cNvSpPr>
          <p:nvPr>
            <p:ph type="ftr" sz="quarter" idx="10"/>
          </p:nvPr>
        </p:nvSpPr>
        <p:spPr/>
        <p:txBody>
          <a:bodyPr/>
          <a:lstStyle/>
          <a:p>
            <a:pPr>
              <a:defRPr/>
            </a:pPr>
            <a:r>
              <a:rPr lang="en-US" altLang="zh-CN"/>
              <a:t>©Haiyang Liu, 2025</a:t>
            </a:r>
            <a:endParaRPr lang="en-US" altLang="zh-CN" dirty="0"/>
          </a:p>
        </p:txBody>
      </p:sp>
      <p:sp>
        <p:nvSpPr>
          <p:cNvPr id="25" name="灯片编号占位符 2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Traversal </a:t>
            </a:r>
            <a:r>
              <a:rPr lang="en-US" altLang="zh-CN">
                <a:sym typeface="+mn-ea"/>
              </a:rPr>
              <a:t>C</a:t>
            </a:r>
            <a:r>
              <a:rPr>
                <a:sym typeface="+mn-ea"/>
              </a:rPr>
              <a:t>omplexity</a:t>
            </a:r>
            <a:endParaRPr lang="zh-CN" altLang="en-US" sz="4000" dirty="0"/>
          </a:p>
        </p:txBody>
      </p:sp>
      <p:sp>
        <p:nvSpPr>
          <p:cNvPr id="3" name="内容占位符 2"/>
          <p:cNvSpPr>
            <a:spLocks noGrp="1"/>
          </p:cNvSpPr>
          <p:nvPr>
            <p:ph idx="1"/>
          </p:nvPr>
        </p:nvSpPr>
        <p:spPr>
          <a:xfrm>
            <a:off x="323850" y="1124744"/>
            <a:ext cx="8280598" cy="5183981"/>
          </a:xfrm>
        </p:spPr>
        <p:txBody>
          <a:bodyPr/>
          <a:lstStyle/>
          <a:p>
            <a:pPr>
              <a:lnSpc>
                <a:spcPct val="120000"/>
              </a:lnSpc>
            </a:pPr>
            <a:r>
              <a:rPr lang="zh-CN" altLang="en-US" sz="2400" b="1" dirty="0">
                <a:solidFill>
                  <a:srgbClr val="FF0000"/>
                </a:solidFill>
                <a:ea typeface="楷体_GB2312" pitchFamily="49" charset="-122"/>
                <a:cs typeface="Arial" panose="020B0604020202020204" pitchFamily="34" charset="0"/>
                <a:sym typeface="+mn-ea"/>
              </a:rPr>
              <a:t>The complexity of many-to-many relationships: </a:t>
            </a:r>
            <a:r>
              <a:rPr lang="zh-CN" altLang="en-US" sz="2400" dirty="0">
                <a:solidFill>
                  <a:srgbClr val="000099"/>
                </a:solidFill>
                <a:ea typeface="楷体_GB2312" pitchFamily="49" charset="-122"/>
                <a:cs typeface="Arial" panose="020B0604020202020204" pitchFamily="34" charset="0"/>
                <a:sym typeface="+mn-ea"/>
              </a:rPr>
              <a:t>Graph traversal is significantly more intricate than tree traversal. Since any vertex in a graph may be adjacent to all other vertices, a search path might lead back to the same vertex after it has been visited. To prevent repeated access to the same vertex, every visited vertex must be recorded during the traversal process.</a:t>
            </a:r>
            <a:endParaRPr lang="zh-CN" altLang="en-US" sz="2400" dirty="0">
              <a:solidFill>
                <a:srgbClr val="000099"/>
              </a:solidFill>
              <a:ea typeface="楷体_GB2312" pitchFamily="49" charset="-122"/>
              <a:cs typeface="Arial" panose="020B0604020202020204" pitchFamily="34" charset="0"/>
            </a:endParaRPr>
          </a:p>
          <a:p>
            <a:pPr>
              <a:lnSpc>
                <a:spcPct val="120000"/>
              </a:lnSpc>
            </a:pPr>
            <a:r>
              <a:rPr lang="zh-CN" altLang="en-US" sz="2400" dirty="0">
                <a:solidFill>
                  <a:srgbClr val="000099"/>
                </a:solidFill>
                <a:ea typeface="楷体_GB2312" pitchFamily="49" charset="-122"/>
                <a:cs typeface="Arial" panose="020B0604020202020204" pitchFamily="34" charset="0"/>
                <a:sym typeface="+mn-ea"/>
              </a:rPr>
              <a:t>To achieve this, we can create </a:t>
            </a:r>
            <a:r>
              <a:rPr lang="zh-CN" altLang="en-US" sz="2400" dirty="0">
                <a:solidFill>
                  <a:srgbClr val="A50021"/>
                </a:solidFill>
                <a:ea typeface="楷体_GB2312" pitchFamily="49" charset="-122"/>
                <a:cs typeface="Arial" panose="020B0604020202020204" pitchFamily="34" charset="0"/>
                <a:sym typeface="+mn-ea"/>
              </a:rPr>
              <a:t>an auxiliary array visited[0..n-1]</a:t>
            </a:r>
            <a:r>
              <a:rPr lang="zh-CN" altLang="en-US" sz="2400" dirty="0">
                <a:solidFill>
                  <a:srgbClr val="000099"/>
                </a:solidFill>
                <a:ea typeface="楷体_GB2312" pitchFamily="49" charset="-122"/>
                <a:cs typeface="Arial" panose="020B0604020202020204" pitchFamily="34" charset="0"/>
                <a:sym typeface="+mn-ea"/>
              </a:rPr>
              <a:t> with its initial value set to false or 0. When a vertex Vi is accessed, we update visited[i] to true or its sequence number during the visit.</a:t>
            </a:r>
            <a:endParaRPr lang="zh-CN" altLang="en-US" sz="2400" dirty="0">
              <a:solidFill>
                <a:srgbClr val="000099"/>
              </a:solidFill>
              <a:ea typeface="楷体_GB2312" pitchFamily="49" charset="-122"/>
              <a:cs typeface="Arial" panose="020B0604020202020204" pitchFamily="34" charset="0"/>
              <a:sym typeface="+mn-ea"/>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Two </a:t>
            </a:r>
            <a:r>
              <a:rPr lang="en-US" altLang="zh-CN">
                <a:sym typeface="+mn-ea"/>
              </a:rPr>
              <a:t>T</a:t>
            </a:r>
            <a:r>
              <a:rPr>
                <a:sym typeface="+mn-ea"/>
              </a:rPr>
              <a:t>raversal </a:t>
            </a:r>
            <a:r>
              <a:rPr lang="en-US" altLang="zh-CN">
                <a:sym typeface="+mn-ea"/>
              </a:rPr>
              <a:t>S</a:t>
            </a:r>
            <a:r>
              <a:rPr>
                <a:sym typeface="+mn-ea"/>
              </a:rPr>
              <a:t>trategies</a:t>
            </a:r>
            <a:endParaRPr lang="zh-CN" altLang="en-US" sz="4000" dirty="0">
              <a:solidFill>
                <a:srgbClr val="0000FF"/>
              </a:solidFill>
              <a:latin typeface="宋体" panose="02010600030101010101" pitchFamily="2" charset="-122"/>
            </a:endParaRPr>
          </a:p>
        </p:txBody>
      </p:sp>
      <p:sp>
        <p:nvSpPr>
          <p:cNvPr id="3" name="内容占位符 2"/>
          <p:cNvSpPr>
            <a:spLocks noGrp="1"/>
          </p:cNvSpPr>
          <p:nvPr>
            <p:ph idx="1"/>
          </p:nvPr>
        </p:nvSpPr>
        <p:spPr>
          <a:xfrm>
            <a:off x="323850" y="1124744"/>
            <a:ext cx="8280598" cy="5183981"/>
          </a:xfrm>
        </p:spPr>
        <p:txBody>
          <a:bodyPr/>
          <a:lstStyle/>
          <a:p>
            <a:pPr>
              <a:lnSpc>
                <a:spcPct val="120000"/>
              </a:lnSpc>
            </a:pPr>
            <a:r>
              <a:rPr lang="zh-CN" altLang="en-US" sz="3200" dirty="0">
                <a:cs typeface="Arial" panose="020B0604020202020204" pitchFamily="34" charset="0"/>
                <a:sym typeface="+mn-ea"/>
              </a:rPr>
              <a:t>There are usually two paths to traverse the graph:</a:t>
            </a:r>
            <a:endParaRPr lang="zh-CN" altLang="en-US" sz="3200" dirty="0">
              <a:cs typeface="Arial" panose="020B0604020202020204" pitchFamily="34" charset="0"/>
            </a:endParaRPr>
          </a:p>
          <a:p>
            <a:pPr lvl="1">
              <a:lnSpc>
                <a:spcPct val="120000"/>
              </a:lnSpc>
            </a:pPr>
            <a:r>
              <a:rPr lang="zh-CN" altLang="en-US" sz="3200" b="1" dirty="0">
                <a:solidFill>
                  <a:srgbClr val="FF0000"/>
                </a:solidFill>
                <a:cs typeface="Arial" panose="020B0604020202020204" pitchFamily="34" charset="0"/>
                <a:sym typeface="+mn-ea"/>
              </a:rPr>
              <a:t>Depth-first search </a:t>
            </a:r>
            <a:r>
              <a:rPr lang="zh-CN" altLang="en-US" sz="3200" dirty="0">
                <a:cs typeface="Arial" panose="020B0604020202020204" pitchFamily="34" charset="0"/>
                <a:sym typeface="+mn-ea"/>
              </a:rPr>
              <a:t>(vertical-first search)</a:t>
            </a:r>
            <a:endParaRPr lang="zh-CN" altLang="en-US" sz="3200" dirty="0">
              <a:cs typeface="Arial" panose="020B0604020202020204" pitchFamily="34" charset="0"/>
            </a:endParaRPr>
          </a:p>
          <a:p>
            <a:pPr lvl="2">
              <a:lnSpc>
                <a:spcPct val="120000"/>
              </a:lnSpc>
            </a:pPr>
            <a:r>
              <a:rPr lang="zh-CN" altLang="en-US" sz="3200" dirty="0">
                <a:solidFill>
                  <a:srgbClr val="800000"/>
                </a:solidFill>
                <a:cs typeface="Arial" panose="020B0604020202020204" pitchFamily="34" charset="0"/>
                <a:sym typeface="+mn-ea"/>
              </a:rPr>
              <a:t>Depth-first search traversal of a connected graph</a:t>
            </a:r>
            <a:endParaRPr lang="en-US" altLang="zh-CN" sz="3200" dirty="0">
              <a:solidFill>
                <a:srgbClr val="800000"/>
              </a:solidFill>
              <a:cs typeface="Arial" panose="020B0604020202020204" pitchFamily="34" charset="0"/>
            </a:endParaRPr>
          </a:p>
          <a:p>
            <a:pPr lvl="2">
              <a:lnSpc>
                <a:spcPct val="120000"/>
              </a:lnSpc>
            </a:pPr>
            <a:r>
              <a:rPr lang="zh-CN" altLang="en-US" sz="3200" dirty="0">
                <a:solidFill>
                  <a:srgbClr val="800000"/>
                </a:solidFill>
                <a:cs typeface="Arial" panose="020B0604020202020204" pitchFamily="34" charset="0"/>
                <a:sym typeface="+mn-ea"/>
              </a:rPr>
              <a:t>Depth-first search traversal of a disconnected graph</a:t>
            </a:r>
            <a:endParaRPr lang="en-US" altLang="zh-CN" sz="3200" dirty="0">
              <a:cs typeface="Arial" panose="020B0604020202020204" pitchFamily="34" charset="0"/>
            </a:endParaRPr>
          </a:p>
          <a:p>
            <a:pPr lvl="1" algn="l">
              <a:lnSpc>
                <a:spcPct val="120000"/>
              </a:lnSpc>
            </a:pPr>
            <a:r>
              <a:rPr lang="zh-CN" altLang="en-US" sz="3200" b="1" dirty="0">
                <a:solidFill>
                  <a:srgbClr val="FF0000"/>
                </a:solidFill>
                <a:cs typeface="Arial" panose="020B0604020202020204" pitchFamily="34" charset="0"/>
                <a:sym typeface="+mn-ea"/>
              </a:rPr>
              <a:t>Breadth-first search </a:t>
            </a:r>
            <a:r>
              <a:rPr lang="zh-CN" altLang="en-US" sz="3200" dirty="0">
                <a:cs typeface="Arial" panose="020B0604020202020204" pitchFamily="34" charset="0"/>
                <a:sym typeface="+mn-ea"/>
              </a:rPr>
              <a:t>(or breadth-first traversal)</a:t>
            </a:r>
            <a:endParaRPr lang="zh-CN" altLang="en-US"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solidFill>
                  <a:srgbClr val="0000FF"/>
                </a:solidFill>
                <a:cs typeface="Arial" panose="020B0604020202020204" pitchFamily="34" charset="0"/>
              </a:rPr>
              <a:t>Depth-First Search Traversal of Graphs</a:t>
            </a:r>
            <a:endParaRPr lang="en-US" altLang="zh-CN" sz="4000" dirty="0">
              <a:solidFill>
                <a:srgbClr val="0000FF"/>
              </a:solidFill>
              <a:cs typeface="Arial" panose="020B0604020202020204" pitchFamily="34" charset="0"/>
            </a:endParaRPr>
          </a:p>
        </p:txBody>
      </p:sp>
      <p:sp>
        <p:nvSpPr>
          <p:cNvPr id="3" name="内容占位符 2"/>
          <p:cNvSpPr>
            <a:spLocks noGrp="1"/>
          </p:cNvSpPr>
          <p:nvPr>
            <p:ph idx="1"/>
          </p:nvPr>
        </p:nvSpPr>
        <p:spPr>
          <a:xfrm>
            <a:off x="323850" y="1124744"/>
            <a:ext cx="8280598" cy="5183981"/>
          </a:xfrm>
        </p:spPr>
        <p:txBody>
          <a:bodyPr/>
          <a:lstStyle/>
          <a:p>
            <a:pPr>
              <a:lnSpc>
                <a:spcPct val="120000"/>
              </a:lnSpc>
            </a:pPr>
            <a:r>
              <a:rPr lang="zh-CN" altLang="en-US" sz="3200" dirty="0">
                <a:cs typeface="Arial" panose="020B0604020202020204" pitchFamily="34" charset="0"/>
                <a:sym typeface="+mn-ea"/>
              </a:rPr>
              <a:t>There are usually two paths to traverse the graph:</a:t>
            </a:r>
            <a:endParaRPr lang="zh-CN" altLang="en-US" sz="3200" dirty="0">
              <a:cs typeface="Arial" panose="020B0604020202020204" pitchFamily="34" charset="0"/>
            </a:endParaRPr>
          </a:p>
          <a:p>
            <a:pPr lvl="1">
              <a:lnSpc>
                <a:spcPct val="120000"/>
              </a:lnSpc>
            </a:pPr>
            <a:r>
              <a:rPr lang="zh-CN" altLang="en-US" sz="3200" dirty="0">
                <a:solidFill>
                  <a:srgbClr val="FF0000"/>
                </a:solidFill>
                <a:cs typeface="Arial" panose="020B0604020202020204" pitchFamily="34" charset="0"/>
                <a:sym typeface="+mn-ea"/>
              </a:rPr>
              <a:t>Depth-first search (vertical-first search)</a:t>
            </a:r>
            <a:endParaRPr lang="en-US" altLang="zh-CN" sz="3200" dirty="0">
              <a:solidFill>
                <a:srgbClr val="FF0000"/>
              </a:solidFill>
              <a:cs typeface="Arial" panose="020B0604020202020204" pitchFamily="34" charset="0"/>
            </a:endParaRPr>
          </a:p>
          <a:p>
            <a:pPr lvl="2">
              <a:lnSpc>
                <a:spcPct val="120000"/>
              </a:lnSpc>
            </a:pPr>
            <a:r>
              <a:rPr lang="zh-CN" altLang="en-US" sz="3200" dirty="0">
                <a:solidFill>
                  <a:srgbClr val="FF0000"/>
                </a:solidFill>
                <a:cs typeface="Arial" panose="020B0604020202020204" pitchFamily="34" charset="0"/>
                <a:sym typeface="+mn-ea"/>
              </a:rPr>
              <a:t>Depth-first search traversal of a connected graph</a:t>
            </a:r>
            <a:endParaRPr lang="en-US" altLang="zh-CN" sz="3200" dirty="0">
              <a:solidFill>
                <a:srgbClr val="FF0000"/>
              </a:solidFill>
              <a:cs typeface="Arial" panose="020B0604020202020204" pitchFamily="34" charset="0"/>
            </a:endParaRPr>
          </a:p>
          <a:p>
            <a:pPr lvl="2">
              <a:lnSpc>
                <a:spcPct val="120000"/>
              </a:lnSpc>
            </a:pPr>
            <a:r>
              <a:rPr lang="zh-CN" altLang="en-US" sz="3200" dirty="0">
                <a:solidFill>
                  <a:schemeClr val="tx2"/>
                </a:solidFill>
                <a:cs typeface="Arial" panose="020B0604020202020204" pitchFamily="34" charset="0"/>
                <a:sym typeface="+mn-ea"/>
              </a:rPr>
              <a:t>Depth-first search traversal of a disconnected graph</a:t>
            </a:r>
            <a:endParaRPr lang="en-US" altLang="zh-CN" sz="3200" dirty="0">
              <a:solidFill>
                <a:schemeClr val="tx2"/>
              </a:solidFill>
              <a:cs typeface="Arial" panose="020B0604020202020204" pitchFamily="34" charset="0"/>
            </a:endParaRPr>
          </a:p>
          <a:p>
            <a:pPr lvl="1">
              <a:lnSpc>
                <a:spcPct val="120000"/>
              </a:lnSpc>
            </a:pPr>
            <a:r>
              <a:rPr lang="zh-CN" altLang="en-US" sz="3200" dirty="0">
                <a:cs typeface="Arial" panose="020B0604020202020204" pitchFamily="34" charset="0"/>
                <a:sym typeface="+mn-ea"/>
              </a:rPr>
              <a:t>Breadth-First Search (Horizontal Priority Search)</a:t>
            </a:r>
            <a:endParaRPr lang="zh-CN" altLang="en-US"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solidFill>
                  <a:srgbClr val="FF0000"/>
                </a:solidFill>
                <a:cs typeface="Arial" panose="020B0604020202020204" pitchFamily="34" charset="0"/>
              </a:rPr>
              <a:t>Depth-First Search Traversal of Connected Graphs</a:t>
            </a:r>
            <a:endParaRPr lang="en-US" altLang="zh-CN" sz="4000" dirty="0">
              <a:solidFill>
                <a:srgbClr val="FF0000"/>
              </a:solidFill>
              <a:cs typeface="Arial" panose="020B0604020202020204" pitchFamily="34" charset="0"/>
            </a:endParaRPr>
          </a:p>
        </p:txBody>
      </p:sp>
      <p:sp>
        <p:nvSpPr>
          <p:cNvPr id="3" name="内容占位符 2"/>
          <p:cNvSpPr>
            <a:spLocks noGrp="1"/>
          </p:cNvSpPr>
          <p:nvPr>
            <p:ph idx="1"/>
          </p:nvPr>
        </p:nvSpPr>
        <p:spPr>
          <a:xfrm>
            <a:off x="323850" y="1124744"/>
            <a:ext cx="8280598" cy="5183981"/>
          </a:xfrm>
        </p:spPr>
        <p:txBody>
          <a:bodyPr/>
          <a:lstStyle/>
          <a:p>
            <a:pPr>
              <a:lnSpc>
                <a:spcPct val="120000"/>
              </a:lnSpc>
            </a:pPr>
            <a:r>
              <a:rPr lang="zh-CN" altLang="en-US" sz="3200" dirty="0">
                <a:solidFill>
                  <a:srgbClr val="000099"/>
                </a:solidFill>
                <a:ea typeface="楷体_GB2312" pitchFamily="49" charset="-122"/>
                <a:cs typeface="Arial" panose="020B0604020202020204" pitchFamily="34" charset="0"/>
              </a:rPr>
              <a:t>Start from a vertex </a:t>
            </a:r>
            <a:r>
              <a:rPr lang="zh-CN" altLang="en-US" sz="3200" dirty="0">
                <a:solidFill>
                  <a:srgbClr val="000099"/>
                </a:solidFill>
                <a:ea typeface="楷体_GB2312" pitchFamily="49" charset="-122"/>
                <a:cs typeface="Arial" panose="020B0604020202020204" pitchFamily="34" charset="0"/>
                <a:sym typeface="+mn-ea"/>
              </a:rPr>
              <a:t>V</a:t>
            </a:r>
            <a:r>
              <a:rPr lang="zh-CN" altLang="en-US" sz="3200" baseline="-25000" dirty="0">
                <a:solidFill>
                  <a:srgbClr val="000099"/>
                </a:solidFill>
                <a:ea typeface="楷体_GB2312" pitchFamily="49" charset="-122"/>
                <a:cs typeface="Arial" panose="020B0604020202020204" pitchFamily="34" charset="0"/>
                <a:sym typeface="+mn-ea"/>
              </a:rPr>
              <a:t>0</a:t>
            </a:r>
            <a:r>
              <a:rPr lang="zh-CN" altLang="en-US" sz="3200" dirty="0">
                <a:solidFill>
                  <a:srgbClr val="000099"/>
                </a:solidFill>
                <a:ea typeface="楷体_GB2312" pitchFamily="49" charset="-122"/>
                <a:cs typeface="Arial" panose="020B0604020202020204" pitchFamily="34" charset="0"/>
                <a:sym typeface="+mn-ea"/>
              </a:rPr>
              <a:t> </a:t>
            </a:r>
            <a:r>
              <a:rPr lang="zh-CN" altLang="en-US" sz="3200" dirty="0">
                <a:solidFill>
                  <a:srgbClr val="000099"/>
                </a:solidFill>
                <a:ea typeface="楷体_GB2312" pitchFamily="49" charset="-122"/>
                <a:cs typeface="Arial" panose="020B0604020202020204" pitchFamily="34" charset="0"/>
              </a:rPr>
              <a:t> in the graph, visit this vertex, and then sequentially conduct depth-first search traversal of the graph </a:t>
            </a:r>
            <a:r>
              <a:rPr lang="zh-CN" altLang="en-US" sz="3200" dirty="0">
                <a:solidFill>
                  <a:srgbClr val="0000FF"/>
                </a:solidFill>
                <a:ea typeface="楷体_GB2312" pitchFamily="49" charset="-122"/>
                <a:cs typeface="Arial" panose="020B0604020202020204" pitchFamily="34" charset="0"/>
              </a:rPr>
              <a:t>starting from each </a:t>
            </a:r>
            <a:r>
              <a:rPr lang="zh-CN" altLang="en-US" sz="3200" dirty="0">
                <a:solidFill>
                  <a:srgbClr val="FF0000"/>
                </a:solidFill>
                <a:ea typeface="楷体_GB2312" pitchFamily="49" charset="-122"/>
                <a:cs typeface="Arial" panose="020B0604020202020204" pitchFamily="34" charset="0"/>
              </a:rPr>
              <a:t>unvisited adjacent vertex</a:t>
            </a:r>
            <a:r>
              <a:rPr lang="zh-CN" altLang="en-US" sz="3200" dirty="0">
                <a:solidFill>
                  <a:srgbClr val="0000FF"/>
                </a:solidFill>
                <a:ea typeface="楷体_GB2312" pitchFamily="49" charset="-122"/>
                <a:cs typeface="Arial" panose="020B0604020202020204" pitchFamily="34" charset="0"/>
              </a:rPr>
              <a:t> of </a:t>
            </a:r>
            <a:r>
              <a:rPr lang="zh-CN" altLang="en-US" sz="3200" dirty="0">
                <a:solidFill>
                  <a:srgbClr val="0000FF"/>
                </a:solidFill>
                <a:ea typeface="楷体_GB2312" pitchFamily="49" charset="-122"/>
                <a:cs typeface="Arial" panose="020B0604020202020204" pitchFamily="34" charset="0"/>
                <a:sym typeface="+mn-ea"/>
              </a:rPr>
              <a:t>V</a:t>
            </a:r>
            <a:r>
              <a:rPr lang="zh-CN" altLang="en-US" sz="3200" baseline="-25000" dirty="0">
                <a:solidFill>
                  <a:srgbClr val="0000FF"/>
                </a:solidFill>
                <a:ea typeface="楷体_GB2312" pitchFamily="49" charset="-122"/>
                <a:cs typeface="Arial" panose="020B0604020202020204" pitchFamily="34" charset="0"/>
                <a:sym typeface="+mn-ea"/>
              </a:rPr>
              <a:t>0 </a:t>
            </a:r>
            <a:r>
              <a:rPr lang="zh-CN" altLang="en-US" sz="3200" dirty="0">
                <a:solidFill>
                  <a:srgbClr val="0000FF"/>
                </a:solidFill>
                <a:ea typeface="楷体_GB2312" pitchFamily="49" charset="-122"/>
                <a:cs typeface="Arial" panose="020B0604020202020204" pitchFamily="34" charset="0"/>
              </a:rPr>
              <a:t> until all vertices </a:t>
            </a:r>
            <a:r>
              <a:rPr lang="zh-CN" altLang="en-US" sz="3200" dirty="0">
                <a:solidFill>
                  <a:srgbClr val="000099"/>
                </a:solidFill>
                <a:ea typeface="楷体_GB2312" pitchFamily="49" charset="-122"/>
                <a:cs typeface="Arial" panose="020B0604020202020204" pitchFamily="34" charset="0"/>
              </a:rPr>
              <a:t>in the graph that are reachable from </a:t>
            </a:r>
            <a:r>
              <a:rPr lang="zh-CN" altLang="en-US" sz="3200" dirty="0">
                <a:solidFill>
                  <a:srgbClr val="000099"/>
                </a:solidFill>
                <a:ea typeface="楷体_GB2312" pitchFamily="49" charset="-122"/>
                <a:cs typeface="Arial" panose="020B0604020202020204" pitchFamily="34" charset="0"/>
                <a:sym typeface="+mn-ea"/>
              </a:rPr>
              <a:t>V</a:t>
            </a:r>
            <a:r>
              <a:rPr lang="zh-CN" altLang="en-US" sz="3200" baseline="-25000" dirty="0">
                <a:solidFill>
                  <a:srgbClr val="000099"/>
                </a:solidFill>
                <a:ea typeface="楷体_GB2312" pitchFamily="49" charset="-122"/>
                <a:cs typeface="Arial" panose="020B0604020202020204" pitchFamily="34" charset="0"/>
                <a:sym typeface="+mn-ea"/>
              </a:rPr>
              <a:t>0</a:t>
            </a:r>
            <a:r>
              <a:rPr lang="zh-CN" altLang="en-US" sz="3200" dirty="0">
                <a:solidFill>
                  <a:srgbClr val="000099"/>
                </a:solidFill>
                <a:ea typeface="楷体_GB2312" pitchFamily="49" charset="-122"/>
                <a:cs typeface="Arial" panose="020B0604020202020204" pitchFamily="34" charset="0"/>
                <a:sym typeface="+mn-ea"/>
              </a:rPr>
              <a:t> </a:t>
            </a:r>
            <a:r>
              <a:rPr lang="zh-CN" altLang="en-US" sz="3200" dirty="0">
                <a:solidFill>
                  <a:srgbClr val="000099"/>
                </a:solidFill>
                <a:ea typeface="楷体_GB2312" pitchFamily="49" charset="-122"/>
                <a:cs typeface="Arial" panose="020B0604020202020204" pitchFamily="34" charset="0"/>
              </a:rPr>
              <a:t> via a path have been visited.</a:t>
            </a:r>
            <a:endParaRPr lang="zh-CN" altLang="en-US" sz="3200" dirty="0">
              <a:solidFill>
                <a:srgbClr val="000099"/>
              </a:solidFill>
              <a:ea typeface="楷体_GB2312" pitchFamily="49" charset="-122"/>
              <a:cs typeface="Arial" panose="020B0604020202020204" pitchFamily="34" charset="0"/>
            </a:endParaRPr>
          </a:p>
          <a:p>
            <a:pPr algn="l">
              <a:lnSpc>
                <a:spcPct val="120000"/>
              </a:lnSpc>
              <a:buClrTx/>
              <a:buSzTx/>
              <a:buBlip>
                <a:blip r:embed="rId1"/>
              </a:buBlip>
            </a:pPr>
            <a:r>
              <a:rPr lang="en-US" altLang="zh-CN" sz="3600" dirty="0">
                <a:solidFill>
                  <a:srgbClr val="000099"/>
                </a:solidFill>
                <a:ea typeface="楷体_GB2312" pitchFamily="49" charset="-122"/>
                <a:cs typeface="Arial" panose="020B0604020202020204" pitchFamily="34" charset="0"/>
              </a:rPr>
              <a:t>NB. Application of Stack</a:t>
            </a:r>
            <a:endParaRPr lang="en-US" altLang="zh-CN" sz="3600" dirty="0">
              <a:solidFill>
                <a:srgbClr val="000099"/>
              </a:solidFill>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cs typeface="Arial" panose="020B0604020202020204" pitchFamily="34" charset="0"/>
                <a:sym typeface="+mn-ea"/>
              </a:rPr>
              <a:t>Depth-first search traversal example (Wing)</a:t>
            </a:r>
            <a:endParaRPr lang="zh-CN" altLang="en-US" sz="4000" dirty="0">
              <a:solidFill>
                <a:srgbClr val="FF0000"/>
              </a:solidFill>
              <a:cs typeface="Arial" panose="020B0604020202020204" pitchFamily="34" charset="0"/>
            </a:endParaRPr>
          </a:p>
        </p:txBody>
      </p:sp>
      <p:sp>
        <p:nvSpPr>
          <p:cNvPr id="3" name="内容占位符 2"/>
          <p:cNvSpPr>
            <a:spLocks noGrp="1"/>
          </p:cNvSpPr>
          <p:nvPr>
            <p:ph idx="1"/>
          </p:nvPr>
        </p:nvSpPr>
        <p:spPr>
          <a:xfrm>
            <a:off x="323850" y="1124745"/>
            <a:ext cx="3888110" cy="3168352"/>
          </a:xfrm>
        </p:spPr>
        <p:txBody>
          <a:bodyPr/>
          <a:lstStyle/>
          <a:p>
            <a:pPr>
              <a:lnSpc>
                <a:spcPct val="120000"/>
              </a:lnSpc>
            </a:pP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1</a:t>
            </a:r>
            <a:r>
              <a:rPr lang="zh-CN" altLang="en-US" sz="2400" dirty="0">
                <a:solidFill>
                  <a:srgbClr val="000099"/>
                </a:solidFill>
                <a:cs typeface="Arial" panose="020B0604020202020204" pitchFamily="34" charset="0"/>
                <a:sym typeface="+mn-ea"/>
              </a:rPr>
              <a:t>、</a:t>
            </a: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2 </a:t>
            </a:r>
            <a:r>
              <a:rPr lang="en-US" altLang="zh-CN" sz="2400" dirty="0">
                <a:solidFill>
                  <a:srgbClr val="000099"/>
                </a:solidFill>
                <a:cs typeface="Arial" panose="020B0604020202020204" pitchFamily="34" charset="0"/>
                <a:sym typeface="+mn-ea"/>
              </a:rPr>
              <a:t>and</a:t>
            </a:r>
            <a:r>
              <a:rPr lang="en-US" altLang="zh-CN" sz="2400" baseline="-25000" dirty="0">
                <a:solidFill>
                  <a:srgbClr val="000099"/>
                </a:solidFill>
                <a:cs typeface="Arial" panose="020B0604020202020204" pitchFamily="34" charset="0"/>
                <a:sym typeface="+mn-ea"/>
              </a:rPr>
              <a:t> </a:t>
            </a: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3</a:t>
            </a:r>
            <a:r>
              <a:rPr lang="en-US" altLang="zh-CN" sz="2400" dirty="0">
                <a:solidFill>
                  <a:srgbClr val="000099"/>
                </a:solidFill>
                <a:cs typeface="Arial" panose="020B0604020202020204" pitchFamily="34" charset="0"/>
                <a:sym typeface="+mn-ea"/>
              </a:rPr>
              <a:t> are all adjacent to vertex V, while SG</a:t>
            </a:r>
            <a:r>
              <a:rPr lang="en-US" altLang="zh-CN" sz="2400" baseline="-25000" dirty="0">
                <a:solidFill>
                  <a:srgbClr val="000099"/>
                </a:solidFill>
                <a:cs typeface="Arial" panose="020B0604020202020204" pitchFamily="34" charset="0"/>
                <a:sym typeface="+mn-ea"/>
              </a:rPr>
              <a:t>1</a:t>
            </a:r>
            <a:r>
              <a:rPr lang="zh-CN" altLang="en-US" sz="2400" dirty="0">
                <a:solidFill>
                  <a:srgbClr val="000099"/>
                </a:solidFill>
                <a:cs typeface="Arial" panose="020B0604020202020204" pitchFamily="34" charset="0"/>
                <a:sym typeface="+mn-ea"/>
              </a:rPr>
              <a:t>、</a:t>
            </a:r>
            <a:r>
              <a:rPr lang="en-US" altLang="zh-CN" sz="2400" dirty="0">
                <a:solidFill>
                  <a:srgbClr val="000099"/>
                </a:solidFill>
                <a:cs typeface="Arial" panose="020B0604020202020204" pitchFamily="34" charset="0"/>
                <a:sym typeface="+mn-ea"/>
              </a:rPr>
              <a:t>SG</a:t>
            </a:r>
            <a:r>
              <a:rPr lang="en-US" altLang="zh-CN" sz="2400" baseline="-25000" dirty="0">
                <a:solidFill>
                  <a:srgbClr val="000099"/>
                </a:solidFill>
                <a:cs typeface="Arial" panose="020B0604020202020204" pitchFamily="34" charset="0"/>
                <a:sym typeface="+mn-ea"/>
              </a:rPr>
              <a:t>2 </a:t>
            </a:r>
            <a:r>
              <a:rPr lang="en-US" altLang="zh-CN" sz="2400" dirty="0">
                <a:solidFill>
                  <a:srgbClr val="000099"/>
                </a:solidFill>
                <a:cs typeface="Arial" panose="020B0604020202020204" pitchFamily="34" charset="0"/>
                <a:sym typeface="+mn-ea"/>
              </a:rPr>
              <a:t>and SG</a:t>
            </a:r>
            <a:r>
              <a:rPr lang="en-US" altLang="zh-CN" sz="2400" baseline="-25000" dirty="0">
                <a:solidFill>
                  <a:srgbClr val="000099"/>
                </a:solidFill>
                <a:cs typeface="Arial" panose="020B0604020202020204" pitchFamily="34" charset="0"/>
                <a:sym typeface="+mn-ea"/>
              </a:rPr>
              <a:t>3 </a:t>
            </a:r>
            <a:r>
              <a:rPr lang="en-US" altLang="zh-CN" sz="2400" dirty="0">
                <a:solidFill>
                  <a:srgbClr val="000099"/>
                </a:solidFill>
                <a:cs typeface="Arial" panose="020B0604020202020204" pitchFamily="34" charset="0"/>
                <a:sym typeface="+mn-ea"/>
              </a:rPr>
              <a:t>are subgraphs containing vertices</a:t>
            </a: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1</a:t>
            </a:r>
            <a:r>
              <a:rPr lang="zh-CN" altLang="en-US" sz="2400" dirty="0">
                <a:solidFill>
                  <a:srgbClr val="000099"/>
                </a:solidFill>
                <a:cs typeface="Arial" panose="020B0604020202020204" pitchFamily="34" charset="0"/>
                <a:sym typeface="+mn-ea"/>
              </a:rPr>
              <a:t>、</a:t>
            </a: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2 </a:t>
            </a:r>
            <a:r>
              <a:rPr lang="en-US" altLang="zh-CN" sz="2400" dirty="0">
                <a:solidFill>
                  <a:srgbClr val="000099"/>
                </a:solidFill>
                <a:cs typeface="Arial" panose="020B0604020202020204" pitchFamily="34" charset="0"/>
                <a:sym typeface="+mn-ea"/>
              </a:rPr>
              <a:t>and</a:t>
            </a:r>
            <a:r>
              <a:rPr lang="en-US" altLang="zh-CN" sz="2400" baseline="-25000" dirty="0">
                <a:solidFill>
                  <a:srgbClr val="000099"/>
                </a:solidFill>
                <a:cs typeface="Arial" panose="020B0604020202020204" pitchFamily="34" charset="0"/>
                <a:sym typeface="+mn-ea"/>
              </a:rPr>
              <a:t> </a:t>
            </a:r>
            <a:r>
              <a:rPr lang="en-US" altLang="zh-CN" sz="2400" dirty="0">
                <a:solidFill>
                  <a:srgbClr val="000099"/>
                </a:solidFill>
                <a:cs typeface="Arial" panose="020B0604020202020204" pitchFamily="34" charset="0"/>
                <a:sym typeface="+mn-ea"/>
              </a:rPr>
              <a:t>W</a:t>
            </a:r>
            <a:r>
              <a:rPr lang="en-US" altLang="zh-CN" sz="2400" baseline="-25000" dirty="0">
                <a:solidFill>
                  <a:srgbClr val="000099"/>
                </a:solidFill>
                <a:cs typeface="Arial" panose="020B0604020202020204" pitchFamily="34" charset="0"/>
                <a:sym typeface="+mn-ea"/>
              </a:rPr>
              <a:t>3</a:t>
            </a:r>
            <a:r>
              <a:rPr lang="en-US" altLang="zh-CN" sz="2400" dirty="0">
                <a:solidFill>
                  <a:srgbClr val="000099"/>
                </a:solidFill>
                <a:cs typeface="Arial" panose="020B0604020202020204" pitchFamily="34" charset="0"/>
                <a:sym typeface="+mn-ea"/>
              </a:rPr>
              <a:t>respectively.</a:t>
            </a:r>
            <a:endParaRPr lang="en-US" altLang="zh-CN" sz="2400" dirty="0">
              <a:solidFill>
                <a:srgbClr val="000099"/>
              </a:solidFill>
              <a:cs typeface="Arial" panose="020B0604020202020204" pitchFamily="34" charset="0"/>
              <a:sym typeface="+mn-ea"/>
            </a:endParaRPr>
          </a:p>
        </p:txBody>
      </p:sp>
      <p:sp>
        <p:nvSpPr>
          <p:cNvPr id="6" name="Oval 2"/>
          <p:cNvSpPr>
            <a:spLocks noChangeArrowheads="1"/>
          </p:cNvSpPr>
          <p:nvPr/>
        </p:nvSpPr>
        <p:spPr bwMode="auto">
          <a:xfrm>
            <a:off x="6040760" y="1052736"/>
            <a:ext cx="609600" cy="6096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V</a:t>
            </a:r>
            <a:endParaRPr lang="en-US" altLang="zh-CN"/>
          </a:p>
        </p:txBody>
      </p:sp>
      <p:sp>
        <p:nvSpPr>
          <p:cNvPr id="7" name="Oval 3"/>
          <p:cNvSpPr>
            <a:spLocks noChangeArrowheads="1"/>
          </p:cNvSpPr>
          <p:nvPr/>
        </p:nvSpPr>
        <p:spPr bwMode="auto">
          <a:xfrm>
            <a:off x="4211960" y="2119536"/>
            <a:ext cx="2438400" cy="1828800"/>
          </a:xfrm>
          <a:prstGeom prst="ellipse">
            <a:avLst/>
          </a:prstGeom>
          <a:solidFill>
            <a:srgbClr val="FFCC99">
              <a:alpha val="50000"/>
            </a:srgbClr>
          </a:solidFill>
          <a:ln w="12700"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Oval 4"/>
          <p:cNvSpPr>
            <a:spLocks noChangeArrowheads="1"/>
          </p:cNvSpPr>
          <p:nvPr/>
        </p:nvSpPr>
        <p:spPr bwMode="auto">
          <a:xfrm>
            <a:off x="5431160" y="2195736"/>
            <a:ext cx="2133600" cy="1752600"/>
          </a:xfrm>
          <a:prstGeom prst="ellipse">
            <a:avLst/>
          </a:prstGeom>
          <a:solidFill>
            <a:srgbClr val="FFCC99">
              <a:alpha val="50000"/>
            </a:srgbClr>
          </a:solidFill>
          <a:ln w="12700"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5"/>
          <p:cNvSpPr>
            <a:spLocks noChangeArrowheads="1"/>
          </p:cNvSpPr>
          <p:nvPr/>
        </p:nvSpPr>
        <p:spPr bwMode="auto">
          <a:xfrm>
            <a:off x="7336160" y="2195736"/>
            <a:ext cx="914400" cy="1752600"/>
          </a:xfrm>
          <a:prstGeom prst="ellipse">
            <a:avLst/>
          </a:prstGeom>
          <a:solidFill>
            <a:srgbClr val="FFCC99">
              <a:alpha val="50000"/>
            </a:srgbClr>
          </a:solidFill>
          <a:ln w="12700"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Oval 6"/>
          <p:cNvSpPr>
            <a:spLocks noChangeArrowheads="1"/>
          </p:cNvSpPr>
          <p:nvPr/>
        </p:nvSpPr>
        <p:spPr bwMode="auto">
          <a:xfrm>
            <a:off x="4745360" y="2195736"/>
            <a:ext cx="533400" cy="6096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1</a:t>
            </a:r>
            <a:endParaRPr lang="en-US" altLang="zh-CN"/>
          </a:p>
        </p:txBody>
      </p:sp>
      <p:sp>
        <p:nvSpPr>
          <p:cNvPr id="11" name="Line 7"/>
          <p:cNvSpPr>
            <a:spLocks noChangeShapeType="1"/>
          </p:cNvSpPr>
          <p:nvPr/>
        </p:nvSpPr>
        <p:spPr bwMode="auto">
          <a:xfrm flipH="1">
            <a:off x="4973960" y="1357536"/>
            <a:ext cx="1066800" cy="838200"/>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8"/>
          <p:cNvSpPr>
            <a:spLocks noChangeShapeType="1"/>
          </p:cNvSpPr>
          <p:nvPr/>
        </p:nvSpPr>
        <p:spPr bwMode="auto">
          <a:xfrm flipH="1">
            <a:off x="6116960" y="1662336"/>
            <a:ext cx="228600" cy="609600"/>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9"/>
          <p:cNvSpPr>
            <a:spLocks noChangeShapeType="1"/>
          </p:cNvSpPr>
          <p:nvPr/>
        </p:nvSpPr>
        <p:spPr bwMode="auto">
          <a:xfrm>
            <a:off x="6650360" y="1357536"/>
            <a:ext cx="1143000" cy="914400"/>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Text Box 10"/>
          <p:cNvSpPr txBox="1">
            <a:spLocks noChangeArrowheads="1"/>
          </p:cNvSpPr>
          <p:nvPr/>
        </p:nvSpPr>
        <p:spPr bwMode="auto">
          <a:xfrm>
            <a:off x="4691385" y="3338736"/>
            <a:ext cx="88872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000099"/>
                </a:solidFill>
              </a:rPr>
              <a:t>SG</a:t>
            </a:r>
            <a:r>
              <a:rPr lang="en-US" altLang="zh-CN" b="1" baseline="-25000" dirty="0">
                <a:solidFill>
                  <a:srgbClr val="000099"/>
                </a:solidFill>
              </a:rPr>
              <a:t>1</a:t>
            </a:r>
            <a:endParaRPr lang="en-US" altLang="zh-CN" dirty="0"/>
          </a:p>
        </p:txBody>
      </p:sp>
      <p:sp>
        <p:nvSpPr>
          <p:cNvPr id="15" name="Text Box 11"/>
          <p:cNvSpPr txBox="1">
            <a:spLocks noChangeArrowheads="1"/>
          </p:cNvSpPr>
          <p:nvPr/>
        </p:nvSpPr>
        <p:spPr bwMode="auto">
          <a:xfrm>
            <a:off x="6345560" y="3338736"/>
            <a:ext cx="8921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000099"/>
                </a:solidFill>
              </a:rPr>
              <a:t>SG</a:t>
            </a:r>
            <a:r>
              <a:rPr lang="en-US" altLang="zh-CN" b="1" baseline="-25000" dirty="0">
                <a:solidFill>
                  <a:srgbClr val="000099"/>
                </a:solidFill>
              </a:rPr>
              <a:t>2</a:t>
            </a:r>
            <a:endParaRPr lang="en-US" altLang="zh-CN" dirty="0"/>
          </a:p>
        </p:txBody>
      </p:sp>
      <p:sp>
        <p:nvSpPr>
          <p:cNvPr id="16" name="Text Box 12"/>
          <p:cNvSpPr txBox="1">
            <a:spLocks noChangeArrowheads="1"/>
          </p:cNvSpPr>
          <p:nvPr/>
        </p:nvSpPr>
        <p:spPr bwMode="auto">
          <a:xfrm>
            <a:off x="7510785" y="3262536"/>
            <a:ext cx="9496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000099"/>
                </a:solidFill>
              </a:rPr>
              <a:t>SG</a:t>
            </a:r>
            <a:r>
              <a:rPr lang="en-US" altLang="zh-CN" b="1" baseline="-25000" dirty="0">
                <a:solidFill>
                  <a:srgbClr val="000099"/>
                </a:solidFill>
              </a:rPr>
              <a:t>3</a:t>
            </a:r>
            <a:endParaRPr lang="en-US" altLang="zh-CN" dirty="0"/>
          </a:p>
        </p:txBody>
      </p:sp>
      <p:sp>
        <p:nvSpPr>
          <p:cNvPr id="17" name="Oval 16"/>
          <p:cNvSpPr>
            <a:spLocks noChangeArrowheads="1"/>
          </p:cNvSpPr>
          <p:nvPr/>
        </p:nvSpPr>
        <p:spPr bwMode="auto">
          <a:xfrm>
            <a:off x="7488560" y="2195736"/>
            <a:ext cx="533400" cy="6096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3</a:t>
            </a:r>
            <a:endParaRPr lang="en-US" altLang="zh-CN"/>
          </a:p>
        </p:txBody>
      </p:sp>
      <p:sp>
        <p:nvSpPr>
          <p:cNvPr id="18" name="Oval 17"/>
          <p:cNvSpPr>
            <a:spLocks noChangeArrowheads="1"/>
          </p:cNvSpPr>
          <p:nvPr/>
        </p:nvSpPr>
        <p:spPr bwMode="auto">
          <a:xfrm>
            <a:off x="5812160" y="2271936"/>
            <a:ext cx="533400" cy="6096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2</a:t>
            </a:r>
            <a:endParaRPr lang="en-US" altLang="zh-CN"/>
          </a:p>
        </p:txBody>
      </p:sp>
      <p:sp>
        <p:nvSpPr>
          <p:cNvPr id="19" name="Text Box 14"/>
          <p:cNvSpPr txBox="1">
            <a:spLocks noChangeArrowheads="1"/>
          </p:cNvSpPr>
          <p:nvPr/>
        </p:nvSpPr>
        <p:spPr bwMode="auto">
          <a:xfrm>
            <a:off x="971600" y="4220737"/>
            <a:ext cx="7408863" cy="2306320"/>
          </a:xfrm>
          <a:prstGeom prst="rect">
            <a:avLst/>
          </a:prstGeom>
          <a:solidFill>
            <a:srgbClr val="E1E2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Access vertex V;</a:t>
            </a:r>
            <a:endParaRPr lang="en-US" altLang="zh-CN" sz="2400" dirty="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2400" dirty="0">
                <a:solidFill>
                  <a:srgbClr val="000099"/>
                </a:solidFill>
                <a:latin typeface="Arial" panose="020B0604020202020204" pitchFamily="34" charset="0"/>
                <a:ea typeface="楷体_GB2312" pitchFamily="49" charset="-122"/>
                <a:cs typeface="Arial" panose="020B0604020202020204" pitchFamily="34" charset="0"/>
                <a:sym typeface="+mn-ea"/>
              </a:rPr>
              <a:t>for (W</a:t>
            </a:r>
            <a:r>
              <a:rPr lang="en-US" altLang="zh-CN" sz="2400" baseline="-25000" dirty="0">
                <a:solidFill>
                  <a:srgbClr val="000099"/>
                </a:solidFill>
                <a:latin typeface="Arial" panose="020B0604020202020204" pitchFamily="34" charset="0"/>
                <a:ea typeface="楷体_GB2312" pitchFamily="49" charset="-122"/>
                <a:cs typeface="Arial" panose="020B0604020202020204" pitchFamily="34" charset="0"/>
                <a:sym typeface="+mn-ea"/>
              </a:rPr>
              <a:t>1</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a:t>
            </a:r>
            <a:r>
              <a:rPr lang="en-US" altLang="zh-CN" sz="2400" dirty="0">
                <a:solidFill>
                  <a:srgbClr val="000099"/>
                </a:solidFill>
                <a:latin typeface="Arial" panose="020B0604020202020204" pitchFamily="34" charset="0"/>
                <a:ea typeface="楷体_GB2312" pitchFamily="49" charset="-122"/>
                <a:cs typeface="Arial" panose="020B0604020202020204" pitchFamily="34" charset="0"/>
                <a:sym typeface="+mn-ea"/>
              </a:rPr>
              <a:t>W</a:t>
            </a:r>
            <a:r>
              <a:rPr lang="en-US" altLang="zh-CN" sz="2400" baseline="-25000" dirty="0">
                <a:solidFill>
                  <a:srgbClr val="000099"/>
                </a:solidFill>
                <a:latin typeface="Arial" panose="020B0604020202020204" pitchFamily="34" charset="0"/>
                <a:ea typeface="楷体_GB2312" pitchFamily="49" charset="-122"/>
                <a:cs typeface="Arial" panose="020B0604020202020204" pitchFamily="34" charset="0"/>
                <a:sym typeface="+mn-ea"/>
              </a:rPr>
              <a:t>2</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a:t>
            </a:r>
            <a:r>
              <a:rPr lang="en-US" altLang="zh-CN" sz="2400" dirty="0">
                <a:solidFill>
                  <a:srgbClr val="000099"/>
                </a:solidFill>
                <a:latin typeface="Arial" panose="020B0604020202020204" pitchFamily="34" charset="0"/>
                <a:ea typeface="楷体_GB2312" pitchFamily="49" charset="-122"/>
                <a:cs typeface="Arial" panose="020B0604020202020204" pitchFamily="34" charset="0"/>
                <a:sym typeface="+mn-ea"/>
              </a:rPr>
              <a:t>W</a:t>
            </a:r>
            <a:r>
              <a:rPr lang="en-US" altLang="zh-CN" sz="2400" baseline="-25000" dirty="0">
                <a:solidFill>
                  <a:srgbClr val="000099"/>
                </a:solidFill>
                <a:latin typeface="Arial" panose="020B0604020202020204" pitchFamily="34" charset="0"/>
                <a:ea typeface="楷体_GB2312" pitchFamily="49" charset="-122"/>
                <a:cs typeface="Arial" panose="020B0604020202020204" pitchFamily="34" charset="0"/>
                <a:sym typeface="+mn-ea"/>
              </a:rPr>
              <a:t>3</a:t>
            </a:r>
            <a:r>
              <a:rPr lang="en-US" altLang="zh-CN" sz="2400" dirty="0">
                <a:solidFill>
                  <a:srgbClr val="000099"/>
                </a:solidFill>
                <a:latin typeface="Arial" panose="020B0604020202020204" pitchFamily="34" charset="0"/>
                <a:ea typeface="楷体_GB2312" pitchFamily="49" charset="-122"/>
                <a:cs typeface="Arial" panose="020B0604020202020204" pitchFamily="34" charset="0"/>
                <a:sym typeface="+mn-ea"/>
              </a:rPr>
              <a:t>)</a:t>
            </a:r>
            <a:endParaRPr lang="en-US" altLang="zh-CN" sz="2400" dirty="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dirty="0">
                <a:solidFill>
                  <a:srgbClr val="FF0000"/>
                </a:solidFill>
                <a:latin typeface="Arial" panose="020B0604020202020204" pitchFamily="34" charset="0"/>
                <a:ea typeface="楷体_GB2312" pitchFamily="49" charset="-122"/>
                <a:cs typeface="Arial" panose="020B0604020202020204" pitchFamily="34" charset="0"/>
                <a:sym typeface="+mn-ea"/>
              </a:rPr>
              <a:t>If</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the adjacent node Wi is </a:t>
            </a:r>
            <a:r>
              <a:rPr lang="zh-CN" altLang="en-US" sz="2400" dirty="0">
                <a:solidFill>
                  <a:srgbClr val="FF0000"/>
                </a:solidFill>
                <a:latin typeface="Arial" panose="020B0604020202020204" pitchFamily="34" charset="0"/>
                <a:ea typeface="楷体_GB2312" pitchFamily="49" charset="-122"/>
                <a:cs typeface="Arial" panose="020B0604020202020204" pitchFamily="34" charset="0"/>
                <a:sym typeface="+mn-ea"/>
              </a:rPr>
              <a:t>not accessed;</a:t>
            </a:r>
            <a:endParaRPr lang="zh-CN" altLang="en-US" sz="2400" dirty="0">
              <a:solidFill>
                <a:srgbClr val="FF0000"/>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dirty="0">
                <a:solidFill>
                  <a:srgbClr val="FF0000"/>
                </a:solidFill>
                <a:latin typeface="Arial" panose="020B0604020202020204" pitchFamily="34" charset="0"/>
                <a:ea typeface="楷体_GB2312" pitchFamily="49" charset="-122"/>
                <a:cs typeface="Arial" panose="020B0604020202020204" pitchFamily="34" charset="0"/>
                <a:sym typeface="+mn-ea"/>
              </a:rPr>
              <a:t>Then </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it starts from it and performs a depth-first search traversal;</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20" name="页脚占位符 19"/>
          <p:cNvSpPr>
            <a:spLocks noGrp="1"/>
          </p:cNvSpPr>
          <p:nvPr>
            <p:ph type="ftr" sz="quarter" idx="10"/>
          </p:nvPr>
        </p:nvSpPr>
        <p:spPr/>
        <p:txBody>
          <a:bodyPr/>
          <a:lstStyle/>
          <a:p>
            <a:pPr>
              <a:defRPr/>
            </a:pPr>
            <a:r>
              <a:rPr lang="en-US" altLang="zh-CN"/>
              <a:t>©Haiyang Liu, 2025</a:t>
            </a:r>
            <a:endParaRPr lang="en-US" altLang="zh-CN" dirty="0"/>
          </a:p>
        </p:txBody>
      </p:sp>
      <p:sp>
        <p:nvSpPr>
          <p:cNvPr id="21" name="灯片编号占位符 20"/>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ppt_x</p:attrName>
                                        </p:attrNameLst>
                                      </p:cBhvr>
                                      <p:tavLst>
                                        <p:tav tm="0">
                                          <p:val>
                                            <p:strVal val="#ppt_x-#ppt_w/2"/>
                                          </p:val>
                                        </p:tav>
                                        <p:tav tm="100000">
                                          <p:val>
                                            <p:strVal val="#ppt_x"/>
                                          </p:val>
                                        </p:tav>
                                      </p:tavLst>
                                    </p:anim>
                                    <p:anim calcmode="lin" valueType="num">
                                      <p:cBhvr>
                                        <p:cTn id="8" dur="500" fill="hold"/>
                                        <p:tgtEl>
                                          <p:spTgt spid="14"/>
                                        </p:tgtEl>
                                        <p:attrNameLst>
                                          <p:attrName>ppt_y</p:attrName>
                                        </p:attrNameLst>
                                      </p:cBhvr>
                                      <p:tavLst>
                                        <p:tav tm="0">
                                          <p:val>
                                            <p:strVal val="#ppt_y"/>
                                          </p:val>
                                        </p:tav>
                                        <p:tav tm="100000">
                                          <p:val>
                                            <p:strVal val="#ppt_y"/>
                                          </p:val>
                                        </p:tav>
                                      </p:tavLst>
                                    </p:anim>
                                    <p:anim calcmode="lin" valueType="num">
                                      <p:cBhvr>
                                        <p:cTn id="9" dur="500" fill="hold"/>
                                        <p:tgtEl>
                                          <p:spTgt spid="14"/>
                                        </p:tgtEl>
                                        <p:attrNameLst>
                                          <p:attrName>ppt_w</p:attrName>
                                        </p:attrNameLst>
                                      </p:cBhvr>
                                      <p:tavLst>
                                        <p:tav tm="0">
                                          <p:val>
                                            <p:fltVal val="0"/>
                                          </p:val>
                                        </p:tav>
                                        <p:tav tm="100000">
                                          <p:val>
                                            <p:strVal val="#ppt_w"/>
                                          </p:val>
                                        </p:tav>
                                      </p:tavLst>
                                    </p:anim>
                                    <p:anim calcmode="lin" valueType="num">
                                      <p:cBhvr>
                                        <p:cTn id="10" dur="500" fill="hold"/>
                                        <p:tgtEl>
                                          <p:spTgt spid="14"/>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ppt_x</p:attrName>
                                        </p:attrNameLst>
                                      </p:cBhvr>
                                      <p:tavLst>
                                        <p:tav tm="0">
                                          <p:val>
                                            <p:strVal val="#ppt_x-#ppt_w/2"/>
                                          </p:val>
                                        </p:tav>
                                        <p:tav tm="100000">
                                          <p:val>
                                            <p:strVal val="#ppt_x"/>
                                          </p:val>
                                        </p:tav>
                                      </p:tavLst>
                                    </p:anim>
                                    <p:anim calcmode="lin" valueType="num">
                                      <p:cBhvr>
                                        <p:cTn id="15" dur="500" fill="hold"/>
                                        <p:tgtEl>
                                          <p:spTgt spid="15"/>
                                        </p:tgtEl>
                                        <p:attrNameLst>
                                          <p:attrName>ppt_y</p:attrName>
                                        </p:attrNameLst>
                                      </p:cBhvr>
                                      <p:tavLst>
                                        <p:tav tm="0">
                                          <p:val>
                                            <p:strVal val="#ppt_y"/>
                                          </p:val>
                                        </p:tav>
                                        <p:tav tm="100000">
                                          <p:val>
                                            <p:strVal val="#ppt_y"/>
                                          </p:val>
                                        </p:tav>
                                      </p:tavLst>
                                    </p:anim>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8"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ppt_x</p:attrName>
                                        </p:attrNameLst>
                                      </p:cBhvr>
                                      <p:tavLst>
                                        <p:tav tm="0">
                                          <p:val>
                                            <p:strVal val="#ppt_x-#ppt_w/2"/>
                                          </p:val>
                                        </p:tav>
                                        <p:tav tm="100000">
                                          <p:val>
                                            <p:strVal val="#ppt_x"/>
                                          </p:val>
                                        </p:tav>
                                      </p:tavLst>
                                    </p:anim>
                                    <p:anim calcmode="lin" valueType="num">
                                      <p:cBhvr>
                                        <p:cTn id="22" dur="500" fill="hold"/>
                                        <p:tgtEl>
                                          <p:spTgt spid="16"/>
                                        </p:tgtEl>
                                        <p:attrNameLst>
                                          <p:attrName>ppt_y</p:attrName>
                                        </p:attrNameLst>
                                      </p:cBhvr>
                                      <p:tavLst>
                                        <p:tav tm="0">
                                          <p:val>
                                            <p:strVal val="#ppt_y"/>
                                          </p:val>
                                        </p:tav>
                                        <p:tav tm="100000">
                                          <p:val>
                                            <p:strVal val="#ppt_y"/>
                                          </p:val>
                                        </p:tav>
                                      </p:tavLst>
                                    </p:anim>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0-#ppt_w/2"/>
                                          </p:val>
                                        </p:tav>
                                        <p:tav tm="100000">
                                          <p:val>
                                            <p:strVal val="#ppt_x"/>
                                          </p:val>
                                        </p:tav>
                                      </p:tavLst>
                                    </p:anim>
                                    <p:anim calcmode="lin" valueType="num">
                                      <p:cBhvr additive="base">
                                        <p:cTn id="30"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5" grpId="0" autoUpdateAnimBg="0"/>
      <p:bldP spid="16" grpId="0" autoUpdateAnimBg="0"/>
      <p:bldP spid="19" grpId="0" bldLvl="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FF0000"/>
                </a:solidFill>
                <a:cs typeface="Arial" panose="020B0604020202020204" pitchFamily="34" charset="0"/>
                <a:sym typeface="+mn-ea"/>
              </a:rPr>
              <a:t>Example of a depth-first search traversal result</a:t>
            </a:r>
            <a:endParaRPr lang="zh-CN" altLang="en-US" dirty="0">
              <a:cs typeface="Arial" panose="020B0604020202020204" pitchFamily="34" charset="0"/>
            </a:endParaRPr>
          </a:p>
        </p:txBody>
      </p:sp>
      <p:sp>
        <p:nvSpPr>
          <p:cNvPr id="6" name="Oval 2"/>
          <p:cNvSpPr>
            <a:spLocks noChangeArrowheads="1"/>
          </p:cNvSpPr>
          <p:nvPr/>
        </p:nvSpPr>
        <p:spPr bwMode="auto">
          <a:xfrm>
            <a:off x="4191000" y="1143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1</a:t>
            </a:r>
            <a:endParaRPr lang="en-US" altLang="zh-CN" sz="2800" b="1" baseline="-10000"/>
          </a:p>
        </p:txBody>
      </p:sp>
      <p:sp>
        <p:nvSpPr>
          <p:cNvPr id="7" name="Oval 3"/>
          <p:cNvSpPr>
            <a:spLocks noChangeArrowheads="1"/>
          </p:cNvSpPr>
          <p:nvPr/>
        </p:nvSpPr>
        <p:spPr bwMode="auto">
          <a:xfrm>
            <a:off x="3048000" y="1905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2</a:t>
            </a:r>
            <a:endParaRPr lang="en-US" altLang="zh-CN" sz="2800" b="1" baseline="-10000"/>
          </a:p>
        </p:txBody>
      </p:sp>
      <p:sp>
        <p:nvSpPr>
          <p:cNvPr id="8" name="Oval 4"/>
          <p:cNvSpPr>
            <a:spLocks noChangeArrowheads="1"/>
          </p:cNvSpPr>
          <p:nvPr/>
        </p:nvSpPr>
        <p:spPr bwMode="auto">
          <a:xfrm>
            <a:off x="5410200" y="1981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3</a:t>
            </a:r>
            <a:endParaRPr lang="en-US" altLang="zh-CN" sz="2800" b="1" baseline="-10000"/>
          </a:p>
        </p:txBody>
      </p:sp>
      <p:sp>
        <p:nvSpPr>
          <p:cNvPr id="9" name="Oval 5"/>
          <p:cNvSpPr>
            <a:spLocks noChangeArrowheads="1"/>
          </p:cNvSpPr>
          <p:nvPr/>
        </p:nvSpPr>
        <p:spPr bwMode="auto">
          <a:xfrm>
            <a:off x="2438400" y="2819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4</a:t>
            </a:r>
            <a:endParaRPr lang="en-US" altLang="zh-CN" sz="2800" b="1" baseline="-10000"/>
          </a:p>
        </p:txBody>
      </p:sp>
      <p:sp>
        <p:nvSpPr>
          <p:cNvPr id="10" name="Oval 6"/>
          <p:cNvSpPr>
            <a:spLocks noChangeArrowheads="1"/>
          </p:cNvSpPr>
          <p:nvPr/>
        </p:nvSpPr>
        <p:spPr bwMode="auto">
          <a:xfrm>
            <a:off x="3552825" y="2819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5</a:t>
            </a:r>
            <a:endParaRPr lang="en-US" altLang="zh-CN" sz="2800" b="1" baseline="-10000"/>
          </a:p>
        </p:txBody>
      </p:sp>
      <p:sp>
        <p:nvSpPr>
          <p:cNvPr id="11" name="Oval 7"/>
          <p:cNvSpPr>
            <a:spLocks noChangeArrowheads="1"/>
          </p:cNvSpPr>
          <p:nvPr/>
        </p:nvSpPr>
        <p:spPr bwMode="auto">
          <a:xfrm>
            <a:off x="4876800" y="2895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6</a:t>
            </a:r>
            <a:endParaRPr lang="en-US" altLang="zh-CN" sz="2800" b="1" baseline="-10000"/>
          </a:p>
        </p:txBody>
      </p:sp>
      <p:sp>
        <p:nvSpPr>
          <p:cNvPr id="12" name="Oval 8"/>
          <p:cNvSpPr>
            <a:spLocks noChangeArrowheads="1"/>
          </p:cNvSpPr>
          <p:nvPr/>
        </p:nvSpPr>
        <p:spPr bwMode="auto">
          <a:xfrm>
            <a:off x="5867400" y="2895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7</a:t>
            </a:r>
            <a:endParaRPr lang="en-US" altLang="zh-CN" sz="2800" b="1" baseline="-10000"/>
          </a:p>
        </p:txBody>
      </p:sp>
      <p:sp>
        <p:nvSpPr>
          <p:cNvPr id="13" name="Oval 9"/>
          <p:cNvSpPr>
            <a:spLocks noChangeArrowheads="1"/>
          </p:cNvSpPr>
          <p:nvPr/>
        </p:nvSpPr>
        <p:spPr bwMode="auto">
          <a:xfrm>
            <a:off x="3657600" y="3962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8</a:t>
            </a:r>
            <a:endParaRPr lang="en-US" altLang="zh-CN" sz="2800" b="1" baseline="-10000"/>
          </a:p>
        </p:txBody>
      </p:sp>
      <p:sp>
        <p:nvSpPr>
          <p:cNvPr id="14" name="Line 10"/>
          <p:cNvSpPr>
            <a:spLocks noChangeShapeType="1"/>
          </p:cNvSpPr>
          <p:nvPr/>
        </p:nvSpPr>
        <p:spPr bwMode="auto">
          <a:xfrm flipH="1">
            <a:off x="3505200" y="1524000"/>
            <a:ext cx="7620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 name="Line 11"/>
          <p:cNvSpPr>
            <a:spLocks noChangeShapeType="1"/>
          </p:cNvSpPr>
          <p:nvPr/>
        </p:nvSpPr>
        <p:spPr bwMode="auto">
          <a:xfrm>
            <a:off x="4572000" y="1524000"/>
            <a:ext cx="914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6" name="Line 12"/>
          <p:cNvSpPr>
            <a:spLocks noChangeShapeType="1"/>
          </p:cNvSpPr>
          <p:nvPr/>
        </p:nvSpPr>
        <p:spPr bwMode="auto">
          <a:xfrm flipH="1">
            <a:off x="2743200" y="2362200"/>
            <a:ext cx="4572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7" name="Line 13"/>
          <p:cNvSpPr>
            <a:spLocks noChangeShapeType="1"/>
          </p:cNvSpPr>
          <p:nvPr/>
        </p:nvSpPr>
        <p:spPr bwMode="auto">
          <a:xfrm>
            <a:off x="3429000" y="23622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8" name="Line 14"/>
          <p:cNvSpPr>
            <a:spLocks noChangeShapeType="1"/>
          </p:cNvSpPr>
          <p:nvPr/>
        </p:nvSpPr>
        <p:spPr bwMode="auto">
          <a:xfrm>
            <a:off x="2743200" y="3276600"/>
            <a:ext cx="990600" cy="7620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 name="Line 15"/>
          <p:cNvSpPr>
            <a:spLocks noChangeShapeType="1"/>
          </p:cNvSpPr>
          <p:nvPr/>
        </p:nvSpPr>
        <p:spPr bwMode="auto">
          <a:xfrm>
            <a:off x="3810000" y="3276600"/>
            <a:ext cx="1524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 name="Line 16"/>
          <p:cNvSpPr>
            <a:spLocks noChangeShapeType="1"/>
          </p:cNvSpPr>
          <p:nvPr/>
        </p:nvSpPr>
        <p:spPr bwMode="auto">
          <a:xfrm flipH="1">
            <a:off x="5181600" y="24384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1" name="Line 17"/>
          <p:cNvSpPr>
            <a:spLocks noChangeShapeType="1"/>
          </p:cNvSpPr>
          <p:nvPr/>
        </p:nvSpPr>
        <p:spPr bwMode="auto">
          <a:xfrm>
            <a:off x="5715000" y="24384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2" name="Line 18"/>
          <p:cNvSpPr>
            <a:spLocks noChangeShapeType="1"/>
          </p:cNvSpPr>
          <p:nvPr/>
        </p:nvSpPr>
        <p:spPr bwMode="auto">
          <a:xfrm>
            <a:off x="5334000" y="3200400"/>
            <a:ext cx="5334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3" name="Rectangle 19"/>
          <p:cNvSpPr>
            <a:spLocks noChangeArrowheads="1"/>
          </p:cNvSpPr>
          <p:nvPr/>
        </p:nvSpPr>
        <p:spPr bwMode="auto">
          <a:xfrm>
            <a:off x="899592" y="4653136"/>
            <a:ext cx="761936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dirty="0">
                <a:solidFill>
                  <a:srgbClr val="000099"/>
                </a:solidFill>
                <a:latin typeface="楷体_GB2312" pitchFamily="49" charset="-122"/>
                <a:ea typeface="楷体_GB2312" pitchFamily="49" charset="-122"/>
                <a:sym typeface="+mn-ea"/>
              </a:rPr>
              <a:t>Depth-first search results:</a:t>
            </a:r>
            <a:r>
              <a:rPr lang="zh-CN" altLang="en-US" sz="3200" dirty="0">
                <a:solidFill>
                  <a:srgbClr val="000099"/>
                </a:solidFill>
                <a:latin typeface="楷体_GB2312" pitchFamily="49" charset="-122"/>
                <a:ea typeface="楷体_GB2312" pitchFamily="49" charset="-122"/>
              </a:rPr>
              <a:t> </a:t>
            </a:r>
            <a:endParaRPr lang="zh-CN" altLang="en-US" sz="3200" dirty="0">
              <a:solidFill>
                <a:srgbClr val="000099"/>
              </a:solidFill>
              <a:latin typeface="楷体_GB2312" pitchFamily="49" charset="-122"/>
              <a:ea typeface="楷体_GB2312" pitchFamily="49" charset="-122"/>
            </a:endParaRPr>
          </a:p>
          <a:p>
            <a:pPr algn="l"/>
            <a:r>
              <a:rPr lang="zh-CN" altLang="en-US" sz="2800" b="1" dirty="0"/>
              <a:t>         </a:t>
            </a:r>
            <a:r>
              <a:rPr lang="en-US" altLang="zh-CN" sz="2800" b="1" dirty="0">
                <a:solidFill>
                  <a:srgbClr val="FF0000"/>
                </a:solidFill>
              </a:rPr>
              <a:t>V</a:t>
            </a:r>
            <a:r>
              <a:rPr lang="en-US" altLang="zh-CN" sz="2800" b="1" baseline="-10000" dirty="0">
                <a:solidFill>
                  <a:srgbClr val="FF0000"/>
                </a:solidFill>
              </a:rPr>
              <a:t>1</a:t>
            </a:r>
            <a:r>
              <a:rPr lang="en-US" altLang="zh-CN" sz="2800" b="1" baseline="-10000" dirty="0"/>
              <a:t>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2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4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8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5 </a:t>
            </a:r>
            <a:r>
              <a:rPr lang="en-US" altLang="zh-CN" sz="3200" b="1" dirty="0">
                <a:solidFill>
                  <a:srgbClr val="008000"/>
                </a:solidFill>
                <a:latin typeface="楷体_GB2312" pitchFamily="49" charset="-122"/>
                <a:ea typeface="楷体_GB2312" pitchFamily="49" charset="-122"/>
              </a:rPr>
              <a:t>→</a:t>
            </a:r>
            <a:r>
              <a:rPr lang="en-US" altLang="zh-CN" sz="2800" b="1" baseline="-10000" dirty="0">
                <a:solidFill>
                  <a:srgbClr val="008000"/>
                </a:solidFill>
              </a:rPr>
              <a:t> </a:t>
            </a:r>
            <a:r>
              <a:rPr lang="en-US" altLang="zh-CN" sz="2800" b="1" dirty="0">
                <a:solidFill>
                  <a:srgbClr val="008000"/>
                </a:solidFill>
              </a:rPr>
              <a:t>V</a:t>
            </a:r>
            <a:r>
              <a:rPr lang="en-US" altLang="zh-CN" sz="2800" b="1" baseline="-10000" dirty="0">
                <a:solidFill>
                  <a:srgbClr val="008000"/>
                </a:solidFill>
              </a:rPr>
              <a:t>3 </a:t>
            </a:r>
            <a:r>
              <a:rPr lang="en-US" altLang="zh-CN" sz="3200" b="1" dirty="0">
                <a:solidFill>
                  <a:srgbClr val="008000"/>
                </a:solidFill>
                <a:latin typeface="楷体_GB2312" pitchFamily="49" charset="-122"/>
                <a:ea typeface="楷体_GB2312" pitchFamily="49" charset="-122"/>
              </a:rPr>
              <a:t>→</a:t>
            </a:r>
            <a:r>
              <a:rPr lang="en-US" altLang="zh-CN" sz="2800" b="1" baseline="-10000" dirty="0">
                <a:solidFill>
                  <a:srgbClr val="008000"/>
                </a:solidFill>
              </a:rPr>
              <a:t> </a:t>
            </a:r>
            <a:r>
              <a:rPr lang="en-US" altLang="zh-CN" sz="2800" b="1" dirty="0">
                <a:solidFill>
                  <a:srgbClr val="008000"/>
                </a:solidFill>
              </a:rPr>
              <a:t>V</a:t>
            </a:r>
            <a:r>
              <a:rPr lang="en-US" altLang="zh-CN" sz="2800" b="1" baseline="-10000" dirty="0">
                <a:solidFill>
                  <a:srgbClr val="008000"/>
                </a:solidFill>
              </a:rPr>
              <a:t>6 </a:t>
            </a:r>
            <a:r>
              <a:rPr lang="en-US" altLang="zh-CN" sz="3200" b="1" dirty="0">
                <a:solidFill>
                  <a:srgbClr val="008000"/>
                </a:solidFill>
                <a:latin typeface="楷体_GB2312" pitchFamily="49" charset="-122"/>
                <a:ea typeface="楷体_GB2312" pitchFamily="49" charset="-122"/>
              </a:rPr>
              <a:t>→</a:t>
            </a:r>
            <a:r>
              <a:rPr lang="en-US" altLang="zh-CN" sz="2800" b="1" baseline="-10000" dirty="0">
                <a:solidFill>
                  <a:srgbClr val="008000"/>
                </a:solidFill>
              </a:rPr>
              <a:t> </a:t>
            </a:r>
            <a:r>
              <a:rPr lang="en-US" altLang="zh-CN" sz="2800" b="1" dirty="0">
                <a:solidFill>
                  <a:srgbClr val="008000"/>
                </a:solidFill>
              </a:rPr>
              <a:t>V</a:t>
            </a:r>
            <a:r>
              <a:rPr lang="en-US" altLang="zh-CN" sz="2800" b="1" baseline="-10000" dirty="0">
                <a:solidFill>
                  <a:srgbClr val="008000"/>
                </a:solidFill>
              </a:rPr>
              <a:t>7</a:t>
            </a:r>
            <a:endParaRPr lang="en-US" altLang="zh-CN" sz="2800" b="1" baseline="-10000" dirty="0">
              <a:solidFill>
                <a:srgbClr val="008000"/>
              </a:solidFill>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24" name="灯片编号占位符 23"/>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xEl>
                                              <p:pRg st="4294967295" end="4294967295"/>
                                            </p:txEl>
                                          </p:spTgt>
                                        </p:tgtEl>
                                        <p:attrNameLst>
                                          <p:attrName>style.visibility</p:attrName>
                                        </p:attrNameLst>
                                      </p:cBhvr>
                                      <p:to>
                                        <p:strVal val="visible"/>
                                      </p:to>
                                    </p:set>
                                    <p:anim calcmode="lin" valueType="num">
                                      <p:cBhvr additive="base">
                                        <p:cTn id="7" dur="500" fill="hold"/>
                                        <p:tgtEl>
                                          <p:spTgt spid="23">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
                                            <p:txEl>
                                              <p:pRg st="0" end="0"/>
                                            </p:txEl>
                                          </p:spTgt>
                                        </p:tgtEl>
                                        <p:attrNameLst>
                                          <p:attrName>style.visibility</p:attrName>
                                        </p:attrNameLst>
                                      </p:cBhvr>
                                      <p:to>
                                        <p:strVal val="visible"/>
                                      </p:to>
                                    </p:set>
                                    <p:anim calcmode="lin" valueType="num">
                                      <p:cBhvr additive="base">
                                        <p:cTn id="13" dur="5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
                                            <p:txEl>
                                              <p:pRg st="1" end="1"/>
                                            </p:txEl>
                                          </p:spTgt>
                                        </p:tgtEl>
                                        <p:attrNameLst>
                                          <p:attrName>style.visibility</p:attrName>
                                        </p:attrNameLst>
                                      </p:cBhvr>
                                      <p:to>
                                        <p:strVal val="visible"/>
                                      </p:to>
                                    </p:set>
                                    <p:anim calcmode="lin" valueType="num">
                                      <p:cBhvr additive="base">
                                        <p:cTn id="19" dur="500" fill="hold"/>
                                        <p:tgtEl>
                                          <p:spTgt spid="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Depth-first search traversal algorithm (1)</a:t>
            </a:r>
            <a:endParaRPr lang="zh-CN" altLang="en-US" dirty="0"/>
          </a:p>
        </p:txBody>
      </p:sp>
      <p:sp>
        <p:nvSpPr>
          <p:cNvPr id="9" name="Text Box 3"/>
          <p:cNvSpPr txBox="1">
            <a:spLocks noChangeArrowheads="1"/>
          </p:cNvSpPr>
          <p:nvPr/>
        </p:nvSpPr>
        <p:spPr bwMode="auto">
          <a:xfrm>
            <a:off x="363215" y="1484784"/>
            <a:ext cx="813117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1.</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The process of depth-first search traversing a connected graph is similar to the </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rPr>
              <a:t>pre-order traversal</a:t>
            </a:r>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 of a tree</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a:t>
            </a:r>
            <a:endParaRPr lang="zh-CN" altLang="en-US" sz="2400" b="1"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10" name="Text Box 4"/>
          <p:cNvSpPr txBox="1">
            <a:spLocks noChangeArrowheads="1"/>
          </p:cNvSpPr>
          <p:nvPr/>
        </p:nvSpPr>
        <p:spPr bwMode="auto">
          <a:xfrm>
            <a:off x="539552" y="4116849"/>
            <a:ext cx="8153400" cy="1091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b="1" dirty="0">
                <a:solidFill>
                  <a:srgbClr val="FF0000"/>
                </a:solidFill>
                <a:latin typeface="Arial" panose="020B0604020202020204" pitchFamily="34" charset="0"/>
                <a:ea typeface="楷体_GB2312" pitchFamily="49" charset="-122"/>
                <a:cs typeface="Arial" panose="020B0604020202020204" pitchFamily="34" charset="0"/>
              </a:rPr>
              <a:t>The solution is:</a:t>
            </a:r>
            <a:endParaRPr lang="en-US" altLang="zh-CN" sz="4800" dirty="0">
              <a:solidFill>
                <a:srgbClr val="000099"/>
              </a:solidFill>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Set a </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rPr>
              <a:t>visited flag visited[w] </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for each vertex.</a:t>
            </a:r>
            <a:endParaRPr lang="zh-CN" altLang="en-US" sz="2400" b="1"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11" name="Text Box 5"/>
          <p:cNvSpPr txBox="1">
            <a:spLocks noChangeArrowheads="1"/>
          </p:cNvSpPr>
          <p:nvPr/>
        </p:nvSpPr>
        <p:spPr bwMode="auto">
          <a:xfrm>
            <a:off x="323215" y="3140710"/>
            <a:ext cx="797623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pPr algn="l"/>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2.</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How do you determine if </a:t>
            </a:r>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the adjacent node of V has </a:t>
            </a:r>
            <a:endParaRPr lang="en-US" altLang="zh-CN" sz="2400" dirty="0">
              <a:solidFill>
                <a:srgbClr val="000099"/>
              </a:solidFill>
              <a:latin typeface="Arial" panose="020B0604020202020204" pitchFamily="34" charset="0"/>
              <a:ea typeface="楷体_GB2312" pitchFamily="49" charset="-122"/>
              <a:cs typeface="Arial" panose="020B0604020202020204" pitchFamily="34" charset="0"/>
            </a:endParaRPr>
          </a:p>
          <a:p>
            <a:pPr algn="l"/>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been visited</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3" name="页脚占位符 2"/>
          <p:cNvSpPr>
            <a:spLocks noGrp="1"/>
          </p:cNvSpPr>
          <p:nvPr>
            <p:ph type="ftr" sz="quarter" idx="10"/>
          </p:nvPr>
        </p:nvSpPr>
        <p:spPr/>
        <p:txBody>
          <a:bodyPr/>
          <a:lstStyle/>
          <a:p>
            <a:pPr>
              <a:defRPr/>
            </a:pPr>
            <a:r>
              <a:rPr lang="en-US" altLang="zh-CN"/>
              <a:t>©Haiyang Liu, 2025</a:t>
            </a:r>
            <a:endParaRPr lang="en-US" altLang="zh-CN" dirty="0"/>
          </a:p>
        </p:txBody>
      </p:sp>
      <p:sp>
        <p:nvSpPr>
          <p:cNvPr id="6" name="灯片编号占位符 5"/>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iterate type="lt">
                                    <p:tmPct val="100000"/>
                                  </p:iterate>
                                  <p:childTnLst>
                                    <p:set>
                                      <p:cBhvr>
                                        <p:cTn id="18" dur="1" fill="hold">
                                          <p:stCondLst>
                                            <p:cond delay="0"/>
                                          </p:stCondLst>
                                        </p:cTn>
                                        <p:tgtEl>
                                          <p:spTgt spid="10"/>
                                        </p:tgtEl>
                                        <p:attrNameLst>
                                          <p:attrName>style.visibility</p:attrName>
                                        </p:attrNameLst>
                                      </p:cBhvr>
                                      <p:to>
                                        <p:strVal val="visible"/>
                                      </p:to>
                                    </p:set>
                                    <p:animEffect transition="in" filter="wipe(up)">
                                      <p:cBhvr>
                                        <p:cTn id="19" dur="75"/>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autoUpdateAnimBg="0"/>
      <p:bldP spid="10" grpId="0" bldLvl="0" animBg="1" autoUpdateAnimBg="0"/>
      <p:bldP spid="11" grpId="0" bldLvl="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Depth-first search traversal algorithm (2)</a:t>
            </a:r>
            <a:endParaRPr lang="zh-CN" altLang="en-US" dirty="0"/>
          </a:p>
        </p:txBody>
      </p:sp>
      <p:sp>
        <p:nvSpPr>
          <p:cNvPr id="3" name="内容占位符 2"/>
          <p:cNvSpPr>
            <a:spLocks noGrp="1"/>
          </p:cNvSpPr>
          <p:nvPr>
            <p:ph idx="1"/>
          </p:nvPr>
        </p:nvSpPr>
        <p:spPr>
          <a:xfrm>
            <a:off x="323528" y="1052736"/>
            <a:ext cx="8496300" cy="5256584"/>
          </a:xfrm>
        </p:spPr>
        <p:txBody>
          <a:bodyPr/>
          <a:lstStyle/>
          <a:p>
            <a:pPr marL="0" indent="0">
              <a:lnSpc>
                <a:spcPct val="120000"/>
              </a:lnSpc>
              <a:buNone/>
            </a:pPr>
            <a:r>
              <a:rPr lang="en-US" altLang="zh-CN" sz="2000" dirty="0">
                <a:solidFill>
                  <a:srgbClr val="000099"/>
                </a:solidFill>
                <a:ea typeface="楷体_GB2312" pitchFamily="49" charset="-122"/>
              </a:rPr>
              <a:t>void DFS(Graph G, </a:t>
            </a:r>
            <a:r>
              <a:rPr lang="en-US" altLang="zh-CN" sz="2000" dirty="0" err="1">
                <a:solidFill>
                  <a:srgbClr val="000099"/>
                </a:solidFill>
                <a:ea typeface="楷体_GB2312" pitchFamily="49" charset="-122"/>
              </a:rPr>
              <a:t>int</a:t>
            </a:r>
            <a:r>
              <a:rPr lang="en-US" altLang="zh-CN" sz="2000" dirty="0">
                <a:solidFill>
                  <a:srgbClr val="000099"/>
                </a:solidFill>
                <a:ea typeface="楷体_GB2312" pitchFamily="49" charset="-122"/>
              </a:rPr>
              <a:t> v) {</a:t>
            </a:r>
            <a:endParaRPr lang="en-US" altLang="zh-CN" sz="2000" dirty="0">
              <a:solidFill>
                <a:srgbClr val="000099"/>
              </a:solidFill>
              <a:ea typeface="楷体_GB2312" pitchFamily="49" charset="-122"/>
            </a:endParaRPr>
          </a:p>
          <a:p>
            <a:pPr marL="0" indent="0">
              <a:lnSpc>
                <a:spcPct val="120000"/>
              </a:lnSpc>
              <a:buNone/>
            </a:pPr>
            <a:r>
              <a:rPr lang="en-US" altLang="zh-CN" sz="2000" dirty="0">
                <a:solidFill>
                  <a:srgbClr val="000099"/>
                </a:solidFill>
                <a:ea typeface="楷体_GB2312" pitchFamily="49" charset="-122"/>
              </a:rPr>
              <a:t>       </a:t>
            </a:r>
            <a:r>
              <a:rPr lang="en-US" altLang="zh-CN" sz="2000" b="1" dirty="0">
                <a:solidFill>
                  <a:srgbClr val="006600"/>
                </a:solidFill>
                <a:ea typeface="楷体_GB2312" pitchFamily="49" charset="-122"/>
                <a:sym typeface="+mn-ea"/>
              </a:rPr>
              <a:t>// Perform a </a:t>
            </a:r>
            <a:r>
              <a:rPr lang="zh-CN" altLang="en-US" sz="2000" b="1" dirty="0">
                <a:solidFill>
                  <a:srgbClr val="FF0000"/>
                </a:solidFill>
                <a:ea typeface="楷体_GB2312" pitchFamily="49" charset="-122"/>
                <a:sym typeface="+mn-ea"/>
              </a:rPr>
              <a:t>depth</a:t>
            </a:r>
            <a:r>
              <a:rPr lang="en-US" altLang="zh-CN" sz="2000" b="1" dirty="0">
                <a:solidFill>
                  <a:srgbClr val="006600"/>
                </a:solidFill>
                <a:ea typeface="楷体_GB2312" pitchFamily="49" charset="-122"/>
                <a:sym typeface="+mn-ea"/>
              </a:rPr>
              <a:t>-first search (DFS) to traverse the </a:t>
            </a:r>
            <a:r>
              <a:rPr lang="zh-CN" altLang="en-US" sz="2000" b="1" dirty="0">
                <a:solidFill>
                  <a:srgbClr val="FF0000"/>
                </a:solidFill>
                <a:ea typeface="楷体_GB2312" pitchFamily="49" charset="-122"/>
                <a:sym typeface="+mn-ea"/>
              </a:rPr>
              <a:t>connected </a:t>
            </a:r>
            <a:r>
              <a:rPr lang="en-US" altLang="zh-CN" sz="2000" b="1" dirty="0">
                <a:solidFill>
                  <a:srgbClr val="FF0000"/>
                </a:solidFill>
                <a:ea typeface="楷体_GB2312" pitchFamily="49" charset="-122"/>
                <a:sym typeface="+mn-ea"/>
              </a:rPr>
              <a:t>              </a:t>
            </a:r>
            <a:r>
              <a:rPr lang="en-US" altLang="zh-CN" sz="2000" b="1" dirty="0">
                <a:solidFill>
                  <a:srgbClr val="006600"/>
                </a:solidFill>
                <a:ea typeface="楷体_GB2312" pitchFamily="49" charset="-122"/>
                <a:sym typeface="+mn-ea"/>
              </a:rPr>
              <a:t>//</a:t>
            </a:r>
            <a:r>
              <a:rPr lang="zh-CN" altLang="en-US" sz="2000" b="1" dirty="0">
                <a:solidFill>
                  <a:srgbClr val="FF0000"/>
                </a:solidFill>
                <a:ea typeface="楷体_GB2312" pitchFamily="49" charset="-122"/>
                <a:sym typeface="+mn-ea"/>
              </a:rPr>
              <a:t>graph</a:t>
            </a:r>
            <a:r>
              <a:rPr lang="en-US" altLang="zh-CN" sz="2000" b="1" dirty="0">
                <a:solidFill>
                  <a:srgbClr val="006600"/>
                </a:solidFill>
                <a:ea typeface="楷体_GB2312" pitchFamily="49" charset="-122"/>
                <a:sym typeface="+mn-ea"/>
              </a:rPr>
              <a:t> G starting from vertex v</a:t>
            </a:r>
            <a:endParaRPr lang="en-US" altLang="zh-CN" sz="2000" b="1" dirty="0">
              <a:solidFill>
                <a:srgbClr val="006600"/>
              </a:solidFill>
              <a:ea typeface="楷体_GB2312" pitchFamily="49" charset="-122"/>
            </a:endParaRPr>
          </a:p>
          <a:p>
            <a:pPr marL="0" indent="0">
              <a:lnSpc>
                <a:spcPct val="120000"/>
              </a:lnSpc>
              <a:buNone/>
            </a:pPr>
            <a:r>
              <a:rPr lang="en-US" altLang="zh-CN" sz="2000" dirty="0">
                <a:solidFill>
                  <a:srgbClr val="000099"/>
                </a:solidFill>
                <a:ea typeface="楷体_GB2312" pitchFamily="49" charset="-122"/>
              </a:rPr>
              <a:t>     </a:t>
            </a:r>
            <a:r>
              <a:rPr lang="en-US" altLang="zh-CN" sz="2000" dirty="0" err="1">
                <a:solidFill>
                  <a:srgbClr val="000099"/>
                </a:solidFill>
                <a:ea typeface="楷体_GB2312" pitchFamily="49" charset="-122"/>
              </a:rPr>
              <a:t>VisitFunction</a:t>
            </a:r>
            <a:r>
              <a:rPr lang="en-US" altLang="zh-CN" sz="2000" dirty="0">
                <a:solidFill>
                  <a:srgbClr val="000099"/>
                </a:solidFill>
                <a:ea typeface="楷体_GB2312" pitchFamily="49" charset="-122"/>
              </a:rPr>
              <a:t>(v);      </a:t>
            </a:r>
            <a:r>
              <a:rPr lang="en-US" altLang="zh-CN" sz="2000" b="1" dirty="0">
                <a:solidFill>
                  <a:srgbClr val="006600"/>
                </a:solidFill>
                <a:ea typeface="楷体_GB2312" pitchFamily="49" charset="-122"/>
              </a:rPr>
              <a:t>// </a:t>
            </a:r>
            <a:r>
              <a:rPr lang="en-US" altLang="zh-CN" sz="2000" b="1" dirty="0">
                <a:solidFill>
                  <a:srgbClr val="006600"/>
                </a:solidFill>
                <a:ea typeface="楷体_GB2312" pitchFamily="49" charset="-122"/>
                <a:sym typeface="+mn-ea"/>
              </a:rPr>
              <a:t>Visit the v-th node</a:t>
            </a:r>
            <a:endParaRPr lang="en-US" altLang="zh-CN" sz="2000" b="1" dirty="0">
              <a:solidFill>
                <a:srgbClr val="006600"/>
              </a:solidFill>
              <a:ea typeface="楷体_GB2312" pitchFamily="49" charset="-122"/>
            </a:endParaRPr>
          </a:p>
          <a:p>
            <a:pPr marL="0" indent="0">
              <a:lnSpc>
                <a:spcPct val="120000"/>
              </a:lnSpc>
              <a:buNone/>
            </a:pPr>
            <a:r>
              <a:rPr lang="en-US" altLang="zh-CN" sz="2000" dirty="0">
                <a:solidFill>
                  <a:srgbClr val="006600"/>
                </a:solidFill>
                <a:ea typeface="楷体_GB2312" pitchFamily="49" charset="-122"/>
              </a:rPr>
              <a:t>     </a:t>
            </a:r>
            <a:r>
              <a:rPr lang="en-US" altLang="zh-CN" sz="2000" dirty="0">
                <a:solidFill>
                  <a:srgbClr val="000099"/>
                </a:solidFill>
              </a:rPr>
              <a:t>visited[v] = TRUE;   </a:t>
            </a:r>
            <a:endParaRPr lang="en-US" altLang="zh-CN" sz="2000" dirty="0">
              <a:solidFill>
                <a:srgbClr val="000099"/>
              </a:solidFill>
            </a:endParaRPr>
          </a:p>
          <a:p>
            <a:pPr marL="0" indent="0">
              <a:lnSpc>
                <a:spcPct val="120000"/>
              </a:lnSpc>
              <a:buNone/>
            </a:pPr>
            <a:r>
              <a:rPr lang="en-US" altLang="zh-CN" sz="2000" dirty="0">
                <a:solidFill>
                  <a:srgbClr val="000099"/>
                </a:solidFill>
                <a:ea typeface="楷体_GB2312" pitchFamily="49" charset="-122"/>
              </a:rPr>
              <a:t>     for (w=</a:t>
            </a:r>
            <a:r>
              <a:rPr lang="en-US" altLang="zh-CN" sz="2000" dirty="0" err="1">
                <a:solidFill>
                  <a:srgbClr val="000099"/>
                </a:solidFill>
                <a:ea typeface="楷体_GB2312" pitchFamily="49" charset="-122"/>
              </a:rPr>
              <a:t>FirstAdjVex</a:t>
            </a:r>
            <a:r>
              <a:rPr lang="en-US" altLang="zh-CN" sz="2000" dirty="0">
                <a:solidFill>
                  <a:srgbClr val="000099"/>
                </a:solidFill>
                <a:ea typeface="楷体_GB2312" pitchFamily="49" charset="-122"/>
              </a:rPr>
              <a:t>(G, v); </a:t>
            </a:r>
            <a:r>
              <a:rPr lang="zh-CN" altLang="en-US" sz="2000" dirty="0">
                <a:solidFill>
                  <a:srgbClr val="000099"/>
                </a:solidFill>
                <a:ea typeface="楷体_GB2312" pitchFamily="49" charset="-122"/>
              </a:rPr>
              <a:t>　</a:t>
            </a:r>
            <a:r>
              <a:rPr lang="zh-CN" altLang="en-US" sz="2000" b="1" dirty="0">
                <a:solidFill>
                  <a:srgbClr val="000099"/>
                </a:solidFill>
                <a:ea typeface="楷体_GB2312" pitchFamily="49" charset="-122"/>
              </a:rPr>
              <a:t>　</a:t>
            </a:r>
            <a:r>
              <a:rPr lang="en-US" altLang="zh-CN" sz="2000" b="1" dirty="0">
                <a:solidFill>
                  <a:srgbClr val="006600"/>
                </a:solidFill>
                <a:ea typeface="楷体_GB2312" pitchFamily="49" charset="-122"/>
              </a:rPr>
              <a:t>// </a:t>
            </a:r>
            <a:r>
              <a:rPr lang="en-US" altLang="zh-CN" sz="2000" b="1" dirty="0">
                <a:solidFill>
                  <a:srgbClr val="006600"/>
                </a:solidFill>
                <a:ea typeface="楷体_GB2312" pitchFamily="49" charset="-122"/>
                <a:sym typeface="+mn-ea"/>
              </a:rPr>
              <a:t>Call the basic operation</a:t>
            </a:r>
            <a:endParaRPr lang="en-US" altLang="zh-CN" sz="2000" b="1" dirty="0">
              <a:solidFill>
                <a:srgbClr val="006600"/>
              </a:solidFill>
              <a:ea typeface="楷体_GB2312" pitchFamily="49" charset="-122"/>
            </a:endParaRPr>
          </a:p>
          <a:p>
            <a:pPr marL="0" indent="0">
              <a:lnSpc>
                <a:spcPct val="120000"/>
              </a:lnSpc>
              <a:buNone/>
            </a:pPr>
            <a:r>
              <a:rPr lang="zh-CN" altLang="en-US" sz="2000" dirty="0">
                <a:solidFill>
                  <a:srgbClr val="000099"/>
                </a:solidFill>
                <a:ea typeface="楷体_GB2312" pitchFamily="49" charset="-122"/>
              </a:rPr>
              <a:t>              </a:t>
            </a:r>
            <a:r>
              <a:rPr lang="en-US" altLang="zh-CN" sz="2000" dirty="0">
                <a:solidFill>
                  <a:srgbClr val="000099"/>
                </a:solidFill>
                <a:ea typeface="楷体_GB2312" pitchFamily="49" charset="-122"/>
              </a:rPr>
              <a:t>w!=0; w=</a:t>
            </a:r>
            <a:r>
              <a:rPr lang="en-US" altLang="zh-CN" sz="2000" dirty="0" err="1">
                <a:solidFill>
                  <a:srgbClr val="000099"/>
                </a:solidFill>
                <a:ea typeface="楷体_GB2312" pitchFamily="49" charset="-122"/>
              </a:rPr>
              <a:t>NextAdjVex</a:t>
            </a:r>
            <a:r>
              <a:rPr lang="en-US" altLang="zh-CN" sz="2000" dirty="0">
                <a:solidFill>
                  <a:srgbClr val="000099"/>
                </a:solidFill>
                <a:ea typeface="楷体_GB2312" pitchFamily="49" charset="-122"/>
              </a:rPr>
              <a:t>(</a:t>
            </a:r>
            <a:r>
              <a:rPr lang="en-US" altLang="zh-CN" sz="2000" dirty="0" err="1">
                <a:solidFill>
                  <a:srgbClr val="000099"/>
                </a:solidFill>
                <a:ea typeface="楷体_GB2312" pitchFamily="49" charset="-122"/>
              </a:rPr>
              <a:t>G,v,w</a:t>
            </a:r>
            <a:r>
              <a:rPr lang="en-US" altLang="zh-CN" sz="2000" dirty="0">
                <a:solidFill>
                  <a:srgbClr val="000099"/>
                </a:solidFill>
                <a:ea typeface="楷体_GB2312" pitchFamily="49" charset="-122"/>
              </a:rPr>
              <a:t>))</a:t>
            </a:r>
            <a:endParaRPr lang="en-US" altLang="zh-CN" sz="2000" dirty="0">
              <a:solidFill>
                <a:srgbClr val="000099"/>
              </a:solidFill>
              <a:ea typeface="楷体_GB2312" pitchFamily="49" charset="-122"/>
            </a:endParaRPr>
          </a:p>
          <a:p>
            <a:pPr marL="0" indent="0">
              <a:lnSpc>
                <a:spcPct val="120000"/>
              </a:lnSpc>
              <a:buNone/>
            </a:pPr>
            <a:r>
              <a:rPr lang="en-US" altLang="zh-CN" sz="2000" dirty="0">
                <a:solidFill>
                  <a:srgbClr val="000099"/>
                </a:solidFill>
                <a:ea typeface="楷体_GB2312" pitchFamily="49" charset="-122"/>
              </a:rPr>
              <a:t>         </a:t>
            </a:r>
            <a:r>
              <a:rPr lang="en-US" altLang="zh-CN" sz="2000" dirty="0">
                <a:solidFill>
                  <a:srgbClr val="CC0000"/>
                </a:solidFill>
                <a:ea typeface="楷体_GB2312" pitchFamily="49" charset="-122"/>
              </a:rPr>
              <a:t>if (!visited[w])  DFS(G, w);</a:t>
            </a:r>
            <a:r>
              <a:rPr lang="en-US" altLang="zh-CN" sz="2000" dirty="0">
                <a:ea typeface="楷体_GB2312" pitchFamily="49" charset="-122"/>
              </a:rPr>
              <a:t>     </a:t>
            </a:r>
            <a:endParaRPr lang="en-US" altLang="zh-CN" sz="2000" dirty="0">
              <a:ea typeface="楷体_GB2312" pitchFamily="49" charset="-122"/>
            </a:endParaRPr>
          </a:p>
          <a:p>
            <a:pPr marL="0" indent="0">
              <a:lnSpc>
                <a:spcPct val="120000"/>
              </a:lnSpc>
              <a:buNone/>
            </a:pPr>
            <a:r>
              <a:rPr lang="en-US" altLang="zh-CN" sz="2000" b="1" dirty="0"/>
              <a:t>         </a:t>
            </a:r>
            <a:r>
              <a:rPr lang="en-US" altLang="zh-CN" sz="2000" b="1" dirty="0">
                <a:solidFill>
                  <a:srgbClr val="006600"/>
                </a:solidFill>
              </a:rPr>
              <a:t>// </a:t>
            </a:r>
            <a:r>
              <a:rPr lang="en-US" altLang="zh-CN" sz="2000" b="1" dirty="0">
                <a:solidFill>
                  <a:srgbClr val="006600"/>
                </a:solidFill>
                <a:sym typeface="+mn-ea"/>
              </a:rPr>
              <a:t>Recursively call DFS for each unvisited adjacent vertex w of v</a:t>
            </a:r>
            <a:endParaRPr lang="en-US" altLang="zh-CN" sz="2000" b="1" dirty="0">
              <a:solidFill>
                <a:srgbClr val="006600"/>
              </a:solidFill>
              <a:sym typeface="+mn-ea"/>
            </a:endParaRPr>
          </a:p>
          <a:p>
            <a:pPr marL="0" indent="0">
              <a:lnSpc>
                <a:spcPct val="120000"/>
              </a:lnSpc>
              <a:buNone/>
            </a:pPr>
            <a:r>
              <a:rPr lang="en-US" altLang="zh-CN" sz="2000" dirty="0">
                <a:solidFill>
                  <a:srgbClr val="000099"/>
                </a:solidFill>
                <a:ea typeface="楷体_GB2312" pitchFamily="49" charset="-122"/>
              </a:rPr>
              <a:t> // DFS</a:t>
            </a:r>
            <a:endParaRPr lang="en-US" altLang="zh-CN" sz="2000" dirty="0">
              <a:solidFill>
                <a:srgbClr val="000099"/>
              </a:solidFill>
              <a:ea typeface="楷体_GB2312" pitchFamily="49" charset="-122"/>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0000"/>
                </a:solidFill>
              </a:rPr>
              <a:t>Depth-first search traversal of a disconnected graph</a:t>
            </a:r>
            <a:endParaRPr lang="zh-CN" altLang="en-US" dirty="0">
              <a:solidFill>
                <a:srgbClr val="FF0000"/>
              </a:solidFill>
            </a:endParaRPr>
          </a:p>
        </p:txBody>
      </p:sp>
      <p:sp>
        <p:nvSpPr>
          <p:cNvPr id="3" name="内容占位符 2"/>
          <p:cNvSpPr>
            <a:spLocks noGrp="1"/>
          </p:cNvSpPr>
          <p:nvPr>
            <p:ph idx="1"/>
          </p:nvPr>
        </p:nvSpPr>
        <p:spPr/>
        <p:txBody>
          <a:bodyPr/>
          <a:lstStyle/>
          <a:p>
            <a:pPr>
              <a:lnSpc>
                <a:spcPts val="4200"/>
              </a:lnSpc>
            </a:pPr>
            <a:r>
              <a:rPr lang="en-US" altLang="zh-CN" sz="2400" dirty="0">
                <a:solidFill>
                  <a:srgbClr val="000099"/>
                </a:solidFill>
                <a:ea typeface="楷体_GB2312" pitchFamily="49" charset="-122"/>
                <a:cs typeface="Arial" panose="020B0604020202020204" pitchFamily="34" charset="0"/>
                <a:sym typeface="+mn-ea"/>
              </a:rPr>
              <a:t>First, set the visit flag of each vertex in the graph to</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FALSE.Then, start from a vertex</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v</a:t>
            </a:r>
            <a:r>
              <a:rPr lang="en-US" altLang="zh-CN" sz="2400" baseline="-25000" dirty="0">
                <a:solidFill>
                  <a:srgbClr val="000099"/>
                </a:solidFill>
                <a:ea typeface="楷体_GB2312" pitchFamily="49" charset="-122"/>
                <a:cs typeface="Arial" panose="020B0604020202020204" pitchFamily="34" charset="0"/>
                <a:sym typeface="+mn-ea"/>
              </a:rPr>
              <a:t>0</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in the graph and visit this vertex. Then sequentially perform depth-first traversal of the graph starting from each unvisited adjacent vertex of</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v</a:t>
            </a:r>
            <a:r>
              <a:rPr lang="en-US" altLang="zh-CN" sz="2400" baseline="-25000" dirty="0">
                <a:solidFill>
                  <a:srgbClr val="000099"/>
                </a:solidFill>
                <a:ea typeface="楷体_GB2312" pitchFamily="49" charset="-122"/>
                <a:cs typeface="Arial" panose="020B0604020202020204" pitchFamily="34" charset="0"/>
                <a:sym typeface="+mn-ea"/>
              </a:rPr>
              <a:t>0</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until all vertices in the graph that are reachable from</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v</a:t>
            </a:r>
            <a:r>
              <a:rPr lang="en-US" altLang="zh-CN" sz="2400" baseline="-25000" dirty="0">
                <a:solidFill>
                  <a:srgbClr val="000099"/>
                </a:solidFill>
                <a:ea typeface="楷体_GB2312" pitchFamily="49" charset="-122"/>
                <a:cs typeface="Arial" panose="020B0604020202020204" pitchFamily="34" charset="0"/>
                <a:sym typeface="+mn-ea"/>
              </a:rPr>
              <a:t>0</a:t>
            </a:r>
            <a:r>
              <a:rPr lang="en-US" altLang="en-US" sz="2400" dirty="0">
                <a:solidFill>
                  <a:srgbClr val="000099"/>
                </a:solidFill>
                <a:ea typeface="楷体_GB2312" pitchFamily="49" charset="-122"/>
                <a:cs typeface="Arial" panose="020B0604020202020204" pitchFamily="34" charset="0"/>
                <a:sym typeface="+mn-ea"/>
              </a:rPr>
              <a:t> </a:t>
            </a:r>
            <a:r>
              <a:rPr lang="en-US" altLang="zh-CN" sz="2400" dirty="0">
                <a:solidFill>
                  <a:srgbClr val="000099"/>
                </a:solidFill>
                <a:ea typeface="楷体_GB2312" pitchFamily="49" charset="-122"/>
                <a:cs typeface="Arial" panose="020B0604020202020204" pitchFamily="34" charset="0"/>
                <a:sym typeface="+mn-ea"/>
              </a:rPr>
              <a:t>via a path have been visited.</a:t>
            </a:r>
            <a:r>
              <a:rPr lang="zh-CN" altLang="en-US" sz="2400" dirty="0">
                <a:solidFill>
                  <a:srgbClr val="FF0000"/>
                </a:solidFill>
                <a:ea typeface="楷体_GB2312" pitchFamily="49" charset="-122"/>
                <a:cs typeface="Arial" panose="020B0604020202020204" pitchFamily="34" charset="0"/>
                <a:sym typeface="+mn-ea"/>
              </a:rPr>
              <a:t>If there are still vertices in the graph that have not been visited at this time, select another unvisited vertex in the graph as the starting point and repeat the above process until all vertices in the graph have been visited.</a:t>
            </a:r>
            <a:endParaRPr lang="zh-CN" altLang="en-US" sz="2400" dirty="0">
              <a:solidFill>
                <a:srgbClr val="FF0000"/>
              </a:solidFill>
              <a:ea typeface="楷体_GB2312" pitchFamily="49" charset="-122"/>
              <a:cs typeface="Arial" panose="020B0604020202020204" pitchFamily="34" charset="0"/>
              <a:sym typeface="+mn-ea"/>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2667000" y="4564063"/>
            <a:ext cx="5540375" cy="654050"/>
          </a:xfrm>
          <a:prstGeom prst="rect">
            <a:avLst/>
          </a:prstGeom>
          <a:solidFill>
            <a:srgbClr val="EBEBFF"/>
          </a:solidFill>
          <a:ln w="12700" cap="sq">
            <a:solidFill>
              <a:srgbClr val="000099"/>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600" b="1">
                <a:solidFill>
                  <a:srgbClr val="000099"/>
                </a:solidFill>
              </a:rPr>
              <a:t>F   F   F   F   F   F   F   F   F</a:t>
            </a:r>
            <a:endParaRPr lang="en-US" altLang="zh-CN"/>
          </a:p>
        </p:txBody>
      </p:sp>
      <p:sp>
        <p:nvSpPr>
          <p:cNvPr id="115715" name="Line 3"/>
          <p:cNvSpPr>
            <a:spLocks noChangeShapeType="1"/>
          </p:cNvSpPr>
          <p:nvPr/>
        </p:nvSpPr>
        <p:spPr bwMode="auto">
          <a:xfrm>
            <a:off x="32543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6" name="Line 4"/>
          <p:cNvSpPr>
            <a:spLocks noChangeShapeType="1"/>
          </p:cNvSpPr>
          <p:nvPr/>
        </p:nvSpPr>
        <p:spPr bwMode="auto">
          <a:xfrm>
            <a:off x="38639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7" name="Line 5"/>
          <p:cNvSpPr>
            <a:spLocks noChangeShapeType="1"/>
          </p:cNvSpPr>
          <p:nvPr/>
        </p:nvSpPr>
        <p:spPr bwMode="auto">
          <a:xfrm>
            <a:off x="44735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8" name="Line 6"/>
          <p:cNvSpPr>
            <a:spLocks noChangeShapeType="1"/>
          </p:cNvSpPr>
          <p:nvPr/>
        </p:nvSpPr>
        <p:spPr bwMode="auto">
          <a:xfrm>
            <a:off x="50831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9" name="Line 7"/>
          <p:cNvSpPr>
            <a:spLocks noChangeShapeType="1"/>
          </p:cNvSpPr>
          <p:nvPr/>
        </p:nvSpPr>
        <p:spPr bwMode="auto">
          <a:xfrm>
            <a:off x="56927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0" name="Line 8"/>
          <p:cNvSpPr>
            <a:spLocks noChangeShapeType="1"/>
          </p:cNvSpPr>
          <p:nvPr/>
        </p:nvSpPr>
        <p:spPr bwMode="auto">
          <a:xfrm>
            <a:off x="63023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1" name="Line 9"/>
          <p:cNvSpPr>
            <a:spLocks noChangeShapeType="1"/>
          </p:cNvSpPr>
          <p:nvPr/>
        </p:nvSpPr>
        <p:spPr bwMode="auto">
          <a:xfrm>
            <a:off x="69119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2" name="Line 10"/>
          <p:cNvSpPr>
            <a:spLocks noChangeShapeType="1"/>
          </p:cNvSpPr>
          <p:nvPr/>
        </p:nvSpPr>
        <p:spPr bwMode="auto">
          <a:xfrm>
            <a:off x="7521575" y="4572000"/>
            <a:ext cx="0" cy="685800"/>
          </a:xfrm>
          <a:prstGeom prst="lin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3" name="Rectangle 11"/>
          <p:cNvSpPr>
            <a:spLocks noChangeArrowheads="1"/>
          </p:cNvSpPr>
          <p:nvPr/>
        </p:nvSpPr>
        <p:spPr bwMode="auto">
          <a:xfrm>
            <a:off x="27114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4" name="Rectangle 12"/>
          <p:cNvSpPr>
            <a:spLocks noChangeArrowheads="1"/>
          </p:cNvSpPr>
          <p:nvPr/>
        </p:nvSpPr>
        <p:spPr bwMode="auto">
          <a:xfrm>
            <a:off x="33210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5" name="Rectangle 13"/>
          <p:cNvSpPr>
            <a:spLocks noChangeArrowheads="1"/>
          </p:cNvSpPr>
          <p:nvPr/>
        </p:nvSpPr>
        <p:spPr bwMode="auto">
          <a:xfrm>
            <a:off x="39306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6" name="Rectangle 14"/>
          <p:cNvSpPr>
            <a:spLocks noChangeArrowheads="1"/>
          </p:cNvSpPr>
          <p:nvPr/>
        </p:nvSpPr>
        <p:spPr bwMode="auto">
          <a:xfrm>
            <a:off x="45402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7" name="Rectangle 15"/>
          <p:cNvSpPr>
            <a:spLocks noChangeArrowheads="1"/>
          </p:cNvSpPr>
          <p:nvPr/>
        </p:nvSpPr>
        <p:spPr bwMode="auto">
          <a:xfrm>
            <a:off x="518160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8" name="Rectangle 16"/>
          <p:cNvSpPr>
            <a:spLocks noChangeArrowheads="1"/>
          </p:cNvSpPr>
          <p:nvPr/>
        </p:nvSpPr>
        <p:spPr bwMode="auto">
          <a:xfrm>
            <a:off x="57594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29" name="Rectangle 17"/>
          <p:cNvSpPr>
            <a:spLocks noChangeArrowheads="1"/>
          </p:cNvSpPr>
          <p:nvPr/>
        </p:nvSpPr>
        <p:spPr bwMode="auto">
          <a:xfrm>
            <a:off x="63690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30" name="Rectangle 18"/>
          <p:cNvSpPr>
            <a:spLocks noChangeArrowheads="1"/>
          </p:cNvSpPr>
          <p:nvPr/>
        </p:nvSpPr>
        <p:spPr bwMode="auto">
          <a:xfrm>
            <a:off x="6978650" y="457200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31" name="Rectangle 19"/>
          <p:cNvSpPr>
            <a:spLocks noChangeArrowheads="1"/>
          </p:cNvSpPr>
          <p:nvPr/>
        </p:nvSpPr>
        <p:spPr bwMode="auto">
          <a:xfrm>
            <a:off x="8207375" y="4542660"/>
            <a:ext cx="488950" cy="641350"/>
          </a:xfrm>
          <a:prstGeom prst="rect">
            <a:avLst/>
          </a:prstGeom>
          <a:solidFill>
            <a:srgbClr val="FFCC99"/>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800000"/>
                </a:solidFill>
              </a:rPr>
              <a:t>T</a:t>
            </a:r>
            <a:endParaRPr lang="en-US" altLang="zh-CN" sz="3600" b="1">
              <a:solidFill>
                <a:srgbClr val="000099"/>
              </a:solidFill>
            </a:endParaRPr>
          </a:p>
        </p:txBody>
      </p:sp>
      <p:sp>
        <p:nvSpPr>
          <p:cNvPr id="115732" name="Rectangle 20"/>
          <p:cNvSpPr>
            <a:spLocks noChangeArrowheads="1"/>
          </p:cNvSpPr>
          <p:nvPr/>
        </p:nvSpPr>
        <p:spPr bwMode="auto">
          <a:xfrm>
            <a:off x="26670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a</a:t>
            </a:r>
            <a:endParaRPr lang="en-US" altLang="zh-CN" sz="3600" b="1">
              <a:solidFill>
                <a:srgbClr val="000099"/>
              </a:solidFill>
            </a:endParaRPr>
          </a:p>
        </p:txBody>
      </p:sp>
      <p:sp>
        <p:nvSpPr>
          <p:cNvPr id="115733" name="Rectangle 21"/>
          <p:cNvSpPr>
            <a:spLocks noChangeArrowheads="1"/>
          </p:cNvSpPr>
          <p:nvPr/>
        </p:nvSpPr>
        <p:spPr bwMode="auto">
          <a:xfrm>
            <a:off x="32766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c</a:t>
            </a:r>
            <a:endParaRPr lang="en-US" altLang="zh-CN" sz="3600" b="1">
              <a:solidFill>
                <a:srgbClr val="000099"/>
              </a:solidFill>
            </a:endParaRPr>
          </a:p>
        </p:txBody>
      </p:sp>
      <p:sp>
        <p:nvSpPr>
          <p:cNvPr id="115734" name="Rectangle 22"/>
          <p:cNvSpPr>
            <a:spLocks noChangeArrowheads="1"/>
          </p:cNvSpPr>
          <p:nvPr/>
        </p:nvSpPr>
        <p:spPr bwMode="auto">
          <a:xfrm>
            <a:off x="38862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h</a:t>
            </a:r>
            <a:endParaRPr lang="en-US" altLang="zh-CN" sz="3600" b="1">
              <a:solidFill>
                <a:srgbClr val="000099"/>
              </a:solidFill>
            </a:endParaRPr>
          </a:p>
        </p:txBody>
      </p:sp>
      <p:sp>
        <p:nvSpPr>
          <p:cNvPr id="115735" name="Rectangle 23"/>
          <p:cNvSpPr>
            <a:spLocks noChangeArrowheads="1"/>
          </p:cNvSpPr>
          <p:nvPr/>
        </p:nvSpPr>
        <p:spPr bwMode="auto">
          <a:xfrm>
            <a:off x="44958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d</a:t>
            </a:r>
            <a:endParaRPr lang="en-US" altLang="zh-CN" sz="3600" b="1">
              <a:solidFill>
                <a:srgbClr val="000099"/>
              </a:solidFill>
            </a:endParaRPr>
          </a:p>
        </p:txBody>
      </p:sp>
      <p:sp>
        <p:nvSpPr>
          <p:cNvPr id="115736" name="Rectangle 24"/>
          <p:cNvSpPr>
            <a:spLocks noChangeArrowheads="1"/>
          </p:cNvSpPr>
          <p:nvPr/>
        </p:nvSpPr>
        <p:spPr bwMode="auto">
          <a:xfrm>
            <a:off x="5105400" y="5607050"/>
            <a:ext cx="55245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k</a:t>
            </a:r>
            <a:endParaRPr lang="en-US" altLang="zh-CN" sz="3600" b="1">
              <a:solidFill>
                <a:srgbClr val="000099"/>
              </a:solidFill>
            </a:endParaRPr>
          </a:p>
        </p:txBody>
      </p:sp>
      <p:sp>
        <p:nvSpPr>
          <p:cNvPr id="115737" name="Rectangle 25"/>
          <p:cNvSpPr>
            <a:spLocks noChangeArrowheads="1"/>
          </p:cNvSpPr>
          <p:nvPr/>
        </p:nvSpPr>
        <p:spPr bwMode="auto">
          <a:xfrm>
            <a:off x="57150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f</a:t>
            </a:r>
            <a:endParaRPr lang="en-US" altLang="zh-CN" sz="3600" b="1">
              <a:solidFill>
                <a:srgbClr val="000099"/>
              </a:solidFill>
            </a:endParaRPr>
          </a:p>
        </p:txBody>
      </p:sp>
      <p:sp>
        <p:nvSpPr>
          <p:cNvPr id="115738" name="Rectangle 26"/>
          <p:cNvSpPr>
            <a:spLocks noChangeArrowheads="1"/>
          </p:cNvSpPr>
          <p:nvPr/>
        </p:nvSpPr>
        <p:spPr bwMode="auto">
          <a:xfrm>
            <a:off x="6324600" y="5607050"/>
            <a:ext cx="6096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e </a:t>
            </a:r>
            <a:endParaRPr lang="en-US" altLang="zh-CN" sz="3600" b="1">
              <a:solidFill>
                <a:srgbClr val="000099"/>
              </a:solidFill>
            </a:endParaRPr>
          </a:p>
        </p:txBody>
      </p:sp>
      <p:sp>
        <p:nvSpPr>
          <p:cNvPr id="115739" name="Rectangle 27"/>
          <p:cNvSpPr>
            <a:spLocks noChangeArrowheads="1"/>
          </p:cNvSpPr>
          <p:nvPr/>
        </p:nvSpPr>
        <p:spPr bwMode="auto">
          <a:xfrm>
            <a:off x="6991350" y="5607050"/>
            <a:ext cx="55245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b</a:t>
            </a:r>
            <a:endParaRPr lang="en-US" altLang="zh-CN" sz="3600" b="1">
              <a:solidFill>
                <a:srgbClr val="000099"/>
              </a:solidFill>
            </a:endParaRPr>
          </a:p>
        </p:txBody>
      </p:sp>
      <p:sp>
        <p:nvSpPr>
          <p:cNvPr id="115740" name="Rectangle 28"/>
          <p:cNvSpPr>
            <a:spLocks noChangeArrowheads="1"/>
          </p:cNvSpPr>
          <p:nvPr/>
        </p:nvSpPr>
        <p:spPr bwMode="auto">
          <a:xfrm>
            <a:off x="7543800" y="5607050"/>
            <a:ext cx="685800" cy="641350"/>
          </a:xfrm>
          <a:prstGeom prst="rect">
            <a:avLst/>
          </a:prstGeom>
          <a:solidFill>
            <a:srgbClr val="959AFD">
              <a:alpha val="50000"/>
            </a:srgb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800000"/>
                </a:solidFill>
              </a:rPr>
              <a:t>g</a:t>
            </a:r>
            <a:endParaRPr lang="en-US" altLang="zh-CN" sz="3600" b="1">
              <a:solidFill>
                <a:srgbClr val="000099"/>
              </a:solidFill>
            </a:endParaRPr>
          </a:p>
        </p:txBody>
      </p:sp>
      <p:sp>
        <p:nvSpPr>
          <p:cNvPr id="115741" name="Text Box 29"/>
          <p:cNvSpPr txBox="1">
            <a:spLocks noChangeArrowheads="1"/>
          </p:cNvSpPr>
          <p:nvPr/>
        </p:nvSpPr>
        <p:spPr bwMode="auto">
          <a:xfrm>
            <a:off x="288925" y="4495800"/>
            <a:ext cx="22758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000099"/>
                </a:solidFill>
                <a:latin typeface="Arial" panose="020B0604020202020204" pitchFamily="34" charset="0"/>
                <a:ea typeface="隶书" panose="02010509060101010101" pitchFamily="49" charset="-122"/>
                <a:cs typeface="Arial" panose="020B0604020202020204" pitchFamily="34" charset="0"/>
                <a:sym typeface="+mn-ea"/>
              </a:rPr>
              <a:t>Access flag:</a:t>
            </a:r>
            <a:endParaRPr lang="zh-CN" altLang="en-US" b="1">
              <a:solidFill>
                <a:srgbClr val="000099"/>
              </a:solidFill>
              <a:latin typeface="Arial" panose="020B0604020202020204" pitchFamily="34" charset="0"/>
              <a:ea typeface="隶书" panose="02010509060101010101" pitchFamily="49" charset="-122"/>
              <a:cs typeface="Arial" panose="020B0604020202020204" pitchFamily="34" charset="0"/>
              <a:sym typeface="+mn-ea"/>
            </a:endParaRPr>
          </a:p>
        </p:txBody>
      </p:sp>
      <p:sp>
        <p:nvSpPr>
          <p:cNvPr id="115742" name="Text Box 30"/>
          <p:cNvSpPr txBox="1">
            <a:spLocks noChangeArrowheads="1"/>
          </p:cNvSpPr>
          <p:nvPr/>
        </p:nvSpPr>
        <p:spPr bwMode="auto">
          <a:xfrm>
            <a:off x="304800" y="5530850"/>
            <a:ext cx="205295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800000"/>
                </a:solidFill>
                <a:latin typeface="Arial" panose="020B0604020202020204" pitchFamily="34" charset="0"/>
                <a:ea typeface="隶书" panose="02010509060101010101" pitchFamily="49" charset="-122"/>
                <a:cs typeface="Arial" panose="020B0604020202020204" pitchFamily="34" charset="0"/>
                <a:sym typeface="+mn-ea"/>
              </a:rPr>
              <a:t>Visit order:</a:t>
            </a:r>
            <a:endParaRPr lang="zh-CN" altLang="en-US" b="1">
              <a:solidFill>
                <a:srgbClr val="800000"/>
              </a:solidFill>
              <a:latin typeface="Arial" panose="020B0604020202020204" pitchFamily="34" charset="0"/>
              <a:ea typeface="隶书" panose="02010509060101010101" pitchFamily="49" charset="-122"/>
              <a:cs typeface="Arial" panose="020B0604020202020204" pitchFamily="34" charset="0"/>
              <a:sym typeface="+mn-ea"/>
            </a:endParaRPr>
          </a:p>
        </p:txBody>
      </p:sp>
      <p:sp>
        <p:nvSpPr>
          <p:cNvPr id="115743" name="Text Box 31"/>
          <p:cNvSpPr txBox="1">
            <a:spLocks noChangeArrowheads="1"/>
          </p:cNvSpPr>
          <p:nvPr/>
        </p:nvSpPr>
        <p:spPr bwMode="auto">
          <a:xfrm>
            <a:off x="517525" y="349250"/>
            <a:ext cx="3223895"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3600" b="1">
                <a:solidFill>
                  <a:srgbClr val="000099"/>
                </a:solidFill>
                <a:sym typeface="+mn-ea"/>
              </a:rPr>
              <a:t>F</a:t>
            </a:r>
            <a:r>
              <a:rPr lang="zh-CN" altLang="en-US" sz="3600" b="1">
                <a:solidFill>
                  <a:srgbClr val="000099"/>
                </a:solidFill>
                <a:sym typeface="+mn-ea"/>
              </a:rPr>
              <a:t>or </a:t>
            </a:r>
            <a:r>
              <a:rPr lang="en-US" altLang="zh-CN" sz="3600" b="1">
                <a:solidFill>
                  <a:srgbClr val="000099"/>
                </a:solidFill>
                <a:sym typeface="+mn-ea"/>
              </a:rPr>
              <a:t>I</a:t>
            </a:r>
            <a:r>
              <a:rPr lang="zh-CN" altLang="en-US" sz="3600" b="1">
                <a:solidFill>
                  <a:srgbClr val="000099"/>
                </a:solidFill>
                <a:sym typeface="+mn-ea"/>
              </a:rPr>
              <a:t>nstance ：</a:t>
            </a:r>
            <a:endParaRPr lang="en-US" altLang="zh-CN"/>
          </a:p>
        </p:txBody>
      </p:sp>
      <p:sp>
        <p:nvSpPr>
          <p:cNvPr id="115744" name="Text Box 32"/>
          <p:cNvSpPr txBox="1">
            <a:spLocks noChangeArrowheads="1"/>
          </p:cNvSpPr>
          <p:nvPr/>
        </p:nvSpPr>
        <p:spPr bwMode="auto">
          <a:xfrm>
            <a:off x="2699792" y="3645024"/>
            <a:ext cx="6378575"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spcBef>
                <a:spcPct val="50000"/>
              </a:spcBef>
            </a:pPr>
            <a:r>
              <a:rPr lang="en-US" altLang="zh-CN" dirty="0">
                <a:solidFill>
                  <a:srgbClr val="3333FF"/>
                </a:solidFill>
              </a:rPr>
              <a:t>0      1      2      3      4      5      6      7      8</a:t>
            </a:r>
            <a:endParaRPr lang="en-US" altLang="zh-CN" dirty="0">
              <a:solidFill>
                <a:srgbClr val="3333FF"/>
              </a:solidFill>
            </a:endParaRPr>
          </a:p>
          <a:p>
            <a:pPr>
              <a:lnSpc>
                <a:spcPct val="90000"/>
              </a:lnSpc>
            </a:pPr>
            <a:r>
              <a:rPr lang="en-US" altLang="zh-CN" dirty="0"/>
              <a:t>(a)   (b)   (c)   (d)    (e)   (f)    (g)    (h)   (k)</a:t>
            </a:r>
            <a:endParaRPr lang="en-US" altLang="zh-CN" dirty="0"/>
          </a:p>
        </p:txBody>
      </p:sp>
      <p:grpSp>
        <p:nvGrpSpPr>
          <p:cNvPr id="115745" name="Group 33"/>
          <p:cNvGrpSpPr/>
          <p:nvPr/>
        </p:nvGrpSpPr>
        <p:grpSpPr bwMode="auto">
          <a:xfrm>
            <a:off x="1981200" y="914400"/>
            <a:ext cx="5029200" cy="2667000"/>
            <a:chOff x="1248" y="672"/>
            <a:chExt cx="3168" cy="1680"/>
          </a:xfrm>
        </p:grpSpPr>
        <p:sp>
          <p:nvSpPr>
            <p:cNvPr id="115746" name="Oval 34"/>
            <p:cNvSpPr>
              <a:spLocks noChangeArrowheads="1"/>
            </p:cNvSpPr>
            <p:nvPr/>
          </p:nvSpPr>
          <p:spPr bwMode="auto">
            <a:xfrm>
              <a:off x="2400" y="67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15747" name="Oval 35"/>
            <p:cNvSpPr>
              <a:spLocks noChangeArrowheads="1"/>
            </p:cNvSpPr>
            <p:nvPr/>
          </p:nvSpPr>
          <p:spPr bwMode="auto">
            <a:xfrm>
              <a:off x="3264" y="67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115748" name="Oval 36"/>
            <p:cNvSpPr>
              <a:spLocks noChangeArrowheads="1"/>
            </p:cNvSpPr>
            <p:nvPr/>
          </p:nvSpPr>
          <p:spPr bwMode="auto">
            <a:xfrm>
              <a:off x="1248" y="139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115749" name="Oval 37"/>
            <p:cNvSpPr>
              <a:spLocks noChangeArrowheads="1"/>
            </p:cNvSpPr>
            <p:nvPr/>
          </p:nvSpPr>
          <p:spPr bwMode="auto">
            <a:xfrm>
              <a:off x="1728" y="2064"/>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h</a:t>
              </a:r>
              <a:endParaRPr lang="en-US" altLang="zh-CN"/>
            </a:p>
          </p:txBody>
        </p:sp>
        <p:sp>
          <p:nvSpPr>
            <p:cNvPr id="115750" name="Oval 38"/>
            <p:cNvSpPr>
              <a:spLocks noChangeArrowheads="1"/>
            </p:cNvSpPr>
            <p:nvPr/>
          </p:nvSpPr>
          <p:spPr bwMode="auto">
            <a:xfrm>
              <a:off x="2016" y="139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115751" name="Oval 39"/>
            <p:cNvSpPr>
              <a:spLocks noChangeArrowheads="1"/>
            </p:cNvSpPr>
            <p:nvPr/>
          </p:nvSpPr>
          <p:spPr bwMode="auto">
            <a:xfrm>
              <a:off x="2736" y="139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115752" name="Oval 40"/>
            <p:cNvSpPr>
              <a:spLocks noChangeArrowheads="1"/>
            </p:cNvSpPr>
            <p:nvPr/>
          </p:nvSpPr>
          <p:spPr bwMode="auto">
            <a:xfrm>
              <a:off x="2976" y="2064"/>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k</a:t>
              </a:r>
              <a:endParaRPr lang="en-US" altLang="zh-CN"/>
            </a:p>
          </p:txBody>
        </p:sp>
        <p:sp>
          <p:nvSpPr>
            <p:cNvPr id="115753" name="Oval 41"/>
            <p:cNvSpPr>
              <a:spLocks noChangeArrowheads="1"/>
            </p:cNvSpPr>
            <p:nvPr/>
          </p:nvSpPr>
          <p:spPr bwMode="auto">
            <a:xfrm>
              <a:off x="3504" y="1392"/>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a:p>
          </p:txBody>
        </p:sp>
        <p:sp>
          <p:nvSpPr>
            <p:cNvPr id="115754" name="Oval 42"/>
            <p:cNvSpPr>
              <a:spLocks noChangeArrowheads="1"/>
            </p:cNvSpPr>
            <p:nvPr/>
          </p:nvSpPr>
          <p:spPr bwMode="auto">
            <a:xfrm>
              <a:off x="4080" y="864"/>
              <a:ext cx="336" cy="288"/>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a:p>
          </p:txBody>
        </p:sp>
        <p:sp>
          <p:nvSpPr>
            <p:cNvPr id="115755" name="Line 43"/>
            <p:cNvSpPr>
              <a:spLocks noChangeShapeType="1"/>
            </p:cNvSpPr>
            <p:nvPr/>
          </p:nvSpPr>
          <p:spPr bwMode="auto">
            <a:xfrm flipH="1">
              <a:off x="1392" y="816"/>
              <a:ext cx="1008" cy="576"/>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6" name="Line 44"/>
            <p:cNvSpPr>
              <a:spLocks noChangeShapeType="1"/>
            </p:cNvSpPr>
            <p:nvPr/>
          </p:nvSpPr>
          <p:spPr bwMode="auto">
            <a:xfrm>
              <a:off x="1392" y="1680"/>
              <a:ext cx="384" cy="432"/>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7" name="Line 45"/>
            <p:cNvSpPr>
              <a:spLocks noChangeShapeType="1"/>
            </p:cNvSpPr>
            <p:nvPr/>
          </p:nvSpPr>
          <p:spPr bwMode="auto">
            <a:xfrm>
              <a:off x="2064" y="2208"/>
              <a:ext cx="912" cy="0"/>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8" name="Line 46"/>
            <p:cNvSpPr>
              <a:spLocks noChangeShapeType="1"/>
            </p:cNvSpPr>
            <p:nvPr/>
          </p:nvSpPr>
          <p:spPr bwMode="auto">
            <a:xfrm flipH="1">
              <a:off x="2208" y="912"/>
              <a:ext cx="240" cy="480"/>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59" name="Line 47"/>
            <p:cNvSpPr>
              <a:spLocks noChangeShapeType="1"/>
            </p:cNvSpPr>
            <p:nvPr/>
          </p:nvSpPr>
          <p:spPr bwMode="auto">
            <a:xfrm flipH="1">
              <a:off x="1872" y="1632"/>
              <a:ext cx="240" cy="432"/>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0" name="Line 48"/>
            <p:cNvSpPr>
              <a:spLocks noChangeShapeType="1"/>
            </p:cNvSpPr>
            <p:nvPr/>
          </p:nvSpPr>
          <p:spPr bwMode="auto">
            <a:xfrm>
              <a:off x="3024" y="1680"/>
              <a:ext cx="96" cy="384"/>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1" name="Line 49"/>
            <p:cNvSpPr>
              <a:spLocks noChangeShapeType="1"/>
            </p:cNvSpPr>
            <p:nvPr/>
          </p:nvSpPr>
          <p:spPr bwMode="auto">
            <a:xfrm>
              <a:off x="2688" y="912"/>
              <a:ext cx="192" cy="480"/>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2" name="Line 50"/>
            <p:cNvSpPr>
              <a:spLocks noChangeShapeType="1"/>
            </p:cNvSpPr>
            <p:nvPr/>
          </p:nvSpPr>
          <p:spPr bwMode="auto">
            <a:xfrm>
              <a:off x="2736" y="816"/>
              <a:ext cx="912" cy="576"/>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3" name="Line 51"/>
            <p:cNvSpPr>
              <a:spLocks noChangeShapeType="1"/>
            </p:cNvSpPr>
            <p:nvPr/>
          </p:nvSpPr>
          <p:spPr bwMode="auto">
            <a:xfrm flipH="1">
              <a:off x="3312" y="1680"/>
              <a:ext cx="384" cy="480"/>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4" name="Line 52"/>
            <p:cNvSpPr>
              <a:spLocks noChangeShapeType="1"/>
            </p:cNvSpPr>
            <p:nvPr/>
          </p:nvSpPr>
          <p:spPr bwMode="auto">
            <a:xfrm>
              <a:off x="3600" y="816"/>
              <a:ext cx="480" cy="144"/>
            </a:xfrm>
            <a:prstGeom prst="line">
              <a:avLst/>
            </a:prstGeom>
            <a:noFill/>
            <a:ln w="28575"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5" name="Oval 53"/>
            <p:cNvSpPr>
              <a:spLocks noChangeArrowheads="1"/>
            </p:cNvSpPr>
            <p:nvPr/>
          </p:nvSpPr>
          <p:spPr bwMode="auto">
            <a:xfrm>
              <a:off x="2400" y="67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15766" name="Line 54"/>
            <p:cNvSpPr>
              <a:spLocks noChangeShapeType="1"/>
            </p:cNvSpPr>
            <p:nvPr/>
          </p:nvSpPr>
          <p:spPr bwMode="auto">
            <a:xfrm flipH="1">
              <a:off x="1392" y="816"/>
              <a:ext cx="1008" cy="576"/>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7" name="Oval 55"/>
            <p:cNvSpPr>
              <a:spLocks noChangeArrowheads="1"/>
            </p:cNvSpPr>
            <p:nvPr/>
          </p:nvSpPr>
          <p:spPr bwMode="auto">
            <a:xfrm>
              <a:off x="1248" y="139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115768" name="Line 56"/>
            <p:cNvSpPr>
              <a:spLocks noChangeShapeType="1"/>
            </p:cNvSpPr>
            <p:nvPr/>
          </p:nvSpPr>
          <p:spPr bwMode="auto">
            <a:xfrm>
              <a:off x="1392" y="1680"/>
              <a:ext cx="384" cy="432"/>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69" name="Oval 57"/>
            <p:cNvSpPr>
              <a:spLocks noChangeArrowheads="1"/>
            </p:cNvSpPr>
            <p:nvPr/>
          </p:nvSpPr>
          <p:spPr bwMode="auto">
            <a:xfrm>
              <a:off x="1728" y="2064"/>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h</a:t>
              </a:r>
              <a:endParaRPr lang="en-US" altLang="zh-CN"/>
            </a:p>
          </p:txBody>
        </p:sp>
        <p:sp>
          <p:nvSpPr>
            <p:cNvPr id="115770" name="Line 58"/>
            <p:cNvSpPr>
              <a:spLocks noChangeShapeType="1"/>
            </p:cNvSpPr>
            <p:nvPr/>
          </p:nvSpPr>
          <p:spPr bwMode="auto">
            <a:xfrm flipH="1">
              <a:off x="1872" y="1632"/>
              <a:ext cx="240" cy="432"/>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71" name="Line 59"/>
            <p:cNvSpPr>
              <a:spLocks noChangeShapeType="1"/>
            </p:cNvSpPr>
            <p:nvPr/>
          </p:nvSpPr>
          <p:spPr bwMode="auto">
            <a:xfrm>
              <a:off x="2064" y="2208"/>
              <a:ext cx="912" cy="0"/>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72" name="Oval 60"/>
            <p:cNvSpPr>
              <a:spLocks noChangeArrowheads="1"/>
            </p:cNvSpPr>
            <p:nvPr/>
          </p:nvSpPr>
          <p:spPr bwMode="auto">
            <a:xfrm>
              <a:off x="2976" y="2064"/>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k</a:t>
              </a:r>
              <a:endParaRPr lang="en-US" altLang="zh-CN"/>
            </a:p>
          </p:txBody>
        </p:sp>
        <p:sp>
          <p:nvSpPr>
            <p:cNvPr id="115773" name="Line 61"/>
            <p:cNvSpPr>
              <a:spLocks noChangeShapeType="1"/>
            </p:cNvSpPr>
            <p:nvPr/>
          </p:nvSpPr>
          <p:spPr bwMode="auto">
            <a:xfrm flipH="1">
              <a:off x="3312" y="1680"/>
              <a:ext cx="384" cy="480"/>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74" name="Oval 62"/>
            <p:cNvSpPr>
              <a:spLocks noChangeArrowheads="1"/>
            </p:cNvSpPr>
            <p:nvPr/>
          </p:nvSpPr>
          <p:spPr bwMode="auto">
            <a:xfrm>
              <a:off x="3504" y="139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a:p>
          </p:txBody>
        </p:sp>
        <p:sp>
          <p:nvSpPr>
            <p:cNvPr id="115775" name="Line 63"/>
            <p:cNvSpPr>
              <a:spLocks noChangeShapeType="1"/>
            </p:cNvSpPr>
            <p:nvPr/>
          </p:nvSpPr>
          <p:spPr bwMode="auto">
            <a:xfrm>
              <a:off x="3024" y="1680"/>
              <a:ext cx="96" cy="384"/>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76" name="Oval 64"/>
            <p:cNvSpPr>
              <a:spLocks noChangeArrowheads="1"/>
            </p:cNvSpPr>
            <p:nvPr/>
          </p:nvSpPr>
          <p:spPr bwMode="auto">
            <a:xfrm>
              <a:off x="2736" y="139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115777" name="Oval 65"/>
            <p:cNvSpPr>
              <a:spLocks noChangeArrowheads="1"/>
            </p:cNvSpPr>
            <p:nvPr/>
          </p:nvSpPr>
          <p:spPr bwMode="auto">
            <a:xfrm>
              <a:off x="2016" y="139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115778" name="Oval 66"/>
            <p:cNvSpPr>
              <a:spLocks noChangeArrowheads="1"/>
            </p:cNvSpPr>
            <p:nvPr/>
          </p:nvSpPr>
          <p:spPr bwMode="auto">
            <a:xfrm>
              <a:off x="3264" y="672"/>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115779" name="Line 67"/>
            <p:cNvSpPr>
              <a:spLocks noChangeShapeType="1"/>
            </p:cNvSpPr>
            <p:nvPr/>
          </p:nvSpPr>
          <p:spPr bwMode="auto">
            <a:xfrm>
              <a:off x="3600" y="816"/>
              <a:ext cx="480" cy="144"/>
            </a:xfrm>
            <a:prstGeom prst="line">
              <a:avLst/>
            </a:prstGeom>
            <a:noFill/>
            <a:ln w="381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80" name="Oval 68"/>
            <p:cNvSpPr>
              <a:spLocks noChangeArrowheads="1"/>
            </p:cNvSpPr>
            <p:nvPr/>
          </p:nvSpPr>
          <p:spPr bwMode="auto">
            <a:xfrm>
              <a:off x="4080" y="864"/>
              <a:ext cx="336" cy="288"/>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a:p>
          </p:txBody>
        </p:sp>
        <p:sp>
          <p:nvSpPr>
            <p:cNvPr id="115781" name="Line 69"/>
            <p:cNvSpPr>
              <a:spLocks noChangeShapeType="1"/>
            </p:cNvSpPr>
            <p:nvPr/>
          </p:nvSpPr>
          <p:spPr bwMode="auto">
            <a:xfrm flipV="1">
              <a:off x="2016" y="1632"/>
              <a:ext cx="1536" cy="480"/>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115743"/>
                                        </p:tgtEl>
                                        <p:attrNameLst>
                                          <p:attrName>style.visibility</p:attrName>
                                        </p:attrNameLst>
                                      </p:cBhvr>
                                      <p:to>
                                        <p:strVal val="visible"/>
                                      </p:to>
                                    </p:set>
                                    <p:anim calcmode="lin" valueType="num">
                                      <p:cBhvr additive="base">
                                        <p:cTn id="7" dur="500" fill="hold"/>
                                        <p:tgtEl>
                                          <p:spTgt spid="115743"/>
                                        </p:tgtEl>
                                        <p:attrNameLst>
                                          <p:attrName>ppt_x</p:attrName>
                                        </p:attrNameLst>
                                      </p:cBhvr>
                                      <p:tavLst>
                                        <p:tav tm="0">
                                          <p:val>
                                            <p:strVal val="0-#ppt_w/2"/>
                                          </p:val>
                                        </p:tav>
                                        <p:tav tm="100000">
                                          <p:val>
                                            <p:strVal val="#ppt_x"/>
                                          </p:val>
                                        </p:tav>
                                      </p:tavLst>
                                    </p:anim>
                                    <p:anim calcmode="lin" valueType="num">
                                      <p:cBhvr additive="base">
                                        <p:cTn id="8" dur="500" fill="hold"/>
                                        <p:tgtEl>
                                          <p:spTgt spid="11574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5745"/>
                                        </p:tgtEl>
                                        <p:attrNameLst>
                                          <p:attrName>style.visibility</p:attrName>
                                        </p:attrNameLst>
                                      </p:cBhvr>
                                      <p:to>
                                        <p:strVal val="visible"/>
                                      </p:to>
                                    </p:set>
                                    <p:anim calcmode="lin" valueType="num">
                                      <p:cBhvr additive="base">
                                        <p:cTn id="13" dur="500" fill="hold"/>
                                        <p:tgtEl>
                                          <p:spTgt spid="115745"/>
                                        </p:tgtEl>
                                        <p:attrNameLst>
                                          <p:attrName>ppt_x</p:attrName>
                                        </p:attrNameLst>
                                      </p:cBhvr>
                                      <p:tavLst>
                                        <p:tav tm="0">
                                          <p:val>
                                            <p:strVal val="0-#ppt_w/2"/>
                                          </p:val>
                                        </p:tav>
                                        <p:tav tm="100000">
                                          <p:val>
                                            <p:strVal val="#ppt_x"/>
                                          </p:val>
                                        </p:tav>
                                      </p:tavLst>
                                    </p:anim>
                                    <p:anim calcmode="lin" valueType="num">
                                      <p:cBhvr additive="base">
                                        <p:cTn id="14" dur="500" fill="hold"/>
                                        <p:tgtEl>
                                          <p:spTgt spid="11574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5741"/>
                                        </p:tgtEl>
                                        <p:attrNameLst>
                                          <p:attrName>style.visibility</p:attrName>
                                        </p:attrNameLst>
                                      </p:cBhvr>
                                      <p:to>
                                        <p:strVal val="visible"/>
                                      </p:to>
                                    </p:set>
                                    <p:anim calcmode="lin" valueType="num">
                                      <p:cBhvr additive="base">
                                        <p:cTn id="19" dur="500" fill="hold"/>
                                        <p:tgtEl>
                                          <p:spTgt spid="115741"/>
                                        </p:tgtEl>
                                        <p:attrNameLst>
                                          <p:attrName>ppt_x</p:attrName>
                                        </p:attrNameLst>
                                      </p:cBhvr>
                                      <p:tavLst>
                                        <p:tav tm="0">
                                          <p:val>
                                            <p:strVal val="0-#ppt_w/2"/>
                                          </p:val>
                                        </p:tav>
                                        <p:tav tm="100000">
                                          <p:val>
                                            <p:strVal val="#ppt_x"/>
                                          </p:val>
                                        </p:tav>
                                      </p:tavLst>
                                    </p:anim>
                                    <p:anim calcmode="lin" valueType="num">
                                      <p:cBhvr additive="base">
                                        <p:cTn id="20" dur="500" fill="hold"/>
                                        <p:tgtEl>
                                          <p:spTgt spid="11574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15744"/>
                                        </p:tgtEl>
                                        <p:attrNameLst>
                                          <p:attrName>style.visibility</p:attrName>
                                        </p:attrNameLst>
                                      </p:cBhvr>
                                      <p:to>
                                        <p:strVal val="visible"/>
                                      </p:to>
                                    </p:set>
                                    <p:anim calcmode="lin" valueType="num">
                                      <p:cBhvr additive="base">
                                        <p:cTn id="24" dur="500" fill="hold"/>
                                        <p:tgtEl>
                                          <p:spTgt spid="115744"/>
                                        </p:tgtEl>
                                        <p:attrNameLst>
                                          <p:attrName>ppt_x</p:attrName>
                                        </p:attrNameLst>
                                      </p:cBhvr>
                                      <p:tavLst>
                                        <p:tav tm="0">
                                          <p:val>
                                            <p:strVal val="0-#ppt_w/2"/>
                                          </p:val>
                                        </p:tav>
                                        <p:tav tm="100000">
                                          <p:val>
                                            <p:strVal val="#ppt_x"/>
                                          </p:val>
                                        </p:tav>
                                      </p:tavLst>
                                    </p:anim>
                                    <p:anim calcmode="lin" valueType="num">
                                      <p:cBhvr additive="base">
                                        <p:cTn id="25" dur="500" fill="hold"/>
                                        <p:tgtEl>
                                          <p:spTgt spid="11574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15714"/>
                                        </p:tgtEl>
                                        <p:attrNameLst>
                                          <p:attrName>style.visibility</p:attrName>
                                        </p:attrNameLst>
                                      </p:cBhvr>
                                      <p:to>
                                        <p:strVal val="visible"/>
                                      </p:to>
                                    </p:set>
                                    <p:anim calcmode="lin" valueType="num">
                                      <p:cBhvr additive="base">
                                        <p:cTn id="30" dur="500" fill="hold"/>
                                        <p:tgtEl>
                                          <p:spTgt spid="115714"/>
                                        </p:tgtEl>
                                        <p:attrNameLst>
                                          <p:attrName>ppt_x</p:attrName>
                                        </p:attrNameLst>
                                      </p:cBhvr>
                                      <p:tavLst>
                                        <p:tav tm="0">
                                          <p:val>
                                            <p:strVal val="1+#ppt_w/2"/>
                                          </p:val>
                                        </p:tav>
                                        <p:tav tm="100000">
                                          <p:val>
                                            <p:strVal val="#ppt_x"/>
                                          </p:val>
                                        </p:tav>
                                      </p:tavLst>
                                    </p:anim>
                                    <p:anim calcmode="lin" valueType="num">
                                      <p:cBhvr additive="base">
                                        <p:cTn id="31" dur="500" fill="hold"/>
                                        <p:tgtEl>
                                          <p:spTgt spid="115714"/>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17" presetClass="entr" presetSubtype="1" fill="hold" grpId="0" nodeType="afterEffect">
                                  <p:stCondLst>
                                    <p:cond delay="0"/>
                                  </p:stCondLst>
                                  <p:childTnLst>
                                    <p:set>
                                      <p:cBhvr>
                                        <p:cTn id="34" dur="1" fill="hold">
                                          <p:stCondLst>
                                            <p:cond delay="0"/>
                                          </p:stCondLst>
                                        </p:cTn>
                                        <p:tgtEl>
                                          <p:spTgt spid="115715"/>
                                        </p:tgtEl>
                                        <p:attrNameLst>
                                          <p:attrName>style.visibility</p:attrName>
                                        </p:attrNameLst>
                                      </p:cBhvr>
                                      <p:to>
                                        <p:strVal val="visible"/>
                                      </p:to>
                                    </p:set>
                                    <p:anim calcmode="lin" valueType="num">
                                      <p:cBhvr>
                                        <p:cTn id="35" dur="500" fill="hold"/>
                                        <p:tgtEl>
                                          <p:spTgt spid="115715"/>
                                        </p:tgtEl>
                                        <p:attrNameLst>
                                          <p:attrName>ppt_x</p:attrName>
                                        </p:attrNameLst>
                                      </p:cBhvr>
                                      <p:tavLst>
                                        <p:tav tm="0">
                                          <p:val>
                                            <p:strVal val="#ppt_x"/>
                                          </p:val>
                                        </p:tav>
                                        <p:tav tm="100000">
                                          <p:val>
                                            <p:strVal val="#ppt_x"/>
                                          </p:val>
                                        </p:tav>
                                      </p:tavLst>
                                    </p:anim>
                                    <p:anim calcmode="lin" valueType="num">
                                      <p:cBhvr>
                                        <p:cTn id="36" dur="500" fill="hold"/>
                                        <p:tgtEl>
                                          <p:spTgt spid="115715"/>
                                        </p:tgtEl>
                                        <p:attrNameLst>
                                          <p:attrName>ppt_y</p:attrName>
                                        </p:attrNameLst>
                                      </p:cBhvr>
                                      <p:tavLst>
                                        <p:tav tm="0">
                                          <p:val>
                                            <p:strVal val="#ppt_y-#ppt_h/2"/>
                                          </p:val>
                                        </p:tav>
                                        <p:tav tm="100000">
                                          <p:val>
                                            <p:strVal val="#ppt_y"/>
                                          </p:val>
                                        </p:tav>
                                      </p:tavLst>
                                    </p:anim>
                                    <p:anim calcmode="lin" valueType="num">
                                      <p:cBhvr>
                                        <p:cTn id="37" dur="500" fill="hold"/>
                                        <p:tgtEl>
                                          <p:spTgt spid="115715"/>
                                        </p:tgtEl>
                                        <p:attrNameLst>
                                          <p:attrName>ppt_w</p:attrName>
                                        </p:attrNameLst>
                                      </p:cBhvr>
                                      <p:tavLst>
                                        <p:tav tm="0">
                                          <p:val>
                                            <p:strVal val="#ppt_w"/>
                                          </p:val>
                                        </p:tav>
                                        <p:tav tm="100000">
                                          <p:val>
                                            <p:strVal val="#ppt_w"/>
                                          </p:val>
                                        </p:tav>
                                      </p:tavLst>
                                    </p:anim>
                                    <p:anim calcmode="lin" valueType="num">
                                      <p:cBhvr>
                                        <p:cTn id="38" dur="500" fill="hold"/>
                                        <p:tgtEl>
                                          <p:spTgt spid="115715"/>
                                        </p:tgtEl>
                                        <p:attrNameLst>
                                          <p:attrName>ppt_h</p:attrName>
                                        </p:attrNameLst>
                                      </p:cBhvr>
                                      <p:tavLst>
                                        <p:tav tm="0">
                                          <p:val>
                                            <p:fltVal val="0"/>
                                          </p:val>
                                        </p:tav>
                                        <p:tav tm="100000">
                                          <p:val>
                                            <p:strVal val="#ppt_h"/>
                                          </p:val>
                                        </p:tav>
                                      </p:tavLst>
                                    </p:anim>
                                  </p:childTnLst>
                                </p:cTn>
                              </p:par>
                            </p:childTnLst>
                          </p:cTn>
                        </p:par>
                        <p:par>
                          <p:cTn id="39" fill="hold">
                            <p:stCondLst>
                              <p:cond delay="1000"/>
                            </p:stCondLst>
                            <p:childTnLst>
                              <p:par>
                                <p:cTn id="40" presetID="17" presetClass="entr" presetSubtype="1" fill="hold" grpId="0" nodeType="afterEffect">
                                  <p:stCondLst>
                                    <p:cond delay="0"/>
                                  </p:stCondLst>
                                  <p:childTnLst>
                                    <p:set>
                                      <p:cBhvr>
                                        <p:cTn id="41" dur="1" fill="hold">
                                          <p:stCondLst>
                                            <p:cond delay="0"/>
                                          </p:stCondLst>
                                        </p:cTn>
                                        <p:tgtEl>
                                          <p:spTgt spid="115716"/>
                                        </p:tgtEl>
                                        <p:attrNameLst>
                                          <p:attrName>style.visibility</p:attrName>
                                        </p:attrNameLst>
                                      </p:cBhvr>
                                      <p:to>
                                        <p:strVal val="visible"/>
                                      </p:to>
                                    </p:set>
                                    <p:anim calcmode="lin" valueType="num">
                                      <p:cBhvr>
                                        <p:cTn id="42" dur="500" fill="hold"/>
                                        <p:tgtEl>
                                          <p:spTgt spid="115716"/>
                                        </p:tgtEl>
                                        <p:attrNameLst>
                                          <p:attrName>ppt_x</p:attrName>
                                        </p:attrNameLst>
                                      </p:cBhvr>
                                      <p:tavLst>
                                        <p:tav tm="0">
                                          <p:val>
                                            <p:strVal val="#ppt_x"/>
                                          </p:val>
                                        </p:tav>
                                        <p:tav tm="100000">
                                          <p:val>
                                            <p:strVal val="#ppt_x"/>
                                          </p:val>
                                        </p:tav>
                                      </p:tavLst>
                                    </p:anim>
                                    <p:anim calcmode="lin" valueType="num">
                                      <p:cBhvr>
                                        <p:cTn id="43" dur="500" fill="hold"/>
                                        <p:tgtEl>
                                          <p:spTgt spid="115716"/>
                                        </p:tgtEl>
                                        <p:attrNameLst>
                                          <p:attrName>ppt_y</p:attrName>
                                        </p:attrNameLst>
                                      </p:cBhvr>
                                      <p:tavLst>
                                        <p:tav tm="0">
                                          <p:val>
                                            <p:strVal val="#ppt_y-#ppt_h/2"/>
                                          </p:val>
                                        </p:tav>
                                        <p:tav tm="100000">
                                          <p:val>
                                            <p:strVal val="#ppt_y"/>
                                          </p:val>
                                        </p:tav>
                                      </p:tavLst>
                                    </p:anim>
                                    <p:anim calcmode="lin" valueType="num">
                                      <p:cBhvr>
                                        <p:cTn id="44" dur="500" fill="hold"/>
                                        <p:tgtEl>
                                          <p:spTgt spid="115716"/>
                                        </p:tgtEl>
                                        <p:attrNameLst>
                                          <p:attrName>ppt_w</p:attrName>
                                        </p:attrNameLst>
                                      </p:cBhvr>
                                      <p:tavLst>
                                        <p:tav tm="0">
                                          <p:val>
                                            <p:strVal val="#ppt_w"/>
                                          </p:val>
                                        </p:tav>
                                        <p:tav tm="100000">
                                          <p:val>
                                            <p:strVal val="#ppt_w"/>
                                          </p:val>
                                        </p:tav>
                                      </p:tavLst>
                                    </p:anim>
                                    <p:anim calcmode="lin" valueType="num">
                                      <p:cBhvr>
                                        <p:cTn id="45" dur="500" fill="hold"/>
                                        <p:tgtEl>
                                          <p:spTgt spid="115716"/>
                                        </p:tgtEl>
                                        <p:attrNameLst>
                                          <p:attrName>ppt_h</p:attrName>
                                        </p:attrNameLst>
                                      </p:cBhvr>
                                      <p:tavLst>
                                        <p:tav tm="0">
                                          <p:val>
                                            <p:fltVal val="0"/>
                                          </p:val>
                                        </p:tav>
                                        <p:tav tm="100000">
                                          <p:val>
                                            <p:strVal val="#ppt_h"/>
                                          </p:val>
                                        </p:tav>
                                      </p:tavLst>
                                    </p:anim>
                                  </p:childTnLst>
                                </p:cTn>
                              </p:par>
                            </p:childTnLst>
                          </p:cTn>
                        </p:par>
                        <p:par>
                          <p:cTn id="46" fill="hold">
                            <p:stCondLst>
                              <p:cond delay="1500"/>
                            </p:stCondLst>
                            <p:childTnLst>
                              <p:par>
                                <p:cTn id="47" presetID="17" presetClass="entr" presetSubtype="1" fill="hold" grpId="0" nodeType="afterEffect">
                                  <p:stCondLst>
                                    <p:cond delay="0"/>
                                  </p:stCondLst>
                                  <p:childTnLst>
                                    <p:set>
                                      <p:cBhvr>
                                        <p:cTn id="48" dur="1" fill="hold">
                                          <p:stCondLst>
                                            <p:cond delay="0"/>
                                          </p:stCondLst>
                                        </p:cTn>
                                        <p:tgtEl>
                                          <p:spTgt spid="115717"/>
                                        </p:tgtEl>
                                        <p:attrNameLst>
                                          <p:attrName>style.visibility</p:attrName>
                                        </p:attrNameLst>
                                      </p:cBhvr>
                                      <p:to>
                                        <p:strVal val="visible"/>
                                      </p:to>
                                    </p:set>
                                    <p:anim calcmode="lin" valueType="num">
                                      <p:cBhvr>
                                        <p:cTn id="49" dur="500" fill="hold"/>
                                        <p:tgtEl>
                                          <p:spTgt spid="115717"/>
                                        </p:tgtEl>
                                        <p:attrNameLst>
                                          <p:attrName>ppt_x</p:attrName>
                                        </p:attrNameLst>
                                      </p:cBhvr>
                                      <p:tavLst>
                                        <p:tav tm="0">
                                          <p:val>
                                            <p:strVal val="#ppt_x"/>
                                          </p:val>
                                        </p:tav>
                                        <p:tav tm="100000">
                                          <p:val>
                                            <p:strVal val="#ppt_x"/>
                                          </p:val>
                                        </p:tav>
                                      </p:tavLst>
                                    </p:anim>
                                    <p:anim calcmode="lin" valueType="num">
                                      <p:cBhvr>
                                        <p:cTn id="50" dur="500" fill="hold"/>
                                        <p:tgtEl>
                                          <p:spTgt spid="115717"/>
                                        </p:tgtEl>
                                        <p:attrNameLst>
                                          <p:attrName>ppt_y</p:attrName>
                                        </p:attrNameLst>
                                      </p:cBhvr>
                                      <p:tavLst>
                                        <p:tav tm="0">
                                          <p:val>
                                            <p:strVal val="#ppt_y-#ppt_h/2"/>
                                          </p:val>
                                        </p:tav>
                                        <p:tav tm="100000">
                                          <p:val>
                                            <p:strVal val="#ppt_y"/>
                                          </p:val>
                                        </p:tav>
                                      </p:tavLst>
                                    </p:anim>
                                    <p:anim calcmode="lin" valueType="num">
                                      <p:cBhvr>
                                        <p:cTn id="51" dur="500" fill="hold"/>
                                        <p:tgtEl>
                                          <p:spTgt spid="115717"/>
                                        </p:tgtEl>
                                        <p:attrNameLst>
                                          <p:attrName>ppt_w</p:attrName>
                                        </p:attrNameLst>
                                      </p:cBhvr>
                                      <p:tavLst>
                                        <p:tav tm="0">
                                          <p:val>
                                            <p:strVal val="#ppt_w"/>
                                          </p:val>
                                        </p:tav>
                                        <p:tav tm="100000">
                                          <p:val>
                                            <p:strVal val="#ppt_w"/>
                                          </p:val>
                                        </p:tav>
                                      </p:tavLst>
                                    </p:anim>
                                    <p:anim calcmode="lin" valueType="num">
                                      <p:cBhvr>
                                        <p:cTn id="52" dur="500" fill="hold"/>
                                        <p:tgtEl>
                                          <p:spTgt spid="115717"/>
                                        </p:tgtEl>
                                        <p:attrNameLst>
                                          <p:attrName>ppt_h</p:attrName>
                                        </p:attrNameLst>
                                      </p:cBhvr>
                                      <p:tavLst>
                                        <p:tav tm="0">
                                          <p:val>
                                            <p:fltVal val="0"/>
                                          </p:val>
                                        </p:tav>
                                        <p:tav tm="100000">
                                          <p:val>
                                            <p:strVal val="#ppt_h"/>
                                          </p:val>
                                        </p:tav>
                                      </p:tavLst>
                                    </p:anim>
                                  </p:childTnLst>
                                </p:cTn>
                              </p:par>
                            </p:childTnLst>
                          </p:cTn>
                        </p:par>
                        <p:par>
                          <p:cTn id="53" fill="hold">
                            <p:stCondLst>
                              <p:cond delay="2000"/>
                            </p:stCondLst>
                            <p:childTnLst>
                              <p:par>
                                <p:cTn id="54" presetID="17" presetClass="entr" presetSubtype="1" fill="hold" grpId="0" nodeType="afterEffect">
                                  <p:stCondLst>
                                    <p:cond delay="0"/>
                                  </p:stCondLst>
                                  <p:childTnLst>
                                    <p:set>
                                      <p:cBhvr>
                                        <p:cTn id="55" dur="1" fill="hold">
                                          <p:stCondLst>
                                            <p:cond delay="0"/>
                                          </p:stCondLst>
                                        </p:cTn>
                                        <p:tgtEl>
                                          <p:spTgt spid="115718"/>
                                        </p:tgtEl>
                                        <p:attrNameLst>
                                          <p:attrName>style.visibility</p:attrName>
                                        </p:attrNameLst>
                                      </p:cBhvr>
                                      <p:to>
                                        <p:strVal val="visible"/>
                                      </p:to>
                                    </p:set>
                                    <p:anim calcmode="lin" valueType="num">
                                      <p:cBhvr>
                                        <p:cTn id="56" dur="500" fill="hold"/>
                                        <p:tgtEl>
                                          <p:spTgt spid="115718"/>
                                        </p:tgtEl>
                                        <p:attrNameLst>
                                          <p:attrName>ppt_x</p:attrName>
                                        </p:attrNameLst>
                                      </p:cBhvr>
                                      <p:tavLst>
                                        <p:tav tm="0">
                                          <p:val>
                                            <p:strVal val="#ppt_x"/>
                                          </p:val>
                                        </p:tav>
                                        <p:tav tm="100000">
                                          <p:val>
                                            <p:strVal val="#ppt_x"/>
                                          </p:val>
                                        </p:tav>
                                      </p:tavLst>
                                    </p:anim>
                                    <p:anim calcmode="lin" valueType="num">
                                      <p:cBhvr>
                                        <p:cTn id="57" dur="500" fill="hold"/>
                                        <p:tgtEl>
                                          <p:spTgt spid="115718"/>
                                        </p:tgtEl>
                                        <p:attrNameLst>
                                          <p:attrName>ppt_y</p:attrName>
                                        </p:attrNameLst>
                                      </p:cBhvr>
                                      <p:tavLst>
                                        <p:tav tm="0">
                                          <p:val>
                                            <p:strVal val="#ppt_y-#ppt_h/2"/>
                                          </p:val>
                                        </p:tav>
                                        <p:tav tm="100000">
                                          <p:val>
                                            <p:strVal val="#ppt_y"/>
                                          </p:val>
                                        </p:tav>
                                      </p:tavLst>
                                    </p:anim>
                                    <p:anim calcmode="lin" valueType="num">
                                      <p:cBhvr>
                                        <p:cTn id="58" dur="500" fill="hold"/>
                                        <p:tgtEl>
                                          <p:spTgt spid="115718"/>
                                        </p:tgtEl>
                                        <p:attrNameLst>
                                          <p:attrName>ppt_w</p:attrName>
                                        </p:attrNameLst>
                                      </p:cBhvr>
                                      <p:tavLst>
                                        <p:tav tm="0">
                                          <p:val>
                                            <p:strVal val="#ppt_w"/>
                                          </p:val>
                                        </p:tav>
                                        <p:tav tm="100000">
                                          <p:val>
                                            <p:strVal val="#ppt_w"/>
                                          </p:val>
                                        </p:tav>
                                      </p:tavLst>
                                    </p:anim>
                                    <p:anim calcmode="lin" valueType="num">
                                      <p:cBhvr>
                                        <p:cTn id="59" dur="500" fill="hold"/>
                                        <p:tgtEl>
                                          <p:spTgt spid="115718"/>
                                        </p:tgtEl>
                                        <p:attrNameLst>
                                          <p:attrName>ppt_h</p:attrName>
                                        </p:attrNameLst>
                                      </p:cBhvr>
                                      <p:tavLst>
                                        <p:tav tm="0">
                                          <p:val>
                                            <p:fltVal val="0"/>
                                          </p:val>
                                        </p:tav>
                                        <p:tav tm="100000">
                                          <p:val>
                                            <p:strVal val="#ppt_h"/>
                                          </p:val>
                                        </p:tav>
                                      </p:tavLst>
                                    </p:anim>
                                  </p:childTnLst>
                                </p:cTn>
                              </p:par>
                            </p:childTnLst>
                          </p:cTn>
                        </p:par>
                        <p:par>
                          <p:cTn id="60" fill="hold">
                            <p:stCondLst>
                              <p:cond delay="2500"/>
                            </p:stCondLst>
                            <p:childTnLst>
                              <p:par>
                                <p:cTn id="61" presetID="17" presetClass="entr" presetSubtype="1" fill="hold" grpId="0" nodeType="afterEffect">
                                  <p:stCondLst>
                                    <p:cond delay="0"/>
                                  </p:stCondLst>
                                  <p:childTnLst>
                                    <p:set>
                                      <p:cBhvr>
                                        <p:cTn id="62" dur="1" fill="hold">
                                          <p:stCondLst>
                                            <p:cond delay="0"/>
                                          </p:stCondLst>
                                        </p:cTn>
                                        <p:tgtEl>
                                          <p:spTgt spid="115719"/>
                                        </p:tgtEl>
                                        <p:attrNameLst>
                                          <p:attrName>style.visibility</p:attrName>
                                        </p:attrNameLst>
                                      </p:cBhvr>
                                      <p:to>
                                        <p:strVal val="visible"/>
                                      </p:to>
                                    </p:set>
                                    <p:anim calcmode="lin" valueType="num">
                                      <p:cBhvr>
                                        <p:cTn id="63" dur="500" fill="hold"/>
                                        <p:tgtEl>
                                          <p:spTgt spid="115719"/>
                                        </p:tgtEl>
                                        <p:attrNameLst>
                                          <p:attrName>ppt_x</p:attrName>
                                        </p:attrNameLst>
                                      </p:cBhvr>
                                      <p:tavLst>
                                        <p:tav tm="0">
                                          <p:val>
                                            <p:strVal val="#ppt_x"/>
                                          </p:val>
                                        </p:tav>
                                        <p:tav tm="100000">
                                          <p:val>
                                            <p:strVal val="#ppt_x"/>
                                          </p:val>
                                        </p:tav>
                                      </p:tavLst>
                                    </p:anim>
                                    <p:anim calcmode="lin" valueType="num">
                                      <p:cBhvr>
                                        <p:cTn id="64" dur="500" fill="hold"/>
                                        <p:tgtEl>
                                          <p:spTgt spid="115719"/>
                                        </p:tgtEl>
                                        <p:attrNameLst>
                                          <p:attrName>ppt_y</p:attrName>
                                        </p:attrNameLst>
                                      </p:cBhvr>
                                      <p:tavLst>
                                        <p:tav tm="0">
                                          <p:val>
                                            <p:strVal val="#ppt_y-#ppt_h/2"/>
                                          </p:val>
                                        </p:tav>
                                        <p:tav tm="100000">
                                          <p:val>
                                            <p:strVal val="#ppt_y"/>
                                          </p:val>
                                        </p:tav>
                                      </p:tavLst>
                                    </p:anim>
                                    <p:anim calcmode="lin" valueType="num">
                                      <p:cBhvr>
                                        <p:cTn id="65" dur="500" fill="hold"/>
                                        <p:tgtEl>
                                          <p:spTgt spid="115719"/>
                                        </p:tgtEl>
                                        <p:attrNameLst>
                                          <p:attrName>ppt_w</p:attrName>
                                        </p:attrNameLst>
                                      </p:cBhvr>
                                      <p:tavLst>
                                        <p:tav tm="0">
                                          <p:val>
                                            <p:strVal val="#ppt_w"/>
                                          </p:val>
                                        </p:tav>
                                        <p:tav tm="100000">
                                          <p:val>
                                            <p:strVal val="#ppt_w"/>
                                          </p:val>
                                        </p:tav>
                                      </p:tavLst>
                                    </p:anim>
                                    <p:anim calcmode="lin" valueType="num">
                                      <p:cBhvr>
                                        <p:cTn id="66" dur="500" fill="hold"/>
                                        <p:tgtEl>
                                          <p:spTgt spid="115719"/>
                                        </p:tgtEl>
                                        <p:attrNameLst>
                                          <p:attrName>ppt_h</p:attrName>
                                        </p:attrNameLst>
                                      </p:cBhvr>
                                      <p:tavLst>
                                        <p:tav tm="0">
                                          <p:val>
                                            <p:fltVal val="0"/>
                                          </p:val>
                                        </p:tav>
                                        <p:tav tm="100000">
                                          <p:val>
                                            <p:strVal val="#ppt_h"/>
                                          </p:val>
                                        </p:tav>
                                      </p:tavLst>
                                    </p:anim>
                                  </p:childTnLst>
                                </p:cTn>
                              </p:par>
                            </p:childTnLst>
                          </p:cTn>
                        </p:par>
                        <p:par>
                          <p:cTn id="67" fill="hold">
                            <p:stCondLst>
                              <p:cond delay="3000"/>
                            </p:stCondLst>
                            <p:childTnLst>
                              <p:par>
                                <p:cTn id="68" presetID="17" presetClass="entr" presetSubtype="1" fill="hold" grpId="0" nodeType="afterEffect">
                                  <p:stCondLst>
                                    <p:cond delay="0"/>
                                  </p:stCondLst>
                                  <p:childTnLst>
                                    <p:set>
                                      <p:cBhvr>
                                        <p:cTn id="69" dur="1" fill="hold">
                                          <p:stCondLst>
                                            <p:cond delay="0"/>
                                          </p:stCondLst>
                                        </p:cTn>
                                        <p:tgtEl>
                                          <p:spTgt spid="115720"/>
                                        </p:tgtEl>
                                        <p:attrNameLst>
                                          <p:attrName>style.visibility</p:attrName>
                                        </p:attrNameLst>
                                      </p:cBhvr>
                                      <p:to>
                                        <p:strVal val="visible"/>
                                      </p:to>
                                    </p:set>
                                    <p:anim calcmode="lin" valueType="num">
                                      <p:cBhvr>
                                        <p:cTn id="70" dur="500" fill="hold"/>
                                        <p:tgtEl>
                                          <p:spTgt spid="115720"/>
                                        </p:tgtEl>
                                        <p:attrNameLst>
                                          <p:attrName>ppt_x</p:attrName>
                                        </p:attrNameLst>
                                      </p:cBhvr>
                                      <p:tavLst>
                                        <p:tav tm="0">
                                          <p:val>
                                            <p:strVal val="#ppt_x"/>
                                          </p:val>
                                        </p:tav>
                                        <p:tav tm="100000">
                                          <p:val>
                                            <p:strVal val="#ppt_x"/>
                                          </p:val>
                                        </p:tav>
                                      </p:tavLst>
                                    </p:anim>
                                    <p:anim calcmode="lin" valueType="num">
                                      <p:cBhvr>
                                        <p:cTn id="71" dur="500" fill="hold"/>
                                        <p:tgtEl>
                                          <p:spTgt spid="115720"/>
                                        </p:tgtEl>
                                        <p:attrNameLst>
                                          <p:attrName>ppt_y</p:attrName>
                                        </p:attrNameLst>
                                      </p:cBhvr>
                                      <p:tavLst>
                                        <p:tav tm="0">
                                          <p:val>
                                            <p:strVal val="#ppt_y-#ppt_h/2"/>
                                          </p:val>
                                        </p:tav>
                                        <p:tav tm="100000">
                                          <p:val>
                                            <p:strVal val="#ppt_y"/>
                                          </p:val>
                                        </p:tav>
                                      </p:tavLst>
                                    </p:anim>
                                    <p:anim calcmode="lin" valueType="num">
                                      <p:cBhvr>
                                        <p:cTn id="72" dur="500" fill="hold"/>
                                        <p:tgtEl>
                                          <p:spTgt spid="115720"/>
                                        </p:tgtEl>
                                        <p:attrNameLst>
                                          <p:attrName>ppt_w</p:attrName>
                                        </p:attrNameLst>
                                      </p:cBhvr>
                                      <p:tavLst>
                                        <p:tav tm="0">
                                          <p:val>
                                            <p:strVal val="#ppt_w"/>
                                          </p:val>
                                        </p:tav>
                                        <p:tav tm="100000">
                                          <p:val>
                                            <p:strVal val="#ppt_w"/>
                                          </p:val>
                                        </p:tav>
                                      </p:tavLst>
                                    </p:anim>
                                    <p:anim calcmode="lin" valueType="num">
                                      <p:cBhvr>
                                        <p:cTn id="73" dur="500" fill="hold"/>
                                        <p:tgtEl>
                                          <p:spTgt spid="115720"/>
                                        </p:tgtEl>
                                        <p:attrNameLst>
                                          <p:attrName>ppt_h</p:attrName>
                                        </p:attrNameLst>
                                      </p:cBhvr>
                                      <p:tavLst>
                                        <p:tav tm="0">
                                          <p:val>
                                            <p:fltVal val="0"/>
                                          </p:val>
                                        </p:tav>
                                        <p:tav tm="100000">
                                          <p:val>
                                            <p:strVal val="#ppt_h"/>
                                          </p:val>
                                        </p:tav>
                                      </p:tavLst>
                                    </p:anim>
                                  </p:childTnLst>
                                </p:cTn>
                              </p:par>
                            </p:childTnLst>
                          </p:cTn>
                        </p:par>
                        <p:par>
                          <p:cTn id="74" fill="hold">
                            <p:stCondLst>
                              <p:cond delay="3500"/>
                            </p:stCondLst>
                            <p:childTnLst>
                              <p:par>
                                <p:cTn id="75" presetID="17" presetClass="entr" presetSubtype="1" fill="hold" grpId="0" nodeType="afterEffect">
                                  <p:stCondLst>
                                    <p:cond delay="0"/>
                                  </p:stCondLst>
                                  <p:childTnLst>
                                    <p:set>
                                      <p:cBhvr>
                                        <p:cTn id="76" dur="1" fill="hold">
                                          <p:stCondLst>
                                            <p:cond delay="0"/>
                                          </p:stCondLst>
                                        </p:cTn>
                                        <p:tgtEl>
                                          <p:spTgt spid="115721"/>
                                        </p:tgtEl>
                                        <p:attrNameLst>
                                          <p:attrName>style.visibility</p:attrName>
                                        </p:attrNameLst>
                                      </p:cBhvr>
                                      <p:to>
                                        <p:strVal val="visible"/>
                                      </p:to>
                                    </p:set>
                                    <p:anim calcmode="lin" valueType="num">
                                      <p:cBhvr>
                                        <p:cTn id="77" dur="500" fill="hold"/>
                                        <p:tgtEl>
                                          <p:spTgt spid="115721"/>
                                        </p:tgtEl>
                                        <p:attrNameLst>
                                          <p:attrName>ppt_x</p:attrName>
                                        </p:attrNameLst>
                                      </p:cBhvr>
                                      <p:tavLst>
                                        <p:tav tm="0">
                                          <p:val>
                                            <p:strVal val="#ppt_x"/>
                                          </p:val>
                                        </p:tav>
                                        <p:tav tm="100000">
                                          <p:val>
                                            <p:strVal val="#ppt_x"/>
                                          </p:val>
                                        </p:tav>
                                      </p:tavLst>
                                    </p:anim>
                                    <p:anim calcmode="lin" valueType="num">
                                      <p:cBhvr>
                                        <p:cTn id="78" dur="500" fill="hold"/>
                                        <p:tgtEl>
                                          <p:spTgt spid="115721"/>
                                        </p:tgtEl>
                                        <p:attrNameLst>
                                          <p:attrName>ppt_y</p:attrName>
                                        </p:attrNameLst>
                                      </p:cBhvr>
                                      <p:tavLst>
                                        <p:tav tm="0">
                                          <p:val>
                                            <p:strVal val="#ppt_y-#ppt_h/2"/>
                                          </p:val>
                                        </p:tav>
                                        <p:tav tm="100000">
                                          <p:val>
                                            <p:strVal val="#ppt_y"/>
                                          </p:val>
                                        </p:tav>
                                      </p:tavLst>
                                    </p:anim>
                                    <p:anim calcmode="lin" valueType="num">
                                      <p:cBhvr>
                                        <p:cTn id="79" dur="500" fill="hold"/>
                                        <p:tgtEl>
                                          <p:spTgt spid="115721"/>
                                        </p:tgtEl>
                                        <p:attrNameLst>
                                          <p:attrName>ppt_w</p:attrName>
                                        </p:attrNameLst>
                                      </p:cBhvr>
                                      <p:tavLst>
                                        <p:tav tm="0">
                                          <p:val>
                                            <p:strVal val="#ppt_w"/>
                                          </p:val>
                                        </p:tav>
                                        <p:tav tm="100000">
                                          <p:val>
                                            <p:strVal val="#ppt_w"/>
                                          </p:val>
                                        </p:tav>
                                      </p:tavLst>
                                    </p:anim>
                                    <p:anim calcmode="lin" valueType="num">
                                      <p:cBhvr>
                                        <p:cTn id="80" dur="500" fill="hold"/>
                                        <p:tgtEl>
                                          <p:spTgt spid="115721"/>
                                        </p:tgtEl>
                                        <p:attrNameLst>
                                          <p:attrName>ppt_h</p:attrName>
                                        </p:attrNameLst>
                                      </p:cBhvr>
                                      <p:tavLst>
                                        <p:tav tm="0">
                                          <p:val>
                                            <p:fltVal val="0"/>
                                          </p:val>
                                        </p:tav>
                                        <p:tav tm="100000">
                                          <p:val>
                                            <p:strVal val="#ppt_h"/>
                                          </p:val>
                                        </p:tav>
                                      </p:tavLst>
                                    </p:anim>
                                  </p:childTnLst>
                                </p:cTn>
                              </p:par>
                            </p:childTnLst>
                          </p:cTn>
                        </p:par>
                        <p:par>
                          <p:cTn id="81" fill="hold">
                            <p:stCondLst>
                              <p:cond delay="4000"/>
                            </p:stCondLst>
                            <p:childTnLst>
                              <p:par>
                                <p:cTn id="82" presetID="17" presetClass="entr" presetSubtype="1" fill="hold" grpId="0" nodeType="afterEffect">
                                  <p:stCondLst>
                                    <p:cond delay="0"/>
                                  </p:stCondLst>
                                  <p:childTnLst>
                                    <p:set>
                                      <p:cBhvr>
                                        <p:cTn id="83" dur="1" fill="hold">
                                          <p:stCondLst>
                                            <p:cond delay="0"/>
                                          </p:stCondLst>
                                        </p:cTn>
                                        <p:tgtEl>
                                          <p:spTgt spid="115722"/>
                                        </p:tgtEl>
                                        <p:attrNameLst>
                                          <p:attrName>style.visibility</p:attrName>
                                        </p:attrNameLst>
                                      </p:cBhvr>
                                      <p:to>
                                        <p:strVal val="visible"/>
                                      </p:to>
                                    </p:set>
                                    <p:anim calcmode="lin" valueType="num">
                                      <p:cBhvr>
                                        <p:cTn id="84" dur="500" fill="hold"/>
                                        <p:tgtEl>
                                          <p:spTgt spid="115722"/>
                                        </p:tgtEl>
                                        <p:attrNameLst>
                                          <p:attrName>ppt_x</p:attrName>
                                        </p:attrNameLst>
                                      </p:cBhvr>
                                      <p:tavLst>
                                        <p:tav tm="0">
                                          <p:val>
                                            <p:strVal val="#ppt_x"/>
                                          </p:val>
                                        </p:tav>
                                        <p:tav tm="100000">
                                          <p:val>
                                            <p:strVal val="#ppt_x"/>
                                          </p:val>
                                        </p:tav>
                                      </p:tavLst>
                                    </p:anim>
                                    <p:anim calcmode="lin" valueType="num">
                                      <p:cBhvr>
                                        <p:cTn id="85" dur="500" fill="hold"/>
                                        <p:tgtEl>
                                          <p:spTgt spid="115722"/>
                                        </p:tgtEl>
                                        <p:attrNameLst>
                                          <p:attrName>ppt_y</p:attrName>
                                        </p:attrNameLst>
                                      </p:cBhvr>
                                      <p:tavLst>
                                        <p:tav tm="0">
                                          <p:val>
                                            <p:strVal val="#ppt_y-#ppt_h/2"/>
                                          </p:val>
                                        </p:tav>
                                        <p:tav tm="100000">
                                          <p:val>
                                            <p:strVal val="#ppt_y"/>
                                          </p:val>
                                        </p:tav>
                                      </p:tavLst>
                                    </p:anim>
                                    <p:anim calcmode="lin" valueType="num">
                                      <p:cBhvr>
                                        <p:cTn id="86" dur="500" fill="hold"/>
                                        <p:tgtEl>
                                          <p:spTgt spid="115722"/>
                                        </p:tgtEl>
                                        <p:attrNameLst>
                                          <p:attrName>ppt_w</p:attrName>
                                        </p:attrNameLst>
                                      </p:cBhvr>
                                      <p:tavLst>
                                        <p:tav tm="0">
                                          <p:val>
                                            <p:strVal val="#ppt_w"/>
                                          </p:val>
                                        </p:tav>
                                        <p:tav tm="100000">
                                          <p:val>
                                            <p:strVal val="#ppt_w"/>
                                          </p:val>
                                        </p:tav>
                                      </p:tavLst>
                                    </p:anim>
                                    <p:anim calcmode="lin" valueType="num">
                                      <p:cBhvr>
                                        <p:cTn id="87" dur="500" fill="hold"/>
                                        <p:tgtEl>
                                          <p:spTgt spid="115722"/>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8" fill="hold" grpId="0" nodeType="clickEffect">
                                  <p:stCondLst>
                                    <p:cond delay="0"/>
                                  </p:stCondLst>
                                  <p:childTnLst>
                                    <p:set>
                                      <p:cBhvr>
                                        <p:cTn id="91" dur="1" fill="hold">
                                          <p:stCondLst>
                                            <p:cond delay="0"/>
                                          </p:stCondLst>
                                        </p:cTn>
                                        <p:tgtEl>
                                          <p:spTgt spid="115742"/>
                                        </p:tgtEl>
                                        <p:attrNameLst>
                                          <p:attrName>style.visibility</p:attrName>
                                        </p:attrNameLst>
                                      </p:cBhvr>
                                      <p:to>
                                        <p:strVal val="visible"/>
                                      </p:to>
                                    </p:set>
                                    <p:anim calcmode="lin" valueType="num">
                                      <p:cBhvr additive="base">
                                        <p:cTn id="92" dur="500" fill="hold"/>
                                        <p:tgtEl>
                                          <p:spTgt spid="115742"/>
                                        </p:tgtEl>
                                        <p:attrNameLst>
                                          <p:attrName>ppt_x</p:attrName>
                                        </p:attrNameLst>
                                      </p:cBhvr>
                                      <p:tavLst>
                                        <p:tav tm="0">
                                          <p:val>
                                            <p:strVal val="0-#ppt_w/2"/>
                                          </p:val>
                                        </p:tav>
                                        <p:tav tm="100000">
                                          <p:val>
                                            <p:strVal val="#ppt_x"/>
                                          </p:val>
                                        </p:tav>
                                      </p:tavLst>
                                    </p:anim>
                                    <p:anim calcmode="lin" valueType="num">
                                      <p:cBhvr additive="base">
                                        <p:cTn id="93" dur="500" fill="hold"/>
                                        <p:tgtEl>
                                          <p:spTgt spid="115742"/>
                                        </p:tgtEl>
                                        <p:attrNameLst>
                                          <p:attrName>ppt_y</p:attrName>
                                        </p:attrNameLst>
                                      </p:cBhvr>
                                      <p:tavLst>
                                        <p:tav tm="0">
                                          <p:val>
                                            <p:strVal val="#ppt_y"/>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5723"/>
                                        </p:tgtEl>
                                        <p:attrNameLst>
                                          <p:attrName>style.visibility</p:attrName>
                                        </p:attrNameLst>
                                      </p:cBhvr>
                                      <p:to>
                                        <p:strVal val="visible"/>
                                      </p:to>
                                    </p:set>
                                    <p:animEffect transition="in" filter="wipe(left)">
                                      <p:cBhvr>
                                        <p:cTn id="98" dur="500"/>
                                        <p:tgtEl>
                                          <p:spTgt spid="115723"/>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15732"/>
                                        </p:tgtEl>
                                        <p:attrNameLst>
                                          <p:attrName>style.visibility</p:attrName>
                                        </p:attrNameLst>
                                      </p:cBhvr>
                                      <p:to>
                                        <p:strVal val="visible"/>
                                      </p:to>
                                    </p:set>
                                    <p:animEffect transition="in" filter="wipe(left)">
                                      <p:cBhvr>
                                        <p:cTn id="103" dur="500"/>
                                        <p:tgtEl>
                                          <p:spTgt spid="115732"/>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15725"/>
                                        </p:tgtEl>
                                        <p:attrNameLst>
                                          <p:attrName>style.visibility</p:attrName>
                                        </p:attrNameLst>
                                      </p:cBhvr>
                                      <p:to>
                                        <p:strVal val="visible"/>
                                      </p:to>
                                    </p:set>
                                    <p:animEffect transition="in" filter="wipe(left)">
                                      <p:cBhvr>
                                        <p:cTn id="108" dur="500"/>
                                        <p:tgtEl>
                                          <p:spTgt spid="11572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15733"/>
                                        </p:tgtEl>
                                        <p:attrNameLst>
                                          <p:attrName>style.visibility</p:attrName>
                                        </p:attrNameLst>
                                      </p:cBhvr>
                                      <p:to>
                                        <p:strVal val="visible"/>
                                      </p:to>
                                    </p:set>
                                    <p:animEffect transition="in" filter="wipe(left)">
                                      <p:cBhvr>
                                        <p:cTn id="113" dur="500"/>
                                        <p:tgtEl>
                                          <p:spTgt spid="11573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15730"/>
                                        </p:tgtEl>
                                        <p:attrNameLst>
                                          <p:attrName>style.visibility</p:attrName>
                                        </p:attrNameLst>
                                      </p:cBhvr>
                                      <p:to>
                                        <p:strVal val="visible"/>
                                      </p:to>
                                    </p:set>
                                    <p:animEffect transition="in" filter="wipe(left)">
                                      <p:cBhvr>
                                        <p:cTn id="118" dur="500"/>
                                        <p:tgtEl>
                                          <p:spTgt spid="115730"/>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15734"/>
                                        </p:tgtEl>
                                        <p:attrNameLst>
                                          <p:attrName>style.visibility</p:attrName>
                                        </p:attrNameLst>
                                      </p:cBhvr>
                                      <p:to>
                                        <p:strVal val="visible"/>
                                      </p:to>
                                    </p:set>
                                    <p:animEffect transition="in" filter="wipe(left)">
                                      <p:cBhvr>
                                        <p:cTn id="123" dur="500"/>
                                        <p:tgtEl>
                                          <p:spTgt spid="11573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15726"/>
                                        </p:tgtEl>
                                        <p:attrNameLst>
                                          <p:attrName>style.visibility</p:attrName>
                                        </p:attrNameLst>
                                      </p:cBhvr>
                                      <p:to>
                                        <p:strVal val="visible"/>
                                      </p:to>
                                    </p:set>
                                    <p:animEffect transition="in" filter="wipe(left)">
                                      <p:cBhvr>
                                        <p:cTn id="128" dur="500"/>
                                        <p:tgtEl>
                                          <p:spTgt spid="11572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15735"/>
                                        </p:tgtEl>
                                        <p:attrNameLst>
                                          <p:attrName>style.visibility</p:attrName>
                                        </p:attrNameLst>
                                      </p:cBhvr>
                                      <p:to>
                                        <p:strVal val="visible"/>
                                      </p:to>
                                    </p:set>
                                    <p:animEffect transition="in" filter="wipe(left)">
                                      <p:cBhvr>
                                        <p:cTn id="133" dur="500"/>
                                        <p:tgtEl>
                                          <p:spTgt spid="115735"/>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15731"/>
                                        </p:tgtEl>
                                        <p:attrNameLst>
                                          <p:attrName>style.visibility</p:attrName>
                                        </p:attrNameLst>
                                      </p:cBhvr>
                                      <p:to>
                                        <p:strVal val="visible"/>
                                      </p:to>
                                    </p:set>
                                    <p:animEffect transition="in" filter="wipe(left)">
                                      <p:cBhvr>
                                        <p:cTn id="138" dur="500"/>
                                        <p:tgtEl>
                                          <p:spTgt spid="115731"/>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15736"/>
                                        </p:tgtEl>
                                        <p:attrNameLst>
                                          <p:attrName>style.visibility</p:attrName>
                                        </p:attrNameLst>
                                      </p:cBhvr>
                                      <p:to>
                                        <p:strVal val="visible"/>
                                      </p:to>
                                    </p:set>
                                    <p:animEffect transition="in" filter="wipe(left)">
                                      <p:cBhvr>
                                        <p:cTn id="143" dur="500"/>
                                        <p:tgtEl>
                                          <p:spTgt spid="115736"/>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115728"/>
                                        </p:tgtEl>
                                        <p:attrNameLst>
                                          <p:attrName>style.visibility</p:attrName>
                                        </p:attrNameLst>
                                      </p:cBhvr>
                                      <p:to>
                                        <p:strVal val="visible"/>
                                      </p:to>
                                    </p:set>
                                    <p:animEffect transition="in" filter="wipe(left)">
                                      <p:cBhvr>
                                        <p:cTn id="148" dur="500"/>
                                        <p:tgtEl>
                                          <p:spTgt spid="115728"/>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115737"/>
                                        </p:tgtEl>
                                        <p:attrNameLst>
                                          <p:attrName>style.visibility</p:attrName>
                                        </p:attrNameLst>
                                      </p:cBhvr>
                                      <p:to>
                                        <p:strVal val="visible"/>
                                      </p:to>
                                    </p:set>
                                    <p:animEffect transition="in" filter="wipe(left)">
                                      <p:cBhvr>
                                        <p:cTn id="153" dur="500"/>
                                        <p:tgtEl>
                                          <p:spTgt spid="115737"/>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115727"/>
                                        </p:tgtEl>
                                        <p:attrNameLst>
                                          <p:attrName>style.visibility</p:attrName>
                                        </p:attrNameLst>
                                      </p:cBhvr>
                                      <p:to>
                                        <p:strVal val="visible"/>
                                      </p:to>
                                    </p:set>
                                    <p:animEffect transition="in" filter="wipe(left)">
                                      <p:cBhvr>
                                        <p:cTn id="158" dur="500"/>
                                        <p:tgtEl>
                                          <p:spTgt spid="115727"/>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15738"/>
                                        </p:tgtEl>
                                        <p:attrNameLst>
                                          <p:attrName>style.visibility</p:attrName>
                                        </p:attrNameLst>
                                      </p:cBhvr>
                                      <p:to>
                                        <p:strVal val="visible"/>
                                      </p:to>
                                    </p:set>
                                    <p:animEffect transition="in" filter="wipe(left)">
                                      <p:cBhvr>
                                        <p:cTn id="163" dur="500"/>
                                        <p:tgtEl>
                                          <p:spTgt spid="115738"/>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grpId="0" nodeType="clickEffect">
                                  <p:stCondLst>
                                    <p:cond delay="0"/>
                                  </p:stCondLst>
                                  <p:childTnLst>
                                    <p:set>
                                      <p:cBhvr>
                                        <p:cTn id="167" dur="1" fill="hold">
                                          <p:stCondLst>
                                            <p:cond delay="0"/>
                                          </p:stCondLst>
                                        </p:cTn>
                                        <p:tgtEl>
                                          <p:spTgt spid="115724"/>
                                        </p:tgtEl>
                                        <p:attrNameLst>
                                          <p:attrName>style.visibility</p:attrName>
                                        </p:attrNameLst>
                                      </p:cBhvr>
                                      <p:to>
                                        <p:strVal val="visible"/>
                                      </p:to>
                                    </p:set>
                                    <p:animEffect transition="in" filter="wipe(left)">
                                      <p:cBhvr>
                                        <p:cTn id="168" dur="500"/>
                                        <p:tgtEl>
                                          <p:spTgt spid="115724"/>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grpId="0" nodeType="clickEffect">
                                  <p:stCondLst>
                                    <p:cond delay="0"/>
                                  </p:stCondLst>
                                  <p:childTnLst>
                                    <p:set>
                                      <p:cBhvr>
                                        <p:cTn id="172" dur="1" fill="hold">
                                          <p:stCondLst>
                                            <p:cond delay="0"/>
                                          </p:stCondLst>
                                        </p:cTn>
                                        <p:tgtEl>
                                          <p:spTgt spid="115739"/>
                                        </p:tgtEl>
                                        <p:attrNameLst>
                                          <p:attrName>style.visibility</p:attrName>
                                        </p:attrNameLst>
                                      </p:cBhvr>
                                      <p:to>
                                        <p:strVal val="visible"/>
                                      </p:to>
                                    </p:set>
                                    <p:animEffect transition="in" filter="wipe(left)">
                                      <p:cBhvr>
                                        <p:cTn id="173" dur="500"/>
                                        <p:tgtEl>
                                          <p:spTgt spid="115739"/>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115729"/>
                                        </p:tgtEl>
                                        <p:attrNameLst>
                                          <p:attrName>style.visibility</p:attrName>
                                        </p:attrNameLst>
                                      </p:cBhvr>
                                      <p:to>
                                        <p:strVal val="visible"/>
                                      </p:to>
                                    </p:set>
                                    <p:animEffect transition="in" filter="wipe(left)">
                                      <p:cBhvr>
                                        <p:cTn id="178" dur="500"/>
                                        <p:tgtEl>
                                          <p:spTgt spid="115729"/>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115740"/>
                                        </p:tgtEl>
                                        <p:attrNameLst>
                                          <p:attrName>style.visibility</p:attrName>
                                        </p:attrNameLst>
                                      </p:cBhvr>
                                      <p:to>
                                        <p:strVal val="visible"/>
                                      </p:to>
                                    </p:set>
                                    <p:animEffect transition="in" filter="wipe(left)">
                                      <p:cBhvr>
                                        <p:cTn id="183" dur="500"/>
                                        <p:tgtEl>
                                          <p:spTgt spid="115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animBg="1" autoUpdateAnimBg="0"/>
      <p:bldP spid="115715" grpId="0" animBg="1"/>
      <p:bldP spid="115716" grpId="0" animBg="1"/>
      <p:bldP spid="115717" grpId="0" animBg="1"/>
      <p:bldP spid="115718" grpId="0" animBg="1"/>
      <p:bldP spid="115719" grpId="0" animBg="1"/>
      <p:bldP spid="115720" grpId="0" animBg="1"/>
      <p:bldP spid="115721" grpId="0" animBg="1"/>
      <p:bldP spid="115722" grpId="0" animBg="1"/>
      <p:bldP spid="115723" grpId="0" animBg="1" autoUpdateAnimBg="0"/>
      <p:bldP spid="115724" grpId="0" animBg="1" autoUpdateAnimBg="0"/>
      <p:bldP spid="115725" grpId="0" animBg="1" autoUpdateAnimBg="0"/>
      <p:bldP spid="115726" grpId="0" animBg="1" autoUpdateAnimBg="0"/>
      <p:bldP spid="115727" grpId="0" animBg="1" autoUpdateAnimBg="0"/>
      <p:bldP spid="115728" grpId="0" animBg="1" autoUpdateAnimBg="0"/>
      <p:bldP spid="115729" grpId="0" animBg="1" autoUpdateAnimBg="0"/>
      <p:bldP spid="115730" grpId="0" animBg="1" autoUpdateAnimBg="0"/>
      <p:bldP spid="115731" grpId="0" animBg="1" autoUpdateAnimBg="0"/>
      <p:bldP spid="115732" grpId="0" animBg="1" autoUpdateAnimBg="0"/>
      <p:bldP spid="115733" grpId="0" animBg="1" autoUpdateAnimBg="0"/>
      <p:bldP spid="115734" grpId="0" animBg="1" autoUpdateAnimBg="0"/>
      <p:bldP spid="115735" grpId="0" animBg="1" autoUpdateAnimBg="0"/>
      <p:bldP spid="115736" grpId="0" animBg="1" autoUpdateAnimBg="0"/>
      <p:bldP spid="115737" grpId="0" animBg="1" autoUpdateAnimBg="0"/>
      <p:bldP spid="115738" grpId="0" animBg="1" autoUpdateAnimBg="0"/>
      <p:bldP spid="115739" grpId="0" animBg="1" autoUpdateAnimBg="0"/>
      <p:bldP spid="115740" grpId="0" animBg="1" autoUpdateAnimBg="0"/>
      <p:bldP spid="115741" grpId="0" bldLvl="0" animBg="1" autoUpdateAnimBg="0"/>
      <p:bldP spid="115742" grpId="0" bldLvl="0" animBg="1" autoUpdateAnimBg="0"/>
      <p:bldP spid="115743" grpId="0" bldLvl="0" animBg="1" autoUpdateAnimBg="0"/>
      <p:bldP spid="115744"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250825" y="333375"/>
            <a:ext cx="8938895" cy="6499860"/>
          </a:xfrm>
          <a:prstGeom prst="rect">
            <a:avLst/>
          </a:prstGeom>
          <a:noFill/>
          <a:ln>
            <a:noFill/>
          </a:ln>
          <a:effectLst/>
          <a:extLst>
            <a:ext uri="{909E8E84-426E-40DD-AFC4-6F175D3DCCD1}">
              <a14:hiddenFill xmlns:a14="http://schemas.microsoft.com/office/drawing/2010/main">
                <a:solidFill>
                  <a:srgbClr val="E1E2FF"/>
                </a:solidFill>
              </a14:hiddenFill>
            </a:ext>
            <a:ext uri="{91240B29-F687-4F45-9708-019B960494DF}">
              <a14:hiddenLine xmlns:a14="http://schemas.microsoft.com/office/drawing/2010/main" w="50800">
                <a:solidFill>
                  <a:srgbClr val="959AFD"/>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3200" b="1" dirty="0">
                <a:solidFill>
                  <a:srgbClr val="000099"/>
                </a:solidFill>
                <a:ea typeface="楷体_GB2312" pitchFamily="49" charset="-122"/>
              </a:rPr>
              <a:t>void</a:t>
            </a:r>
            <a:r>
              <a:rPr lang="en-US" altLang="zh-CN" sz="3200" dirty="0">
                <a:solidFill>
                  <a:srgbClr val="000099"/>
                </a:solidFill>
                <a:ea typeface="楷体_GB2312" pitchFamily="49" charset="-122"/>
              </a:rPr>
              <a:t> </a:t>
            </a:r>
            <a:r>
              <a:rPr lang="en-US" altLang="zh-CN" sz="3200" dirty="0" err="1">
                <a:solidFill>
                  <a:srgbClr val="000099"/>
                </a:solidFill>
                <a:ea typeface="楷体_GB2312" pitchFamily="49" charset="-122"/>
              </a:rPr>
              <a:t>DFSTraverse</a:t>
            </a:r>
            <a:r>
              <a:rPr lang="en-US" altLang="zh-CN" sz="3200" dirty="0">
                <a:solidFill>
                  <a:srgbClr val="000099"/>
                </a:solidFill>
                <a:ea typeface="楷体_GB2312" pitchFamily="49" charset="-122"/>
              </a:rPr>
              <a:t>(Graph G, </a:t>
            </a:r>
            <a:endParaRPr lang="en-US" altLang="zh-CN" sz="3200" dirty="0">
              <a:solidFill>
                <a:srgbClr val="000099"/>
              </a:solidFill>
              <a:ea typeface="楷体_GB2312" pitchFamily="49" charset="-122"/>
            </a:endParaRPr>
          </a:p>
          <a:p>
            <a:pPr>
              <a:lnSpc>
                <a:spcPct val="110000"/>
              </a:lnSpc>
            </a:pPr>
            <a:r>
              <a:rPr lang="en-US" altLang="zh-CN" sz="3200" dirty="0">
                <a:solidFill>
                  <a:srgbClr val="000099"/>
                </a:solidFill>
                <a:ea typeface="楷体_GB2312" pitchFamily="49" charset="-122"/>
              </a:rPr>
              <a:t>                             </a:t>
            </a:r>
            <a:r>
              <a:rPr lang="en-US" altLang="zh-CN" sz="3200" b="1" dirty="0">
                <a:solidFill>
                  <a:srgbClr val="000099"/>
                </a:solidFill>
                <a:ea typeface="楷体_GB2312" pitchFamily="49" charset="-122"/>
              </a:rPr>
              <a:t>Status</a:t>
            </a:r>
            <a:r>
              <a:rPr lang="en-US" altLang="zh-CN" sz="3200" dirty="0">
                <a:solidFill>
                  <a:srgbClr val="000099"/>
                </a:solidFill>
                <a:ea typeface="楷体_GB2312" pitchFamily="49" charset="-122"/>
              </a:rPr>
              <a:t> (</a:t>
            </a:r>
            <a:r>
              <a:rPr lang="en-US" altLang="zh-CN" sz="3200" b="1" dirty="0">
                <a:solidFill>
                  <a:srgbClr val="000099"/>
                </a:solidFill>
                <a:ea typeface="楷体_GB2312" pitchFamily="49" charset="-122"/>
              </a:rPr>
              <a:t>*</a:t>
            </a:r>
            <a:r>
              <a:rPr lang="en-US" altLang="zh-CN" sz="3200" dirty="0">
                <a:solidFill>
                  <a:srgbClr val="000099"/>
                </a:solidFill>
                <a:ea typeface="楷体_GB2312" pitchFamily="49" charset="-122"/>
              </a:rPr>
              <a:t>Visit)(</a:t>
            </a:r>
            <a:r>
              <a:rPr lang="en-US" altLang="zh-CN" sz="3200" dirty="0" err="1">
                <a:solidFill>
                  <a:srgbClr val="000099"/>
                </a:solidFill>
                <a:ea typeface="楷体_GB2312" pitchFamily="49" charset="-122"/>
              </a:rPr>
              <a:t>int</a:t>
            </a:r>
            <a:r>
              <a:rPr lang="en-US" altLang="zh-CN" sz="3200" dirty="0">
                <a:solidFill>
                  <a:srgbClr val="000099"/>
                </a:solidFill>
                <a:ea typeface="楷体_GB2312" pitchFamily="49" charset="-122"/>
              </a:rPr>
              <a:t> v))</a:t>
            </a:r>
            <a:r>
              <a:rPr lang="en-US" altLang="zh-CN" sz="3200" b="1" dirty="0">
                <a:solidFill>
                  <a:srgbClr val="000099"/>
                </a:solidFill>
                <a:ea typeface="楷体_GB2312" pitchFamily="49" charset="-122"/>
              </a:rPr>
              <a:t> {</a:t>
            </a:r>
            <a:endParaRPr lang="en-US" altLang="zh-CN" sz="3200" b="1" dirty="0">
              <a:solidFill>
                <a:srgbClr val="000099"/>
              </a:solidFill>
              <a:ea typeface="楷体_GB2312" pitchFamily="49" charset="-122"/>
            </a:endParaRPr>
          </a:p>
          <a:p>
            <a:pPr>
              <a:lnSpc>
                <a:spcPct val="110000"/>
              </a:lnSpc>
            </a:pPr>
            <a:r>
              <a:rPr lang="en-US" altLang="zh-CN" sz="3200" dirty="0">
                <a:solidFill>
                  <a:srgbClr val="000099"/>
                </a:solidFill>
                <a:ea typeface="楷体_GB2312" pitchFamily="49" charset="-122"/>
              </a:rPr>
              <a:t> </a:t>
            </a:r>
            <a:r>
              <a:rPr lang="en-US" altLang="zh-CN" b="1" dirty="0">
                <a:solidFill>
                  <a:srgbClr val="006600"/>
                </a:solidFill>
                <a:ea typeface="楷体_GB2312" pitchFamily="49" charset="-122"/>
              </a:rPr>
              <a:t>// </a:t>
            </a:r>
            <a:r>
              <a:rPr lang="en-US" altLang="zh-CN" b="1" dirty="0">
                <a:solidFill>
                  <a:srgbClr val="006600"/>
                </a:solidFill>
                <a:ea typeface="楷体_GB2312" pitchFamily="49" charset="-122"/>
                <a:sym typeface="+mn-ea"/>
              </a:rPr>
              <a:t>Perform a depth-first traversal of graph G</a:t>
            </a:r>
            <a:endParaRPr lang="zh-CN" altLang="en-US" b="1" dirty="0">
              <a:solidFill>
                <a:srgbClr val="006600"/>
              </a:solidFill>
              <a:ea typeface="楷体_GB2312" pitchFamily="49" charset="-122"/>
            </a:endParaRPr>
          </a:p>
          <a:p>
            <a:pPr>
              <a:lnSpc>
                <a:spcPct val="110000"/>
              </a:lnSpc>
            </a:pPr>
            <a:r>
              <a:rPr lang="zh-CN" altLang="en-US" sz="3200" dirty="0">
                <a:solidFill>
                  <a:srgbClr val="000099"/>
                </a:solidFill>
                <a:ea typeface="楷体_GB2312" pitchFamily="49" charset="-122"/>
              </a:rPr>
              <a:t>     </a:t>
            </a:r>
            <a:r>
              <a:rPr lang="en-US" altLang="zh-CN" sz="3200" dirty="0" err="1">
                <a:solidFill>
                  <a:srgbClr val="000099"/>
                </a:solidFill>
                <a:ea typeface="楷体_GB2312" pitchFamily="49" charset="-122"/>
              </a:rPr>
              <a:t>VisitFunc</a:t>
            </a:r>
            <a:r>
              <a:rPr lang="en-US" altLang="zh-CN" sz="3200" dirty="0">
                <a:solidFill>
                  <a:srgbClr val="000099"/>
                </a:solidFill>
                <a:ea typeface="楷体_GB2312" pitchFamily="49" charset="-122"/>
              </a:rPr>
              <a:t> = Visit; </a:t>
            </a:r>
            <a:endParaRPr lang="en-US" altLang="zh-CN" sz="3200" dirty="0">
              <a:solidFill>
                <a:srgbClr val="000099"/>
              </a:solidFill>
              <a:ea typeface="楷体_GB2312" pitchFamily="49" charset="-122"/>
            </a:endParaRPr>
          </a:p>
          <a:p>
            <a:pPr>
              <a:lnSpc>
                <a:spcPct val="110000"/>
              </a:lnSpc>
            </a:pPr>
            <a:r>
              <a:rPr lang="en-US" altLang="zh-CN" b="1" dirty="0">
                <a:solidFill>
                  <a:srgbClr val="006600"/>
                </a:solidFill>
                <a:ea typeface="楷体_GB2312" pitchFamily="49" charset="-122"/>
              </a:rPr>
              <a:t>// </a:t>
            </a:r>
            <a:r>
              <a:rPr lang="en-US" altLang="zh-CN" b="1" dirty="0">
                <a:solidFill>
                  <a:srgbClr val="006600"/>
                </a:solidFill>
                <a:ea typeface="楷体_GB2312" pitchFamily="49" charset="-122"/>
                <a:sym typeface="+mn-ea"/>
              </a:rPr>
              <a:t>Use global variables to avoid DFS needing function //pointer arguments</a:t>
            </a:r>
            <a:endParaRPr lang="zh-CN" altLang="en-US" sz="3200" dirty="0">
              <a:solidFill>
                <a:srgbClr val="000099"/>
              </a:solidFill>
              <a:ea typeface="楷体_GB2312" pitchFamily="49" charset="-122"/>
            </a:endParaRPr>
          </a:p>
          <a:p>
            <a:pPr>
              <a:lnSpc>
                <a:spcPct val="110000"/>
              </a:lnSpc>
            </a:pPr>
            <a:r>
              <a:rPr lang="zh-CN" altLang="en-US" sz="3200" dirty="0">
                <a:solidFill>
                  <a:srgbClr val="000099"/>
                </a:solidFill>
                <a:ea typeface="楷体_GB2312" pitchFamily="49" charset="-122"/>
              </a:rPr>
              <a:t>     </a:t>
            </a:r>
            <a:r>
              <a:rPr lang="en-US" altLang="zh-CN" sz="3200" b="1" dirty="0">
                <a:solidFill>
                  <a:srgbClr val="000099"/>
                </a:solidFill>
                <a:ea typeface="楷体_GB2312" pitchFamily="49" charset="-122"/>
              </a:rPr>
              <a:t>for</a:t>
            </a:r>
            <a:r>
              <a:rPr lang="en-US" altLang="zh-CN" sz="3200" dirty="0">
                <a:solidFill>
                  <a:srgbClr val="000099"/>
                </a:solidFill>
                <a:ea typeface="楷体_GB2312" pitchFamily="49" charset="-122"/>
              </a:rPr>
              <a:t> (v=0; v&lt;</a:t>
            </a:r>
            <a:r>
              <a:rPr lang="en-US" altLang="zh-CN" sz="3200" dirty="0" err="1">
                <a:solidFill>
                  <a:srgbClr val="000099"/>
                </a:solidFill>
                <a:ea typeface="楷体_GB2312" pitchFamily="49" charset="-122"/>
              </a:rPr>
              <a:t>G.vexnum</a:t>
            </a:r>
            <a:r>
              <a:rPr lang="en-US" altLang="zh-CN" sz="3200" dirty="0">
                <a:solidFill>
                  <a:srgbClr val="000099"/>
                </a:solidFill>
                <a:ea typeface="楷体_GB2312" pitchFamily="49" charset="-122"/>
              </a:rPr>
              <a:t>; </a:t>
            </a:r>
            <a:r>
              <a:rPr lang="en-US" altLang="zh-CN" sz="3200" b="1" dirty="0">
                <a:solidFill>
                  <a:srgbClr val="000099"/>
                </a:solidFill>
                <a:ea typeface="楷体_GB2312" pitchFamily="49" charset="-122"/>
              </a:rPr>
              <a:t>++</a:t>
            </a:r>
            <a:r>
              <a:rPr lang="en-US" altLang="zh-CN" sz="3200" dirty="0">
                <a:solidFill>
                  <a:srgbClr val="000099"/>
                </a:solidFill>
                <a:ea typeface="楷体_GB2312" pitchFamily="49" charset="-122"/>
              </a:rPr>
              <a:t>v) </a:t>
            </a:r>
            <a:endParaRPr lang="en-US" altLang="zh-CN" sz="3200" dirty="0">
              <a:solidFill>
                <a:srgbClr val="000099"/>
              </a:solidFill>
              <a:ea typeface="楷体_GB2312" pitchFamily="49" charset="-122"/>
            </a:endParaRPr>
          </a:p>
          <a:p>
            <a:pPr>
              <a:lnSpc>
                <a:spcPct val="110000"/>
              </a:lnSpc>
            </a:pPr>
            <a:r>
              <a:rPr lang="en-US" altLang="zh-CN" sz="3200" dirty="0">
                <a:solidFill>
                  <a:srgbClr val="000099"/>
                </a:solidFill>
                <a:ea typeface="楷体_GB2312" pitchFamily="49" charset="-122"/>
              </a:rPr>
              <a:t>         visited[v] </a:t>
            </a:r>
            <a:r>
              <a:rPr lang="en-US" altLang="zh-CN" sz="2800" dirty="0">
                <a:solidFill>
                  <a:srgbClr val="000099"/>
                </a:solidFill>
                <a:ea typeface="楷体_GB2312" pitchFamily="49" charset="-122"/>
              </a:rPr>
              <a:t>= </a:t>
            </a:r>
            <a:r>
              <a:rPr lang="en-US" altLang="zh-CN" sz="2800" b="1" dirty="0">
                <a:solidFill>
                  <a:srgbClr val="000099"/>
                </a:solidFill>
                <a:ea typeface="楷体_GB2312" pitchFamily="49" charset="-122"/>
              </a:rPr>
              <a:t>FALSE</a:t>
            </a:r>
            <a:r>
              <a:rPr lang="en-US" altLang="zh-CN" sz="2800" dirty="0">
                <a:solidFill>
                  <a:srgbClr val="000099"/>
                </a:solidFill>
                <a:ea typeface="楷体_GB2312" pitchFamily="49" charset="-122"/>
              </a:rPr>
              <a:t>;</a:t>
            </a:r>
            <a:r>
              <a:rPr lang="en-US" altLang="zh-CN" sz="3200" dirty="0">
                <a:solidFill>
                  <a:srgbClr val="000099"/>
                </a:solidFill>
                <a:ea typeface="楷体_GB2312" pitchFamily="49" charset="-122"/>
              </a:rPr>
              <a:t> </a:t>
            </a:r>
            <a:r>
              <a:rPr lang="en-US" altLang="zh-CN" b="1" dirty="0">
                <a:solidFill>
                  <a:srgbClr val="006600"/>
                </a:solidFill>
                <a:ea typeface="楷体_GB2312" pitchFamily="49" charset="-122"/>
              </a:rPr>
              <a:t>//</a:t>
            </a:r>
            <a:r>
              <a:rPr lang="en-US" altLang="zh-CN" sz="2600" b="1" dirty="0">
                <a:solidFill>
                  <a:srgbClr val="006600"/>
                </a:solidFill>
                <a:ea typeface="楷体_GB2312" pitchFamily="49" charset="-122"/>
              </a:rPr>
              <a:t> </a:t>
            </a:r>
            <a:r>
              <a:rPr lang="en-US" altLang="zh-CN" sz="2600" b="1" dirty="0">
                <a:solidFill>
                  <a:srgbClr val="006600"/>
                </a:solidFill>
                <a:ea typeface="楷体_GB2312" pitchFamily="49" charset="-122"/>
                <a:sym typeface="+mn-ea"/>
              </a:rPr>
              <a:t>Initialize the access flag array</a:t>
            </a:r>
            <a:endParaRPr lang="zh-CN" altLang="en-US" b="1" dirty="0">
              <a:solidFill>
                <a:srgbClr val="006600"/>
              </a:solidFill>
              <a:ea typeface="楷体_GB2312" pitchFamily="49" charset="-122"/>
            </a:endParaRPr>
          </a:p>
          <a:p>
            <a:pPr>
              <a:lnSpc>
                <a:spcPct val="110000"/>
              </a:lnSpc>
            </a:pPr>
            <a:r>
              <a:rPr lang="zh-CN" altLang="en-US" sz="3200" dirty="0">
                <a:solidFill>
                  <a:srgbClr val="000099"/>
                </a:solidFill>
                <a:ea typeface="楷体_GB2312" pitchFamily="49" charset="-122"/>
              </a:rPr>
              <a:t>     </a:t>
            </a:r>
            <a:r>
              <a:rPr lang="en-US" altLang="zh-CN" sz="3200" b="1" dirty="0">
                <a:solidFill>
                  <a:srgbClr val="000099"/>
                </a:solidFill>
                <a:ea typeface="楷体_GB2312" pitchFamily="49" charset="-122"/>
              </a:rPr>
              <a:t>for</a:t>
            </a:r>
            <a:r>
              <a:rPr lang="en-US" altLang="zh-CN" sz="3200" dirty="0">
                <a:solidFill>
                  <a:srgbClr val="000099"/>
                </a:solidFill>
                <a:ea typeface="楷体_GB2312" pitchFamily="49" charset="-122"/>
              </a:rPr>
              <a:t> (v=0; v&lt;</a:t>
            </a:r>
            <a:r>
              <a:rPr lang="en-US" altLang="zh-CN" sz="3200" dirty="0" err="1">
                <a:solidFill>
                  <a:srgbClr val="000099"/>
                </a:solidFill>
                <a:ea typeface="楷体_GB2312" pitchFamily="49" charset="-122"/>
              </a:rPr>
              <a:t>G.vexnum</a:t>
            </a:r>
            <a:r>
              <a:rPr lang="en-US" altLang="zh-CN" sz="3200" dirty="0">
                <a:solidFill>
                  <a:srgbClr val="000099"/>
                </a:solidFill>
                <a:ea typeface="楷体_GB2312" pitchFamily="49" charset="-122"/>
              </a:rPr>
              <a:t>; ++v) </a:t>
            </a:r>
            <a:endParaRPr lang="en-US" altLang="zh-CN" sz="3200" dirty="0">
              <a:solidFill>
                <a:srgbClr val="000099"/>
              </a:solidFill>
              <a:ea typeface="楷体_GB2312" pitchFamily="49" charset="-122"/>
            </a:endParaRPr>
          </a:p>
          <a:p>
            <a:pPr>
              <a:lnSpc>
                <a:spcPct val="110000"/>
              </a:lnSpc>
            </a:pPr>
            <a:r>
              <a:rPr lang="en-US" altLang="zh-CN" sz="3200" dirty="0">
                <a:solidFill>
                  <a:srgbClr val="000099"/>
                </a:solidFill>
                <a:ea typeface="楷体_GB2312" pitchFamily="49" charset="-122"/>
              </a:rPr>
              <a:t>         </a:t>
            </a:r>
            <a:r>
              <a:rPr lang="en-US" altLang="zh-CN" sz="3200" b="1" dirty="0">
                <a:solidFill>
                  <a:srgbClr val="800000"/>
                </a:solidFill>
                <a:ea typeface="楷体_GB2312" pitchFamily="49" charset="-122"/>
              </a:rPr>
              <a:t>if</a:t>
            </a:r>
            <a:r>
              <a:rPr lang="en-US" altLang="zh-CN" sz="3200" dirty="0">
                <a:solidFill>
                  <a:srgbClr val="800000"/>
                </a:solidFill>
                <a:ea typeface="楷体_GB2312" pitchFamily="49" charset="-122"/>
              </a:rPr>
              <a:t> (</a:t>
            </a:r>
            <a:r>
              <a:rPr lang="en-US" altLang="zh-CN" sz="3200" b="1" dirty="0">
                <a:solidFill>
                  <a:srgbClr val="800000"/>
                </a:solidFill>
                <a:ea typeface="楷体_GB2312" pitchFamily="49" charset="-122"/>
              </a:rPr>
              <a:t>!</a:t>
            </a:r>
            <a:r>
              <a:rPr lang="en-US" altLang="zh-CN" sz="3200" dirty="0">
                <a:solidFill>
                  <a:srgbClr val="800000"/>
                </a:solidFill>
                <a:ea typeface="楷体_GB2312" pitchFamily="49" charset="-122"/>
              </a:rPr>
              <a:t>visited[v])  DFS(G, v); </a:t>
            </a:r>
            <a:endParaRPr lang="en-US" altLang="zh-CN" sz="3200" dirty="0">
              <a:solidFill>
                <a:srgbClr val="800000"/>
              </a:solidFill>
              <a:ea typeface="楷体_GB2312" pitchFamily="49" charset="-122"/>
            </a:endParaRPr>
          </a:p>
          <a:p>
            <a:pPr>
              <a:lnSpc>
                <a:spcPct val="110000"/>
              </a:lnSpc>
            </a:pPr>
            <a:r>
              <a:rPr lang="en-US" altLang="zh-CN" sz="3200" dirty="0">
                <a:solidFill>
                  <a:srgbClr val="000099"/>
                </a:solidFill>
                <a:ea typeface="楷体_GB2312" pitchFamily="49" charset="-122"/>
              </a:rPr>
              <a:t>    </a:t>
            </a:r>
            <a:r>
              <a:rPr lang="en-US" altLang="zh-CN" b="1" dirty="0">
                <a:solidFill>
                  <a:srgbClr val="006600"/>
                </a:solidFill>
                <a:ea typeface="楷体_GB2312" pitchFamily="49" charset="-122"/>
              </a:rPr>
              <a:t>// </a:t>
            </a:r>
            <a:r>
              <a:rPr lang="en-US" altLang="zh-CN" b="1" dirty="0">
                <a:solidFill>
                  <a:srgbClr val="006600"/>
                </a:solidFill>
                <a:ea typeface="楷体_GB2312" pitchFamily="49" charset="-122"/>
                <a:sym typeface="+mn-ea"/>
              </a:rPr>
              <a:t>Call DFS for vertices not yet visited</a:t>
            </a:r>
            <a:endParaRPr lang="en-US" altLang="zh-CN" b="1" dirty="0">
              <a:solidFill>
                <a:srgbClr val="006600"/>
              </a:solidFill>
              <a:ea typeface="楷体_GB2312" pitchFamily="49" charset="-122"/>
            </a:endParaRPr>
          </a:p>
          <a:p>
            <a:pPr>
              <a:lnSpc>
                <a:spcPct val="120000"/>
              </a:lnSpc>
            </a:pPr>
            <a:r>
              <a:rPr lang="en-US" altLang="zh-CN" sz="3200" b="1" dirty="0">
                <a:solidFill>
                  <a:srgbClr val="000099"/>
                </a:solidFill>
                <a:ea typeface="楷体_GB2312" pitchFamily="49" charset="-122"/>
              </a:rPr>
              <a:t>}</a:t>
            </a:r>
            <a:endParaRPr lang="en-US" altLang="zh-CN" sz="3200" b="1" dirty="0">
              <a:solidFill>
                <a:srgbClr val="000099"/>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116738"/>
                                        </p:tgtEl>
                                        <p:attrNameLst>
                                          <p:attrName>style.visibility</p:attrName>
                                        </p:attrNameLst>
                                      </p:cBhvr>
                                      <p:to>
                                        <p:strVal val="visible"/>
                                      </p:to>
                                    </p:set>
                                    <p:animEffect transition="in" filter="blinds(vertical)">
                                      <p:cBhvr>
                                        <p:cTn id="7" dur="500"/>
                                        <p:tgtEl>
                                          <p:spTgt spid="116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bldLvl="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Two </a:t>
            </a:r>
            <a:r>
              <a:rPr lang="en-US" altLang="zh-CN">
                <a:sym typeface="+mn-ea"/>
              </a:rPr>
              <a:t>T</a:t>
            </a:r>
            <a:r>
              <a:rPr>
                <a:sym typeface="+mn-ea"/>
              </a:rPr>
              <a:t>raversal </a:t>
            </a:r>
            <a:r>
              <a:rPr lang="en-US" altLang="zh-CN">
                <a:sym typeface="+mn-ea"/>
              </a:rPr>
              <a:t>S</a:t>
            </a:r>
            <a:r>
              <a:rPr>
                <a:sym typeface="+mn-ea"/>
              </a:rPr>
              <a:t>trategies</a:t>
            </a:r>
            <a:endParaRPr lang="zh-CN" altLang="en-US" sz="4000" dirty="0">
              <a:solidFill>
                <a:srgbClr val="0000FF"/>
              </a:solidFill>
              <a:latin typeface="宋体" panose="02010600030101010101" pitchFamily="2" charset="-122"/>
            </a:endParaRPr>
          </a:p>
        </p:txBody>
      </p:sp>
      <p:sp>
        <p:nvSpPr>
          <p:cNvPr id="3" name="内容占位符 2"/>
          <p:cNvSpPr>
            <a:spLocks noGrp="1"/>
          </p:cNvSpPr>
          <p:nvPr>
            <p:ph idx="1"/>
          </p:nvPr>
        </p:nvSpPr>
        <p:spPr>
          <a:xfrm>
            <a:off x="323850" y="1124744"/>
            <a:ext cx="8280598" cy="5183981"/>
          </a:xfrm>
        </p:spPr>
        <p:txBody>
          <a:bodyPr/>
          <a:lstStyle/>
          <a:p>
            <a:pPr>
              <a:lnSpc>
                <a:spcPct val="120000"/>
              </a:lnSpc>
            </a:pPr>
            <a:r>
              <a:rPr lang="zh-CN" altLang="en-US" sz="2800" dirty="0">
                <a:cs typeface="Arial" panose="020B0604020202020204" pitchFamily="34" charset="0"/>
                <a:sym typeface="+mn-ea"/>
              </a:rPr>
              <a:t>There are usually two paths to traverse the graph:</a:t>
            </a:r>
            <a:endParaRPr lang="zh-CN" altLang="en-US" sz="2800" dirty="0">
              <a:cs typeface="Arial" panose="020B0604020202020204" pitchFamily="34" charset="0"/>
            </a:endParaRPr>
          </a:p>
          <a:p>
            <a:pPr lvl="1">
              <a:lnSpc>
                <a:spcPct val="120000"/>
              </a:lnSpc>
            </a:pPr>
            <a:r>
              <a:rPr lang="zh-CN" altLang="en-US" sz="2800" dirty="0">
                <a:cs typeface="Arial" panose="020B0604020202020204" pitchFamily="34" charset="0"/>
                <a:sym typeface="+mn-ea"/>
              </a:rPr>
              <a:t>Depth-first search (vertical-first search)</a:t>
            </a:r>
            <a:endParaRPr lang="en-US" altLang="zh-CN" sz="2800" dirty="0">
              <a:cs typeface="Arial" panose="020B0604020202020204" pitchFamily="34" charset="0"/>
            </a:endParaRPr>
          </a:p>
          <a:p>
            <a:pPr lvl="2">
              <a:lnSpc>
                <a:spcPct val="120000"/>
              </a:lnSpc>
            </a:pPr>
            <a:r>
              <a:rPr lang="zh-CN" altLang="en-US" dirty="0">
                <a:ea typeface="楷体_GB2312" pitchFamily="49" charset="-122"/>
                <a:cs typeface="Arial" panose="020B0604020202020204" pitchFamily="34" charset="0"/>
                <a:sym typeface="+mn-ea"/>
              </a:rPr>
              <a:t>Depth-first search traversal of a connected graph</a:t>
            </a:r>
            <a:endParaRPr lang="en-US" altLang="zh-CN" dirty="0">
              <a:ea typeface="楷体_GB2312" pitchFamily="49" charset="-122"/>
              <a:cs typeface="Arial" panose="020B0604020202020204" pitchFamily="34" charset="0"/>
            </a:endParaRPr>
          </a:p>
          <a:p>
            <a:pPr lvl="2">
              <a:lnSpc>
                <a:spcPct val="120000"/>
              </a:lnSpc>
            </a:pPr>
            <a:r>
              <a:rPr lang="zh-CN" altLang="en-US" dirty="0">
                <a:ea typeface="楷体_GB2312" pitchFamily="49" charset="-122"/>
                <a:cs typeface="Arial" panose="020B0604020202020204" pitchFamily="34" charset="0"/>
                <a:sym typeface="+mn-ea"/>
              </a:rPr>
              <a:t>Depth-first search traversal of a disconnected graph</a:t>
            </a:r>
            <a:endParaRPr lang="en-US" altLang="zh-CN" dirty="0">
              <a:ea typeface="楷体_GB2312" pitchFamily="49" charset="-122"/>
              <a:cs typeface="Arial" panose="020B0604020202020204" pitchFamily="34" charset="0"/>
            </a:endParaRPr>
          </a:p>
          <a:p>
            <a:pPr lvl="1">
              <a:lnSpc>
                <a:spcPct val="120000"/>
              </a:lnSpc>
            </a:pPr>
            <a:r>
              <a:rPr lang="zh-CN" altLang="en-US" sz="2800" b="1" dirty="0">
                <a:solidFill>
                  <a:srgbClr val="FF0000"/>
                </a:solidFill>
                <a:cs typeface="Arial" panose="020B0604020202020204" pitchFamily="34" charset="0"/>
                <a:sym typeface="+mn-ea"/>
              </a:rPr>
              <a:t>Breadth-First Search (Horizontal Priority Search)</a:t>
            </a:r>
            <a:endParaRPr lang="zh-CN" altLang="en-US" sz="2800" b="1" dirty="0">
              <a:solidFill>
                <a:srgbClr val="FF0000"/>
              </a:solidFill>
              <a:cs typeface="Arial" panose="020B0604020202020204" pitchFamily="34" charset="0"/>
              <a:sym typeface="+mn-ea"/>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35560" y="188595"/>
            <a:ext cx="56692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600" b="1" dirty="0">
                <a:solidFill>
                  <a:srgbClr val="0000FF"/>
                </a:solidFill>
                <a:latin typeface="Arial" panose="020B0604020202020204" pitchFamily="34" charset="0"/>
                <a:ea typeface="楷体_GB2312" pitchFamily="49" charset="-122"/>
                <a:cs typeface="Arial" panose="020B0604020202020204" pitchFamily="34" charset="0"/>
              </a:rPr>
              <a:t>BFS </a:t>
            </a:r>
            <a:r>
              <a:rPr lang="en-US" altLang="zh-CN" sz="3600" b="1" dirty="0">
                <a:solidFill>
                  <a:srgbClr val="0000FF"/>
                </a:solidFill>
                <a:latin typeface="Arial" panose="020B0604020202020204" pitchFamily="34" charset="0"/>
                <a:ea typeface="楷体_GB2312" pitchFamily="49" charset="-122"/>
                <a:cs typeface="Arial" panose="020B0604020202020204" pitchFamily="34" charset="0"/>
              </a:rPr>
              <a:t>T</a:t>
            </a:r>
            <a:r>
              <a:rPr lang="zh-CN" altLang="en-US" sz="3600" b="1" dirty="0">
                <a:solidFill>
                  <a:srgbClr val="0000FF"/>
                </a:solidFill>
                <a:latin typeface="Arial" panose="020B0604020202020204" pitchFamily="34" charset="0"/>
                <a:ea typeface="楷体_GB2312" pitchFamily="49" charset="-122"/>
                <a:cs typeface="Arial" panose="020B0604020202020204" pitchFamily="34" charset="0"/>
              </a:rPr>
              <a:t>raverses the </a:t>
            </a:r>
            <a:r>
              <a:rPr lang="en-US" altLang="zh-CN" sz="3600" b="1" dirty="0">
                <a:solidFill>
                  <a:srgbClr val="0000FF"/>
                </a:solidFill>
                <a:latin typeface="Arial" panose="020B0604020202020204" pitchFamily="34" charset="0"/>
                <a:ea typeface="楷体_GB2312" pitchFamily="49" charset="-122"/>
                <a:cs typeface="Arial" panose="020B0604020202020204" pitchFamily="34" charset="0"/>
              </a:rPr>
              <a:t>G</a:t>
            </a:r>
            <a:r>
              <a:rPr lang="zh-CN" altLang="en-US" sz="3600" b="1" dirty="0">
                <a:solidFill>
                  <a:srgbClr val="0000FF"/>
                </a:solidFill>
                <a:latin typeface="Arial" panose="020B0604020202020204" pitchFamily="34" charset="0"/>
                <a:ea typeface="楷体_GB2312" pitchFamily="49" charset="-122"/>
                <a:cs typeface="Arial" panose="020B0604020202020204" pitchFamily="34" charset="0"/>
              </a:rPr>
              <a:t>raph</a:t>
            </a:r>
            <a:endParaRPr lang="zh-CN" altLang="en-US" sz="3600" b="1"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118787" name="Text Box 3"/>
          <p:cNvSpPr txBox="1">
            <a:spLocks noChangeArrowheads="1"/>
          </p:cNvSpPr>
          <p:nvPr/>
        </p:nvSpPr>
        <p:spPr bwMode="auto">
          <a:xfrm>
            <a:off x="381000" y="1219200"/>
            <a:ext cx="8534400" cy="4246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a:solidFill>
                  <a:srgbClr val="000099"/>
                </a:solidFill>
                <a:latin typeface="Arial" panose="020B0604020202020204" pitchFamily="34" charset="0"/>
                <a:ea typeface="楷体_GB2312" pitchFamily="49" charset="-122"/>
                <a:cs typeface="Arial" panose="020B0604020202020204" pitchFamily="34" charset="0"/>
              </a:rPr>
              <a:t>Start from a vertex </a:t>
            </a:r>
            <a:r>
              <a:rPr lang="en-US" altLang="zh-CN" sz="2400" b="1" dirty="0">
                <a:solidFill>
                  <a:srgbClr val="0000FF"/>
                </a:solidFill>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solidFill>
                  <a:srgbClr val="0000FF"/>
                </a:solidFill>
                <a:latin typeface="Arial" panose="020B0604020202020204" pitchFamily="34" charset="0"/>
                <a:ea typeface="楷体_GB2312" pitchFamily="49" charset="-122"/>
                <a:cs typeface="Arial" panose="020B0604020202020204" pitchFamily="34" charset="0"/>
                <a:sym typeface="+mn-ea"/>
              </a:rPr>
              <a:t>0 </a:t>
            </a:r>
            <a:r>
              <a:rPr lang="zh-CN" altLang="en-US" sz="2400" b="1">
                <a:solidFill>
                  <a:srgbClr val="000099"/>
                </a:solidFill>
                <a:latin typeface="Arial" panose="020B0604020202020204" pitchFamily="34" charset="0"/>
                <a:ea typeface="楷体_GB2312" pitchFamily="49" charset="-122"/>
                <a:cs typeface="Arial" panose="020B0604020202020204" pitchFamily="34" charset="0"/>
              </a:rPr>
              <a:t>in the graph. After visiting this vertex, sequentially visit all unvisited adjacent vertices of </a:t>
            </a:r>
            <a:r>
              <a:rPr lang="en-US" altLang="zh-CN" sz="2400" b="1" dirty="0">
                <a:solidFill>
                  <a:srgbClr val="0000FF"/>
                </a:solidFill>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solidFill>
                  <a:srgbClr val="0000FF"/>
                </a:solidFill>
                <a:latin typeface="Arial" panose="020B0604020202020204" pitchFamily="34" charset="0"/>
                <a:ea typeface="楷体_GB2312" pitchFamily="49" charset="-122"/>
                <a:cs typeface="Arial" panose="020B0604020202020204" pitchFamily="34" charset="0"/>
                <a:sym typeface="+mn-ea"/>
              </a:rPr>
              <a:t>0</a:t>
            </a:r>
            <a:r>
              <a:rPr lang="zh-CN" altLang="en-US" sz="2400" b="1">
                <a:solidFill>
                  <a:srgbClr val="000099"/>
                </a:solidFill>
                <a:latin typeface="Arial" panose="020B0604020202020204" pitchFamily="34" charset="0"/>
                <a:ea typeface="楷体_GB2312" pitchFamily="49" charset="-122"/>
                <a:cs typeface="Arial" panose="020B0604020202020204" pitchFamily="34" charset="0"/>
              </a:rPr>
              <a:t>.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Then, visit the adjacent vertices of these vertices in the order they were visited, until all vertices in the graph that are reachable from </a:t>
            </a:r>
            <a:r>
              <a:rPr lang="en-US" altLang="zh-CN" sz="2400" b="1" dirty="0">
                <a:solidFill>
                  <a:srgbClr val="0000FF"/>
                </a:solidFill>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solidFill>
                  <a:srgbClr val="0000FF"/>
                </a:solidFill>
                <a:latin typeface="Arial" panose="020B0604020202020204" pitchFamily="34" charset="0"/>
                <a:ea typeface="楷体_GB2312" pitchFamily="49" charset="-122"/>
                <a:cs typeface="Arial" panose="020B0604020202020204" pitchFamily="34" charset="0"/>
                <a:sym typeface="+mn-ea"/>
              </a:rPr>
              <a:t>0</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 via a path have been visited.</a:t>
            </a:r>
            <a:r>
              <a:rPr lang="zh-CN" altLang="en-US" sz="2400" b="1">
                <a:solidFill>
                  <a:srgbClr val="000099"/>
                </a:solidFill>
                <a:latin typeface="Arial" panose="020B0604020202020204" pitchFamily="34" charset="0"/>
                <a:ea typeface="楷体_GB2312" pitchFamily="49" charset="-122"/>
                <a:cs typeface="Arial" panose="020B0604020202020204" pitchFamily="34" charset="0"/>
              </a:rPr>
              <a:t>If there are still vertices in the graph that have not been visited at this time, select another unvisited vertex in the graph as the starting point and repeat the above process until all vertices in the graph have been visited.</a:t>
            </a:r>
            <a:endParaRPr lang="zh-CN" altLang="en-US" sz="2400" b="1">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 calcmode="lin" valueType="num">
                                      <p:cBhvr additive="base">
                                        <p:cTn id="7" dur="500" fill="hold"/>
                                        <p:tgtEl>
                                          <p:spTgt spid="118786"/>
                                        </p:tgtEl>
                                        <p:attrNameLst>
                                          <p:attrName>ppt_x</p:attrName>
                                        </p:attrNameLst>
                                      </p:cBhvr>
                                      <p:tavLst>
                                        <p:tav tm="0">
                                          <p:val>
                                            <p:strVal val="1+#ppt_w/2"/>
                                          </p:val>
                                        </p:tav>
                                        <p:tav tm="100000">
                                          <p:val>
                                            <p:strVal val="#ppt_x"/>
                                          </p:val>
                                        </p:tav>
                                      </p:tavLst>
                                    </p:anim>
                                    <p:anim calcmode="lin" valueType="num">
                                      <p:cBhvr additive="base">
                                        <p:cTn id="8" dur="500" fill="hold"/>
                                        <p:tgtEl>
                                          <p:spTgt spid="11878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118787"/>
                                        </p:tgtEl>
                                        <p:attrNameLst>
                                          <p:attrName>style.visibility</p:attrName>
                                        </p:attrNameLst>
                                      </p:cBhvr>
                                      <p:to>
                                        <p:strVal val="visible"/>
                                      </p:to>
                                    </p:set>
                                    <p:animEffect transition="in" filter="strips(downLeft)">
                                      <p:cBhvr>
                                        <p:cTn id="13" dur="500"/>
                                        <p:tgtEl>
                                          <p:spTgt spid="11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ldLvl="0" animBg="1" autoUpdateAnimBg="0"/>
      <p:bldP spid="118787" grpId="0" bldLvl="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685800" y="457200"/>
            <a:ext cx="734314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a:solidFill>
                  <a:srgbClr val="000099"/>
                </a:solidFill>
                <a:latin typeface="Arial" panose="020B0604020202020204" pitchFamily="34" charset="0"/>
                <a:ea typeface="楷体_GB2312" pitchFamily="49" charset="-122"/>
                <a:cs typeface="Arial" panose="020B0604020202020204" pitchFamily="34" charset="0"/>
                <a:sym typeface="+mn-ea"/>
              </a:rPr>
              <a:t>For a connected graph, there must be a path from the starting point V to all other vertices.</a:t>
            </a:r>
            <a:endParaRPr lang="zh-CN" altLang="en-US">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19811" name="Rectangle 3"/>
          <p:cNvSpPr>
            <a:spLocks noChangeArrowheads="1"/>
          </p:cNvSpPr>
          <p:nvPr/>
        </p:nvSpPr>
        <p:spPr bwMode="auto">
          <a:xfrm>
            <a:off x="3657600" y="1812925"/>
            <a:ext cx="5226050" cy="1198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where</a:t>
            </a:r>
            <a:r>
              <a:rPr lang="zh-CN" altLang="en-US" sz="3200">
                <a:solidFill>
                  <a:srgbClr val="000099"/>
                </a:solidFill>
                <a:latin typeface="Arial" panose="020B0604020202020204" pitchFamily="34" charset="0"/>
                <a:ea typeface="楷体_GB2312" pitchFamily="49" charset="-122"/>
                <a:cs typeface="Arial" panose="020B0604020202020204" pitchFamily="34" charset="0"/>
              </a:rPr>
              <a:t>，</a:t>
            </a:r>
            <a:r>
              <a:rPr lang="en-US" altLang="zh-CN" sz="2800">
                <a:solidFill>
                  <a:srgbClr val="800000"/>
                </a:solidFill>
                <a:latin typeface="Arial" panose="020B0604020202020204" pitchFamily="34" charset="0"/>
                <a:ea typeface="楷体_GB2312" pitchFamily="49" charset="-122"/>
                <a:cs typeface="Arial" panose="020B0604020202020204" pitchFamily="34" charset="0"/>
              </a:rPr>
              <a:t>V-&gt;w</a:t>
            </a:r>
            <a:r>
              <a:rPr lang="en-US" altLang="zh-CN" sz="2800" baseline="-25000">
                <a:solidFill>
                  <a:srgbClr val="800000"/>
                </a:solidFill>
                <a:latin typeface="Arial" panose="020B0604020202020204" pitchFamily="34" charset="0"/>
                <a:ea typeface="楷体_GB2312" pitchFamily="49" charset="-122"/>
                <a:cs typeface="Arial" panose="020B0604020202020204" pitchFamily="34" charset="0"/>
              </a:rPr>
              <a:t>1</a:t>
            </a:r>
            <a:r>
              <a:rPr lang="en-US" altLang="zh-CN" sz="2800">
                <a:solidFill>
                  <a:srgbClr val="800000"/>
                </a:solidFill>
                <a:latin typeface="Arial" panose="020B0604020202020204" pitchFamily="34" charset="0"/>
                <a:ea typeface="楷体_GB2312" pitchFamily="49" charset="-122"/>
                <a:cs typeface="Arial" panose="020B0604020202020204" pitchFamily="34" charset="0"/>
              </a:rPr>
              <a:t>, V-&gt;w</a:t>
            </a:r>
            <a:r>
              <a:rPr lang="en-US" altLang="zh-CN" sz="2800" baseline="-25000">
                <a:solidFill>
                  <a:srgbClr val="800000"/>
                </a:solidFill>
                <a:latin typeface="Arial" panose="020B0604020202020204" pitchFamily="34" charset="0"/>
                <a:ea typeface="楷体_GB2312" pitchFamily="49" charset="-122"/>
                <a:cs typeface="Arial" panose="020B0604020202020204" pitchFamily="34" charset="0"/>
              </a:rPr>
              <a:t>2</a:t>
            </a:r>
            <a:r>
              <a:rPr lang="en-US" altLang="zh-CN" sz="2800">
                <a:solidFill>
                  <a:srgbClr val="800000"/>
                </a:solidFill>
                <a:latin typeface="Arial" panose="020B0604020202020204" pitchFamily="34" charset="0"/>
                <a:ea typeface="楷体_GB2312" pitchFamily="49" charset="-122"/>
                <a:cs typeface="Arial" panose="020B0604020202020204" pitchFamily="34" charset="0"/>
              </a:rPr>
              <a:t>, V-&gt;w</a:t>
            </a:r>
            <a:r>
              <a:rPr lang="en-US" altLang="zh-CN" sz="2800" baseline="-25000">
                <a:solidFill>
                  <a:srgbClr val="800000"/>
                </a:solidFill>
                <a:latin typeface="Arial" panose="020B0604020202020204" pitchFamily="34" charset="0"/>
                <a:ea typeface="楷体_GB2312" pitchFamily="49" charset="-122"/>
                <a:cs typeface="Arial" panose="020B0604020202020204" pitchFamily="34" charset="0"/>
              </a:rPr>
              <a:t>8</a:t>
            </a:r>
            <a:r>
              <a:rPr lang="en-US" altLang="zh-CN" sz="2800">
                <a:solidFill>
                  <a:srgbClr val="800000"/>
                </a:solidFill>
                <a:latin typeface="Arial" panose="020B0604020202020204" pitchFamily="34" charset="0"/>
                <a:ea typeface="楷体_GB2312" pitchFamily="49" charset="-122"/>
                <a:cs typeface="Arial" panose="020B0604020202020204" pitchFamily="34" charset="0"/>
              </a:rPr>
              <a:t> </a:t>
            </a:r>
            <a:endParaRPr lang="en-US" altLang="zh-CN" sz="2800">
              <a:solidFill>
                <a:srgbClr val="800000"/>
              </a:solidFill>
              <a:latin typeface="Arial" panose="020B0604020202020204" pitchFamily="34" charset="0"/>
              <a:ea typeface="楷体_GB2312" pitchFamily="49" charset="-122"/>
              <a:cs typeface="Arial" panose="020B0604020202020204" pitchFamily="34" charset="0"/>
            </a:endParaRPr>
          </a:p>
          <a:p>
            <a:pPr algn="l">
              <a:lnSpc>
                <a:spcPct val="120000"/>
              </a:lnSpc>
            </a:pPr>
            <a:r>
              <a:rPr lang="en-US" altLang="zh-CN" sz="2800">
                <a:solidFill>
                  <a:srgbClr val="800000"/>
                </a:solidFill>
                <a:latin typeface="Arial" panose="020B0604020202020204" pitchFamily="34" charset="0"/>
                <a:ea typeface="楷体_GB2312" pitchFamily="49" charset="-122"/>
                <a:cs typeface="Arial" panose="020B0604020202020204" pitchFamily="34" charset="0"/>
              </a:rPr>
              <a:t>                 t</a:t>
            </a:r>
            <a:r>
              <a:rPr lang="zh-CN" altLang="en-US">
                <a:solidFill>
                  <a:srgbClr val="800000"/>
                </a:solidFill>
                <a:latin typeface="Arial" panose="020B0604020202020204" pitchFamily="34" charset="0"/>
                <a:ea typeface="楷体_GB2312" pitchFamily="49" charset="-122"/>
                <a:cs typeface="Arial" panose="020B0604020202020204" pitchFamily="34" charset="0"/>
                <a:sym typeface="+mn-ea"/>
              </a:rPr>
              <a:t>he path length is 1</a:t>
            </a:r>
            <a:r>
              <a:rPr lang="zh-CN" altLang="en-US" sz="2800">
                <a:solidFill>
                  <a:srgbClr val="800000"/>
                </a:solidFill>
                <a:latin typeface="Arial" panose="020B0604020202020204" pitchFamily="34" charset="0"/>
                <a:ea typeface="楷体_GB2312" pitchFamily="49" charset="-122"/>
                <a:cs typeface="Arial" panose="020B0604020202020204" pitchFamily="34" charset="0"/>
              </a:rPr>
              <a:t>；</a:t>
            </a:r>
            <a:endParaRPr lang="zh-CN" altLang="en-US" sz="2800">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119812" name="Rectangle 4"/>
          <p:cNvSpPr>
            <a:spLocks noChangeArrowheads="1"/>
          </p:cNvSpPr>
          <p:nvPr/>
        </p:nvSpPr>
        <p:spPr bwMode="auto">
          <a:xfrm>
            <a:off x="5029200" y="2895600"/>
            <a:ext cx="386842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2800">
                <a:solidFill>
                  <a:srgbClr val="003300"/>
                </a:solidFill>
                <a:latin typeface="Arial" panose="020B0604020202020204" pitchFamily="34" charset="0"/>
                <a:ea typeface="楷体_GB2312" pitchFamily="49" charset="-122"/>
                <a:cs typeface="Arial" panose="020B0604020202020204" pitchFamily="34" charset="0"/>
              </a:rPr>
              <a:t>V-&gt;w</a:t>
            </a:r>
            <a:r>
              <a:rPr lang="en-US" altLang="zh-CN" sz="2800" baseline="-25000">
                <a:solidFill>
                  <a:srgbClr val="003300"/>
                </a:solidFill>
                <a:latin typeface="Arial" panose="020B0604020202020204" pitchFamily="34" charset="0"/>
                <a:ea typeface="楷体_GB2312" pitchFamily="49" charset="-122"/>
                <a:cs typeface="Arial" panose="020B0604020202020204" pitchFamily="34" charset="0"/>
              </a:rPr>
              <a:t>7</a:t>
            </a:r>
            <a:r>
              <a:rPr lang="en-US" altLang="zh-CN" sz="2800">
                <a:solidFill>
                  <a:srgbClr val="003300"/>
                </a:solidFill>
                <a:latin typeface="Arial" panose="020B0604020202020204" pitchFamily="34" charset="0"/>
                <a:ea typeface="楷体_GB2312" pitchFamily="49" charset="-122"/>
                <a:cs typeface="Arial" panose="020B0604020202020204" pitchFamily="34" charset="0"/>
              </a:rPr>
              <a:t>, V-&gt;w</a:t>
            </a:r>
            <a:r>
              <a:rPr lang="en-US" altLang="zh-CN" sz="2800" baseline="-25000">
                <a:solidFill>
                  <a:srgbClr val="003300"/>
                </a:solidFill>
                <a:latin typeface="Arial" panose="020B0604020202020204" pitchFamily="34" charset="0"/>
                <a:ea typeface="楷体_GB2312" pitchFamily="49" charset="-122"/>
                <a:cs typeface="Arial" panose="020B0604020202020204" pitchFamily="34" charset="0"/>
              </a:rPr>
              <a:t>3</a:t>
            </a:r>
            <a:r>
              <a:rPr lang="en-US" altLang="zh-CN" sz="2800">
                <a:solidFill>
                  <a:srgbClr val="003300"/>
                </a:solidFill>
                <a:latin typeface="Arial" panose="020B0604020202020204" pitchFamily="34" charset="0"/>
                <a:ea typeface="楷体_GB2312" pitchFamily="49" charset="-122"/>
                <a:cs typeface="Arial" panose="020B0604020202020204" pitchFamily="34" charset="0"/>
              </a:rPr>
              <a:t>, V-&gt;w</a:t>
            </a:r>
            <a:r>
              <a:rPr lang="en-US" altLang="zh-CN" sz="2800" baseline="-25000">
                <a:solidFill>
                  <a:srgbClr val="003300"/>
                </a:solidFill>
                <a:latin typeface="Arial" panose="020B0604020202020204" pitchFamily="34" charset="0"/>
                <a:ea typeface="楷体_GB2312" pitchFamily="49" charset="-122"/>
                <a:cs typeface="Arial" panose="020B0604020202020204" pitchFamily="34" charset="0"/>
              </a:rPr>
              <a:t>5</a:t>
            </a:r>
            <a:endParaRPr lang="en-US" altLang="zh-CN" sz="2800" baseline="-25000">
              <a:solidFill>
                <a:srgbClr val="003300"/>
              </a:solidFill>
              <a:latin typeface="Arial" panose="020B0604020202020204" pitchFamily="34" charset="0"/>
              <a:ea typeface="楷体_GB2312" pitchFamily="49" charset="-122"/>
              <a:cs typeface="Arial" panose="020B0604020202020204" pitchFamily="34" charset="0"/>
            </a:endParaRPr>
          </a:p>
          <a:p>
            <a:pPr algn="l">
              <a:lnSpc>
                <a:spcPct val="120000"/>
              </a:lnSpc>
            </a:pPr>
            <a:r>
              <a:rPr lang="en-US" altLang="zh-CN" sz="2800" baseline="-25000">
                <a:solidFill>
                  <a:srgbClr val="003300"/>
                </a:solidFill>
                <a:latin typeface="Arial" panose="020B0604020202020204" pitchFamily="34" charset="0"/>
                <a:ea typeface="楷体_GB2312" pitchFamily="49" charset="-122"/>
                <a:cs typeface="Arial" panose="020B0604020202020204" pitchFamily="34" charset="0"/>
              </a:rPr>
              <a:t>  </a:t>
            </a:r>
            <a:r>
              <a:rPr lang="en-US" altLang="zh-CN" sz="2800">
                <a:solidFill>
                  <a:srgbClr val="003300"/>
                </a:solidFill>
                <a:latin typeface="Arial" panose="020B0604020202020204" pitchFamily="34" charset="0"/>
                <a:ea typeface="楷体_GB2312" pitchFamily="49" charset="-122"/>
                <a:cs typeface="Arial" panose="020B0604020202020204" pitchFamily="34" charset="0"/>
              </a:rPr>
              <a:t>  t</a:t>
            </a:r>
            <a:r>
              <a:rPr lang="zh-CN" altLang="en-US">
                <a:solidFill>
                  <a:srgbClr val="003300"/>
                </a:solidFill>
                <a:latin typeface="Arial" panose="020B0604020202020204" pitchFamily="34" charset="0"/>
                <a:ea typeface="楷体_GB2312" pitchFamily="49" charset="-122"/>
                <a:cs typeface="Arial" panose="020B0604020202020204" pitchFamily="34" charset="0"/>
                <a:sym typeface="+mn-ea"/>
              </a:rPr>
              <a:t>he path length is 2</a:t>
            </a:r>
            <a:r>
              <a:rPr lang="zh-CN" altLang="en-US" sz="2800">
                <a:solidFill>
                  <a:srgbClr val="003300"/>
                </a:solidFill>
                <a:latin typeface="Arial" panose="020B0604020202020204" pitchFamily="34" charset="0"/>
                <a:ea typeface="楷体_GB2312" pitchFamily="49" charset="-122"/>
                <a:cs typeface="Arial" panose="020B0604020202020204" pitchFamily="34" charset="0"/>
              </a:rPr>
              <a:t>；</a:t>
            </a:r>
            <a:endParaRPr lang="zh-CN" altLang="en-US" sz="2800">
              <a:solidFill>
                <a:srgbClr val="003300"/>
              </a:solidFill>
              <a:latin typeface="Arial" panose="020B0604020202020204" pitchFamily="34" charset="0"/>
              <a:ea typeface="楷体_GB2312" pitchFamily="49" charset="-122"/>
              <a:cs typeface="Arial" panose="020B0604020202020204" pitchFamily="34" charset="0"/>
            </a:endParaRPr>
          </a:p>
        </p:txBody>
      </p:sp>
      <p:sp>
        <p:nvSpPr>
          <p:cNvPr id="119813" name="Rectangle 5"/>
          <p:cNvSpPr>
            <a:spLocks noChangeArrowheads="1"/>
          </p:cNvSpPr>
          <p:nvPr/>
        </p:nvSpPr>
        <p:spPr bwMode="auto">
          <a:xfrm>
            <a:off x="5029200" y="4038600"/>
            <a:ext cx="328549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0000"/>
              </a:lnSpc>
            </a:pPr>
            <a:r>
              <a:rPr lang="en-US" altLang="zh-CN" sz="2800">
                <a:solidFill>
                  <a:srgbClr val="000082"/>
                </a:solidFill>
                <a:latin typeface="Arial" panose="020B0604020202020204" pitchFamily="34" charset="0"/>
                <a:ea typeface="楷体_GB2312" pitchFamily="49" charset="-122"/>
                <a:cs typeface="Arial" panose="020B0604020202020204" pitchFamily="34" charset="0"/>
              </a:rPr>
              <a:t>V-&gt;w</a:t>
            </a:r>
            <a:r>
              <a:rPr lang="en-US" altLang="zh-CN" sz="2800" baseline="-25000">
                <a:solidFill>
                  <a:srgbClr val="000082"/>
                </a:solidFill>
                <a:latin typeface="Arial" panose="020B0604020202020204" pitchFamily="34" charset="0"/>
                <a:ea typeface="楷体_GB2312" pitchFamily="49" charset="-122"/>
                <a:cs typeface="Arial" panose="020B0604020202020204" pitchFamily="34" charset="0"/>
              </a:rPr>
              <a:t>6</a:t>
            </a:r>
            <a:r>
              <a:rPr lang="en-US" altLang="zh-CN" sz="2800">
                <a:solidFill>
                  <a:srgbClr val="000082"/>
                </a:solidFill>
                <a:latin typeface="Arial" panose="020B0604020202020204" pitchFamily="34" charset="0"/>
                <a:ea typeface="楷体_GB2312" pitchFamily="49" charset="-122"/>
                <a:cs typeface="Arial" panose="020B0604020202020204" pitchFamily="34" charset="0"/>
              </a:rPr>
              <a:t>, V-&gt;w</a:t>
            </a:r>
            <a:r>
              <a:rPr lang="en-US" altLang="zh-CN" sz="2800" baseline="-25000">
                <a:solidFill>
                  <a:srgbClr val="000082"/>
                </a:solidFill>
                <a:latin typeface="Arial" panose="020B0604020202020204" pitchFamily="34" charset="0"/>
                <a:ea typeface="楷体_GB2312" pitchFamily="49" charset="-122"/>
                <a:cs typeface="Arial" panose="020B0604020202020204" pitchFamily="34" charset="0"/>
              </a:rPr>
              <a:t>4</a:t>
            </a:r>
            <a:r>
              <a:rPr lang="en-US" altLang="zh-CN" sz="2800">
                <a:solidFill>
                  <a:srgbClr val="000082"/>
                </a:solidFill>
                <a:latin typeface="Arial" panose="020B0604020202020204" pitchFamily="34" charset="0"/>
                <a:ea typeface="楷体_GB2312" pitchFamily="49" charset="-122"/>
                <a:cs typeface="Arial" panose="020B0604020202020204" pitchFamily="34" charset="0"/>
              </a:rPr>
              <a:t> </a:t>
            </a:r>
            <a:endParaRPr lang="en-US" altLang="zh-CN" sz="2800">
              <a:solidFill>
                <a:srgbClr val="000082"/>
              </a:solidFill>
              <a:latin typeface="Arial" panose="020B0604020202020204" pitchFamily="34" charset="0"/>
              <a:ea typeface="楷体_GB2312" pitchFamily="49" charset="-122"/>
              <a:cs typeface="Arial" panose="020B0604020202020204" pitchFamily="34" charset="0"/>
            </a:endParaRPr>
          </a:p>
          <a:p>
            <a:pPr algn="l">
              <a:lnSpc>
                <a:spcPct val="120000"/>
              </a:lnSpc>
            </a:pPr>
            <a:r>
              <a:rPr lang="en-US" altLang="zh-CN" sz="2800">
                <a:solidFill>
                  <a:srgbClr val="000082"/>
                </a:solidFill>
                <a:latin typeface="Arial" panose="020B0604020202020204" pitchFamily="34" charset="0"/>
                <a:ea typeface="楷体_GB2312" pitchFamily="49" charset="-122"/>
                <a:cs typeface="Arial" panose="020B0604020202020204" pitchFamily="34" charset="0"/>
              </a:rPr>
              <a:t> t</a:t>
            </a:r>
            <a:r>
              <a:rPr lang="zh-CN" altLang="en-US">
                <a:solidFill>
                  <a:srgbClr val="000082"/>
                </a:solidFill>
                <a:latin typeface="Arial" panose="020B0604020202020204" pitchFamily="34" charset="0"/>
                <a:ea typeface="楷体_GB2312" pitchFamily="49" charset="-122"/>
                <a:cs typeface="Arial" panose="020B0604020202020204" pitchFamily="34" charset="0"/>
                <a:sym typeface="+mn-ea"/>
              </a:rPr>
              <a:t>he path length is 3</a:t>
            </a:r>
            <a:endParaRPr lang="zh-CN" altLang="en-US" sz="2800">
              <a:solidFill>
                <a:srgbClr val="000099"/>
              </a:solidFill>
              <a:latin typeface="Arial" panose="020B0604020202020204" pitchFamily="34" charset="0"/>
              <a:ea typeface="楷体_GB2312" pitchFamily="49" charset="-122"/>
              <a:cs typeface="Arial" panose="020B0604020202020204" pitchFamily="34" charset="0"/>
            </a:endParaRPr>
          </a:p>
        </p:txBody>
      </p:sp>
      <p:grpSp>
        <p:nvGrpSpPr>
          <p:cNvPr id="119814" name="Group 6"/>
          <p:cNvGrpSpPr/>
          <p:nvPr/>
        </p:nvGrpSpPr>
        <p:grpSpPr bwMode="auto">
          <a:xfrm>
            <a:off x="533400" y="2057400"/>
            <a:ext cx="3581400" cy="3962400"/>
            <a:chOff x="336" y="1296"/>
            <a:chExt cx="2256" cy="2496"/>
          </a:xfrm>
        </p:grpSpPr>
        <p:sp>
          <p:nvSpPr>
            <p:cNvPr id="119815" name="Oval 7"/>
            <p:cNvSpPr>
              <a:spLocks noChangeArrowheads="1"/>
            </p:cNvSpPr>
            <p:nvPr/>
          </p:nvSpPr>
          <p:spPr bwMode="auto">
            <a:xfrm>
              <a:off x="1008" y="1968"/>
              <a:ext cx="448" cy="439"/>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V</a:t>
              </a:r>
              <a:endParaRPr lang="en-US" altLang="zh-CN"/>
            </a:p>
          </p:txBody>
        </p:sp>
        <p:sp>
          <p:nvSpPr>
            <p:cNvPr id="119816" name="Oval 8"/>
            <p:cNvSpPr>
              <a:spLocks noChangeArrowheads="1"/>
            </p:cNvSpPr>
            <p:nvPr/>
          </p:nvSpPr>
          <p:spPr bwMode="auto">
            <a:xfrm>
              <a:off x="336" y="1632"/>
              <a:ext cx="336" cy="384"/>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1</a:t>
              </a:r>
              <a:endParaRPr lang="en-US" altLang="zh-CN"/>
            </a:p>
          </p:txBody>
        </p:sp>
        <p:sp>
          <p:nvSpPr>
            <p:cNvPr id="119817" name="Oval 9"/>
            <p:cNvSpPr>
              <a:spLocks noChangeArrowheads="1"/>
            </p:cNvSpPr>
            <p:nvPr/>
          </p:nvSpPr>
          <p:spPr bwMode="auto">
            <a:xfrm>
              <a:off x="1344" y="2640"/>
              <a:ext cx="336" cy="384"/>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8</a:t>
              </a:r>
              <a:endParaRPr lang="en-US" altLang="zh-CN"/>
            </a:p>
          </p:txBody>
        </p:sp>
        <p:sp>
          <p:nvSpPr>
            <p:cNvPr id="119818" name="Oval 10"/>
            <p:cNvSpPr>
              <a:spLocks noChangeArrowheads="1"/>
            </p:cNvSpPr>
            <p:nvPr/>
          </p:nvSpPr>
          <p:spPr bwMode="auto">
            <a:xfrm>
              <a:off x="1872" y="2064"/>
              <a:ext cx="336" cy="384"/>
            </a:xfrm>
            <a:prstGeom prst="ellipse">
              <a:avLst/>
            </a:prstGeom>
            <a:solidFill>
              <a:srgbClr val="CCFFCC">
                <a:alpha val="50000"/>
              </a:srgbClr>
            </a:solidFill>
            <a:ln w="28575" cap="sq">
              <a:solidFill>
                <a:srgbClr val="00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w</a:t>
              </a:r>
              <a:r>
                <a:rPr lang="en-US" altLang="zh-CN" sz="3200" b="1" baseline="-25000">
                  <a:solidFill>
                    <a:schemeClr val="tx2"/>
                  </a:solidFill>
                </a:rPr>
                <a:t>3</a:t>
              </a:r>
              <a:endParaRPr lang="en-US" altLang="zh-CN"/>
            </a:p>
          </p:txBody>
        </p:sp>
        <p:sp>
          <p:nvSpPr>
            <p:cNvPr id="119819" name="Oval 11"/>
            <p:cNvSpPr>
              <a:spLocks noChangeArrowheads="1"/>
            </p:cNvSpPr>
            <p:nvPr/>
          </p:nvSpPr>
          <p:spPr bwMode="auto">
            <a:xfrm>
              <a:off x="336" y="2448"/>
              <a:ext cx="336" cy="384"/>
            </a:xfrm>
            <a:prstGeom prst="ellipse">
              <a:avLst/>
            </a:prstGeom>
            <a:solidFill>
              <a:srgbClr val="CCFFCC">
                <a:alpha val="50000"/>
              </a:srgbClr>
            </a:solidFill>
            <a:ln w="28575" cap="sq">
              <a:solidFill>
                <a:srgbClr val="00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w</a:t>
              </a:r>
              <a:r>
                <a:rPr lang="en-US" altLang="zh-CN" sz="3200" b="1" baseline="-25000">
                  <a:solidFill>
                    <a:schemeClr val="tx2"/>
                  </a:solidFill>
                </a:rPr>
                <a:t>7</a:t>
              </a:r>
              <a:endParaRPr lang="en-US" altLang="zh-CN"/>
            </a:p>
          </p:txBody>
        </p:sp>
        <p:sp>
          <p:nvSpPr>
            <p:cNvPr id="119820" name="Oval 12"/>
            <p:cNvSpPr>
              <a:spLocks noChangeArrowheads="1"/>
            </p:cNvSpPr>
            <p:nvPr/>
          </p:nvSpPr>
          <p:spPr bwMode="auto">
            <a:xfrm>
              <a:off x="768" y="3120"/>
              <a:ext cx="336" cy="384"/>
            </a:xfrm>
            <a:prstGeom prst="ellipse">
              <a:avLst/>
            </a:prstGeom>
            <a:solidFill>
              <a:srgbClr val="99CCFF">
                <a:alpha val="50000"/>
              </a:srgbClr>
            </a:solidFill>
            <a:ln w="28575"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82"/>
                  </a:solidFill>
                </a:rPr>
                <a:t>w</a:t>
              </a:r>
              <a:r>
                <a:rPr lang="en-US" altLang="zh-CN" sz="3200" b="1" baseline="-25000">
                  <a:solidFill>
                    <a:srgbClr val="000082"/>
                  </a:solidFill>
                </a:rPr>
                <a:t>6</a:t>
              </a:r>
              <a:endParaRPr lang="en-US" altLang="zh-CN"/>
            </a:p>
          </p:txBody>
        </p:sp>
        <p:sp>
          <p:nvSpPr>
            <p:cNvPr id="119821" name="Oval 13"/>
            <p:cNvSpPr>
              <a:spLocks noChangeArrowheads="1"/>
            </p:cNvSpPr>
            <p:nvPr/>
          </p:nvSpPr>
          <p:spPr bwMode="auto">
            <a:xfrm>
              <a:off x="1392" y="1296"/>
              <a:ext cx="336" cy="384"/>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2</a:t>
              </a:r>
              <a:endParaRPr lang="en-US" altLang="zh-CN"/>
            </a:p>
          </p:txBody>
        </p:sp>
        <p:sp>
          <p:nvSpPr>
            <p:cNvPr id="119822" name="Oval 14"/>
            <p:cNvSpPr>
              <a:spLocks noChangeArrowheads="1"/>
            </p:cNvSpPr>
            <p:nvPr/>
          </p:nvSpPr>
          <p:spPr bwMode="auto">
            <a:xfrm>
              <a:off x="1680" y="3408"/>
              <a:ext cx="336" cy="384"/>
            </a:xfrm>
            <a:prstGeom prst="ellipse">
              <a:avLst/>
            </a:prstGeom>
            <a:solidFill>
              <a:srgbClr val="CCFFCC">
                <a:alpha val="50000"/>
              </a:srgbClr>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w</a:t>
              </a:r>
              <a:r>
                <a:rPr lang="en-US" altLang="zh-CN" sz="3200" b="1" baseline="-25000">
                  <a:solidFill>
                    <a:schemeClr val="tx2"/>
                  </a:solidFill>
                </a:rPr>
                <a:t>5</a:t>
              </a:r>
              <a:endParaRPr lang="en-US" altLang="zh-CN"/>
            </a:p>
          </p:txBody>
        </p:sp>
        <p:sp>
          <p:nvSpPr>
            <p:cNvPr id="119823" name="Line 15"/>
            <p:cNvSpPr>
              <a:spLocks noChangeShapeType="1"/>
            </p:cNvSpPr>
            <p:nvPr/>
          </p:nvSpPr>
          <p:spPr bwMode="auto">
            <a:xfrm>
              <a:off x="672" y="1824"/>
              <a:ext cx="384" cy="240"/>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4" name="Line 16"/>
            <p:cNvSpPr>
              <a:spLocks noChangeShapeType="1"/>
            </p:cNvSpPr>
            <p:nvPr/>
          </p:nvSpPr>
          <p:spPr bwMode="auto">
            <a:xfrm>
              <a:off x="1296" y="2400"/>
              <a:ext cx="144" cy="288"/>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5" name="Line 17"/>
            <p:cNvSpPr>
              <a:spLocks noChangeShapeType="1"/>
            </p:cNvSpPr>
            <p:nvPr/>
          </p:nvSpPr>
          <p:spPr bwMode="auto">
            <a:xfrm flipH="1">
              <a:off x="1296" y="1632"/>
              <a:ext cx="144" cy="336"/>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6" name="Line 18"/>
            <p:cNvSpPr>
              <a:spLocks noChangeShapeType="1"/>
            </p:cNvSpPr>
            <p:nvPr/>
          </p:nvSpPr>
          <p:spPr bwMode="auto">
            <a:xfrm>
              <a:off x="480" y="2016"/>
              <a:ext cx="0" cy="432"/>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7" name="Line 19"/>
            <p:cNvSpPr>
              <a:spLocks noChangeShapeType="1"/>
            </p:cNvSpPr>
            <p:nvPr/>
          </p:nvSpPr>
          <p:spPr bwMode="auto">
            <a:xfrm>
              <a:off x="576" y="2832"/>
              <a:ext cx="240" cy="336"/>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8" name="Line 20"/>
            <p:cNvSpPr>
              <a:spLocks noChangeShapeType="1"/>
            </p:cNvSpPr>
            <p:nvPr/>
          </p:nvSpPr>
          <p:spPr bwMode="auto">
            <a:xfrm>
              <a:off x="1104" y="3312"/>
              <a:ext cx="576" cy="240"/>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29" name="Line 21"/>
            <p:cNvSpPr>
              <a:spLocks noChangeShapeType="1"/>
            </p:cNvSpPr>
            <p:nvPr/>
          </p:nvSpPr>
          <p:spPr bwMode="auto">
            <a:xfrm>
              <a:off x="1536" y="3024"/>
              <a:ext cx="240" cy="384"/>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0" name="Line 22"/>
            <p:cNvSpPr>
              <a:spLocks noChangeShapeType="1"/>
            </p:cNvSpPr>
            <p:nvPr/>
          </p:nvSpPr>
          <p:spPr bwMode="auto">
            <a:xfrm flipH="1">
              <a:off x="1632" y="2400"/>
              <a:ext cx="288" cy="336"/>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1" name="Line 23"/>
            <p:cNvSpPr>
              <a:spLocks noChangeShapeType="1"/>
            </p:cNvSpPr>
            <p:nvPr/>
          </p:nvSpPr>
          <p:spPr bwMode="auto">
            <a:xfrm>
              <a:off x="1728" y="1488"/>
              <a:ext cx="288" cy="576"/>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2" name="Line 24"/>
            <p:cNvSpPr>
              <a:spLocks noChangeShapeType="1"/>
            </p:cNvSpPr>
            <p:nvPr/>
          </p:nvSpPr>
          <p:spPr bwMode="auto">
            <a:xfrm flipV="1">
              <a:off x="528" y="1488"/>
              <a:ext cx="864" cy="144"/>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3" name="Oval 25"/>
            <p:cNvSpPr>
              <a:spLocks noChangeArrowheads="1"/>
            </p:cNvSpPr>
            <p:nvPr/>
          </p:nvSpPr>
          <p:spPr bwMode="auto">
            <a:xfrm>
              <a:off x="2256" y="2832"/>
              <a:ext cx="336" cy="384"/>
            </a:xfrm>
            <a:prstGeom prst="ellipse">
              <a:avLst/>
            </a:prstGeom>
            <a:solidFill>
              <a:srgbClr val="99CCFF">
                <a:alpha val="50000"/>
              </a:srgbClr>
            </a:solidFill>
            <a:ln w="28575"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82"/>
                  </a:solidFill>
                </a:rPr>
                <a:t>w</a:t>
              </a:r>
              <a:r>
                <a:rPr lang="en-US" altLang="zh-CN" sz="3200" b="1" baseline="-25000">
                  <a:solidFill>
                    <a:srgbClr val="000082"/>
                  </a:solidFill>
                </a:rPr>
                <a:t>4</a:t>
              </a:r>
              <a:endParaRPr lang="en-US" altLang="zh-CN"/>
            </a:p>
          </p:txBody>
        </p:sp>
        <p:sp>
          <p:nvSpPr>
            <p:cNvPr id="119834" name="Line 26"/>
            <p:cNvSpPr>
              <a:spLocks noChangeShapeType="1"/>
            </p:cNvSpPr>
            <p:nvPr/>
          </p:nvSpPr>
          <p:spPr bwMode="auto">
            <a:xfrm>
              <a:off x="2160" y="2400"/>
              <a:ext cx="240" cy="432"/>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5" name="Line 27"/>
            <p:cNvSpPr>
              <a:spLocks noChangeShapeType="1"/>
            </p:cNvSpPr>
            <p:nvPr/>
          </p:nvSpPr>
          <p:spPr bwMode="auto">
            <a:xfrm flipH="1">
              <a:off x="2016" y="3168"/>
              <a:ext cx="336" cy="432"/>
            </a:xfrm>
            <a:prstGeom prst="line">
              <a:avLst/>
            </a:prstGeom>
            <a:noFill/>
            <a:ln w="1905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6" name="Line 28"/>
            <p:cNvSpPr>
              <a:spLocks noChangeShapeType="1"/>
            </p:cNvSpPr>
            <p:nvPr/>
          </p:nvSpPr>
          <p:spPr bwMode="auto">
            <a:xfrm>
              <a:off x="672" y="1824"/>
              <a:ext cx="384" cy="240"/>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7" name="Oval 29"/>
            <p:cNvSpPr>
              <a:spLocks noChangeArrowheads="1"/>
            </p:cNvSpPr>
            <p:nvPr/>
          </p:nvSpPr>
          <p:spPr bwMode="auto">
            <a:xfrm>
              <a:off x="336" y="1632"/>
              <a:ext cx="336" cy="384"/>
            </a:xfrm>
            <a:prstGeom prst="ellipse">
              <a:avLst/>
            </a:prstGeom>
            <a:solidFill>
              <a:srgbClr val="FFCC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1</a:t>
              </a:r>
              <a:endParaRPr lang="en-US" altLang="zh-CN"/>
            </a:p>
          </p:txBody>
        </p:sp>
        <p:sp>
          <p:nvSpPr>
            <p:cNvPr id="119838" name="Line 30"/>
            <p:cNvSpPr>
              <a:spLocks noChangeShapeType="1"/>
            </p:cNvSpPr>
            <p:nvPr/>
          </p:nvSpPr>
          <p:spPr bwMode="auto">
            <a:xfrm flipH="1">
              <a:off x="1296" y="1632"/>
              <a:ext cx="144" cy="336"/>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39" name="Line 31"/>
            <p:cNvSpPr>
              <a:spLocks noChangeShapeType="1"/>
            </p:cNvSpPr>
            <p:nvPr/>
          </p:nvSpPr>
          <p:spPr bwMode="auto">
            <a:xfrm>
              <a:off x="1296" y="2400"/>
              <a:ext cx="144" cy="288"/>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0" name="Line 32"/>
            <p:cNvSpPr>
              <a:spLocks noChangeShapeType="1"/>
            </p:cNvSpPr>
            <p:nvPr/>
          </p:nvSpPr>
          <p:spPr bwMode="auto">
            <a:xfrm>
              <a:off x="480" y="2016"/>
              <a:ext cx="0" cy="432"/>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1" name="Line 33"/>
            <p:cNvSpPr>
              <a:spLocks noChangeShapeType="1"/>
            </p:cNvSpPr>
            <p:nvPr/>
          </p:nvSpPr>
          <p:spPr bwMode="auto">
            <a:xfrm>
              <a:off x="1728" y="1488"/>
              <a:ext cx="288" cy="576"/>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2" name="Line 34"/>
            <p:cNvSpPr>
              <a:spLocks noChangeShapeType="1"/>
            </p:cNvSpPr>
            <p:nvPr/>
          </p:nvSpPr>
          <p:spPr bwMode="auto">
            <a:xfrm>
              <a:off x="1536" y="3024"/>
              <a:ext cx="240" cy="384"/>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3" name="Line 35"/>
            <p:cNvSpPr>
              <a:spLocks noChangeShapeType="1"/>
            </p:cNvSpPr>
            <p:nvPr/>
          </p:nvSpPr>
          <p:spPr bwMode="auto">
            <a:xfrm>
              <a:off x="576" y="2832"/>
              <a:ext cx="240" cy="336"/>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4" name="Line 36"/>
            <p:cNvSpPr>
              <a:spLocks noChangeShapeType="1"/>
            </p:cNvSpPr>
            <p:nvPr/>
          </p:nvSpPr>
          <p:spPr bwMode="auto">
            <a:xfrm>
              <a:off x="2160" y="2400"/>
              <a:ext cx="240" cy="432"/>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45" name="Oval 37"/>
            <p:cNvSpPr>
              <a:spLocks noChangeArrowheads="1"/>
            </p:cNvSpPr>
            <p:nvPr/>
          </p:nvSpPr>
          <p:spPr bwMode="auto">
            <a:xfrm>
              <a:off x="1008" y="1968"/>
              <a:ext cx="448" cy="439"/>
            </a:xfrm>
            <a:prstGeom prst="ellipse">
              <a:avLst/>
            </a:prstGeom>
            <a:solidFill>
              <a:srgbClr val="7C7906">
                <a:alpha val="50000"/>
              </a:srgbClr>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V</a:t>
              </a:r>
              <a:endParaRPr lang="en-US" altLang="zh-CN"/>
            </a:p>
          </p:txBody>
        </p:sp>
        <p:sp>
          <p:nvSpPr>
            <p:cNvPr id="119846" name="Oval 38"/>
            <p:cNvSpPr>
              <a:spLocks noChangeArrowheads="1"/>
            </p:cNvSpPr>
            <p:nvPr/>
          </p:nvSpPr>
          <p:spPr bwMode="auto">
            <a:xfrm>
              <a:off x="1392" y="1296"/>
              <a:ext cx="336" cy="384"/>
            </a:xfrm>
            <a:prstGeom prst="ellipse">
              <a:avLst/>
            </a:prstGeom>
            <a:solidFill>
              <a:srgbClr val="FFCC99">
                <a:alpha val="50000"/>
              </a:srgbClr>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2</a:t>
              </a:r>
              <a:endParaRPr lang="en-US" altLang="zh-CN"/>
            </a:p>
          </p:txBody>
        </p:sp>
        <p:sp>
          <p:nvSpPr>
            <p:cNvPr id="119847" name="Oval 39"/>
            <p:cNvSpPr>
              <a:spLocks noChangeArrowheads="1"/>
            </p:cNvSpPr>
            <p:nvPr/>
          </p:nvSpPr>
          <p:spPr bwMode="auto">
            <a:xfrm>
              <a:off x="336" y="2448"/>
              <a:ext cx="336" cy="384"/>
            </a:xfrm>
            <a:prstGeom prst="ellipse">
              <a:avLst/>
            </a:prstGeom>
            <a:solidFill>
              <a:schemeClr val="accent1">
                <a:alpha val="50000"/>
              </a:schemeClr>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w</a:t>
              </a:r>
              <a:r>
                <a:rPr lang="en-US" altLang="zh-CN" sz="3200" b="1" baseline="-25000">
                  <a:solidFill>
                    <a:schemeClr val="tx2"/>
                  </a:solidFill>
                </a:rPr>
                <a:t>7</a:t>
              </a:r>
              <a:endParaRPr lang="en-US" altLang="zh-CN"/>
            </a:p>
          </p:txBody>
        </p:sp>
        <p:sp>
          <p:nvSpPr>
            <p:cNvPr id="119848" name="Oval 40"/>
            <p:cNvSpPr>
              <a:spLocks noChangeArrowheads="1"/>
            </p:cNvSpPr>
            <p:nvPr/>
          </p:nvSpPr>
          <p:spPr bwMode="auto">
            <a:xfrm>
              <a:off x="768" y="3120"/>
              <a:ext cx="336" cy="384"/>
            </a:xfrm>
            <a:prstGeom prst="ellipse">
              <a:avLst/>
            </a:prstGeom>
            <a:solidFill>
              <a:schemeClr val="hlink">
                <a:alpha val="50000"/>
              </a:schemeClr>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82"/>
                  </a:solidFill>
                </a:rPr>
                <a:t>w</a:t>
              </a:r>
              <a:r>
                <a:rPr lang="en-US" altLang="zh-CN" sz="3200" b="1" baseline="-25000">
                  <a:solidFill>
                    <a:srgbClr val="000082"/>
                  </a:solidFill>
                </a:rPr>
                <a:t>6</a:t>
              </a:r>
              <a:endParaRPr lang="en-US" altLang="zh-CN"/>
            </a:p>
          </p:txBody>
        </p:sp>
        <p:sp>
          <p:nvSpPr>
            <p:cNvPr id="119849" name="Oval 41"/>
            <p:cNvSpPr>
              <a:spLocks noChangeArrowheads="1"/>
            </p:cNvSpPr>
            <p:nvPr/>
          </p:nvSpPr>
          <p:spPr bwMode="auto">
            <a:xfrm>
              <a:off x="1872" y="2064"/>
              <a:ext cx="336" cy="384"/>
            </a:xfrm>
            <a:prstGeom prst="ellipse">
              <a:avLst/>
            </a:prstGeom>
            <a:solidFill>
              <a:schemeClr val="accent1">
                <a:alpha val="50000"/>
              </a:schemeClr>
            </a:solidFill>
            <a:ln w="28575" cap="sq" algn="ctr">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b="1">
                <a:solidFill>
                  <a:schemeClr val="tx2"/>
                </a:solidFill>
              </a:endParaRPr>
            </a:p>
          </p:txBody>
        </p:sp>
        <p:sp>
          <p:nvSpPr>
            <p:cNvPr id="119850" name="Oval 42"/>
            <p:cNvSpPr>
              <a:spLocks noChangeArrowheads="1"/>
            </p:cNvSpPr>
            <p:nvPr/>
          </p:nvSpPr>
          <p:spPr bwMode="auto">
            <a:xfrm>
              <a:off x="1344" y="2640"/>
              <a:ext cx="336" cy="384"/>
            </a:xfrm>
            <a:prstGeom prst="ellipse">
              <a:avLst/>
            </a:prstGeom>
            <a:solidFill>
              <a:srgbClr val="FFCC99">
                <a:alpha val="50000"/>
              </a:srgbClr>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800000"/>
                  </a:solidFill>
                </a:rPr>
                <a:t>w</a:t>
              </a:r>
              <a:r>
                <a:rPr lang="en-US" altLang="zh-CN" sz="3200" b="1" baseline="-25000">
                  <a:solidFill>
                    <a:srgbClr val="800000"/>
                  </a:solidFill>
                </a:rPr>
                <a:t>8</a:t>
              </a:r>
              <a:endParaRPr lang="en-US" altLang="zh-CN"/>
            </a:p>
          </p:txBody>
        </p:sp>
        <p:sp>
          <p:nvSpPr>
            <p:cNvPr id="119851" name="Oval 43"/>
            <p:cNvSpPr>
              <a:spLocks noChangeArrowheads="1"/>
            </p:cNvSpPr>
            <p:nvPr/>
          </p:nvSpPr>
          <p:spPr bwMode="auto">
            <a:xfrm>
              <a:off x="1680" y="3408"/>
              <a:ext cx="336" cy="384"/>
            </a:xfrm>
            <a:prstGeom prst="ellipse">
              <a:avLst/>
            </a:prstGeom>
            <a:solidFill>
              <a:schemeClr val="accent1">
                <a:alpha val="50000"/>
              </a:schemeClr>
            </a:solidFill>
            <a:ln w="28575" cap="sq" algn="ctr">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b="1">
                <a:solidFill>
                  <a:schemeClr val="tx2"/>
                </a:solidFill>
              </a:endParaRPr>
            </a:p>
          </p:txBody>
        </p:sp>
        <p:sp>
          <p:nvSpPr>
            <p:cNvPr id="119852" name="Oval 44"/>
            <p:cNvSpPr>
              <a:spLocks noChangeArrowheads="1"/>
            </p:cNvSpPr>
            <p:nvPr/>
          </p:nvSpPr>
          <p:spPr bwMode="auto">
            <a:xfrm>
              <a:off x="2256" y="2832"/>
              <a:ext cx="336" cy="384"/>
            </a:xfrm>
            <a:prstGeom prst="ellipse">
              <a:avLst/>
            </a:prstGeom>
            <a:solidFill>
              <a:schemeClr val="hlink">
                <a:alpha val="50000"/>
              </a:schemeClr>
            </a:solidFill>
            <a:ln w="28575" cap="sq" algn="ctr">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b="1">
                <a:solidFill>
                  <a:srgbClr val="000082"/>
                </a:solidFill>
              </a:endParaRPr>
            </a:p>
          </p:txBody>
        </p:sp>
      </p:grpSp>
      <p:sp>
        <p:nvSpPr>
          <p:cNvPr id="119853" name="Rectangle 45"/>
          <p:cNvSpPr>
            <a:spLocks noChangeArrowheads="1"/>
          </p:cNvSpPr>
          <p:nvPr/>
        </p:nvSpPr>
        <p:spPr bwMode="auto">
          <a:xfrm>
            <a:off x="3810000" y="5257800"/>
            <a:ext cx="4876800" cy="1308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pPr>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BFS results</a:t>
            </a:r>
            <a:r>
              <a:rPr lang="zh-CN" altLang="en-US" sz="3200">
                <a:solidFill>
                  <a:srgbClr val="000099"/>
                </a:solidFill>
                <a:latin typeface="Arial" panose="020B0604020202020204" pitchFamily="34" charset="0"/>
                <a:ea typeface="楷体_GB2312" pitchFamily="49" charset="-122"/>
                <a:cs typeface="Arial" panose="020B0604020202020204" pitchFamily="34" charset="0"/>
              </a:rPr>
              <a:t>： </a:t>
            </a:r>
            <a:endParaRPr lang="zh-CN" altLang="en-US" sz="3200">
              <a:solidFill>
                <a:srgbClr val="000099"/>
              </a:solidFill>
              <a:latin typeface="Arial" panose="020B0604020202020204" pitchFamily="34" charset="0"/>
              <a:ea typeface="楷体_GB2312" pitchFamily="49" charset="-122"/>
              <a:cs typeface="Arial" panose="020B0604020202020204" pitchFamily="34" charset="0"/>
            </a:endParaRPr>
          </a:p>
          <a:p>
            <a:pPr>
              <a:lnSpc>
                <a:spcPct val="90000"/>
              </a:lnSpc>
            </a:pPr>
            <a:r>
              <a:rPr lang="en-US" altLang="zh-CN" sz="2800">
                <a:solidFill>
                  <a:srgbClr val="003300"/>
                </a:solidFill>
                <a:latin typeface="Arial" panose="020B0604020202020204" pitchFamily="34" charset="0"/>
                <a:ea typeface="楷体_GB2312" pitchFamily="49" charset="-122"/>
                <a:cs typeface="Arial" panose="020B0604020202020204" pitchFamily="34" charset="0"/>
              </a:rPr>
              <a:t>V-&gt;w1-&gt;w2-&gt;w8 -&gt;w7-&gt;w3-&gt;w5 - &gt;w6-&gt;w4 </a:t>
            </a:r>
            <a:endParaRPr lang="en-US" altLang="zh-CN" sz="2800">
              <a:solidFill>
                <a:srgbClr val="003300"/>
              </a:solidFill>
              <a:latin typeface="Arial" panose="020B0604020202020204" pitchFamily="34" charset="0"/>
              <a:ea typeface="楷体_GB2312" pitchFamily="49" charset="-122"/>
              <a:cs typeface="Arial" panose="020B0604020202020204" pitchFamily="34" charset="0"/>
            </a:endParaRPr>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
        <p:nvSpPr>
          <p:cNvPr id="2" name="页脚占位符 1"/>
          <p:cNvSpPr>
            <a:spLocks noGrp="1"/>
          </p:cNvSpPr>
          <p:nvPr>
            <p:ph type="ftr" sz="quarter" idx="10"/>
          </p:nvPr>
        </p:nvSpPr>
        <p:spPr/>
        <p:txBody>
          <a:bodyPr/>
          <a:lstStyle/>
          <a:p>
            <a:pPr>
              <a:defRPr/>
            </a:pPr>
            <a:r>
              <a:rPr lang="en-US" altLang="zh-CN"/>
              <a:t>©Haiyang Liu, 2025</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53">
                                            <p:txEl>
                                              <p:pRg st="4294967295" end="4294967295"/>
                                            </p:txEl>
                                          </p:spTgt>
                                        </p:tgtEl>
                                        <p:attrNameLst>
                                          <p:attrName>style.visibility</p:attrName>
                                        </p:attrNameLst>
                                      </p:cBhvr>
                                      <p:to>
                                        <p:strVal val="visible"/>
                                      </p:to>
                                    </p:set>
                                    <p:anim calcmode="lin" valueType="num">
                                      <p:cBhvr additive="base">
                                        <p:cTn id="7" dur="500" fill="hold"/>
                                        <p:tgtEl>
                                          <p:spTgt spid="119853">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53">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9853">
                                            <p:txEl>
                                              <p:pRg st="0" end="0"/>
                                            </p:txEl>
                                          </p:spTgt>
                                        </p:tgtEl>
                                        <p:attrNameLst>
                                          <p:attrName>style.visibility</p:attrName>
                                        </p:attrNameLst>
                                      </p:cBhvr>
                                      <p:to>
                                        <p:strVal val="visible"/>
                                      </p:to>
                                    </p:set>
                                    <p:anim calcmode="lin" valueType="num">
                                      <p:cBhvr additive="base">
                                        <p:cTn id="13" dur="500" fill="hold"/>
                                        <p:tgtEl>
                                          <p:spTgt spid="11985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8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9853">
                                            <p:txEl>
                                              <p:pRg st="1" end="1"/>
                                            </p:txEl>
                                          </p:spTgt>
                                        </p:tgtEl>
                                        <p:attrNameLst>
                                          <p:attrName>style.visibility</p:attrName>
                                        </p:attrNameLst>
                                      </p:cBhvr>
                                      <p:to>
                                        <p:strVal val="visible"/>
                                      </p:to>
                                    </p:set>
                                    <p:anim calcmode="lin" valueType="num">
                                      <p:cBhvr additive="base">
                                        <p:cTn id="19" dur="500" fill="hold"/>
                                        <p:tgtEl>
                                          <p:spTgt spid="11985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985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53" grpId="0" autoUpdateAnimBg="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827088" y="4581128"/>
            <a:ext cx="239649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dirty="0">
                <a:solidFill>
                  <a:srgbClr val="000099"/>
                </a:solidFill>
                <a:latin typeface="Arial" panose="020B0604020202020204" pitchFamily="34" charset="0"/>
                <a:ea typeface="楷体_GB2312" pitchFamily="49" charset="-122"/>
                <a:cs typeface="Arial" panose="020B0604020202020204" pitchFamily="34" charset="0"/>
                <a:sym typeface="+mn-ea"/>
              </a:rPr>
              <a:t>BFS results:</a:t>
            </a:r>
            <a:endParaRPr lang="zh-CN" altLang="en-US" sz="2800" b="1" baseline="-10000" dirty="0">
              <a:latin typeface="Arial" panose="020B0604020202020204" pitchFamily="34" charset="0"/>
              <a:cs typeface="Arial" panose="020B0604020202020204" pitchFamily="34" charset="0"/>
            </a:endParaRPr>
          </a:p>
        </p:txBody>
      </p:sp>
      <p:sp>
        <p:nvSpPr>
          <p:cNvPr id="120835" name="Oval 3"/>
          <p:cNvSpPr>
            <a:spLocks noChangeArrowheads="1"/>
          </p:cNvSpPr>
          <p:nvPr/>
        </p:nvSpPr>
        <p:spPr bwMode="auto">
          <a:xfrm>
            <a:off x="4038600" y="990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1</a:t>
            </a:r>
            <a:endParaRPr lang="en-US" altLang="zh-CN" sz="2800" b="1" baseline="-10000"/>
          </a:p>
        </p:txBody>
      </p:sp>
      <p:sp>
        <p:nvSpPr>
          <p:cNvPr id="120836" name="Oval 4"/>
          <p:cNvSpPr>
            <a:spLocks noChangeArrowheads="1"/>
          </p:cNvSpPr>
          <p:nvPr/>
        </p:nvSpPr>
        <p:spPr bwMode="auto">
          <a:xfrm>
            <a:off x="2895600" y="1752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2</a:t>
            </a:r>
            <a:endParaRPr lang="en-US" altLang="zh-CN" sz="2800" b="1" baseline="-10000"/>
          </a:p>
        </p:txBody>
      </p:sp>
      <p:sp>
        <p:nvSpPr>
          <p:cNvPr id="120837" name="Oval 5"/>
          <p:cNvSpPr>
            <a:spLocks noChangeArrowheads="1"/>
          </p:cNvSpPr>
          <p:nvPr/>
        </p:nvSpPr>
        <p:spPr bwMode="auto">
          <a:xfrm>
            <a:off x="5257800" y="18288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3</a:t>
            </a:r>
            <a:endParaRPr lang="en-US" altLang="zh-CN" sz="2800" b="1" baseline="-10000"/>
          </a:p>
        </p:txBody>
      </p:sp>
      <p:sp>
        <p:nvSpPr>
          <p:cNvPr id="120838" name="Oval 6"/>
          <p:cNvSpPr>
            <a:spLocks noChangeArrowheads="1"/>
          </p:cNvSpPr>
          <p:nvPr/>
        </p:nvSpPr>
        <p:spPr bwMode="auto">
          <a:xfrm>
            <a:off x="2286000" y="2667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4</a:t>
            </a:r>
            <a:endParaRPr lang="en-US" altLang="zh-CN" sz="2800" b="1" baseline="-10000"/>
          </a:p>
        </p:txBody>
      </p:sp>
      <p:sp>
        <p:nvSpPr>
          <p:cNvPr id="120839" name="Oval 7"/>
          <p:cNvSpPr>
            <a:spLocks noChangeArrowheads="1"/>
          </p:cNvSpPr>
          <p:nvPr/>
        </p:nvSpPr>
        <p:spPr bwMode="auto">
          <a:xfrm>
            <a:off x="3400425" y="2667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5</a:t>
            </a:r>
            <a:endParaRPr lang="en-US" altLang="zh-CN" sz="2800" b="1" baseline="-10000"/>
          </a:p>
        </p:txBody>
      </p:sp>
      <p:sp>
        <p:nvSpPr>
          <p:cNvPr id="120840" name="Oval 8"/>
          <p:cNvSpPr>
            <a:spLocks noChangeArrowheads="1"/>
          </p:cNvSpPr>
          <p:nvPr/>
        </p:nvSpPr>
        <p:spPr bwMode="auto">
          <a:xfrm>
            <a:off x="4724400" y="2743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6</a:t>
            </a:r>
            <a:endParaRPr lang="en-US" altLang="zh-CN" sz="2800" b="1" baseline="-10000"/>
          </a:p>
        </p:txBody>
      </p:sp>
      <p:sp>
        <p:nvSpPr>
          <p:cNvPr id="120841" name="Oval 9"/>
          <p:cNvSpPr>
            <a:spLocks noChangeArrowheads="1"/>
          </p:cNvSpPr>
          <p:nvPr/>
        </p:nvSpPr>
        <p:spPr bwMode="auto">
          <a:xfrm>
            <a:off x="5715000" y="2743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7</a:t>
            </a:r>
            <a:endParaRPr lang="en-US" altLang="zh-CN" sz="2800" b="1" baseline="-10000"/>
          </a:p>
        </p:txBody>
      </p:sp>
      <p:sp>
        <p:nvSpPr>
          <p:cNvPr id="120842" name="Oval 10"/>
          <p:cNvSpPr>
            <a:spLocks noChangeArrowheads="1"/>
          </p:cNvSpPr>
          <p:nvPr/>
        </p:nvSpPr>
        <p:spPr bwMode="auto">
          <a:xfrm>
            <a:off x="3505200" y="3810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8</a:t>
            </a:r>
            <a:endParaRPr lang="en-US" altLang="zh-CN" sz="2800" b="1" baseline="-10000"/>
          </a:p>
        </p:txBody>
      </p:sp>
      <p:sp>
        <p:nvSpPr>
          <p:cNvPr id="120843" name="Line 11"/>
          <p:cNvSpPr>
            <a:spLocks noChangeShapeType="1"/>
          </p:cNvSpPr>
          <p:nvPr/>
        </p:nvSpPr>
        <p:spPr bwMode="auto">
          <a:xfrm flipH="1">
            <a:off x="3352800" y="1371600"/>
            <a:ext cx="7620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4" name="Line 12"/>
          <p:cNvSpPr>
            <a:spLocks noChangeShapeType="1"/>
          </p:cNvSpPr>
          <p:nvPr/>
        </p:nvSpPr>
        <p:spPr bwMode="auto">
          <a:xfrm>
            <a:off x="4419600" y="1371600"/>
            <a:ext cx="914400" cy="5334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5" name="Line 13"/>
          <p:cNvSpPr>
            <a:spLocks noChangeShapeType="1"/>
          </p:cNvSpPr>
          <p:nvPr/>
        </p:nvSpPr>
        <p:spPr bwMode="auto">
          <a:xfrm flipH="1">
            <a:off x="2590800" y="2209800"/>
            <a:ext cx="4572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6" name="Line 14"/>
          <p:cNvSpPr>
            <a:spLocks noChangeShapeType="1"/>
          </p:cNvSpPr>
          <p:nvPr/>
        </p:nvSpPr>
        <p:spPr bwMode="auto">
          <a:xfrm>
            <a:off x="3276600" y="22098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7" name="Line 15"/>
          <p:cNvSpPr>
            <a:spLocks noChangeShapeType="1"/>
          </p:cNvSpPr>
          <p:nvPr/>
        </p:nvSpPr>
        <p:spPr bwMode="auto">
          <a:xfrm>
            <a:off x="2590800" y="3124200"/>
            <a:ext cx="990600" cy="7620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8" name="Line 16"/>
          <p:cNvSpPr>
            <a:spLocks noChangeShapeType="1"/>
          </p:cNvSpPr>
          <p:nvPr/>
        </p:nvSpPr>
        <p:spPr bwMode="auto">
          <a:xfrm>
            <a:off x="3657600" y="3124200"/>
            <a:ext cx="152400" cy="6858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49" name="Line 17"/>
          <p:cNvSpPr>
            <a:spLocks noChangeShapeType="1"/>
          </p:cNvSpPr>
          <p:nvPr/>
        </p:nvSpPr>
        <p:spPr bwMode="auto">
          <a:xfrm flipH="1">
            <a:off x="5029200" y="22860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50" name="Line 18"/>
          <p:cNvSpPr>
            <a:spLocks noChangeShapeType="1"/>
          </p:cNvSpPr>
          <p:nvPr/>
        </p:nvSpPr>
        <p:spPr bwMode="auto">
          <a:xfrm>
            <a:off x="5562600" y="2286000"/>
            <a:ext cx="304800" cy="45720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51" name="Line 19"/>
          <p:cNvSpPr>
            <a:spLocks noChangeShapeType="1"/>
          </p:cNvSpPr>
          <p:nvPr/>
        </p:nvSpPr>
        <p:spPr bwMode="auto">
          <a:xfrm>
            <a:off x="5181600" y="3048000"/>
            <a:ext cx="5334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20852" name="Rectangle 20"/>
          <p:cNvSpPr>
            <a:spLocks noChangeArrowheads="1"/>
          </p:cNvSpPr>
          <p:nvPr/>
        </p:nvSpPr>
        <p:spPr bwMode="auto">
          <a:xfrm>
            <a:off x="827088" y="5157391"/>
            <a:ext cx="771756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solidFill>
                  <a:srgbClr val="000099"/>
                </a:solidFill>
                <a:latin typeface="楷体_GB2312" pitchFamily="49" charset="-122"/>
                <a:ea typeface="楷体_GB2312" pitchFamily="49" charset="-122"/>
              </a:rPr>
              <a:t>    </a:t>
            </a:r>
            <a:r>
              <a:rPr lang="en-US" altLang="zh-CN" sz="2800" b="1" dirty="0"/>
              <a:t>V</a:t>
            </a:r>
            <a:r>
              <a:rPr lang="en-US" altLang="zh-CN" sz="2800" b="1" baseline="-10000" dirty="0"/>
              <a:t>1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2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3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4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5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6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7 </a:t>
            </a:r>
            <a:r>
              <a:rPr lang="en-US" altLang="zh-CN" sz="3200" dirty="0">
                <a:solidFill>
                  <a:srgbClr val="000099"/>
                </a:solidFill>
                <a:latin typeface="楷体_GB2312" pitchFamily="49" charset="-122"/>
                <a:ea typeface="楷体_GB2312" pitchFamily="49" charset="-122"/>
              </a:rPr>
              <a:t>→</a:t>
            </a:r>
            <a:r>
              <a:rPr lang="en-US" altLang="zh-CN" sz="2800" b="1" baseline="-10000" dirty="0"/>
              <a:t> </a:t>
            </a:r>
            <a:r>
              <a:rPr lang="en-US" altLang="zh-CN" sz="2800" b="1" dirty="0"/>
              <a:t>V</a:t>
            </a:r>
            <a:r>
              <a:rPr lang="en-US" altLang="zh-CN" sz="2800" b="1" baseline="-10000" dirty="0"/>
              <a:t>8</a:t>
            </a:r>
            <a:endParaRPr lang="en-US" altLang="zh-CN" sz="2800" b="1" baseline="-10000" dirty="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20852"/>
                                        </p:tgtEl>
                                        <p:attrNameLst>
                                          <p:attrName>style.visibility</p:attrName>
                                        </p:attrNameLst>
                                      </p:cBhvr>
                                      <p:to>
                                        <p:strVal val="visible"/>
                                      </p:to>
                                    </p:set>
                                    <p:anim calcmode="discrete" valueType="clr">
                                      <p:cBhvr override="childStyle">
                                        <p:cTn id="7" dur="80"/>
                                        <p:tgtEl>
                                          <p:spTgt spid="12085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0852"/>
                                        </p:tgtEl>
                                        <p:attrNameLst>
                                          <p:attrName>fillcolor</p:attrName>
                                        </p:attrNameLst>
                                      </p:cBhvr>
                                      <p:tavLst>
                                        <p:tav tm="0">
                                          <p:val>
                                            <p:clrVal>
                                              <a:schemeClr val="accent2"/>
                                            </p:clrVal>
                                          </p:val>
                                        </p:tav>
                                        <p:tav tm="50000">
                                          <p:val>
                                            <p:clrVal>
                                              <a:schemeClr val="hlink"/>
                                            </p:clrVal>
                                          </p:val>
                                        </p:tav>
                                      </p:tavLst>
                                    </p:anim>
                                    <p:set>
                                      <p:cBhvr>
                                        <p:cTn id="9" dur="80"/>
                                        <p:tgtEl>
                                          <p:spTgt spid="12085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381000" y="685800"/>
            <a:ext cx="8534400" cy="5477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a:solidFill>
                  <a:srgbClr val="000099"/>
                </a:solidFill>
                <a:latin typeface="Arial" panose="020B0604020202020204" pitchFamily="34" charset="0"/>
                <a:ea typeface="楷体_GB2312" pitchFamily="49" charset="-122"/>
                <a:cs typeface="Arial" panose="020B0604020202020204" pitchFamily="34" charset="0"/>
              </a:rPr>
              <a:t>The breadth-first search (BFS) algorithm traverses a graph starting from vertex v, visiting all vertices connected to v with path lengths 1, 2,..., in ascending order. This process</a:t>
            </a:r>
            <a:r>
              <a:rPr lang="zh-CN" altLang="en-US" b="1">
                <a:solidFill>
                  <a:srgbClr val="A50021"/>
                </a:solidFill>
                <a:latin typeface="Arial" panose="020B0604020202020204" pitchFamily="34" charset="0"/>
                <a:ea typeface="楷体_GB2312" pitchFamily="49" charset="-122"/>
                <a:cs typeface="Arial" panose="020B0604020202020204" pitchFamily="34" charset="0"/>
              </a:rPr>
              <a:t> resembles a trees hierarchical traversal</a:t>
            </a:r>
            <a:r>
              <a:rPr lang="zh-CN" altLang="en-US">
                <a:solidFill>
                  <a:srgbClr val="000099"/>
                </a:solidFill>
                <a:latin typeface="Arial" panose="020B0604020202020204" pitchFamily="34" charset="0"/>
                <a:ea typeface="楷体_GB2312" pitchFamily="49" charset="-122"/>
                <a:cs typeface="Arial" panose="020B0604020202020204" pitchFamily="34" charset="0"/>
              </a:rPr>
              <a:t>.</a:t>
            </a:r>
            <a:endParaRPr lang="zh-CN" altLang="en-US" b="1">
              <a:solidFill>
                <a:srgbClr val="A50021"/>
              </a:solidFill>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a:solidFill>
                  <a:srgbClr val="000099"/>
                </a:solidFill>
                <a:latin typeface="Arial" panose="020B0604020202020204" pitchFamily="34" charset="0"/>
                <a:ea typeface="楷体_GB2312" pitchFamily="49" charset="-122"/>
                <a:cs typeface="Arial" panose="020B0604020202020204" pitchFamily="34" charset="0"/>
              </a:rPr>
              <a:t>Similar to depth-first search, this method requires an access</a:t>
            </a:r>
            <a:r>
              <a:rPr lang="zh-CN" altLang="en-US" b="1">
                <a:solidFill>
                  <a:srgbClr val="A50021"/>
                </a:solidFill>
                <a:latin typeface="Arial" panose="020B0604020202020204" pitchFamily="34" charset="0"/>
                <a:ea typeface="楷体_GB2312" pitchFamily="49" charset="-122"/>
                <a:cs typeface="Arial" panose="020B0604020202020204" pitchFamily="34" charset="0"/>
              </a:rPr>
              <a:t> flag array</a:t>
            </a:r>
            <a:r>
              <a:rPr lang="zh-CN" altLang="en-US">
                <a:solidFill>
                  <a:srgbClr val="000099"/>
                </a:solidFill>
                <a:latin typeface="Arial" panose="020B0604020202020204" pitchFamily="34" charset="0"/>
                <a:ea typeface="楷体_GB2312" pitchFamily="49" charset="-122"/>
                <a:cs typeface="Arial" panose="020B0604020202020204" pitchFamily="34" charset="0"/>
              </a:rPr>
              <a:t> during traversal. Additionally, a queue is maintained to store vertices with path lengths of 1, 2,..., ensuring </a:t>
            </a:r>
            <a:r>
              <a:rPr lang="zh-CN" altLang="en-US" b="1">
                <a:solidFill>
                  <a:srgbClr val="A50021"/>
                </a:solidFill>
                <a:latin typeface="Arial" panose="020B0604020202020204" pitchFamily="34" charset="0"/>
                <a:ea typeface="楷体_GB2312" pitchFamily="49" charset="-122"/>
                <a:cs typeface="Arial" panose="020B0604020202020204" pitchFamily="34" charset="0"/>
              </a:rPr>
              <a:t>sequential </a:t>
            </a:r>
            <a:r>
              <a:rPr lang="zh-CN" altLang="en-US">
                <a:solidFill>
                  <a:srgbClr val="000099"/>
                </a:solidFill>
                <a:latin typeface="Arial" panose="020B0604020202020204" pitchFamily="34" charset="0"/>
                <a:ea typeface="楷体_GB2312" pitchFamily="49" charset="-122"/>
                <a:cs typeface="Arial" panose="020B0604020202020204" pitchFamily="34" charset="0"/>
              </a:rPr>
              <a:t>access to vertices with path lengths of 2, 3,....</a:t>
            </a:r>
            <a:endParaRPr lang="zh-CN" altLang="en-US">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21858"/>
                                        </p:tgtEl>
                                        <p:attrNameLst>
                                          <p:attrName>style.visibility</p:attrName>
                                        </p:attrNameLst>
                                      </p:cBhvr>
                                      <p:to>
                                        <p:strVal val="visible"/>
                                      </p:to>
                                    </p:set>
                                    <p:animEffect transition="in" filter="strips(downLeft)">
                                      <p:cBhvr>
                                        <p:cTn id="7" dur="500"/>
                                        <p:tgtEl>
                                          <p:spTgt spid="121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bldLvl="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p:cNvSpPr txBox="1">
            <a:spLocks noChangeArrowheads="1"/>
          </p:cNvSpPr>
          <p:nvPr/>
        </p:nvSpPr>
        <p:spPr bwMode="auto">
          <a:xfrm>
            <a:off x="250825" y="260350"/>
            <a:ext cx="8713788" cy="6047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800" b="1" dirty="0">
                <a:ea typeface="楷体_GB2312" pitchFamily="49" charset="-122"/>
              </a:rPr>
              <a:t> </a:t>
            </a:r>
            <a:r>
              <a:rPr lang="en-US" altLang="zh-CN" sz="3600" b="1" dirty="0">
                <a:solidFill>
                  <a:srgbClr val="000099"/>
                </a:solidFill>
                <a:ea typeface="楷体_GB2312" pitchFamily="49" charset="-122"/>
              </a:rPr>
              <a:t>void </a:t>
            </a:r>
            <a:r>
              <a:rPr lang="en-US" altLang="zh-CN" sz="3600" dirty="0" err="1">
                <a:solidFill>
                  <a:srgbClr val="000099"/>
                </a:solidFill>
                <a:ea typeface="楷体_GB2312" pitchFamily="49" charset="-122"/>
              </a:rPr>
              <a:t>BFSTraverse</a:t>
            </a:r>
            <a:r>
              <a:rPr lang="en-US" altLang="zh-CN" sz="3600" dirty="0">
                <a:solidFill>
                  <a:srgbClr val="000099"/>
                </a:solidFill>
                <a:ea typeface="楷体_GB2312" pitchFamily="49" charset="-122"/>
              </a:rPr>
              <a:t>(Graph G,</a:t>
            </a:r>
            <a:endParaRPr lang="en-US" altLang="zh-CN" sz="3600" dirty="0">
              <a:solidFill>
                <a:srgbClr val="000099"/>
              </a:solidFill>
              <a:ea typeface="楷体_GB2312" pitchFamily="49" charset="-122"/>
            </a:endParaRPr>
          </a:p>
          <a:p>
            <a:pPr>
              <a:lnSpc>
                <a:spcPct val="110000"/>
              </a:lnSpc>
            </a:pPr>
            <a:r>
              <a:rPr lang="en-US" altLang="zh-CN" sz="3600" dirty="0">
                <a:solidFill>
                  <a:srgbClr val="000099"/>
                </a:solidFill>
                <a:ea typeface="楷体_GB2312" pitchFamily="49" charset="-122"/>
              </a:rPr>
              <a:t>      </a:t>
            </a:r>
            <a:r>
              <a:rPr lang="en-US" altLang="zh-CN" sz="3600" b="1" dirty="0">
                <a:solidFill>
                  <a:srgbClr val="000099"/>
                </a:solidFill>
                <a:ea typeface="楷体_GB2312" pitchFamily="49" charset="-122"/>
              </a:rPr>
              <a:t>Status </a:t>
            </a:r>
            <a:r>
              <a:rPr lang="en-US" altLang="zh-CN" sz="3600" dirty="0">
                <a:solidFill>
                  <a:srgbClr val="000099"/>
                </a:solidFill>
                <a:ea typeface="楷体_GB2312" pitchFamily="49" charset="-122"/>
              </a:rPr>
              <a:t>(</a:t>
            </a:r>
            <a:r>
              <a:rPr lang="en-US" altLang="zh-CN" sz="3600" b="1" dirty="0">
                <a:solidFill>
                  <a:srgbClr val="000099"/>
                </a:solidFill>
                <a:ea typeface="楷体_GB2312" pitchFamily="49" charset="-122"/>
              </a:rPr>
              <a:t>*</a:t>
            </a:r>
            <a:r>
              <a:rPr lang="en-US" altLang="zh-CN" sz="3600" dirty="0">
                <a:solidFill>
                  <a:srgbClr val="000099"/>
                </a:solidFill>
                <a:ea typeface="楷体_GB2312" pitchFamily="49" charset="-122"/>
              </a:rPr>
              <a:t>Visit)</a:t>
            </a:r>
            <a:r>
              <a:rPr lang="en-US" altLang="zh-CN" sz="3600" b="1" dirty="0">
                <a:solidFill>
                  <a:srgbClr val="000099"/>
                </a:solidFill>
                <a:ea typeface="楷体_GB2312" pitchFamily="49" charset="-122"/>
              </a:rPr>
              <a:t>(</a:t>
            </a:r>
            <a:r>
              <a:rPr lang="en-US" altLang="zh-CN" sz="3600" b="1" dirty="0" err="1">
                <a:solidFill>
                  <a:srgbClr val="000099"/>
                </a:solidFill>
                <a:ea typeface="楷体_GB2312" pitchFamily="49" charset="-122"/>
              </a:rPr>
              <a:t>int</a:t>
            </a:r>
            <a:r>
              <a:rPr lang="en-US" altLang="zh-CN" sz="3600" dirty="0">
                <a:solidFill>
                  <a:srgbClr val="000099"/>
                </a:solidFill>
                <a:ea typeface="楷体_GB2312" pitchFamily="49" charset="-122"/>
              </a:rPr>
              <a:t> v))</a:t>
            </a:r>
            <a:r>
              <a:rPr lang="en-US" altLang="zh-CN" sz="3600" b="1" dirty="0">
                <a:solidFill>
                  <a:srgbClr val="000099"/>
                </a:solidFill>
                <a:ea typeface="楷体_GB2312" pitchFamily="49" charset="-122"/>
              </a:rPr>
              <a:t> {</a:t>
            </a:r>
            <a:endParaRPr lang="en-US" altLang="zh-CN" sz="3600" b="1" dirty="0">
              <a:solidFill>
                <a:srgbClr val="000099"/>
              </a:solidFill>
              <a:ea typeface="楷体_GB2312" pitchFamily="49" charset="-122"/>
            </a:endParaRPr>
          </a:p>
          <a:p>
            <a:pPr>
              <a:lnSpc>
                <a:spcPct val="110000"/>
              </a:lnSpc>
            </a:pPr>
            <a:r>
              <a:rPr lang="en-US" altLang="zh-CN" b="1" dirty="0">
                <a:solidFill>
                  <a:srgbClr val="006600"/>
                </a:solidFill>
              </a:rPr>
              <a:t>        // </a:t>
            </a:r>
            <a:r>
              <a:rPr lang="en-US" altLang="zh-CN" b="1" dirty="0">
                <a:solidFill>
                  <a:srgbClr val="006600"/>
                </a:solidFill>
                <a:sym typeface="+mn-ea"/>
              </a:rPr>
              <a:t>Perform a breadth-first traversal of graph G</a:t>
            </a: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endParaRPr lang="en-US" altLang="zh-CN" sz="3600" b="1" dirty="0">
              <a:solidFill>
                <a:srgbClr val="000099"/>
              </a:solidFill>
              <a:ea typeface="楷体_GB2312" pitchFamily="49" charset="-122"/>
            </a:endParaRPr>
          </a:p>
          <a:p>
            <a:pPr>
              <a:lnSpc>
                <a:spcPct val="110000"/>
              </a:lnSpc>
            </a:pPr>
            <a:r>
              <a:rPr lang="en-US" altLang="zh-CN" sz="3600" b="1" dirty="0">
                <a:solidFill>
                  <a:srgbClr val="000099"/>
                </a:solidFill>
                <a:ea typeface="楷体_GB2312" pitchFamily="49" charset="-122"/>
              </a:rPr>
              <a:t>}</a:t>
            </a:r>
            <a:r>
              <a:rPr lang="en-US" altLang="zh-CN" sz="3600" dirty="0">
                <a:solidFill>
                  <a:srgbClr val="000099"/>
                </a:solidFill>
                <a:ea typeface="楷体_GB2312" pitchFamily="49" charset="-122"/>
              </a:rPr>
              <a:t> // </a:t>
            </a:r>
            <a:r>
              <a:rPr lang="en-US" altLang="zh-CN" sz="3600" dirty="0" err="1">
                <a:solidFill>
                  <a:srgbClr val="000099"/>
                </a:solidFill>
                <a:ea typeface="楷体_GB2312" pitchFamily="49" charset="-122"/>
              </a:rPr>
              <a:t>BFSTraverse</a:t>
            </a:r>
            <a:endParaRPr lang="en-US" altLang="zh-CN" sz="3600" dirty="0">
              <a:solidFill>
                <a:srgbClr val="000099"/>
              </a:solidFill>
              <a:ea typeface="楷体_GB2312" pitchFamily="49" charset="-122"/>
            </a:endParaRPr>
          </a:p>
        </p:txBody>
      </p:sp>
      <p:sp>
        <p:nvSpPr>
          <p:cNvPr id="122883" name="Text Box 3"/>
          <p:cNvSpPr txBox="1">
            <a:spLocks noChangeArrowheads="1"/>
          </p:cNvSpPr>
          <p:nvPr/>
        </p:nvSpPr>
        <p:spPr bwMode="auto">
          <a:xfrm>
            <a:off x="1828800" y="4648200"/>
            <a:ext cx="2743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000" b="1">
                <a:solidFill>
                  <a:srgbClr val="0000FF"/>
                </a:solidFill>
              </a:rPr>
              <a:t>… … </a:t>
            </a:r>
            <a:endParaRPr lang="en-US" altLang="zh-CN" b="1">
              <a:solidFill>
                <a:srgbClr val="0000FF"/>
              </a:solidFill>
            </a:endParaRPr>
          </a:p>
        </p:txBody>
      </p:sp>
      <p:sp>
        <p:nvSpPr>
          <p:cNvPr id="122884" name="Text Box 4"/>
          <p:cNvSpPr txBox="1">
            <a:spLocks noChangeArrowheads="1"/>
          </p:cNvSpPr>
          <p:nvPr/>
        </p:nvSpPr>
        <p:spPr bwMode="auto">
          <a:xfrm>
            <a:off x="468313" y="1839367"/>
            <a:ext cx="830580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800" b="1" dirty="0">
                <a:ea typeface="楷体_GB2312" pitchFamily="49" charset="-122"/>
              </a:rPr>
              <a:t> </a:t>
            </a:r>
            <a:r>
              <a:rPr lang="en-US" altLang="zh-CN" sz="3600" dirty="0">
                <a:solidFill>
                  <a:srgbClr val="000099"/>
                </a:solidFill>
                <a:ea typeface="楷体_GB2312" pitchFamily="49" charset="-122"/>
              </a:rPr>
              <a:t>  </a:t>
            </a:r>
            <a:r>
              <a:rPr lang="en-US" altLang="zh-CN" b="1" dirty="0">
                <a:solidFill>
                  <a:srgbClr val="000099"/>
                </a:solidFill>
                <a:ea typeface="楷体_GB2312" pitchFamily="49" charset="-122"/>
              </a:rPr>
              <a:t>for</a:t>
            </a:r>
            <a:r>
              <a:rPr lang="en-US" altLang="zh-CN" dirty="0">
                <a:solidFill>
                  <a:srgbClr val="000099"/>
                </a:solidFill>
                <a:ea typeface="楷体_GB2312" pitchFamily="49" charset="-122"/>
              </a:rPr>
              <a:t> (v=0; v&lt;</a:t>
            </a:r>
            <a:r>
              <a:rPr lang="en-US" altLang="zh-CN" dirty="0" err="1">
                <a:solidFill>
                  <a:srgbClr val="000099"/>
                </a:solidFill>
                <a:ea typeface="楷体_GB2312" pitchFamily="49" charset="-122"/>
              </a:rPr>
              <a:t>G.vexnum</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a:t>
            </a:r>
            <a:r>
              <a:rPr lang="en-US" altLang="zh-CN" dirty="0">
                <a:solidFill>
                  <a:srgbClr val="000099"/>
                </a:solidFill>
                <a:ea typeface="楷体_GB2312" pitchFamily="49" charset="-122"/>
              </a:rPr>
              <a:t>v)</a:t>
            </a:r>
            <a:endParaRPr lang="en-US" altLang="zh-CN" dirty="0">
              <a:solidFill>
                <a:srgbClr val="000099"/>
              </a:solidFill>
              <a:ea typeface="楷体_GB2312" pitchFamily="49" charset="-122"/>
            </a:endParaRPr>
          </a:p>
          <a:p>
            <a:pPr lvl="1">
              <a:lnSpc>
                <a:spcPct val="110000"/>
              </a:lnSpc>
            </a:pPr>
            <a:r>
              <a:rPr lang="zh-CN" altLang="en-US" dirty="0">
                <a:solidFill>
                  <a:srgbClr val="000099"/>
                </a:solidFill>
                <a:ea typeface="楷体_GB2312" pitchFamily="49" charset="-122"/>
              </a:rPr>
              <a:t>　</a:t>
            </a:r>
            <a:r>
              <a:rPr lang="en-US" altLang="zh-CN" dirty="0">
                <a:solidFill>
                  <a:srgbClr val="000099"/>
                </a:solidFill>
                <a:ea typeface="楷体_GB2312" pitchFamily="49" charset="-122"/>
              </a:rPr>
              <a:t>visited[v] = </a:t>
            </a:r>
            <a:r>
              <a:rPr lang="en-US" altLang="zh-CN" b="1" dirty="0">
                <a:solidFill>
                  <a:srgbClr val="000099"/>
                </a:solidFill>
                <a:ea typeface="楷体_GB2312" pitchFamily="49" charset="-122"/>
              </a:rPr>
              <a:t>FALSE</a:t>
            </a:r>
            <a:r>
              <a:rPr lang="en-US" altLang="zh-CN" dirty="0">
                <a:solidFill>
                  <a:srgbClr val="000099"/>
                </a:solidFill>
                <a:ea typeface="楷体_GB2312" pitchFamily="49" charset="-122"/>
              </a:rPr>
              <a:t>;   </a:t>
            </a:r>
            <a:r>
              <a:rPr lang="en-US" altLang="zh-CN" b="1" dirty="0">
                <a:solidFill>
                  <a:srgbClr val="006600"/>
                </a:solidFill>
                <a:ea typeface="楷体_GB2312" pitchFamily="49" charset="-122"/>
              </a:rPr>
              <a:t>// </a:t>
            </a:r>
            <a:r>
              <a:rPr lang="zh-CN" altLang="en-US" b="1" dirty="0">
                <a:solidFill>
                  <a:srgbClr val="006600"/>
                </a:solidFill>
                <a:ea typeface="楷体_GB2312" pitchFamily="49" charset="-122"/>
                <a:sym typeface="+mn-ea"/>
              </a:rPr>
              <a:t>Initialize the access flag</a:t>
            </a:r>
            <a:endParaRPr lang="zh-CN" altLang="en-US" b="1" dirty="0">
              <a:solidFill>
                <a:srgbClr val="006600"/>
              </a:solidFill>
              <a:ea typeface="楷体_GB2312" pitchFamily="49" charset="-122"/>
            </a:endParaRPr>
          </a:p>
          <a:p>
            <a:pPr>
              <a:lnSpc>
                <a:spcPct val="110000"/>
              </a:lnSpc>
            </a:pPr>
            <a:r>
              <a:rPr lang="zh-CN" altLang="en-US" dirty="0">
                <a:solidFill>
                  <a:srgbClr val="000099"/>
                </a:solidFill>
                <a:ea typeface="楷体_GB2312" pitchFamily="49" charset="-122"/>
              </a:rPr>
              <a:t>    </a:t>
            </a:r>
            <a:r>
              <a:rPr lang="en-US" altLang="zh-CN" dirty="0" err="1">
                <a:solidFill>
                  <a:srgbClr val="0000FF"/>
                </a:solidFill>
                <a:ea typeface="楷体_GB2312" pitchFamily="49" charset="-122"/>
              </a:rPr>
              <a:t>InitQueue</a:t>
            </a:r>
            <a:r>
              <a:rPr lang="en-US" altLang="zh-CN" dirty="0">
                <a:solidFill>
                  <a:srgbClr val="0000FF"/>
                </a:solidFill>
                <a:ea typeface="楷体_GB2312" pitchFamily="49" charset="-122"/>
              </a:rPr>
              <a:t>(Q);</a:t>
            </a:r>
            <a:r>
              <a:rPr lang="en-US" altLang="zh-CN" dirty="0">
                <a:solidFill>
                  <a:srgbClr val="000099"/>
                </a:solidFill>
                <a:ea typeface="楷体_GB2312" pitchFamily="49" charset="-122"/>
              </a:rPr>
              <a:t>   </a:t>
            </a:r>
            <a:r>
              <a:rPr lang="en-US" altLang="zh-CN" b="1" dirty="0">
                <a:solidFill>
                  <a:srgbClr val="006600"/>
                </a:solidFill>
                <a:ea typeface="楷体_GB2312" pitchFamily="49" charset="-122"/>
              </a:rPr>
              <a:t>// </a:t>
            </a:r>
            <a:r>
              <a:rPr lang="zh-CN" altLang="en-US" b="1" dirty="0">
                <a:solidFill>
                  <a:srgbClr val="006600"/>
                </a:solidFill>
                <a:ea typeface="楷体_GB2312" pitchFamily="49" charset="-122"/>
                <a:sym typeface="+mn-ea"/>
              </a:rPr>
              <a:t>The empty auxiliary queue Q</a:t>
            </a:r>
            <a:endParaRPr lang="en-US" altLang="zh-CN" b="1" dirty="0">
              <a:solidFill>
                <a:srgbClr val="006600"/>
              </a:solidFill>
              <a:ea typeface="楷体_GB2312" pitchFamily="49" charset="-122"/>
            </a:endParaRPr>
          </a:p>
          <a:p>
            <a:pPr>
              <a:lnSpc>
                <a:spcPct val="110000"/>
              </a:lnSpc>
            </a:pP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for</a:t>
            </a:r>
            <a:r>
              <a:rPr lang="en-US" altLang="zh-CN" dirty="0">
                <a:solidFill>
                  <a:srgbClr val="000099"/>
                </a:solidFill>
                <a:ea typeface="楷体_GB2312" pitchFamily="49" charset="-122"/>
              </a:rPr>
              <a:t> ( v=0;  v&lt;</a:t>
            </a:r>
            <a:r>
              <a:rPr lang="en-US" altLang="zh-CN" dirty="0" err="1">
                <a:solidFill>
                  <a:srgbClr val="000099"/>
                </a:solidFill>
                <a:ea typeface="楷体_GB2312" pitchFamily="49" charset="-122"/>
              </a:rPr>
              <a:t>G.vexnum</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a:t>
            </a:r>
            <a:r>
              <a:rPr lang="en-US" altLang="zh-CN" dirty="0">
                <a:solidFill>
                  <a:srgbClr val="000099"/>
                </a:solidFill>
                <a:ea typeface="楷体_GB2312" pitchFamily="49" charset="-122"/>
              </a:rPr>
              <a:t>v )</a:t>
            </a:r>
            <a:endParaRPr lang="en-US" altLang="zh-CN" dirty="0">
              <a:solidFill>
                <a:srgbClr val="000099"/>
              </a:solidFill>
              <a:ea typeface="楷体_GB2312" pitchFamily="49" charset="-122"/>
            </a:endParaRPr>
          </a:p>
          <a:p>
            <a:pPr lvl="1">
              <a:lnSpc>
                <a:spcPct val="110000"/>
              </a:lnSpc>
            </a:pP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if </a:t>
            </a:r>
            <a:r>
              <a:rPr lang="en-US" altLang="zh-CN" dirty="0">
                <a:solidFill>
                  <a:srgbClr val="000099"/>
                </a:solidFill>
                <a:ea typeface="楷体_GB2312" pitchFamily="49" charset="-122"/>
              </a:rPr>
              <a:t>(</a:t>
            </a:r>
            <a:r>
              <a:rPr lang="en-US" altLang="zh-CN" dirty="0">
                <a:solidFill>
                  <a:srgbClr val="0000FF"/>
                </a:solidFill>
                <a:ea typeface="楷体_GB2312" pitchFamily="49" charset="-122"/>
              </a:rPr>
              <a:t> </a:t>
            </a:r>
            <a:r>
              <a:rPr lang="en-US" altLang="zh-CN" b="1" dirty="0">
                <a:solidFill>
                  <a:srgbClr val="0000FF"/>
                </a:solidFill>
                <a:ea typeface="楷体_GB2312" pitchFamily="49" charset="-122"/>
              </a:rPr>
              <a:t>!</a:t>
            </a:r>
            <a:r>
              <a:rPr lang="en-US" altLang="zh-CN" dirty="0">
                <a:solidFill>
                  <a:srgbClr val="0000FF"/>
                </a:solidFill>
                <a:ea typeface="楷体_GB2312" pitchFamily="49" charset="-122"/>
              </a:rPr>
              <a:t>visited[v]</a:t>
            </a:r>
            <a:r>
              <a:rPr lang="en-US" altLang="zh-CN" dirty="0">
                <a:solidFill>
                  <a:srgbClr val="000099"/>
                </a:solidFill>
                <a:ea typeface="楷体_GB2312" pitchFamily="49" charset="-122"/>
              </a:rPr>
              <a:t>)</a:t>
            </a:r>
            <a:r>
              <a:rPr lang="en-US" altLang="zh-CN" b="1" dirty="0">
                <a:solidFill>
                  <a:srgbClr val="000099"/>
                </a:solidFill>
                <a:ea typeface="楷体_GB2312" pitchFamily="49" charset="-122"/>
              </a:rPr>
              <a:t> {</a:t>
            </a:r>
            <a:r>
              <a:rPr lang="en-US" altLang="zh-CN" dirty="0">
                <a:solidFill>
                  <a:srgbClr val="000099"/>
                </a:solidFill>
                <a:ea typeface="楷体_GB2312" pitchFamily="49" charset="-122"/>
              </a:rPr>
              <a:t> </a:t>
            </a:r>
            <a:r>
              <a:rPr lang="en-US" altLang="zh-CN" b="1" dirty="0">
                <a:solidFill>
                  <a:srgbClr val="006600"/>
                </a:solidFill>
                <a:ea typeface="楷体_GB2312" pitchFamily="49" charset="-122"/>
              </a:rPr>
              <a:t>// v</a:t>
            </a:r>
            <a:r>
              <a:rPr lang="zh-CN" altLang="en-US" b="1" dirty="0">
                <a:solidFill>
                  <a:srgbClr val="006600"/>
                </a:solidFill>
                <a:ea typeface="楷体_GB2312" pitchFamily="49" charset="-122"/>
              </a:rPr>
              <a:t> </a:t>
            </a:r>
            <a:r>
              <a:rPr lang="zh-CN" altLang="en-US" b="1" dirty="0">
                <a:solidFill>
                  <a:srgbClr val="006600"/>
                </a:solidFill>
                <a:ea typeface="楷体_GB2312" pitchFamily="49" charset="-122"/>
                <a:sym typeface="+mn-ea"/>
              </a:rPr>
              <a:t>has not been visited yet</a:t>
            </a:r>
            <a:r>
              <a:rPr lang="zh-CN" altLang="en-US" b="1" dirty="0">
                <a:solidFill>
                  <a:srgbClr val="006600"/>
                </a:solidFill>
                <a:ea typeface="楷体_GB2312" pitchFamily="49" charset="-122"/>
              </a:rPr>
              <a:t> </a:t>
            </a:r>
            <a:endParaRPr lang="zh-CN" altLang="en-US" b="1" dirty="0">
              <a:solidFill>
                <a:srgbClr val="000099"/>
              </a:solidFill>
              <a:ea typeface="楷体_GB2312" pitchFamily="49" charset="-122"/>
            </a:endParaRPr>
          </a:p>
          <a:p>
            <a:pPr lvl="1">
              <a:lnSpc>
                <a:spcPct val="110000"/>
              </a:lnSpc>
            </a:pPr>
            <a:r>
              <a:rPr lang="zh-CN" altLang="en-US" b="1" dirty="0">
                <a:solidFill>
                  <a:srgbClr val="000099"/>
                </a:solidFill>
                <a:ea typeface="楷体_GB2312" pitchFamily="49" charset="-122"/>
              </a:rPr>
              <a:t>         </a:t>
            </a:r>
            <a:endParaRPr lang="zh-CN" altLang="en-US" b="1" dirty="0">
              <a:solidFill>
                <a:srgbClr val="000099"/>
              </a:solidFill>
              <a:ea typeface="楷体_GB2312" pitchFamily="49" charset="-122"/>
            </a:endParaRPr>
          </a:p>
          <a:p>
            <a:pPr lvl="1">
              <a:lnSpc>
                <a:spcPct val="110000"/>
              </a:lnSpc>
            </a:pPr>
            <a:r>
              <a:rPr lang="zh-CN" altLang="en-US" b="1" dirty="0">
                <a:solidFill>
                  <a:srgbClr val="000099"/>
                </a:solidFill>
                <a:ea typeface="楷体_GB2312" pitchFamily="49" charset="-122"/>
              </a:rPr>
              <a:t>    </a:t>
            </a:r>
            <a:r>
              <a:rPr lang="en-US" altLang="zh-CN" b="1" dirty="0">
                <a:solidFill>
                  <a:srgbClr val="000099"/>
                </a:solidFill>
                <a:ea typeface="楷体_GB2312" pitchFamily="49" charset="-122"/>
              </a:rPr>
              <a:t>}</a:t>
            </a:r>
            <a:endParaRPr lang="en-US" altLang="zh-CN" dirty="0">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884">
                                            <p:txEl>
                                              <p:pRg st="4294967295" end="4294967295"/>
                                            </p:txEl>
                                          </p:spTgt>
                                        </p:tgtEl>
                                        <p:attrNameLst>
                                          <p:attrName>style.visibility</p:attrName>
                                        </p:attrNameLst>
                                      </p:cBhvr>
                                      <p:to>
                                        <p:strVal val="visible"/>
                                      </p:to>
                                    </p:set>
                                    <p:animEffect transition="in" filter="wipe(down)">
                                      <p:cBhvr>
                                        <p:cTn id="7" dur="500"/>
                                        <p:tgtEl>
                                          <p:spTgt spid="122884">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2884">
                                            <p:txEl>
                                              <p:pRg st="0" end="0"/>
                                            </p:txEl>
                                          </p:spTgt>
                                        </p:tgtEl>
                                        <p:attrNameLst>
                                          <p:attrName>style.visibility</p:attrName>
                                        </p:attrNameLst>
                                      </p:cBhvr>
                                      <p:to>
                                        <p:strVal val="visible"/>
                                      </p:to>
                                    </p:set>
                                    <p:animEffect transition="in" filter="wipe(down)">
                                      <p:cBhvr>
                                        <p:cTn id="12" dur="500"/>
                                        <p:tgtEl>
                                          <p:spTgt spid="122884">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22884">
                                            <p:txEl>
                                              <p:pRg st="1" end="1"/>
                                            </p:txEl>
                                          </p:spTgt>
                                        </p:tgtEl>
                                        <p:attrNameLst>
                                          <p:attrName>style.visibility</p:attrName>
                                        </p:attrNameLst>
                                      </p:cBhvr>
                                      <p:to>
                                        <p:strVal val="visible"/>
                                      </p:to>
                                    </p:set>
                                    <p:animEffect transition="in" filter="wipe(down)">
                                      <p:cBhvr>
                                        <p:cTn id="15" dur="500"/>
                                        <p:tgtEl>
                                          <p:spTgt spid="12288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22884">
                                            <p:txEl>
                                              <p:pRg st="2" end="2"/>
                                            </p:txEl>
                                          </p:spTgt>
                                        </p:tgtEl>
                                        <p:attrNameLst>
                                          <p:attrName>style.visibility</p:attrName>
                                        </p:attrNameLst>
                                      </p:cBhvr>
                                      <p:to>
                                        <p:strVal val="visible"/>
                                      </p:to>
                                    </p:set>
                                    <p:animEffect transition="in" filter="wipe(down)">
                                      <p:cBhvr>
                                        <p:cTn id="20" dur="500"/>
                                        <p:tgtEl>
                                          <p:spTgt spid="12288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22884">
                                            <p:txEl>
                                              <p:pRg st="3" end="3"/>
                                            </p:txEl>
                                          </p:spTgt>
                                        </p:tgtEl>
                                        <p:attrNameLst>
                                          <p:attrName>style.visibility</p:attrName>
                                        </p:attrNameLst>
                                      </p:cBhvr>
                                      <p:to>
                                        <p:strVal val="visible"/>
                                      </p:to>
                                    </p:set>
                                    <p:animEffect transition="in" filter="wipe(down)">
                                      <p:cBhvr>
                                        <p:cTn id="25" dur="500"/>
                                        <p:tgtEl>
                                          <p:spTgt spid="122884">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22884">
                                            <p:txEl>
                                              <p:pRg st="4" end="4"/>
                                            </p:txEl>
                                          </p:spTgt>
                                        </p:tgtEl>
                                        <p:attrNameLst>
                                          <p:attrName>style.visibility</p:attrName>
                                        </p:attrNameLst>
                                      </p:cBhvr>
                                      <p:to>
                                        <p:strVal val="visible"/>
                                      </p:to>
                                    </p:set>
                                    <p:animEffect transition="in" filter="wipe(down)">
                                      <p:cBhvr>
                                        <p:cTn id="28" dur="500"/>
                                        <p:tgtEl>
                                          <p:spTgt spid="122884">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22884">
                                            <p:txEl>
                                              <p:pRg st="5" end="5"/>
                                            </p:txEl>
                                          </p:spTgt>
                                        </p:tgtEl>
                                        <p:attrNameLst>
                                          <p:attrName>style.visibility</p:attrName>
                                        </p:attrNameLst>
                                      </p:cBhvr>
                                      <p:to>
                                        <p:strVal val="visible"/>
                                      </p:to>
                                    </p:set>
                                    <p:animEffect transition="in" filter="wipe(down)">
                                      <p:cBhvr>
                                        <p:cTn id="31" dur="500"/>
                                        <p:tgtEl>
                                          <p:spTgt spid="122884">
                                            <p:txEl>
                                              <p:pRg st="5" end="5"/>
                                            </p:txEl>
                                          </p:spTgt>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22884">
                                            <p:txEl>
                                              <p:pRg st="6" end="6"/>
                                            </p:txEl>
                                          </p:spTgt>
                                        </p:tgtEl>
                                        <p:attrNameLst>
                                          <p:attrName>style.visibility</p:attrName>
                                        </p:attrNameLst>
                                      </p:cBhvr>
                                      <p:to>
                                        <p:strVal val="visible"/>
                                      </p:to>
                                    </p:set>
                                    <p:animEffect transition="in" filter="wipe(down)">
                                      <p:cBhvr>
                                        <p:cTn id="34" dur="500"/>
                                        <p:tgtEl>
                                          <p:spTgt spid="122884">
                                            <p:txEl>
                                              <p:pRg st="6" end="6"/>
                                            </p:txEl>
                                          </p:spTgt>
                                        </p:tgtEl>
                                      </p:cBhvr>
                                    </p:animEffect>
                                  </p:childTnLst>
                                </p:cTn>
                              </p:par>
                            </p:childTnLst>
                          </p:cTn>
                        </p:par>
                        <p:par>
                          <p:cTn id="35" fill="hold">
                            <p:stCondLst>
                              <p:cond delay="500"/>
                            </p:stCondLst>
                            <p:childTnLst>
                              <p:par>
                                <p:cTn id="36" presetID="2" presetClass="entr" presetSubtype="8" fill="hold" grpId="0" nodeType="afterEffect">
                                  <p:stCondLst>
                                    <p:cond delay="0"/>
                                  </p:stCondLst>
                                  <p:childTnLst>
                                    <p:set>
                                      <p:cBhvr>
                                        <p:cTn id="37" dur="1" fill="hold">
                                          <p:stCondLst>
                                            <p:cond delay="0"/>
                                          </p:stCondLst>
                                        </p:cTn>
                                        <p:tgtEl>
                                          <p:spTgt spid="122883"/>
                                        </p:tgtEl>
                                        <p:attrNameLst>
                                          <p:attrName>style.visibility</p:attrName>
                                        </p:attrNameLst>
                                      </p:cBhvr>
                                      <p:to>
                                        <p:strVal val="visible"/>
                                      </p:to>
                                    </p:set>
                                    <p:anim calcmode="lin" valueType="num">
                                      <p:cBhvr additive="base">
                                        <p:cTn id="38" dur="500" fill="hold"/>
                                        <p:tgtEl>
                                          <p:spTgt spid="122883"/>
                                        </p:tgtEl>
                                        <p:attrNameLst>
                                          <p:attrName>ppt_x</p:attrName>
                                        </p:attrNameLst>
                                      </p:cBhvr>
                                      <p:tavLst>
                                        <p:tav tm="0">
                                          <p:val>
                                            <p:strVal val="0-#ppt_w/2"/>
                                          </p:val>
                                        </p:tav>
                                        <p:tav tm="100000">
                                          <p:val>
                                            <p:strVal val="#ppt_x"/>
                                          </p:val>
                                        </p:tav>
                                      </p:tavLst>
                                    </p:anim>
                                    <p:anim calcmode="lin" valueType="num">
                                      <p:cBhvr additive="base">
                                        <p:cTn id="39" dur="500" fill="hold"/>
                                        <p:tgtEl>
                                          <p:spTgt spid="1228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utoUpdateAnimBg="0"/>
      <p:bldP spid="122884"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p:cNvSpPr txBox="1">
            <a:spLocks noChangeArrowheads="1"/>
          </p:cNvSpPr>
          <p:nvPr/>
        </p:nvSpPr>
        <p:spPr bwMode="auto">
          <a:xfrm>
            <a:off x="228600" y="304800"/>
            <a:ext cx="8915400" cy="652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dirty="0">
                <a:ea typeface="楷体_GB2312" pitchFamily="49" charset="-122"/>
              </a:rPr>
              <a:t>visited[v] = </a:t>
            </a:r>
            <a:r>
              <a:rPr lang="en-US" altLang="zh-CN" b="1" dirty="0">
                <a:ea typeface="楷体_GB2312" pitchFamily="49" charset="-122"/>
              </a:rPr>
              <a:t>TRUE</a:t>
            </a:r>
            <a:r>
              <a:rPr lang="en-US" altLang="zh-CN" dirty="0">
                <a:ea typeface="楷体_GB2312" pitchFamily="49" charset="-122"/>
              </a:rPr>
              <a:t>;  Visit(v);    </a:t>
            </a:r>
            <a:r>
              <a:rPr lang="en-US" altLang="zh-CN" sz="2400" b="1" dirty="0">
                <a:solidFill>
                  <a:srgbClr val="006600"/>
                </a:solidFill>
                <a:ea typeface="楷体_GB2312" pitchFamily="49" charset="-122"/>
              </a:rPr>
              <a:t>// visit v</a:t>
            </a:r>
            <a:endParaRPr lang="en-US" altLang="zh-CN" sz="2400" b="1" dirty="0">
              <a:solidFill>
                <a:srgbClr val="006600"/>
              </a:solidFill>
              <a:ea typeface="楷体_GB2312" pitchFamily="49" charset="-122"/>
            </a:endParaRPr>
          </a:p>
          <a:p>
            <a:pPr>
              <a:lnSpc>
                <a:spcPct val="110000"/>
              </a:lnSpc>
            </a:pPr>
            <a:r>
              <a:rPr lang="en-US" altLang="zh-CN" dirty="0" err="1">
                <a:ea typeface="楷体_GB2312" pitchFamily="49" charset="-122"/>
              </a:rPr>
              <a:t>EnQueue</a:t>
            </a:r>
            <a:r>
              <a:rPr lang="en-US" altLang="zh-CN" dirty="0">
                <a:ea typeface="楷体_GB2312" pitchFamily="49" charset="-122"/>
              </a:rPr>
              <a:t>(Q, v);  </a:t>
            </a:r>
            <a:r>
              <a:rPr lang="en-US" altLang="zh-CN" sz="2400" b="1" dirty="0">
                <a:solidFill>
                  <a:srgbClr val="006600"/>
                </a:solidFill>
                <a:ea typeface="楷体_GB2312" pitchFamily="49" charset="-122"/>
              </a:rPr>
              <a:t>// </a:t>
            </a:r>
            <a:r>
              <a:rPr lang="zh-CN" altLang="en-US" sz="2400" b="1" dirty="0">
                <a:solidFill>
                  <a:srgbClr val="006600"/>
                </a:solidFill>
                <a:ea typeface="楷体_GB2312" pitchFamily="49" charset="-122"/>
                <a:sym typeface="+mn-ea"/>
              </a:rPr>
              <a:t>v is added to the queue</a:t>
            </a:r>
            <a:r>
              <a:rPr lang="zh-CN" altLang="en-US" sz="2400" b="1" dirty="0">
                <a:solidFill>
                  <a:srgbClr val="006600"/>
                </a:solidFill>
                <a:ea typeface="楷体_GB2312" pitchFamily="49" charset="-122"/>
              </a:rPr>
              <a:t>v</a:t>
            </a:r>
            <a:endParaRPr lang="zh-CN" altLang="en-US" sz="2400" b="1" dirty="0">
              <a:solidFill>
                <a:srgbClr val="006600"/>
              </a:solidFill>
              <a:ea typeface="楷体_GB2312" pitchFamily="49" charset="-122"/>
            </a:endParaRPr>
          </a:p>
          <a:p>
            <a:pPr>
              <a:lnSpc>
                <a:spcPct val="110000"/>
              </a:lnSpc>
            </a:pPr>
            <a:r>
              <a:rPr lang="en-US" altLang="zh-CN" b="1" dirty="0">
                <a:solidFill>
                  <a:srgbClr val="000099"/>
                </a:solidFill>
                <a:ea typeface="楷体_GB2312" pitchFamily="49" charset="-122"/>
              </a:rPr>
              <a:t>while</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a:t>
            </a:r>
            <a:r>
              <a:rPr lang="en-US" altLang="zh-CN" dirty="0" err="1">
                <a:solidFill>
                  <a:srgbClr val="000099"/>
                </a:solidFill>
                <a:ea typeface="楷体_GB2312" pitchFamily="49" charset="-122"/>
              </a:rPr>
              <a:t>QueueEmpty</a:t>
            </a:r>
            <a:r>
              <a:rPr lang="en-US" altLang="zh-CN" dirty="0">
                <a:solidFill>
                  <a:srgbClr val="000099"/>
                </a:solidFill>
                <a:ea typeface="楷体_GB2312" pitchFamily="49" charset="-122"/>
              </a:rPr>
              <a:t>(Q))  </a:t>
            </a:r>
            <a:r>
              <a:rPr lang="en-US" altLang="zh-CN" b="1" dirty="0">
                <a:solidFill>
                  <a:srgbClr val="000099"/>
                </a:solidFill>
                <a:ea typeface="楷体_GB2312" pitchFamily="49" charset="-122"/>
              </a:rPr>
              <a:t>{</a:t>
            </a:r>
            <a:endParaRPr lang="en-US" altLang="zh-CN" b="1" dirty="0">
              <a:solidFill>
                <a:srgbClr val="000099"/>
              </a:solidFill>
              <a:ea typeface="楷体_GB2312" pitchFamily="49" charset="-122"/>
            </a:endParaRPr>
          </a:p>
          <a:p>
            <a:pPr>
              <a:lnSpc>
                <a:spcPct val="110000"/>
              </a:lnSpc>
            </a:pPr>
            <a:r>
              <a:rPr lang="en-US" altLang="zh-CN" sz="1800" b="1" dirty="0">
                <a:solidFill>
                  <a:srgbClr val="008000"/>
                </a:solidFill>
                <a:ea typeface="楷体_GB2312" pitchFamily="49" charset="-122"/>
              </a:rPr>
              <a:t>//</a:t>
            </a:r>
            <a:r>
              <a:rPr lang="zh-CN" altLang="en-US" sz="2400" b="1" dirty="0">
                <a:solidFill>
                  <a:srgbClr val="006600"/>
                </a:solidFill>
                <a:ea typeface="楷体_GB2312" pitchFamily="49" charset="-122"/>
                <a:sym typeface="+mn-ea"/>
              </a:rPr>
              <a:t>Traverse the entire subgraph when the loop terminates</a:t>
            </a:r>
            <a:endParaRPr lang="zh-CN" altLang="en-US" sz="2400" b="1" dirty="0">
              <a:solidFill>
                <a:srgbClr val="336600"/>
              </a:solidFill>
              <a:ea typeface="楷体_GB2312" pitchFamily="49" charset="-122"/>
            </a:endParaRPr>
          </a:p>
          <a:p>
            <a:pPr>
              <a:lnSpc>
                <a:spcPct val="110000"/>
              </a:lnSpc>
            </a:pPr>
            <a:r>
              <a:rPr lang="zh-CN" altLang="en-US" dirty="0">
                <a:ea typeface="楷体_GB2312" pitchFamily="49" charset="-122"/>
              </a:rPr>
              <a:t>   </a:t>
            </a:r>
            <a:r>
              <a:rPr lang="en-US" altLang="zh-CN" dirty="0" err="1">
                <a:solidFill>
                  <a:srgbClr val="0000FF"/>
                </a:solidFill>
                <a:ea typeface="楷体_GB2312" pitchFamily="49" charset="-122"/>
              </a:rPr>
              <a:t>DeQueue</a:t>
            </a:r>
            <a:r>
              <a:rPr lang="en-US" altLang="zh-CN" dirty="0">
                <a:solidFill>
                  <a:srgbClr val="0000FF"/>
                </a:solidFill>
                <a:ea typeface="楷体_GB2312" pitchFamily="49" charset="-122"/>
              </a:rPr>
              <a:t>(Q, u);             </a:t>
            </a:r>
            <a:endParaRPr lang="en-US" altLang="zh-CN" dirty="0">
              <a:solidFill>
                <a:srgbClr val="0000FF"/>
              </a:solidFill>
              <a:ea typeface="楷体_GB2312" pitchFamily="49" charset="-122"/>
            </a:endParaRPr>
          </a:p>
          <a:p>
            <a:pPr>
              <a:lnSpc>
                <a:spcPct val="110000"/>
              </a:lnSpc>
            </a:pPr>
            <a:r>
              <a:rPr lang="en-US" altLang="zh-CN" sz="2400" b="1" dirty="0">
                <a:solidFill>
                  <a:srgbClr val="006600"/>
                </a:solidFill>
                <a:ea typeface="楷体_GB2312" pitchFamily="49" charset="-122"/>
              </a:rPr>
              <a:t>// </a:t>
            </a:r>
            <a:r>
              <a:rPr lang="zh-CN" altLang="en-US" sz="2000" b="1" dirty="0">
                <a:solidFill>
                  <a:srgbClr val="006600"/>
                </a:solidFill>
                <a:ea typeface="楷体_GB2312" pitchFamily="49" charset="-122"/>
                <a:sym typeface="+mn-ea"/>
              </a:rPr>
              <a:t>Remove the front element from the queue and assign it to u</a:t>
            </a:r>
            <a:endParaRPr lang="en-US" altLang="zh-CN" sz="2400" dirty="0" err="1">
              <a:solidFill>
                <a:srgbClr val="0000FF"/>
              </a:solidFill>
              <a:ea typeface="楷体_GB2312" pitchFamily="49" charset="-122"/>
              <a:sym typeface="+mn-ea"/>
            </a:endParaRPr>
          </a:p>
          <a:p>
            <a:pPr>
              <a:lnSpc>
                <a:spcPct val="110000"/>
              </a:lnSpc>
            </a:pPr>
            <a:r>
              <a:rPr lang="en-US" altLang="zh-CN" b="1" dirty="0">
                <a:solidFill>
                  <a:srgbClr val="0000FF"/>
                </a:solidFill>
                <a:ea typeface="楷体_GB2312" pitchFamily="49" charset="-122"/>
              </a:rPr>
              <a:t>   for(w=</a:t>
            </a:r>
            <a:r>
              <a:rPr lang="en-US" altLang="zh-CN" b="1" dirty="0" err="1">
                <a:solidFill>
                  <a:srgbClr val="0000FF"/>
                </a:solidFill>
                <a:ea typeface="楷体_GB2312" pitchFamily="49" charset="-122"/>
              </a:rPr>
              <a:t>FirstAdjVex</a:t>
            </a:r>
            <a:r>
              <a:rPr lang="en-US" altLang="zh-CN" b="1" dirty="0">
                <a:solidFill>
                  <a:srgbClr val="0000FF"/>
                </a:solidFill>
                <a:ea typeface="楷体_GB2312" pitchFamily="49" charset="-122"/>
              </a:rPr>
              <a:t>(G, u); w!=0; </a:t>
            </a:r>
            <a:endParaRPr lang="en-US" altLang="zh-CN" b="1" dirty="0">
              <a:solidFill>
                <a:srgbClr val="0000FF"/>
              </a:solidFill>
              <a:ea typeface="楷体_GB2312" pitchFamily="49" charset="-122"/>
            </a:endParaRPr>
          </a:p>
          <a:p>
            <a:pPr>
              <a:lnSpc>
                <a:spcPct val="110000"/>
              </a:lnSpc>
            </a:pPr>
            <a:r>
              <a:rPr lang="en-US" altLang="zh-CN" b="1" dirty="0">
                <a:solidFill>
                  <a:srgbClr val="0000FF"/>
                </a:solidFill>
                <a:ea typeface="楷体_GB2312" pitchFamily="49" charset="-122"/>
              </a:rPr>
              <a:t>                          w=</a:t>
            </a:r>
            <a:r>
              <a:rPr lang="en-US" altLang="zh-CN" b="1" dirty="0" err="1">
                <a:solidFill>
                  <a:srgbClr val="0000FF"/>
                </a:solidFill>
                <a:ea typeface="楷体_GB2312" pitchFamily="49" charset="-122"/>
              </a:rPr>
              <a:t>NextAdjVex</a:t>
            </a:r>
            <a:r>
              <a:rPr lang="en-US" altLang="zh-CN" b="1" dirty="0">
                <a:solidFill>
                  <a:srgbClr val="0000FF"/>
                </a:solidFill>
                <a:ea typeface="楷体_GB2312" pitchFamily="49" charset="-122"/>
              </a:rPr>
              <a:t>(</a:t>
            </a:r>
            <a:r>
              <a:rPr lang="en-US" altLang="zh-CN" b="1" dirty="0" err="1">
                <a:solidFill>
                  <a:srgbClr val="0000FF"/>
                </a:solidFill>
                <a:ea typeface="楷体_GB2312" pitchFamily="49" charset="-122"/>
              </a:rPr>
              <a:t>G,u,w</a:t>
            </a:r>
            <a:r>
              <a:rPr lang="en-US" altLang="zh-CN" b="1" dirty="0">
                <a:solidFill>
                  <a:srgbClr val="0000FF"/>
                </a:solidFill>
                <a:ea typeface="楷体_GB2312" pitchFamily="49" charset="-122"/>
              </a:rPr>
              <a:t>))</a:t>
            </a:r>
            <a:endParaRPr lang="en-US" altLang="zh-CN" dirty="0">
              <a:ea typeface="楷体_GB2312" pitchFamily="49" charset="-122"/>
            </a:endParaRPr>
          </a:p>
          <a:p>
            <a:pPr>
              <a:lnSpc>
                <a:spcPct val="110000"/>
              </a:lnSpc>
            </a:pPr>
            <a:r>
              <a:rPr lang="en-US" altLang="zh-CN" dirty="0">
                <a:ea typeface="楷体_GB2312" pitchFamily="49" charset="-122"/>
              </a:rPr>
              <a:t>      </a:t>
            </a:r>
            <a:r>
              <a:rPr lang="en-US" altLang="zh-CN" b="1" dirty="0">
                <a:solidFill>
                  <a:srgbClr val="000099"/>
                </a:solidFill>
                <a:ea typeface="楷体_GB2312" pitchFamily="49" charset="-122"/>
              </a:rPr>
              <a:t>if </a:t>
            </a:r>
            <a:r>
              <a:rPr lang="en-US" altLang="zh-CN" dirty="0">
                <a:solidFill>
                  <a:srgbClr val="000099"/>
                </a:solidFill>
                <a:ea typeface="楷体_GB2312" pitchFamily="49" charset="-122"/>
              </a:rPr>
              <a:t>( </a:t>
            </a:r>
            <a:r>
              <a:rPr lang="en-US" altLang="zh-CN" b="1" dirty="0">
                <a:solidFill>
                  <a:srgbClr val="000099"/>
                </a:solidFill>
                <a:ea typeface="楷体_GB2312" pitchFamily="49" charset="-122"/>
              </a:rPr>
              <a:t>! </a:t>
            </a:r>
            <a:r>
              <a:rPr lang="en-US" altLang="zh-CN" dirty="0">
                <a:solidFill>
                  <a:srgbClr val="000099"/>
                </a:solidFill>
                <a:ea typeface="楷体_GB2312" pitchFamily="49" charset="-122"/>
              </a:rPr>
              <a:t>visited[w])</a:t>
            </a:r>
            <a:r>
              <a:rPr lang="en-US" altLang="zh-CN" dirty="0">
                <a:ea typeface="楷体_GB2312" pitchFamily="49" charset="-122"/>
              </a:rPr>
              <a:t>  </a:t>
            </a:r>
            <a:r>
              <a:rPr lang="en-US" altLang="zh-CN" dirty="0">
                <a:solidFill>
                  <a:srgbClr val="000099"/>
                </a:solidFill>
                <a:ea typeface="楷体_GB2312" pitchFamily="49" charset="-122"/>
              </a:rPr>
              <a:t>{</a:t>
            </a:r>
            <a:endParaRPr lang="en-US" altLang="zh-CN" dirty="0">
              <a:ea typeface="楷体_GB2312" pitchFamily="49" charset="-122"/>
            </a:endParaRPr>
          </a:p>
          <a:p>
            <a:pPr>
              <a:lnSpc>
                <a:spcPct val="110000"/>
              </a:lnSpc>
            </a:pPr>
            <a:r>
              <a:rPr lang="en-US" altLang="zh-CN" dirty="0">
                <a:ea typeface="楷体_GB2312" pitchFamily="49" charset="-122"/>
              </a:rPr>
              <a:t>         visited[w]=</a:t>
            </a:r>
            <a:r>
              <a:rPr lang="en-US" altLang="zh-CN" b="1" dirty="0">
                <a:ea typeface="楷体_GB2312" pitchFamily="49" charset="-122"/>
              </a:rPr>
              <a:t>TRUE</a:t>
            </a:r>
            <a:r>
              <a:rPr lang="en-US" altLang="zh-CN" dirty="0">
                <a:ea typeface="楷体_GB2312" pitchFamily="49" charset="-122"/>
              </a:rPr>
              <a:t>;  Visit(w);</a:t>
            </a:r>
            <a:endParaRPr lang="en-US" altLang="zh-CN" dirty="0">
              <a:ea typeface="楷体_GB2312" pitchFamily="49" charset="-122"/>
            </a:endParaRPr>
          </a:p>
          <a:p>
            <a:pPr>
              <a:lnSpc>
                <a:spcPct val="110000"/>
              </a:lnSpc>
            </a:pPr>
            <a:r>
              <a:rPr lang="en-US" altLang="zh-CN" dirty="0">
                <a:ea typeface="楷体_GB2312" pitchFamily="49" charset="-122"/>
              </a:rPr>
              <a:t>         </a:t>
            </a:r>
            <a:r>
              <a:rPr lang="en-US" altLang="zh-CN" dirty="0" err="1">
                <a:ea typeface="楷体_GB2312" pitchFamily="49" charset="-122"/>
              </a:rPr>
              <a:t>EnQueue</a:t>
            </a:r>
            <a:r>
              <a:rPr lang="en-US" altLang="zh-CN" dirty="0">
                <a:ea typeface="楷体_GB2312" pitchFamily="49" charset="-122"/>
              </a:rPr>
              <a:t>(Q, w);         </a:t>
            </a:r>
            <a:endParaRPr lang="en-US" altLang="zh-CN" dirty="0">
              <a:ea typeface="楷体_GB2312" pitchFamily="49" charset="-122"/>
            </a:endParaRPr>
          </a:p>
          <a:p>
            <a:pPr>
              <a:lnSpc>
                <a:spcPct val="110000"/>
              </a:lnSpc>
            </a:pPr>
            <a:r>
              <a:rPr lang="en-US" altLang="zh-CN" sz="2400" b="1" dirty="0">
                <a:solidFill>
                  <a:srgbClr val="006600"/>
                </a:solidFill>
                <a:ea typeface="楷体_GB2312" pitchFamily="49" charset="-122"/>
              </a:rPr>
              <a:t>// </a:t>
            </a:r>
            <a:r>
              <a:rPr lang="zh-CN" altLang="en-US" sz="2000" b="1" dirty="0">
                <a:solidFill>
                  <a:srgbClr val="006600"/>
                </a:solidFill>
                <a:ea typeface="楷体_GB2312" pitchFamily="49" charset="-122"/>
                <a:sym typeface="+mn-ea"/>
              </a:rPr>
              <a:t>The visited vertex w is added to the queue</a:t>
            </a:r>
            <a:endParaRPr lang="zh-CN" altLang="en-US" sz="2400" b="1" dirty="0">
              <a:solidFill>
                <a:srgbClr val="006600"/>
              </a:solidFill>
              <a:ea typeface="楷体_GB2312" pitchFamily="49" charset="-122"/>
            </a:endParaRPr>
          </a:p>
          <a:p>
            <a:pPr>
              <a:lnSpc>
                <a:spcPct val="110000"/>
              </a:lnSpc>
            </a:pPr>
            <a:r>
              <a:rPr lang="zh-CN" altLang="en-US" dirty="0">
                <a:solidFill>
                  <a:srgbClr val="000099"/>
                </a:solidFill>
                <a:ea typeface="楷体_GB2312" pitchFamily="49" charset="-122"/>
              </a:rPr>
              <a:t>      </a:t>
            </a:r>
            <a:r>
              <a:rPr lang="en-US" altLang="zh-CN" dirty="0">
                <a:solidFill>
                  <a:srgbClr val="000099"/>
                </a:solidFill>
                <a:ea typeface="楷体_GB2312" pitchFamily="49" charset="-122"/>
              </a:rPr>
              <a:t>} // if</a:t>
            </a:r>
            <a:endParaRPr lang="en-US" altLang="zh-CN" dirty="0">
              <a:solidFill>
                <a:srgbClr val="000099"/>
              </a:solidFill>
              <a:ea typeface="楷体_GB2312" pitchFamily="49" charset="-122"/>
            </a:endParaRPr>
          </a:p>
          <a:p>
            <a:pPr>
              <a:lnSpc>
                <a:spcPct val="110000"/>
              </a:lnSpc>
            </a:pPr>
            <a:r>
              <a:rPr lang="en-US" altLang="zh-CN" b="1" dirty="0">
                <a:solidFill>
                  <a:srgbClr val="000099"/>
                </a:solidFill>
                <a:ea typeface="楷体_GB2312" pitchFamily="49" charset="-122"/>
              </a:rPr>
              <a:t>} </a:t>
            </a:r>
            <a:r>
              <a:rPr lang="en-US" altLang="zh-CN" dirty="0">
                <a:solidFill>
                  <a:srgbClr val="000099"/>
                </a:solidFill>
                <a:ea typeface="楷体_GB2312" pitchFamily="49" charset="-122"/>
              </a:rPr>
              <a:t>// while</a:t>
            </a:r>
            <a:endParaRPr lang="en-US" altLang="zh-CN" dirty="0">
              <a:solidFill>
                <a:srgbClr val="000099"/>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23906"/>
                                        </p:tgtEl>
                                        <p:attrNameLst>
                                          <p:attrName>style.visibility</p:attrName>
                                        </p:attrNameLst>
                                      </p:cBhvr>
                                      <p:to>
                                        <p:strVal val="visible"/>
                                      </p:to>
                                    </p:set>
                                    <p:animEffect transition="in" filter="strips(downRight)">
                                      <p:cBhvr>
                                        <p:cTn id="7" dur="500"/>
                                        <p:tgtEl>
                                          <p:spTgt spid="123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ldLvl="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Example of traversing an application</a:t>
            </a:r>
            <a:endParaRPr lang="zh-CN" altLang="en-US" dirty="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
        <p:nvSpPr>
          <p:cNvPr id="6" name="Text Box 3">
            <a:hlinkClick r:id="" action="ppaction://hlinkshowjump?jump=nextslide"/>
          </p:cNvPr>
          <p:cNvSpPr txBox="1">
            <a:spLocks noChangeArrowheads="1"/>
          </p:cNvSpPr>
          <p:nvPr/>
        </p:nvSpPr>
        <p:spPr bwMode="auto">
          <a:xfrm>
            <a:off x="1111250" y="2025650"/>
            <a:ext cx="6889750" cy="127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a:solidFill>
                  <a:srgbClr val="000099"/>
                </a:solidFill>
                <a:ea typeface="楷体_GB2312" pitchFamily="49" charset="-122"/>
              </a:rPr>
              <a:t>1.</a:t>
            </a:r>
            <a:r>
              <a:rPr lang="zh-CN" altLang="en-US" sz="3200" b="1">
                <a:solidFill>
                  <a:srgbClr val="000099"/>
                </a:solidFill>
                <a:ea typeface="楷体_GB2312" pitchFamily="49" charset="-122"/>
              </a:rPr>
              <a:t>Find a path from vertex i to vertex s</a:t>
            </a:r>
            <a:endParaRPr lang="zh-CN" altLang="en-US" sz="5400" b="1">
              <a:solidFill>
                <a:srgbClr val="000099"/>
              </a:solidFill>
              <a:ea typeface="楷体_GB2312" pitchFamily="49" charset="-122"/>
            </a:endParaRPr>
          </a:p>
          <a:p>
            <a:pPr>
              <a:lnSpc>
                <a:spcPct val="120000"/>
              </a:lnSpc>
            </a:pPr>
            <a:r>
              <a:rPr lang="zh-CN" altLang="en-US" sz="3200" b="1">
                <a:solidFill>
                  <a:srgbClr val="000099"/>
                </a:solidFill>
                <a:ea typeface="楷体_GB2312" pitchFamily="49" charset="-122"/>
              </a:rPr>
              <a:t>simple path</a:t>
            </a:r>
            <a:endParaRPr lang="zh-CN" altLang="en-US" sz="3200" b="1">
              <a:solidFill>
                <a:srgbClr val="000099"/>
              </a:solidFill>
              <a:ea typeface="楷体_GB2312" pitchFamily="49" charset="-122"/>
            </a:endParaRPr>
          </a:p>
        </p:txBody>
      </p:sp>
      <p:sp>
        <p:nvSpPr>
          <p:cNvPr id="7" name="Text Box 4">
            <a:hlinkClick r:id="rId1" action="ppaction://hlinksldjump"/>
          </p:cNvPr>
          <p:cNvSpPr txBox="1">
            <a:spLocks noChangeArrowheads="1"/>
          </p:cNvSpPr>
          <p:nvPr/>
        </p:nvSpPr>
        <p:spPr bwMode="auto">
          <a:xfrm>
            <a:off x="1127125" y="3930650"/>
            <a:ext cx="6950075" cy="1272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a:solidFill>
                  <a:srgbClr val="000099"/>
                </a:solidFill>
                <a:ea typeface="楷体_GB2312" pitchFamily="49" charset="-122"/>
              </a:rPr>
              <a:t>2.</a:t>
            </a:r>
            <a:r>
              <a:rPr lang="zh-CN" altLang="en-US" sz="3200" b="1">
                <a:solidFill>
                  <a:srgbClr val="000099"/>
                </a:solidFill>
                <a:ea typeface="楷体_GB2312" pitchFamily="49" charset="-122"/>
              </a:rPr>
              <a:t>Find a path between two vertices</a:t>
            </a:r>
            <a:endParaRPr lang="zh-CN" altLang="en-US" sz="5400" b="1">
              <a:solidFill>
                <a:srgbClr val="0000FF"/>
              </a:solidFill>
              <a:ea typeface="楷体_GB2312" pitchFamily="49" charset="-122"/>
            </a:endParaRPr>
          </a:p>
          <a:p>
            <a:pPr>
              <a:lnSpc>
                <a:spcPct val="120000"/>
              </a:lnSpc>
            </a:pPr>
            <a:r>
              <a:rPr lang="zh-CN" altLang="en-US" sz="3200" b="1">
                <a:solidFill>
                  <a:srgbClr val="0000FF"/>
                </a:solidFill>
                <a:ea typeface="楷体_GB2312" pitchFamily="49" charset="-122"/>
              </a:rPr>
              <a:t>Shortest path</a:t>
            </a:r>
            <a:endParaRPr lang="zh-CN" altLang="en-US" sz="3200" b="1">
              <a:solidFill>
                <a:srgbClr val="0000FF"/>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419100" y="253425"/>
            <a:ext cx="85725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solidFill>
                  <a:srgbClr val="FF0000"/>
                </a:solidFill>
                <a:latin typeface="Arial" panose="020B0604020202020204" pitchFamily="34" charset="0"/>
                <a:ea typeface="楷体_GB2312" pitchFamily="49" charset="-122"/>
                <a:cs typeface="Arial" panose="020B0604020202020204" pitchFamily="34" charset="0"/>
              </a:rPr>
              <a:t>1.</a:t>
            </a:r>
            <a:r>
              <a:rPr lang="zh-CN" altLang="en-US" b="1" dirty="0">
                <a:solidFill>
                  <a:srgbClr val="FF0000"/>
                </a:solidFill>
                <a:latin typeface="Arial" panose="020B0604020202020204" pitchFamily="34" charset="0"/>
                <a:ea typeface="楷体_GB2312" pitchFamily="49" charset="-122"/>
                <a:cs typeface="Arial" panose="020B0604020202020204" pitchFamily="34" charset="0"/>
              </a:rPr>
              <a:t>Find a simple path from vertex i to vertex s</a:t>
            </a:r>
            <a:endParaRPr lang="zh-CN" altLang="en-US" b="1" dirty="0">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244739" name="Oval 3"/>
          <p:cNvSpPr>
            <a:spLocks noChangeArrowheads="1"/>
          </p:cNvSpPr>
          <p:nvPr/>
        </p:nvSpPr>
        <p:spPr bwMode="auto">
          <a:xfrm>
            <a:off x="6705600" y="2057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a</a:t>
            </a:r>
            <a:endParaRPr lang="en-US" altLang="zh-CN"/>
          </a:p>
        </p:txBody>
      </p:sp>
      <p:sp>
        <p:nvSpPr>
          <p:cNvPr id="244740" name="Oval 4"/>
          <p:cNvSpPr>
            <a:spLocks noChangeArrowheads="1"/>
          </p:cNvSpPr>
          <p:nvPr/>
        </p:nvSpPr>
        <p:spPr bwMode="auto">
          <a:xfrm>
            <a:off x="5562600" y="1295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b</a:t>
            </a:r>
            <a:endParaRPr lang="en-US" altLang="zh-CN"/>
          </a:p>
        </p:txBody>
      </p:sp>
      <p:sp>
        <p:nvSpPr>
          <p:cNvPr id="244741" name="Oval 5"/>
          <p:cNvSpPr>
            <a:spLocks noChangeArrowheads="1"/>
          </p:cNvSpPr>
          <p:nvPr/>
        </p:nvSpPr>
        <p:spPr bwMode="auto">
          <a:xfrm>
            <a:off x="4800600" y="3200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c</a:t>
            </a:r>
            <a:endParaRPr lang="en-US" altLang="zh-CN"/>
          </a:p>
        </p:txBody>
      </p:sp>
      <p:sp>
        <p:nvSpPr>
          <p:cNvPr id="244742" name="Oval 6"/>
          <p:cNvSpPr>
            <a:spLocks noChangeArrowheads="1"/>
          </p:cNvSpPr>
          <p:nvPr/>
        </p:nvSpPr>
        <p:spPr bwMode="auto">
          <a:xfrm>
            <a:off x="5638800" y="42672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h</a:t>
            </a:r>
            <a:endParaRPr lang="en-US" altLang="zh-CN"/>
          </a:p>
        </p:txBody>
      </p:sp>
      <p:sp>
        <p:nvSpPr>
          <p:cNvPr id="244743" name="Oval 7"/>
          <p:cNvSpPr>
            <a:spLocks noChangeArrowheads="1"/>
          </p:cNvSpPr>
          <p:nvPr/>
        </p:nvSpPr>
        <p:spPr bwMode="auto">
          <a:xfrm>
            <a:off x="6096000" y="3200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d</a:t>
            </a:r>
            <a:endParaRPr lang="en-US" altLang="zh-CN"/>
          </a:p>
        </p:txBody>
      </p:sp>
      <p:sp>
        <p:nvSpPr>
          <p:cNvPr id="244744" name="Oval 8"/>
          <p:cNvSpPr>
            <a:spLocks noChangeArrowheads="1"/>
          </p:cNvSpPr>
          <p:nvPr/>
        </p:nvSpPr>
        <p:spPr bwMode="auto">
          <a:xfrm>
            <a:off x="7239000" y="3200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e</a:t>
            </a:r>
            <a:endParaRPr lang="en-US" altLang="zh-CN"/>
          </a:p>
        </p:txBody>
      </p:sp>
      <p:sp>
        <p:nvSpPr>
          <p:cNvPr id="244745" name="Oval 9"/>
          <p:cNvSpPr>
            <a:spLocks noChangeArrowheads="1"/>
          </p:cNvSpPr>
          <p:nvPr/>
        </p:nvSpPr>
        <p:spPr bwMode="auto">
          <a:xfrm>
            <a:off x="7620000" y="42672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k</a:t>
            </a:r>
            <a:endParaRPr lang="en-US" altLang="zh-CN"/>
          </a:p>
        </p:txBody>
      </p:sp>
      <p:sp>
        <p:nvSpPr>
          <p:cNvPr id="244746" name="Oval 10"/>
          <p:cNvSpPr>
            <a:spLocks noChangeArrowheads="1"/>
          </p:cNvSpPr>
          <p:nvPr/>
        </p:nvSpPr>
        <p:spPr bwMode="auto">
          <a:xfrm>
            <a:off x="8458200" y="3200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f</a:t>
            </a:r>
            <a:endParaRPr lang="en-US" altLang="zh-CN"/>
          </a:p>
        </p:txBody>
      </p:sp>
      <p:sp>
        <p:nvSpPr>
          <p:cNvPr id="244747" name="Line 11"/>
          <p:cNvSpPr>
            <a:spLocks noChangeShapeType="1"/>
          </p:cNvSpPr>
          <p:nvPr/>
        </p:nvSpPr>
        <p:spPr bwMode="auto">
          <a:xfrm flipH="1">
            <a:off x="5105400" y="2286000"/>
            <a:ext cx="1600200" cy="9144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48" name="Line 12"/>
          <p:cNvSpPr>
            <a:spLocks noChangeShapeType="1"/>
          </p:cNvSpPr>
          <p:nvPr/>
        </p:nvSpPr>
        <p:spPr bwMode="auto">
          <a:xfrm>
            <a:off x="5105400" y="3657600"/>
            <a:ext cx="609600" cy="685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49" name="Line 13"/>
          <p:cNvSpPr>
            <a:spLocks noChangeShapeType="1"/>
          </p:cNvSpPr>
          <p:nvPr/>
        </p:nvSpPr>
        <p:spPr bwMode="auto">
          <a:xfrm>
            <a:off x="8153400" y="1219200"/>
            <a:ext cx="685800" cy="19812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0" name="Line 14"/>
          <p:cNvSpPr>
            <a:spLocks noChangeShapeType="1"/>
          </p:cNvSpPr>
          <p:nvPr/>
        </p:nvSpPr>
        <p:spPr bwMode="auto">
          <a:xfrm flipH="1">
            <a:off x="6400800" y="2438400"/>
            <a:ext cx="381000" cy="762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1" name="Line 15"/>
          <p:cNvSpPr>
            <a:spLocks noChangeShapeType="1"/>
          </p:cNvSpPr>
          <p:nvPr/>
        </p:nvSpPr>
        <p:spPr bwMode="auto">
          <a:xfrm flipH="1">
            <a:off x="5867400" y="3657600"/>
            <a:ext cx="304800" cy="6096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2" name="Line 16"/>
          <p:cNvSpPr>
            <a:spLocks noChangeShapeType="1"/>
          </p:cNvSpPr>
          <p:nvPr/>
        </p:nvSpPr>
        <p:spPr bwMode="auto">
          <a:xfrm>
            <a:off x="7620000" y="3581400"/>
            <a:ext cx="228600" cy="685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3" name="Line 17"/>
          <p:cNvSpPr>
            <a:spLocks noChangeShapeType="1"/>
          </p:cNvSpPr>
          <p:nvPr/>
        </p:nvSpPr>
        <p:spPr bwMode="auto">
          <a:xfrm>
            <a:off x="7162800" y="2438400"/>
            <a:ext cx="304800" cy="762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4" name="Line 18"/>
          <p:cNvSpPr>
            <a:spLocks noChangeShapeType="1"/>
          </p:cNvSpPr>
          <p:nvPr/>
        </p:nvSpPr>
        <p:spPr bwMode="auto">
          <a:xfrm>
            <a:off x="7239000" y="2286000"/>
            <a:ext cx="1447800" cy="9144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5" name="Line 19"/>
          <p:cNvSpPr>
            <a:spLocks noChangeShapeType="1"/>
          </p:cNvSpPr>
          <p:nvPr/>
        </p:nvSpPr>
        <p:spPr bwMode="auto">
          <a:xfrm flipH="1">
            <a:off x="8153400" y="3657600"/>
            <a:ext cx="609600" cy="762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6" name="Oval 20"/>
          <p:cNvSpPr>
            <a:spLocks noChangeArrowheads="1"/>
          </p:cNvSpPr>
          <p:nvPr/>
        </p:nvSpPr>
        <p:spPr bwMode="auto">
          <a:xfrm>
            <a:off x="7620000" y="9906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b="1">
                <a:solidFill>
                  <a:srgbClr val="800000"/>
                </a:solidFill>
              </a:rPr>
              <a:t>g</a:t>
            </a:r>
            <a:endParaRPr lang="en-US" altLang="zh-CN"/>
          </a:p>
        </p:txBody>
      </p:sp>
      <p:sp>
        <p:nvSpPr>
          <p:cNvPr id="244757" name="Line 21"/>
          <p:cNvSpPr>
            <a:spLocks noChangeShapeType="1"/>
          </p:cNvSpPr>
          <p:nvPr/>
        </p:nvSpPr>
        <p:spPr bwMode="auto">
          <a:xfrm flipV="1">
            <a:off x="6096000" y="1219200"/>
            <a:ext cx="1524000" cy="2286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8" name="Line 22"/>
          <p:cNvSpPr>
            <a:spLocks noChangeShapeType="1"/>
          </p:cNvSpPr>
          <p:nvPr/>
        </p:nvSpPr>
        <p:spPr bwMode="auto">
          <a:xfrm>
            <a:off x="6019800" y="1676400"/>
            <a:ext cx="762000" cy="4572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59" name="Line 23"/>
          <p:cNvSpPr>
            <a:spLocks noChangeShapeType="1"/>
          </p:cNvSpPr>
          <p:nvPr/>
        </p:nvSpPr>
        <p:spPr bwMode="auto">
          <a:xfrm flipH="1">
            <a:off x="7162800" y="1447800"/>
            <a:ext cx="609600" cy="685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60" name="Line 24"/>
          <p:cNvSpPr>
            <a:spLocks noChangeShapeType="1"/>
          </p:cNvSpPr>
          <p:nvPr/>
        </p:nvSpPr>
        <p:spPr bwMode="auto">
          <a:xfrm flipH="1">
            <a:off x="5029200" y="1524000"/>
            <a:ext cx="533400" cy="16764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61" name="Text Box 25"/>
          <p:cNvSpPr txBox="1">
            <a:spLocks noChangeArrowheads="1"/>
          </p:cNvSpPr>
          <p:nvPr/>
        </p:nvSpPr>
        <p:spPr bwMode="auto">
          <a:xfrm>
            <a:off x="179705" y="864235"/>
            <a:ext cx="45720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0082"/>
                </a:solidFill>
                <a:latin typeface="Arial" panose="020B0604020202020204" pitchFamily="34" charset="0"/>
                <a:ea typeface="隶书" panose="02010509060101010101" pitchFamily="49" charset="-122"/>
                <a:cs typeface="Arial" panose="020B0604020202020204" pitchFamily="34" charset="0"/>
                <a:sym typeface="+mn-ea"/>
              </a:rPr>
              <a:t>for instance ：</a:t>
            </a:r>
            <a:r>
              <a:rPr lang="zh-CN" altLang="en-US" sz="2400">
                <a:solidFill>
                  <a:srgbClr val="000082"/>
                </a:solidFill>
                <a:latin typeface="Arial" panose="020B0604020202020204" pitchFamily="34" charset="0"/>
                <a:ea typeface="隶书" panose="02010509060101010101" pitchFamily="49" charset="-122"/>
                <a:cs typeface="Arial" panose="020B0604020202020204" pitchFamily="34" charset="0"/>
              </a:rPr>
              <a:t>Find a simple path from vertex </a:t>
            </a:r>
            <a:r>
              <a:rPr lang="zh-CN" altLang="en-US" sz="2400">
                <a:solidFill>
                  <a:srgbClr val="FF0000"/>
                </a:solidFill>
                <a:latin typeface="Arial" panose="020B0604020202020204" pitchFamily="34" charset="0"/>
                <a:ea typeface="隶书" panose="02010509060101010101" pitchFamily="49" charset="-122"/>
                <a:cs typeface="Arial" panose="020B0604020202020204" pitchFamily="34" charset="0"/>
              </a:rPr>
              <a:t>b</a:t>
            </a:r>
            <a:r>
              <a:rPr lang="zh-CN" altLang="en-US" sz="2400">
                <a:solidFill>
                  <a:srgbClr val="000082"/>
                </a:solidFill>
                <a:latin typeface="Arial" panose="020B0604020202020204" pitchFamily="34" charset="0"/>
                <a:ea typeface="隶书" panose="02010509060101010101" pitchFamily="49" charset="-122"/>
                <a:cs typeface="Arial" panose="020B0604020202020204" pitchFamily="34" charset="0"/>
              </a:rPr>
              <a:t> to vertex </a:t>
            </a:r>
            <a:r>
              <a:rPr lang="zh-CN" altLang="en-US" sz="2400">
                <a:solidFill>
                  <a:srgbClr val="FF0000"/>
                </a:solidFill>
                <a:latin typeface="Arial" panose="020B0604020202020204" pitchFamily="34" charset="0"/>
                <a:ea typeface="隶书" panose="02010509060101010101" pitchFamily="49" charset="-122"/>
                <a:cs typeface="Arial" panose="020B0604020202020204" pitchFamily="34" charset="0"/>
              </a:rPr>
              <a:t>k</a:t>
            </a:r>
            <a:r>
              <a:rPr lang="zh-CN" altLang="en-US" sz="2400">
                <a:solidFill>
                  <a:srgbClr val="000082"/>
                </a:solidFill>
                <a:latin typeface="Arial" panose="020B0604020202020204" pitchFamily="34" charset="0"/>
                <a:ea typeface="隶书" panose="02010509060101010101" pitchFamily="49" charset="-122"/>
                <a:cs typeface="Arial" panose="020B0604020202020204" pitchFamily="34" charset="0"/>
              </a:rPr>
              <a:t>.</a:t>
            </a:r>
            <a:endParaRPr lang="zh-CN" altLang="en-US" sz="2400">
              <a:solidFill>
                <a:srgbClr val="000082"/>
              </a:solidFill>
              <a:latin typeface="Arial" panose="020B0604020202020204" pitchFamily="34" charset="0"/>
              <a:ea typeface="隶书" panose="02010509060101010101" pitchFamily="49" charset="-122"/>
              <a:cs typeface="Arial" panose="020B0604020202020204" pitchFamily="34" charset="0"/>
            </a:endParaRPr>
          </a:p>
        </p:txBody>
      </p:sp>
      <p:sp>
        <p:nvSpPr>
          <p:cNvPr id="244762" name="Rectangle 26"/>
          <p:cNvSpPr>
            <a:spLocks noChangeArrowheads="1"/>
          </p:cNvSpPr>
          <p:nvPr/>
        </p:nvSpPr>
        <p:spPr bwMode="auto">
          <a:xfrm>
            <a:off x="152400" y="1905000"/>
            <a:ext cx="44196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a:solidFill>
                  <a:srgbClr val="800000"/>
                </a:solidFill>
                <a:latin typeface="Arial" panose="020B0604020202020204" pitchFamily="34" charset="0"/>
                <a:ea typeface="隶书" panose="02010509060101010101" pitchFamily="49" charset="-122"/>
                <a:cs typeface="Arial" panose="020B0604020202020204" pitchFamily="34" charset="0"/>
              </a:rPr>
              <a:t>Perform a depth-first search traversal from vertex b.</a:t>
            </a:r>
            <a:endParaRPr lang="zh-CN" altLang="en-US" sz="2400">
              <a:solidFill>
                <a:srgbClr val="800000"/>
              </a:solidFill>
              <a:latin typeface="Arial" panose="020B0604020202020204" pitchFamily="34" charset="0"/>
              <a:ea typeface="隶书" panose="02010509060101010101" pitchFamily="49" charset="-122"/>
              <a:cs typeface="Arial" panose="020B0604020202020204" pitchFamily="34" charset="0"/>
            </a:endParaRPr>
          </a:p>
        </p:txBody>
      </p:sp>
      <p:sp>
        <p:nvSpPr>
          <p:cNvPr id="244764" name="Rectangle 28"/>
          <p:cNvSpPr>
            <a:spLocks noChangeArrowheads="1"/>
          </p:cNvSpPr>
          <p:nvPr/>
        </p:nvSpPr>
        <p:spPr bwMode="auto">
          <a:xfrm>
            <a:off x="107315" y="5256530"/>
            <a:ext cx="9023350"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dirty="0">
                <a:solidFill>
                  <a:srgbClr val="000082"/>
                </a:solidFill>
                <a:latin typeface="Arial" panose="020B0604020202020204" pitchFamily="34" charset="0"/>
                <a:ea typeface="隶书" panose="02010509060101010101" pitchFamily="49" charset="-122"/>
                <a:cs typeface="Arial" panose="020B0604020202020204" pitchFamily="34" charset="0"/>
              </a:rPr>
              <a:t>If the first adjacent node found is a, the resulting node access sequence is: </a:t>
            </a:r>
            <a:r>
              <a:rPr lang="en-US" altLang="zh-CN" b="1" dirty="0">
                <a:solidFill>
                  <a:srgbClr val="800000"/>
                </a:solidFill>
                <a:latin typeface="Arial" panose="020B0604020202020204" pitchFamily="34" charset="0"/>
                <a:ea typeface="隶书" panose="02010509060101010101" pitchFamily="49" charset="-122"/>
                <a:cs typeface="Arial" panose="020B0604020202020204" pitchFamily="34" charset="0"/>
                <a:sym typeface="+mn-ea"/>
              </a:rPr>
              <a:t>b</a:t>
            </a:r>
            <a:r>
              <a:rPr lang="en-US" altLang="zh-CN" dirty="0">
                <a:solidFill>
                  <a:srgbClr val="000082"/>
                </a:solidFill>
                <a:latin typeface="Arial" panose="020B0604020202020204" pitchFamily="34" charset="0"/>
                <a:ea typeface="隶书" panose="02010509060101010101" pitchFamily="49" charset="-122"/>
                <a:cs typeface="Arial" panose="020B0604020202020204" pitchFamily="34" charset="0"/>
                <a:sym typeface="+mn-ea"/>
              </a:rPr>
              <a:t>  </a:t>
            </a:r>
            <a:r>
              <a:rPr lang="en-US" altLang="zh-CN" dirty="0">
                <a:solidFill>
                  <a:srgbClr val="7800EE"/>
                </a:solidFill>
                <a:latin typeface="Arial" panose="020B0604020202020204" pitchFamily="34" charset="0"/>
                <a:ea typeface="隶书" panose="02010509060101010101" pitchFamily="49" charset="-122"/>
                <a:cs typeface="Arial" panose="020B0604020202020204" pitchFamily="34" charset="0"/>
                <a:sym typeface="+mn-ea"/>
              </a:rPr>
              <a:t>a</a:t>
            </a:r>
            <a:r>
              <a:rPr lang="en-US" altLang="zh-CN" dirty="0">
                <a:solidFill>
                  <a:srgbClr val="000082"/>
                </a:solidFill>
                <a:latin typeface="Arial" panose="020B0604020202020204" pitchFamily="34" charset="0"/>
                <a:ea typeface="隶书" panose="02010509060101010101" pitchFamily="49" charset="-122"/>
                <a:cs typeface="Arial" panose="020B0604020202020204" pitchFamily="34" charset="0"/>
                <a:sym typeface="+mn-ea"/>
              </a:rPr>
              <a:t>  d  h  c  </a:t>
            </a:r>
            <a:r>
              <a:rPr lang="en-US" altLang="zh-CN" dirty="0">
                <a:solidFill>
                  <a:srgbClr val="7800EE"/>
                </a:solidFill>
                <a:latin typeface="Arial" panose="020B0604020202020204" pitchFamily="34" charset="0"/>
                <a:ea typeface="隶书" panose="02010509060101010101" pitchFamily="49" charset="-122"/>
                <a:cs typeface="Arial" panose="020B0604020202020204" pitchFamily="34" charset="0"/>
                <a:sym typeface="+mn-ea"/>
              </a:rPr>
              <a:t>e</a:t>
            </a:r>
            <a:r>
              <a:rPr lang="en-US" altLang="zh-CN" dirty="0">
                <a:solidFill>
                  <a:srgbClr val="000082"/>
                </a:solidFill>
                <a:latin typeface="Arial" panose="020B0604020202020204" pitchFamily="34" charset="0"/>
                <a:ea typeface="隶书" panose="02010509060101010101" pitchFamily="49" charset="-122"/>
                <a:cs typeface="Arial" panose="020B0604020202020204" pitchFamily="34" charset="0"/>
                <a:sym typeface="+mn-ea"/>
              </a:rPr>
              <a:t>  </a:t>
            </a:r>
            <a:r>
              <a:rPr lang="en-US" altLang="zh-CN" b="1" dirty="0">
                <a:solidFill>
                  <a:srgbClr val="800000"/>
                </a:solidFill>
                <a:latin typeface="Arial" panose="020B0604020202020204" pitchFamily="34" charset="0"/>
                <a:ea typeface="隶书" panose="02010509060101010101" pitchFamily="49" charset="-122"/>
                <a:cs typeface="Arial" panose="020B0604020202020204" pitchFamily="34" charset="0"/>
                <a:sym typeface="+mn-ea"/>
              </a:rPr>
              <a:t>k</a:t>
            </a:r>
            <a:r>
              <a:rPr lang="en-US" altLang="zh-CN" dirty="0">
                <a:solidFill>
                  <a:srgbClr val="000082"/>
                </a:solidFill>
                <a:latin typeface="Arial" panose="020B0604020202020204" pitchFamily="34" charset="0"/>
                <a:ea typeface="隶书" panose="02010509060101010101" pitchFamily="49" charset="-122"/>
                <a:cs typeface="Arial" panose="020B0604020202020204" pitchFamily="34" charset="0"/>
                <a:sym typeface="+mn-ea"/>
              </a:rPr>
              <a:t>  f  g</a:t>
            </a:r>
            <a:r>
              <a:rPr lang="zh-CN" altLang="en-US" dirty="0">
                <a:solidFill>
                  <a:srgbClr val="000082"/>
                </a:solidFill>
                <a:latin typeface="Arial" panose="020B0604020202020204" pitchFamily="34" charset="0"/>
                <a:ea typeface="隶书" panose="02010509060101010101" pitchFamily="49" charset="-122"/>
                <a:cs typeface="Arial" panose="020B0604020202020204" pitchFamily="34" charset="0"/>
              </a:rPr>
              <a:t>.</a:t>
            </a:r>
            <a:endParaRPr lang="zh-CN" altLang="en-US" dirty="0">
              <a:solidFill>
                <a:srgbClr val="000082"/>
              </a:solidFill>
              <a:latin typeface="Arial" panose="020B0604020202020204" pitchFamily="34" charset="0"/>
              <a:ea typeface="隶书" panose="02010509060101010101" pitchFamily="49" charset="-122"/>
              <a:cs typeface="Arial" panose="020B0604020202020204" pitchFamily="34" charset="0"/>
            </a:endParaRPr>
          </a:p>
        </p:txBody>
      </p:sp>
      <p:sp>
        <p:nvSpPr>
          <p:cNvPr id="244766" name="Line 30"/>
          <p:cNvSpPr>
            <a:spLocks noChangeShapeType="1"/>
          </p:cNvSpPr>
          <p:nvPr/>
        </p:nvSpPr>
        <p:spPr bwMode="auto">
          <a:xfrm flipH="1">
            <a:off x="5029200" y="1524000"/>
            <a:ext cx="533400" cy="16764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67" name="Line 31"/>
          <p:cNvSpPr>
            <a:spLocks noChangeShapeType="1"/>
          </p:cNvSpPr>
          <p:nvPr/>
        </p:nvSpPr>
        <p:spPr bwMode="auto">
          <a:xfrm>
            <a:off x="5105400" y="3657600"/>
            <a:ext cx="609600" cy="685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68" name="Line 32"/>
          <p:cNvSpPr>
            <a:spLocks noChangeShapeType="1"/>
          </p:cNvSpPr>
          <p:nvPr/>
        </p:nvSpPr>
        <p:spPr bwMode="auto">
          <a:xfrm flipH="1">
            <a:off x="5867400" y="3657600"/>
            <a:ext cx="304800" cy="609600"/>
          </a:xfrm>
          <a:prstGeom prst="line">
            <a:avLst/>
          </a:prstGeom>
          <a:noFill/>
          <a:ln w="5715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69" name="Line 33"/>
          <p:cNvSpPr>
            <a:spLocks noChangeShapeType="1"/>
          </p:cNvSpPr>
          <p:nvPr/>
        </p:nvSpPr>
        <p:spPr bwMode="auto">
          <a:xfrm flipH="1">
            <a:off x="6400800" y="2438400"/>
            <a:ext cx="381000" cy="762000"/>
          </a:xfrm>
          <a:prstGeom prst="line">
            <a:avLst/>
          </a:prstGeom>
          <a:noFill/>
          <a:ln w="5715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0" name="Line 34"/>
          <p:cNvSpPr>
            <a:spLocks noChangeShapeType="1"/>
          </p:cNvSpPr>
          <p:nvPr/>
        </p:nvSpPr>
        <p:spPr bwMode="auto">
          <a:xfrm>
            <a:off x="7162800" y="2438400"/>
            <a:ext cx="304800" cy="7620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1" name="Line 35"/>
          <p:cNvSpPr>
            <a:spLocks noChangeShapeType="1"/>
          </p:cNvSpPr>
          <p:nvPr/>
        </p:nvSpPr>
        <p:spPr bwMode="auto">
          <a:xfrm>
            <a:off x="7620000" y="3581400"/>
            <a:ext cx="228600" cy="685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2" name="Line 36"/>
          <p:cNvSpPr>
            <a:spLocks noChangeShapeType="1"/>
          </p:cNvSpPr>
          <p:nvPr/>
        </p:nvSpPr>
        <p:spPr bwMode="auto">
          <a:xfrm>
            <a:off x="533400" y="5029200"/>
            <a:ext cx="2590800" cy="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3" name="Line 37"/>
          <p:cNvSpPr>
            <a:spLocks noChangeShapeType="1"/>
          </p:cNvSpPr>
          <p:nvPr/>
        </p:nvSpPr>
        <p:spPr bwMode="auto">
          <a:xfrm>
            <a:off x="6019800" y="1676400"/>
            <a:ext cx="762000" cy="4572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4" name="Line 38"/>
          <p:cNvSpPr>
            <a:spLocks noChangeShapeType="1"/>
          </p:cNvSpPr>
          <p:nvPr/>
        </p:nvSpPr>
        <p:spPr bwMode="auto">
          <a:xfrm>
            <a:off x="7239000" y="2362200"/>
            <a:ext cx="304800" cy="8382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5" name="Line 39"/>
          <p:cNvSpPr>
            <a:spLocks noChangeShapeType="1"/>
          </p:cNvSpPr>
          <p:nvPr/>
        </p:nvSpPr>
        <p:spPr bwMode="auto">
          <a:xfrm>
            <a:off x="7696200" y="3581400"/>
            <a:ext cx="228600" cy="6858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6" name="Line 40"/>
          <p:cNvSpPr>
            <a:spLocks noChangeShapeType="1"/>
          </p:cNvSpPr>
          <p:nvPr/>
        </p:nvSpPr>
        <p:spPr bwMode="auto">
          <a:xfrm>
            <a:off x="3491865" y="6309360"/>
            <a:ext cx="609600" cy="0"/>
          </a:xfrm>
          <a:prstGeom prst="line">
            <a:avLst/>
          </a:prstGeom>
          <a:noFill/>
          <a:ln w="3810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4777" name="Line 41"/>
          <p:cNvSpPr>
            <a:spLocks noChangeShapeType="1"/>
          </p:cNvSpPr>
          <p:nvPr/>
        </p:nvSpPr>
        <p:spPr bwMode="auto">
          <a:xfrm>
            <a:off x="5436235" y="6309360"/>
            <a:ext cx="685800" cy="0"/>
          </a:xfrm>
          <a:prstGeom prst="line">
            <a:avLst/>
          </a:prstGeom>
          <a:noFill/>
          <a:ln w="3810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
        <p:nvSpPr>
          <p:cNvPr id="2" name="页脚占位符 1"/>
          <p:cNvSpPr>
            <a:spLocks noGrp="1"/>
          </p:cNvSpPr>
          <p:nvPr>
            <p:ph type="ftr" sz="quarter" idx="10"/>
          </p:nvPr>
        </p:nvSpPr>
        <p:spPr>
          <a:xfrm>
            <a:off x="2772410" y="6381006"/>
            <a:ext cx="2895600" cy="360362"/>
          </a:xfrm>
        </p:spPr>
        <p:txBody>
          <a:bodyPr/>
          <a:lstStyle/>
          <a:p>
            <a:pPr>
              <a:defRPr/>
            </a:pPr>
            <a:r>
              <a:rPr lang="en-US" altLang="zh-CN"/>
              <a:t>©Haiyang Liu, 2025</a:t>
            </a:r>
            <a:endParaRPr lang="en-US" altLang="zh-CN" dirty="0"/>
          </a:p>
        </p:txBody>
      </p:sp>
      <p:sp>
        <p:nvSpPr>
          <p:cNvPr id="4" name="文本框 3"/>
          <p:cNvSpPr txBox="1"/>
          <p:nvPr/>
        </p:nvSpPr>
        <p:spPr>
          <a:xfrm>
            <a:off x="533400" y="2839720"/>
            <a:ext cx="4572000" cy="2245360"/>
          </a:xfrm>
          <a:prstGeom prst="rect">
            <a:avLst/>
          </a:prstGeom>
          <a:noFill/>
        </p:spPr>
        <p:txBody>
          <a:bodyPr wrap="square" rtlCol="0">
            <a:spAutoFit/>
          </a:bodyPr>
          <a:p>
            <a:r>
              <a:rPr lang="zh-CN" altLang="en-US">
                <a:solidFill>
                  <a:srgbClr val="000082"/>
                </a:solidFill>
                <a:latin typeface="Arial" panose="020B0604020202020204" pitchFamily="34" charset="0"/>
                <a:ea typeface="隶书" panose="02010509060101010101" pitchFamily="49" charset="-122"/>
                <a:cs typeface="Arial" panose="020B0604020202020204" pitchFamily="34" charset="0"/>
                <a:sym typeface="+mn-ea"/>
              </a:rPr>
              <a:t>Assuming the first adjacent node found is c, the resulting node access sequence is:</a:t>
            </a:r>
            <a:endParaRPr lang="en-US" altLang="zh-CN" sz="4800">
              <a:solidFill>
                <a:srgbClr val="000082"/>
              </a:solidFill>
              <a:latin typeface="Arial" panose="020B0604020202020204" pitchFamily="34" charset="0"/>
              <a:ea typeface="隶书" panose="02010509060101010101" pitchFamily="49" charset="-122"/>
              <a:cs typeface="Arial" panose="020B0604020202020204" pitchFamily="34" charset="0"/>
            </a:endParaRPr>
          </a:p>
          <a:p>
            <a:r>
              <a:rPr lang="en-US" altLang="zh-CN" b="1">
                <a:solidFill>
                  <a:srgbClr val="800000"/>
                </a:solidFill>
                <a:latin typeface="Arial" panose="020B0604020202020204" pitchFamily="34" charset="0"/>
                <a:ea typeface="隶书" panose="02010509060101010101" pitchFamily="49" charset="-122"/>
                <a:cs typeface="Arial" panose="020B0604020202020204" pitchFamily="34" charset="0"/>
                <a:sym typeface="+mn-ea"/>
              </a:rPr>
              <a:t>b</a:t>
            </a:r>
            <a:r>
              <a:rPr lang="en-US" altLang="zh-CN">
                <a:solidFill>
                  <a:srgbClr val="000082"/>
                </a:solidFill>
                <a:latin typeface="Arial" panose="020B0604020202020204" pitchFamily="34" charset="0"/>
                <a:ea typeface="隶书" panose="02010509060101010101" pitchFamily="49" charset="-122"/>
                <a:cs typeface="Arial" panose="020B0604020202020204" pitchFamily="34" charset="0"/>
                <a:sym typeface="+mn-ea"/>
              </a:rPr>
              <a:t>  </a:t>
            </a:r>
            <a:r>
              <a:rPr lang="en-US" altLang="zh-CN">
                <a:solidFill>
                  <a:srgbClr val="3333FF"/>
                </a:solidFill>
                <a:latin typeface="Arial" panose="020B0604020202020204" pitchFamily="34" charset="0"/>
                <a:ea typeface="隶书" panose="02010509060101010101" pitchFamily="49" charset="-122"/>
                <a:cs typeface="Arial" panose="020B0604020202020204" pitchFamily="34" charset="0"/>
                <a:sym typeface="+mn-ea"/>
              </a:rPr>
              <a:t>c  h  d  a  e</a:t>
            </a:r>
            <a:r>
              <a:rPr lang="en-US" altLang="zh-CN">
                <a:solidFill>
                  <a:srgbClr val="000082"/>
                </a:solidFill>
                <a:latin typeface="Arial" panose="020B0604020202020204" pitchFamily="34" charset="0"/>
                <a:ea typeface="隶书" panose="02010509060101010101" pitchFamily="49" charset="-122"/>
                <a:cs typeface="Arial" panose="020B0604020202020204" pitchFamily="34" charset="0"/>
                <a:sym typeface="+mn-ea"/>
              </a:rPr>
              <a:t>  </a:t>
            </a:r>
            <a:r>
              <a:rPr lang="en-US" altLang="zh-CN" b="1">
                <a:solidFill>
                  <a:srgbClr val="800000"/>
                </a:solidFill>
                <a:latin typeface="Arial" panose="020B0604020202020204" pitchFamily="34" charset="0"/>
                <a:ea typeface="隶书" panose="02010509060101010101" pitchFamily="49" charset="-122"/>
                <a:cs typeface="Arial" panose="020B0604020202020204" pitchFamily="34" charset="0"/>
                <a:sym typeface="+mn-ea"/>
              </a:rPr>
              <a:t>k</a:t>
            </a:r>
            <a:r>
              <a:rPr lang="en-US" altLang="zh-CN">
                <a:solidFill>
                  <a:srgbClr val="000082"/>
                </a:solidFill>
                <a:latin typeface="Arial" panose="020B0604020202020204" pitchFamily="34" charset="0"/>
                <a:ea typeface="隶书" panose="02010509060101010101" pitchFamily="49" charset="-122"/>
                <a:cs typeface="Arial" panose="020B0604020202020204" pitchFamily="34" charset="0"/>
                <a:sym typeface="+mn-ea"/>
              </a:rPr>
              <a:t>  f  g</a:t>
            </a:r>
            <a:r>
              <a:rPr lang="zh-CN" altLang="en-US">
                <a:solidFill>
                  <a:srgbClr val="000082"/>
                </a:solidFill>
                <a:latin typeface="Arial" panose="020B0604020202020204" pitchFamily="34" charset="0"/>
                <a:ea typeface="隶书" panose="02010509060101010101" pitchFamily="49" charset="-122"/>
                <a:cs typeface="Arial" panose="020B0604020202020204" pitchFamily="34" charset="0"/>
                <a:sym typeface="+mn-ea"/>
              </a:rPr>
              <a:t>，</a:t>
            </a:r>
            <a:endParaRPr lang="zh-CN" altLang="en-US">
              <a:solidFill>
                <a:srgbClr val="000082"/>
              </a:solidFill>
              <a:latin typeface="Arial" panose="020B0604020202020204" pitchFamily="34" charset="0"/>
              <a:ea typeface="隶书" panose="02010509060101010101"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4738"/>
                                        </p:tgtEl>
                                        <p:attrNameLst>
                                          <p:attrName>style.visibility</p:attrName>
                                        </p:attrNameLst>
                                      </p:cBhvr>
                                      <p:to>
                                        <p:strVal val="visible"/>
                                      </p:to>
                                    </p:set>
                                    <p:animEffect transition="in" filter="wipe(left)">
                                      <p:cBhvr>
                                        <p:cTn id="7" dur="500"/>
                                        <p:tgtEl>
                                          <p:spTgt spid="24473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44761"/>
                                        </p:tgtEl>
                                        <p:attrNameLst>
                                          <p:attrName>style.visibility</p:attrName>
                                        </p:attrNameLst>
                                      </p:cBhvr>
                                      <p:to>
                                        <p:strVal val="visible"/>
                                      </p:to>
                                    </p:set>
                                    <p:anim calcmode="lin" valueType="num">
                                      <p:cBhvr additive="base">
                                        <p:cTn id="11" dur="500" fill="hold"/>
                                        <p:tgtEl>
                                          <p:spTgt spid="244761"/>
                                        </p:tgtEl>
                                        <p:attrNameLst>
                                          <p:attrName>ppt_x</p:attrName>
                                        </p:attrNameLst>
                                      </p:cBhvr>
                                      <p:tavLst>
                                        <p:tav tm="0">
                                          <p:val>
                                            <p:strVal val="0-#ppt_w/2"/>
                                          </p:val>
                                        </p:tav>
                                        <p:tav tm="100000">
                                          <p:val>
                                            <p:strVal val="#ppt_x"/>
                                          </p:val>
                                        </p:tav>
                                      </p:tavLst>
                                    </p:anim>
                                    <p:anim calcmode="lin" valueType="num">
                                      <p:cBhvr additive="base">
                                        <p:cTn id="12" dur="500" fill="hold"/>
                                        <p:tgtEl>
                                          <p:spTgt spid="24476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4762"/>
                                        </p:tgtEl>
                                        <p:attrNameLst>
                                          <p:attrName>style.visibility</p:attrName>
                                        </p:attrNameLst>
                                      </p:cBhvr>
                                      <p:to>
                                        <p:strVal val="visible"/>
                                      </p:to>
                                    </p:set>
                                    <p:anim calcmode="lin" valueType="num">
                                      <p:cBhvr additive="base">
                                        <p:cTn id="17" dur="500" fill="hold"/>
                                        <p:tgtEl>
                                          <p:spTgt spid="244762"/>
                                        </p:tgtEl>
                                        <p:attrNameLst>
                                          <p:attrName>ppt_x</p:attrName>
                                        </p:attrNameLst>
                                      </p:cBhvr>
                                      <p:tavLst>
                                        <p:tav tm="0">
                                          <p:val>
                                            <p:strVal val="#ppt_x"/>
                                          </p:val>
                                        </p:tav>
                                        <p:tav tm="100000">
                                          <p:val>
                                            <p:strVal val="#ppt_x"/>
                                          </p:val>
                                        </p:tav>
                                      </p:tavLst>
                                    </p:anim>
                                    <p:anim calcmode="lin" valueType="num">
                                      <p:cBhvr additive="base">
                                        <p:cTn id="18" dur="500" fill="hold"/>
                                        <p:tgtEl>
                                          <p:spTgt spid="2447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44772"/>
                                        </p:tgtEl>
                                        <p:attrNameLst>
                                          <p:attrName>style.visibility</p:attrName>
                                        </p:attrNameLst>
                                      </p:cBhvr>
                                      <p:to>
                                        <p:strVal val="visible"/>
                                      </p:to>
                                    </p:set>
                                    <p:anim calcmode="lin" valueType="num">
                                      <p:cBhvr>
                                        <p:cTn id="23" dur="500" fill="hold"/>
                                        <p:tgtEl>
                                          <p:spTgt spid="244772"/>
                                        </p:tgtEl>
                                        <p:attrNameLst>
                                          <p:attrName>ppt_x</p:attrName>
                                        </p:attrNameLst>
                                      </p:cBhvr>
                                      <p:tavLst>
                                        <p:tav tm="0">
                                          <p:val>
                                            <p:strVal val="#ppt_x-#ppt_w/2"/>
                                          </p:val>
                                        </p:tav>
                                        <p:tav tm="100000">
                                          <p:val>
                                            <p:strVal val="#ppt_x"/>
                                          </p:val>
                                        </p:tav>
                                      </p:tavLst>
                                    </p:anim>
                                    <p:anim calcmode="lin" valueType="num">
                                      <p:cBhvr>
                                        <p:cTn id="24" dur="500" fill="hold"/>
                                        <p:tgtEl>
                                          <p:spTgt spid="244772"/>
                                        </p:tgtEl>
                                        <p:attrNameLst>
                                          <p:attrName>ppt_y</p:attrName>
                                        </p:attrNameLst>
                                      </p:cBhvr>
                                      <p:tavLst>
                                        <p:tav tm="0">
                                          <p:val>
                                            <p:strVal val="#ppt_y"/>
                                          </p:val>
                                        </p:tav>
                                        <p:tav tm="100000">
                                          <p:val>
                                            <p:strVal val="#ppt_y"/>
                                          </p:val>
                                        </p:tav>
                                      </p:tavLst>
                                    </p:anim>
                                    <p:anim calcmode="lin" valueType="num">
                                      <p:cBhvr>
                                        <p:cTn id="25" dur="500" fill="hold"/>
                                        <p:tgtEl>
                                          <p:spTgt spid="244772"/>
                                        </p:tgtEl>
                                        <p:attrNameLst>
                                          <p:attrName>ppt_w</p:attrName>
                                        </p:attrNameLst>
                                      </p:cBhvr>
                                      <p:tavLst>
                                        <p:tav tm="0">
                                          <p:val>
                                            <p:fltVal val="0"/>
                                          </p:val>
                                        </p:tav>
                                        <p:tav tm="100000">
                                          <p:val>
                                            <p:strVal val="#ppt_w"/>
                                          </p:val>
                                        </p:tav>
                                      </p:tavLst>
                                    </p:anim>
                                    <p:anim calcmode="lin" valueType="num">
                                      <p:cBhvr>
                                        <p:cTn id="26" dur="500" fill="hold"/>
                                        <p:tgtEl>
                                          <p:spTgt spid="244772"/>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17" presetClass="entr" presetSubtype="1" fill="hold" grpId="0" nodeType="afterEffect">
                                  <p:stCondLst>
                                    <p:cond delay="0"/>
                                  </p:stCondLst>
                                  <p:childTnLst>
                                    <p:set>
                                      <p:cBhvr>
                                        <p:cTn id="29" dur="1" fill="hold">
                                          <p:stCondLst>
                                            <p:cond delay="0"/>
                                          </p:stCondLst>
                                        </p:cTn>
                                        <p:tgtEl>
                                          <p:spTgt spid="244766"/>
                                        </p:tgtEl>
                                        <p:attrNameLst>
                                          <p:attrName>style.visibility</p:attrName>
                                        </p:attrNameLst>
                                      </p:cBhvr>
                                      <p:to>
                                        <p:strVal val="visible"/>
                                      </p:to>
                                    </p:set>
                                    <p:anim calcmode="lin" valueType="num">
                                      <p:cBhvr>
                                        <p:cTn id="30" dur="500" fill="hold"/>
                                        <p:tgtEl>
                                          <p:spTgt spid="244766"/>
                                        </p:tgtEl>
                                        <p:attrNameLst>
                                          <p:attrName>ppt_x</p:attrName>
                                        </p:attrNameLst>
                                      </p:cBhvr>
                                      <p:tavLst>
                                        <p:tav tm="0">
                                          <p:val>
                                            <p:strVal val="#ppt_x"/>
                                          </p:val>
                                        </p:tav>
                                        <p:tav tm="100000">
                                          <p:val>
                                            <p:strVal val="#ppt_x"/>
                                          </p:val>
                                        </p:tav>
                                      </p:tavLst>
                                    </p:anim>
                                    <p:anim calcmode="lin" valueType="num">
                                      <p:cBhvr>
                                        <p:cTn id="31" dur="500" fill="hold"/>
                                        <p:tgtEl>
                                          <p:spTgt spid="244766"/>
                                        </p:tgtEl>
                                        <p:attrNameLst>
                                          <p:attrName>ppt_y</p:attrName>
                                        </p:attrNameLst>
                                      </p:cBhvr>
                                      <p:tavLst>
                                        <p:tav tm="0">
                                          <p:val>
                                            <p:strVal val="#ppt_y-#ppt_h/2"/>
                                          </p:val>
                                        </p:tav>
                                        <p:tav tm="100000">
                                          <p:val>
                                            <p:strVal val="#ppt_y"/>
                                          </p:val>
                                        </p:tav>
                                      </p:tavLst>
                                    </p:anim>
                                    <p:anim calcmode="lin" valueType="num">
                                      <p:cBhvr>
                                        <p:cTn id="32" dur="500" fill="hold"/>
                                        <p:tgtEl>
                                          <p:spTgt spid="244766"/>
                                        </p:tgtEl>
                                        <p:attrNameLst>
                                          <p:attrName>ppt_w</p:attrName>
                                        </p:attrNameLst>
                                      </p:cBhvr>
                                      <p:tavLst>
                                        <p:tav tm="0">
                                          <p:val>
                                            <p:strVal val="#ppt_w"/>
                                          </p:val>
                                        </p:tav>
                                        <p:tav tm="100000">
                                          <p:val>
                                            <p:strVal val="#ppt_w"/>
                                          </p:val>
                                        </p:tav>
                                      </p:tavLst>
                                    </p:anim>
                                    <p:anim calcmode="lin" valueType="num">
                                      <p:cBhvr>
                                        <p:cTn id="33" dur="500" fill="hold"/>
                                        <p:tgtEl>
                                          <p:spTgt spid="244766"/>
                                        </p:tgtEl>
                                        <p:attrNameLst>
                                          <p:attrName>ppt_h</p:attrName>
                                        </p:attrNameLst>
                                      </p:cBhvr>
                                      <p:tavLst>
                                        <p:tav tm="0">
                                          <p:val>
                                            <p:fltVal val="0"/>
                                          </p:val>
                                        </p:tav>
                                        <p:tav tm="100000">
                                          <p:val>
                                            <p:strVal val="#ppt_h"/>
                                          </p:val>
                                        </p:tav>
                                      </p:tavLst>
                                    </p:anim>
                                  </p:childTnLst>
                                </p:cTn>
                              </p:par>
                            </p:childTnLst>
                          </p:cTn>
                        </p:par>
                        <p:par>
                          <p:cTn id="34" fill="hold">
                            <p:stCondLst>
                              <p:cond delay="1000"/>
                            </p:stCondLst>
                            <p:childTnLst>
                              <p:par>
                                <p:cTn id="35" presetID="17" presetClass="entr" presetSubtype="8" fill="hold" grpId="0" nodeType="afterEffect">
                                  <p:stCondLst>
                                    <p:cond delay="0"/>
                                  </p:stCondLst>
                                  <p:childTnLst>
                                    <p:set>
                                      <p:cBhvr>
                                        <p:cTn id="36" dur="1" fill="hold">
                                          <p:stCondLst>
                                            <p:cond delay="0"/>
                                          </p:stCondLst>
                                        </p:cTn>
                                        <p:tgtEl>
                                          <p:spTgt spid="244767"/>
                                        </p:tgtEl>
                                        <p:attrNameLst>
                                          <p:attrName>style.visibility</p:attrName>
                                        </p:attrNameLst>
                                      </p:cBhvr>
                                      <p:to>
                                        <p:strVal val="visible"/>
                                      </p:to>
                                    </p:set>
                                    <p:anim calcmode="lin" valueType="num">
                                      <p:cBhvr>
                                        <p:cTn id="37" dur="500" fill="hold"/>
                                        <p:tgtEl>
                                          <p:spTgt spid="244767"/>
                                        </p:tgtEl>
                                        <p:attrNameLst>
                                          <p:attrName>ppt_x</p:attrName>
                                        </p:attrNameLst>
                                      </p:cBhvr>
                                      <p:tavLst>
                                        <p:tav tm="0">
                                          <p:val>
                                            <p:strVal val="#ppt_x-#ppt_w/2"/>
                                          </p:val>
                                        </p:tav>
                                        <p:tav tm="100000">
                                          <p:val>
                                            <p:strVal val="#ppt_x"/>
                                          </p:val>
                                        </p:tav>
                                      </p:tavLst>
                                    </p:anim>
                                    <p:anim calcmode="lin" valueType="num">
                                      <p:cBhvr>
                                        <p:cTn id="38" dur="500" fill="hold"/>
                                        <p:tgtEl>
                                          <p:spTgt spid="244767"/>
                                        </p:tgtEl>
                                        <p:attrNameLst>
                                          <p:attrName>ppt_y</p:attrName>
                                        </p:attrNameLst>
                                      </p:cBhvr>
                                      <p:tavLst>
                                        <p:tav tm="0">
                                          <p:val>
                                            <p:strVal val="#ppt_y"/>
                                          </p:val>
                                        </p:tav>
                                        <p:tav tm="100000">
                                          <p:val>
                                            <p:strVal val="#ppt_y"/>
                                          </p:val>
                                        </p:tav>
                                      </p:tavLst>
                                    </p:anim>
                                    <p:anim calcmode="lin" valueType="num">
                                      <p:cBhvr>
                                        <p:cTn id="39" dur="500" fill="hold"/>
                                        <p:tgtEl>
                                          <p:spTgt spid="244767"/>
                                        </p:tgtEl>
                                        <p:attrNameLst>
                                          <p:attrName>ppt_w</p:attrName>
                                        </p:attrNameLst>
                                      </p:cBhvr>
                                      <p:tavLst>
                                        <p:tav tm="0">
                                          <p:val>
                                            <p:fltVal val="0"/>
                                          </p:val>
                                        </p:tav>
                                        <p:tav tm="100000">
                                          <p:val>
                                            <p:strVal val="#ppt_w"/>
                                          </p:val>
                                        </p:tav>
                                      </p:tavLst>
                                    </p:anim>
                                    <p:anim calcmode="lin" valueType="num">
                                      <p:cBhvr>
                                        <p:cTn id="40" dur="500" fill="hold"/>
                                        <p:tgtEl>
                                          <p:spTgt spid="244767"/>
                                        </p:tgtEl>
                                        <p:attrNameLst>
                                          <p:attrName>ppt_h</p:attrName>
                                        </p:attrNameLst>
                                      </p:cBhvr>
                                      <p:tavLst>
                                        <p:tav tm="0">
                                          <p:val>
                                            <p:strVal val="#ppt_h"/>
                                          </p:val>
                                        </p:tav>
                                        <p:tav tm="100000">
                                          <p:val>
                                            <p:strVal val="#ppt_h"/>
                                          </p:val>
                                        </p:tav>
                                      </p:tavLst>
                                    </p:anim>
                                  </p:childTnLst>
                                </p:cTn>
                              </p:par>
                            </p:childTnLst>
                          </p:cTn>
                        </p:par>
                        <p:par>
                          <p:cTn id="41" fill="hold">
                            <p:stCondLst>
                              <p:cond delay="1500"/>
                            </p:stCondLst>
                            <p:childTnLst>
                              <p:par>
                                <p:cTn id="42" presetID="17" presetClass="entr" presetSubtype="4" fill="hold" grpId="0" nodeType="afterEffect">
                                  <p:stCondLst>
                                    <p:cond delay="0"/>
                                  </p:stCondLst>
                                  <p:childTnLst>
                                    <p:set>
                                      <p:cBhvr>
                                        <p:cTn id="43" dur="1" fill="hold">
                                          <p:stCondLst>
                                            <p:cond delay="0"/>
                                          </p:stCondLst>
                                        </p:cTn>
                                        <p:tgtEl>
                                          <p:spTgt spid="244768"/>
                                        </p:tgtEl>
                                        <p:attrNameLst>
                                          <p:attrName>style.visibility</p:attrName>
                                        </p:attrNameLst>
                                      </p:cBhvr>
                                      <p:to>
                                        <p:strVal val="visible"/>
                                      </p:to>
                                    </p:set>
                                    <p:anim calcmode="lin" valueType="num">
                                      <p:cBhvr>
                                        <p:cTn id="44" dur="500" fill="hold"/>
                                        <p:tgtEl>
                                          <p:spTgt spid="244768"/>
                                        </p:tgtEl>
                                        <p:attrNameLst>
                                          <p:attrName>ppt_x</p:attrName>
                                        </p:attrNameLst>
                                      </p:cBhvr>
                                      <p:tavLst>
                                        <p:tav tm="0">
                                          <p:val>
                                            <p:strVal val="#ppt_x"/>
                                          </p:val>
                                        </p:tav>
                                        <p:tav tm="100000">
                                          <p:val>
                                            <p:strVal val="#ppt_x"/>
                                          </p:val>
                                        </p:tav>
                                      </p:tavLst>
                                    </p:anim>
                                    <p:anim calcmode="lin" valueType="num">
                                      <p:cBhvr>
                                        <p:cTn id="45" dur="500" fill="hold"/>
                                        <p:tgtEl>
                                          <p:spTgt spid="244768"/>
                                        </p:tgtEl>
                                        <p:attrNameLst>
                                          <p:attrName>ppt_y</p:attrName>
                                        </p:attrNameLst>
                                      </p:cBhvr>
                                      <p:tavLst>
                                        <p:tav tm="0">
                                          <p:val>
                                            <p:strVal val="#ppt_y+#ppt_h/2"/>
                                          </p:val>
                                        </p:tav>
                                        <p:tav tm="100000">
                                          <p:val>
                                            <p:strVal val="#ppt_y"/>
                                          </p:val>
                                        </p:tav>
                                      </p:tavLst>
                                    </p:anim>
                                    <p:anim calcmode="lin" valueType="num">
                                      <p:cBhvr>
                                        <p:cTn id="46" dur="500" fill="hold"/>
                                        <p:tgtEl>
                                          <p:spTgt spid="244768"/>
                                        </p:tgtEl>
                                        <p:attrNameLst>
                                          <p:attrName>ppt_w</p:attrName>
                                        </p:attrNameLst>
                                      </p:cBhvr>
                                      <p:tavLst>
                                        <p:tav tm="0">
                                          <p:val>
                                            <p:strVal val="#ppt_w"/>
                                          </p:val>
                                        </p:tav>
                                        <p:tav tm="100000">
                                          <p:val>
                                            <p:strVal val="#ppt_w"/>
                                          </p:val>
                                        </p:tav>
                                      </p:tavLst>
                                    </p:anim>
                                    <p:anim calcmode="lin" valueType="num">
                                      <p:cBhvr>
                                        <p:cTn id="47" dur="500" fill="hold"/>
                                        <p:tgtEl>
                                          <p:spTgt spid="244768"/>
                                        </p:tgtEl>
                                        <p:attrNameLst>
                                          <p:attrName>ppt_h</p:attrName>
                                        </p:attrNameLst>
                                      </p:cBhvr>
                                      <p:tavLst>
                                        <p:tav tm="0">
                                          <p:val>
                                            <p:fltVal val="0"/>
                                          </p:val>
                                        </p:tav>
                                        <p:tav tm="100000">
                                          <p:val>
                                            <p:strVal val="#ppt_h"/>
                                          </p:val>
                                        </p:tav>
                                      </p:tavLst>
                                    </p:anim>
                                  </p:childTnLst>
                                </p:cTn>
                              </p:par>
                            </p:childTnLst>
                          </p:cTn>
                        </p:par>
                        <p:par>
                          <p:cTn id="48" fill="hold">
                            <p:stCondLst>
                              <p:cond delay="2000"/>
                            </p:stCondLst>
                            <p:childTnLst>
                              <p:par>
                                <p:cTn id="49" presetID="17" presetClass="entr" presetSubtype="4" fill="hold" grpId="0" nodeType="afterEffect">
                                  <p:stCondLst>
                                    <p:cond delay="0"/>
                                  </p:stCondLst>
                                  <p:childTnLst>
                                    <p:set>
                                      <p:cBhvr>
                                        <p:cTn id="50" dur="1" fill="hold">
                                          <p:stCondLst>
                                            <p:cond delay="0"/>
                                          </p:stCondLst>
                                        </p:cTn>
                                        <p:tgtEl>
                                          <p:spTgt spid="244769"/>
                                        </p:tgtEl>
                                        <p:attrNameLst>
                                          <p:attrName>style.visibility</p:attrName>
                                        </p:attrNameLst>
                                      </p:cBhvr>
                                      <p:to>
                                        <p:strVal val="visible"/>
                                      </p:to>
                                    </p:set>
                                    <p:anim calcmode="lin" valueType="num">
                                      <p:cBhvr>
                                        <p:cTn id="51" dur="500" fill="hold"/>
                                        <p:tgtEl>
                                          <p:spTgt spid="244769"/>
                                        </p:tgtEl>
                                        <p:attrNameLst>
                                          <p:attrName>ppt_x</p:attrName>
                                        </p:attrNameLst>
                                      </p:cBhvr>
                                      <p:tavLst>
                                        <p:tav tm="0">
                                          <p:val>
                                            <p:strVal val="#ppt_x"/>
                                          </p:val>
                                        </p:tav>
                                        <p:tav tm="100000">
                                          <p:val>
                                            <p:strVal val="#ppt_x"/>
                                          </p:val>
                                        </p:tav>
                                      </p:tavLst>
                                    </p:anim>
                                    <p:anim calcmode="lin" valueType="num">
                                      <p:cBhvr>
                                        <p:cTn id="52" dur="500" fill="hold"/>
                                        <p:tgtEl>
                                          <p:spTgt spid="244769"/>
                                        </p:tgtEl>
                                        <p:attrNameLst>
                                          <p:attrName>ppt_y</p:attrName>
                                        </p:attrNameLst>
                                      </p:cBhvr>
                                      <p:tavLst>
                                        <p:tav tm="0">
                                          <p:val>
                                            <p:strVal val="#ppt_y+#ppt_h/2"/>
                                          </p:val>
                                        </p:tav>
                                        <p:tav tm="100000">
                                          <p:val>
                                            <p:strVal val="#ppt_y"/>
                                          </p:val>
                                        </p:tav>
                                      </p:tavLst>
                                    </p:anim>
                                    <p:anim calcmode="lin" valueType="num">
                                      <p:cBhvr>
                                        <p:cTn id="53" dur="500" fill="hold"/>
                                        <p:tgtEl>
                                          <p:spTgt spid="244769"/>
                                        </p:tgtEl>
                                        <p:attrNameLst>
                                          <p:attrName>ppt_w</p:attrName>
                                        </p:attrNameLst>
                                      </p:cBhvr>
                                      <p:tavLst>
                                        <p:tav tm="0">
                                          <p:val>
                                            <p:strVal val="#ppt_w"/>
                                          </p:val>
                                        </p:tav>
                                        <p:tav tm="100000">
                                          <p:val>
                                            <p:strVal val="#ppt_w"/>
                                          </p:val>
                                        </p:tav>
                                      </p:tavLst>
                                    </p:anim>
                                    <p:anim calcmode="lin" valueType="num">
                                      <p:cBhvr>
                                        <p:cTn id="54" dur="500" fill="hold"/>
                                        <p:tgtEl>
                                          <p:spTgt spid="244769"/>
                                        </p:tgtEl>
                                        <p:attrNameLst>
                                          <p:attrName>ppt_h</p:attrName>
                                        </p:attrNameLst>
                                      </p:cBhvr>
                                      <p:tavLst>
                                        <p:tav tm="0">
                                          <p:val>
                                            <p:fltVal val="0"/>
                                          </p:val>
                                        </p:tav>
                                        <p:tav tm="100000">
                                          <p:val>
                                            <p:strVal val="#ppt_h"/>
                                          </p:val>
                                        </p:tav>
                                      </p:tavLst>
                                    </p:anim>
                                  </p:childTnLst>
                                </p:cTn>
                              </p:par>
                            </p:childTnLst>
                          </p:cTn>
                        </p:par>
                        <p:par>
                          <p:cTn id="55" fill="hold">
                            <p:stCondLst>
                              <p:cond delay="2500"/>
                            </p:stCondLst>
                            <p:childTnLst>
                              <p:par>
                                <p:cTn id="56" presetID="17" presetClass="entr" presetSubtype="1" fill="hold" grpId="0" nodeType="afterEffect">
                                  <p:stCondLst>
                                    <p:cond delay="0"/>
                                  </p:stCondLst>
                                  <p:childTnLst>
                                    <p:set>
                                      <p:cBhvr>
                                        <p:cTn id="57" dur="1" fill="hold">
                                          <p:stCondLst>
                                            <p:cond delay="0"/>
                                          </p:stCondLst>
                                        </p:cTn>
                                        <p:tgtEl>
                                          <p:spTgt spid="244770"/>
                                        </p:tgtEl>
                                        <p:attrNameLst>
                                          <p:attrName>style.visibility</p:attrName>
                                        </p:attrNameLst>
                                      </p:cBhvr>
                                      <p:to>
                                        <p:strVal val="visible"/>
                                      </p:to>
                                    </p:set>
                                    <p:anim calcmode="lin" valueType="num">
                                      <p:cBhvr>
                                        <p:cTn id="58" dur="500" fill="hold"/>
                                        <p:tgtEl>
                                          <p:spTgt spid="244770"/>
                                        </p:tgtEl>
                                        <p:attrNameLst>
                                          <p:attrName>ppt_x</p:attrName>
                                        </p:attrNameLst>
                                      </p:cBhvr>
                                      <p:tavLst>
                                        <p:tav tm="0">
                                          <p:val>
                                            <p:strVal val="#ppt_x"/>
                                          </p:val>
                                        </p:tav>
                                        <p:tav tm="100000">
                                          <p:val>
                                            <p:strVal val="#ppt_x"/>
                                          </p:val>
                                        </p:tav>
                                      </p:tavLst>
                                    </p:anim>
                                    <p:anim calcmode="lin" valueType="num">
                                      <p:cBhvr>
                                        <p:cTn id="59" dur="500" fill="hold"/>
                                        <p:tgtEl>
                                          <p:spTgt spid="244770"/>
                                        </p:tgtEl>
                                        <p:attrNameLst>
                                          <p:attrName>ppt_y</p:attrName>
                                        </p:attrNameLst>
                                      </p:cBhvr>
                                      <p:tavLst>
                                        <p:tav tm="0">
                                          <p:val>
                                            <p:strVal val="#ppt_y-#ppt_h/2"/>
                                          </p:val>
                                        </p:tav>
                                        <p:tav tm="100000">
                                          <p:val>
                                            <p:strVal val="#ppt_y"/>
                                          </p:val>
                                        </p:tav>
                                      </p:tavLst>
                                    </p:anim>
                                    <p:anim calcmode="lin" valueType="num">
                                      <p:cBhvr>
                                        <p:cTn id="60" dur="500" fill="hold"/>
                                        <p:tgtEl>
                                          <p:spTgt spid="244770"/>
                                        </p:tgtEl>
                                        <p:attrNameLst>
                                          <p:attrName>ppt_w</p:attrName>
                                        </p:attrNameLst>
                                      </p:cBhvr>
                                      <p:tavLst>
                                        <p:tav tm="0">
                                          <p:val>
                                            <p:strVal val="#ppt_w"/>
                                          </p:val>
                                        </p:tav>
                                        <p:tav tm="100000">
                                          <p:val>
                                            <p:strVal val="#ppt_w"/>
                                          </p:val>
                                        </p:tav>
                                      </p:tavLst>
                                    </p:anim>
                                    <p:anim calcmode="lin" valueType="num">
                                      <p:cBhvr>
                                        <p:cTn id="61" dur="500" fill="hold"/>
                                        <p:tgtEl>
                                          <p:spTgt spid="244770"/>
                                        </p:tgtEl>
                                        <p:attrNameLst>
                                          <p:attrName>ppt_h</p:attrName>
                                        </p:attrNameLst>
                                      </p:cBhvr>
                                      <p:tavLst>
                                        <p:tav tm="0">
                                          <p:val>
                                            <p:fltVal val="0"/>
                                          </p:val>
                                        </p:tav>
                                        <p:tav tm="100000">
                                          <p:val>
                                            <p:strVal val="#ppt_h"/>
                                          </p:val>
                                        </p:tav>
                                      </p:tavLst>
                                    </p:anim>
                                  </p:childTnLst>
                                </p:cTn>
                              </p:par>
                            </p:childTnLst>
                          </p:cTn>
                        </p:par>
                        <p:par>
                          <p:cTn id="62" fill="hold">
                            <p:stCondLst>
                              <p:cond delay="3000"/>
                            </p:stCondLst>
                            <p:childTnLst>
                              <p:par>
                                <p:cTn id="63" presetID="17" presetClass="entr" presetSubtype="1" fill="hold" grpId="0" nodeType="afterEffect">
                                  <p:stCondLst>
                                    <p:cond delay="0"/>
                                  </p:stCondLst>
                                  <p:childTnLst>
                                    <p:set>
                                      <p:cBhvr>
                                        <p:cTn id="64" dur="1" fill="hold">
                                          <p:stCondLst>
                                            <p:cond delay="0"/>
                                          </p:stCondLst>
                                        </p:cTn>
                                        <p:tgtEl>
                                          <p:spTgt spid="244771"/>
                                        </p:tgtEl>
                                        <p:attrNameLst>
                                          <p:attrName>style.visibility</p:attrName>
                                        </p:attrNameLst>
                                      </p:cBhvr>
                                      <p:to>
                                        <p:strVal val="visible"/>
                                      </p:to>
                                    </p:set>
                                    <p:anim calcmode="lin" valueType="num">
                                      <p:cBhvr>
                                        <p:cTn id="65" dur="500" fill="hold"/>
                                        <p:tgtEl>
                                          <p:spTgt spid="244771"/>
                                        </p:tgtEl>
                                        <p:attrNameLst>
                                          <p:attrName>ppt_x</p:attrName>
                                        </p:attrNameLst>
                                      </p:cBhvr>
                                      <p:tavLst>
                                        <p:tav tm="0">
                                          <p:val>
                                            <p:strVal val="#ppt_x"/>
                                          </p:val>
                                        </p:tav>
                                        <p:tav tm="100000">
                                          <p:val>
                                            <p:strVal val="#ppt_x"/>
                                          </p:val>
                                        </p:tav>
                                      </p:tavLst>
                                    </p:anim>
                                    <p:anim calcmode="lin" valueType="num">
                                      <p:cBhvr>
                                        <p:cTn id="66" dur="500" fill="hold"/>
                                        <p:tgtEl>
                                          <p:spTgt spid="244771"/>
                                        </p:tgtEl>
                                        <p:attrNameLst>
                                          <p:attrName>ppt_y</p:attrName>
                                        </p:attrNameLst>
                                      </p:cBhvr>
                                      <p:tavLst>
                                        <p:tav tm="0">
                                          <p:val>
                                            <p:strVal val="#ppt_y-#ppt_h/2"/>
                                          </p:val>
                                        </p:tav>
                                        <p:tav tm="100000">
                                          <p:val>
                                            <p:strVal val="#ppt_y"/>
                                          </p:val>
                                        </p:tav>
                                      </p:tavLst>
                                    </p:anim>
                                    <p:anim calcmode="lin" valueType="num">
                                      <p:cBhvr>
                                        <p:cTn id="67" dur="500" fill="hold"/>
                                        <p:tgtEl>
                                          <p:spTgt spid="244771"/>
                                        </p:tgtEl>
                                        <p:attrNameLst>
                                          <p:attrName>ppt_w</p:attrName>
                                        </p:attrNameLst>
                                      </p:cBhvr>
                                      <p:tavLst>
                                        <p:tav tm="0">
                                          <p:val>
                                            <p:strVal val="#ppt_w"/>
                                          </p:val>
                                        </p:tav>
                                        <p:tav tm="100000">
                                          <p:val>
                                            <p:strVal val="#ppt_w"/>
                                          </p:val>
                                        </p:tav>
                                      </p:tavLst>
                                    </p:anim>
                                    <p:anim calcmode="lin" valueType="num">
                                      <p:cBhvr>
                                        <p:cTn id="68" dur="500" fill="hold"/>
                                        <p:tgtEl>
                                          <p:spTgt spid="244771"/>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44764"/>
                                        </p:tgtEl>
                                        <p:attrNameLst>
                                          <p:attrName>style.visibility</p:attrName>
                                        </p:attrNameLst>
                                      </p:cBhvr>
                                      <p:to>
                                        <p:strVal val="visible"/>
                                      </p:to>
                                    </p:set>
                                    <p:anim calcmode="lin" valueType="num">
                                      <p:cBhvr additive="base">
                                        <p:cTn id="73" dur="500" fill="hold"/>
                                        <p:tgtEl>
                                          <p:spTgt spid="244764"/>
                                        </p:tgtEl>
                                        <p:attrNameLst>
                                          <p:attrName>ppt_x</p:attrName>
                                        </p:attrNameLst>
                                      </p:cBhvr>
                                      <p:tavLst>
                                        <p:tav tm="0">
                                          <p:val>
                                            <p:strVal val="0-#ppt_w/2"/>
                                          </p:val>
                                        </p:tav>
                                        <p:tav tm="100000">
                                          <p:val>
                                            <p:strVal val="#ppt_x"/>
                                          </p:val>
                                        </p:tav>
                                      </p:tavLst>
                                    </p:anim>
                                    <p:anim calcmode="lin" valueType="num">
                                      <p:cBhvr additive="base">
                                        <p:cTn id="74" dur="500" fill="hold"/>
                                        <p:tgtEl>
                                          <p:spTgt spid="244764"/>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8" fill="hold" grpId="0" nodeType="clickEffect">
                                  <p:stCondLst>
                                    <p:cond delay="0"/>
                                  </p:stCondLst>
                                  <p:childTnLst>
                                    <p:set>
                                      <p:cBhvr>
                                        <p:cTn id="78" dur="1" fill="hold">
                                          <p:stCondLst>
                                            <p:cond delay="0"/>
                                          </p:stCondLst>
                                        </p:cTn>
                                        <p:tgtEl>
                                          <p:spTgt spid="244776"/>
                                        </p:tgtEl>
                                        <p:attrNameLst>
                                          <p:attrName>style.visibility</p:attrName>
                                        </p:attrNameLst>
                                      </p:cBhvr>
                                      <p:to>
                                        <p:strVal val="visible"/>
                                      </p:to>
                                    </p:set>
                                    <p:anim calcmode="lin" valueType="num">
                                      <p:cBhvr>
                                        <p:cTn id="79" dur="500" fill="hold"/>
                                        <p:tgtEl>
                                          <p:spTgt spid="244776"/>
                                        </p:tgtEl>
                                        <p:attrNameLst>
                                          <p:attrName>ppt_x</p:attrName>
                                        </p:attrNameLst>
                                      </p:cBhvr>
                                      <p:tavLst>
                                        <p:tav tm="0">
                                          <p:val>
                                            <p:strVal val="#ppt_x-#ppt_w/2"/>
                                          </p:val>
                                        </p:tav>
                                        <p:tav tm="100000">
                                          <p:val>
                                            <p:strVal val="#ppt_x"/>
                                          </p:val>
                                        </p:tav>
                                      </p:tavLst>
                                    </p:anim>
                                    <p:anim calcmode="lin" valueType="num">
                                      <p:cBhvr>
                                        <p:cTn id="80" dur="500" fill="hold"/>
                                        <p:tgtEl>
                                          <p:spTgt spid="244776"/>
                                        </p:tgtEl>
                                        <p:attrNameLst>
                                          <p:attrName>ppt_y</p:attrName>
                                        </p:attrNameLst>
                                      </p:cBhvr>
                                      <p:tavLst>
                                        <p:tav tm="0">
                                          <p:val>
                                            <p:strVal val="#ppt_y"/>
                                          </p:val>
                                        </p:tav>
                                        <p:tav tm="100000">
                                          <p:val>
                                            <p:strVal val="#ppt_y"/>
                                          </p:val>
                                        </p:tav>
                                      </p:tavLst>
                                    </p:anim>
                                    <p:anim calcmode="lin" valueType="num">
                                      <p:cBhvr>
                                        <p:cTn id="81" dur="500" fill="hold"/>
                                        <p:tgtEl>
                                          <p:spTgt spid="244776"/>
                                        </p:tgtEl>
                                        <p:attrNameLst>
                                          <p:attrName>ppt_w</p:attrName>
                                        </p:attrNameLst>
                                      </p:cBhvr>
                                      <p:tavLst>
                                        <p:tav tm="0">
                                          <p:val>
                                            <p:fltVal val="0"/>
                                          </p:val>
                                        </p:tav>
                                        <p:tav tm="100000">
                                          <p:val>
                                            <p:strVal val="#ppt_w"/>
                                          </p:val>
                                        </p:tav>
                                      </p:tavLst>
                                    </p:anim>
                                    <p:anim calcmode="lin" valueType="num">
                                      <p:cBhvr>
                                        <p:cTn id="82" dur="500" fill="hold"/>
                                        <p:tgtEl>
                                          <p:spTgt spid="244776"/>
                                        </p:tgtEl>
                                        <p:attrNameLst>
                                          <p:attrName>ppt_h</p:attrName>
                                        </p:attrNameLst>
                                      </p:cBhvr>
                                      <p:tavLst>
                                        <p:tav tm="0">
                                          <p:val>
                                            <p:strVal val="#ppt_h"/>
                                          </p:val>
                                        </p:tav>
                                        <p:tav tm="100000">
                                          <p:val>
                                            <p:strVal val="#ppt_h"/>
                                          </p:val>
                                        </p:tav>
                                      </p:tavLst>
                                    </p:anim>
                                  </p:childTnLst>
                                </p:cTn>
                              </p:par>
                            </p:childTnLst>
                          </p:cTn>
                        </p:par>
                        <p:par>
                          <p:cTn id="83" fill="hold">
                            <p:stCondLst>
                              <p:cond delay="500"/>
                            </p:stCondLst>
                            <p:childTnLst>
                              <p:par>
                                <p:cTn id="84" presetID="17" presetClass="entr" presetSubtype="8" fill="hold" grpId="0" nodeType="afterEffect">
                                  <p:stCondLst>
                                    <p:cond delay="0"/>
                                  </p:stCondLst>
                                  <p:childTnLst>
                                    <p:set>
                                      <p:cBhvr>
                                        <p:cTn id="85" dur="1" fill="hold">
                                          <p:stCondLst>
                                            <p:cond delay="0"/>
                                          </p:stCondLst>
                                        </p:cTn>
                                        <p:tgtEl>
                                          <p:spTgt spid="244777"/>
                                        </p:tgtEl>
                                        <p:attrNameLst>
                                          <p:attrName>style.visibility</p:attrName>
                                        </p:attrNameLst>
                                      </p:cBhvr>
                                      <p:to>
                                        <p:strVal val="visible"/>
                                      </p:to>
                                    </p:set>
                                    <p:anim calcmode="lin" valueType="num">
                                      <p:cBhvr>
                                        <p:cTn id="86" dur="500" fill="hold"/>
                                        <p:tgtEl>
                                          <p:spTgt spid="244777"/>
                                        </p:tgtEl>
                                        <p:attrNameLst>
                                          <p:attrName>ppt_x</p:attrName>
                                        </p:attrNameLst>
                                      </p:cBhvr>
                                      <p:tavLst>
                                        <p:tav tm="0">
                                          <p:val>
                                            <p:strVal val="#ppt_x-#ppt_w/2"/>
                                          </p:val>
                                        </p:tav>
                                        <p:tav tm="100000">
                                          <p:val>
                                            <p:strVal val="#ppt_x"/>
                                          </p:val>
                                        </p:tav>
                                      </p:tavLst>
                                    </p:anim>
                                    <p:anim calcmode="lin" valueType="num">
                                      <p:cBhvr>
                                        <p:cTn id="87" dur="500" fill="hold"/>
                                        <p:tgtEl>
                                          <p:spTgt spid="244777"/>
                                        </p:tgtEl>
                                        <p:attrNameLst>
                                          <p:attrName>ppt_y</p:attrName>
                                        </p:attrNameLst>
                                      </p:cBhvr>
                                      <p:tavLst>
                                        <p:tav tm="0">
                                          <p:val>
                                            <p:strVal val="#ppt_y"/>
                                          </p:val>
                                        </p:tav>
                                        <p:tav tm="100000">
                                          <p:val>
                                            <p:strVal val="#ppt_y"/>
                                          </p:val>
                                        </p:tav>
                                      </p:tavLst>
                                    </p:anim>
                                    <p:anim calcmode="lin" valueType="num">
                                      <p:cBhvr>
                                        <p:cTn id="88" dur="500" fill="hold"/>
                                        <p:tgtEl>
                                          <p:spTgt spid="244777"/>
                                        </p:tgtEl>
                                        <p:attrNameLst>
                                          <p:attrName>ppt_w</p:attrName>
                                        </p:attrNameLst>
                                      </p:cBhvr>
                                      <p:tavLst>
                                        <p:tav tm="0">
                                          <p:val>
                                            <p:fltVal val="0"/>
                                          </p:val>
                                        </p:tav>
                                        <p:tav tm="100000">
                                          <p:val>
                                            <p:strVal val="#ppt_w"/>
                                          </p:val>
                                        </p:tav>
                                      </p:tavLst>
                                    </p:anim>
                                    <p:anim calcmode="lin" valueType="num">
                                      <p:cBhvr>
                                        <p:cTn id="89" dur="500" fill="hold"/>
                                        <p:tgtEl>
                                          <p:spTgt spid="244777"/>
                                        </p:tgtEl>
                                        <p:attrNameLst>
                                          <p:attrName>ppt_h</p:attrName>
                                        </p:attrNameLst>
                                      </p:cBhvr>
                                      <p:tavLst>
                                        <p:tav tm="0">
                                          <p:val>
                                            <p:strVal val="#ppt_h"/>
                                          </p:val>
                                        </p:tav>
                                        <p:tav tm="100000">
                                          <p:val>
                                            <p:strVal val="#ppt_h"/>
                                          </p:val>
                                        </p:tav>
                                      </p:tavLst>
                                    </p:anim>
                                  </p:childTnLst>
                                </p:cTn>
                              </p:par>
                            </p:childTnLst>
                          </p:cTn>
                        </p:par>
                        <p:par>
                          <p:cTn id="90" fill="hold">
                            <p:stCondLst>
                              <p:cond delay="1000"/>
                            </p:stCondLst>
                            <p:childTnLst>
                              <p:par>
                                <p:cTn id="91" presetID="17" presetClass="entr" presetSubtype="1" fill="hold" grpId="0" nodeType="afterEffect">
                                  <p:stCondLst>
                                    <p:cond delay="0"/>
                                  </p:stCondLst>
                                  <p:childTnLst>
                                    <p:set>
                                      <p:cBhvr>
                                        <p:cTn id="92" dur="1" fill="hold">
                                          <p:stCondLst>
                                            <p:cond delay="0"/>
                                          </p:stCondLst>
                                        </p:cTn>
                                        <p:tgtEl>
                                          <p:spTgt spid="244773"/>
                                        </p:tgtEl>
                                        <p:attrNameLst>
                                          <p:attrName>style.visibility</p:attrName>
                                        </p:attrNameLst>
                                      </p:cBhvr>
                                      <p:to>
                                        <p:strVal val="visible"/>
                                      </p:to>
                                    </p:set>
                                    <p:anim calcmode="lin" valueType="num">
                                      <p:cBhvr>
                                        <p:cTn id="93" dur="500" fill="hold"/>
                                        <p:tgtEl>
                                          <p:spTgt spid="244773"/>
                                        </p:tgtEl>
                                        <p:attrNameLst>
                                          <p:attrName>ppt_x</p:attrName>
                                        </p:attrNameLst>
                                      </p:cBhvr>
                                      <p:tavLst>
                                        <p:tav tm="0">
                                          <p:val>
                                            <p:strVal val="#ppt_x"/>
                                          </p:val>
                                        </p:tav>
                                        <p:tav tm="100000">
                                          <p:val>
                                            <p:strVal val="#ppt_x"/>
                                          </p:val>
                                        </p:tav>
                                      </p:tavLst>
                                    </p:anim>
                                    <p:anim calcmode="lin" valueType="num">
                                      <p:cBhvr>
                                        <p:cTn id="94" dur="500" fill="hold"/>
                                        <p:tgtEl>
                                          <p:spTgt spid="244773"/>
                                        </p:tgtEl>
                                        <p:attrNameLst>
                                          <p:attrName>ppt_y</p:attrName>
                                        </p:attrNameLst>
                                      </p:cBhvr>
                                      <p:tavLst>
                                        <p:tav tm="0">
                                          <p:val>
                                            <p:strVal val="#ppt_y-#ppt_h/2"/>
                                          </p:val>
                                        </p:tav>
                                        <p:tav tm="100000">
                                          <p:val>
                                            <p:strVal val="#ppt_y"/>
                                          </p:val>
                                        </p:tav>
                                      </p:tavLst>
                                    </p:anim>
                                    <p:anim calcmode="lin" valueType="num">
                                      <p:cBhvr>
                                        <p:cTn id="95" dur="500" fill="hold"/>
                                        <p:tgtEl>
                                          <p:spTgt spid="244773"/>
                                        </p:tgtEl>
                                        <p:attrNameLst>
                                          <p:attrName>ppt_w</p:attrName>
                                        </p:attrNameLst>
                                      </p:cBhvr>
                                      <p:tavLst>
                                        <p:tav tm="0">
                                          <p:val>
                                            <p:strVal val="#ppt_w"/>
                                          </p:val>
                                        </p:tav>
                                        <p:tav tm="100000">
                                          <p:val>
                                            <p:strVal val="#ppt_w"/>
                                          </p:val>
                                        </p:tav>
                                      </p:tavLst>
                                    </p:anim>
                                    <p:anim calcmode="lin" valueType="num">
                                      <p:cBhvr>
                                        <p:cTn id="96" dur="500" fill="hold"/>
                                        <p:tgtEl>
                                          <p:spTgt spid="244773"/>
                                        </p:tgtEl>
                                        <p:attrNameLst>
                                          <p:attrName>ppt_h</p:attrName>
                                        </p:attrNameLst>
                                      </p:cBhvr>
                                      <p:tavLst>
                                        <p:tav tm="0">
                                          <p:val>
                                            <p:fltVal val="0"/>
                                          </p:val>
                                        </p:tav>
                                        <p:tav tm="100000">
                                          <p:val>
                                            <p:strVal val="#ppt_h"/>
                                          </p:val>
                                        </p:tav>
                                      </p:tavLst>
                                    </p:anim>
                                  </p:childTnLst>
                                </p:cTn>
                              </p:par>
                            </p:childTnLst>
                          </p:cTn>
                        </p:par>
                        <p:par>
                          <p:cTn id="97" fill="hold">
                            <p:stCondLst>
                              <p:cond delay="1500"/>
                            </p:stCondLst>
                            <p:childTnLst>
                              <p:par>
                                <p:cTn id="98" presetID="17" presetClass="entr" presetSubtype="1" fill="hold" grpId="0" nodeType="afterEffect">
                                  <p:stCondLst>
                                    <p:cond delay="0"/>
                                  </p:stCondLst>
                                  <p:childTnLst>
                                    <p:set>
                                      <p:cBhvr>
                                        <p:cTn id="99" dur="1" fill="hold">
                                          <p:stCondLst>
                                            <p:cond delay="0"/>
                                          </p:stCondLst>
                                        </p:cTn>
                                        <p:tgtEl>
                                          <p:spTgt spid="244774"/>
                                        </p:tgtEl>
                                        <p:attrNameLst>
                                          <p:attrName>style.visibility</p:attrName>
                                        </p:attrNameLst>
                                      </p:cBhvr>
                                      <p:to>
                                        <p:strVal val="visible"/>
                                      </p:to>
                                    </p:set>
                                    <p:anim calcmode="lin" valueType="num">
                                      <p:cBhvr>
                                        <p:cTn id="100" dur="500" fill="hold"/>
                                        <p:tgtEl>
                                          <p:spTgt spid="244774"/>
                                        </p:tgtEl>
                                        <p:attrNameLst>
                                          <p:attrName>ppt_x</p:attrName>
                                        </p:attrNameLst>
                                      </p:cBhvr>
                                      <p:tavLst>
                                        <p:tav tm="0">
                                          <p:val>
                                            <p:strVal val="#ppt_x"/>
                                          </p:val>
                                        </p:tav>
                                        <p:tav tm="100000">
                                          <p:val>
                                            <p:strVal val="#ppt_x"/>
                                          </p:val>
                                        </p:tav>
                                      </p:tavLst>
                                    </p:anim>
                                    <p:anim calcmode="lin" valueType="num">
                                      <p:cBhvr>
                                        <p:cTn id="101" dur="500" fill="hold"/>
                                        <p:tgtEl>
                                          <p:spTgt spid="244774"/>
                                        </p:tgtEl>
                                        <p:attrNameLst>
                                          <p:attrName>ppt_y</p:attrName>
                                        </p:attrNameLst>
                                      </p:cBhvr>
                                      <p:tavLst>
                                        <p:tav tm="0">
                                          <p:val>
                                            <p:strVal val="#ppt_y-#ppt_h/2"/>
                                          </p:val>
                                        </p:tav>
                                        <p:tav tm="100000">
                                          <p:val>
                                            <p:strVal val="#ppt_y"/>
                                          </p:val>
                                        </p:tav>
                                      </p:tavLst>
                                    </p:anim>
                                    <p:anim calcmode="lin" valueType="num">
                                      <p:cBhvr>
                                        <p:cTn id="102" dur="500" fill="hold"/>
                                        <p:tgtEl>
                                          <p:spTgt spid="244774"/>
                                        </p:tgtEl>
                                        <p:attrNameLst>
                                          <p:attrName>ppt_w</p:attrName>
                                        </p:attrNameLst>
                                      </p:cBhvr>
                                      <p:tavLst>
                                        <p:tav tm="0">
                                          <p:val>
                                            <p:strVal val="#ppt_w"/>
                                          </p:val>
                                        </p:tav>
                                        <p:tav tm="100000">
                                          <p:val>
                                            <p:strVal val="#ppt_w"/>
                                          </p:val>
                                        </p:tav>
                                      </p:tavLst>
                                    </p:anim>
                                    <p:anim calcmode="lin" valueType="num">
                                      <p:cBhvr>
                                        <p:cTn id="103" dur="500" fill="hold"/>
                                        <p:tgtEl>
                                          <p:spTgt spid="244774"/>
                                        </p:tgtEl>
                                        <p:attrNameLst>
                                          <p:attrName>ppt_h</p:attrName>
                                        </p:attrNameLst>
                                      </p:cBhvr>
                                      <p:tavLst>
                                        <p:tav tm="0">
                                          <p:val>
                                            <p:fltVal val="0"/>
                                          </p:val>
                                        </p:tav>
                                        <p:tav tm="100000">
                                          <p:val>
                                            <p:strVal val="#ppt_h"/>
                                          </p:val>
                                        </p:tav>
                                      </p:tavLst>
                                    </p:anim>
                                  </p:childTnLst>
                                </p:cTn>
                              </p:par>
                            </p:childTnLst>
                          </p:cTn>
                        </p:par>
                        <p:par>
                          <p:cTn id="104" fill="hold">
                            <p:stCondLst>
                              <p:cond delay="2000"/>
                            </p:stCondLst>
                            <p:childTnLst>
                              <p:par>
                                <p:cTn id="105" presetID="17" presetClass="entr" presetSubtype="1" fill="hold" grpId="0" nodeType="afterEffect">
                                  <p:stCondLst>
                                    <p:cond delay="0"/>
                                  </p:stCondLst>
                                  <p:childTnLst>
                                    <p:set>
                                      <p:cBhvr>
                                        <p:cTn id="106" dur="1" fill="hold">
                                          <p:stCondLst>
                                            <p:cond delay="0"/>
                                          </p:stCondLst>
                                        </p:cTn>
                                        <p:tgtEl>
                                          <p:spTgt spid="244775"/>
                                        </p:tgtEl>
                                        <p:attrNameLst>
                                          <p:attrName>style.visibility</p:attrName>
                                        </p:attrNameLst>
                                      </p:cBhvr>
                                      <p:to>
                                        <p:strVal val="visible"/>
                                      </p:to>
                                    </p:set>
                                    <p:anim calcmode="lin" valueType="num">
                                      <p:cBhvr>
                                        <p:cTn id="107" dur="500" fill="hold"/>
                                        <p:tgtEl>
                                          <p:spTgt spid="244775"/>
                                        </p:tgtEl>
                                        <p:attrNameLst>
                                          <p:attrName>ppt_x</p:attrName>
                                        </p:attrNameLst>
                                      </p:cBhvr>
                                      <p:tavLst>
                                        <p:tav tm="0">
                                          <p:val>
                                            <p:strVal val="#ppt_x"/>
                                          </p:val>
                                        </p:tav>
                                        <p:tav tm="100000">
                                          <p:val>
                                            <p:strVal val="#ppt_x"/>
                                          </p:val>
                                        </p:tav>
                                      </p:tavLst>
                                    </p:anim>
                                    <p:anim calcmode="lin" valueType="num">
                                      <p:cBhvr>
                                        <p:cTn id="108" dur="500" fill="hold"/>
                                        <p:tgtEl>
                                          <p:spTgt spid="244775"/>
                                        </p:tgtEl>
                                        <p:attrNameLst>
                                          <p:attrName>ppt_y</p:attrName>
                                        </p:attrNameLst>
                                      </p:cBhvr>
                                      <p:tavLst>
                                        <p:tav tm="0">
                                          <p:val>
                                            <p:strVal val="#ppt_y-#ppt_h/2"/>
                                          </p:val>
                                        </p:tav>
                                        <p:tav tm="100000">
                                          <p:val>
                                            <p:strVal val="#ppt_y"/>
                                          </p:val>
                                        </p:tav>
                                      </p:tavLst>
                                    </p:anim>
                                    <p:anim calcmode="lin" valueType="num">
                                      <p:cBhvr>
                                        <p:cTn id="109" dur="500" fill="hold"/>
                                        <p:tgtEl>
                                          <p:spTgt spid="244775"/>
                                        </p:tgtEl>
                                        <p:attrNameLst>
                                          <p:attrName>ppt_w</p:attrName>
                                        </p:attrNameLst>
                                      </p:cBhvr>
                                      <p:tavLst>
                                        <p:tav tm="0">
                                          <p:val>
                                            <p:strVal val="#ppt_w"/>
                                          </p:val>
                                        </p:tav>
                                        <p:tav tm="100000">
                                          <p:val>
                                            <p:strVal val="#ppt_w"/>
                                          </p:val>
                                        </p:tav>
                                      </p:tavLst>
                                    </p:anim>
                                    <p:anim calcmode="lin" valueType="num">
                                      <p:cBhvr>
                                        <p:cTn id="110" dur="500" fill="hold"/>
                                        <p:tgtEl>
                                          <p:spTgt spid="2447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bldLvl="0" animBg="1" autoUpdateAnimBg="0"/>
      <p:bldP spid="244761" grpId="0" bldLvl="0" animBg="1" autoUpdateAnimBg="0"/>
      <p:bldP spid="244762" grpId="0" bldLvl="0" animBg="1" autoUpdateAnimBg="0"/>
      <p:bldP spid="244764" grpId="0" bldLvl="0" animBg="1" autoUpdateAnimBg="0"/>
      <p:bldP spid="244766" grpId="0" bldLvl="0" animBg="1"/>
      <p:bldP spid="244767" grpId="0" bldLvl="0" animBg="1"/>
      <p:bldP spid="244768" grpId="0" bldLvl="0" animBg="1"/>
      <p:bldP spid="244769" grpId="0" bldLvl="0" animBg="1"/>
      <p:bldP spid="244770" grpId="0" bldLvl="0" animBg="1"/>
      <p:bldP spid="244771" grpId="0" bldLvl="0" animBg="1"/>
      <p:bldP spid="244772" grpId="0" bldLvl="0" animBg="1"/>
      <p:bldP spid="244773" grpId="0" bldLvl="0" animBg="1"/>
      <p:bldP spid="244774" grpId="0" bldLvl="0" animBg="1"/>
      <p:bldP spid="244775" grpId="0" bldLvl="0" animBg="1"/>
      <p:bldP spid="244776" grpId="0" bldLvl="0" animBg="1"/>
      <p:bldP spid="244777"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p:cNvSpPr txBox="1">
            <a:spLocks noChangeArrowheads="1"/>
          </p:cNvSpPr>
          <p:nvPr/>
        </p:nvSpPr>
        <p:spPr bwMode="auto">
          <a:xfrm>
            <a:off x="304800" y="1155700"/>
            <a:ext cx="845820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800000"/>
                </a:solidFill>
                <a:latin typeface="Arial" panose="020B0604020202020204" pitchFamily="34" charset="0"/>
                <a:ea typeface="隶书" panose="02010509060101010101" pitchFamily="49" charset="-122"/>
                <a:cs typeface="Arial" panose="020B0604020202020204" pitchFamily="34" charset="0"/>
              </a:rPr>
              <a:t>(1).</a:t>
            </a:r>
            <a:r>
              <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rPr>
              <a:t>From vertex i to vertex s, if a path exists, a depth-first search starting from vertex i will definitely reach vertex s.</a:t>
            </a:r>
            <a:endPar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endParaRPr>
          </a:p>
        </p:txBody>
      </p:sp>
      <p:sp>
        <p:nvSpPr>
          <p:cNvPr id="245763" name="Text Box 3"/>
          <p:cNvSpPr txBox="1">
            <a:spLocks noChangeArrowheads="1"/>
          </p:cNvSpPr>
          <p:nvPr/>
        </p:nvSpPr>
        <p:spPr bwMode="auto">
          <a:xfrm>
            <a:off x="381000" y="3200400"/>
            <a:ext cx="84582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800000"/>
                </a:solidFill>
                <a:latin typeface="Arial" panose="020B0604020202020204" pitchFamily="34" charset="0"/>
                <a:ea typeface="隶书" panose="02010509060101010101" pitchFamily="49" charset="-122"/>
                <a:cs typeface="Arial" panose="020B0604020202020204" pitchFamily="34" charset="0"/>
              </a:rPr>
              <a:t>(2).</a:t>
            </a:r>
            <a:r>
              <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rPr>
              <a:t>The vertices found during traversal may not be on the path.</a:t>
            </a:r>
            <a:endPar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endParaRPr>
          </a:p>
        </p:txBody>
      </p:sp>
      <p:sp>
        <p:nvSpPr>
          <p:cNvPr id="245764" name="Comment 4"/>
          <p:cNvSpPr>
            <a:spLocks noChangeArrowheads="1"/>
          </p:cNvSpPr>
          <p:nvPr/>
        </p:nvSpPr>
        <p:spPr bwMode="auto">
          <a:xfrm>
            <a:off x="304800" y="260350"/>
            <a:ext cx="2867660" cy="583565"/>
          </a:xfrm>
          <a:prstGeom prst="rect">
            <a:avLst/>
          </a:prstGeom>
          <a:solidFill>
            <a:srgbClr val="FCFDC6"/>
          </a:solidFill>
          <a:ln w="12700" cap="sq">
            <a:solidFill>
              <a:schemeClr val="tx1"/>
            </a:solidFill>
            <a:miter lim="800000"/>
            <a:headEnd type="none" w="sm" len="sm"/>
            <a:tailEnd type="none" w="sm" len="sm"/>
          </a:ln>
          <a:effectLst>
            <a:outerShdw dist="107763" dir="2700000" algn="ctr" rotWithShape="0">
              <a:schemeClr val="bg2"/>
            </a:outerShdw>
          </a:effectLst>
        </p:spPr>
        <p:txBody>
          <a:bodyPr wrap="square">
            <a:spAutoFit/>
          </a:bodyPr>
          <a:lstStyle/>
          <a:p>
            <a:pPr>
              <a:spcBef>
                <a:spcPct val="50000"/>
              </a:spcBef>
            </a:pPr>
            <a:r>
              <a:rPr kumimoji="0" lang="zh-CN" altLang="en-US" sz="3200" b="1">
                <a:solidFill>
                  <a:srgbClr val="7800EE"/>
                </a:solidFill>
                <a:latin typeface="Arial" panose="020B0604020202020204" pitchFamily="34" charset="0"/>
                <a:cs typeface="Arial" panose="020B0604020202020204" pitchFamily="34" charset="0"/>
              </a:rPr>
              <a:t>Conclusion ：</a:t>
            </a:r>
            <a:endParaRPr kumimoji="0" lang="zh-CN" altLang="en-US" sz="3200" b="1">
              <a:solidFill>
                <a:srgbClr val="7800EE"/>
              </a:solidFill>
              <a:latin typeface="Arial" panose="020B0604020202020204" pitchFamily="34" charset="0"/>
              <a:cs typeface="Arial" panose="020B0604020202020204" pitchFamily="34" charset="0"/>
            </a:endParaRPr>
          </a:p>
        </p:txBody>
      </p:sp>
      <p:sp>
        <p:nvSpPr>
          <p:cNvPr id="245765" name="Text Box 5"/>
          <p:cNvSpPr txBox="1">
            <a:spLocks noChangeArrowheads="1"/>
          </p:cNvSpPr>
          <p:nvPr/>
        </p:nvSpPr>
        <p:spPr bwMode="auto">
          <a:xfrm>
            <a:off x="381000" y="4876800"/>
            <a:ext cx="83058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800000"/>
                </a:solidFill>
                <a:latin typeface="Arial" panose="020B0604020202020204" pitchFamily="34" charset="0"/>
                <a:ea typeface="隶书" panose="02010509060101010101" pitchFamily="49" charset="-122"/>
                <a:cs typeface="Arial" panose="020B0604020202020204" pitchFamily="34" charset="0"/>
              </a:rPr>
              <a:t>(3).</a:t>
            </a:r>
            <a:r>
              <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rPr>
              <a:t>The depth-first traversal starting from it completes vertices that are not on the path.</a:t>
            </a:r>
            <a:endParaRPr lang="zh-CN" altLang="en-US" sz="3200">
              <a:solidFill>
                <a:srgbClr val="800000"/>
              </a:solidFill>
              <a:latin typeface="Arial" panose="020B0604020202020204" pitchFamily="34" charset="0"/>
              <a:ea typeface="隶书" panose="02010509060101010101"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45764"/>
                                        </p:tgtEl>
                                        <p:attrNameLst>
                                          <p:attrName>style.visibility</p:attrName>
                                        </p:attrNameLst>
                                      </p:cBhvr>
                                      <p:to>
                                        <p:strVal val="visible"/>
                                      </p:to>
                                    </p:set>
                                    <p:anim calcmode="lin" valueType="num">
                                      <p:cBhvr additive="base">
                                        <p:cTn id="7" dur="500" fill="hold"/>
                                        <p:tgtEl>
                                          <p:spTgt spid="245764"/>
                                        </p:tgtEl>
                                        <p:attrNameLst>
                                          <p:attrName>ppt_x</p:attrName>
                                        </p:attrNameLst>
                                      </p:cBhvr>
                                      <p:tavLst>
                                        <p:tav tm="0">
                                          <p:val>
                                            <p:strVal val="0-#ppt_w/2"/>
                                          </p:val>
                                        </p:tav>
                                        <p:tav tm="100000">
                                          <p:val>
                                            <p:strVal val="#ppt_x"/>
                                          </p:val>
                                        </p:tav>
                                      </p:tavLst>
                                    </p:anim>
                                    <p:anim calcmode="lin" valueType="num">
                                      <p:cBhvr additive="base">
                                        <p:cTn id="8" dur="500" fill="hold"/>
                                        <p:tgtEl>
                                          <p:spTgt spid="2457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45762"/>
                                        </p:tgtEl>
                                        <p:attrNameLst>
                                          <p:attrName>style.visibility</p:attrName>
                                        </p:attrNameLst>
                                      </p:cBhvr>
                                      <p:to>
                                        <p:strVal val="visible"/>
                                      </p:to>
                                    </p:set>
                                    <p:animEffect transition="in" filter="wipe(left)">
                                      <p:cBhvr>
                                        <p:cTn id="13" dur="500"/>
                                        <p:tgtEl>
                                          <p:spTgt spid="24576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45763"/>
                                        </p:tgtEl>
                                        <p:attrNameLst>
                                          <p:attrName>style.visibility</p:attrName>
                                        </p:attrNameLst>
                                      </p:cBhvr>
                                      <p:to>
                                        <p:strVal val="visible"/>
                                      </p:to>
                                    </p:set>
                                    <p:animEffect transition="in" filter="wipe(left)">
                                      <p:cBhvr>
                                        <p:cTn id="18" dur="500"/>
                                        <p:tgtEl>
                                          <p:spTgt spid="24576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5765"/>
                                        </p:tgtEl>
                                        <p:attrNameLst>
                                          <p:attrName>style.visibility</p:attrName>
                                        </p:attrNameLst>
                                      </p:cBhvr>
                                      <p:to>
                                        <p:strVal val="visible"/>
                                      </p:to>
                                    </p:set>
                                    <p:animEffect transition="in" filter="wipe(left)">
                                      <p:cBhvr>
                                        <p:cTn id="23" dur="500"/>
                                        <p:tgtEl>
                                          <p:spTgt spid="245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bldLvl="0" animBg="1" autoUpdateAnimBg="0"/>
      <p:bldP spid="245763" grpId="0" bldLvl="0" animBg="1" autoUpdateAnimBg="0"/>
      <p:bldP spid="245764" grpId="0" bldLvl="0" animBg="1" autoUpdateAnimBg="0"/>
      <p:bldP spid="245765" grpId="0" bldLvl="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76200" y="152400"/>
            <a:ext cx="9067800" cy="676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A043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b="1">
                <a:solidFill>
                  <a:srgbClr val="000082"/>
                </a:solidFill>
                <a:ea typeface="楷体_GB2312" pitchFamily="49" charset="-122"/>
              </a:rPr>
              <a:t>void</a:t>
            </a:r>
            <a:r>
              <a:rPr lang="en-US" altLang="zh-CN" sz="3200">
                <a:solidFill>
                  <a:srgbClr val="000082"/>
                </a:solidFill>
                <a:ea typeface="楷体_GB2312" pitchFamily="49" charset="-122"/>
              </a:rPr>
              <a:t> DFSearch( </a:t>
            </a:r>
            <a:r>
              <a:rPr lang="en-US" altLang="zh-CN" sz="3200" b="1">
                <a:solidFill>
                  <a:srgbClr val="000082"/>
                </a:solidFill>
                <a:ea typeface="楷体_GB2312" pitchFamily="49" charset="-122"/>
              </a:rPr>
              <a:t>int</a:t>
            </a:r>
            <a:r>
              <a:rPr lang="en-US" altLang="zh-CN" sz="3200">
                <a:solidFill>
                  <a:srgbClr val="000082"/>
                </a:solidFill>
                <a:ea typeface="楷体_GB2312" pitchFamily="49" charset="-122"/>
              </a:rPr>
              <a:t> v, </a:t>
            </a:r>
            <a:r>
              <a:rPr lang="en-US" altLang="zh-CN" sz="3200" b="1">
                <a:solidFill>
                  <a:srgbClr val="000082"/>
                </a:solidFill>
                <a:ea typeface="楷体_GB2312" pitchFamily="49" charset="-122"/>
              </a:rPr>
              <a:t>int</a:t>
            </a:r>
            <a:r>
              <a:rPr lang="en-US" altLang="zh-CN" sz="3200">
                <a:solidFill>
                  <a:srgbClr val="000082"/>
                </a:solidFill>
                <a:ea typeface="楷体_GB2312" pitchFamily="49" charset="-122"/>
              </a:rPr>
              <a:t> s, </a:t>
            </a:r>
            <a:r>
              <a:rPr lang="en-US" altLang="zh-CN" sz="3200" b="1">
                <a:solidFill>
                  <a:srgbClr val="000082"/>
                </a:solidFill>
                <a:ea typeface="楷体_GB2312" pitchFamily="49" charset="-122"/>
              </a:rPr>
              <a:t>char</a:t>
            </a:r>
            <a:r>
              <a:rPr lang="en-US" altLang="zh-CN" sz="3200">
                <a:solidFill>
                  <a:srgbClr val="000082"/>
                </a:solidFill>
                <a:ea typeface="楷体_GB2312" pitchFamily="49" charset="-122"/>
              </a:rPr>
              <a:t> *PATH)  </a:t>
            </a:r>
            <a:r>
              <a:rPr lang="en-US" altLang="zh-CN" sz="3200" b="1">
                <a:solidFill>
                  <a:srgbClr val="000082"/>
                </a:solidFill>
                <a:ea typeface="楷体_GB2312" pitchFamily="49" charset="-122"/>
              </a:rPr>
              <a:t>{</a:t>
            </a:r>
            <a:endParaRPr lang="en-US" altLang="zh-CN" sz="3200">
              <a:solidFill>
                <a:srgbClr val="000082"/>
              </a:solidFill>
              <a:ea typeface="楷体_GB2312" pitchFamily="49" charset="-122"/>
            </a:endParaRPr>
          </a:p>
          <a:p>
            <a:r>
              <a:rPr lang="en-US" altLang="zh-CN" sz="3200">
                <a:solidFill>
                  <a:srgbClr val="000082"/>
                </a:solidFill>
                <a:ea typeface="楷体_GB2312" pitchFamily="49" charset="-122"/>
              </a:rPr>
              <a:t> </a:t>
            </a:r>
            <a:r>
              <a:rPr lang="en-US" altLang="zh-CN" sz="2800" b="1">
                <a:solidFill>
                  <a:srgbClr val="008000"/>
                </a:solidFill>
                <a:ea typeface="楷体_GB2312" pitchFamily="49" charset="-122"/>
              </a:rPr>
              <a:t>//</a:t>
            </a:r>
            <a:r>
              <a:rPr lang="en-US" altLang="zh-CN" b="1">
                <a:solidFill>
                  <a:srgbClr val="008000"/>
                </a:solidFill>
                <a:ea typeface="楷体_GB2312" pitchFamily="49" charset="-122"/>
                <a:sym typeface="+mn-ea"/>
              </a:rPr>
              <a:t> </a:t>
            </a:r>
            <a:r>
              <a:rPr lang="en-US" altLang="zh-CN" sz="2400" b="1">
                <a:solidFill>
                  <a:srgbClr val="008000"/>
                </a:solidFill>
                <a:ea typeface="楷体_GB2312" pitchFamily="49" charset="-122"/>
                <a:sym typeface="+mn-ea"/>
              </a:rPr>
              <a:t>Perform a recursive depth-first traversal of graph G starting from vertex v to find a simple path from v to s, and store it in PATH.</a:t>
            </a:r>
            <a:endParaRPr lang="zh-CN" altLang="en-US" sz="2400">
              <a:solidFill>
                <a:srgbClr val="000082"/>
              </a:solidFill>
              <a:ea typeface="楷体_GB2312" pitchFamily="49" charset="-122"/>
            </a:endParaRPr>
          </a:p>
          <a:p>
            <a:endParaRPr lang="zh-CN" altLang="en-US" sz="3200">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endParaRPr lang="zh-CN" altLang="en-US" sz="3200" b="1">
              <a:solidFill>
                <a:srgbClr val="000082"/>
              </a:solidFill>
              <a:ea typeface="楷体_GB2312" pitchFamily="49" charset="-122"/>
            </a:endParaRPr>
          </a:p>
          <a:p>
            <a:pPr>
              <a:lnSpc>
                <a:spcPct val="120000"/>
              </a:lnSpc>
            </a:pPr>
            <a:r>
              <a:rPr lang="en-US" altLang="zh-CN" sz="3200" b="1">
                <a:solidFill>
                  <a:srgbClr val="000082"/>
                </a:solidFill>
                <a:ea typeface="楷体_GB2312" pitchFamily="49" charset="-122"/>
              </a:rPr>
              <a:t>}</a:t>
            </a:r>
            <a:endParaRPr lang="en-US" altLang="zh-CN" sz="3200" b="1">
              <a:solidFill>
                <a:srgbClr val="000082"/>
              </a:solidFill>
              <a:ea typeface="楷体_GB2312" pitchFamily="49" charset="-122"/>
            </a:endParaRPr>
          </a:p>
        </p:txBody>
      </p:sp>
      <p:sp>
        <p:nvSpPr>
          <p:cNvPr id="246788" name="Text Box 4"/>
          <p:cNvSpPr txBox="1">
            <a:spLocks noChangeArrowheads="1"/>
          </p:cNvSpPr>
          <p:nvPr/>
        </p:nvSpPr>
        <p:spPr bwMode="auto">
          <a:xfrm>
            <a:off x="76200" y="1773238"/>
            <a:ext cx="9067800" cy="4742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A043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3200">
                <a:solidFill>
                  <a:srgbClr val="000082"/>
                </a:solidFill>
                <a:ea typeface="楷体_GB2312" pitchFamily="49" charset="-122"/>
              </a:rPr>
              <a:t>  visited[v] = </a:t>
            </a:r>
            <a:r>
              <a:rPr lang="en-US" altLang="zh-CN" sz="3200" b="1">
                <a:solidFill>
                  <a:srgbClr val="000082"/>
                </a:solidFill>
                <a:ea typeface="楷体_GB2312" pitchFamily="49" charset="-122"/>
              </a:rPr>
              <a:t>TRUE</a:t>
            </a:r>
            <a:r>
              <a:rPr lang="en-US" altLang="zh-CN" sz="3200">
                <a:solidFill>
                  <a:srgbClr val="000082"/>
                </a:solidFill>
                <a:ea typeface="楷体_GB2312" pitchFamily="49" charset="-122"/>
              </a:rPr>
              <a:t>;   </a:t>
            </a:r>
            <a:r>
              <a:rPr lang="en-US" altLang="zh-CN" sz="2800" b="1">
                <a:solidFill>
                  <a:srgbClr val="008000"/>
                </a:solidFill>
                <a:ea typeface="楷体_GB2312" pitchFamily="49" charset="-122"/>
              </a:rPr>
              <a:t>//  Visit the v-th vertex</a:t>
            </a:r>
            <a:endParaRPr lang="en-US" altLang="zh-CN" sz="2800" b="1">
              <a:solidFill>
                <a:srgbClr val="008000"/>
              </a:solidFill>
              <a:ea typeface="楷体_GB2312" pitchFamily="49" charset="-122"/>
            </a:endParaRPr>
          </a:p>
          <a:p>
            <a:pPr lvl="1">
              <a:lnSpc>
                <a:spcPct val="120000"/>
              </a:lnSpc>
            </a:pPr>
            <a:r>
              <a:rPr lang="en-US" altLang="zh-CN" sz="3200">
                <a:solidFill>
                  <a:srgbClr val="7800EE"/>
                </a:solidFill>
                <a:ea typeface="楷体_GB2312" pitchFamily="49" charset="-122"/>
              </a:rPr>
              <a:t>Append(PATH, getVertex(v));</a:t>
            </a:r>
            <a:r>
              <a:rPr lang="en-US" altLang="zh-CN" sz="3200">
                <a:ea typeface="楷体_GB2312" pitchFamily="49" charset="-122"/>
              </a:rPr>
              <a:t>   </a:t>
            </a:r>
            <a:endParaRPr lang="en-US" altLang="zh-CN" sz="3200">
              <a:ea typeface="楷体_GB2312" pitchFamily="49" charset="-122"/>
            </a:endParaRPr>
          </a:p>
          <a:p>
            <a:pPr marL="0" lvl="1">
              <a:lnSpc>
                <a:spcPct val="120000"/>
              </a:lnSpc>
            </a:pPr>
            <a:r>
              <a:rPr lang="en-US" altLang="zh-CN" b="1">
                <a:solidFill>
                  <a:srgbClr val="008000"/>
                </a:solidFill>
                <a:ea typeface="楷体_GB2312" pitchFamily="49" charset="-122"/>
              </a:rPr>
              <a:t>// </a:t>
            </a:r>
            <a:r>
              <a:rPr lang="zh-CN" altLang="en-US" b="1">
                <a:solidFill>
                  <a:srgbClr val="008000"/>
                </a:solidFill>
                <a:ea typeface="楷体_GB2312" pitchFamily="49" charset="-122"/>
                <a:sym typeface="+mn-ea"/>
              </a:rPr>
              <a:t>Add vertex v to the path</a:t>
            </a:r>
            <a:r>
              <a:rPr lang="zh-CN" altLang="en-US">
                <a:ea typeface="楷体_GB2312" pitchFamily="49" charset="-122"/>
              </a:rPr>
              <a:t>           </a:t>
            </a:r>
            <a:endParaRPr lang="zh-CN" altLang="en-US">
              <a:ea typeface="楷体_GB2312" pitchFamily="49" charset="-122"/>
            </a:endParaRPr>
          </a:p>
          <a:p>
            <a:pPr>
              <a:lnSpc>
                <a:spcPct val="120000"/>
              </a:lnSpc>
            </a:pPr>
            <a:r>
              <a:rPr lang="zh-CN" altLang="en-US" sz="3200">
                <a:ea typeface="楷体_GB2312" pitchFamily="49" charset="-122"/>
              </a:rPr>
              <a:t>  </a:t>
            </a:r>
            <a:r>
              <a:rPr lang="en-US" altLang="zh-CN" sz="3200" b="1">
                <a:solidFill>
                  <a:srgbClr val="000082"/>
                </a:solidFill>
                <a:ea typeface="楷体_GB2312" pitchFamily="49" charset="-122"/>
              </a:rPr>
              <a:t>for</a:t>
            </a:r>
            <a:r>
              <a:rPr lang="en-US" altLang="zh-CN" sz="3200">
                <a:solidFill>
                  <a:srgbClr val="000082"/>
                </a:solidFill>
                <a:ea typeface="楷体_GB2312" pitchFamily="49" charset="-122"/>
              </a:rPr>
              <a:t> (w=FirstAdjVex(v);  w</a:t>
            </a:r>
            <a:r>
              <a:rPr lang="en-US" altLang="zh-CN" sz="3200" b="1">
                <a:solidFill>
                  <a:srgbClr val="000082"/>
                </a:solidFill>
                <a:ea typeface="楷体_GB2312" pitchFamily="49" charset="-122"/>
              </a:rPr>
              <a:t>!=</a:t>
            </a:r>
            <a:r>
              <a:rPr lang="en-US" altLang="zh-CN" sz="3200">
                <a:solidFill>
                  <a:srgbClr val="000082"/>
                </a:solidFill>
                <a:ea typeface="楷体_GB2312" pitchFamily="49" charset="-122"/>
              </a:rPr>
              <a:t>0 </a:t>
            </a:r>
            <a:r>
              <a:rPr lang="en-US" altLang="zh-CN" sz="3200">
                <a:solidFill>
                  <a:srgbClr val="FF0000"/>
                </a:solidFill>
                <a:ea typeface="楷体_GB2312" pitchFamily="49" charset="-122"/>
              </a:rPr>
              <a:t>&amp;&amp; !found</a:t>
            </a:r>
            <a:r>
              <a:rPr lang="en-US" altLang="zh-CN" sz="3200">
                <a:ea typeface="楷体_GB2312" pitchFamily="49" charset="-122"/>
              </a:rPr>
              <a:t>;</a:t>
            </a:r>
            <a:endParaRPr lang="en-US" altLang="zh-CN" sz="3200">
              <a:ea typeface="楷体_GB2312" pitchFamily="49" charset="-122"/>
            </a:endParaRPr>
          </a:p>
          <a:p>
            <a:pPr lvl="1">
              <a:lnSpc>
                <a:spcPct val="120000"/>
              </a:lnSpc>
            </a:pPr>
            <a:r>
              <a:rPr lang="en-US" altLang="zh-CN" sz="3200">
                <a:ea typeface="楷体_GB2312" pitchFamily="49" charset="-122"/>
              </a:rPr>
              <a:t>                            </a:t>
            </a:r>
            <a:r>
              <a:rPr lang="en-US" altLang="zh-CN" sz="3200">
                <a:solidFill>
                  <a:srgbClr val="000082"/>
                </a:solidFill>
                <a:ea typeface="楷体_GB2312" pitchFamily="49" charset="-122"/>
              </a:rPr>
              <a:t>w=NextAdjVex(v,w) )</a:t>
            </a:r>
            <a:endParaRPr lang="en-US" altLang="zh-CN" sz="3200">
              <a:solidFill>
                <a:srgbClr val="000082"/>
              </a:solidFill>
              <a:ea typeface="楷体_GB2312" pitchFamily="49" charset="-122"/>
            </a:endParaRPr>
          </a:p>
          <a:p>
            <a:pPr>
              <a:lnSpc>
                <a:spcPct val="120000"/>
              </a:lnSpc>
            </a:pPr>
            <a:r>
              <a:rPr lang="en-US" altLang="zh-CN" sz="3200">
                <a:ea typeface="楷体_GB2312" pitchFamily="49" charset="-122"/>
              </a:rPr>
              <a:t>   </a:t>
            </a:r>
            <a:r>
              <a:rPr lang="en-US" altLang="zh-CN" sz="3200">
                <a:solidFill>
                  <a:srgbClr val="FF0000"/>
                </a:solidFill>
                <a:ea typeface="楷体_GB2312" pitchFamily="49" charset="-122"/>
              </a:rPr>
              <a:t>   </a:t>
            </a:r>
            <a:r>
              <a:rPr lang="en-US" altLang="zh-CN" sz="3200" b="1">
                <a:solidFill>
                  <a:srgbClr val="FF0000"/>
                </a:solidFill>
                <a:ea typeface="楷体_GB2312" pitchFamily="49" charset="-122"/>
              </a:rPr>
              <a:t>if</a:t>
            </a:r>
            <a:r>
              <a:rPr lang="en-US" altLang="zh-CN" sz="3200">
                <a:solidFill>
                  <a:srgbClr val="FF0000"/>
                </a:solidFill>
                <a:ea typeface="楷体_GB2312" pitchFamily="49" charset="-122"/>
              </a:rPr>
              <a:t> (w=s) </a:t>
            </a:r>
            <a:r>
              <a:rPr lang="en-US" altLang="zh-CN" sz="3200" b="1">
                <a:solidFill>
                  <a:srgbClr val="FF0000"/>
                </a:solidFill>
                <a:ea typeface="楷体_GB2312" pitchFamily="49" charset="-122"/>
              </a:rPr>
              <a:t>{</a:t>
            </a:r>
            <a:r>
              <a:rPr lang="en-US" altLang="zh-CN" sz="3200">
                <a:solidFill>
                  <a:srgbClr val="FF0000"/>
                </a:solidFill>
                <a:ea typeface="楷体_GB2312" pitchFamily="49" charset="-122"/>
              </a:rPr>
              <a:t> found = TRUE;  Append(PATH, w); </a:t>
            </a:r>
            <a:r>
              <a:rPr lang="en-US" altLang="zh-CN" sz="3200" b="1">
                <a:solidFill>
                  <a:srgbClr val="FF0000"/>
                </a:solidFill>
                <a:ea typeface="楷体_GB2312" pitchFamily="49" charset="-122"/>
              </a:rPr>
              <a:t>}</a:t>
            </a:r>
            <a:endParaRPr lang="en-US" altLang="zh-CN" sz="3200">
              <a:solidFill>
                <a:srgbClr val="FF0000"/>
              </a:solidFill>
              <a:ea typeface="楷体_GB2312" pitchFamily="49" charset="-122"/>
            </a:endParaRPr>
          </a:p>
          <a:p>
            <a:pPr>
              <a:lnSpc>
                <a:spcPct val="120000"/>
              </a:lnSpc>
            </a:pPr>
            <a:r>
              <a:rPr lang="en-US" altLang="zh-CN" sz="3200">
                <a:ea typeface="楷体_GB2312" pitchFamily="49" charset="-122"/>
              </a:rPr>
              <a:t>   </a:t>
            </a:r>
            <a:r>
              <a:rPr lang="en-US" altLang="zh-CN" sz="3200">
                <a:solidFill>
                  <a:srgbClr val="FF0000"/>
                </a:solidFill>
                <a:ea typeface="楷体_GB2312" pitchFamily="49" charset="-122"/>
              </a:rPr>
              <a:t>   </a:t>
            </a:r>
            <a:r>
              <a:rPr lang="en-US" altLang="zh-CN" sz="3200" b="1">
                <a:solidFill>
                  <a:srgbClr val="FF0000"/>
                </a:solidFill>
                <a:ea typeface="楷体_GB2312" pitchFamily="49" charset="-122"/>
              </a:rPr>
              <a:t>else</a:t>
            </a:r>
            <a:r>
              <a:rPr lang="en-US" altLang="zh-CN" sz="3200">
                <a:ea typeface="楷体_GB2312" pitchFamily="49" charset="-122"/>
              </a:rPr>
              <a:t> </a:t>
            </a:r>
            <a:r>
              <a:rPr lang="en-US" altLang="zh-CN" sz="3200" b="1">
                <a:ea typeface="楷体_GB2312" pitchFamily="49" charset="-122"/>
              </a:rPr>
              <a:t> </a:t>
            </a:r>
            <a:r>
              <a:rPr lang="en-US" altLang="zh-CN" sz="3200" b="1">
                <a:solidFill>
                  <a:srgbClr val="000082"/>
                </a:solidFill>
                <a:ea typeface="楷体_GB2312" pitchFamily="49" charset="-122"/>
              </a:rPr>
              <a:t>if </a:t>
            </a:r>
            <a:r>
              <a:rPr lang="en-US" altLang="zh-CN" sz="3200">
                <a:solidFill>
                  <a:srgbClr val="000082"/>
                </a:solidFill>
                <a:ea typeface="楷体_GB2312" pitchFamily="49" charset="-122"/>
              </a:rPr>
              <a:t>(</a:t>
            </a:r>
            <a:r>
              <a:rPr lang="en-US" altLang="zh-CN" sz="3200" b="1">
                <a:solidFill>
                  <a:srgbClr val="000082"/>
                </a:solidFill>
                <a:ea typeface="楷体_GB2312" pitchFamily="49" charset="-122"/>
              </a:rPr>
              <a:t>!</a:t>
            </a:r>
            <a:r>
              <a:rPr lang="en-US" altLang="zh-CN" sz="3200">
                <a:solidFill>
                  <a:srgbClr val="000082"/>
                </a:solidFill>
                <a:ea typeface="楷体_GB2312" pitchFamily="49" charset="-122"/>
              </a:rPr>
              <a:t>visited[w])  DFSearch(w, s, PATH);</a:t>
            </a:r>
            <a:endParaRPr lang="en-US" altLang="zh-CN" sz="3200">
              <a:ea typeface="楷体_GB2312" pitchFamily="49" charset="-122"/>
            </a:endParaRPr>
          </a:p>
          <a:p>
            <a:pPr>
              <a:lnSpc>
                <a:spcPct val="120000"/>
              </a:lnSpc>
            </a:pPr>
            <a:r>
              <a:rPr lang="en-US" altLang="zh-CN" sz="3200" b="1">
                <a:solidFill>
                  <a:srgbClr val="FF0000"/>
                </a:solidFill>
                <a:ea typeface="楷体_GB2312" pitchFamily="49" charset="-122"/>
              </a:rPr>
              <a:t>  if </a:t>
            </a:r>
            <a:r>
              <a:rPr lang="en-US" altLang="zh-CN" sz="3200">
                <a:solidFill>
                  <a:srgbClr val="FF0000"/>
                </a:solidFill>
                <a:ea typeface="楷体_GB2312" pitchFamily="49" charset="-122"/>
              </a:rPr>
              <a:t>(!found)  Delete (PATH);</a:t>
            </a:r>
            <a:r>
              <a:rPr lang="en-US" altLang="zh-CN" sz="3200">
                <a:ea typeface="楷体_GB2312" pitchFamily="49" charset="-122"/>
              </a:rPr>
              <a:t> </a:t>
            </a:r>
            <a:r>
              <a:rPr lang="en-US" altLang="zh-CN" sz="2800" b="1">
                <a:solidFill>
                  <a:srgbClr val="008000"/>
                </a:solidFill>
                <a:ea typeface="楷体_GB2312" pitchFamily="49" charset="-122"/>
              </a:rPr>
              <a:t>// </a:t>
            </a:r>
            <a:r>
              <a:rPr lang="zh-CN" altLang="en-US" b="1">
                <a:solidFill>
                  <a:srgbClr val="008000"/>
                </a:solidFill>
                <a:ea typeface="楷体_GB2312" pitchFamily="49" charset="-122"/>
                <a:sym typeface="+mn-ea"/>
              </a:rPr>
              <a:t>No path to S, delete</a:t>
            </a:r>
            <a:r>
              <a:rPr lang="zh-CN" altLang="en-US" b="1">
                <a:solidFill>
                  <a:srgbClr val="008000"/>
                </a:solidFill>
                <a:ea typeface="楷体_GB2312" pitchFamily="49" charset="-122"/>
              </a:rPr>
              <a:t> </a:t>
            </a:r>
            <a:endParaRPr lang="zh-CN" altLang="en-US" b="1">
              <a:solidFill>
                <a:srgbClr val="008000"/>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46786"/>
                                        </p:tgtEl>
                                        <p:attrNameLst>
                                          <p:attrName>style.visibility</p:attrName>
                                        </p:attrNameLst>
                                      </p:cBhvr>
                                      <p:to>
                                        <p:strVal val="visible"/>
                                      </p:to>
                                    </p:set>
                                    <p:animEffect transition="in" filter="strips(downRight)">
                                      <p:cBhvr>
                                        <p:cTn id="7" dur="500"/>
                                        <p:tgtEl>
                                          <p:spTgt spid="24678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46788">
                                            <p:txEl>
                                              <p:pRg st="4294967295" end="4294967295"/>
                                            </p:txEl>
                                          </p:spTgt>
                                        </p:tgtEl>
                                        <p:attrNameLst>
                                          <p:attrName>style.visibility</p:attrName>
                                        </p:attrNameLst>
                                      </p:cBhvr>
                                      <p:to>
                                        <p:strVal val="visible"/>
                                      </p:to>
                                    </p:set>
                                    <p:animEffect transition="in" filter="strips(downRight)">
                                      <p:cBhvr>
                                        <p:cTn id="12" dur="500"/>
                                        <p:tgtEl>
                                          <p:spTgt spid="246788">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46788">
                                            <p:txEl>
                                              <p:pRg st="0" end="0"/>
                                            </p:txEl>
                                          </p:spTgt>
                                        </p:tgtEl>
                                        <p:attrNameLst>
                                          <p:attrName>style.visibility</p:attrName>
                                        </p:attrNameLst>
                                      </p:cBhvr>
                                      <p:to>
                                        <p:strVal val="visible"/>
                                      </p:to>
                                    </p:set>
                                    <p:animEffect transition="in" filter="strips(downRight)">
                                      <p:cBhvr>
                                        <p:cTn id="17" dur="500"/>
                                        <p:tgtEl>
                                          <p:spTgt spid="246788">
                                            <p:txEl>
                                              <p:pRg st="0" end="0"/>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246788">
                                            <p:txEl>
                                              <p:pRg st="1" end="1"/>
                                            </p:txEl>
                                          </p:spTgt>
                                        </p:tgtEl>
                                        <p:attrNameLst>
                                          <p:attrName>style.visibility</p:attrName>
                                        </p:attrNameLst>
                                      </p:cBhvr>
                                      <p:to>
                                        <p:strVal val="visible"/>
                                      </p:to>
                                    </p:set>
                                    <p:animEffect transition="in" filter="strips(downRight)">
                                      <p:cBhvr>
                                        <p:cTn id="20" dur="500"/>
                                        <p:tgtEl>
                                          <p:spTgt spid="246788">
                                            <p:txEl>
                                              <p:pRg st="1" end="1"/>
                                            </p:txEl>
                                          </p:spTgt>
                                        </p:tgtEl>
                                      </p:cBhvr>
                                    </p:animEffect>
                                  </p:childTnLst>
                                </p:cTn>
                              </p:par>
                              <p:par>
                                <p:cTn id="21" presetID="18" presetClass="entr" presetSubtype="6" fill="hold" grpId="0" nodeType="withEffect">
                                  <p:stCondLst>
                                    <p:cond delay="0"/>
                                  </p:stCondLst>
                                  <p:childTnLst>
                                    <p:set>
                                      <p:cBhvr>
                                        <p:cTn id="22" dur="1" fill="hold">
                                          <p:stCondLst>
                                            <p:cond delay="0"/>
                                          </p:stCondLst>
                                        </p:cTn>
                                        <p:tgtEl>
                                          <p:spTgt spid="246788">
                                            <p:txEl>
                                              <p:pRg st="2" end="2"/>
                                            </p:txEl>
                                          </p:spTgt>
                                        </p:tgtEl>
                                        <p:attrNameLst>
                                          <p:attrName>style.visibility</p:attrName>
                                        </p:attrNameLst>
                                      </p:cBhvr>
                                      <p:to>
                                        <p:strVal val="visible"/>
                                      </p:to>
                                    </p:set>
                                    <p:animEffect transition="in" filter="strips(downRight)">
                                      <p:cBhvr>
                                        <p:cTn id="23" dur="500"/>
                                        <p:tgtEl>
                                          <p:spTgt spid="24678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246788">
                                            <p:txEl>
                                              <p:pRg st="3" end="3"/>
                                            </p:txEl>
                                          </p:spTgt>
                                        </p:tgtEl>
                                        <p:attrNameLst>
                                          <p:attrName>style.visibility</p:attrName>
                                        </p:attrNameLst>
                                      </p:cBhvr>
                                      <p:to>
                                        <p:strVal val="visible"/>
                                      </p:to>
                                    </p:set>
                                    <p:animEffect transition="in" filter="strips(downRight)">
                                      <p:cBhvr>
                                        <p:cTn id="28" dur="500"/>
                                        <p:tgtEl>
                                          <p:spTgt spid="246788">
                                            <p:txEl>
                                              <p:pRg st="3" end="3"/>
                                            </p:txEl>
                                          </p:spTgt>
                                        </p:tgtEl>
                                      </p:cBhvr>
                                    </p:animEffect>
                                  </p:childTnLst>
                                </p:cTn>
                              </p:par>
                              <p:par>
                                <p:cTn id="29" presetID="18" presetClass="entr" presetSubtype="6" fill="hold" grpId="0" nodeType="withEffect">
                                  <p:stCondLst>
                                    <p:cond delay="0"/>
                                  </p:stCondLst>
                                  <p:childTnLst>
                                    <p:set>
                                      <p:cBhvr>
                                        <p:cTn id="30" dur="1" fill="hold">
                                          <p:stCondLst>
                                            <p:cond delay="0"/>
                                          </p:stCondLst>
                                        </p:cTn>
                                        <p:tgtEl>
                                          <p:spTgt spid="246788">
                                            <p:txEl>
                                              <p:pRg st="4" end="4"/>
                                            </p:txEl>
                                          </p:spTgt>
                                        </p:tgtEl>
                                        <p:attrNameLst>
                                          <p:attrName>style.visibility</p:attrName>
                                        </p:attrNameLst>
                                      </p:cBhvr>
                                      <p:to>
                                        <p:strVal val="visible"/>
                                      </p:to>
                                    </p:set>
                                    <p:animEffect transition="in" filter="strips(downRight)">
                                      <p:cBhvr>
                                        <p:cTn id="31" dur="500"/>
                                        <p:tgtEl>
                                          <p:spTgt spid="246788">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246788">
                                            <p:txEl>
                                              <p:pRg st="5" end="5"/>
                                            </p:txEl>
                                          </p:spTgt>
                                        </p:tgtEl>
                                        <p:attrNameLst>
                                          <p:attrName>style.visibility</p:attrName>
                                        </p:attrNameLst>
                                      </p:cBhvr>
                                      <p:to>
                                        <p:strVal val="visible"/>
                                      </p:to>
                                    </p:set>
                                    <p:animEffect transition="in" filter="strips(downRight)">
                                      <p:cBhvr>
                                        <p:cTn id="36" dur="500"/>
                                        <p:tgtEl>
                                          <p:spTgt spid="246788">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246788">
                                            <p:txEl>
                                              <p:pRg st="6" end="6"/>
                                            </p:txEl>
                                          </p:spTgt>
                                        </p:tgtEl>
                                        <p:attrNameLst>
                                          <p:attrName>style.visibility</p:attrName>
                                        </p:attrNameLst>
                                      </p:cBhvr>
                                      <p:to>
                                        <p:strVal val="visible"/>
                                      </p:to>
                                    </p:set>
                                    <p:animEffect transition="in" filter="strips(downRight)">
                                      <p:cBhvr>
                                        <p:cTn id="41" dur="500"/>
                                        <p:tgtEl>
                                          <p:spTgt spid="246788">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246788">
                                            <p:txEl>
                                              <p:pRg st="7" end="7"/>
                                            </p:txEl>
                                          </p:spTgt>
                                        </p:tgtEl>
                                        <p:attrNameLst>
                                          <p:attrName>style.visibility</p:attrName>
                                        </p:attrNameLst>
                                      </p:cBhvr>
                                      <p:to>
                                        <p:strVal val="visible"/>
                                      </p:to>
                                    </p:set>
                                    <p:animEffect transition="in" filter="strips(downRight)">
                                      <p:cBhvr>
                                        <p:cTn id="46" dur="500"/>
                                        <p:tgtEl>
                                          <p:spTgt spid="24678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bldLvl="0" animBg="1" autoUpdateAnimBg="0"/>
      <p:bldP spid="246788" grpId="0" autoUpdateAnimBg="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Shortest path</a:t>
            </a:r>
            <a:endParaRPr lang="zh-CN" altLang="en-US" dirty="0"/>
          </a:p>
        </p:txBody>
      </p:sp>
      <p:sp>
        <p:nvSpPr>
          <p:cNvPr id="3" name="内容占位符 2"/>
          <p:cNvSpPr>
            <a:spLocks noGrp="1"/>
          </p:cNvSpPr>
          <p:nvPr>
            <p:ph idx="1"/>
          </p:nvPr>
        </p:nvSpPr>
        <p:spPr/>
        <p:txBody>
          <a:bodyPr/>
          <a:lstStyle/>
          <a:p>
            <a:endParaRPr lang="zh-CN" altLang="en-US"/>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441325" y="457200"/>
            <a:ext cx="8702675"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4000" b="1" dirty="0">
                <a:solidFill>
                  <a:srgbClr val="000082"/>
                </a:solidFill>
                <a:latin typeface="Arial" panose="020B0604020202020204" pitchFamily="34" charset="0"/>
                <a:ea typeface="楷体_GB2312" pitchFamily="49" charset="-122"/>
                <a:cs typeface="Arial" panose="020B0604020202020204" pitchFamily="34" charset="0"/>
              </a:rPr>
              <a:t>2.</a:t>
            </a:r>
            <a:r>
              <a:rPr lang="zh-CN" altLang="en-US" sz="4000" b="1" dirty="0">
                <a:solidFill>
                  <a:srgbClr val="000082"/>
                </a:solidFill>
                <a:latin typeface="Arial" panose="020B0604020202020204" pitchFamily="34" charset="0"/>
                <a:ea typeface="楷体_GB2312" pitchFamily="49" charset="-122"/>
                <a:cs typeface="Arial" panose="020B0604020202020204" pitchFamily="34" charset="0"/>
              </a:rPr>
              <a:t>Find a path between two vertices</a:t>
            </a:r>
            <a:endParaRPr lang="zh-CN" altLang="en-US" sz="7200" b="1" dirty="0">
              <a:solidFill>
                <a:srgbClr val="0000FF"/>
              </a:solidFill>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4000" b="1" dirty="0">
                <a:solidFill>
                  <a:srgbClr val="0000FF"/>
                </a:solidFill>
                <a:latin typeface="Arial" panose="020B0604020202020204" pitchFamily="34" charset="0"/>
                <a:ea typeface="楷体_GB2312" pitchFamily="49" charset="-122"/>
                <a:cs typeface="Arial" panose="020B0604020202020204" pitchFamily="34" charset="0"/>
              </a:rPr>
              <a:t>Shortest path</a:t>
            </a:r>
            <a:endParaRPr lang="zh-CN" altLang="en-US" sz="4000" b="1"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47811" name="Text Box 3"/>
          <p:cNvSpPr txBox="1">
            <a:spLocks noChangeArrowheads="1"/>
          </p:cNvSpPr>
          <p:nvPr/>
        </p:nvSpPr>
        <p:spPr bwMode="auto">
          <a:xfrm>
            <a:off x="685800" y="3048000"/>
            <a:ext cx="8305800" cy="2748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3200">
                <a:solidFill>
                  <a:srgbClr val="000082"/>
                </a:solidFill>
                <a:latin typeface="Arial" panose="020B0604020202020204" pitchFamily="34" charset="0"/>
                <a:ea typeface="楷体_GB2312" pitchFamily="49" charset="-122"/>
                <a:cs typeface="Arial" panose="020B0604020202020204" pitchFamily="34" charset="0"/>
              </a:rPr>
              <a:t>If there are multiple paths between two vertices, one of them must be the shortest path. How can you find this path?</a:t>
            </a:r>
            <a:r>
              <a:rPr lang="zh-CN" altLang="en-US" sz="2400" b="1">
                <a:solidFill>
                  <a:srgbClr val="A50021"/>
                </a:solidFill>
                <a:latin typeface="Arial" panose="020B0604020202020204" pitchFamily="34" charset="0"/>
                <a:ea typeface="楷体_GB2312" pitchFamily="49" charset="-122"/>
                <a:cs typeface="Arial" panose="020B0604020202020204" pitchFamily="34" charset="0"/>
              </a:rPr>
              <a:t>(Only the minimum number of edges between two vertices is considered here)</a:t>
            </a:r>
            <a:endParaRPr lang="zh-CN" altLang="en-US" sz="2400" b="1">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47810"/>
                                        </p:tgtEl>
                                        <p:attrNameLst>
                                          <p:attrName>style.visibility</p:attrName>
                                        </p:attrNameLst>
                                      </p:cBhvr>
                                      <p:to>
                                        <p:strVal val="visible"/>
                                      </p:to>
                                    </p:set>
                                    <p:animEffect transition="in" filter="slide(fromTop)">
                                      <p:cBhvr>
                                        <p:cTn id="7" dur="500"/>
                                        <p:tgtEl>
                                          <p:spTgt spid="2478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47811">
                                            <p:txEl>
                                              <p:pRg st="4294967295" end="4294967295"/>
                                            </p:txEl>
                                          </p:spTgt>
                                        </p:tgtEl>
                                        <p:attrNameLst>
                                          <p:attrName>style.visibility</p:attrName>
                                        </p:attrNameLst>
                                      </p:cBhvr>
                                      <p:to>
                                        <p:strVal val="visible"/>
                                      </p:to>
                                    </p:set>
                                    <p:anim calcmode="lin" valueType="num">
                                      <p:cBhvr additive="base">
                                        <p:cTn id="12" dur="500" fill="hold"/>
                                        <p:tgtEl>
                                          <p:spTgt spid="247811">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7811">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47811">
                                            <p:txEl>
                                              <p:pRg st="0" end="0"/>
                                            </p:txEl>
                                          </p:spTgt>
                                        </p:tgtEl>
                                        <p:attrNameLst>
                                          <p:attrName>style.visibility</p:attrName>
                                        </p:attrNameLst>
                                      </p:cBhvr>
                                      <p:to>
                                        <p:strVal val="visible"/>
                                      </p:to>
                                    </p:set>
                                    <p:anim calcmode="lin" valueType="num">
                                      <p:cBhvr additive="base">
                                        <p:cTn id="18" dur="500" fill="hold"/>
                                        <p:tgtEl>
                                          <p:spTgt spid="247811">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478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0" grpId="0" bldLvl="0" animBg="1" autoUpdateAnimBg="0"/>
      <p:bldP spid="247811" grpId="0" autoUpdateAnimBg="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Oval 2"/>
          <p:cNvSpPr>
            <a:spLocks noChangeArrowheads="1"/>
          </p:cNvSpPr>
          <p:nvPr/>
        </p:nvSpPr>
        <p:spPr bwMode="auto">
          <a:xfrm>
            <a:off x="1828800" y="16002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248835" name="Oval 3"/>
          <p:cNvSpPr>
            <a:spLocks noChangeArrowheads="1"/>
          </p:cNvSpPr>
          <p:nvPr/>
        </p:nvSpPr>
        <p:spPr bwMode="auto">
          <a:xfrm>
            <a:off x="533400" y="10668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248836" name="Oval 4"/>
          <p:cNvSpPr>
            <a:spLocks noChangeArrowheads="1"/>
          </p:cNvSpPr>
          <p:nvPr/>
        </p:nvSpPr>
        <p:spPr bwMode="auto">
          <a:xfrm>
            <a:off x="152400" y="21336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248837" name="Oval 5"/>
          <p:cNvSpPr>
            <a:spLocks noChangeArrowheads="1"/>
          </p:cNvSpPr>
          <p:nvPr/>
        </p:nvSpPr>
        <p:spPr bwMode="auto">
          <a:xfrm>
            <a:off x="990600" y="32004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h</a:t>
            </a:r>
            <a:endParaRPr lang="en-US" altLang="zh-CN"/>
          </a:p>
        </p:txBody>
      </p:sp>
      <p:sp>
        <p:nvSpPr>
          <p:cNvPr id="248838" name="Oval 6"/>
          <p:cNvSpPr>
            <a:spLocks noChangeArrowheads="1"/>
          </p:cNvSpPr>
          <p:nvPr/>
        </p:nvSpPr>
        <p:spPr bwMode="auto">
          <a:xfrm>
            <a:off x="1676400" y="25908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248839" name="Oval 7"/>
          <p:cNvSpPr>
            <a:spLocks noChangeArrowheads="1"/>
          </p:cNvSpPr>
          <p:nvPr/>
        </p:nvSpPr>
        <p:spPr bwMode="auto">
          <a:xfrm>
            <a:off x="2819400" y="22098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248840" name="Oval 8"/>
          <p:cNvSpPr>
            <a:spLocks noChangeArrowheads="1"/>
          </p:cNvSpPr>
          <p:nvPr/>
        </p:nvSpPr>
        <p:spPr bwMode="auto">
          <a:xfrm>
            <a:off x="3962400" y="25908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k</a:t>
            </a:r>
            <a:endParaRPr lang="en-US" altLang="zh-CN"/>
          </a:p>
        </p:txBody>
      </p:sp>
      <p:sp>
        <p:nvSpPr>
          <p:cNvPr id="248841" name="Oval 9"/>
          <p:cNvSpPr>
            <a:spLocks noChangeArrowheads="1"/>
          </p:cNvSpPr>
          <p:nvPr/>
        </p:nvSpPr>
        <p:spPr bwMode="auto">
          <a:xfrm>
            <a:off x="3276600" y="7620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a:p>
        </p:txBody>
      </p:sp>
      <p:sp>
        <p:nvSpPr>
          <p:cNvPr id="248842" name="Line 10"/>
          <p:cNvSpPr>
            <a:spLocks noChangeShapeType="1"/>
          </p:cNvSpPr>
          <p:nvPr/>
        </p:nvSpPr>
        <p:spPr bwMode="auto">
          <a:xfrm flipH="1">
            <a:off x="685800" y="1905000"/>
            <a:ext cx="1143000" cy="381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3" name="Line 11"/>
          <p:cNvSpPr>
            <a:spLocks noChangeShapeType="1"/>
          </p:cNvSpPr>
          <p:nvPr/>
        </p:nvSpPr>
        <p:spPr bwMode="auto">
          <a:xfrm>
            <a:off x="457200" y="2590800"/>
            <a:ext cx="609600" cy="685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4" name="Line 12"/>
          <p:cNvSpPr>
            <a:spLocks noChangeShapeType="1"/>
          </p:cNvSpPr>
          <p:nvPr/>
        </p:nvSpPr>
        <p:spPr bwMode="auto">
          <a:xfrm>
            <a:off x="2438400" y="685800"/>
            <a:ext cx="838200" cy="2286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5" name="Line 13"/>
          <p:cNvSpPr>
            <a:spLocks noChangeShapeType="1"/>
          </p:cNvSpPr>
          <p:nvPr/>
        </p:nvSpPr>
        <p:spPr bwMode="auto">
          <a:xfrm flipH="1">
            <a:off x="1905000" y="2057400"/>
            <a:ext cx="228600" cy="5334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6" name="Line 14"/>
          <p:cNvSpPr>
            <a:spLocks noChangeShapeType="1"/>
          </p:cNvSpPr>
          <p:nvPr/>
        </p:nvSpPr>
        <p:spPr bwMode="auto">
          <a:xfrm flipH="1">
            <a:off x="1524000" y="2971800"/>
            <a:ext cx="228600" cy="381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7" name="Line 15"/>
          <p:cNvSpPr>
            <a:spLocks noChangeShapeType="1"/>
          </p:cNvSpPr>
          <p:nvPr/>
        </p:nvSpPr>
        <p:spPr bwMode="auto">
          <a:xfrm>
            <a:off x="3352800" y="2514600"/>
            <a:ext cx="609600" cy="304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8" name="Line 16"/>
          <p:cNvSpPr>
            <a:spLocks noChangeShapeType="1"/>
          </p:cNvSpPr>
          <p:nvPr/>
        </p:nvSpPr>
        <p:spPr bwMode="auto">
          <a:xfrm>
            <a:off x="2362200" y="1905000"/>
            <a:ext cx="609600" cy="381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9" name="Line 17"/>
          <p:cNvSpPr>
            <a:spLocks noChangeShapeType="1"/>
          </p:cNvSpPr>
          <p:nvPr/>
        </p:nvSpPr>
        <p:spPr bwMode="auto">
          <a:xfrm>
            <a:off x="3810000" y="1066800"/>
            <a:ext cx="457200" cy="15240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0" name="Line 18"/>
          <p:cNvSpPr>
            <a:spLocks noChangeShapeType="1"/>
          </p:cNvSpPr>
          <p:nvPr/>
        </p:nvSpPr>
        <p:spPr bwMode="auto">
          <a:xfrm flipH="1">
            <a:off x="3276600" y="1219200"/>
            <a:ext cx="304800" cy="1066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1" name="Oval 19"/>
          <p:cNvSpPr>
            <a:spLocks noChangeArrowheads="1"/>
          </p:cNvSpPr>
          <p:nvPr/>
        </p:nvSpPr>
        <p:spPr bwMode="auto">
          <a:xfrm>
            <a:off x="1905000" y="457200"/>
            <a:ext cx="533400" cy="457200"/>
          </a:xfrm>
          <a:prstGeom prst="ellipse">
            <a:avLst/>
          </a:prstGeom>
          <a:solidFill>
            <a:srgbClr val="FFFF99">
              <a:alpha val="50000"/>
            </a:srgbClr>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a:p>
        </p:txBody>
      </p:sp>
      <p:sp>
        <p:nvSpPr>
          <p:cNvPr id="248852" name="Line 20"/>
          <p:cNvSpPr>
            <a:spLocks noChangeShapeType="1"/>
          </p:cNvSpPr>
          <p:nvPr/>
        </p:nvSpPr>
        <p:spPr bwMode="auto">
          <a:xfrm flipV="1">
            <a:off x="990600" y="685800"/>
            <a:ext cx="914400" cy="4572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3" name="Line 21"/>
          <p:cNvSpPr>
            <a:spLocks noChangeShapeType="1"/>
          </p:cNvSpPr>
          <p:nvPr/>
        </p:nvSpPr>
        <p:spPr bwMode="auto">
          <a:xfrm>
            <a:off x="990600" y="1371600"/>
            <a:ext cx="914400" cy="3048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4" name="Line 22"/>
          <p:cNvSpPr>
            <a:spLocks noChangeShapeType="1"/>
          </p:cNvSpPr>
          <p:nvPr/>
        </p:nvSpPr>
        <p:spPr bwMode="auto">
          <a:xfrm flipH="1">
            <a:off x="2286000" y="1143000"/>
            <a:ext cx="990600" cy="5334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5" name="Line 23"/>
          <p:cNvSpPr>
            <a:spLocks noChangeShapeType="1"/>
          </p:cNvSpPr>
          <p:nvPr/>
        </p:nvSpPr>
        <p:spPr bwMode="auto">
          <a:xfrm flipH="1">
            <a:off x="457200" y="1524000"/>
            <a:ext cx="152400" cy="609600"/>
          </a:xfrm>
          <a:prstGeom prst="line">
            <a:avLst/>
          </a:prstGeom>
          <a:noFill/>
          <a:ln w="127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6" name="Line 24"/>
          <p:cNvSpPr>
            <a:spLocks noChangeShapeType="1"/>
          </p:cNvSpPr>
          <p:nvPr/>
        </p:nvSpPr>
        <p:spPr bwMode="auto">
          <a:xfrm flipH="1">
            <a:off x="457200" y="1447800"/>
            <a:ext cx="228600" cy="685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7" name="Line 25"/>
          <p:cNvSpPr>
            <a:spLocks noChangeShapeType="1"/>
          </p:cNvSpPr>
          <p:nvPr/>
        </p:nvSpPr>
        <p:spPr bwMode="auto">
          <a:xfrm>
            <a:off x="457200" y="2590800"/>
            <a:ext cx="609600" cy="685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8" name="Line 26"/>
          <p:cNvSpPr>
            <a:spLocks noChangeShapeType="1"/>
          </p:cNvSpPr>
          <p:nvPr/>
        </p:nvSpPr>
        <p:spPr bwMode="auto">
          <a:xfrm flipH="1">
            <a:off x="1524000" y="2971800"/>
            <a:ext cx="228600" cy="304800"/>
          </a:xfrm>
          <a:prstGeom prst="line">
            <a:avLst/>
          </a:prstGeom>
          <a:noFill/>
          <a:ln w="5715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59" name="Line 27"/>
          <p:cNvSpPr>
            <a:spLocks noChangeShapeType="1"/>
          </p:cNvSpPr>
          <p:nvPr/>
        </p:nvSpPr>
        <p:spPr bwMode="auto">
          <a:xfrm flipH="1">
            <a:off x="1905000" y="2057400"/>
            <a:ext cx="228600" cy="533400"/>
          </a:xfrm>
          <a:prstGeom prst="line">
            <a:avLst/>
          </a:prstGeom>
          <a:noFill/>
          <a:ln w="5715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0" name="Line 28"/>
          <p:cNvSpPr>
            <a:spLocks noChangeShapeType="1"/>
          </p:cNvSpPr>
          <p:nvPr/>
        </p:nvSpPr>
        <p:spPr bwMode="auto">
          <a:xfrm>
            <a:off x="2362200" y="1905000"/>
            <a:ext cx="533400" cy="304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1" name="Line 29"/>
          <p:cNvSpPr>
            <a:spLocks noChangeShapeType="1"/>
          </p:cNvSpPr>
          <p:nvPr/>
        </p:nvSpPr>
        <p:spPr bwMode="auto">
          <a:xfrm>
            <a:off x="3352800" y="2514600"/>
            <a:ext cx="609600" cy="30480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2" name="Line 30"/>
          <p:cNvSpPr>
            <a:spLocks noChangeShapeType="1"/>
          </p:cNvSpPr>
          <p:nvPr/>
        </p:nvSpPr>
        <p:spPr bwMode="auto">
          <a:xfrm>
            <a:off x="1066800" y="1371600"/>
            <a:ext cx="762000" cy="3048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3" name="Line 31"/>
          <p:cNvSpPr>
            <a:spLocks noChangeShapeType="1"/>
          </p:cNvSpPr>
          <p:nvPr/>
        </p:nvSpPr>
        <p:spPr bwMode="auto">
          <a:xfrm>
            <a:off x="2362200" y="1828800"/>
            <a:ext cx="685800" cy="3810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4" name="Line 32"/>
          <p:cNvSpPr>
            <a:spLocks noChangeShapeType="1"/>
          </p:cNvSpPr>
          <p:nvPr/>
        </p:nvSpPr>
        <p:spPr bwMode="auto">
          <a:xfrm>
            <a:off x="3352800" y="2438400"/>
            <a:ext cx="609600" cy="304800"/>
          </a:xfrm>
          <a:prstGeom prst="line">
            <a:avLst/>
          </a:prstGeom>
          <a:noFill/>
          <a:ln w="57150" cap="sq">
            <a:solidFill>
              <a:srgbClr val="A04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65" name="Text Box 33"/>
          <p:cNvSpPr txBox="1">
            <a:spLocks noChangeArrowheads="1"/>
          </p:cNvSpPr>
          <p:nvPr/>
        </p:nvSpPr>
        <p:spPr bwMode="auto">
          <a:xfrm>
            <a:off x="228600" y="4408488"/>
            <a:ext cx="8763000" cy="2084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3600">
                <a:solidFill>
                  <a:srgbClr val="000082"/>
                </a:solidFill>
                <a:latin typeface="Arial" panose="020B0604020202020204" pitchFamily="34" charset="0"/>
                <a:ea typeface="楷体_GB2312" pitchFamily="49" charset="-122"/>
                <a:cs typeface="Arial" panose="020B0604020202020204" pitchFamily="34" charset="0"/>
                <a:sym typeface="+mn-ea"/>
              </a:rPr>
              <a:t>Therefore, </a:t>
            </a:r>
            <a:r>
              <a:rPr lang="zh-CN" altLang="en-US" sz="3600" b="1">
                <a:solidFill>
                  <a:srgbClr val="A50021"/>
                </a:solidFill>
                <a:latin typeface="Arial" panose="020B0604020202020204" pitchFamily="34" charset="0"/>
                <a:ea typeface="楷体_GB2312" pitchFamily="49" charset="-122"/>
                <a:cs typeface="Arial" panose="020B0604020202020204" pitchFamily="34" charset="0"/>
                <a:sym typeface="+mn-ea"/>
              </a:rPr>
              <a:t>the path with the shortest length can be traversed based on breadth first search.</a:t>
            </a:r>
            <a:endParaRPr lang="zh-CN" altLang="en-US" sz="3600" b="1">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248866" name="Text Box 34"/>
          <p:cNvSpPr txBox="1">
            <a:spLocks noChangeArrowheads="1"/>
          </p:cNvSpPr>
          <p:nvPr/>
        </p:nvSpPr>
        <p:spPr bwMode="auto">
          <a:xfrm>
            <a:off x="4708525" y="457200"/>
            <a:ext cx="4511675" cy="407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rPr>
              <a:t>The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sym typeface="+mn-ea"/>
              </a:rPr>
              <a:t>order</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rPr>
              <a:t> in which </a:t>
            </a:r>
            <a:endPar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endParaRPr>
          </a:p>
          <a:p>
            <a:pPr>
              <a:lnSpc>
                <a:spcPct val="120000"/>
              </a:lnSpc>
            </a:pPr>
            <a:r>
              <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rPr>
              <a:t>vertices are visited by depth-first search depends on the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sym typeface="+mn-ea"/>
              </a:rPr>
              <a:t>storage structure </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rPr>
              <a:t>of the graph, </a:t>
            </a:r>
            <a:r>
              <a:rPr lang="zh-CN" altLang="en-US" sz="2400" b="1" dirty="0">
                <a:solidFill>
                  <a:srgbClr val="008000"/>
                </a:solidFill>
                <a:latin typeface="Arial" panose="020B0604020202020204" pitchFamily="34" charset="0"/>
                <a:ea typeface="楷体_GB2312" pitchFamily="49" charset="-122"/>
                <a:cs typeface="Arial" panose="020B0604020202020204" pitchFamily="34" charset="0"/>
                <a:sym typeface="+mn-ea"/>
              </a:rPr>
              <a:t>while the order in which vertices are visited by breadth-first search is in ascending order of path length.</a:t>
            </a:r>
            <a:endParaRPr lang="zh-CN" altLang="en-US" sz="2400" b="1" dirty="0">
              <a:solidFill>
                <a:srgbClr val="008000"/>
              </a:solidFill>
              <a:latin typeface="Arial" panose="020B0604020202020204" pitchFamily="34" charset="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4884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4884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4884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48847"/>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48848"/>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248854"/>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248855"/>
                                        </p:tgtEl>
                                        <p:attrNameLst>
                                          <p:attrName>style.visibility</p:attrName>
                                        </p:attrNameLst>
                                      </p:cBhvr>
                                      <p:to>
                                        <p:strVal val="visible"/>
                                      </p:to>
                                    </p:set>
                                  </p:childTnLst>
                                </p:cTn>
                              </p:par>
                            </p:childTnLst>
                          </p:cTn>
                        </p:par>
                        <p:par>
                          <p:cTn id="25" fill="hold">
                            <p:stCondLst>
                              <p:cond delay="3500"/>
                            </p:stCondLst>
                            <p:childTnLst>
                              <p:par>
                                <p:cTn id="26" presetID="17" presetClass="entr" presetSubtype="1" fill="hold" grpId="0" nodeType="afterEffect">
                                  <p:stCondLst>
                                    <p:cond delay="0"/>
                                  </p:stCondLst>
                                  <p:childTnLst>
                                    <p:set>
                                      <p:cBhvr>
                                        <p:cTn id="27" dur="1" fill="hold">
                                          <p:stCondLst>
                                            <p:cond delay="0"/>
                                          </p:stCondLst>
                                        </p:cTn>
                                        <p:tgtEl>
                                          <p:spTgt spid="248860"/>
                                        </p:tgtEl>
                                        <p:attrNameLst>
                                          <p:attrName>style.visibility</p:attrName>
                                        </p:attrNameLst>
                                      </p:cBhvr>
                                      <p:to>
                                        <p:strVal val="visible"/>
                                      </p:to>
                                    </p:set>
                                    <p:anim calcmode="lin" valueType="num">
                                      <p:cBhvr>
                                        <p:cTn id="28" dur="500" fill="hold"/>
                                        <p:tgtEl>
                                          <p:spTgt spid="248860"/>
                                        </p:tgtEl>
                                        <p:attrNameLst>
                                          <p:attrName>ppt_x</p:attrName>
                                        </p:attrNameLst>
                                      </p:cBhvr>
                                      <p:tavLst>
                                        <p:tav tm="0">
                                          <p:val>
                                            <p:strVal val="#ppt_x"/>
                                          </p:val>
                                        </p:tav>
                                        <p:tav tm="100000">
                                          <p:val>
                                            <p:strVal val="#ppt_x"/>
                                          </p:val>
                                        </p:tav>
                                      </p:tavLst>
                                    </p:anim>
                                    <p:anim calcmode="lin" valueType="num">
                                      <p:cBhvr>
                                        <p:cTn id="29" dur="500" fill="hold"/>
                                        <p:tgtEl>
                                          <p:spTgt spid="248860"/>
                                        </p:tgtEl>
                                        <p:attrNameLst>
                                          <p:attrName>ppt_y</p:attrName>
                                        </p:attrNameLst>
                                      </p:cBhvr>
                                      <p:tavLst>
                                        <p:tav tm="0">
                                          <p:val>
                                            <p:strVal val="#ppt_y-#ppt_h/2"/>
                                          </p:val>
                                        </p:tav>
                                        <p:tav tm="100000">
                                          <p:val>
                                            <p:strVal val="#ppt_y"/>
                                          </p:val>
                                        </p:tav>
                                      </p:tavLst>
                                    </p:anim>
                                    <p:anim calcmode="lin" valueType="num">
                                      <p:cBhvr>
                                        <p:cTn id="30" dur="500" fill="hold"/>
                                        <p:tgtEl>
                                          <p:spTgt spid="248860"/>
                                        </p:tgtEl>
                                        <p:attrNameLst>
                                          <p:attrName>ppt_w</p:attrName>
                                        </p:attrNameLst>
                                      </p:cBhvr>
                                      <p:tavLst>
                                        <p:tav tm="0">
                                          <p:val>
                                            <p:strVal val="#ppt_w"/>
                                          </p:val>
                                        </p:tav>
                                        <p:tav tm="100000">
                                          <p:val>
                                            <p:strVal val="#ppt_w"/>
                                          </p:val>
                                        </p:tav>
                                      </p:tavLst>
                                    </p:anim>
                                    <p:anim calcmode="lin" valueType="num">
                                      <p:cBhvr>
                                        <p:cTn id="31" dur="500" fill="hold"/>
                                        <p:tgtEl>
                                          <p:spTgt spid="248860"/>
                                        </p:tgtEl>
                                        <p:attrNameLst>
                                          <p:attrName>ppt_h</p:attrName>
                                        </p:attrNameLst>
                                      </p:cBhvr>
                                      <p:tavLst>
                                        <p:tav tm="0">
                                          <p:val>
                                            <p:fltVal val="0"/>
                                          </p:val>
                                        </p:tav>
                                        <p:tav tm="100000">
                                          <p:val>
                                            <p:strVal val="#ppt_h"/>
                                          </p:val>
                                        </p:tav>
                                      </p:tavLst>
                                    </p:anim>
                                  </p:childTnLst>
                                </p:cTn>
                              </p:par>
                            </p:childTnLst>
                          </p:cTn>
                        </p:par>
                        <p:par>
                          <p:cTn id="32" fill="hold">
                            <p:stCondLst>
                              <p:cond delay="4000"/>
                            </p:stCondLst>
                            <p:childTnLst>
                              <p:par>
                                <p:cTn id="33" presetID="17" presetClass="entr" presetSubtype="1" fill="hold" grpId="0" nodeType="afterEffect">
                                  <p:stCondLst>
                                    <p:cond delay="0"/>
                                  </p:stCondLst>
                                  <p:childTnLst>
                                    <p:set>
                                      <p:cBhvr>
                                        <p:cTn id="34" dur="1" fill="hold">
                                          <p:stCondLst>
                                            <p:cond delay="0"/>
                                          </p:stCondLst>
                                        </p:cTn>
                                        <p:tgtEl>
                                          <p:spTgt spid="248861"/>
                                        </p:tgtEl>
                                        <p:attrNameLst>
                                          <p:attrName>style.visibility</p:attrName>
                                        </p:attrNameLst>
                                      </p:cBhvr>
                                      <p:to>
                                        <p:strVal val="visible"/>
                                      </p:to>
                                    </p:set>
                                    <p:anim calcmode="lin" valueType="num">
                                      <p:cBhvr>
                                        <p:cTn id="35" dur="500" fill="hold"/>
                                        <p:tgtEl>
                                          <p:spTgt spid="248861"/>
                                        </p:tgtEl>
                                        <p:attrNameLst>
                                          <p:attrName>ppt_x</p:attrName>
                                        </p:attrNameLst>
                                      </p:cBhvr>
                                      <p:tavLst>
                                        <p:tav tm="0">
                                          <p:val>
                                            <p:strVal val="#ppt_x"/>
                                          </p:val>
                                        </p:tav>
                                        <p:tav tm="100000">
                                          <p:val>
                                            <p:strVal val="#ppt_x"/>
                                          </p:val>
                                        </p:tav>
                                      </p:tavLst>
                                    </p:anim>
                                    <p:anim calcmode="lin" valueType="num">
                                      <p:cBhvr>
                                        <p:cTn id="36" dur="500" fill="hold"/>
                                        <p:tgtEl>
                                          <p:spTgt spid="248861"/>
                                        </p:tgtEl>
                                        <p:attrNameLst>
                                          <p:attrName>ppt_y</p:attrName>
                                        </p:attrNameLst>
                                      </p:cBhvr>
                                      <p:tavLst>
                                        <p:tav tm="0">
                                          <p:val>
                                            <p:strVal val="#ppt_y-#ppt_h/2"/>
                                          </p:val>
                                        </p:tav>
                                        <p:tav tm="100000">
                                          <p:val>
                                            <p:strVal val="#ppt_y"/>
                                          </p:val>
                                        </p:tav>
                                      </p:tavLst>
                                    </p:anim>
                                    <p:anim calcmode="lin" valueType="num">
                                      <p:cBhvr>
                                        <p:cTn id="37" dur="500" fill="hold"/>
                                        <p:tgtEl>
                                          <p:spTgt spid="248861"/>
                                        </p:tgtEl>
                                        <p:attrNameLst>
                                          <p:attrName>ppt_w</p:attrName>
                                        </p:attrNameLst>
                                      </p:cBhvr>
                                      <p:tavLst>
                                        <p:tav tm="0">
                                          <p:val>
                                            <p:strVal val="#ppt_w"/>
                                          </p:val>
                                        </p:tav>
                                        <p:tav tm="100000">
                                          <p:val>
                                            <p:strVal val="#ppt_w"/>
                                          </p:val>
                                        </p:tav>
                                      </p:tavLst>
                                    </p:anim>
                                    <p:anim calcmode="lin" valueType="num">
                                      <p:cBhvr>
                                        <p:cTn id="38" dur="500" fill="hold"/>
                                        <p:tgtEl>
                                          <p:spTgt spid="248861"/>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 fill="hold" grpId="0" nodeType="clickEffect">
                                  <p:stCondLst>
                                    <p:cond delay="0"/>
                                  </p:stCondLst>
                                  <p:childTnLst>
                                    <p:set>
                                      <p:cBhvr>
                                        <p:cTn id="42" dur="1" fill="hold">
                                          <p:stCondLst>
                                            <p:cond delay="0"/>
                                          </p:stCondLst>
                                        </p:cTn>
                                        <p:tgtEl>
                                          <p:spTgt spid="248862"/>
                                        </p:tgtEl>
                                        <p:attrNameLst>
                                          <p:attrName>style.visibility</p:attrName>
                                        </p:attrNameLst>
                                      </p:cBhvr>
                                      <p:to>
                                        <p:strVal val="visible"/>
                                      </p:to>
                                    </p:set>
                                    <p:anim calcmode="lin" valueType="num">
                                      <p:cBhvr>
                                        <p:cTn id="43" dur="500" fill="hold"/>
                                        <p:tgtEl>
                                          <p:spTgt spid="248862"/>
                                        </p:tgtEl>
                                        <p:attrNameLst>
                                          <p:attrName>ppt_x</p:attrName>
                                        </p:attrNameLst>
                                      </p:cBhvr>
                                      <p:tavLst>
                                        <p:tav tm="0">
                                          <p:val>
                                            <p:strVal val="#ppt_x"/>
                                          </p:val>
                                        </p:tav>
                                        <p:tav tm="100000">
                                          <p:val>
                                            <p:strVal val="#ppt_x"/>
                                          </p:val>
                                        </p:tav>
                                      </p:tavLst>
                                    </p:anim>
                                    <p:anim calcmode="lin" valueType="num">
                                      <p:cBhvr>
                                        <p:cTn id="44" dur="500" fill="hold"/>
                                        <p:tgtEl>
                                          <p:spTgt spid="248862"/>
                                        </p:tgtEl>
                                        <p:attrNameLst>
                                          <p:attrName>ppt_y</p:attrName>
                                        </p:attrNameLst>
                                      </p:cBhvr>
                                      <p:tavLst>
                                        <p:tav tm="0">
                                          <p:val>
                                            <p:strVal val="#ppt_y-#ppt_h/2"/>
                                          </p:val>
                                        </p:tav>
                                        <p:tav tm="100000">
                                          <p:val>
                                            <p:strVal val="#ppt_y"/>
                                          </p:val>
                                        </p:tav>
                                      </p:tavLst>
                                    </p:anim>
                                    <p:anim calcmode="lin" valueType="num">
                                      <p:cBhvr>
                                        <p:cTn id="45" dur="500" fill="hold"/>
                                        <p:tgtEl>
                                          <p:spTgt spid="248862"/>
                                        </p:tgtEl>
                                        <p:attrNameLst>
                                          <p:attrName>ppt_w</p:attrName>
                                        </p:attrNameLst>
                                      </p:cBhvr>
                                      <p:tavLst>
                                        <p:tav tm="0">
                                          <p:val>
                                            <p:strVal val="#ppt_w"/>
                                          </p:val>
                                        </p:tav>
                                        <p:tav tm="100000">
                                          <p:val>
                                            <p:strVal val="#ppt_w"/>
                                          </p:val>
                                        </p:tav>
                                      </p:tavLst>
                                    </p:anim>
                                    <p:anim calcmode="lin" valueType="num">
                                      <p:cBhvr>
                                        <p:cTn id="46" dur="500" fill="hold"/>
                                        <p:tgtEl>
                                          <p:spTgt spid="248862"/>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48866">
                                            <p:txEl>
                                              <p:pRg st="4294967295" end="4294967295"/>
                                            </p:txEl>
                                          </p:spTgt>
                                        </p:tgtEl>
                                        <p:attrNameLst>
                                          <p:attrName>style.visibility</p:attrName>
                                        </p:attrNameLst>
                                      </p:cBhvr>
                                      <p:to>
                                        <p:strVal val="visible"/>
                                      </p:to>
                                    </p:set>
                                    <p:anim calcmode="lin" valueType="num">
                                      <p:cBhvr additive="base">
                                        <p:cTn id="51" dur="500" fill="hold"/>
                                        <p:tgtEl>
                                          <p:spTgt spid="248866">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248866">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248866">
                                            <p:txEl>
                                              <p:pRg st="0" end="0"/>
                                            </p:txEl>
                                          </p:spTgt>
                                        </p:tgtEl>
                                        <p:attrNameLst>
                                          <p:attrName>style.visibility</p:attrName>
                                        </p:attrNameLst>
                                      </p:cBhvr>
                                      <p:to>
                                        <p:strVal val="visible"/>
                                      </p:to>
                                    </p:set>
                                    <p:anim calcmode="lin" valueType="num">
                                      <p:cBhvr additive="base">
                                        <p:cTn id="57" dur="500" fill="hold"/>
                                        <p:tgtEl>
                                          <p:spTgt spid="248866">
                                            <p:txEl>
                                              <p:pRg st="0" end="0"/>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2488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248866">
                                            <p:txEl>
                                              <p:pRg st="1" end="1"/>
                                            </p:txEl>
                                          </p:spTgt>
                                        </p:tgtEl>
                                        <p:attrNameLst>
                                          <p:attrName>style.visibility</p:attrName>
                                        </p:attrNameLst>
                                      </p:cBhvr>
                                      <p:to>
                                        <p:strVal val="visible"/>
                                      </p:to>
                                    </p:set>
                                    <p:anim calcmode="lin" valueType="num">
                                      <p:cBhvr additive="base">
                                        <p:cTn id="63" dur="500" fill="hold"/>
                                        <p:tgtEl>
                                          <p:spTgt spid="248866">
                                            <p:txEl>
                                              <p:pRg st="1" end="1"/>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2488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248865">
                                            <p:txEl>
                                              <p:pRg st="4294967295" end="4294967295"/>
                                            </p:txEl>
                                          </p:spTgt>
                                        </p:tgtEl>
                                        <p:attrNameLst>
                                          <p:attrName>style.visibility</p:attrName>
                                        </p:attrNameLst>
                                      </p:cBhvr>
                                      <p:to>
                                        <p:strVal val="visible"/>
                                      </p:to>
                                    </p:set>
                                    <p:anim calcmode="lin" valueType="num">
                                      <p:cBhvr additive="base">
                                        <p:cTn id="69" dur="500" fill="hold"/>
                                        <p:tgtEl>
                                          <p:spTgt spid="248865">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248865">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248865">
                                            <p:txEl>
                                              <p:pRg st="0" end="0"/>
                                            </p:txEl>
                                          </p:spTgt>
                                        </p:tgtEl>
                                        <p:attrNameLst>
                                          <p:attrName>style.visibility</p:attrName>
                                        </p:attrNameLst>
                                      </p:cBhvr>
                                      <p:to>
                                        <p:strVal val="visible"/>
                                      </p:to>
                                    </p:set>
                                    <p:anim calcmode="lin" valueType="num">
                                      <p:cBhvr additive="base">
                                        <p:cTn id="75" dur="500" fill="hold"/>
                                        <p:tgtEl>
                                          <p:spTgt spid="248865">
                                            <p:txEl>
                                              <p:pRg st="0" end="0"/>
                                            </p:txEl>
                                          </p:spTgt>
                                        </p:tgtEl>
                                        <p:attrNameLst>
                                          <p:attrName>ppt_x</p:attrName>
                                        </p:attrNameLst>
                                      </p:cBhvr>
                                      <p:tavLst>
                                        <p:tav tm="0">
                                          <p:val>
                                            <p:strVal val="0-#ppt_w/2"/>
                                          </p:val>
                                        </p:tav>
                                        <p:tav tm="100000">
                                          <p:val>
                                            <p:strVal val="#ppt_x"/>
                                          </p:val>
                                        </p:tav>
                                      </p:tavLst>
                                    </p:anim>
                                    <p:anim calcmode="lin" valueType="num">
                                      <p:cBhvr additive="base">
                                        <p:cTn id="76" dur="500" fill="hold"/>
                                        <p:tgtEl>
                                          <p:spTgt spid="24886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3" grpId="0" animBg="1"/>
      <p:bldP spid="248845" grpId="0" animBg="1"/>
      <p:bldP spid="248846" grpId="0" animBg="1"/>
      <p:bldP spid="248847" grpId="0" animBg="1"/>
      <p:bldP spid="248848" grpId="0" animBg="1"/>
      <p:bldP spid="248854" grpId="0" animBg="1"/>
      <p:bldP spid="248855" grpId="0" animBg="1"/>
      <p:bldP spid="248860" grpId="0" animBg="1"/>
      <p:bldP spid="248861" grpId="0" animBg="1"/>
      <p:bldP spid="248862" grpId="0" animBg="1"/>
      <p:bldP spid="248865" grpId="0" autoUpdateAnimBg="0" build="p"/>
      <p:bldP spid="248866" grpId="0" autoUpdateAnimBg="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2"/>
          <p:cNvSpPr txBox="1">
            <a:spLocks noChangeArrowheads="1"/>
          </p:cNvSpPr>
          <p:nvPr/>
        </p:nvSpPr>
        <p:spPr bwMode="auto">
          <a:xfrm>
            <a:off x="179388" y="188913"/>
            <a:ext cx="4921250" cy="164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a:solidFill>
                  <a:srgbClr val="000082"/>
                </a:solidFill>
                <a:latin typeface="Arial" panose="020B0604020202020204" pitchFamily="34" charset="0"/>
                <a:ea typeface="楷体_GB2312" pitchFamily="49" charset="-122"/>
                <a:cs typeface="Arial" panose="020B0604020202020204" pitchFamily="34" charset="0"/>
                <a:sym typeface="+mn-ea"/>
              </a:rPr>
              <a:t>For example, find the shortest path from vertex 3 to vertex 5 in the following figure.</a:t>
            </a:r>
            <a:endParaRPr lang="zh-CN" altLang="en-US">
              <a:solidFill>
                <a:srgbClr val="000082"/>
              </a:solidFill>
              <a:latin typeface="Arial" panose="020B0604020202020204" pitchFamily="34" charset="0"/>
              <a:ea typeface="楷体_GB2312" pitchFamily="49" charset="-122"/>
              <a:cs typeface="Arial" panose="020B0604020202020204" pitchFamily="34" charset="0"/>
              <a:sym typeface="+mn-ea"/>
            </a:endParaRPr>
          </a:p>
        </p:txBody>
      </p:sp>
      <p:sp>
        <p:nvSpPr>
          <p:cNvPr id="249859" name="Line 3"/>
          <p:cNvSpPr>
            <a:spLocks noChangeShapeType="1"/>
          </p:cNvSpPr>
          <p:nvPr/>
        </p:nvSpPr>
        <p:spPr bwMode="auto">
          <a:xfrm>
            <a:off x="6216650" y="282575"/>
            <a:ext cx="1524000" cy="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0" name="Line 4"/>
          <p:cNvSpPr>
            <a:spLocks noChangeShapeType="1"/>
          </p:cNvSpPr>
          <p:nvPr/>
        </p:nvSpPr>
        <p:spPr bwMode="auto">
          <a:xfrm flipH="1">
            <a:off x="7207250" y="434975"/>
            <a:ext cx="53340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1" name="Line 5"/>
          <p:cNvSpPr>
            <a:spLocks noChangeShapeType="1"/>
          </p:cNvSpPr>
          <p:nvPr/>
        </p:nvSpPr>
        <p:spPr bwMode="auto">
          <a:xfrm>
            <a:off x="6140450" y="434975"/>
            <a:ext cx="762000" cy="457200"/>
          </a:xfrm>
          <a:prstGeom prst="line">
            <a:avLst/>
          </a:prstGeom>
          <a:noFill/>
          <a:ln w="381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2" name="Line 6"/>
          <p:cNvSpPr>
            <a:spLocks noChangeShapeType="1"/>
          </p:cNvSpPr>
          <p:nvPr/>
        </p:nvSpPr>
        <p:spPr bwMode="auto">
          <a:xfrm flipH="1">
            <a:off x="5911850" y="1044575"/>
            <a:ext cx="990600" cy="533400"/>
          </a:xfrm>
          <a:prstGeom prst="line">
            <a:avLst/>
          </a:prstGeom>
          <a:noFill/>
          <a:ln w="3810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3" name="Line 7"/>
          <p:cNvSpPr>
            <a:spLocks noChangeShapeType="1"/>
          </p:cNvSpPr>
          <p:nvPr/>
        </p:nvSpPr>
        <p:spPr bwMode="auto">
          <a:xfrm>
            <a:off x="7207250" y="1120775"/>
            <a:ext cx="83820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4" name="Line 8"/>
          <p:cNvSpPr>
            <a:spLocks noChangeShapeType="1"/>
          </p:cNvSpPr>
          <p:nvPr/>
        </p:nvSpPr>
        <p:spPr bwMode="auto">
          <a:xfrm flipH="1">
            <a:off x="7664450" y="1730375"/>
            <a:ext cx="38100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5" name="Line 9"/>
          <p:cNvSpPr>
            <a:spLocks noChangeShapeType="1"/>
          </p:cNvSpPr>
          <p:nvPr/>
        </p:nvSpPr>
        <p:spPr bwMode="auto">
          <a:xfrm>
            <a:off x="8426450" y="1654175"/>
            <a:ext cx="38100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6" name="Line 10"/>
          <p:cNvSpPr>
            <a:spLocks noChangeShapeType="1"/>
          </p:cNvSpPr>
          <p:nvPr/>
        </p:nvSpPr>
        <p:spPr bwMode="auto">
          <a:xfrm flipH="1">
            <a:off x="5149850" y="1806575"/>
            <a:ext cx="457200" cy="381000"/>
          </a:xfrm>
          <a:prstGeom prst="line">
            <a:avLst/>
          </a:prstGeom>
          <a:noFill/>
          <a:ln w="57150" cap="sq">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7" name="Line 11"/>
          <p:cNvSpPr>
            <a:spLocks noChangeShapeType="1"/>
          </p:cNvSpPr>
          <p:nvPr/>
        </p:nvSpPr>
        <p:spPr bwMode="auto">
          <a:xfrm>
            <a:off x="5226050" y="2339975"/>
            <a:ext cx="990600" cy="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8" name="Line 12"/>
          <p:cNvSpPr>
            <a:spLocks noChangeShapeType="1"/>
          </p:cNvSpPr>
          <p:nvPr/>
        </p:nvSpPr>
        <p:spPr bwMode="auto">
          <a:xfrm>
            <a:off x="6521450" y="2339975"/>
            <a:ext cx="838200" cy="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69" name="Line 13"/>
          <p:cNvSpPr>
            <a:spLocks noChangeShapeType="1"/>
          </p:cNvSpPr>
          <p:nvPr/>
        </p:nvSpPr>
        <p:spPr bwMode="auto">
          <a:xfrm>
            <a:off x="7740650" y="2339975"/>
            <a:ext cx="914400" cy="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870" name="Text Box 14"/>
          <p:cNvSpPr txBox="1">
            <a:spLocks noChangeArrowheads="1"/>
          </p:cNvSpPr>
          <p:nvPr/>
        </p:nvSpPr>
        <p:spPr bwMode="auto">
          <a:xfrm>
            <a:off x="179388" y="1700213"/>
            <a:ext cx="4762500" cy="181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solidFill>
                  <a:srgbClr val="000082"/>
                </a:solidFill>
                <a:latin typeface="Arial" panose="020B0604020202020204" pitchFamily="34" charset="0"/>
                <a:ea typeface="楷体_GB2312" pitchFamily="49" charset="-122"/>
                <a:cs typeface="Arial" panose="020B0604020202020204" pitchFamily="34" charset="0"/>
                <a:sym typeface="+mn-ea"/>
              </a:rPr>
              <a:t>If a linked queue is used, modify the node structure and the algorithms for enqueuing and dequeuing.</a:t>
            </a:r>
            <a:endParaRPr lang="zh-CN" altLang="en-US">
              <a:solidFill>
                <a:srgbClr val="000082"/>
              </a:solidFill>
              <a:latin typeface="Arial" panose="020B0604020202020204" pitchFamily="34" charset="0"/>
              <a:ea typeface="楷体_GB2312" pitchFamily="49" charset="-122"/>
              <a:cs typeface="Arial" panose="020B0604020202020204" pitchFamily="34" charset="0"/>
              <a:sym typeface="+mn-ea"/>
            </a:endParaRPr>
          </a:p>
        </p:txBody>
      </p:sp>
      <p:sp>
        <p:nvSpPr>
          <p:cNvPr id="249930" name="Line 74"/>
          <p:cNvSpPr>
            <a:spLocks noChangeShapeType="1"/>
          </p:cNvSpPr>
          <p:nvPr/>
        </p:nvSpPr>
        <p:spPr bwMode="auto">
          <a:xfrm>
            <a:off x="5911850" y="1654175"/>
            <a:ext cx="381000" cy="457200"/>
          </a:xfrm>
          <a:prstGeom prst="line">
            <a:avLst/>
          </a:prstGeom>
          <a:noFill/>
          <a:ln w="28575"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37" name="Oval 81"/>
          <p:cNvSpPr>
            <a:spLocks noChangeArrowheads="1"/>
          </p:cNvSpPr>
          <p:nvPr/>
        </p:nvSpPr>
        <p:spPr bwMode="auto">
          <a:xfrm>
            <a:off x="5835650" y="1301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3</a:t>
            </a:r>
            <a:endParaRPr lang="en-US" altLang="zh-CN"/>
          </a:p>
        </p:txBody>
      </p:sp>
      <p:sp>
        <p:nvSpPr>
          <p:cNvPr id="249938" name="Oval 82"/>
          <p:cNvSpPr>
            <a:spLocks noChangeArrowheads="1"/>
          </p:cNvSpPr>
          <p:nvPr/>
        </p:nvSpPr>
        <p:spPr bwMode="auto">
          <a:xfrm>
            <a:off x="7740650" y="1301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2</a:t>
            </a:r>
            <a:endParaRPr lang="en-US" altLang="zh-CN"/>
          </a:p>
        </p:txBody>
      </p:sp>
      <p:sp>
        <p:nvSpPr>
          <p:cNvPr id="249939" name="Oval 83"/>
          <p:cNvSpPr>
            <a:spLocks noChangeArrowheads="1"/>
          </p:cNvSpPr>
          <p:nvPr/>
        </p:nvSpPr>
        <p:spPr bwMode="auto">
          <a:xfrm>
            <a:off x="6826250" y="8159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1</a:t>
            </a:r>
            <a:endParaRPr lang="en-US" altLang="zh-CN"/>
          </a:p>
        </p:txBody>
      </p:sp>
      <p:sp>
        <p:nvSpPr>
          <p:cNvPr id="249940" name="Oval 84"/>
          <p:cNvSpPr>
            <a:spLocks noChangeArrowheads="1"/>
          </p:cNvSpPr>
          <p:nvPr/>
        </p:nvSpPr>
        <p:spPr bwMode="auto">
          <a:xfrm>
            <a:off x="5530850" y="14255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4</a:t>
            </a:r>
            <a:endParaRPr lang="en-US" altLang="zh-CN"/>
          </a:p>
        </p:txBody>
      </p:sp>
      <p:sp>
        <p:nvSpPr>
          <p:cNvPr id="249941" name="Oval 85"/>
          <p:cNvSpPr>
            <a:spLocks noChangeArrowheads="1"/>
          </p:cNvSpPr>
          <p:nvPr/>
        </p:nvSpPr>
        <p:spPr bwMode="auto">
          <a:xfrm>
            <a:off x="8045450" y="14255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7</a:t>
            </a:r>
            <a:endParaRPr lang="en-US" altLang="zh-CN"/>
          </a:p>
        </p:txBody>
      </p:sp>
      <p:sp>
        <p:nvSpPr>
          <p:cNvPr id="249942" name="Oval 86"/>
          <p:cNvSpPr>
            <a:spLocks noChangeArrowheads="1"/>
          </p:cNvSpPr>
          <p:nvPr/>
        </p:nvSpPr>
        <p:spPr bwMode="auto">
          <a:xfrm>
            <a:off x="4845050" y="21113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5</a:t>
            </a:r>
            <a:endParaRPr lang="en-US" altLang="zh-CN"/>
          </a:p>
        </p:txBody>
      </p:sp>
      <p:sp>
        <p:nvSpPr>
          <p:cNvPr id="249943" name="Oval 87"/>
          <p:cNvSpPr>
            <a:spLocks noChangeArrowheads="1"/>
          </p:cNvSpPr>
          <p:nvPr/>
        </p:nvSpPr>
        <p:spPr bwMode="auto">
          <a:xfrm>
            <a:off x="6140450" y="21113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6</a:t>
            </a:r>
            <a:endParaRPr lang="en-US" altLang="zh-CN"/>
          </a:p>
        </p:txBody>
      </p:sp>
      <p:sp>
        <p:nvSpPr>
          <p:cNvPr id="249944" name="Oval 88"/>
          <p:cNvSpPr>
            <a:spLocks noChangeArrowheads="1"/>
          </p:cNvSpPr>
          <p:nvPr/>
        </p:nvSpPr>
        <p:spPr bwMode="auto">
          <a:xfrm>
            <a:off x="7359650" y="21113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8</a:t>
            </a:r>
            <a:endParaRPr lang="en-US" altLang="zh-CN"/>
          </a:p>
        </p:txBody>
      </p:sp>
      <p:sp>
        <p:nvSpPr>
          <p:cNvPr id="249945" name="Oval 89"/>
          <p:cNvSpPr>
            <a:spLocks noChangeArrowheads="1"/>
          </p:cNvSpPr>
          <p:nvPr/>
        </p:nvSpPr>
        <p:spPr bwMode="auto">
          <a:xfrm>
            <a:off x="8655050" y="2111375"/>
            <a:ext cx="381000" cy="3810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9</a:t>
            </a:r>
            <a:endParaRPr lang="en-US" altLang="zh-CN"/>
          </a:p>
        </p:txBody>
      </p:sp>
      <p:grpSp>
        <p:nvGrpSpPr>
          <p:cNvPr id="250012" name="Group 156"/>
          <p:cNvGrpSpPr/>
          <p:nvPr/>
        </p:nvGrpSpPr>
        <p:grpSpPr bwMode="auto">
          <a:xfrm>
            <a:off x="-92075" y="3284538"/>
            <a:ext cx="9236075" cy="2971800"/>
            <a:chOff x="-58" y="2069"/>
            <a:chExt cx="5818" cy="1872"/>
          </a:xfrm>
        </p:grpSpPr>
        <p:sp>
          <p:nvSpPr>
            <p:cNvPr id="249917" name="Line 61"/>
            <p:cNvSpPr>
              <a:spLocks noChangeShapeType="1"/>
            </p:cNvSpPr>
            <p:nvPr/>
          </p:nvSpPr>
          <p:spPr bwMode="auto">
            <a:xfrm>
              <a:off x="5088" y="2640"/>
              <a:ext cx="672" cy="0"/>
            </a:xfrm>
            <a:prstGeom prst="line">
              <a:avLst/>
            </a:prstGeom>
            <a:noFill/>
            <a:ln w="38100" cap="sq">
              <a:solidFill>
                <a:srgbClr val="7800EE"/>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9947" name="Group 91"/>
            <p:cNvGrpSpPr/>
            <p:nvPr/>
          </p:nvGrpSpPr>
          <p:grpSpPr bwMode="auto">
            <a:xfrm>
              <a:off x="-58" y="2069"/>
              <a:ext cx="5788" cy="1872"/>
              <a:chOff x="-58" y="2069"/>
              <a:chExt cx="5788" cy="1872"/>
            </a:xfrm>
          </p:grpSpPr>
          <p:sp>
            <p:nvSpPr>
              <p:cNvPr id="249948" name="Text Box 92"/>
              <p:cNvSpPr txBox="1">
                <a:spLocks noChangeArrowheads="1"/>
              </p:cNvSpPr>
              <p:nvPr/>
            </p:nvSpPr>
            <p:spPr bwMode="auto">
              <a:xfrm>
                <a:off x="1056" y="2529"/>
                <a:ext cx="432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a:ea typeface="楷体_GB2312" pitchFamily="49" charset="-122"/>
                  </a:rPr>
                  <a:t> </a:t>
                </a:r>
                <a:r>
                  <a:rPr lang="en-US" altLang="zh-CN" sz="3600" b="1">
                    <a:solidFill>
                      <a:srgbClr val="000082"/>
                    </a:solidFill>
                    <a:ea typeface="楷体_GB2312" pitchFamily="49" charset="-122"/>
                  </a:rPr>
                  <a:t>3        1         2         4         7         5</a:t>
                </a:r>
                <a:r>
                  <a:rPr lang="en-US" altLang="zh-CN" sz="3600" b="1">
                    <a:ea typeface="楷体_GB2312" pitchFamily="49" charset="-122"/>
                  </a:rPr>
                  <a:t> </a:t>
                </a:r>
                <a:endParaRPr lang="en-US" altLang="zh-CN" sz="3600" b="1">
                  <a:ea typeface="楷体_GB2312" pitchFamily="49" charset="-122"/>
                </a:endParaRPr>
              </a:p>
            </p:txBody>
          </p:sp>
          <p:sp>
            <p:nvSpPr>
              <p:cNvPr id="249949" name="Line 93"/>
              <p:cNvSpPr>
                <a:spLocks noChangeShapeType="1"/>
              </p:cNvSpPr>
              <p:nvPr/>
            </p:nvSpPr>
            <p:spPr bwMode="auto">
              <a:xfrm>
                <a:off x="139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0" name="Line 94"/>
              <p:cNvSpPr>
                <a:spLocks noChangeShapeType="1"/>
              </p:cNvSpPr>
              <p:nvPr/>
            </p:nvSpPr>
            <p:spPr bwMode="auto">
              <a:xfrm>
                <a:off x="158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1" name="Line 95"/>
              <p:cNvSpPr>
                <a:spLocks noChangeShapeType="1"/>
              </p:cNvSpPr>
              <p:nvPr/>
            </p:nvSpPr>
            <p:spPr bwMode="auto">
              <a:xfrm>
                <a:off x="110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2" name="Line 96"/>
              <p:cNvSpPr>
                <a:spLocks noChangeShapeType="1"/>
              </p:cNvSpPr>
              <p:nvPr/>
            </p:nvSpPr>
            <p:spPr bwMode="auto">
              <a:xfrm>
                <a:off x="1104"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3" name="Line 97"/>
              <p:cNvSpPr>
                <a:spLocks noChangeShapeType="1"/>
              </p:cNvSpPr>
              <p:nvPr/>
            </p:nvSpPr>
            <p:spPr bwMode="auto">
              <a:xfrm>
                <a:off x="1104"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4" name="Line 98"/>
              <p:cNvSpPr>
                <a:spLocks noChangeShapeType="1"/>
              </p:cNvSpPr>
              <p:nvPr/>
            </p:nvSpPr>
            <p:spPr bwMode="auto">
              <a:xfrm>
                <a:off x="211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5" name="Line 99"/>
              <p:cNvSpPr>
                <a:spLocks noChangeShapeType="1"/>
              </p:cNvSpPr>
              <p:nvPr/>
            </p:nvSpPr>
            <p:spPr bwMode="auto">
              <a:xfrm>
                <a:off x="230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6" name="Line 100"/>
              <p:cNvSpPr>
                <a:spLocks noChangeShapeType="1"/>
              </p:cNvSpPr>
              <p:nvPr/>
            </p:nvSpPr>
            <p:spPr bwMode="auto">
              <a:xfrm>
                <a:off x="182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7" name="Line 101"/>
              <p:cNvSpPr>
                <a:spLocks noChangeShapeType="1"/>
              </p:cNvSpPr>
              <p:nvPr/>
            </p:nvSpPr>
            <p:spPr bwMode="auto">
              <a:xfrm>
                <a:off x="1824"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8" name="Line 102"/>
              <p:cNvSpPr>
                <a:spLocks noChangeShapeType="1"/>
              </p:cNvSpPr>
              <p:nvPr/>
            </p:nvSpPr>
            <p:spPr bwMode="auto">
              <a:xfrm>
                <a:off x="1824"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59" name="Line 103"/>
              <p:cNvSpPr>
                <a:spLocks noChangeShapeType="1"/>
              </p:cNvSpPr>
              <p:nvPr/>
            </p:nvSpPr>
            <p:spPr bwMode="auto">
              <a:xfrm>
                <a:off x="2880"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0" name="Line 104"/>
              <p:cNvSpPr>
                <a:spLocks noChangeShapeType="1"/>
              </p:cNvSpPr>
              <p:nvPr/>
            </p:nvSpPr>
            <p:spPr bwMode="auto">
              <a:xfrm>
                <a:off x="307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1" name="Line 105"/>
              <p:cNvSpPr>
                <a:spLocks noChangeShapeType="1"/>
              </p:cNvSpPr>
              <p:nvPr/>
            </p:nvSpPr>
            <p:spPr bwMode="auto">
              <a:xfrm>
                <a:off x="259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2" name="Line 106"/>
              <p:cNvSpPr>
                <a:spLocks noChangeShapeType="1"/>
              </p:cNvSpPr>
              <p:nvPr/>
            </p:nvSpPr>
            <p:spPr bwMode="auto">
              <a:xfrm>
                <a:off x="2592"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3" name="Line 107"/>
              <p:cNvSpPr>
                <a:spLocks noChangeShapeType="1"/>
              </p:cNvSpPr>
              <p:nvPr/>
            </p:nvSpPr>
            <p:spPr bwMode="auto">
              <a:xfrm>
                <a:off x="2592"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4" name="Line 108"/>
              <p:cNvSpPr>
                <a:spLocks noChangeShapeType="1"/>
              </p:cNvSpPr>
              <p:nvPr/>
            </p:nvSpPr>
            <p:spPr bwMode="auto">
              <a:xfrm>
                <a:off x="3696"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5" name="Line 109"/>
              <p:cNvSpPr>
                <a:spLocks noChangeShapeType="1"/>
              </p:cNvSpPr>
              <p:nvPr/>
            </p:nvSpPr>
            <p:spPr bwMode="auto">
              <a:xfrm>
                <a:off x="3888"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6" name="Line 110"/>
              <p:cNvSpPr>
                <a:spLocks noChangeShapeType="1"/>
              </p:cNvSpPr>
              <p:nvPr/>
            </p:nvSpPr>
            <p:spPr bwMode="auto">
              <a:xfrm>
                <a:off x="3408"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7" name="Line 111"/>
              <p:cNvSpPr>
                <a:spLocks noChangeShapeType="1"/>
              </p:cNvSpPr>
              <p:nvPr/>
            </p:nvSpPr>
            <p:spPr bwMode="auto">
              <a:xfrm>
                <a:off x="3408"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8" name="Line 112"/>
              <p:cNvSpPr>
                <a:spLocks noChangeShapeType="1"/>
              </p:cNvSpPr>
              <p:nvPr/>
            </p:nvSpPr>
            <p:spPr bwMode="auto">
              <a:xfrm>
                <a:off x="3408"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69" name="Line 113"/>
              <p:cNvSpPr>
                <a:spLocks noChangeShapeType="1"/>
              </p:cNvSpPr>
              <p:nvPr/>
            </p:nvSpPr>
            <p:spPr bwMode="auto">
              <a:xfrm>
                <a:off x="451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0" name="Line 114"/>
              <p:cNvSpPr>
                <a:spLocks noChangeShapeType="1"/>
              </p:cNvSpPr>
              <p:nvPr/>
            </p:nvSpPr>
            <p:spPr bwMode="auto">
              <a:xfrm>
                <a:off x="470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1" name="Line 115"/>
              <p:cNvSpPr>
                <a:spLocks noChangeShapeType="1"/>
              </p:cNvSpPr>
              <p:nvPr/>
            </p:nvSpPr>
            <p:spPr bwMode="auto">
              <a:xfrm>
                <a:off x="422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2" name="Line 116"/>
              <p:cNvSpPr>
                <a:spLocks noChangeShapeType="1"/>
              </p:cNvSpPr>
              <p:nvPr/>
            </p:nvSpPr>
            <p:spPr bwMode="auto">
              <a:xfrm>
                <a:off x="4224"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3" name="Line 117"/>
              <p:cNvSpPr>
                <a:spLocks noChangeShapeType="1"/>
              </p:cNvSpPr>
              <p:nvPr/>
            </p:nvSpPr>
            <p:spPr bwMode="auto">
              <a:xfrm>
                <a:off x="4224"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4" name="Line 118"/>
              <p:cNvSpPr>
                <a:spLocks noChangeShapeType="1"/>
              </p:cNvSpPr>
              <p:nvPr/>
            </p:nvSpPr>
            <p:spPr bwMode="auto">
              <a:xfrm>
                <a:off x="5280"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5" name="Line 119"/>
              <p:cNvSpPr>
                <a:spLocks noChangeShapeType="1"/>
              </p:cNvSpPr>
              <p:nvPr/>
            </p:nvSpPr>
            <p:spPr bwMode="auto">
              <a:xfrm>
                <a:off x="547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6" name="Line 120"/>
              <p:cNvSpPr>
                <a:spLocks noChangeShapeType="1"/>
              </p:cNvSpPr>
              <p:nvPr/>
            </p:nvSpPr>
            <p:spPr bwMode="auto">
              <a:xfrm>
                <a:off x="4992"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7" name="Line 121"/>
              <p:cNvSpPr>
                <a:spLocks noChangeShapeType="1"/>
              </p:cNvSpPr>
              <p:nvPr/>
            </p:nvSpPr>
            <p:spPr bwMode="auto">
              <a:xfrm>
                <a:off x="4992"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8" name="Line 122"/>
              <p:cNvSpPr>
                <a:spLocks noChangeShapeType="1"/>
              </p:cNvSpPr>
              <p:nvPr/>
            </p:nvSpPr>
            <p:spPr bwMode="auto">
              <a:xfrm>
                <a:off x="4992"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79" name="Line 123"/>
              <p:cNvSpPr>
                <a:spLocks noChangeShapeType="1"/>
              </p:cNvSpPr>
              <p:nvPr/>
            </p:nvSpPr>
            <p:spPr bwMode="auto">
              <a:xfrm>
                <a:off x="816"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0" name="Line 124"/>
              <p:cNvSpPr>
                <a:spLocks noChangeShapeType="1"/>
              </p:cNvSpPr>
              <p:nvPr/>
            </p:nvSpPr>
            <p:spPr bwMode="auto">
              <a:xfrm>
                <a:off x="336"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1" name="Line 125"/>
              <p:cNvSpPr>
                <a:spLocks noChangeShapeType="1"/>
              </p:cNvSpPr>
              <p:nvPr/>
            </p:nvSpPr>
            <p:spPr bwMode="auto">
              <a:xfrm>
                <a:off x="336" y="2597"/>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2" name="Line 126"/>
              <p:cNvSpPr>
                <a:spLocks noChangeShapeType="1"/>
              </p:cNvSpPr>
              <p:nvPr/>
            </p:nvSpPr>
            <p:spPr bwMode="auto">
              <a:xfrm>
                <a:off x="336" y="2885"/>
                <a:ext cx="48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3" name="Line 127"/>
              <p:cNvSpPr>
                <a:spLocks noChangeShapeType="1"/>
              </p:cNvSpPr>
              <p:nvPr/>
            </p:nvSpPr>
            <p:spPr bwMode="auto">
              <a:xfrm>
                <a:off x="4224" y="2885"/>
                <a:ext cx="0" cy="105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4" name="Line 128"/>
              <p:cNvSpPr>
                <a:spLocks noChangeShapeType="1"/>
              </p:cNvSpPr>
              <p:nvPr/>
            </p:nvSpPr>
            <p:spPr bwMode="auto">
              <a:xfrm flipH="1">
                <a:off x="1968" y="3941"/>
                <a:ext cx="2256"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5" name="Line 129"/>
              <p:cNvSpPr>
                <a:spLocks noChangeShapeType="1"/>
              </p:cNvSpPr>
              <p:nvPr/>
            </p:nvSpPr>
            <p:spPr bwMode="auto">
              <a:xfrm flipV="1">
                <a:off x="1968" y="2885"/>
                <a:ext cx="0" cy="1056"/>
              </a:xfrm>
              <a:prstGeom prst="line">
                <a:avLst/>
              </a:prstGeom>
              <a:noFill/>
              <a:ln w="381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6" name="Line 130"/>
              <p:cNvSpPr>
                <a:spLocks noChangeShapeType="1"/>
              </p:cNvSpPr>
              <p:nvPr/>
            </p:nvSpPr>
            <p:spPr bwMode="auto">
              <a:xfrm>
                <a:off x="3408" y="2885"/>
                <a:ext cx="0" cy="816"/>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7" name="Line 131"/>
              <p:cNvSpPr>
                <a:spLocks noChangeShapeType="1"/>
              </p:cNvSpPr>
              <p:nvPr/>
            </p:nvSpPr>
            <p:spPr bwMode="auto">
              <a:xfrm flipH="1">
                <a:off x="1968" y="3701"/>
                <a:ext cx="1440" cy="0"/>
              </a:xfrm>
              <a:prstGeom prst="line">
                <a:avLst/>
              </a:prstGeom>
              <a:noFill/>
              <a:ln w="38100" cap="sq">
                <a:solidFill>
                  <a:srgbClr val="800000"/>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8" name="Line 132"/>
              <p:cNvSpPr>
                <a:spLocks noChangeShapeType="1"/>
              </p:cNvSpPr>
              <p:nvPr/>
            </p:nvSpPr>
            <p:spPr bwMode="auto">
              <a:xfrm>
                <a:off x="2592" y="2885"/>
                <a:ext cx="0" cy="57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89" name="Line 133"/>
              <p:cNvSpPr>
                <a:spLocks noChangeShapeType="1"/>
              </p:cNvSpPr>
              <p:nvPr/>
            </p:nvSpPr>
            <p:spPr bwMode="auto">
              <a:xfrm flipH="1">
                <a:off x="1248" y="3461"/>
                <a:ext cx="1344"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0" name="Line 134"/>
              <p:cNvSpPr>
                <a:spLocks noChangeShapeType="1"/>
              </p:cNvSpPr>
              <p:nvPr/>
            </p:nvSpPr>
            <p:spPr bwMode="auto">
              <a:xfrm flipV="1">
                <a:off x="1248" y="2885"/>
                <a:ext cx="0" cy="576"/>
              </a:xfrm>
              <a:prstGeom prst="line">
                <a:avLst/>
              </a:prstGeom>
              <a:noFill/>
              <a:ln w="381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1" name="Line 135"/>
              <p:cNvSpPr>
                <a:spLocks noChangeShapeType="1"/>
              </p:cNvSpPr>
              <p:nvPr/>
            </p:nvSpPr>
            <p:spPr bwMode="auto">
              <a:xfrm>
                <a:off x="0" y="2453"/>
                <a:ext cx="3552" cy="0"/>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2" name="Line 136"/>
              <p:cNvSpPr>
                <a:spLocks noChangeShapeType="1"/>
              </p:cNvSpPr>
              <p:nvPr/>
            </p:nvSpPr>
            <p:spPr bwMode="auto">
              <a:xfrm>
                <a:off x="3552" y="2501"/>
                <a:ext cx="0" cy="96"/>
              </a:xfrm>
              <a:prstGeom prst="line">
                <a:avLst/>
              </a:prstGeom>
              <a:noFill/>
              <a:ln w="12700" cap="sq">
                <a:solidFill>
                  <a:schemeClr val="tx1"/>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3" name="Line 137"/>
              <p:cNvSpPr>
                <a:spLocks noChangeShapeType="1"/>
              </p:cNvSpPr>
              <p:nvPr/>
            </p:nvSpPr>
            <p:spPr bwMode="auto">
              <a:xfrm>
                <a:off x="3552" y="2453"/>
                <a:ext cx="0" cy="48"/>
              </a:xfrm>
              <a:prstGeom prst="line">
                <a:avLst/>
              </a:prstGeom>
              <a:noFill/>
              <a:ln w="38100" cap="sq">
                <a:solidFill>
                  <a:srgbClr val="3333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4" name="Line 138"/>
              <p:cNvSpPr>
                <a:spLocks noChangeShapeType="1"/>
              </p:cNvSpPr>
              <p:nvPr/>
            </p:nvSpPr>
            <p:spPr bwMode="auto">
              <a:xfrm>
                <a:off x="5088" y="2453"/>
                <a:ext cx="0" cy="144"/>
              </a:xfrm>
              <a:prstGeom prst="line">
                <a:avLst/>
              </a:prstGeom>
              <a:noFill/>
              <a:ln w="38100" cap="sq">
                <a:solidFill>
                  <a:srgbClr val="7800EE"/>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5" name="Text Box 139"/>
              <p:cNvSpPr txBox="1">
                <a:spLocks noChangeArrowheads="1"/>
              </p:cNvSpPr>
              <p:nvPr/>
            </p:nvSpPr>
            <p:spPr bwMode="auto">
              <a:xfrm>
                <a:off x="-58" y="2069"/>
                <a:ext cx="57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t>     </a:t>
                </a:r>
                <a:r>
                  <a:rPr lang="en-US" altLang="zh-CN" sz="3600">
                    <a:solidFill>
                      <a:srgbClr val="3333FF"/>
                    </a:solidFill>
                  </a:rPr>
                  <a:t>Q.front</a:t>
                </a:r>
                <a:r>
                  <a:rPr lang="en-US" altLang="zh-CN" sz="3600"/>
                  <a:t>                                                    </a:t>
                </a:r>
                <a:r>
                  <a:rPr lang="en-US" altLang="zh-CN" sz="3600">
                    <a:solidFill>
                      <a:srgbClr val="7800EE"/>
                    </a:solidFill>
                  </a:rPr>
                  <a:t>Q.rear</a:t>
                </a:r>
                <a:endParaRPr lang="en-US" altLang="zh-CN" sz="3600"/>
              </a:p>
            </p:txBody>
          </p:sp>
          <p:sp>
            <p:nvSpPr>
              <p:cNvPr id="249996" name="Rectangle 140"/>
              <p:cNvSpPr>
                <a:spLocks noChangeArrowheads="1"/>
              </p:cNvSpPr>
              <p:nvPr/>
            </p:nvSpPr>
            <p:spPr bwMode="auto">
              <a:xfrm>
                <a:off x="336" y="2597"/>
                <a:ext cx="480" cy="288"/>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7" name="Line 141"/>
              <p:cNvSpPr>
                <a:spLocks noChangeShapeType="1"/>
              </p:cNvSpPr>
              <p:nvPr/>
            </p:nvSpPr>
            <p:spPr bwMode="auto">
              <a:xfrm>
                <a:off x="624" y="2597"/>
                <a:ext cx="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8" name="Line 142"/>
              <p:cNvSpPr>
                <a:spLocks noChangeShapeType="1"/>
              </p:cNvSpPr>
              <p:nvPr/>
            </p:nvSpPr>
            <p:spPr bwMode="auto">
              <a:xfrm>
                <a:off x="1104" y="2885"/>
                <a:ext cx="0" cy="816"/>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9999" name="Line 143"/>
              <p:cNvSpPr>
                <a:spLocks noChangeShapeType="1"/>
              </p:cNvSpPr>
              <p:nvPr/>
            </p:nvSpPr>
            <p:spPr bwMode="auto">
              <a:xfrm flipH="1">
                <a:off x="480" y="3701"/>
                <a:ext cx="624"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0" name="Line 144"/>
              <p:cNvSpPr>
                <a:spLocks noChangeShapeType="1"/>
              </p:cNvSpPr>
              <p:nvPr/>
            </p:nvSpPr>
            <p:spPr bwMode="auto">
              <a:xfrm flipV="1">
                <a:off x="480" y="2885"/>
                <a:ext cx="0" cy="816"/>
              </a:xfrm>
              <a:prstGeom prst="line">
                <a:avLst/>
              </a:prstGeom>
              <a:noFill/>
              <a:ln w="12700" cap="sq">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1" name="Line 145"/>
              <p:cNvSpPr>
                <a:spLocks noChangeShapeType="1"/>
              </p:cNvSpPr>
              <p:nvPr/>
            </p:nvSpPr>
            <p:spPr bwMode="auto">
              <a:xfrm>
                <a:off x="1824" y="2885"/>
                <a:ext cx="0" cy="288"/>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2" name="Line 146"/>
              <p:cNvSpPr>
                <a:spLocks noChangeShapeType="1"/>
              </p:cNvSpPr>
              <p:nvPr/>
            </p:nvSpPr>
            <p:spPr bwMode="auto">
              <a:xfrm flipH="1">
                <a:off x="1248" y="3173"/>
                <a:ext cx="576" cy="0"/>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3" name="Line 147"/>
              <p:cNvSpPr>
                <a:spLocks noChangeShapeType="1"/>
              </p:cNvSpPr>
              <p:nvPr/>
            </p:nvSpPr>
            <p:spPr bwMode="auto">
              <a:xfrm>
                <a:off x="4992" y="2885"/>
                <a:ext cx="0" cy="288"/>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4" name="Line 148"/>
              <p:cNvSpPr>
                <a:spLocks noChangeShapeType="1"/>
              </p:cNvSpPr>
              <p:nvPr/>
            </p:nvSpPr>
            <p:spPr bwMode="auto">
              <a:xfrm flipH="1">
                <a:off x="3552" y="3173"/>
                <a:ext cx="1440" cy="0"/>
              </a:xfrm>
              <a:prstGeom prst="line">
                <a:avLst/>
              </a:prstGeom>
              <a:noFill/>
              <a:ln w="38100" cap="sq">
                <a:solidFill>
                  <a:srgbClr val="8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5" name="Line 149"/>
              <p:cNvSpPr>
                <a:spLocks noChangeShapeType="1"/>
              </p:cNvSpPr>
              <p:nvPr/>
            </p:nvSpPr>
            <p:spPr bwMode="auto">
              <a:xfrm flipV="1">
                <a:off x="3552" y="2885"/>
                <a:ext cx="0" cy="288"/>
              </a:xfrm>
              <a:prstGeom prst="line">
                <a:avLst/>
              </a:prstGeom>
              <a:noFill/>
              <a:ln w="381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6" name="Line 150"/>
              <p:cNvSpPr>
                <a:spLocks noChangeShapeType="1"/>
              </p:cNvSpPr>
              <p:nvPr/>
            </p:nvSpPr>
            <p:spPr bwMode="auto">
              <a:xfrm>
                <a:off x="720" y="2741"/>
                <a:ext cx="384"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7" name="Line 151"/>
              <p:cNvSpPr>
                <a:spLocks noChangeShapeType="1"/>
              </p:cNvSpPr>
              <p:nvPr/>
            </p:nvSpPr>
            <p:spPr bwMode="auto">
              <a:xfrm>
                <a:off x="1488" y="2741"/>
                <a:ext cx="336"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8" name="Line 152"/>
              <p:cNvSpPr>
                <a:spLocks noChangeShapeType="1"/>
              </p:cNvSpPr>
              <p:nvPr/>
            </p:nvSpPr>
            <p:spPr bwMode="auto">
              <a:xfrm>
                <a:off x="2208" y="2741"/>
                <a:ext cx="384"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09" name="Line 153"/>
              <p:cNvSpPr>
                <a:spLocks noChangeShapeType="1"/>
              </p:cNvSpPr>
              <p:nvPr/>
            </p:nvSpPr>
            <p:spPr bwMode="auto">
              <a:xfrm>
                <a:off x="2976" y="2741"/>
                <a:ext cx="432"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10" name="Line 154"/>
              <p:cNvSpPr>
                <a:spLocks noChangeShapeType="1"/>
              </p:cNvSpPr>
              <p:nvPr/>
            </p:nvSpPr>
            <p:spPr bwMode="auto">
              <a:xfrm>
                <a:off x="3792" y="2741"/>
                <a:ext cx="432"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0011" name="Line 155"/>
              <p:cNvSpPr>
                <a:spLocks noChangeShapeType="1"/>
              </p:cNvSpPr>
              <p:nvPr/>
            </p:nvSpPr>
            <p:spPr bwMode="auto">
              <a:xfrm>
                <a:off x="4608" y="2741"/>
                <a:ext cx="384"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9870"/>
                                        </p:tgtEl>
                                        <p:attrNameLst>
                                          <p:attrName>style.visibility</p:attrName>
                                        </p:attrNameLst>
                                      </p:cBhvr>
                                      <p:to>
                                        <p:strVal val="visible"/>
                                      </p:to>
                                    </p:set>
                                    <p:animEffect transition="in" filter="box(in)">
                                      <p:cBhvr>
                                        <p:cTn id="7" dur="500"/>
                                        <p:tgtEl>
                                          <p:spTgt spid="2498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0012"/>
                                        </p:tgtEl>
                                        <p:attrNameLst>
                                          <p:attrName>style.visibility</p:attrName>
                                        </p:attrNameLst>
                                      </p:cBhvr>
                                      <p:to>
                                        <p:strVal val="visible"/>
                                      </p:to>
                                    </p:set>
                                    <p:animEffect transition="in" filter="wipe(left)">
                                      <p:cBhvr>
                                        <p:cTn id="12" dur="500"/>
                                        <p:tgtEl>
                                          <p:spTgt spid="250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70"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p:cNvSpPr txBox="1">
            <a:spLocks noChangeArrowheads="1"/>
          </p:cNvSpPr>
          <p:nvPr/>
        </p:nvSpPr>
        <p:spPr bwMode="auto">
          <a:xfrm>
            <a:off x="-533400" y="457200"/>
            <a:ext cx="9525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lnSpc>
                <a:spcPct val="125000"/>
              </a:lnSpc>
            </a:pPr>
            <a:r>
              <a:rPr lang="en-US" altLang="zh-CN">
                <a:solidFill>
                  <a:srgbClr val="000082"/>
                </a:solidFill>
                <a:latin typeface="Arial" panose="020B0604020202020204" pitchFamily="34" charset="0"/>
                <a:cs typeface="Arial" panose="020B0604020202020204" pitchFamily="34" charset="0"/>
              </a:rPr>
              <a:t>1) </a:t>
            </a:r>
            <a:r>
              <a:rPr lang="zh-CN" altLang="en-US" b="1">
                <a:solidFill>
                  <a:srgbClr val="993300"/>
                </a:solidFill>
                <a:latin typeface="Arial" panose="020B0604020202020204" pitchFamily="34" charset="0"/>
                <a:ea typeface="楷体_GB2312" pitchFamily="49" charset="-122"/>
                <a:cs typeface="Arial" panose="020B0604020202020204" pitchFamily="34" charset="0"/>
              </a:rPr>
              <a:t>Convert the nodes in the linked queue to "doubly linked" nodes.</a:t>
            </a:r>
            <a:r>
              <a:rPr lang="en-US" altLang="zh-CN">
                <a:solidFill>
                  <a:srgbClr val="000082"/>
                </a:solidFill>
                <a:latin typeface="Arial" panose="020B0604020202020204" pitchFamily="34" charset="0"/>
                <a:cs typeface="Arial" panose="020B0604020202020204" pitchFamily="34" charset="0"/>
              </a:rPr>
              <a:t> That is</a:t>
            </a:r>
            <a:endParaRPr lang="zh-CN" altLang="en-US">
              <a:solidFill>
                <a:srgbClr val="000082"/>
              </a:solidFill>
              <a:latin typeface="Arial" panose="020B0604020202020204" pitchFamily="34" charset="0"/>
              <a:ea typeface="楷体_GB2312" pitchFamily="49" charset="-122"/>
              <a:cs typeface="Arial" panose="020B0604020202020204" pitchFamily="34" charset="0"/>
            </a:endParaRPr>
          </a:p>
          <a:p>
            <a:pPr lvl="2">
              <a:lnSpc>
                <a:spcPct val="125000"/>
              </a:lnSpc>
            </a:pPr>
            <a:r>
              <a:rPr lang="en-US" altLang="zh-CN">
                <a:solidFill>
                  <a:srgbClr val="000082"/>
                </a:solidFill>
                <a:latin typeface="Arial" panose="020B0604020202020204" pitchFamily="34" charset="0"/>
                <a:ea typeface="楷体_GB2312" pitchFamily="49" charset="-122"/>
                <a:cs typeface="Arial" panose="020B0604020202020204" pitchFamily="34" charset="0"/>
              </a:rPr>
              <a:t>t</a:t>
            </a:r>
            <a:r>
              <a:rPr lang="zh-CN" altLang="en-US">
                <a:solidFill>
                  <a:srgbClr val="000082"/>
                </a:solidFill>
                <a:latin typeface="Arial" panose="020B0604020202020204" pitchFamily="34" charset="0"/>
                <a:ea typeface="楷体_GB2312" pitchFamily="49" charset="-122"/>
                <a:cs typeface="Arial" panose="020B0604020202020204" pitchFamily="34" charset="0"/>
              </a:rPr>
              <a:t>he node contains two pointers: next and prior.</a:t>
            </a:r>
            <a:endParaRPr lang="zh-CN" altLang="en-US">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250883" name="Rectangle 3"/>
          <p:cNvSpPr>
            <a:spLocks noChangeArrowheads="1"/>
          </p:cNvSpPr>
          <p:nvPr/>
        </p:nvSpPr>
        <p:spPr bwMode="auto">
          <a:xfrm>
            <a:off x="-533400" y="2209800"/>
            <a:ext cx="9525000"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2">
              <a:lnSpc>
                <a:spcPct val="125000"/>
              </a:lnSpc>
            </a:pPr>
            <a:r>
              <a:rPr lang="en-US" altLang="zh-CN">
                <a:solidFill>
                  <a:srgbClr val="000082"/>
                </a:solidFill>
                <a:latin typeface="Arial" panose="020B0604020202020204" pitchFamily="34" charset="0"/>
                <a:cs typeface="Arial" panose="020B0604020202020204" pitchFamily="34" charset="0"/>
              </a:rPr>
              <a:t>2) </a:t>
            </a:r>
            <a:r>
              <a:rPr lang="en-US" altLang="zh-CN" b="1">
                <a:solidFill>
                  <a:srgbClr val="993300"/>
                </a:solidFill>
                <a:latin typeface="Arial" panose="020B0604020202020204" pitchFamily="34" charset="0"/>
                <a:ea typeface="楷体_GB2312" pitchFamily="49" charset="-122"/>
                <a:cs typeface="Arial" panose="020B0604020202020204" pitchFamily="34" charset="0"/>
              </a:rPr>
              <a:t>Modify the enqueue</a:t>
            </a:r>
            <a:r>
              <a:rPr lang="zh-CN" altLang="en-US" b="1">
                <a:solidFill>
                  <a:srgbClr val="993300"/>
                </a:solidFill>
                <a:latin typeface="Arial" panose="020B0604020202020204" pitchFamily="34" charset="0"/>
                <a:ea typeface="楷体_GB2312" pitchFamily="49" charset="-122"/>
                <a:cs typeface="Arial" panose="020B0604020202020204" pitchFamily="34" charset="0"/>
              </a:rPr>
              <a:t> operation. </a:t>
            </a:r>
            <a:r>
              <a:rPr lang="en-US" altLang="zh-CN">
                <a:solidFill>
                  <a:srgbClr val="000082"/>
                </a:solidFill>
                <a:latin typeface="Arial" panose="020B0604020202020204" pitchFamily="34" charset="0"/>
                <a:cs typeface="Arial" panose="020B0604020202020204" pitchFamily="34" charset="0"/>
              </a:rPr>
              <a:t>When inserting a new rear node, set its prior pointer to the node just removed from the queue, i.e., the current head pointers pointer.</a:t>
            </a:r>
            <a:endParaRPr lang="zh-CN" altLang="en-US">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250884" name="Rectangle 4"/>
          <p:cNvSpPr>
            <a:spLocks noChangeArrowheads="1"/>
          </p:cNvSpPr>
          <p:nvPr/>
        </p:nvSpPr>
        <p:spPr bwMode="auto">
          <a:xfrm>
            <a:off x="250825" y="4648200"/>
            <a:ext cx="876808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en-US" altLang="zh-CN">
                <a:solidFill>
                  <a:srgbClr val="000082"/>
                </a:solidFill>
                <a:latin typeface="Arial" panose="020B0604020202020204" pitchFamily="34" charset="0"/>
                <a:ea typeface="楷体_GB2312" pitchFamily="49" charset="-122"/>
                <a:cs typeface="Arial" panose="020B0604020202020204" pitchFamily="34" charset="0"/>
              </a:rPr>
              <a:t>3) </a:t>
            </a:r>
            <a:r>
              <a:rPr lang="zh-CN" altLang="en-US" b="1">
                <a:solidFill>
                  <a:srgbClr val="993300"/>
                </a:solidFill>
                <a:latin typeface="Arial" panose="020B0604020202020204" pitchFamily="34" charset="0"/>
                <a:ea typeface="楷体_GB2312" pitchFamily="49" charset="-122"/>
                <a:cs typeface="Arial" panose="020B0604020202020204" pitchFamily="34" charset="0"/>
              </a:rPr>
              <a:t>Modify the dequeue operation. </a:t>
            </a:r>
            <a:r>
              <a:rPr lang="en-US" altLang="zh-CN">
                <a:solidFill>
                  <a:srgbClr val="000082"/>
                </a:solidFill>
                <a:latin typeface="Arial" panose="020B0604020202020204" pitchFamily="34" charset="0"/>
                <a:ea typeface="楷体_GB2312" pitchFamily="49" charset="-122"/>
                <a:cs typeface="Arial" panose="020B0604020202020204" pitchFamily="34" charset="0"/>
              </a:rPr>
              <a:t>When removing an element, only move the head pointer without deleting the head node from the linked list.</a:t>
            </a:r>
            <a:endParaRPr lang="zh-CN" altLang="en-US">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2"/>
          <p:cNvSpPr txBox="1">
            <a:spLocks noChangeArrowheads="1"/>
          </p:cNvSpPr>
          <p:nvPr/>
        </p:nvSpPr>
        <p:spPr bwMode="auto">
          <a:xfrm>
            <a:off x="152400" y="109538"/>
            <a:ext cx="8642350" cy="650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5000"/>
              </a:lnSpc>
            </a:pPr>
            <a:r>
              <a:rPr lang="en-US" altLang="zh-CN" sz="3600" b="1">
                <a:solidFill>
                  <a:srgbClr val="000082"/>
                </a:solidFill>
                <a:ea typeface="楷体_GB2312" pitchFamily="49" charset="-122"/>
              </a:rPr>
              <a:t>typedef</a:t>
            </a:r>
            <a:r>
              <a:rPr lang="en-US" altLang="zh-CN" sz="3600" b="1">
                <a:ea typeface="楷体_GB2312" pitchFamily="49" charset="-122"/>
              </a:rPr>
              <a:t>  </a:t>
            </a:r>
            <a:r>
              <a:rPr lang="en-US" altLang="zh-CN" sz="3600" b="1">
                <a:solidFill>
                  <a:srgbClr val="0000FF"/>
                </a:solidFill>
                <a:ea typeface="楷体_GB2312" pitchFamily="49" charset="-122"/>
              </a:rPr>
              <a:t>DuLinkList QueuePtr</a:t>
            </a:r>
            <a:r>
              <a:rPr lang="en-US" altLang="zh-CN" sz="3600">
                <a:ea typeface="楷体_GB2312" pitchFamily="49" charset="-122"/>
              </a:rPr>
              <a:t>;</a:t>
            </a:r>
            <a:r>
              <a:rPr lang="en-US" altLang="zh-CN" sz="3600" b="1">
                <a:ea typeface="楷体_GB2312" pitchFamily="49" charset="-122"/>
              </a:rPr>
              <a:t> </a:t>
            </a:r>
            <a:endParaRPr lang="en-US" altLang="zh-CN" sz="3600" b="1">
              <a:ea typeface="楷体_GB2312" pitchFamily="49" charset="-122"/>
            </a:endParaRPr>
          </a:p>
          <a:p>
            <a:pPr>
              <a:lnSpc>
                <a:spcPct val="85000"/>
              </a:lnSpc>
            </a:pPr>
            <a:r>
              <a:rPr lang="en-US" altLang="zh-CN" sz="3600" b="1">
                <a:solidFill>
                  <a:srgbClr val="000082"/>
                </a:solidFill>
                <a:ea typeface="楷体_GB2312" pitchFamily="49" charset="-122"/>
              </a:rPr>
              <a:t>void </a:t>
            </a:r>
            <a:r>
              <a:rPr lang="en-US" altLang="zh-CN" sz="3600">
                <a:solidFill>
                  <a:srgbClr val="000082"/>
                </a:solidFill>
                <a:ea typeface="楷体_GB2312" pitchFamily="49" charset="-122"/>
              </a:rPr>
              <a:t>InitQueue(LinkQueue</a:t>
            </a:r>
            <a:r>
              <a:rPr lang="en-US" altLang="zh-CN" sz="3600" b="1">
                <a:solidFill>
                  <a:srgbClr val="000082"/>
                </a:solidFill>
                <a:ea typeface="楷体_GB2312" pitchFamily="49" charset="-122"/>
              </a:rPr>
              <a:t>&amp;</a:t>
            </a:r>
            <a:r>
              <a:rPr lang="en-US" altLang="zh-CN" sz="3600">
                <a:solidFill>
                  <a:srgbClr val="000082"/>
                </a:solidFill>
                <a:ea typeface="楷体_GB2312" pitchFamily="49" charset="-122"/>
              </a:rPr>
              <a:t> Q) {</a:t>
            </a:r>
            <a:endParaRPr lang="en-US" altLang="zh-CN" sz="3600">
              <a:solidFill>
                <a:srgbClr val="000082"/>
              </a:solidFill>
              <a:ea typeface="楷体_GB2312" pitchFamily="49" charset="-122"/>
            </a:endParaRPr>
          </a:p>
          <a:p>
            <a:r>
              <a:rPr lang="en-US" altLang="zh-CN" sz="3600">
                <a:solidFill>
                  <a:srgbClr val="000082"/>
                </a:solidFill>
                <a:ea typeface="楷体_GB2312" pitchFamily="49" charset="-122"/>
              </a:rPr>
              <a:t>   </a:t>
            </a:r>
            <a:r>
              <a:rPr lang="en-US" altLang="zh-CN" sz="2800">
                <a:solidFill>
                  <a:srgbClr val="000082"/>
                </a:solidFill>
                <a:ea typeface="楷体_GB2312" pitchFamily="49" charset="-122"/>
              </a:rPr>
              <a:t>Q.front=Q.rear=(QueuePtr)malloc(sizeof(QNode));</a:t>
            </a:r>
            <a:endParaRPr lang="en-US" altLang="zh-CN" sz="2800">
              <a:solidFill>
                <a:srgbClr val="000082"/>
              </a:solidFill>
              <a:ea typeface="楷体_GB2312" pitchFamily="49" charset="-122"/>
            </a:endParaRPr>
          </a:p>
          <a:p>
            <a:pPr>
              <a:lnSpc>
                <a:spcPct val="85000"/>
              </a:lnSpc>
            </a:pPr>
            <a:r>
              <a:rPr lang="en-US" altLang="zh-CN" sz="2800">
                <a:ea typeface="楷体_GB2312" pitchFamily="49" charset="-122"/>
              </a:rPr>
              <a:t>    </a:t>
            </a:r>
            <a:r>
              <a:rPr lang="en-US" altLang="zh-CN" sz="2800" b="1">
                <a:solidFill>
                  <a:srgbClr val="0000FF"/>
                </a:solidFill>
                <a:ea typeface="楷体_GB2312" pitchFamily="49" charset="-122"/>
              </a:rPr>
              <a:t>Q.front-&gt;next = Q.rear-&gt;next = NULL</a:t>
            </a:r>
            <a:endParaRPr lang="en-US" altLang="zh-CN" sz="2800">
              <a:ea typeface="楷体_GB2312" pitchFamily="49" charset="-122"/>
            </a:endParaRPr>
          </a:p>
          <a:p>
            <a:pPr>
              <a:lnSpc>
                <a:spcPct val="85000"/>
              </a:lnSpc>
            </a:pPr>
            <a:r>
              <a:rPr lang="en-US" altLang="zh-CN" sz="3600">
                <a:solidFill>
                  <a:srgbClr val="000082"/>
                </a:solidFill>
                <a:ea typeface="楷体_GB2312" pitchFamily="49" charset="-122"/>
              </a:rPr>
              <a:t>}</a:t>
            </a:r>
            <a:endParaRPr lang="en-US" altLang="zh-CN" sz="3600">
              <a:solidFill>
                <a:srgbClr val="000082"/>
              </a:solidFill>
              <a:ea typeface="楷体_GB2312" pitchFamily="49" charset="-122"/>
            </a:endParaRPr>
          </a:p>
          <a:p>
            <a:r>
              <a:rPr lang="en-US" altLang="zh-CN" sz="3200" b="1">
                <a:solidFill>
                  <a:srgbClr val="000082"/>
                </a:solidFill>
                <a:ea typeface="楷体_GB2312" pitchFamily="49" charset="-122"/>
              </a:rPr>
              <a:t>void</a:t>
            </a:r>
            <a:r>
              <a:rPr lang="en-US" altLang="zh-CN" sz="3200">
                <a:solidFill>
                  <a:srgbClr val="000082"/>
                </a:solidFill>
                <a:ea typeface="楷体_GB2312" pitchFamily="49" charset="-122"/>
              </a:rPr>
              <a:t> EnQueue( LinkQueue</a:t>
            </a:r>
            <a:r>
              <a:rPr lang="en-US" altLang="zh-CN" sz="3200" b="1">
                <a:solidFill>
                  <a:srgbClr val="000082"/>
                </a:solidFill>
                <a:ea typeface="楷体_GB2312" pitchFamily="49" charset="-122"/>
              </a:rPr>
              <a:t>&amp;</a:t>
            </a:r>
            <a:r>
              <a:rPr lang="en-US" altLang="zh-CN" sz="3200">
                <a:solidFill>
                  <a:srgbClr val="000082"/>
                </a:solidFill>
                <a:ea typeface="楷体_GB2312" pitchFamily="49" charset="-122"/>
              </a:rPr>
              <a:t> Q, QelemType e ) {</a:t>
            </a:r>
            <a:endParaRPr lang="en-US" altLang="zh-CN" sz="3600">
              <a:solidFill>
                <a:srgbClr val="000082"/>
              </a:solidFill>
              <a:ea typeface="楷体_GB2312" pitchFamily="49" charset="-122"/>
            </a:endParaRPr>
          </a:p>
          <a:p>
            <a:r>
              <a:rPr lang="en-US" altLang="zh-CN" sz="3600">
                <a:solidFill>
                  <a:srgbClr val="000082"/>
                </a:solidFill>
                <a:ea typeface="楷体_GB2312" pitchFamily="49" charset="-122"/>
              </a:rPr>
              <a:t>    </a:t>
            </a:r>
            <a:r>
              <a:rPr lang="en-US" altLang="zh-CN" sz="2800">
                <a:solidFill>
                  <a:srgbClr val="000082"/>
                </a:solidFill>
                <a:ea typeface="楷体_GB2312" pitchFamily="49" charset="-122"/>
              </a:rPr>
              <a:t>p = (QueuePtr) </a:t>
            </a:r>
            <a:r>
              <a:rPr lang="en-US" altLang="zh-CN" sz="2800" b="1">
                <a:solidFill>
                  <a:srgbClr val="000082"/>
                </a:solidFill>
                <a:ea typeface="楷体_GB2312" pitchFamily="49" charset="-122"/>
              </a:rPr>
              <a:t>malloc</a:t>
            </a:r>
            <a:r>
              <a:rPr lang="en-US" altLang="zh-CN" sz="2800">
                <a:solidFill>
                  <a:srgbClr val="000082"/>
                </a:solidFill>
                <a:ea typeface="楷体_GB2312" pitchFamily="49" charset="-122"/>
              </a:rPr>
              <a:t> (</a:t>
            </a:r>
            <a:r>
              <a:rPr lang="en-US" altLang="zh-CN" sz="2800" b="1">
                <a:solidFill>
                  <a:srgbClr val="000082"/>
                </a:solidFill>
                <a:ea typeface="楷体_GB2312" pitchFamily="49" charset="-122"/>
              </a:rPr>
              <a:t>sizeof</a:t>
            </a:r>
            <a:r>
              <a:rPr lang="en-US" altLang="zh-CN" sz="2800">
                <a:solidFill>
                  <a:srgbClr val="000082"/>
                </a:solidFill>
                <a:ea typeface="楷体_GB2312" pitchFamily="49" charset="-122"/>
              </a:rPr>
              <a:t>(QNode));</a:t>
            </a:r>
            <a:endParaRPr lang="en-US" altLang="zh-CN" sz="2800">
              <a:solidFill>
                <a:srgbClr val="000082"/>
              </a:solidFill>
              <a:ea typeface="楷体_GB2312" pitchFamily="49" charset="-122"/>
            </a:endParaRPr>
          </a:p>
          <a:p>
            <a:pPr>
              <a:lnSpc>
                <a:spcPct val="85000"/>
              </a:lnSpc>
            </a:pPr>
            <a:r>
              <a:rPr lang="en-US" altLang="zh-CN" sz="2800">
                <a:solidFill>
                  <a:srgbClr val="000082"/>
                </a:solidFill>
                <a:ea typeface="楷体_GB2312" pitchFamily="49" charset="-122"/>
              </a:rPr>
              <a:t>     p-&gt;data = e;  p-&gt;next = </a:t>
            </a:r>
            <a:r>
              <a:rPr lang="en-US" altLang="zh-CN" sz="2800" b="1">
                <a:solidFill>
                  <a:srgbClr val="000082"/>
                </a:solidFill>
                <a:ea typeface="楷体_GB2312" pitchFamily="49" charset="-122"/>
              </a:rPr>
              <a:t>NULL</a:t>
            </a:r>
            <a:r>
              <a:rPr lang="en-US" altLang="zh-CN" sz="2800">
                <a:solidFill>
                  <a:srgbClr val="000082"/>
                </a:solidFill>
                <a:ea typeface="楷体_GB2312" pitchFamily="49" charset="-122"/>
              </a:rPr>
              <a:t>;</a:t>
            </a:r>
            <a:endParaRPr lang="en-US" altLang="zh-CN" sz="2800">
              <a:solidFill>
                <a:srgbClr val="000082"/>
              </a:solidFill>
              <a:ea typeface="楷体_GB2312" pitchFamily="49" charset="-122"/>
            </a:endParaRPr>
          </a:p>
          <a:p>
            <a:pPr>
              <a:lnSpc>
                <a:spcPct val="85000"/>
              </a:lnSpc>
            </a:pPr>
            <a:r>
              <a:rPr lang="en-US" altLang="zh-CN" sz="2800">
                <a:ea typeface="楷体_GB2312" pitchFamily="49" charset="-122"/>
              </a:rPr>
              <a:t>     </a:t>
            </a:r>
            <a:r>
              <a:rPr lang="en-US" altLang="zh-CN" sz="2800" b="1">
                <a:solidFill>
                  <a:srgbClr val="0000FF"/>
                </a:solidFill>
                <a:ea typeface="楷体_GB2312" pitchFamily="49" charset="-122"/>
              </a:rPr>
              <a:t>p-&gt;prior = Q.front</a:t>
            </a:r>
            <a:endParaRPr lang="en-US" altLang="zh-CN" sz="2800">
              <a:ea typeface="楷体_GB2312" pitchFamily="49" charset="-122"/>
            </a:endParaRPr>
          </a:p>
          <a:p>
            <a:pPr>
              <a:lnSpc>
                <a:spcPct val="85000"/>
              </a:lnSpc>
            </a:pPr>
            <a:r>
              <a:rPr lang="en-US" altLang="zh-CN" sz="2800">
                <a:ea typeface="楷体_GB2312" pitchFamily="49" charset="-122"/>
              </a:rPr>
              <a:t>     </a:t>
            </a:r>
            <a:r>
              <a:rPr lang="en-US" altLang="zh-CN" sz="2800">
                <a:solidFill>
                  <a:srgbClr val="000082"/>
                </a:solidFill>
                <a:ea typeface="楷体_GB2312" pitchFamily="49" charset="-122"/>
              </a:rPr>
              <a:t>Q.rear-&gt;next = p;  Q.rear = p;</a:t>
            </a:r>
            <a:endParaRPr lang="en-US" altLang="zh-CN" sz="2800">
              <a:solidFill>
                <a:srgbClr val="000082"/>
              </a:solidFill>
              <a:ea typeface="楷体_GB2312" pitchFamily="49" charset="-122"/>
            </a:endParaRPr>
          </a:p>
          <a:p>
            <a:pPr>
              <a:lnSpc>
                <a:spcPct val="85000"/>
              </a:lnSpc>
            </a:pPr>
            <a:r>
              <a:rPr lang="en-US" altLang="zh-CN" sz="3600">
                <a:solidFill>
                  <a:srgbClr val="000082"/>
                </a:solidFill>
                <a:ea typeface="楷体_GB2312" pitchFamily="49" charset="-122"/>
              </a:rPr>
              <a:t>}</a:t>
            </a:r>
            <a:endParaRPr lang="en-US" altLang="zh-CN" sz="3600">
              <a:solidFill>
                <a:srgbClr val="000082"/>
              </a:solidFill>
              <a:ea typeface="楷体_GB2312" pitchFamily="49" charset="-122"/>
            </a:endParaRPr>
          </a:p>
          <a:p>
            <a:r>
              <a:rPr lang="en-US" altLang="zh-CN" sz="3200" b="1">
                <a:solidFill>
                  <a:srgbClr val="000082"/>
                </a:solidFill>
                <a:ea typeface="楷体_GB2312" pitchFamily="49" charset="-122"/>
              </a:rPr>
              <a:t>void</a:t>
            </a:r>
            <a:r>
              <a:rPr lang="en-US" altLang="zh-CN" sz="3200">
                <a:solidFill>
                  <a:srgbClr val="000082"/>
                </a:solidFill>
                <a:ea typeface="楷体_GB2312" pitchFamily="49" charset="-122"/>
              </a:rPr>
              <a:t> DeQueue( LinkQueue</a:t>
            </a:r>
            <a:r>
              <a:rPr lang="en-US" altLang="zh-CN" sz="3200" b="1">
                <a:solidFill>
                  <a:srgbClr val="000082"/>
                </a:solidFill>
                <a:ea typeface="楷体_GB2312" pitchFamily="49" charset="-122"/>
              </a:rPr>
              <a:t>&amp;</a:t>
            </a:r>
            <a:r>
              <a:rPr lang="en-US" altLang="zh-CN" sz="3200">
                <a:solidFill>
                  <a:srgbClr val="000082"/>
                </a:solidFill>
                <a:ea typeface="楷体_GB2312" pitchFamily="49" charset="-122"/>
              </a:rPr>
              <a:t> Q, QelemType</a:t>
            </a:r>
            <a:r>
              <a:rPr lang="en-US" altLang="zh-CN" sz="3200" b="1">
                <a:solidFill>
                  <a:srgbClr val="000082"/>
                </a:solidFill>
                <a:ea typeface="楷体_GB2312" pitchFamily="49" charset="-122"/>
              </a:rPr>
              <a:t>&amp;</a:t>
            </a:r>
            <a:r>
              <a:rPr lang="en-US" altLang="zh-CN" sz="3200">
                <a:solidFill>
                  <a:srgbClr val="000082"/>
                </a:solidFill>
                <a:ea typeface="楷体_GB2312" pitchFamily="49" charset="-122"/>
              </a:rPr>
              <a:t> e ) {</a:t>
            </a:r>
            <a:endParaRPr lang="en-US" altLang="zh-CN" sz="3600">
              <a:ea typeface="楷体_GB2312" pitchFamily="49" charset="-122"/>
            </a:endParaRPr>
          </a:p>
          <a:p>
            <a:r>
              <a:rPr lang="en-US" altLang="zh-CN" sz="3600">
                <a:ea typeface="楷体_GB2312" pitchFamily="49" charset="-122"/>
              </a:rPr>
              <a:t>   </a:t>
            </a:r>
            <a:r>
              <a:rPr lang="en-US" altLang="zh-CN" sz="2800" b="1">
                <a:solidFill>
                  <a:srgbClr val="0000FF"/>
                </a:solidFill>
                <a:ea typeface="楷体_GB2312" pitchFamily="49" charset="-122"/>
              </a:rPr>
              <a:t>Q.front = Q.front-&gt;next;  e = Q.front-&gt;data</a:t>
            </a:r>
            <a:endParaRPr lang="en-US" altLang="zh-CN" sz="2800">
              <a:ea typeface="楷体_GB2312" pitchFamily="49" charset="-122"/>
            </a:endParaRPr>
          </a:p>
          <a:p>
            <a:pPr>
              <a:lnSpc>
                <a:spcPct val="85000"/>
              </a:lnSpc>
            </a:pPr>
            <a:r>
              <a:rPr lang="en-US" altLang="zh-CN" sz="3600">
                <a:solidFill>
                  <a:srgbClr val="000082"/>
                </a:solidFill>
                <a:ea typeface="楷体_GB2312" pitchFamily="49" charset="-122"/>
              </a:rPr>
              <a:t>}</a:t>
            </a:r>
            <a:endParaRPr lang="en-US" altLang="zh-CN" sz="3600">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1906"/>
                                        </p:tgtEl>
                                        <p:attrNameLst>
                                          <p:attrName>style.visibility</p:attrName>
                                        </p:attrNameLst>
                                      </p:cBhvr>
                                      <p:to>
                                        <p:strVal val="visible"/>
                                      </p:to>
                                    </p:set>
                                    <p:animEffect transition="in" filter="barn(outVertical)">
                                      <p:cBhvr>
                                        <p:cTn id="7" dur="500"/>
                                        <p:tgtEl>
                                          <p:spTgt spid="251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storage representations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traversal</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Graph connectivity and spanning tree</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ts val="4200"/>
              </a:lnSpc>
            </a:pPr>
            <a:r>
              <a:rPr lang="zh-CN" altLang="en-US" dirty="0">
                <a:latin typeface="Times New Roman" panose="02020603050405020304" pitchFamily="18" charset="0"/>
                <a:cs typeface="Times New Roman" panose="02020603050405020304" pitchFamily="18" charset="0"/>
              </a:rPr>
              <a:t>The shortest path between two </a:t>
            </a:r>
            <a:r>
              <a:rPr lang="en-US" altLang="zh-CN" dirty="0">
                <a:latin typeface="Times New Roman" panose="02020603050405020304" pitchFamily="18" charset="0"/>
                <a:cs typeface="Times New Roman" panose="02020603050405020304" pitchFamily="18" charset="0"/>
              </a:rPr>
              <a:t>vertices</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Graph </a:t>
            </a:r>
            <a:r>
              <a:rPr lang="en-US" altLang="zh-CN">
                <a:sym typeface="+mn-ea"/>
              </a:rPr>
              <a:t>C</a:t>
            </a:r>
            <a:r>
              <a:rPr>
                <a:sym typeface="+mn-ea"/>
              </a:rPr>
              <a:t>onnectivity</a:t>
            </a:r>
            <a:endParaRPr lang="zh-CN" altLang="en-US" dirty="0"/>
          </a:p>
        </p:txBody>
      </p:sp>
      <p:sp>
        <p:nvSpPr>
          <p:cNvPr id="3" name="内容占位符 2"/>
          <p:cNvSpPr>
            <a:spLocks noGrp="1"/>
          </p:cNvSpPr>
          <p:nvPr>
            <p:ph idx="1"/>
          </p:nvPr>
        </p:nvSpPr>
        <p:spPr>
          <a:xfrm>
            <a:off x="323850" y="1124744"/>
            <a:ext cx="4176142" cy="5183981"/>
          </a:xfrm>
        </p:spPr>
        <p:txBody>
          <a:bodyPr/>
          <a:lstStyle/>
          <a:p>
            <a:pPr>
              <a:lnSpc>
                <a:spcPct val="130000"/>
              </a:lnSpc>
              <a:spcBef>
                <a:spcPct val="50000"/>
              </a:spcBef>
            </a:pPr>
            <a:r>
              <a:rPr lang="zh-CN" altLang="en-US" dirty="0">
                <a:ea typeface="楷体_GB2312" pitchFamily="49" charset="-122"/>
                <a:cs typeface="Arial" panose="020B0604020202020204" pitchFamily="34" charset="0"/>
                <a:sym typeface="+mn-ea"/>
              </a:rPr>
              <a:t>Connected graph</a:t>
            </a:r>
            <a:r>
              <a:rPr lang="zh-CN" altLang="en-US" sz="2800" dirty="0">
                <a:ea typeface="楷体_GB2312" pitchFamily="49" charset="-122"/>
                <a:cs typeface="Arial" panose="020B0604020202020204" pitchFamily="34" charset="0"/>
                <a:sym typeface="+mn-ea"/>
              </a:rPr>
              <a:t>: Starting from any vertex in the graph, depth first search or breadth first search can traverse all vertices in the graph. This graph is a connected graph.</a:t>
            </a:r>
            <a:endParaRPr lang="zh-CN" altLang="en-US" sz="2800" dirty="0">
              <a:ea typeface="楷体_GB2312" pitchFamily="49" charset="-122"/>
              <a:cs typeface="Arial" panose="020B0604020202020204" pitchFamily="34" charset="0"/>
              <a:sym typeface="+mn-ea"/>
            </a:endParaRPr>
          </a:p>
        </p:txBody>
      </p:sp>
      <p:sp>
        <p:nvSpPr>
          <p:cNvPr id="8" name="Oval 4"/>
          <p:cNvSpPr>
            <a:spLocks noChangeArrowheads="1"/>
          </p:cNvSpPr>
          <p:nvPr/>
        </p:nvSpPr>
        <p:spPr bwMode="auto">
          <a:xfrm>
            <a:off x="6705600" y="2286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1</a:t>
            </a:r>
            <a:endParaRPr lang="en-US" altLang="zh-CN" sz="2800" b="1" baseline="-10000"/>
          </a:p>
        </p:txBody>
      </p:sp>
      <p:sp>
        <p:nvSpPr>
          <p:cNvPr id="9" name="Oval 5"/>
          <p:cNvSpPr>
            <a:spLocks noChangeArrowheads="1"/>
          </p:cNvSpPr>
          <p:nvPr/>
        </p:nvSpPr>
        <p:spPr bwMode="auto">
          <a:xfrm>
            <a:off x="5562600" y="30480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2</a:t>
            </a:r>
            <a:endParaRPr lang="en-US" altLang="zh-CN" sz="2800" b="1" baseline="-10000"/>
          </a:p>
        </p:txBody>
      </p:sp>
      <p:sp>
        <p:nvSpPr>
          <p:cNvPr id="10" name="Oval 6"/>
          <p:cNvSpPr>
            <a:spLocks noChangeArrowheads="1"/>
          </p:cNvSpPr>
          <p:nvPr/>
        </p:nvSpPr>
        <p:spPr bwMode="auto">
          <a:xfrm>
            <a:off x="7924800" y="31242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3</a:t>
            </a:r>
            <a:endParaRPr lang="en-US" altLang="zh-CN" sz="2800" b="1" baseline="-10000"/>
          </a:p>
        </p:txBody>
      </p:sp>
      <p:sp>
        <p:nvSpPr>
          <p:cNvPr id="11" name="Oval 7"/>
          <p:cNvSpPr>
            <a:spLocks noChangeArrowheads="1"/>
          </p:cNvSpPr>
          <p:nvPr/>
        </p:nvSpPr>
        <p:spPr bwMode="auto">
          <a:xfrm>
            <a:off x="4953000" y="3962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4</a:t>
            </a:r>
            <a:endParaRPr lang="en-US" altLang="zh-CN" sz="2800" b="1" baseline="-10000"/>
          </a:p>
        </p:txBody>
      </p:sp>
      <p:sp>
        <p:nvSpPr>
          <p:cNvPr id="12" name="Oval 8"/>
          <p:cNvSpPr>
            <a:spLocks noChangeArrowheads="1"/>
          </p:cNvSpPr>
          <p:nvPr/>
        </p:nvSpPr>
        <p:spPr bwMode="auto">
          <a:xfrm>
            <a:off x="6067425" y="3962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5</a:t>
            </a:r>
            <a:endParaRPr lang="en-US" altLang="zh-CN" sz="2800" b="1" baseline="-10000"/>
          </a:p>
        </p:txBody>
      </p:sp>
      <p:sp>
        <p:nvSpPr>
          <p:cNvPr id="13" name="Oval 9"/>
          <p:cNvSpPr>
            <a:spLocks noChangeArrowheads="1"/>
          </p:cNvSpPr>
          <p:nvPr/>
        </p:nvSpPr>
        <p:spPr bwMode="auto">
          <a:xfrm>
            <a:off x="7391400" y="4038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6</a:t>
            </a:r>
            <a:endParaRPr lang="en-US" altLang="zh-CN" sz="2800" b="1" baseline="-10000"/>
          </a:p>
        </p:txBody>
      </p:sp>
      <p:sp>
        <p:nvSpPr>
          <p:cNvPr id="14" name="Oval 10"/>
          <p:cNvSpPr>
            <a:spLocks noChangeArrowheads="1"/>
          </p:cNvSpPr>
          <p:nvPr/>
        </p:nvSpPr>
        <p:spPr bwMode="auto">
          <a:xfrm>
            <a:off x="8382000" y="40386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7</a:t>
            </a:r>
            <a:endParaRPr lang="en-US" altLang="zh-CN" sz="2800" b="1" baseline="-10000"/>
          </a:p>
        </p:txBody>
      </p:sp>
      <p:sp>
        <p:nvSpPr>
          <p:cNvPr id="15" name="Oval 11"/>
          <p:cNvSpPr>
            <a:spLocks noChangeArrowheads="1"/>
          </p:cNvSpPr>
          <p:nvPr/>
        </p:nvSpPr>
        <p:spPr bwMode="auto">
          <a:xfrm>
            <a:off x="6172200" y="5105400"/>
            <a:ext cx="457200" cy="4572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V</a:t>
            </a:r>
            <a:r>
              <a:rPr lang="en-US" altLang="zh-CN" sz="2800" b="1" baseline="-10000"/>
              <a:t>8</a:t>
            </a:r>
            <a:endParaRPr lang="en-US" altLang="zh-CN" sz="2800" b="1" baseline="-10000"/>
          </a:p>
        </p:txBody>
      </p:sp>
      <p:sp>
        <p:nvSpPr>
          <p:cNvPr id="16" name="Line 12"/>
          <p:cNvSpPr>
            <a:spLocks noChangeShapeType="1"/>
          </p:cNvSpPr>
          <p:nvPr/>
        </p:nvSpPr>
        <p:spPr bwMode="auto">
          <a:xfrm flipH="1">
            <a:off x="6019800" y="2667000"/>
            <a:ext cx="7620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7" name="Line 13"/>
          <p:cNvSpPr>
            <a:spLocks noChangeShapeType="1"/>
          </p:cNvSpPr>
          <p:nvPr/>
        </p:nvSpPr>
        <p:spPr bwMode="auto">
          <a:xfrm>
            <a:off x="7086600" y="2667000"/>
            <a:ext cx="914400" cy="533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8" name="Line 14"/>
          <p:cNvSpPr>
            <a:spLocks noChangeShapeType="1"/>
          </p:cNvSpPr>
          <p:nvPr/>
        </p:nvSpPr>
        <p:spPr bwMode="auto">
          <a:xfrm flipH="1">
            <a:off x="5257800" y="3505200"/>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 name="Line 15"/>
          <p:cNvSpPr>
            <a:spLocks noChangeShapeType="1"/>
          </p:cNvSpPr>
          <p:nvPr/>
        </p:nvSpPr>
        <p:spPr bwMode="auto">
          <a:xfrm>
            <a:off x="5943600" y="3505200"/>
            <a:ext cx="3048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 name="Line 16"/>
          <p:cNvSpPr>
            <a:spLocks noChangeShapeType="1"/>
          </p:cNvSpPr>
          <p:nvPr/>
        </p:nvSpPr>
        <p:spPr bwMode="auto">
          <a:xfrm>
            <a:off x="5257800" y="4419600"/>
            <a:ext cx="990600" cy="762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1" name="Line 17"/>
          <p:cNvSpPr>
            <a:spLocks noChangeShapeType="1"/>
          </p:cNvSpPr>
          <p:nvPr/>
        </p:nvSpPr>
        <p:spPr bwMode="auto">
          <a:xfrm>
            <a:off x="6324600" y="4419600"/>
            <a:ext cx="152400" cy="685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2" name="Line 18"/>
          <p:cNvSpPr>
            <a:spLocks noChangeShapeType="1"/>
          </p:cNvSpPr>
          <p:nvPr/>
        </p:nvSpPr>
        <p:spPr bwMode="auto">
          <a:xfrm flipH="1">
            <a:off x="7696200" y="3581400"/>
            <a:ext cx="3048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3" name="Line 19"/>
          <p:cNvSpPr>
            <a:spLocks noChangeShapeType="1"/>
          </p:cNvSpPr>
          <p:nvPr/>
        </p:nvSpPr>
        <p:spPr bwMode="auto">
          <a:xfrm>
            <a:off x="8229600" y="3581400"/>
            <a:ext cx="3048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4" name="Line 20"/>
          <p:cNvSpPr>
            <a:spLocks noChangeShapeType="1"/>
          </p:cNvSpPr>
          <p:nvPr/>
        </p:nvSpPr>
        <p:spPr bwMode="auto">
          <a:xfrm>
            <a:off x="7848600" y="4343400"/>
            <a:ext cx="533400" cy="15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a:t>
            </a:r>
            <a:r>
              <a:rPr>
                <a:sym typeface="+mn-ea"/>
              </a:rPr>
              <a:t>panning </a:t>
            </a:r>
            <a:r>
              <a:rPr lang="en-US" altLang="zh-CN">
                <a:sym typeface="+mn-ea"/>
              </a:rPr>
              <a:t>T</a:t>
            </a:r>
            <a:r>
              <a:rPr>
                <a:sym typeface="+mn-ea"/>
              </a:rPr>
              <a:t>ree</a:t>
            </a:r>
            <a:endParaRPr lang="zh-CN" altLang="en-US" dirty="0"/>
          </a:p>
        </p:txBody>
      </p:sp>
      <p:sp>
        <p:nvSpPr>
          <p:cNvPr id="3" name="内容占位符 2"/>
          <p:cNvSpPr>
            <a:spLocks noGrp="1"/>
          </p:cNvSpPr>
          <p:nvPr>
            <p:ph idx="1"/>
          </p:nvPr>
        </p:nvSpPr>
        <p:spPr/>
        <p:txBody>
          <a:bodyPr/>
          <a:lstStyle/>
          <a:p>
            <a:pPr>
              <a:lnSpc>
                <a:spcPct val="110000"/>
              </a:lnSpc>
              <a:spcBef>
                <a:spcPts val="600"/>
              </a:spcBef>
            </a:pPr>
            <a:r>
              <a:rPr lang="en-US" altLang="zh-CN" sz="2400" dirty="0">
                <a:cs typeface="Arial" panose="020B0604020202020204" pitchFamily="34" charset="0"/>
              </a:rPr>
              <a:t>Spanning Tree of a Graph: Let</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G=(V, E)</a:t>
            </a:r>
            <a:r>
              <a:rPr lang="en-US" altLang="en-US" sz="2400" dirty="0">
                <a:cs typeface="Arial" panose="020B0604020202020204" pitchFamily="34" charset="0"/>
              </a:rPr>
              <a:t> </a:t>
            </a:r>
            <a:r>
              <a:rPr lang="en-US" altLang="zh-CN" sz="2400" dirty="0">
                <a:cs typeface="Arial" panose="020B0604020202020204" pitchFamily="34" charset="0"/>
              </a:rPr>
              <a:t>be a connected graph, and</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E(G)</a:t>
            </a:r>
            <a:r>
              <a:rPr lang="en-US" altLang="en-US" sz="2400" dirty="0">
                <a:cs typeface="Arial" panose="020B0604020202020204" pitchFamily="34" charset="0"/>
              </a:rPr>
              <a:t> </a:t>
            </a:r>
            <a:r>
              <a:rPr lang="en-US" altLang="zh-CN" sz="2400" dirty="0">
                <a:cs typeface="Arial" panose="020B0604020202020204" pitchFamily="34" charset="0"/>
              </a:rPr>
              <a:t>be the set of all edges in the connected graph. If we start a search process from any vertex in the graph,</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E(G)</a:t>
            </a:r>
            <a:r>
              <a:rPr lang="en-US" altLang="en-US" sz="2400" dirty="0">
                <a:cs typeface="Arial" panose="020B0604020202020204" pitchFamily="34" charset="0"/>
              </a:rPr>
              <a:t> </a:t>
            </a:r>
            <a:r>
              <a:rPr lang="en-US" altLang="zh-CN" sz="2400" dirty="0">
                <a:cs typeface="Arial" panose="020B0604020202020204" pitchFamily="34" charset="0"/>
              </a:rPr>
              <a:t>will be divided into two sets:</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T(G)</a:t>
            </a:r>
            <a:r>
              <a:rPr lang="en-US" altLang="en-US" sz="2400" dirty="0">
                <a:cs typeface="Arial" panose="020B0604020202020204" pitchFamily="34" charset="0"/>
              </a:rPr>
              <a:t> </a:t>
            </a:r>
            <a:r>
              <a:rPr lang="en-US" altLang="zh-CN" sz="2400" dirty="0">
                <a:cs typeface="Arial" panose="020B0604020202020204" pitchFamily="34" charset="0"/>
              </a:rPr>
              <a:t>and</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B(G)</a:t>
            </a:r>
            <a:r>
              <a:rPr lang="en-US" altLang="zh-CN" sz="2400" dirty="0">
                <a:cs typeface="Arial" panose="020B0604020202020204" pitchFamily="34" charset="0"/>
              </a:rPr>
              <a:t>. Among them,</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T(G)</a:t>
            </a:r>
            <a:r>
              <a:rPr lang="en-US" altLang="en-US" sz="2400" dirty="0">
                <a:cs typeface="Arial" panose="020B0604020202020204" pitchFamily="34" charset="0"/>
              </a:rPr>
              <a:t> </a:t>
            </a:r>
            <a:r>
              <a:rPr lang="en-US" altLang="zh-CN" sz="2400" dirty="0">
                <a:cs typeface="Arial" panose="020B0604020202020204" pitchFamily="34" charset="0"/>
              </a:rPr>
              <a:t>is the set of </a:t>
            </a:r>
            <a:r>
              <a:rPr lang="zh-CN" altLang="en-US" sz="2400" dirty="0">
                <a:solidFill>
                  <a:schemeClr val="accent2"/>
                </a:solidFill>
                <a:ea typeface="楷体_GB2312" pitchFamily="49" charset="-122"/>
                <a:cs typeface="Arial" panose="020B0604020202020204" pitchFamily="34" charset="0"/>
              </a:rPr>
              <a:t>edges traversed </a:t>
            </a:r>
            <a:r>
              <a:rPr lang="en-US" altLang="zh-CN" sz="2400" dirty="0">
                <a:cs typeface="Arial" panose="020B0604020202020204" pitchFamily="34" charset="0"/>
              </a:rPr>
              <a:t>during the graph traversal, and</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B(G)</a:t>
            </a:r>
            <a:r>
              <a:rPr lang="en-US" altLang="en-US" sz="2400" dirty="0">
                <a:cs typeface="Arial" panose="020B0604020202020204" pitchFamily="34" charset="0"/>
              </a:rPr>
              <a:t> </a:t>
            </a:r>
            <a:r>
              <a:rPr lang="en-US" altLang="zh-CN" sz="2400" dirty="0">
                <a:cs typeface="Arial" panose="020B0604020202020204" pitchFamily="34" charset="0"/>
              </a:rPr>
              <a:t>is the set of </a:t>
            </a:r>
            <a:r>
              <a:rPr lang="zh-CN" altLang="en-US" sz="2400" dirty="0">
                <a:solidFill>
                  <a:schemeClr val="accent2"/>
                </a:solidFill>
                <a:ea typeface="楷体_GB2312" pitchFamily="49" charset="-122"/>
                <a:cs typeface="Arial" panose="020B0604020202020204" pitchFamily="34" charset="0"/>
              </a:rPr>
              <a:t>remaining edges</a:t>
            </a:r>
            <a:r>
              <a:rPr lang="en-US" altLang="zh-CN" sz="2400" dirty="0">
                <a:cs typeface="Arial" panose="020B0604020202020204" pitchFamily="34" charset="0"/>
              </a:rPr>
              <a:t>.</a:t>
            </a:r>
            <a:r>
              <a:rPr lang="en-US" altLang="en-US" sz="2400" dirty="0">
                <a:cs typeface="Arial" panose="020B0604020202020204" pitchFamily="34" charset="0"/>
              </a:rPr>
              <a:t> </a:t>
            </a:r>
            <a:r>
              <a:rPr lang="en-US" altLang="zh-CN" sz="2400" dirty="0">
                <a:ea typeface="楷体_GB2312" pitchFamily="49" charset="-122"/>
                <a:cs typeface="Arial" panose="020B0604020202020204" pitchFamily="34" charset="0"/>
                <a:sym typeface="+mn-ea"/>
              </a:rPr>
              <a:t>T(G)</a:t>
            </a:r>
            <a:r>
              <a:rPr lang="en-US" altLang="en-US" sz="2400" dirty="0">
                <a:cs typeface="Arial" panose="020B0604020202020204" pitchFamily="34" charset="0"/>
              </a:rPr>
              <a:t> </a:t>
            </a:r>
            <a:r>
              <a:rPr lang="en-US" altLang="zh-CN" sz="2400" dirty="0">
                <a:cs typeface="Arial" panose="020B0604020202020204" pitchFamily="34" charset="0"/>
              </a:rPr>
              <a:t>together with all vertices in the graph forms a minimal connected subtree of the connected graph</a:t>
            </a:r>
            <a:r>
              <a:rPr lang="en-US" altLang="en-US" sz="2400" dirty="0">
                <a:cs typeface="Arial" panose="020B0604020202020204" pitchFamily="34" charset="0"/>
              </a:rPr>
              <a:t> </a:t>
            </a:r>
            <a:r>
              <a:rPr lang="en-US" altLang="zh-CN" sz="2400" dirty="0">
                <a:cs typeface="Arial" panose="020B0604020202020204" pitchFamily="34" charset="0"/>
              </a:rPr>
              <a:t>G, which is called the</a:t>
            </a:r>
            <a:r>
              <a:rPr lang="en-US" altLang="en-US" sz="2400" dirty="0">
                <a:cs typeface="Arial" panose="020B0604020202020204" pitchFamily="34" charset="0"/>
              </a:rPr>
              <a:t> </a:t>
            </a:r>
            <a:r>
              <a:rPr lang="en-US" altLang="zh-CN" sz="2400" dirty="0">
                <a:solidFill>
                  <a:srgbClr val="FF0000"/>
                </a:solidFill>
                <a:ea typeface="楷体_GB2312" pitchFamily="49" charset="-122"/>
                <a:cs typeface="Arial" panose="020B0604020202020204" pitchFamily="34" charset="0"/>
              </a:rPr>
              <a:t>spanning tree of graph G</a:t>
            </a:r>
            <a:r>
              <a:rPr lang="en-US" altLang="zh-CN" sz="2400" dirty="0">
                <a:cs typeface="Arial" panose="020B0604020202020204" pitchFamily="34" charset="0"/>
              </a:rPr>
              <a:t>.</a:t>
            </a:r>
            <a:endParaRPr lang="en-US" altLang="zh-CN" sz="2400" dirty="0">
              <a:cs typeface="Arial" panose="020B0604020202020204" pitchFamily="34" charset="0"/>
            </a:endParaRPr>
          </a:p>
          <a:p>
            <a:pPr>
              <a:lnSpc>
                <a:spcPct val="110000"/>
              </a:lnSpc>
              <a:spcBef>
                <a:spcPts val="600"/>
              </a:spcBef>
            </a:pPr>
            <a:r>
              <a:rPr lang="en-US" altLang="zh-CN" sz="2400" dirty="0">
                <a:cs typeface="Arial" panose="020B0604020202020204" pitchFamily="34" charset="0"/>
              </a:rPr>
              <a:t>The spanning tree of a graph is</a:t>
            </a:r>
            <a:r>
              <a:rPr lang="en-US" altLang="en-US" sz="2400" dirty="0">
                <a:cs typeface="Arial" panose="020B0604020202020204" pitchFamily="34" charset="0"/>
              </a:rPr>
              <a:t> </a:t>
            </a:r>
            <a:r>
              <a:rPr lang="en-US" altLang="zh-CN" sz="2400" dirty="0">
                <a:solidFill>
                  <a:srgbClr val="FF0000"/>
                </a:solidFill>
                <a:ea typeface="楷体_GB2312" pitchFamily="49" charset="-122"/>
                <a:cs typeface="Arial" panose="020B0604020202020204" pitchFamily="34" charset="0"/>
              </a:rPr>
              <a:t>not unique</a:t>
            </a:r>
            <a:r>
              <a:rPr lang="en-US" altLang="zh-CN" sz="2400" dirty="0">
                <a:cs typeface="Arial" panose="020B0604020202020204" pitchFamily="34" charset="0"/>
              </a:rPr>
              <a:t>. By performing searches starting from different nodes, different spanning trees can be obtained.</a:t>
            </a:r>
            <a:endParaRPr lang="en-US" altLang="zh-CN" sz="2400"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Depth-First Spanning Tree and Breadth-First Spanning Tree</a:t>
            </a:r>
            <a:endParaRPr lang="en-US" altLang="zh-CN" sz="3600" dirty="0"/>
          </a:p>
        </p:txBody>
      </p:sp>
      <p:sp>
        <p:nvSpPr>
          <p:cNvPr id="3" name="内容占位符 2"/>
          <p:cNvSpPr>
            <a:spLocks noGrp="1"/>
          </p:cNvSpPr>
          <p:nvPr>
            <p:ph idx="1"/>
          </p:nvPr>
        </p:nvSpPr>
        <p:spPr>
          <a:xfrm>
            <a:off x="323850" y="1124585"/>
            <a:ext cx="8496300" cy="1567815"/>
          </a:xfrm>
        </p:spPr>
        <p:txBody>
          <a:bodyPr/>
          <a:lstStyle/>
          <a:p>
            <a:pPr>
              <a:spcBef>
                <a:spcPts val="600"/>
              </a:spcBef>
            </a:pPr>
            <a:r>
              <a:rPr lang="en-US" altLang="zh-CN" sz="1800" dirty="0"/>
              <a:t>Depth-First Spanning Tree: A spanning tree obtained by depth-first search.</a:t>
            </a:r>
            <a:endParaRPr lang="en-US" altLang="zh-CN" sz="1800" dirty="0"/>
          </a:p>
          <a:p>
            <a:pPr>
              <a:spcBef>
                <a:spcPts val="600"/>
              </a:spcBef>
            </a:pPr>
            <a:r>
              <a:rPr lang="en-US" altLang="zh-CN" sz="1800" dirty="0"/>
              <a:t>Breadth-First Spanning Tree: A spanning tree obtained by breadth-first search.</a:t>
            </a:r>
            <a:endParaRPr lang="en-US" altLang="zh-CN" sz="1800" dirty="0"/>
          </a:p>
        </p:txBody>
      </p:sp>
      <p:grpSp>
        <p:nvGrpSpPr>
          <p:cNvPr id="26" name="Group 58"/>
          <p:cNvGrpSpPr/>
          <p:nvPr/>
        </p:nvGrpSpPr>
        <p:grpSpPr bwMode="auto">
          <a:xfrm>
            <a:off x="609600" y="2743200"/>
            <a:ext cx="8355013" cy="2989263"/>
            <a:chOff x="384" y="1728"/>
            <a:chExt cx="5263" cy="1883"/>
          </a:xfrm>
        </p:grpSpPr>
        <p:sp>
          <p:nvSpPr>
            <p:cNvPr id="27" name="Oval 3"/>
            <p:cNvSpPr>
              <a:spLocks noChangeArrowheads="1"/>
            </p:cNvSpPr>
            <p:nvPr/>
          </p:nvSpPr>
          <p:spPr bwMode="auto">
            <a:xfrm>
              <a:off x="1032" y="172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28" name="Oval 4"/>
            <p:cNvSpPr>
              <a:spLocks noChangeArrowheads="1"/>
            </p:cNvSpPr>
            <p:nvPr/>
          </p:nvSpPr>
          <p:spPr bwMode="auto">
            <a:xfrm>
              <a:off x="720" y="206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29" name="Oval 5"/>
            <p:cNvSpPr>
              <a:spLocks noChangeArrowheads="1"/>
            </p:cNvSpPr>
            <p:nvPr/>
          </p:nvSpPr>
          <p:spPr bwMode="auto">
            <a:xfrm>
              <a:off x="1344" y="206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30" name="Oval 6"/>
            <p:cNvSpPr>
              <a:spLocks noChangeArrowheads="1"/>
            </p:cNvSpPr>
            <p:nvPr/>
          </p:nvSpPr>
          <p:spPr bwMode="auto">
            <a:xfrm>
              <a:off x="480"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31" name="Oval 7"/>
            <p:cNvSpPr>
              <a:spLocks noChangeArrowheads="1"/>
            </p:cNvSpPr>
            <p:nvPr/>
          </p:nvSpPr>
          <p:spPr bwMode="auto">
            <a:xfrm>
              <a:off x="864"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32" name="Oval 8"/>
            <p:cNvSpPr>
              <a:spLocks noChangeArrowheads="1"/>
            </p:cNvSpPr>
            <p:nvPr/>
          </p:nvSpPr>
          <p:spPr bwMode="auto">
            <a:xfrm>
              <a:off x="1200"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6</a:t>
              </a:r>
              <a:endParaRPr lang="en-US" altLang="zh-CN" b="1"/>
            </a:p>
          </p:txBody>
        </p:sp>
        <p:sp>
          <p:nvSpPr>
            <p:cNvPr id="33" name="Oval 9"/>
            <p:cNvSpPr>
              <a:spLocks noChangeArrowheads="1"/>
            </p:cNvSpPr>
            <p:nvPr/>
          </p:nvSpPr>
          <p:spPr bwMode="auto">
            <a:xfrm>
              <a:off x="1536"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7</a:t>
              </a:r>
              <a:endParaRPr lang="en-US" altLang="zh-CN" b="1"/>
            </a:p>
          </p:txBody>
        </p:sp>
        <p:sp>
          <p:nvSpPr>
            <p:cNvPr id="34" name="Oval 10"/>
            <p:cNvSpPr>
              <a:spLocks noChangeArrowheads="1"/>
            </p:cNvSpPr>
            <p:nvPr/>
          </p:nvSpPr>
          <p:spPr bwMode="auto">
            <a:xfrm>
              <a:off x="1008" y="292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8</a:t>
              </a:r>
              <a:endParaRPr lang="en-US" altLang="zh-CN" b="1"/>
            </a:p>
          </p:txBody>
        </p:sp>
        <p:sp>
          <p:nvSpPr>
            <p:cNvPr id="35" name="Line 11"/>
            <p:cNvSpPr>
              <a:spLocks noChangeShapeType="1"/>
            </p:cNvSpPr>
            <p:nvPr/>
          </p:nvSpPr>
          <p:spPr bwMode="auto">
            <a:xfrm flipH="1">
              <a:off x="884" y="1900"/>
              <a:ext cx="192"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36" name="Line 12"/>
            <p:cNvSpPr>
              <a:spLocks noChangeShapeType="1"/>
            </p:cNvSpPr>
            <p:nvPr/>
          </p:nvSpPr>
          <p:spPr bwMode="auto">
            <a:xfrm>
              <a:off x="1200" y="1900"/>
              <a:ext cx="192"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37" name="Line 13"/>
            <p:cNvSpPr>
              <a:spLocks noChangeShapeType="1"/>
            </p:cNvSpPr>
            <p:nvPr/>
          </p:nvSpPr>
          <p:spPr bwMode="auto">
            <a:xfrm flipH="1">
              <a:off x="624" y="2256"/>
              <a:ext cx="144"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38" name="Line 14"/>
            <p:cNvSpPr>
              <a:spLocks noChangeShapeType="1"/>
            </p:cNvSpPr>
            <p:nvPr/>
          </p:nvSpPr>
          <p:spPr bwMode="auto">
            <a:xfrm>
              <a:off x="864" y="2256"/>
              <a:ext cx="96"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39" name="Line 15"/>
            <p:cNvSpPr>
              <a:spLocks noChangeShapeType="1"/>
            </p:cNvSpPr>
            <p:nvPr/>
          </p:nvSpPr>
          <p:spPr bwMode="auto">
            <a:xfrm flipH="1">
              <a:off x="1296" y="2256"/>
              <a:ext cx="96"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0" name="Line 16"/>
            <p:cNvSpPr>
              <a:spLocks noChangeShapeType="1"/>
            </p:cNvSpPr>
            <p:nvPr/>
          </p:nvSpPr>
          <p:spPr bwMode="auto">
            <a:xfrm>
              <a:off x="1488" y="2256"/>
              <a:ext cx="144" cy="19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1" name="Line 17"/>
            <p:cNvSpPr>
              <a:spLocks noChangeShapeType="1"/>
            </p:cNvSpPr>
            <p:nvPr/>
          </p:nvSpPr>
          <p:spPr bwMode="auto">
            <a:xfrm>
              <a:off x="576" y="2640"/>
              <a:ext cx="432" cy="33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2" name="Line 18"/>
            <p:cNvSpPr>
              <a:spLocks noChangeShapeType="1"/>
            </p:cNvSpPr>
            <p:nvPr/>
          </p:nvSpPr>
          <p:spPr bwMode="auto">
            <a:xfrm>
              <a:off x="960" y="2640"/>
              <a:ext cx="96" cy="288"/>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3" name="Line 19"/>
            <p:cNvSpPr>
              <a:spLocks noChangeShapeType="1"/>
            </p:cNvSpPr>
            <p:nvPr/>
          </p:nvSpPr>
          <p:spPr bwMode="auto">
            <a:xfrm flipH="1">
              <a:off x="1152" y="2640"/>
              <a:ext cx="144" cy="288"/>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4" name="Line 20"/>
            <p:cNvSpPr>
              <a:spLocks noChangeShapeType="1"/>
            </p:cNvSpPr>
            <p:nvPr/>
          </p:nvSpPr>
          <p:spPr bwMode="auto">
            <a:xfrm flipH="1">
              <a:off x="1200" y="2640"/>
              <a:ext cx="432" cy="33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5" name="Text Box 21"/>
            <p:cNvSpPr txBox="1">
              <a:spLocks noChangeArrowheads="1"/>
            </p:cNvSpPr>
            <p:nvPr/>
          </p:nvSpPr>
          <p:spPr bwMode="auto">
            <a:xfrm>
              <a:off x="384" y="3408"/>
              <a:ext cx="526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r>
                <a:rPr lang="zh-CN" altLang="en-US" sz="1800" b="1" dirty="0">
                  <a:ea typeface="楷体_GB2312" pitchFamily="49" charset="-122"/>
                  <a:sym typeface="+mn-ea"/>
                </a:rPr>
                <a:t>Undirected graph </a:t>
              </a:r>
              <a:r>
                <a:rPr lang="en-US" altLang="zh-CN" sz="1800" b="1" dirty="0">
                  <a:ea typeface="楷体_GB2312" pitchFamily="49" charset="-122"/>
                  <a:sym typeface="+mn-ea"/>
                </a:rPr>
                <a:t>           </a:t>
              </a:r>
              <a:r>
                <a:rPr lang="zh-CN" altLang="en-US" sz="1800" b="1" dirty="0">
                  <a:ea typeface="楷体_GB2312" pitchFamily="49" charset="-122"/>
                  <a:sym typeface="+mn-ea"/>
                </a:rPr>
                <a:t>Depth-first </a:t>
              </a:r>
              <a:r>
                <a:rPr lang="en-US" altLang="zh-CN" sz="1800" b="1" dirty="0">
                  <a:ea typeface="楷体_GB2312" pitchFamily="49" charset="-122"/>
                  <a:sym typeface="+mn-ea"/>
                </a:rPr>
                <a:t>Spanning </a:t>
              </a:r>
              <a:r>
                <a:rPr lang="zh-CN" altLang="en-US" sz="1800" b="1" dirty="0">
                  <a:ea typeface="楷体_GB2312" pitchFamily="49" charset="-122"/>
                  <a:sym typeface="+mn-ea"/>
                </a:rPr>
                <a:t>tree </a:t>
              </a:r>
              <a:r>
                <a:rPr lang="en-US" altLang="zh-CN" sz="1800" b="1" dirty="0">
                  <a:ea typeface="楷体_GB2312" pitchFamily="49" charset="-122"/>
                  <a:sym typeface="+mn-ea"/>
                </a:rPr>
                <a:t>    </a:t>
              </a:r>
              <a:r>
                <a:rPr lang="zh-CN" altLang="en-US" sz="1800" b="1" dirty="0">
                  <a:ea typeface="楷体_GB2312" pitchFamily="49" charset="-122"/>
                  <a:sym typeface="+mn-ea"/>
                </a:rPr>
                <a:t>Breadth-first </a:t>
              </a:r>
              <a:r>
                <a:rPr lang="en-US" altLang="zh-CN" sz="1800" b="1" dirty="0">
                  <a:ea typeface="楷体_GB2312" pitchFamily="49" charset="-122"/>
                  <a:sym typeface="+mn-ea"/>
                </a:rPr>
                <a:t>Spanning </a:t>
              </a:r>
              <a:r>
                <a:rPr lang="zh-CN" altLang="en-US" sz="1800" b="1" dirty="0">
                  <a:ea typeface="楷体_GB2312" pitchFamily="49" charset="-122"/>
                  <a:sym typeface="+mn-ea"/>
                </a:rPr>
                <a:t>tree</a:t>
              </a:r>
              <a:endParaRPr lang="zh-CN" altLang="en-US" sz="1800" b="1" dirty="0">
                <a:ea typeface="楷体_GB2312" pitchFamily="49" charset="-122"/>
                <a:sym typeface="+mn-ea"/>
              </a:endParaRPr>
            </a:p>
          </p:txBody>
        </p:sp>
      </p:grpSp>
      <p:grpSp>
        <p:nvGrpSpPr>
          <p:cNvPr id="46" name="Group 59"/>
          <p:cNvGrpSpPr/>
          <p:nvPr/>
        </p:nvGrpSpPr>
        <p:grpSpPr bwMode="auto">
          <a:xfrm>
            <a:off x="3657600" y="2819400"/>
            <a:ext cx="1981200" cy="2209800"/>
            <a:chOff x="2304" y="1776"/>
            <a:chExt cx="1248" cy="1392"/>
          </a:xfrm>
        </p:grpSpPr>
        <p:sp>
          <p:nvSpPr>
            <p:cNvPr id="47" name="Oval 22"/>
            <p:cNvSpPr>
              <a:spLocks noChangeArrowheads="1"/>
            </p:cNvSpPr>
            <p:nvPr/>
          </p:nvSpPr>
          <p:spPr bwMode="auto">
            <a:xfrm>
              <a:off x="2856" y="177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48" name="Oval 23"/>
            <p:cNvSpPr>
              <a:spLocks noChangeArrowheads="1"/>
            </p:cNvSpPr>
            <p:nvPr/>
          </p:nvSpPr>
          <p:spPr bwMode="auto">
            <a:xfrm>
              <a:off x="2544" y="2112"/>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49" name="Oval 24"/>
            <p:cNvSpPr>
              <a:spLocks noChangeArrowheads="1"/>
            </p:cNvSpPr>
            <p:nvPr/>
          </p:nvSpPr>
          <p:spPr bwMode="auto">
            <a:xfrm>
              <a:off x="3168" y="2112"/>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50" name="Oval 25"/>
            <p:cNvSpPr>
              <a:spLocks noChangeArrowheads="1"/>
            </p:cNvSpPr>
            <p:nvPr/>
          </p:nvSpPr>
          <p:spPr bwMode="auto">
            <a:xfrm>
              <a:off x="2304" y="249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51" name="Oval 26"/>
            <p:cNvSpPr>
              <a:spLocks noChangeArrowheads="1"/>
            </p:cNvSpPr>
            <p:nvPr/>
          </p:nvSpPr>
          <p:spPr bwMode="auto">
            <a:xfrm>
              <a:off x="2688" y="249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52" name="Oval 27"/>
            <p:cNvSpPr>
              <a:spLocks noChangeArrowheads="1"/>
            </p:cNvSpPr>
            <p:nvPr/>
          </p:nvSpPr>
          <p:spPr bwMode="auto">
            <a:xfrm>
              <a:off x="3024" y="249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6</a:t>
              </a:r>
              <a:endParaRPr lang="en-US" altLang="zh-CN" b="1"/>
            </a:p>
          </p:txBody>
        </p:sp>
        <p:sp>
          <p:nvSpPr>
            <p:cNvPr id="53" name="Oval 28"/>
            <p:cNvSpPr>
              <a:spLocks noChangeArrowheads="1"/>
            </p:cNvSpPr>
            <p:nvPr/>
          </p:nvSpPr>
          <p:spPr bwMode="auto">
            <a:xfrm>
              <a:off x="3360" y="249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7</a:t>
              </a:r>
              <a:endParaRPr lang="en-US" altLang="zh-CN" b="1"/>
            </a:p>
          </p:txBody>
        </p:sp>
        <p:sp>
          <p:nvSpPr>
            <p:cNvPr id="54" name="Oval 29"/>
            <p:cNvSpPr>
              <a:spLocks noChangeArrowheads="1"/>
            </p:cNvSpPr>
            <p:nvPr/>
          </p:nvSpPr>
          <p:spPr bwMode="auto">
            <a:xfrm>
              <a:off x="2832" y="297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8</a:t>
              </a:r>
              <a:endParaRPr lang="en-US" altLang="zh-CN" b="1"/>
            </a:p>
          </p:txBody>
        </p:sp>
        <p:sp>
          <p:nvSpPr>
            <p:cNvPr id="55" name="Line 30"/>
            <p:cNvSpPr>
              <a:spLocks noChangeShapeType="1"/>
            </p:cNvSpPr>
            <p:nvPr/>
          </p:nvSpPr>
          <p:spPr bwMode="auto">
            <a:xfrm flipH="1">
              <a:off x="2708" y="1948"/>
              <a:ext cx="192"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6" name="Line 31"/>
            <p:cNvSpPr>
              <a:spLocks noChangeShapeType="1"/>
            </p:cNvSpPr>
            <p:nvPr/>
          </p:nvSpPr>
          <p:spPr bwMode="auto">
            <a:xfrm>
              <a:off x="3024" y="1948"/>
              <a:ext cx="192" cy="192"/>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7" name="Line 32"/>
            <p:cNvSpPr>
              <a:spLocks noChangeShapeType="1"/>
            </p:cNvSpPr>
            <p:nvPr/>
          </p:nvSpPr>
          <p:spPr bwMode="auto">
            <a:xfrm flipH="1">
              <a:off x="2448" y="2304"/>
              <a:ext cx="144"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8" name="Line 33"/>
            <p:cNvSpPr>
              <a:spLocks noChangeShapeType="1"/>
            </p:cNvSpPr>
            <p:nvPr/>
          </p:nvSpPr>
          <p:spPr bwMode="auto">
            <a:xfrm>
              <a:off x="2688" y="2304"/>
              <a:ext cx="96" cy="192"/>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59" name="Line 34"/>
            <p:cNvSpPr>
              <a:spLocks noChangeShapeType="1"/>
            </p:cNvSpPr>
            <p:nvPr/>
          </p:nvSpPr>
          <p:spPr bwMode="auto">
            <a:xfrm flipH="1">
              <a:off x="3120" y="2304"/>
              <a:ext cx="96"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0" name="Line 35"/>
            <p:cNvSpPr>
              <a:spLocks noChangeShapeType="1"/>
            </p:cNvSpPr>
            <p:nvPr/>
          </p:nvSpPr>
          <p:spPr bwMode="auto">
            <a:xfrm>
              <a:off x="3312" y="2304"/>
              <a:ext cx="144"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1" name="Line 36"/>
            <p:cNvSpPr>
              <a:spLocks noChangeShapeType="1"/>
            </p:cNvSpPr>
            <p:nvPr/>
          </p:nvSpPr>
          <p:spPr bwMode="auto">
            <a:xfrm>
              <a:off x="2400" y="2688"/>
              <a:ext cx="432" cy="336"/>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2" name="Line 37"/>
            <p:cNvSpPr>
              <a:spLocks noChangeShapeType="1"/>
            </p:cNvSpPr>
            <p:nvPr/>
          </p:nvSpPr>
          <p:spPr bwMode="auto">
            <a:xfrm>
              <a:off x="2784" y="2688"/>
              <a:ext cx="96" cy="288"/>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3" name="Line 38"/>
            <p:cNvSpPr>
              <a:spLocks noChangeShapeType="1"/>
            </p:cNvSpPr>
            <p:nvPr/>
          </p:nvSpPr>
          <p:spPr bwMode="auto">
            <a:xfrm flipH="1">
              <a:off x="2976" y="2688"/>
              <a:ext cx="144" cy="288"/>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64" name="Line 39"/>
            <p:cNvSpPr>
              <a:spLocks noChangeShapeType="1"/>
            </p:cNvSpPr>
            <p:nvPr/>
          </p:nvSpPr>
          <p:spPr bwMode="auto">
            <a:xfrm flipH="1">
              <a:off x="3024" y="2688"/>
              <a:ext cx="432" cy="336"/>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grpSp>
        <p:nvGrpSpPr>
          <p:cNvPr id="65" name="Group 60"/>
          <p:cNvGrpSpPr/>
          <p:nvPr/>
        </p:nvGrpSpPr>
        <p:grpSpPr bwMode="auto">
          <a:xfrm>
            <a:off x="6400800" y="2743200"/>
            <a:ext cx="1981200" cy="2209800"/>
            <a:chOff x="4032" y="1728"/>
            <a:chExt cx="1248" cy="1392"/>
          </a:xfrm>
        </p:grpSpPr>
        <p:sp>
          <p:nvSpPr>
            <p:cNvPr id="66" name="Oval 40"/>
            <p:cNvSpPr>
              <a:spLocks noChangeArrowheads="1"/>
            </p:cNvSpPr>
            <p:nvPr/>
          </p:nvSpPr>
          <p:spPr bwMode="auto">
            <a:xfrm>
              <a:off x="4584" y="172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67" name="Oval 41"/>
            <p:cNvSpPr>
              <a:spLocks noChangeArrowheads="1"/>
            </p:cNvSpPr>
            <p:nvPr/>
          </p:nvSpPr>
          <p:spPr bwMode="auto">
            <a:xfrm>
              <a:off x="4272" y="206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68" name="Oval 42"/>
            <p:cNvSpPr>
              <a:spLocks noChangeArrowheads="1"/>
            </p:cNvSpPr>
            <p:nvPr/>
          </p:nvSpPr>
          <p:spPr bwMode="auto">
            <a:xfrm>
              <a:off x="4896" y="206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69" name="Oval 43"/>
            <p:cNvSpPr>
              <a:spLocks noChangeArrowheads="1"/>
            </p:cNvSpPr>
            <p:nvPr/>
          </p:nvSpPr>
          <p:spPr bwMode="auto">
            <a:xfrm>
              <a:off x="4032"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70" name="Oval 44"/>
            <p:cNvSpPr>
              <a:spLocks noChangeArrowheads="1"/>
            </p:cNvSpPr>
            <p:nvPr/>
          </p:nvSpPr>
          <p:spPr bwMode="auto">
            <a:xfrm>
              <a:off x="4416"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71" name="Oval 45"/>
            <p:cNvSpPr>
              <a:spLocks noChangeArrowheads="1"/>
            </p:cNvSpPr>
            <p:nvPr/>
          </p:nvSpPr>
          <p:spPr bwMode="auto">
            <a:xfrm>
              <a:off x="4752"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6</a:t>
              </a:r>
              <a:endParaRPr lang="en-US" altLang="zh-CN" b="1"/>
            </a:p>
          </p:txBody>
        </p:sp>
        <p:sp>
          <p:nvSpPr>
            <p:cNvPr id="72" name="Oval 46"/>
            <p:cNvSpPr>
              <a:spLocks noChangeArrowheads="1"/>
            </p:cNvSpPr>
            <p:nvPr/>
          </p:nvSpPr>
          <p:spPr bwMode="auto">
            <a:xfrm>
              <a:off x="5088" y="244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7</a:t>
              </a:r>
              <a:endParaRPr lang="en-US" altLang="zh-CN" b="1"/>
            </a:p>
          </p:txBody>
        </p:sp>
        <p:sp>
          <p:nvSpPr>
            <p:cNvPr id="73" name="Oval 47"/>
            <p:cNvSpPr>
              <a:spLocks noChangeArrowheads="1"/>
            </p:cNvSpPr>
            <p:nvPr/>
          </p:nvSpPr>
          <p:spPr bwMode="auto">
            <a:xfrm>
              <a:off x="4560" y="292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8</a:t>
              </a:r>
              <a:endParaRPr lang="en-US" altLang="zh-CN" b="1"/>
            </a:p>
          </p:txBody>
        </p:sp>
        <p:sp>
          <p:nvSpPr>
            <p:cNvPr id="74" name="Line 48"/>
            <p:cNvSpPr>
              <a:spLocks noChangeShapeType="1"/>
            </p:cNvSpPr>
            <p:nvPr/>
          </p:nvSpPr>
          <p:spPr bwMode="auto">
            <a:xfrm flipH="1">
              <a:off x="4436" y="1900"/>
              <a:ext cx="192"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75" name="Line 49"/>
            <p:cNvSpPr>
              <a:spLocks noChangeShapeType="1"/>
            </p:cNvSpPr>
            <p:nvPr/>
          </p:nvSpPr>
          <p:spPr bwMode="auto">
            <a:xfrm>
              <a:off x="4752" y="1900"/>
              <a:ext cx="192"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76" name="Line 50"/>
            <p:cNvSpPr>
              <a:spLocks noChangeShapeType="1"/>
            </p:cNvSpPr>
            <p:nvPr/>
          </p:nvSpPr>
          <p:spPr bwMode="auto">
            <a:xfrm flipH="1">
              <a:off x="4176" y="2256"/>
              <a:ext cx="144"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77" name="Line 51"/>
            <p:cNvSpPr>
              <a:spLocks noChangeShapeType="1"/>
            </p:cNvSpPr>
            <p:nvPr/>
          </p:nvSpPr>
          <p:spPr bwMode="auto">
            <a:xfrm>
              <a:off x="4416" y="2256"/>
              <a:ext cx="96"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78" name="Line 52"/>
            <p:cNvSpPr>
              <a:spLocks noChangeShapeType="1"/>
            </p:cNvSpPr>
            <p:nvPr/>
          </p:nvSpPr>
          <p:spPr bwMode="auto">
            <a:xfrm flipH="1">
              <a:off x="4848" y="2256"/>
              <a:ext cx="96"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79" name="Line 53"/>
            <p:cNvSpPr>
              <a:spLocks noChangeShapeType="1"/>
            </p:cNvSpPr>
            <p:nvPr/>
          </p:nvSpPr>
          <p:spPr bwMode="auto">
            <a:xfrm>
              <a:off x="5040" y="2256"/>
              <a:ext cx="144" cy="192"/>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0" name="Line 54"/>
            <p:cNvSpPr>
              <a:spLocks noChangeShapeType="1"/>
            </p:cNvSpPr>
            <p:nvPr/>
          </p:nvSpPr>
          <p:spPr bwMode="auto">
            <a:xfrm>
              <a:off x="4128" y="2640"/>
              <a:ext cx="432" cy="336"/>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1" name="Line 55"/>
            <p:cNvSpPr>
              <a:spLocks noChangeShapeType="1"/>
            </p:cNvSpPr>
            <p:nvPr/>
          </p:nvSpPr>
          <p:spPr bwMode="auto">
            <a:xfrm>
              <a:off x="4512" y="2640"/>
              <a:ext cx="96" cy="288"/>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2" name="Line 56"/>
            <p:cNvSpPr>
              <a:spLocks noChangeShapeType="1"/>
            </p:cNvSpPr>
            <p:nvPr/>
          </p:nvSpPr>
          <p:spPr bwMode="auto">
            <a:xfrm flipH="1">
              <a:off x="4704" y="2640"/>
              <a:ext cx="144" cy="288"/>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83" name="Line 57"/>
            <p:cNvSpPr>
              <a:spLocks noChangeShapeType="1"/>
            </p:cNvSpPr>
            <p:nvPr/>
          </p:nvSpPr>
          <p:spPr bwMode="auto">
            <a:xfrm flipH="1">
              <a:off x="4752" y="2640"/>
              <a:ext cx="432" cy="336"/>
            </a:xfrm>
            <a:prstGeom prst="line">
              <a:avLst/>
            </a:prstGeom>
            <a:noFill/>
            <a:ln w="28575"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slide(fromBottom)">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checkerboard(across)">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 calcmode="lin" valueType="num">
                                      <p:cBhvr>
                                        <p:cTn id="17" dur="1000" fill="hold"/>
                                        <p:tgtEl>
                                          <p:spTgt spid="65"/>
                                        </p:tgtEl>
                                        <p:attrNameLst>
                                          <p:attrName>ppt_w</p:attrName>
                                        </p:attrNameLst>
                                      </p:cBhvr>
                                      <p:tavLst>
                                        <p:tav tm="0">
                                          <p:val>
                                            <p:strVal val="#ppt_w*0.70"/>
                                          </p:val>
                                        </p:tav>
                                        <p:tav tm="100000">
                                          <p:val>
                                            <p:strVal val="#ppt_w"/>
                                          </p:val>
                                        </p:tav>
                                      </p:tavLst>
                                    </p:anim>
                                    <p:anim calcmode="lin" valueType="num">
                                      <p:cBhvr>
                                        <p:cTn id="18" dur="1000" fill="hold"/>
                                        <p:tgtEl>
                                          <p:spTgt spid="65"/>
                                        </p:tgtEl>
                                        <p:attrNameLst>
                                          <p:attrName>ppt_h</p:attrName>
                                        </p:attrNameLst>
                                      </p:cBhvr>
                                      <p:tavLst>
                                        <p:tav tm="0">
                                          <p:val>
                                            <p:strVal val="#ppt_h"/>
                                          </p:val>
                                        </p:tav>
                                        <p:tav tm="100000">
                                          <p:val>
                                            <p:strVal val="#ppt_h"/>
                                          </p:val>
                                        </p:tav>
                                      </p:tavLst>
                                    </p:anim>
                                    <p:animEffect transition="in" filter="fade">
                                      <p:cBhvr>
                                        <p:cTn id="19"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楷体_GB2312" pitchFamily="49" charset="-122"/>
              </a:rPr>
              <a:t>M</a:t>
            </a:r>
            <a:r>
              <a:rPr lang="zh-CN" altLang="en-US" dirty="0">
                <a:ea typeface="楷体_GB2312" pitchFamily="49" charset="-122"/>
              </a:rPr>
              <a:t>inimum </a:t>
            </a:r>
            <a:r>
              <a:rPr lang="en-US" altLang="zh-CN" dirty="0">
                <a:ea typeface="楷体_GB2312" pitchFamily="49" charset="-122"/>
              </a:rPr>
              <a:t>C</a:t>
            </a:r>
            <a:r>
              <a:rPr lang="zh-CN" altLang="en-US" dirty="0">
                <a:ea typeface="楷体_GB2312" pitchFamily="49" charset="-122"/>
              </a:rPr>
              <a:t>ost </a:t>
            </a:r>
            <a:r>
              <a:rPr lang="en-US" altLang="zh-CN" dirty="0">
                <a:ea typeface="楷体_GB2312" pitchFamily="49" charset="-122"/>
              </a:rPr>
              <a:t>S</a:t>
            </a:r>
            <a:r>
              <a:rPr lang="zh-CN" altLang="en-US" dirty="0">
                <a:ea typeface="楷体_GB2312" pitchFamily="49" charset="-122"/>
              </a:rPr>
              <a:t>panning </a:t>
            </a:r>
            <a:r>
              <a:rPr lang="en-US" altLang="zh-CN" dirty="0">
                <a:ea typeface="楷体_GB2312" pitchFamily="49" charset="-122"/>
              </a:rPr>
              <a:t>T</a:t>
            </a:r>
            <a:r>
              <a:rPr lang="zh-CN" altLang="en-US" dirty="0">
                <a:ea typeface="楷体_GB2312" pitchFamily="49" charset="-122"/>
              </a:rPr>
              <a:t>ree</a:t>
            </a:r>
            <a:endParaRPr lang="zh-CN" altLang="en-US" dirty="0"/>
          </a:p>
        </p:txBody>
      </p:sp>
      <p:sp>
        <p:nvSpPr>
          <p:cNvPr id="3" name="内容占位符 2"/>
          <p:cNvSpPr>
            <a:spLocks noGrp="1"/>
          </p:cNvSpPr>
          <p:nvPr>
            <p:ph idx="1"/>
          </p:nvPr>
        </p:nvSpPr>
        <p:spPr/>
        <p:txBody>
          <a:bodyPr/>
          <a:lstStyle/>
          <a:p>
            <a:pPr>
              <a:lnSpc>
                <a:spcPts val="4200"/>
              </a:lnSpc>
              <a:spcBef>
                <a:spcPts val="600"/>
              </a:spcBef>
            </a:pPr>
            <a:r>
              <a:rPr lang="zh-CN" altLang="en-US" dirty="0">
                <a:ea typeface="楷体_GB2312" pitchFamily="49" charset="-122"/>
                <a:cs typeface="Arial" panose="020B0604020202020204" pitchFamily="34" charset="0"/>
              </a:rPr>
              <a:t>A connected graph with n vertices must contain at least n-1 edges, and any connected graph with exactly n-1 edges is a tree. When </a:t>
            </a:r>
            <a:r>
              <a:rPr lang="zh-CN" altLang="en-US" dirty="0">
                <a:solidFill>
                  <a:srgbClr val="A50021"/>
                </a:solidFill>
                <a:ea typeface="楷体_GB2312" pitchFamily="49" charset="-122"/>
                <a:cs typeface="Arial" panose="020B0604020202020204" pitchFamily="34" charset="0"/>
              </a:rPr>
              <a:t>assigning weights to the edges of such a connected graph to represent network costs</a:t>
            </a:r>
            <a:r>
              <a:rPr lang="zh-CN" altLang="en-US" dirty="0">
                <a:ea typeface="楷体_GB2312" pitchFamily="49" charset="-122"/>
                <a:cs typeface="Arial" panose="020B0604020202020204" pitchFamily="34" charset="0"/>
              </a:rPr>
              <a:t>, the tree with the lowest total cost is known as the </a:t>
            </a:r>
            <a:r>
              <a:rPr lang="zh-CN" altLang="en-US" dirty="0">
                <a:solidFill>
                  <a:srgbClr val="A50021"/>
                </a:solidFill>
                <a:ea typeface="楷体_GB2312" pitchFamily="49" charset="-122"/>
                <a:cs typeface="Arial" panose="020B0604020202020204" pitchFamily="34" charset="0"/>
              </a:rPr>
              <a:t>minimum-cost spanning tree.</a:t>
            </a:r>
            <a:endParaRPr lang="zh-CN" altLang="en-US" dirty="0">
              <a:solidFill>
                <a:srgbClr val="A50021"/>
              </a:solidFill>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Application of </a:t>
            </a:r>
            <a:r>
              <a:rPr lang="en-US" altLang="zh-CN" dirty="0"/>
              <a:t>M</a:t>
            </a:r>
            <a:r>
              <a:rPr lang="zh-CN" altLang="en-US" dirty="0"/>
              <a:t>inimum </a:t>
            </a:r>
            <a:r>
              <a:rPr lang="en-US" altLang="zh-CN" dirty="0"/>
              <a:t>C</a:t>
            </a:r>
            <a:r>
              <a:rPr lang="zh-CN" altLang="en-US" dirty="0"/>
              <a:t>ost </a:t>
            </a:r>
            <a:r>
              <a:rPr lang="en-US" altLang="zh-CN">
                <a:ea typeface="楷体_GB2312" pitchFamily="49" charset="-122"/>
                <a:sym typeface="+mn-ea"/>
              </a:rPr>
              <a:t>S</a:t>
            </a:r>
            <a:r>
              <a:rPr>
                <a:ea typeface="楷体_GB2312" pitchFamily="49" charset="-122"/>
                <a:sym typeface="+mn-ea"/>
              </a:rPr>
              <a:t>panning </a:t>
            </a:r>
            <a:r>
              <a:rPr lang="en-US" altLang="zh-CN">
                <a:ea typeface="楷体_GB2312" pitchFamily="49" charset="-122"/>
                <a:sym typeface="+mn-ea"/>
              </a:rPr>
              <a:t>T</a:t>
            </a:r>
            <a:r>
              <a:rPr lang="zh-CN" altLang="en-US" dirty="0"/>
              <a:t>ree</a:t>
            </a:r>
            <a:endParaRPr lang="zh-CN" altLang="en-US" dirty="0"/>
          </a:p>
        </p:txBody>
      </p:sp>
      <p:sp>
        <p:nvSpPr>
          <p:cNvPr id="3" name="内容占位符 2"/>
          <p:cNvSpPr>
            <a:spLocks noGrp="1"/>
          </p:cNvSpPr>
          <p:nvPr>
            <p:ph idx="1"/>
          </p:nvPr>
        </p:nvSpPr>
        <p:spPr/>
        <p:txBody>
          <a:bodyPr/>
          <a:lstStyle/>
          <a:p>
            <a:r>
              <a:rPr lang="zh-CN" altLang="en-US" dirty="0">
                <a:solidFill>
                  <a:srgbClr val="000082"/>
                </a:solidFill>
                <a:ea typeface="楷体_GB2312" pitchFamily="49" charset="-122"/>
                <a:cs typeface="Arial" panose="020B0604020202020204" pitchFamily="34" charset="0"/>
              </a:rPr>
              <a:t>The problem is: suppose we want to establish a communication network between n cities, then it only takes n-1 lines to connect n cities.</a:t>
            </a:r>
            <a:r>
              <a:rPr lang="zh-CN" altLang="en-US" dirty="0">
                <a:solidFill>
                  <a:srgbClr val="6600CC"/>
                </a:solidFill>
                <a:ea typeface="楷体_GB2312" pitchFamily="49" charset="-122"/>
                <a:cs typeface="Arial" panose="020B0604020202020204" pitchFamily="34" charset="0"/>
              </a:rPr>
              <a:t> How to establish this communication network with the most economical cost?</a:t>
            </a:r>
            <a:endParaRPr lang="zh-CN" altLang="en-US" dirty="0">
              <a:solidFill>
                <a:srgbClr val="000082"/>
              </a:solidFill>
              <a:ea typeface="楷体_GB2312" pitchFamily="49" charset="-122"/>
              <a:cs typeface="Arial" panose="020B0604020202020204" pitchFamily="34" charset="0"/>
            </a:endParaRPr>
          </a:p>
          <a:p>
            <a:r>
              <a:rPr lang="zh-CN" altLang="en-US" dirty="0">
                <a:solidFill>
                  <a:srgbClr val="000082"/>
                </a:solidFill>
                <a:ea typeface="楷体_GB2312" pitchFamily="49" charset="-122"/>
                <a:cs typeface="Arial" panose="020B0604020202020204" pitchFamily="34" charset="0"/>
              </a:rPr>
              <a:t>also ？</a:t>
            </a:r>
            <a:endParaRPr lang="zh-CN" altLang="en-US"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CC"/>
                </a:solidFill>
                <a:ea typeface="楷体_GB2312" pitchFamily="49" charset="-122"/>
              </a:rPr>
              <a:t>The most cost-effective communication network (1)</a:t>
            </a:r>
            <a:endParaRPr lang="zh-CN" altLang="en-US" dirty="0"/>
          </a:p>
        </p:txBody>
      </p:sp>
      <p:sp>
        <p:nvSpPr>
          <p:cNvPr id="3" name="内容占位符 2"/>
          <p:cNvSpPr>
            <a:spLocks noGrp="1"/>
          </p:cNvSpPr>
          <p:nvPr>
            <p:ph idx="1"/>
          </p:nvPr>
        </p:nvSpPr>
        <p:spPr>
          <a:xfrm>
            <a:off x="323850" y="1124745"/>
            <a:ext cx="8496300" cy="2808312"/>
          </a:xfrm>
        </p:spPr>
        <p:txBody>
          <a:bodyPr/>
          <a:lstStyle/>
          <a:p>
            <a:pPr>
              <a:lnSpc>
                <a:spcPts val="4200"/>
              </a:lnSpc>
              <a:spcBef>
                <a:spcPts val="600"/>
              </a:spcBef>
            </a:pPr>
            <a:r>
              <a:rPr lang="zh-CN" altLang="en-US" sz="2800" dirty="0">
                <a:solidFill>
                  <a:srgbClr val="000082"/>
                </a:solidFill>
                <a:ea typeface="楷体_GB2312" pitchFamily="49" charset="-122"/>
                <a:cs typeface="Arial" panose="020B0604020202020204" pitchFamily="34" charset="0"/>
              </a:rPr>
              <a:t>A line can be established between any two cities, each requiring a corresponding economic cost. Among n cities, a maximum of n(n-1)/2 lines can be set up. How can we select n-1 lines from these possible options to minimize the total cost?</a:t>
            </a:r>
            <a:endParaRPr lang="zh-CN" altLang="en-US" sz="2800" dirty="0">
              <a:solidFill>
                <a:srgbClr val="000082"/>
              </a:solidFill>
              <a:ea typeface="楷体_GB2312" pitchFamily="49" charset="-122"/>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33" name="灯片编号占位符 32"/>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
        <p:nvSpPr>
          <p:cNvPr id="4" name="Oval 3"/>
          <p:cNvSpPr>
            <a:spLocks noChangeArrowheads="1"/>
          </p:cNvSpPr>
          <p:nvPr/>
        </p:nvSpPr>
        <p:spPr bwMode="auto">
          <a:xfrm>
            <a:off x="4679380" y="3967882"/>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1</a:t>
            </a:r>
            <a:endParaRPr lang="en-US" altLang="zh-CN" sz="2800" b="1"/>
          </a:p>
        </p:txBody>
      </p:sp>
      <p:sp>
        <p:nvSpPr>
          <p:cNvPr id="5" name="Oval 4"/>
          <p:cNvSpPr>
            <a:spLocks noChangeArrowheads="1"/>
          </p:cNvSpPr>
          <p:nvPr/>
        </p:nvSpPr>
        <p:spPr bwMode="auto">
          <a:xfrm>
            <a:off x="3688780" y="4501282"/>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2</a:t>
            </a:r>
            <a:endParaRPr lang="en-US" altLang="zh-CN" sz="2800" b="1"/>
          </a:p>
        </p:txBody>
      </p:sp>
      <p:sp>
        <p:nvSpPr>
          <p:cNvPr id="34" name="Oval 5"/>
          <p:cNvSpPr>
            <a:spLocks noChangeArrowheads="1"/>
          </p:cNvSpPr>
          <p:nvPr/>
        </p:nvSpPr>
        <p:spPr bwMode="auto">
          <a:xfrm>
            <a:off x="5669980" y="4501282"/>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4</a:t>
            </a:r>
            <a:endParaRPr lang="en-US" altLang="zh-CN" sz="2800" b="1"/>
          </a:p>
        </p:txBody>
      </p:sp>
      <p:sp>
        <p:nvSpPr>
          <p:cNvPr id="35" name="Oval 6"/>
          <p:cNvSpPr>
            <a:spLocks noChangeArrowheads="1"/>
          </p:cNvSpPr>
          <p:nvPr/>
        </p:nvSpPr>
        <p:spPr bwMode="auto">
          <a:xfrm>
            <a:off x="4069780" y="5568082"/>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5</a:t>
            </a:r>
            <a:endParaRPr lang="en-US" altLang="zh-CN" sz="2800" b="1"/>
          </a:p>
        </p:txBody>
      </p:sp>
      <p:sp>
        <p:nvSpPr>
          <p:cNvPr id="36" name="Oval 7"/>
          <p:cNvSpPr>
            <a:spLocks noChangeArrowheads="1"/>
          </p:cNvSpPr>
          <p:nvPr/>
        </p:nvSpPr>
        <p:spPr bwMode="auto">
          <a:xfrm>
            <a:off x="5288980" y="5568082"/>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6</a:t>
            </a:r>
            <a:endParaRPr lang="en-US" altLang="zh-CN" sz="2800" b="1"/>
          </a:p>
        </p:txBody>
      </p:sp>
      <p:sp>
        <p:nvSpPr>
          <p:cNvPr id="37" name="Oval 8"/>
          <p:cNvSpPr>
            <a:spLocks noChangeArrowheads="1"/>
          </p:cNvSpPr>
          <p:nvPr/>
        </p:nvSpPr>
        <p:spPr bwMode="auto">
          <a:xfrm>
            <a:off x="4679380" y="4887044"/>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dirty="0"/>
              <a:t>3</a:t>
            </a:r>
            <a:endParaRPr lang="en-US" altLang="zh-CN" sz="2800" b="1" dirty="0"/>
          </a:p>
        </p:txBody>
      </p:sp>
      <p:sp>
        <p:nvSpPr>
          <p:cNvPr id="38" name="Line 9"/>
          <p:cNvSpPr>
            <a:spLocks noChangeShapeType="1"/>
          </p:cNvSpPr>
          <p:nvPr/>
        </p:nvSpPr>
        <p:spPr bwMode="auto">
          <a:xfrm flipH="1">
            <a:off x="3917380" y="4120282"/>
            <a:ext cx="7620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39" name="Line 10"/>
          <p:cNvSpPr>
            <a:spLocks noChangeShapeType="1"/>
          </p:cNvSpPr>
          <p:nvPr/>
        </p:nvSpPr>
        <p:spPr bwMode="auto">
          <a:xfrm>
            <a:off x="4984180" y="4120282"/>
            <a:ext cx="7620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0" name="Line 11"/>
          <p:cNvSpPr>
            <a:spLocks noChangeShapeType="1"/>
          </p:cNvSpPr>
          <p:nvPr/>
        </p:nvSpPr>
        <p:spPr bwMode="auto">
          <a:xfrm>
            <a:off x="3841180" y="4806082"/>
            <a:ext cx="3048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1" name="Line 12"/>
          <p:cNvSpPr>
            <a:spLocks noChangeShapeType="1"/>
          </p:cNvSpPr>
          <p:nvPr/>
        </p:nvSpPr>
        <p:spPr bwMode="auto">
          <a:xfrm>
            <a:off x="4374580" y="5749057"/>
            <a:ext cx="914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2" name="Line 13"/>
          <p:cNvSpPr>
            <a:spLocks noChangeShapeType="1"/>
          </p:cNvSpPr>
          <p:nvPr/>
        </p:nvSpPr>
        <p:spPr bwMode="auto">
          <a:xfrm flipH="1">
            <a:off x="5517580" y="4806082"/>
            <a:ext cx="304800" cy="838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3" name="Line 14"/>
          <p:cNvSpPr>
            <a:spLocks noChangeShapeType="1"/>
          </p:cNvSpPr>
          <p:nvPr/>
        </p:nvSpPr>
        <p:spPr bwMode="auto">
          <a:xfrm>
            <a:off x="4831780" y="4272682"/>
            <a:ext cx="0" cy="609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4" name="Line 15"/>
          <p:cNvSpPr>
            <a:spLocks noChangeShapeType="1"/>
          </p:cNvSpPr>
          <p:nvPr/>
        </p:nvSpPr>
        <p:spPr bwMode="auto">
          <a:xfrm>
            <a:off x="3993580" y="4729882"/>
            <a:ext cx="6858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5" name="Line 16"/>
          <p:cNvSpPr>
            <a:spLocks noChangeShapeType="1"/>
          </p:cNvSpPr>
          <p:nvPr/>
        </p:nvSpPr>
        <p:spPr bwMode="auto">
          <a:xfrm flipH="1">
            <a:off x="4984180" y="4729882"/>
            <a:ext cx="685800" cy="3048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6" name="Line 17"/>
          <p:cNvSpPr>
            <a:spLocks noChangeShapeType="1"/>
          </p:cNvSpPr>
          <p:nvPr/>
        </p:nvSpPr>
        <p:spPr bwMode="auto">
          <a:xfrm flipH="1">
            <a:off x="4298380" y="5187082"/>
            <a:ext cx="457200" cy="3810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7" name="Line 18"/>
          <p:cNvSpPr>
            <a:spLocks noChangeShapeType="1"/>
          </p:cNvSpPr>
          <p:nvPr/>
        </p:nvSpPr>
        <p:spPr bwMode="auto">
          <a:xfrm>
            <a:off x="4950843" y="5158507"/>
            <a:ext cx="457200" cy="457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48" name="Rectangle 19"/>
          <p:cNvSpPr>
            <a:spLocks noChangeArrowheads="1"/>
          </p:cNvSpPr>
          <p:nvPr/>
        </p:nvSpPr>
        <p:spPr bwMode="auto">
          <a:xfrm>
            <a:off x="4755580" y="4348882"/>
            <a:ext cx="3365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1</a:t>
            </a:r>
            <a:endParaRPr lang="en-US" altLang="zh-CN" b="1"/>
          </a:p>
        </p:txBody>
      </p:sp>
      <p:sp>
        <p:nvSpPr>
          <p:cNvPr id="49" name="Rectangle 20"/>
          <p:cNvSpPr>
            <a:spLocks noChangeArrowheads="1"/>
          </p:cNvSpPr>
          <p:nvPr/>
        </p:nvSpPr>
        <p:spPr bwMode="auto">
          <a:xfrm>
            <a:off x="5650930" y="5034682"/>
            <a:ext cx="3365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2</a:t>
            </a:r>
            <a:endParaRPr lang="en-US" altLang="zh-CN" b="1"/>
          </a:p>
        </p:txBody>
      </p:sp>
      <p:sp>
        <p:nvSpPr>
          <p:cNvPr id="50" name="Rectangle 21"/>
          <p:cNvSpPr>
            <a:spLocks noChangeArrowheads="1"/>
          </p:cNvSpPr>
          <p:nvPr/>
        </p:nvSpPr>
        <p:spPr bwMode="auto">
          <a:xfrm>
            <a:off x="3717355" y="5034682"/>
            <a:ext cx="32067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a:t>3</a:t>
            </a:r>
            <a:endParaRPr lang="en-US" altLang="zh-CN" b="1"/>
          </a:p>
        </p:txBody>
      </p:sp>
      <p:sp>
        <p:nvSpPr>
          <p:cNvPr id="51" name="Rectangle 22"/>
          <p:cNvSpPr>
            <a:spLocks noChangeArrowheads="1"/>
          </p:cNvSpPr>
          <p:nvPr/>
        </p:nvSpPr>
        <p:spPr bwMode="auto">
          <a:xfrm>
            <a:off x="5127055" y="5137869"/>
            <a:ext cx="3365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4</a:t>
            </a:r>
            <a:endParaRPr lang="en-US" altLang="zh-CN" b="1"/>
          </a:p>
        </p:txBody>
      </p:sp>
      <p:sp>
        <p:nvSpPr>
          <p:cNvPr id="52" name="Rectangle 23"/>
          <p:cNvSpPr>
            <a:spLocks noChangeArrowheads="1"/>
          </p:cNvSpPr>
          <p:nvPr/>
        </p:nvSpPr>
        <p:spPr bwMode="auto">
          <a:xfrm>
            <a:off x="5277868" y="4048844"/>
            <a:ext cx="3365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53" name="Rectangle 24"/>
          <p:cNvSpPr>
            <a:spLocks noChangeArrowheads="1"/>
          </p:cNvSpPr>
          <p:nvPr/>
        </p:nvSpPr>
        <p:spPr bwMode="auto">
          <a:xfrm>
            <a:off x="4298380" y="4582244"/>
            <a:ext cx="3365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54" name="Rectangle 25"/>
          <p:cNvSpPr>
            <a:spLocks noChangeArrowheads="1"/>
          </p:cNvSpPr>
          <p:nvPr/>
        </p:nvSpPr>
        <p:spPr bwMode="auto">
          <a:xfrm>
            <a:off x="5074668" y="4606057"/>
            <a:ext cx="3365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55" name="Rectangle 26"/>
          <p:cNvSpPr>
            <a:spLocks noChangeArrowheads="1"/>
          </p:cNvSpPr>
          <p:nvPr/>
        </p:nvSpPr>
        <p:spPr bwMode="auto">
          <a:xfrm>
            <a:off x="4111055" y="4048844"/>
            <a:ext cx="33655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sp>
        <p:nvSpPr>
          <p:cNvPr id="56" name="Rectangle 27"/>
          <p:cNvSpPr>
            <a:spLocks noChangeArrowheads="1"/>
          </p:cNvSpPr>
          <p:nvPr/>
        </p:nvSpPr>
        <p:spPr bwMode="auto">
          <a:xfrm>
            <a:off x="4322193" y="5063257"/>
            <a:ext cx="3365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sp>
        <p:nvSpPr>
          <p:cNvPr id="57" name="Rectangle 28"/>
          <p:cNvSpPr>
            <a:spLocks noChangeArrowheads="1"/>
          </p:cNvSpPr>
          <p:nvPr/>
        </p:nvSpPr>
        <p:spPr bwMode="auto">
          <a:xfrm>
            <a:off x="4679380" y="5701432"/>
            <a:ext cx="33655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6600CC"/>
                </a:solidFill>
                <a:ea typeface="楷体_GB2312" pitchFamily="49" charset="-122"/>
              </a:rPr>
              <a:t>The most cost-effective communication network (2)</a:t>
            </a:r>
            <a:endParaRPr lang="zh-CN" altLang="en-US" dirty="0"/>
          </a:p>
        </p:txBody>
      </p:sp>
      <p:sp>
        <p:nvSpPr>
          <p:cNvPr id="3" name="内容占位符 2"/>
          <p:cNvSpPr>
            <a:spLocks noGrp="1"/>
          </p:cNvSpPr>
          <p:nvPr>
            <p:ph idx="1"/>
          </p:nvPr>
        </p:nvSpPr>
        <p:spPr/>
        <p:txBody>
          <a:bodyPr/>
          <a:lstStyle/>
          <a:p>
            <a:pPr marL="0" lvl="0" indent="0">
              <a:lnSpc>
                <a:spcPts val="4200"/>
              </a:lnSpc>
              <a:spcBef>
                <a:spcPct val="0"/>
              </a:spcBef>
              <a:spcAft>
                <a:spcPct val="0"/>
              </a:spcAft>
              <a:buNone/>
            </a:pPr>
            <a:r>
              <a:rPr lang="zh-CN" altLang="en-US" sz="2400" b="0" kern="1200" dirty="0">
                <a:solidFill>
                  <a:srgbClr val="000000"/>
                </a:solidFill>
                <a:ea typeface="楷体_GB2312" pitchFamily="49" charset="-122"/>
                <a:cs typeface="Arial" panose="020B0604020202020204" pitchFamily="34" charset="0"/>
              </a:rPr>
              <a:t>A connected network can represent n cities and the communication lines between them. </a:t>
            </a:r>
            <a:r>
              <a:rPr lang="zh-CN" altLang="en-US" sz="2400" b="0" kern="1200" dirty="0">
                <a:solidFill>
                  <a:srgbClr val="A50021"/>
                </a:solidFill>
                <a:ea typeface="楷体_GB2312" pitchFamily="49" charset="-122"/>
                <a:cs typeface="Arial" panose="020B0604020202020204" pitchFamily="34" charset="0"/>
              </a:rPr>
              <a:t>The vertices represent cities, while edges represent connections between cities, with edge weights indicating corresponding costs. </a:t>
            </a:r>
            <a:r>
              <a:rPr lang="zh-CN" altLang="en-US" sz="2400" b="0" kern="1200" dirty="0">
                <a:solidFill>
                  <a:srgbClr val="000000"/>
                </a:solidFill>
                <a:ea typeface="楷体_GB2312" pitchFamily="49" charset="-122"/>
                <a:cs typeface="Arial" panose="020B0604020202020204" pitchFamily="34" charset="0"/>
              </a:rPr>
              <a:t>For a network with n vertices, multiple distinct spanning trees can be established, each of which can function as a communication network. The goal is to select one such spanning tree that minimizes the total cost.</a:t>
            </a:r>
            <a:endParaRPr lang="zh-CN" altLang="en-US" sz="2400" b="0" kern="1200" dirty="0">
              <a:solidFill>
                <a:srgbClr val="000082"/>
              </a:solidFill>
              <a:cs typeface="Arial" panose="020B0604020202020204" pitchFamily="34" charset="0"/>
            </a:endParaRPr>
          </a:p>
          <a:p>
            <a:endParaRPr lang="zh-CN" altLang="en-US" sz="2400" dirty="0">
              <a:cs typeface="Arial" panose="020B0604020202020204" pitchFamily="34"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365125" y="1219200"/>
            <a:ext cx="8321675"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a:solidFill>
                  <a:srgbClr val="000082"/>
                </a:solidFill>
                <a:latin typeface="Arial" panose="020B0604020202020204" pitchFamily="34" charset="0"/>
                <a:ea typeface="楷体_GB2312" pitchFamily="49" charset="-122"/>
                <a:cs typeface="Arial" panose="020B0604020202020204" pitchFamily="34" charset="0"/>
              </a:rPr>
              <a:t>Construct a minimum spanning tree in the network by </a:t>
            </a:r>
            <a:r>
              <a:rPr lang="zh-CN" altLang="en-US" sz="2400">
                <a:solidFill>
                  <a:srgbClr val="800000"/>
                </a:solidFill>
                <a:latin typeface="Arial" panose="020B0604020202020204" pitchFamily="34" charset="0"/>
                <a:ea typeface="楷体_GB2312" pitchFamily="49" charset="-122"/>
                <a:cs typeface="Arial" panose="020B0604020202020204" pitchFamily="34" charset="0"/>
              </a:rPr>
              <a:t>selecting n-1 edges (without forming a loop) from e weighted edges, ensuring the sum of their weights is minimized.</a:t>
            </a:r>
            <a:endParaRPr lang="zh-CN" altLang="en-US" sz="2400">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150532" name="Rectangle 4"/>
          <p:cNvSpPr>
            <a:spLocks noChangeArrowheads="1"/>
          </p:cNvSpPr>
          <p:nvPr/>
        </p:nvSpPr>
        <p:spPr bwMode="auto">
          <a:xfrm>
            <a:off x="381000" y="501650"/>
            <a:ext cx="60325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82"/>
                </a:solidFill>
                <a:latin typeface="Arial" panose="020B0604020202020204" pitchFamily="34" charset="0"/>
                <a:ea typeface="楷体_GB2312" pitchFamily="49" charset="-122"/>
                <a:cs typeface="Arial" panose="020B0604020202020204" pitchFamily="34" charset="0"/>
              </a:rPr>
              <a:t>This question is equivalent to:</a:t>
            </a:r>
            <a:endParaRPr lang="zh-CN" altLang="en-US" sz="3200" b="1">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150533" name="Text Box 5">
            <a:hlinkClick r:id="" action="ppaction://hlinkshowjump?jump=nextslide"/>
          </p:cNvPr>
          <p:cNvSpPr txBox="1">
            <a:spLocks noChangeArrowheads="1"/>
          </p:cNvSpPr>
          <p:nvPr/>
        </p:nvSpPr>
        <p:spPr bwMode="auto">
          <a:xfrm>
            <a:off x="611505" y="3213100"/>
            <a:ext cx="572706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82"/>
                </a:solidFill>
                <a:latin typeface="Arial" panose="020B0604020202020204" pitchFamily="34" charset="0"/>
                <a:ea typeface="楷体_GB2312" pitchFamily="49" charset="-122"/>
                <a:cs typeface="Arial" panose="020B0604020202020204" pitchFamily="34" charset="0"/>
              </a:rPr>
              <a:t>Algorithm 1: Prim’s Algorithm</a:t>
            </a:r>
            <a:endParaRPr lang="en-US" altLang="zh-CN" b="1">
              <a:solidFill>
                <a:srgbClr val="000082"/>
              </a:solidFill>
              <a:latin typeface="Arial" panose="020B0604020202020204" pitchFamily="34" charset="0"/>
              <a:ea typeface="楷体_GB2312" pitchFamily="49" charset="-122"/>
              <a:cs typeface="Arial" panose="020B0604020202020204" pitchFamily="34" charset="0"/>
            </a:endParaRPr>
          </a:p>
          <a:p>
            <a:pPr algn="l"/>
            <a:r>
              <a:rPr lang="en-US" altLang="zh-CN" b="1">
                <a:solidFill>
                  <a:srgbClr val="000082"/>
                </a:solidFill>
                <a:latin typeface="Arial" panose="020B0604020202020204" pitchFamily="34" charset="0"/>
                <a:ea typeface="楷体_GB2312" pitchFamily="49" charset="-122"/>
                <a:cs typeface="Arial" panose="020B0604020202020204" pitchFamily="34" charset="0"/>
              </a:rPr>
              <a:t>Algorithm 2: Kruskal’s Algorithm</a:t>
            </a:r>
            <a:endParaRPr lang="en-US" altLang="zh-CN" b="1">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150534" name="Rectangle 6"/>
          <p:cNvSpPr>
            <a:spLocks noChangeArrowheads="1"/>
          </p:cNvSpPr>
          <p:nvPr/>
        </p:nvSpPr>
        <p:spPr bwMode="auto">
          <a:xfrm>
            <a:off x="539750" y="4580573"/>
            <a:ext cx="8610600" cy="127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2400" b="1">
                <a:latin typeface="Arial" panose="020B0604020202020204" pitchFamily="34" charset="0"/>
                <a:ea typeface="楷体_GB2312" pitchFamily="49" charset="-122"/>
                <a:cs typeface="Arial" panose="020B0604020202020204" pitchFamily="34" charset="0"/>
              </a:rPr>
              <a:t>basic thought ：</a:t>
            </a:r>
            <a:endParaRPr lang="zh-CN" altLang="en-US" sz="4400" b="1">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400" b="1">
                <a:latin typeface="Arial" panose="020B0604020202020204" pitchFamily="34" charset="0"/>
                <a:ea typeface="楷体_GB2312" pitchFamily="49" charset="-122"/>
                <a:cs typeface="Arial" panose="020B0604020202020204" pitchFamily="34" charset="0"/>
              </a:rPr>
              <a:t>Construct a minimum-cost spanning tree in non-decreasing order of weight.</a:t>
            </a:r>
            <a:endParaRPr lang="zh-CN" altLang="en-US" sz="2400" b="1">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0"/>
                                        </p:tgtEl>
                                        <p:attrNameLst>
                                          <p:attrName>style.visibility</p:attrName>
                                        </p:attrNameLst>
                                      </p:cBhvr>
                                      <p:to>
                                        <p:strVal val="visible"/>
                                      </p:to>
                                    </p:set>
                                    <p:animEffect transition="in" filter="wipe(left)">
                                      <p:cBhvr>
                                        <p:cTn id="7" dur="500"/>
                                        <p:tgtEl>
                                          <p:spTgt spid="15053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50533"/>
                                        </p:tgtEl>
                                        <p:attrNameLst>
                                          <p:attrName>style.visibility</p:attrName>
                                        </p:attrNameLst>
                                      </p:cBhvr>
                                      <p:to>
                                        <p:strVal val="visible"/>
                                      </p:to>
                                    </p:set>
                                    <p:animEffect transition="in" filter="slide(fromTop)">
                                      <p:cBhvr>
                                        <p:cTn id="12" dur="500"/>
                                        <p:tgtEl>
                                          <p:spTgt spid="15053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50534"/>
                                        </p:tgtEl>
                                        <p:attrNameLst>
                                          <p:attrName>style.visibility</p:attrName>
                                        </p:attrNameLst>
                                      </p:cBhvr>
                                      <p:to>
                                        <p:strVal val="visible"/>
                                      </p:to>
                                    </p:set>
                                    <p:anim calcmode="lin" valueType="num">
                                      <p:cBhvr additive="base">
                                        <p:cTn id="17" dur="500" fill="hold"/>
                                        <p:tgtEl>
                                          <p:spTgt spid="150534"/>
                                        </p:tgtEl>
                                        <p:attrNameLst>
                                          <p:attrName>ppt_x</p:attrName>
                                        </p:attrNameLst>
                                      </p:cBhvr>
                                      <p:tavLst>
                                        <p:tav tm="0">
                                          <p:val>
                                            <p:strVal val="0-#ppt_w/2"/>
                                          </p:val>
                                        </p:tav>
                                        <p:tav tm="100000">
                                          <p:val>
                                            <p:strVal val="#ppt_x"/>
                                          </p:val>
                                        </p:tav>
                                      </p:tavLst>
                                    </p:anim>
                                    <p:anim calcmode="lin" valueType="num">
                                      <p:cBhvr additive="base">
                                        <p:cTn id="18" dur="500" fill="hold"/>
                                        <p:tgtEl>
                                          <p:spTgt spid="150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bldLvl="0" animBg="1" autoUpdateAnimBg="0"/>
      <p:bldP spid="150533" grpId="0" bldLvl="0" animBg="1" autoUpdateAnimBg="0"/>
      <p:bldP spid="150534" grpId="0" bldLvl="0" animBg="1"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533400" y="1295400"/>
            <a:ext cx="8001000" cy="532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5000"/>
              </a:lnSpc>
            </a:pPr>
            <a:r>
              <a:rPr lang="zh-CN" altLang="en-US">
                <a:solidFill>
                  <a:srgbClr val="000082"/>
                </a:solidFill>
                <a:latin typeface="Arial" panose="020B0604020202020204" pitchFamily="34" charset="0"/>
                <a:ea typeface="楷体_GB2312" pitchFamily="49" charset="-122"/>
                <a:cs typeface="Arial" panose="020B0604020202020204" pitchFamily="34" charset="0"/>
              </a:rPr>
              <a:t>Select any vertex v from the graph as the root of the spanning tree, then add a new vertex w to the tree. </a:t>
            </a:r>
            <a:r>
              <a:rPr lang="zh-CN" altLang="en-US" b="1">
                <a:solidFill>
                  <a:srgbClr val="800000"/>
                </a:solidFill>
                <a:latin typeface="Arial" panose="020B0604020202020204" pitchFamily="34" charset="0"/>
                <a:ea typeface="楷体_GB2312" pitchFamily="49" charset="-122"/>
                <a:cs typeface="Arial" panose="020B0604020202020204" pitchFamily="34" charset="0"/>
              </a:rPr>
              <a:t>There must exist an edge between the newly added vertex w and the existing vertex v in the spanning tree, with the weight of this edge being the smallest among all edges connecting vertices v and w. </a:t>
            </a:r>
            <a:r>
              <a:rPr lang="zh-CN" altLang="en-US">
                <a:solidFill>
                  <a:srgbClr val="000082"/>
                </a:solidFill>
                <a:latin typeface="Arial" panose="020B0604020202020204" pitchFamily="34" charset="0"/>
                <a:ea typeface="楷体_GB2312" pitchFamily="49" charset="-122"/>
                <a:cs typeface="Arial" panose="020B0604020202020204" pitchFamily="34" charset="0"/>
              </a:rPr>
              <a:t>Continue adding vertices to the spanning tree until it contains n vertices.</a:t>
            </a:r>
            <a:endParaRPr lang="zh-CN" altLang="en-US">
              <a:solidFill>
                <a:srgbClr val="000082"/>
              </a:solidFill>
              <a:latin typeface="Arial" panose="020B0604020202020204" pitchFamily="34" charset="0"/>
              <a:cs typeface="Arial" panose="020B0604020202020204" pitchFamily="34" charset="0"/>
            </a:endParaRPr>
          </a:p>
        </p:txBody>
      </p:sp>
      <p:sp>
        <p:nvSpPr>
          <p:cNvPr id="151555" name="Rectangle 3"/>
          <p:cNvSpPr>
            <a:spLocks noChangeArrowheads="1"/>
          </p:cNvSpPr>
          <p:nvPr/>
        </p:nvSpPr>
        <p:spPr bwMode="auto">
          <a:xfrm>
            <a:off x="457200" y="304800"/>
            <a:ext cx="7786688"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800000"/>
                </a:solidFill>
                <a:latin typeface="Arial" panose="020B0604020202020204" pitchFamily="34" charset="0"/>
                <a:ea typeface="楷体_GB2312" pitchFamily="49" charset="-122"/>
                <a:cs typeface="Arial" panose="020B0604020202020204" pitchFamily="34" charset="0"/>
              </a:rPr>
              <a:t>(1) The basic idea of Prims algorithm</a:t>
            </a:r>
            <a:endParaRPr lang="zh-CN" altLang="en-US" sz="32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wipe(left)">
                                      <p:cBhvr>
                                        <p:cTn id="7" dur="500"/>
                                        <p:tgtEl>
                                          <p:spTgt spid="151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bldLvl="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Oval 2"/>
          <p:cNvSpPr>
            <a:spLocks noChangeArrowheads="1"/>
          </p:cNvSpPr>
          <p:nvPr/>
        </p:nvSpPr>
        <p:spPr bwMode="auto">
          <a:xfrm>
            <a:off x="2667000" y="12192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152579" name="Oval 3"/>
          <p:cNvSpPr>
            <a:spLocks noChangeArrowheads="1"/>
          </p:cNvSpPr>
          <p:nvPr/>
        </p:nvSpPr>
        <p:spPr bwMode="auto">
          <a:xfrm>
            <a:off x="5486400" y="12192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152580" name="Oval 4"/>
          <p:cNvSpPr>
            <a:spLocks noChangeArrowheads="1"/>
          </p:cNvSpPr>
          <p:nvPr/>
        </p:nvSpPr>
        <p:spPr bwMode="auto">
          <a:xfrm>
            <a:off x="7239000" y="20574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52581" name="Oval 5"/>
          <p:cNvSpPr>
            <a:spLocks noChangeArrowheads="1"/>
          </p:cNvSpPr>
          <p:nvPr/>
        </p:nvSpPr>
        <p:spPr bwMode="auto">
          <a:xfrm>
            <a:off x="5715000" y="37338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52582" name="Oval 6"/>
          <p:cNvSpPr>
            <a:spLocks noChangeArrowheads="1"/>
          </p:cNvSpPr>
          <p:nvPr/>
        </p:nvSpPr>
        <p:spPr bwMode="auto">
          <a:xfrm>
            <a:off x="4038600" y="28194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52583" name="Oval 7"/>
          <p:cNvSpPr>
            <a:spLocks noChangeArrowheads="1"/>
          </p:cNvSpPr>
          <p:nvPr/>
        </p:nvSpPr>
        <p:spPr bwMode="auto">
          <a:xfrm>
            <a:off x="2057400" y="37338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152584" name="Oval 8"/>
          <p:cNvSpPr>
            <a:spLocks noChangeArrowheads="1"/>
          </p:cNvSpPr>
          <p:nvPr/>
        </p:nvSpPr>
        <p:spPr bwMode="auto">
          <a:xfrm>
            <a:off x="4343400" y="4876800"/>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52585" name="Line 9"/>
          <p:cNvSpPr>
            <a:spLocks noChangeShapeType="1"/>
          </p:cNvSpPr>
          <p:nvPr/>
        </p:nvSpPr>
        <p:spPr bwMode="auto">
          <a:xfrm>
            <a:off x="3200400" y="1524000"/>
            <a:ext cx="2286000" cy="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6" name="Line 10"/>
          <p:cNvSpPr>
            <a:spLocks noChangeShapeType="1"/>
          </p:cNvSpPr>
          <p:nvPr/>
        </p:nvSpPr>
        <p:spPr bwMode="auto">
          <a:xfrm>
            <a:off x="3124200" y="1676400"/>
            <a:ext cx="990600" cy="1219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7" name="Line 11"/>
          <p:cNvSpPr>
            <a:spLocks noChangeShapeType="1"/>
          </p:cNvSpPr>
          <p:nvPr/>
        </p:nvSpPr>
        <p:spPr bwMode="auto">
          <a:xfrm flipH="1">
            <a:off x="4495800" y="1676400"/>
            <a:ext cx="1066800" cy="1219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8" name="Line 12"/>
          <p:cNvSpPr>
            <a:spLocks noChangeShapeType="1"/>
          </p:cNvSpPr>
          <p:nvPr/>
        </p:nvSpPr>
        <p:spPr bwMode="auto">
          <a:xfrm flipH="1">
            <a:off x="2362200" y="1676400"/>
            <a:ext cx="457200" cy="20574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89" name="Line 13"/>
          <p:cNvSpPr>
            <a:spLocks noChangeShapeType="1"/>
          </p:cNvSpPr>
          <p:nvPr/>
        </p:nvSpPr>
        <p:spPr bwMode="auto">
          <a:xfrm flipV="1">
            <a:off x="2590800" y="3200400"/>
            <a:ext cx="1524000" cy="762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0" name="Line 14"/>
          <p:cNvSpPr>
            <a:spLocks noChangeShapeType="1"/>
          </p:cNvSpPr>
          <p:nvPr/>
        </p:nvSpPr>
        <p:spPr bwMode="auto">
          <a:xfrm>
            <a:off x="4572000" y="3200400"/>
            <a:ext cx="12192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1" name="Line 15"/>
          <p:cNvSpPr>
            <a:spLocks noChangeShapeType="1"/>
          </p:cNvSpPr>
          <p:nvPr/>
        </p:nvSpPr>
        <p:spPr bwMode="auto">
          <a:xfrm>
            <a:off x="6019800" y="1524000"/>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2" name="Line 16"/>
          <p:cNvSpPr>
            <a:spLocks noChangeShapeType="1"/>
          </p:cNvSpPr>
          <p:nvPr/>
        </p:nvSpPr>
        <p:spPr bwMode="auto">
          <a:xfrm flipH="1">
            <a:off x="6172200" y="2514600"/>
            <a:ext cx="1143000" cy="1371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3" name="Line 17"/>
          <p:cNvSpPr>
            <a:spLocks noChangeShapeType="1"/>
          </p:cNvSpPr>
          <p:nvPr/>
        </p:nvSpPr>
        <p:spPr bwMode="auto">
          <a:xfrm>
            <a:off x="5791200" y="1752600"/>
            <a:ext cx="152400" cy="1981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4" name="Line 18"/>
          <p:cNvSpPr>
            <a:spLocks noChangeShapeType="1"/>
          </p:cNvSpPr>
          <p:nvPr/>
        </p:nvSpPr>
        <p:spPr bwMode="auto">
          <a:xfrm>
            <a:off x="2514600" y="4191000"/>
            <a:ext cx="1828800" cy="838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5" name="Line 19"/>
          <p:cNvSpPr>
            <a:spLocks noChangeShapeType="1"/>
          </p:cNvSpPr>
          <p:nvPr/>
        </p:nvSpPr>
        <p:spPr bwMode="auto">
          <a:xfrm flipH="1">
            <a:off x="4876800" y="4191000"/>
            <a:ext cx="914400" cy="838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596" name="Text Box 20"/>
          <p:cNvSpPr txBox="1">
            <a:spLocks noChangeArrowheads="1"/>
          </p:cNvSpPr>
          <p:nvPr/>
        </p:nvSpPr>
        <p:spPr bwMode="auto">
          <a:xfrm>
            <a:off x="441325" y="517525"/>
            <a:ext cx="371348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4000" b="1">
                <a:solidFill>
                  <a:srgbClr val="000082"/>
                </a:solidFill>
                <a:latin typeface="Arial" panose="020B0604020202020204" pitchFamily="34" charset="0"/>
                <a:ea typeface="楷体_GB2312" pitchFamily="49" charset="-122"/>
                <a:cs typeface="Arial" panose="020B0604020202020204" pitchFamily="34" charset="0"/>
                <a:sym typeface="+mn-ea"/>
              </a:rPr>
              <a:t>for instance ：</a:t>
            </a:r>
            <a:endParaRPr lang="en-US" altLang="zh-CN">
              <a:latin typeface="Arial" panose="020B0604020202020204" pitchFamily="34" charset="0"/>
              <a:cs typeface="Arial" panose="020B0604020202020204" pitchFamily="34" charset="0"/>
            </a:endParaRPr>
          </a:p>
        </p:txBody>
      </p:sp>
      <p:sp>
        <p:nvSpPr>
          <p:cNvPr id="152597" name="Text Box 21"/>
          <p:cNvSpPr txBox="1">
            <a:spLocks noChangeArrowheads="1"/>
          </p:cNvSpPr>
          <p:nvPr/>
        </p:nvSpPr>
        <p:spPr bwMode="auto">
          <a:xfrm>
            <a:off x="3870325" y="10207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19</a:t>
            </a:r>
            <a:endParaRPr lang="en-US" altLang="zh-CN"/>
          </a:p>
        </p:txBody>
      </p:sp>
      <p:sp>
        <p:nvSpPr>
          <p:cNvPr id="152598" name="Text Box 22"/>
          <p:cNvSpPr txBox="1">
            <a:spLocks noChangeArrowheads="1"/>
          </p:cNvSpPr>
          <p:nvPr/>
        </p:nvSpPr>
        <p:spPr bwMode="auto">
          <a:xfrm>
            <a:off x="6400800" y="13255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5</a:t>
            </a:r>
            <a:endParaRPr lang="en-US" altLang="zh-CN">
              <a:solidFill>
                <a:schemeClr val="tx2"/>
              </a:solidFill>
            </a:endParaRPr>
          </a:p>
        </p:txBody>
      </p:sp>
      <p:sp>
        <p:nvSpPr>
          <p:cNvPr id="152599" name="Text Box 23"/>
          <p:cNvSpPr txBox="1">
            <a:spLocks noChangeArrowheads="1"/>
          </p:cNvSpPr>
          <p:nvPr/>
        </p:nvSpPr>
        <p:spPr bwMode="auto">
          <a:xfrm>
            <a:off x="3505200" y="1905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14</a:t>
            </a:r>
            <a:endParaRPr lang="en-US" altLang="zh-CN"/>
          </a:p>
        </p:txBody>
      </p:sp>
      <p:sp>
        <p:nvSpPr>
          <p:cNvPr id="152600" name="Text Box 24"/>
          <p:cNvSpPr txBox="1">
            <a:spLocks noChangeArrowheads="1"/>
          </p:cNvSpPr>
          <p:nvPr/>
        </p:nvSpPr>
        <p:spPr bwMode="auto">
          <a:xfrm>
            <a:off x="2057400" y="238125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18</a:t>
            </a:r>
            <a:endParaRPr lang="en-US" altLang="zh-CN" sz="3200"/>
          </a:p>
        </p:txBody>
      </p:sp>
      <p:sp>
        <p:nvSpPr>
          <p:cNvPr id="152601" name="Text Box 25"/>
          <p:cNvSpPr txBox="1">
            <a:spLocks noChangeArrowheads="1"/>
          </p:cNvSpPr>
          <p:nvPr/>
        </p:nvSpPr>
        <p:spPr bwMode="auto">
          <a:xfrm>
            <a:off x="3108325" y="451485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27</a:t>
            </a:r>
            <a:endParaRPr lang="en-US" altLang="zh-CN" sz="3200">
              <a:solidFill>
                <a:schemeClr val="tx2"/>
              </a:solidFill>
            </a:endParaRPr>
          </a:p>
        </p:txBody>
      </p:sp>
      <p:sp>
        <p:nvSpPr>
          <p:cNvPr id="152602" name="Text Box 26"/>
          <p:cNvSpPr txBox="1">
            <a:spLocks noChangeArrowheads="1"/>
          </p:cNvSpPr>
          <p:nvPr/>
        </p:nvSpPr>
        <p:spPr bwMode="auto">
          <a:xfrm>
            <a:off x="3032125" y="306705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16</a:t>
            </a:r>
            <a:endParaRPr lang="en-US" altLang="zh-CN" sz="3200"/>
          </a:p>
        </p:txBody>
      </p:sp>
      <p:sp>
        <p:nvSpPr>
          <p:cNvPr id="152603" name="Text Box 27"/>
          <p:cNvSpPr txBox="1">
            <a:spLocks noChangeArrowheads="1"/>
          </p:cNvSpPr>
          <p:nvPr/>
        </p:nvSpPr>
        <p:spPr bwMode="auto">
          <a:xfrm>
            <a:off x="4860925" y="29146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8</a:t>
            </a:r>
            <a:endParaRPr lang="en-US" altLang="zh-CN" sz="3200"/>
          </a:p>
        </p:txBody>
      </p:sp>
      <p:sp>
        <p:nvSpPr>
          <p:cNvPr id="152604" name="Text Box 28"/>
          <p:cNvSpPr txBox="1">
            <a:spLocks noChangeArrowheads="1"/>
          </p:cNvSpPr>
          <p:nvPr/>
        </p:nvSpPr>
        <p:spPr bwMode="auto">
          <a:xfrm>
            <a:off x="5105400" y="44958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21</a:t>
            </a:r>
            <a:endParaRPr lang="en-US" altLang="zh-CN" sz="3200"/>
          </a:p>
        </p:txBody>
      </p:sp>
      <p:sp>
        <p:nvSpPr>
          <p:cNvPr id="152605" name="Text Box 29"/>
          <p:cNvSpPr txBox="1">
            <a:spLocks noChangeArrowheads="1"/>
          </p:cNvSpPr>
          <p:nvPr/>
        </p:nvSpPr>
        <p:spPr bwMode="auto">
          <a:xfrm>
            <a:off x="6537325" y="31432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3</a:t>
            </a:r>
            <a:endParaRPr lang="en-US" altLang="zh-CN" sz="3200"/>
          </a:p>
        </p:txBody>
      </p:sp>
      <p:sp>
        <p:nvSpPr>
          <p:cNvPr id="152606" name="Oval 30"/>
          <p:cNvSpPr>
            <a:spLocks noChangeArrowheads="1"/>
          </p:cNvSpPr>
          <p:nvPr/>
        </p:nvSpPr>
        <p:spPr bwMode="auto">
          <a:xfrm>
            <a:off x="2667000" y="12192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52607" name="Line 31"/>
          <p:cNvSpPr>
            <a:spLocks noChangeShapeType="1"/>
          </p:cNvSpPr>
          <p:nvPr/>
        </p:nvSpPr>
        <p:spPr bwMode="auto">
          <a:xfrm>
            <a:off x="3124200" y="1676400"/>
            <a:ext cx="990600" cy="1219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08" name="Oval 32"/>
          <p:cNvSpPr>
            <a:spLocks noChangeArrowheads="1"/>
          </p:cNvSpPr>
          <p:nvPr/>
        </p:nvSpPr>
        <p:spPr bwMode="auto">
          <a:xfrm>
            <a:off x="4038600" y="28194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152609" name="Line 33"/>
          <p:cNvSpPr>
            <a:spLocks noChangeShapeType="1"/>
          </p:cNvSpPr>
          <p:nvPr/>
        </p:nvSpPr>
        <p:spPr bwMode="auto">
          <a:xfrm>
            <a:off x="4572000" y="3200400"/>
            <a:ext cx="12192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0" name="Text Box 34"/>
          <p:cNvSpPr txBox="1">
            <a:spLocks noChangeArrowheads="1"/>
          </p:cNvSpPr>
          <p:nvPr/>
        </p:nvSpPr>
        <p:spPr bwMode="auto">
          <a:xfrm>
            <a:off x="4648200" y="1706563"/>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12</a:t>
            </a:r>
            <a:endParaRPr lang="en-US" altLang="zh-CN" sz="3200"/>
          </a:p>
        </p:txBody>
      </p:sp>
      <p:sp>
        <p:nvSpPr>
          <p:cNvPr id="152611" name="Oval 35"/>
          <p:cNvSpPr>
            <a:spLocks noChangeArrowheads="1"/>
          </p:cNvSpPr>
          <p:nvPr/>
        </p:nvSpPr>
        <p:spPr bwMode="auto">
          <a:xfrm>
            <a:off x="5715000" y="37338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152612" name="Line 36"/>
          <p:cNvSpPr>
            <a:spLocks noChangeShapeType="1"/>
          </p:cNvSpPr>
          <p:nvPr/>
        </p:nvSpPr>
        <p:spPr bwMode="auto">
          <a:xfrm flipH="1">
            <a:off x="6172200" y="2514600"/>
            <a:ext cx="1143000" cy="13716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3" name="Oval 37"/>
          <p:cNvSpPr>
            <a:spLocks noChangeArrowheads="1"/>
          </p:cNvSpPr>
          <p:nvPr/>
        </p:nvSpPr>
        <p:spPr bwMode="auto">
          <a:xfrm>
            <a:off x="7239000" y="20574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152614" name="Line 38"/>
          <p:cNvSpPr>
            <a:spLocks noChangeShapeType="1"/>
          </p:cNvSpPr>
          <p:nvPr/>
        </p:nvSpPr>
        <p:spPr bwMode="auto">
          <a:xfrm>
            <a:off x="6019800" y="1524000"/>
            <a:ext cx="12954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5" name="Oval 39"/>
          <p:cNvSpPr>
            <a:spLocks noChangeArrowheads="1"/>
          </p:cNvSpPr>
          <p:nvPr/>
        </p:nvSpPr>
        <p:spPr bwMode="auto">
          <a:xfrm>
            <a:off x="5486400" y="12192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152616" name="Line 40"/>
          <p:cNvSpPr>
            <a:spLocks noChangeShapeType="1"/>
          </p:cNvSpPr>
          <p:nvPr/>
        </p:nvSpPr>
        <p:spPr bwMode="auto">
          <a:xfrm flipV="1">
            <a:off x="2590800" y="3200400"/>
            <a:ext cx="1524000" cy="7620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7" name="Oval 41"/>
          <p:cNvSpPr>
            <a:spLocks noChangeArrowheads="1"/>
          </p:cNvSpPr>
          <p:nvPr/>
        </p:nvSpPr>
        <p:spPr bwMode="auto">
          <a:xfrm>
            <a:off x="2057400" y="3733800"/>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a:p>
        </p:txBody>
      </p:sp>
      <p:sp>
        <p:nvSpPr>
          <p:cNvPr id="152618" name="Line 42"/>
          <p:cNvSpPr>
            <a:spLocks noChangeShapeType="1"/>
          </p:cNvSpPr>
          <p:nvPr/>
        </p:nvSpPr>
        <p:spPr bwMode="auto">
          <a:xfrm flipH="1">
            <a:off x="4876800" y="4191000"/>
            <a:ext cx="914400" cy="838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2619" name="Oval 43"/>
          <p:cNvSpPr>
            <a:spLocks noChangeArrowheads="1"/>
          </p:cNvSpPr>
          <p:nvPr/>
        </p:nvSpPr>
        <p:spPr bwMode="auto">
          <a:xfrm>
            <a:off x="4343400" y="4876800"/>
            <a:ext cx="533400" cy="533400"/>
          </a:xfrm>
          <a:prstGeom prst="ellipse">
            <a:avLst/>
          </a:prstGeom>
          <a:solidFill>
            <a:srgbClr val="FFFF99"/>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a:p>
        </p:txBody>
      </p:sp>
      <p:sp>
        <p:nvSpPr>
          <p:cNvPr id="152620" name="Text Box 44"/>
          <p:cNvSpPr txBox="1">
            <a:spLocks noChangeArrowheads="1"/>
          </p:cNvSpPr>
          <p:nvPr/>
        </p:nvSpPr>
        <p:spPr bwMode="auto">
          <a:xfrm>
            <a:off x="5851525" y="22288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7</a:t>
            </a:r>
            <a:endParaRPr lang="en-US" altLang="zh-CN" sz="3200"/>
          </a:p>
        </p:txBody>
      </p:sp>
      <p:sp>
        <p:nvSpPr>
          <p:cNvPr id="152621" name="Text Box 45"/>
          <p:cNvSpPr txBox="1">
            <a:spLocks noChangeArrowheads="1"/>
          </p:cNvSpPr>
          <p:nvPr/>
        </p:nvSpPr>
        <p:spPr bwMode="auto">
          <a:xfrm>
            <a:off x="3505200" y="1905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14</a:t>
            </a:r>
            <a:endParaRPr lang="en-US" altLang="zh-CN" b="1">
              <a:solidFill>
                <a:srgbClr val="FF0000"/>
              </a:solidFill>
            </a:endParaRPr>
          </a:p>
        </p:txBody>
      </p:sp>
      <p:sp>
        <p:nvSpPr>
          <p:cNvPr id="152622" name="Text Box 46"/>
          <p:cNvSpPr txBox="1">
            <a:spLocks noChangeArrowheads="1"/>
          </p:cNvSpPr>
          <p:nvPr/>
        </p:nvSpPr>
        <p:spPr bwMode="auto">
          <a:xfrm>
            <a:off x="4876800" y="2925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8</a:t>
            </a:r>
            <a:endParaRPr lang="en-US" altLang="zh-CN" sz="3200"/>
          </a:p>
        </p:txBody>
      </p:sp>
      <p:sp>
        <p:nvSpPr>
          <p:cNvPr id="152623" name="Text Box 47"/>
          <p:cNvSpPr txBox="1">
            <a:spLocks noChangeArrowheads="1"/>
          </p:cNvSpPr>
          <p:nvPr/>
        </p:nvSpPr>
        <p:spPr bwMode="auto">
          <a:xfrm>
            <a:off x="6400800" y="13255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5</a:t>
            </a:r>
            <a:endParaRPr lang="en-US" altLang="zh-CN">
              <a:solidFill>
                <a:schemeClr val="tx2"/>
              </a:solidFill>
            </a:endParaRPr>
          </a:p>
        </p:txBody>
      </p:sp>
      <p:sp>
        <p:nvSpPr>
          <p:cNvPr id="152624" name="Text Box 48"/>
          <p:cNvSpPr txBox="1">
            <a:spLocks noChangeArrowheads="1"/>
          </p:cNvSpPr>
          <p:nvPr/>
        </p:nvSpPr>
        <p:spPr bwMode="auto">
          <a:xfrm>
            <a:off x="6546850" y="31543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3</a:t>
            </a:r>
            <a:endParaRPr lang="en-US" altLang="zh-CN" sz="3200"/>
          </a:p>
        </p:txBody>
      </p:sp>
      <p:sp>
        <p:nvSpPr>
          <p:cNvPr id="152625" name="Text Box 49"/>
          <p:cNvSpPr txBox="1">
            <a:spLocks noChangeArrowheads="1"/>
          </p:cNvSpPr>
          <p:nvPr/>
        </p:nvSpPr>
        <p:spPr bwMode="auto">
          <a:xfrm>
            <a:off x="3048000" y="30480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16</a:t>
            </a:r>
            <a:endParaRPr lang="en-US" altLang="zh-CN" sz="3200" b="1">
              <a:solidFill>
                <a:srgbClr val="FF0000"/>
              </a:solidFill>
            </a:endParaRPr>
          </a:p>
        </p:txBody>
      </p:sp>
      <p:sp>
        <p:nvSpPr>
          <p:cNvPr id="152626" name="Text Box 50"/>
          <p:cNvSpPr txBox="1">
            <a:spLocks noChangeArrowheads="1"/>
          </p:cNvSpPr>
          <p:nvPr/>
        </p:nvSpPr>
        <p:spPr bwMode="auto">
          <a:xfrm>
            <a:off x="5105400" y="44958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21</a:t>
            </a:r>
            <a:endParaRPr lang="en-US" altLang="zh-CN" sz="3200"/>
          </a:p>
        </p:txBody>
      </p:sp>
      <p:sp>
        <p:nvSpPr>
          <p:cNvPr id="152627" name="Text Box 51"/>
          <p:cNvSpPr txBox="1">
            <a:spLocks noChangeArrowheads="1"/>
          </p:cNvSpPr>
          <p:nvPr/>
        </p:nvSpPr>
        <p:spPr bwMode="auto">
          <a:xfrm>
            <a:off x="683260" y="5728018"/>
            <a:ext cx="324231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a:solidFill>
                  <a:srgbClr val="000082"/>
                </a:solidFill>
                <a:latin typeface="Arial" panose="020B0604020202020204" pitchFamily="34" charset="0"/>
                <a:ea typeface="楷体_GB2312" pitchFamily="49" charset="-122"/>
                <a:cs typeface="Arial" panose="020B0604020202020204" pitchFamily="34" charset="0"/>
                <a:sym typeface="+mn-ea"/>
              </a:rPr>
              <a:t>Generated tree weight sum</a:t>
            </a:r>
            <a:endParaRPr lang="zh-CN" altLang="en-US" sz="2000">
              <a:solidFill>
                <a:srgbClr val="000082"/>
              </a:solidFill>
              <a:latin typeface="Arial" panose="020B0604020202020204" pitchFamily="34" charset="0"/>
              <a:ea typeface="楷体_GB2312" pitchFamily="49" charset="-122"/>
              <a:cs typeface="Arial" panose="020B0604020202020204" pitchFamily="34" charset="0"/>
              <a:sym typeface="+mn-ea"/>
            </a:endParaRPr>
          </a:p>
        </p:txBody>
      </p:sp>
      <p:sp>
        <p:nvSpPr>
          <p:cNvPr id="152628" name="Text Box 52"/>
          <p:cNvSpPr txBox="1">
            <a:spLocks noChangeArrowheads="1"/>
          </p:cNvSpPr>
          <p:nvPr/>
        </p:nvSpPr>
        <p:spPr bwMode="auto">
          <a:xfrm>
            <a:off x="3921125" y="5607050"/>
            <a:ext cx="4841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000082"/>
                </a:solidFill>
              </a:rPr>
              <a:t>= 14+8+3+5+16+21 = 67</a:t>
            </a:r>
            <a:endParaRPr lang="en-US" altLang="zh-CN" sz="360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2596"/>
                                        </p:tgtEl>
                                        <p:attrNameLst>
                                          <p:attrName>style.visibility</p:attrName>
                                        </p:attrNameLst>
                                      </p:cBhvr>
                                      <p:to>
                                        <p:strVal val="visible"/>
                                      </p:to>
                                    </p:set>
                                    <p:anim calcmode="lin" valueType="num">
                                      <p:cBhvr additive="base">
                                        <p:cTn id="7" dur="500" fill="hold"/>
                                        <p:tgtEl>
                                          <p:spTgt spid="152596"/>
                                        </p:tgtEl>
                                        <p:attrNameLst>
                                          <p:attrName>ppt_x</p:attrName>
                                        </p:attrNameLst>
                                      </p:cBhvr>
                                      <p:tavLst>
                                        <p:tav tm="0">
                                          <p:val>
                                            <p:strVal val="0-#ppt_w/2"/>
                                          </p:val>
                                        </p:tav>
                                        <p:tav tm="100000">
                                          <p:val>
                                            <p:strVal val="#ppt_x"/>
                                          </p:val>
                                        </p:tav>
                                      </p:tavLst>
                                    </p:anim>
                                    <p:anim calcmode="lin" valueType="num">
                                      <p:cBhvr additive="base">
                                        <p:cTn id="8" dur="500" fill="hold"/>
                                        <p:tgtEl>
                                          <p:spTgt spid="15259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52578"/>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152579"/>
                                        </p:tgtEl>
                                        <p:attrNameLst>
                                          <p:attrName>style.visibility</p:attrName>
                                        </p:attrNameLst>
                                      </p:cBhvr>
                                      <p:to>
                                        <p:strVal val="visible"/>
                                      </p:to>
                                    </p:se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152580"/>
                                        </p:tgtEl>
                                        <p:attrNameLst>
                                          <p:attrName>style.visibility</p:attrName>
                                        </p:attrNameLst>
                                      </p:cBhvr>
                                      <p:to>
                                        <p:strVal val="visible"/>
                                      </p:to>
                                    </p:se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499"/>
                                          </p:stCondLst>
                                        </p:cTn>
                                        <p:tgtEl>
                                          <p:spTgt spid="152581"/>
                                        </p:tgtEl>
                                        <p:attrNameLst>
                                          <p:attrName>style.visibility</p:attrName>
                                        </p:attrNameLst>
                                      </p:cBhvr>
                                      <p:to>
                                        <p:strVal val="visible"/>
                                      </p:to>
                                    </p:set>
                                  </p:childTnLst>
                                </p:cTn>
                              </p:par>
                            </p:childTnLst>
                          </p:cTn>
                        </p:par>
                        <p:par>
                          <p:cTn id="21" fill="hold">
                            <p:stCondLst>
                              <p:cond delay="2500"/>
                            </p:stCondLst>
                            <p:childTnLst>
                              <p:par>
                                <p:cTn id="22" presetID="1" presetClass="entr" presetSubtype="0" fill="hold" grpId="0" nodeType="afterEffect">
                                  <p:stCondLst>
                                    <p:cond delay="0"/>
                                  </p:stCondLst>
                                  <p:childTnLst>
                                    <p:set>
                                      <p:cBhvr>
                                        <p:cTn id="23" dur="1" fill="hold">
                                          <p:stCondLst>
                                            <p:cond delay="499"/>
                                          </p:stCondLst>
                                        </p:cTn>
                                        <p:tgtEl>
                                          <p:spTgt spid="152582"/>
                                        </p:tgtEl>
                                        <p:attrNameLst>
                                          <p:attrName>style.visibility</p:attrName>
                                        </p:attrNameLst>
                                      </p:cBhvr>
                                      <p:to>
                                        <p:strVal val="visible"/>
                                      </p:to>
                                    </p:set>
                                  </p:childTnLst>
                                </p:cTn>
                              </p:par>
                            </p:childTnLst>
                          </p:cTn>
                        </p:par>
                        <p:par>
                          <p:cTn id="24" fill="hold">
                            <p:stCondLst>
                              <p:cond delay="3000"/>
                            </p:stCondLst>
                            <p:childTnLst>
                              <p:par>
                                <p:cTn id="25" presetID="1" presetClass="entr" presetSubtype="0" fill="hold" grpId="0" nodeType="afterEffect">
                                  <p:stCondLst>
                                    <p:cond delay="0"/>
                                  </p:stCondLst>
                                  <p:childTnLst>
                                    <p:set>
                                      <p:cBhvr>
                                        <p:cTn id="26" dur="1" fill="hold">
                                          <p:stCondLst>
                                            <p:cond delay="499"/>
                                          </p:stCondLst>
                                        </p:cTn>
                                        <p:tgtEl>
                                          <p:spTgt spid="152583"/>
                                        </p:tgtEl>
                                        <p:attrNameLst>
                                          <p:attrName>style.visibility</p:attrName>
                                        </p:attrNameLst>
                                      </p:cBhvr>
                                      <p:to>
                                        <p:strVal val="visible"/>
                                      </p:to>
                                    </p:set>
                                  </p:childTnLst>
                                </p:cTn>
                              </p:par>
                            </p:childTnLst>
                          </p:cTn>
                        </p:par>
                        <p:par>
                          <p:cTn id="27" fill="hold">
                            <p:stCondLst>
                              <p:cond delay="3500"/>
                            </p:stCondLst>
                            <p:childTnLst>
                              <p:par>
                                <p:cTn id="28" presetID="1" presetClass="entr" presetSubtype="0" fill="hold" grpId="0" nodeType="afterEffect">
                                  <p:stCondLst>
                                    <p:cond delay="0"/>
                                  </p:stCondLst>
                                  <p:childTnLst>
                                    <p:set>
                                      <p:cBhvr>
                                        <p:cTn id="29" dur="1" fill="hold">
                                          <p:stCondLst>
                                            <p:cond delay="499"/>
                                          </p:stCondLst>
                                        </p:cTn>
                                        <p:tgtEl>
                                          <p:spTgt spid="152584"/>
                                        </p:tgtEl>
                                        <p:attrNameLst>
                                          <p:attrName>style.visibility</p:attrName>
                                        </p:attrNameLst>
                                      </p:cBhvr>
                                      <p:to>
                                        <p:strVal val="visible"/>
                                      </p:to>
                                    </p:set>
                                  </p:childTnLst>
                                </p:cTn>
                              </p:par>
                            </p:childTnLst>
                          </p:cTn>
                        </p:par>
                        <p:par>
                          <p:cTn id="30" fill="hold">
                            <p:stCondLst>
                              <p:cond delay="4000"/>
                            </p:stCondLst>
                            <p:childTnLst>
                              <p:par>
                                <p:cTn id="31" presetID="1" presetClass="entr" presetSubtype="0" fill="hold" grpId="0" nodeType="afterEffect">
                                  <p:stCondLst>
                                    <p:cond delay="0"/>
                                  </p:stCondLst>
                                  <p:childTnLst>
                                    <p:set>
                                      <p:cBhvr>
                                        <p:cTn id="32" dur="1" fill="hold">
                                          <p:stCondLst>
                                            <p:cond delay="499"/>
                                          </p:stCondLst>
                                        </p:cTn>
                                        <p:tgtEl>
                                          <p:spTgt spid="152585"/>
                                        </p:tgtEl>
                                        <p:attrNameLst>
                                          <p:attrName>style.visibility</p:attrName>
                                        </p:attrNameLst>
                                      </p:cBhvr>
                                      <p:to>
                                        <p:strVal val="visible"/>
                                      </p:to>
                                    </p:set>
                                  </p:childTnLst>
                                </p:cTn>
                              </p:par>
                            </p:childTnLst>
                          </p:cTn>
                        </p:par>
                        <p:par>
                          <p:cTn id="33" fill="hold">
                            <p:stCondLst>
                              <p:cond delay="4500"/>
                            </p:stCondLst>
                            <p:childTnLst>
                              <p:par>
                                <p:cTn id="34" presetID="1" presetClass="entr" presetSubtype="0" fill="hold" grpId="0" nodeType="afterEffect">
                                  <p:stCondLst>
                                    <p:cond delay="0"/>
                                  </p:stCondLst>
                                  <p:childTnLst>
                                    <p:set>
                                      <p:cBhvr>
                                        <p:cTn id="35" dur="1" fill="hold">
                                          <p:stCondLst>
                                            <p:cond delay="499"/>
                                          </p:stCondLst>
                                        </p:cTn>
                                        <p:tgtEl>
                                          <p:spTgt spid="152586"/>
                                        </p:tgtEl>
                                        <p:attrNameLst>
                                          <p:attrName>style.visibility</p:attrName>
                                        </p:attrNameLst>
                                      </p:cBhvr>
                                      <p:to>
                                        <p:strVal val="visible"/>
                                      </p:to>
                                    </p:set>
                                  </p:childTnLst>
                                </p:cTn>
                              </p:par>
                            </p:childTnLst>
                          </p:cTn>
                        </p:par>
                        <p:par>
                          <p:cTn id="36" fill="hold">
                            <p:stCondLst>
                              <p:cond delay="5000"/>
                            </p:stCondLst>
                            <p:childTnLst>
                              <p:par>
                                <p:cTn id="37" presetID="1" presetClass="entr" presetSubtype="0" fill="hold" grpId="0" nodeType="afterEffect">
                                  <p:stCondLst>
                                    <p:cond delay="0"/>
                                  </p:stCondLst>
                                  <p:childTnLst>
                                    <p:set>
                                      <p:cBhvr>
                                        <p:cTn id="38" dur="1" fill="hold">
                                          <p:stCondLst>
                                            <p:cond delay="499"/>
                                          </p:stCondLst>
                                        </p:cTn>
                                        <p:tgtEl>
                                          <p:spTgt spid="152587"/>
                                        </p:tgtEl>
                                        <p:attrNameLst>
                                          <p:attrName>style.visibility</p:attrName>
                                        </p:attrNameLst>
                                      </p:cBhvr>
                                      <p:to>
                                        <p:strVal val="visible"/>
                                      </p:to>
                                    </p:set>
                                  </p:childTnLst>
                                </p:cTn>
                              </p:par>
                            </p:childTnLst>
                          </p:cTn>
                        </p:par>
                        <p:par>
                          <p:cTn id="39" fill="hold">
                            <p:stCondLst>
                              <p:cond delay="5500"/>
                            </p:stCondLst>
                            <p:childTnLst>
                              <p:par>
                                <p:cTn id="40" presetID="1" presetClass="entr" presetSubtype="0" fill="hold" grpId="0" nodeType="afterEffect">
                                  <p:stCondLst>
                                    <p:cond delay="0"/>
                                  </p:stCondLst>
                                  <p:childTnLst>
                                    <p:set>
                                      <p:cBhvr>
                                        <p:cTn id="41" dur="1" fill="hold">
                                          <p:stCondLst>
                                            <p:cond delay="499"/>
                                          </p:stCondLst>
                                        </p:cTn>
                                        <p:tgtEl>
                                          <p:spTgt spid="152588"/>
                                        </p:tgtEl>
                                        <p:attrNameLst>
                                          <p:attrName>style.visibility</p:attrName>
                                        </p:attrNameLst>
                                      </p:cBhvr>
                                      <p:to>
                                        <p:strVal val="visible"/>
                                      </p:to>
                                    </p:set>
                                  </p:childTnLst>
                                </p:cTn>
                              </p:par>
                            </p:childTnLst>
                          </p:cTn>
                        </p:par>
                        <p:par>
                          <p:cTn id="42" fill="hold">
                            <p:stCondLst>
                              <p:cond delay="6000"/>
                            </p:stCondLst>
                            <p:childTnLst>
                              <p:par>
                                <p:cTn id="43" presetID="1" presetClass="entr" presetSubtype="0" fill="hold" grpId="0" nodeType="afterEffect">
                                  <p:stCondLst>
                                    <p:cond delay="0"/>
                                  </p:stCondLst>
                                  <p:childTnLst>
                                    <p:set>
                                      <p:cBhvr>
                                        <p:cTn id="44" dur="1" fill="hold">
                                          <p:stCondLst>
                                            <p:cond delay="499"/>
                                          </p:stCondLst>
                                        </p:cTn>
                                        <p:tgtEl>
                                          <p:spTgt spid="152589"/>
                                        </p:tgtEl>
                                        <p:attrNameLst>
                                          <p:attrName>style.visibility</p:attrName>
                                        </p:attrNameLst>
                                      </p:cBhvr>
                                      <p:to>
                                        <p:strVal val="visible"/>
                                      </p:to>
                                    </p:set>
                                  </p:childTnLst>
                                </p:cTn>
                              </p:par>
                            </p:childTnLst>
                          </p:cTn>
                        </p:par>
                        <p:par>
                          <p:cTn id="45" fill="hold">
                            <p:stCondLst>
                              <p:cond delay="6500"/>
                            </p:stCondLst>
                            <p:childTnLst>
                              <p:par>
                                <p:cTn id="46" presetID="1" presetClass="entr" presetSubtype="0" fill="hold" grpId="0" nodeType="afterEffect">
                                  <p:stCondLst>
                                    <p:cond delay="0"/>
                                  </p:stCondLst>
                                  <p:childTnLst>
                                    <p:set>
                                      <p:cBhvr>
                                        <p:cTn id="47" dur="1" fill="hold">
                                          <p:stCondLst>
                                            <p:cond delay="499"/>
                                          </p:stCondLst>
                                        </p:cTn>
                                        <p:tgtEl>
                                          <p:spTgt spid="152590"/>
                                        </p:tgtEl>
                                        <p:attrNameLst>
                                          <p:attrName>style.visibility</p:attrName>
                                        </p:attrNameLst>
                                      </p:cBhvr>
                                      <p:to>
                                        <p:strVal val="visible"/>
                                      </p:to>
                                    </p:set>
                                  </p:childTnLst>
                                </p:cTn>
                              </p:par>
                            </p:childTnLst>
                          </p:cTn>
                        </p:par>
                        <p:par>
                          <p:cTn id="48" fill="hold">
                            <p:stCondLst>
                              <p:cond delay="7000"/>
                            </p:stCondLst>
                            <p:childTnLst>
                              <p:par>
                                <p:cTn id="49" presetID="1" presetClass="entr" presetSubtype="0" fill="hold" grpId="0" nodeType="afterEffect">
                                  <p:stCondLst>
                                    <p:cond delay="0"/>
                                  </p:stCondLst>
                                  <p:childTnLst>
                                    <p:set>
                                      <p:cBhvr>
                                        <p:cTn id="50" dur="1" fill="hold">
                                          <p:stCondLst>
                                            <p:cond delay="499"/>
                                          </p:stCondLst>
                                        </p:cTn>
                                        <p:tgtEl>
                                          <p:spTgt spid="152591"/>
                                        </p:tgtEl>
                                        <p:attrNameLst>
                                          <p:attrName>style.visibility</p:attrName>
                                        </p:attrNameLst>
                                      </p:cBhvr>
                                      <p:to>
                                        <p:strVal val="visible"/>
                                      </p:to>
                                    </p:set>
                                  </p:childTnLst>
                                </p:cTn>
                              </p:par>
                            </p:childTnLst>
                          </p:cTn>
                        </p:par>
                        <p:par>
                          <p:cTn id="51" fill="hold">
                            <p:stCondLst>
                              <p:cond delay="7500"/>
                            </p:stCondLst>
                            <p:childTnLst>
                              <p:par>
                                <p:cTn id="52" presetID="1" presetClass="entr" presetSubtype="0" fill="hold" grpId="0" nodeType="afterEffect">
                                  <p:stCondLst>
                                    <p:cond delay="0"/>
                                  </p:stCondLst>
                                  <p:childTnLst>
                                    <p:set>
                                      <p:cBhvr>
                                        <p:cTn id="53" dur="1" fill="hold">
                                          <p:stCondLst>
                                            <p:cond delay="499"/>
                                          </p:stCondLst>
                                        </p:cTn>
                                        <p:tgtEl>
                                          <p:spTgt spid="152592"/>
                                        </p:tgtEl>
                                        <p:attrNameLst>
                                          <p:attrName>style.visibility</p:attrName>
                                        </p:attrNameLst>
                                      </p:cBhvr>
                                      <p:to>
                                        <p:strVal val="visible"/>
                                      </p:to>
                                    </p:set>
                                  </p:childTnLst>
                                </p:cTn>
                              </p:par>
                            </p:childTnLst>
                          </p:cTn>
                        </p:par>
                        <p:par>
                          <p:cTn id="54" fill="hold">
                            <p:stCondLst>
                              <p:cond delay="8000"/>
                            </p:stCondLst>
                            <p:childTnLst>
                              <p:par>
                                <p:cTn id="55" presetID="1" presetClass="entr" presetSubtype="0" fill="hold" grpId="0" nodeType="afterEffect">
                                  <p:stCondLst>
                                    <p:cond delay="0"/>
                                  </p:stCondLst>
                                  <p:childTnLst>
                                    <p:set>
                                      <p:cBhvr>
                                        <p:cTn id="56" dur="1" fill="hold">
                                          <p:stCondLst>
                                            <p:cond delay="499"/>
                                          </p:stCondLst>
                                        </p:cTn>
                                        <p:tgtEl>
                                          <p:spTgt spid="152593"/>
                                        </p:tgtEl>
                                        <p:attrNameLst>
                                          <p:attrName>style.visibility</p:attrName>
                                        </p:attrNameLst>
                                      </p:cBhvr>
                                      <p:to>
                                        <p:strVal val="visible"/>
                                      </p:to>
                                    </p:set>
                                  </p:childTnLst>
                                </p:cTn>
                              </p:par>
                            </p:childTnLst>
                          </p:cTn>
                        </p:par>
                        <p:par>
                          <p:cTn id="57" fill="hold">
                            <p:stCondLst>
                              <p:cond delay="8500"/>
                            </p:stCondLst>
                            <p:childTnLst>
                              <p:par>
                                <p:cTn id="58" presetID="1" presetClass="entr" presetSubtype="0" fill="hold" grpId="0" nodeType="afterEffect">
                                  <p:stCondLst>
                                    <p:cond delay="0"/>
                                  </p:stCondLst>
                                  <p:childTnLst>
                                    <p:set>
                                      <p:cBhvr>
                                        <p:cTn id="59" dur="1" fill="hold">
                                          <p:stCondLst>
                                            <p:cond delay="499"/>
                                          </p:stCondLst>
                                        </p:cTn>
                                        <p:tgtEl>
                                          <p:spTgt spid="152594"/>
                                        </p:tgtEl>
                                        <p:attrNameLst>
                                          <p:attrName>style.visibility</p:attrName>
                                        </p:attrNameLst>
                                      </p:cBhvr>
                                      <p:to>
                                        <p:strVal val="visible"/>
                                      </p:to>
                                    </p:set>
                                  </p:childTnLst>
                                </p:cTn>
                              </p:par>
                            </p:childTnLst>
                          </p:cTn>
                        </p:par>
                        <p:par>
                          <p:cTn id="60" fill="hold">
                            <p:stCondLst>
                              <p:cond delay="9000"/>
                            </p:stCondLst>
                            <p:childTnLst>
                              <p:par>
                                <p:cTn id="61" presetID="1" presetClass="entr" presetSubtype="0" fill="hold" grpId="0" nodeType="afterEffect">
                                  <p:stCondLst>
                                    <p:cond delay="0"/>
                                  </p:stCondLst>
                                  <p:childTnLst>
                                    <p:set>
                                      <p:cBhvr>
                                        <p:cTn id="62" dur="1" fill="hold">
                                          <p:stCondLst>
                                            <p:cond delay="499"/>
                                          </p:stCondLst>
                                        </p:cTn>
                                        <p:tgtEl>
                                          <p:spTgt spid="152595"/>
                                        </p:tgtEl>
                                        <p:attrNameLst>
                                          <p:attrName>style.visibility</p:attrName>
                                        </p:attrNameLst>
                                      </p:cBhvr>
                                      <p:to>
                                        <p:strVal val="visible"/>
                                      </p:to>
                                    </p:set>
                                  </p:childTnLst>
                                </p:cTn>
                              </p:par>
                            </p:childTnLst>
                          </p:cTn>
                        </p:par>
                        <p:par>
                          <p:cTn id="63" fill="hold">
                            <p:stCondLst>
                              <p:cond delay="9500"/>
                            </p:stCondLst>
                            <p:childTnLst>
                              <p:par>
                                <p:cTn id="64" presetID="1" presetClass="entr" presetSubtype="0" fill="hold" grpId="0" nodeType="afterEffect">
                                  <p:stCondLst>
                                    <p:cond delay="0"/>
                                  </p:stCondLst>
                                  <p:childTnLst>
                                    <p:set>
                                      <p:cBhvr>
                                        <p:cTn id="65" dur="1" fill="hold">
                                          <p:stCondLst>
                                            <p:cond delay="499"/>
                                          </p:stCondLst>
                                        </p:cTn>
                                        <p:tgtEl>
                                          <p:spTgt spid="152597"/>
                                        </p:tgtEl>
                                        <p:attrNameLst>
                                          <p:attrName>style.visibility</p:attrName>
                                        </p:attrNameLst>
                                      </p:cBhvr>
                                      <p:to>
                                        <p:strVal val="visible"/>
                                      </p:to>
                                    </p:set>
                                  </p:childTnLst>
                                </p:cTn>
                              </p:par>
                            </p:childTnLst>
                          </p:cTn>
                        </p:par>
                        <p:par>
                          <p:cTn id="66" fill="hold">
                            <p:stCondLst>
                              <p:cond delay="10000"/>
                            </p:stCondLst>
                            <p:childTnLst>
                              <p:par>
                                <p:cTn id="67" presetID="1" presetClass="entr" presetSubtype="0" fill="hold" grpId="0" nodeType="afterEffect">
                                  <p:stCondLst>
                                    <p:cond delay="0"/>
                                  </p:stCondLst>
                                  <p:childTnLst>
                                    <p:set>
                                      <p:cBhvr>
                                        <p:cTn id="68" dur="1" fill="hold">
                                          <p:stCondLst>
                                            <p:cond delay="499"/>
                                          </p:stCondLst>
                                        </p:cTn>
                                        <p:tgtEl>
                                          <p:spTgt spid="152598"/>
                                        </p:tgtEl>
                                        <p:attrNameLst>
                                          <p:attrName>style.visibility</p:attrName>
                                        </p:attrNameLst>
                                      </p:cBhvr>
                                      <p:to>
                                        <p:strVal val="visible"/>
                                      </p:to>
                                    </p:set>
                                  </p:childTnLst>
                                </p:cTn>
                              </p:par>
                            </p:childTnLst>
                          </p:cTn>
                        </p:par>
                        <p:par>
                          <p:cTn id="69" fill="hold">
                            <p:stCondLst>
                              <p:cond delay="10500"/>
                            </p:stCondLst>
                            <p:childTnLst>
                              <p:par>
                                <p:cTn id="70" presetID="1" presetClass="entr" presetSubtype="0" fill="hold" grpId="0" nodeType="afterEffect">
                                  <p:stCondLst>
                                    <p:cond delay="0"/>
                                  </p:stCondLst>
                                  <p:childTnLst>
                                    <p:set>
                                      <p:cBhvr>
                                        <p:cTn id="71" dur="1" fill="hold">
                                          <p:stCondLst>
                                            <p:cond delay="499"/>
                                          </p:stCondLst>
                                        </p:cTn>
                                        <p:tgtEl>
                                          <p:spTgt spid="152599"/>
                                        </p:tgtEl>
                                        <p:attrNameLst>
                                          <p:attrName>style.visibility</p:attrName>
                                        </p:attrNameLst>
                                      </p:cBhvr>
                                      <p:to>
                                        <p:strVal val="visible"/>
                                      </p:to>
                                    </p:set>
                                  </p:childTnLst>
                                </p:cTn>
                              </p:par>
                            </p:childTnLst>
                          </p:cTn>
                        </p:par>
                        <p:par>
                          <p:cTn id="72" fill="hold">
                            <p:stCondLst>
                              <p:cond delay="11000"/>
                            </p:stCondLst>
                            <p:childTnLst>
                              <p:par>
                                <p:cTn id="73" presetID="1" presetClass="entr" presetSubtype="0" fill="hold" grpId="0" nodeType="afterEffect">
                                  <p:stCondLst>
                                    <p:cond delay="0"/>
                                  </p:stCondLst>
                                  <p:childTnLst>
                                    <p:set>
                                      <p:cBhvr>
                                        <p:cTn id="74" dur="1" fill="hold">
                                          <p:stCondLst>
                                            <p:cond delay="499"/>
                                          </p:stCondLst>
                                        </p:cTn>
                                        <p:tgtEl>
                                          <p:spTgt spid="152600"/>
                                        </p:tgtEl>
                                        <p:attrNameLst>
                                          <p:attrName>style.visibility</p:attrName>
                                        </p:attrNameLst>
                                      </p:cBhvr>
                                      <p:to>
                                        <p:strVal val="visible"/>
                                      </p:to>
                                    </p:set>
                                  </p:childTnLst>
                                </p:cTn>
                              </p:par>
                            </p:childTnLst>
                          </p:cTn>
                        </p:par>
                        <p:par>
                          <p:cTn id="75" fill="hold">
                            <p:stCondLst>
                              <p:cond delay="11500"/>
                            </p:stCondLst>
                            <p:childTnLst>
                              <p:par>
                                <p:cTn id="76" presetID="1" presetClass="entr" presetSubtype="0" fill="hold" grpId="0" nodeType="afterEffect">
                                  <p:stCondLst>
                                    <p:cond delay="0"/>
                                  </p:stCondLst>
                                  <p:childTnLst>
                                    <p:set>
                                      <p:cBhvr>
                                        <p:cTn id="77" dur="1" fill="hold">
                                          <p:stCondLst>
                                            <p:cond delay="499"/>
                                          </p:stCondLst>
                                        </p:cTn>
                                        <p:tgtEl>
                                          <p:spTgt spid="152601"/>
                                        </p:tgtEl>
                                        <p:attrNameLst>
                                          <p:attrName>style.visibility</p:attrName>
                                        </p:attrNameLst>
                                      </p:cBhvr>
                                      <p:to>
                                        <p:strVal val="visible"/>
                                      </p:to>
                                    </p:set>
                                  </p:childTnLst>
                                </p:cTn>
                              </p:par>
                            </p:childTnLst>
                          </p:cTn>
                        </p:par>
                        <p:par>
                          <p:cTn id="78" fill="hold">
                            <p:stCondLst>
                              <p:cond delay="12000"/>
                            </p:stCondLst>
                            <p:childTnLst>
                              <p:par>
                                <p:cTn id="79" presetID="1" presetClass="entr" presetSubtype="0" fill="hold" grpId="0" nodeType="afterEffect">
                                  <p:stCondLst>
                                    <p:cond delay="0"/>
                                  </p:stCondLst>
                                  <p:childTnLst>
                                    <p:set>
                                      <p:cBhvr>
                                        <p:cTn id="80" dur="1" fill="hold">
                                          <p:stCondLst>
                                            <p:cond delay="499"/>
                                          </p:stCondLst>
                                        </p:cTn>
                                        <p:tgtEl>
                                          <p:spTgt spid="152602"/>
                                        </p:tgtEl>
                                        <p:attrNameLst>
                                          <p:attrName>style.visibility</p:attrName>
                                        </p:attrNameLst>
                                      </p:cBhvr>
                                      <p:to>
                                        <p:strVal val="visible"/>
                                      </p:to>
                                    </p:set>
                                  </p:childTnLst>
                                </p:cTn>
                              </p:par>
                            </p:childTnLst>
                          </p:cTn>
                        </p:par>
                        <p:par>
                          <p:cTn id="81" fill="hold">
                            <p:stCondLst>
                              <p:cond delay="12500"/>
                            </p:stCondLst>
                            <p:childTnLst>
                              <p:par>
                                <p:cTn id="82" presetID="1" presetClass="entr" presetSubtype="0" fill="hold" grpId="0" nodeType="afterEffect">
                                  <p:stCondLst>
                                    <p:cond delay="0"/>
                                  </p:stCondLst>
                                  <p:childTnLst>
                                    <p:set>
                                      <p:cBhvr>
                                        <p:cTn id="83" dur="1" fill="hold">
                                          <p:stCondLst>
                                            <p:cond delay="499"/>
                                          </p:stCondLst>
                                        </p:cTn>
                                        <p:tgtEl>
                                          <p:spTgt spid="152603"/>
                                        </p:tgtEl>
                                        <p:attrNameLst>
                                          <p:attrName>style.visibility</p:attrName>
                                        </p:attrNameLst>
                                      </p:cBhvr>
                                      <p:to>
                                        <p:strVal val="visible"/>
                                      </p:to>
                                    </p:set>
                                  </p:childTnLst>
                                </p:cTn>
                              </p:par>
                            </p:childTnLst>
                          </p:cTn>
                        </p:par>
                        <p:par>
                          <p:cTn id="84" fill="hold">
                            <p:stCondLst>
                              <p:cond delay="13000"/>
                            </p:stCondLst>
                            <p:childTnLst>
                              <p:par>
                                <p:cTn id="85" presetID="1" presetClass="entr" presetSubtype="0" fill="hold" grpId="0" nodeType="afterEffect">
                                  <p:stCondLst>
                                    <p:cond delay="0"/>
                                  </p:stCondLst>
                                  <p:childTnLst>
                                    <p:set>
                                      <p:cBhvr>
                                        <p:cTn id="86" dur="1" fill="hold">
                                          <p:stCondLst>
                                            <p:cond delay="499"/>
                                          </p:stCondLst>
                                        </p:cTn>
                                        <p:tgtEl>
                                          <p:spTgt spid="152604"/>
                                        </p:tgtEl>
                                        <p:attrNameLst>
                                          <p:attrName>style.visibility</p:attrName>
                                        </p:attrNameLst>
                                      </p:cBhvr>
                                      <p:to>
                                        <p:strVal val="visible"/>
                                      </p:to>
                                    </p:set>
                                  </p:childTnLst>
                                </p:cTn>
                              </p:par>
                            </p:childTnLst>
                          </p:cTn>
                        </p:par>
                        <p:par>
                          <p:cTn id="87" fill="hold">
                            <p:stCondLst>
                              <p:cond delay="13500"/>
                            </p:stCondLst>
                            <p:childTnLst>
                              <p:par>
                                <p:cTn id="88" presetID="1" presetClass="entr" presetSubtype="0" fill="hold" grpId="0" nodeType="afterEffect">
                                  <p:stCondLst>
                                    <p:cond delay="0"/>
                                  </p:stCondLst>
                                  <p:childTnLst>
                                    <p:set>
                                      <p:cBhvr>
                                        <p:cTn id="89" dur="1" fill="hold">
                                          <p:stCondLst>
                                            <p:cond delay="499"/>
                                          </p:stCondLst>
                                        </p:cTn>
                                        <p:tgtEl>
                                          <p:spTgt spid="152605"/>
                                        </p:tgtEl>
                                        <p:attrNameLst>
                                          <p:attrName>style.visibility</p:attrName>
                                        </p:attrNameLst>
                                      </p:cBhvr>
                                      <p:to>
                                        <p:strVal val="visible"/>
                                      </p:to>
                                    </p:set>
                                  </p:childTnLst>
                                </p:cTn>
                              </p:par>
                            </p:childTnLst>
                          </p:cTn>
                        </p:par>
                        <p:par>
                          <p:cTn id="90" fill="hold">
                            <p:stCondLst>
                              <p:cond delay="14000"/>
                            </p:stCondLst>
                            <p:childTnLst>
                              <p:par>
                                <p:cTn id="91" presetID="1" presetClass="entr" presetSubtype="0" fill="hold" grpId="0" nodeType="afterEffect">
                                  <p:stCondLst>
                                    <p:cond delay="0"/>
                                  </p:stCondLst>
                                  <p:childTnLst>
                                    <p:set>
                                      <p:cBhvr>
                                        <p:cTn id="92" dur="1" fill="hold">
                                          <p:stCondLst>
                                            <p:cond delay="499"/>
                                          </p:stCondLst>
                                        </p:cTn>
                                        <p:tgtEl>
                                          <p:spTgt spid="152610"/>
                                        </p:tgtEl>
                                        <p:attrNameLst>
                                          <p:attrName>style.visibility</p:attrName>
                                        </p:attrNameLst>
                                      </p:cBhvr>
                                      <p:to>
                                        <p:strVal val="visible"/>
                                      </p:to>
                                    </p:set>
                                  </p:childTnLst>
                                </p:cTn>
                              </p:par>
                            </p:childTnLst>
                          </p:cTn>
                        </p:par>
                        <p:par>
                          <p:cTn id="93" fill="hold">
                            <p:stCondLst>
                              <p:cond delay="14500"/>
                            </p:stCondLst>
                            <p:childTnLst>
                              <p:par>
                                <p:cTn id="94" presetID="1" presetClass="entr" presetSubtype="0" fill="hold" grpId="0" nodeType="afterEffect">
                                  <p:stCondLst>
                                    <p:cond delay="0"/>
                                  </p:stCondLst>
                                  <p:childTnLst>
                                    <p:set>
                                      <p:cBhvr>
                                        <p:cTn id="95" dur="1" fill="hold">
                                          <p:stCondLst>
                                            <p:cond delay="499"/>
                                          </p:stCondLst>
                                        </p:cTn>
                                        <p:tgtEl>
                                          <p:spTgt spid="152620"/>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152606"/>
                                        </p:tgtEl>
                                        <p:attrNameLst>
                                          <p:attrName>style.visibility</p:attrName>
                                        </p:attrNameLst>
                                      </p:cBhvr>
                                      <p:to>
                                        <p:strVal val="visible"/>
                                      </p:to>
                                    </p:set>
                                    <p:anim calcmode="lin" valueType="num">
                                      <p:cBhvr additive="base">
                                        <p:cTn id="100" dur="500" fill="hold"/>
                                        <p:tgtEl>
                                          <p:spTgt spid="152606"/>
                                        </p:tgtEl>
                                        <p:attrNameLst>
                                          <p:attrName>ppt_x</p:attrName>
                                        </p:attrNameLst>
                                      </p:cBhvr>
                                      <p:tavLst>
                                        <p:tav tm="0">
                                          <p:val>
                                            <p:strVal val="0-#ppt_w/2"/>
                                          </p:val>
                                        </p:tav>
                                        <p:tav tm="100000">
                                          <p:val>
                                            <p:strVal val="#ppt_x"/>
                                          </p:val>
                                        </p:tav>
                                      </p:tavLst>
                                    </p:anim>
                                    <p:anim calcmode="lin" valueType="num">
                                      <p:cBhvr additive="base">
                                        <p:cTn id="101" dur="500" fill="hold"/>
                                        <p:tgtEl>
                                          <p:spTgt spid="152606"/>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7" presetClass="entr" presetSubtype="1" fill="hold" grpId="0" nodeType="clickEffect">
                                  <p:stCondLst>
                                    <p:cond delay="0"/>
                                  </p:stCondLst>
                                  <p:childTnLst>
                                    <p:set>
                                      <p:cBhvr>
                                        <p:cTn id="105" dur="1" fill="hold">
                                          <p:stCondLst>
                                            <p:cond delay="0"/>
                                          </p:stCondLst>
                                        </p:cTn>
                                        <p:tgtEl>
                                          <p:spTgt spid="152607"/>
                                        </p:tgtEl>
                                        <p:attrNameLst>
                                          <p:attrName>style.visibility</p:attrName>
                                        </p:attrNameLst>
                                      </p:cBhvr>
                                      <p:to>
                                        <p:strVal val="visible"/>
                                      </p:to>
                                    </p:set>
                                    <p:anim calcmode="lin" valueType="num">
                                      <p:cBhvr>
                                        <p:cTn id="106" dur="500" fill="hold"/>
                                        <p:tgtEl>
                                          <p:spTgt spid="152607"/>
                                        </p:tgtEl>
                                        <p:attrNameLst>
                                          <p:attrName>ppt_x</p:attrName>
                                        </p:attrNameLst>
                                      </p:cBhvr>
                                      <p:tavLst>
                                        <p:tav tm="0">
                                          <p:val>
                                            <p:strVal val="#ppt_x"/>
                                          </p:val>
                                        </p:tav>
                                        <p:tav tm="100000">
                                          <p:val>
                                            <p:strVal val="#ppt_x"/>
                                          </p:val>
                                        </p:tav>
                                      </p:tavLst>
                                    </p:anim>
                                    <p:anim calcmode="lin" valueType="num">
                                      <p:cBhvr>
                                        <p:cTn id="107" dur="500" fill="hold"/>
                                        <p:tgtEl>
                                          <p:spTgt spid="152607"/>
                                        </p:tgtEl>
                                        <p:attrNameLst>
                                          <p:attrName>ppt_y</p:attrName>
                                        </p:attrNameLst>
                                      </p:cBhvr>
                                      <p:tavLst>
                                        <p:tav tm="0">
                                          <p:val>
                                            <p:strVal val="#ppt_y-#ppt_h/2"/>
                                          </p:val>
                                        </p:tav>
                                        <p:tav tm="100000">
                                          <p:val>
                                            <p:strVal val="#ppt_y"/>
                                          </p:val>
                                        </p:tav>
                                      </p:tavLst>
                                    </p:anim>
                                    <p:anim calcmode="lin" valueType="num">
                                      <p:cBhvr>
                                        <p:cTn id="108" dur="500" fill="hold"/>
                                        <p:tgtEl>
                                          <p:spTgt spid="152607"/>
                                        </p:tgtEl>
                                        <p:attrNameLst>
                                          <p:attrName>ppt_w</p:attrName>
                                        </p:attrNameLst>
                                      </p:cBhvr>
                                      <p:tavLst>
                                        <p:tav tm="0">
                                          <p:val>
                                            <p:strVal val="#ppt_w"/>
                                          </p:val>
                                        </p:tav>
                                        <p:tav tm="100000">
                                          <p:val>
                                            <p:strVal val="#ppt_w"/>
                                          </p:val>
                                        </p:tav>
                                      </p:tavLst>
                                    </p:anim>
                                    <p:anim calcmode="lin" valueType="num">
                                      <p:cBhvr>
                                        <p:cTn id="109" dur="500" fill="hold"/>
                                        <p:tgtEl>
                                          <p:spTgt spid="152607"/>
                                        </p:tgtEl>
                                        <p:attrNameLst>
                                          <p:attrName>ppt_h</p:attrName>
                                        </p:attrNameLst>
                                      </p:cBhvr>
                                      <p:tavLst>
                                        <p:tav tm="0">
                                          <p:val>
                                            <p:flt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152608"/>
                                        </p:tgtEl>
                                        <p:attrNameLst>
                                          <p:attrName>style.visibility</p:attrName>
                                        </p:attrNameLst>
                                      </p:cBhvr>
                                      <p:to>
                                        <p:strVal val="visible"/>
                                      </p:to>
                                    </p:set>
                                    <p:animEffect transition="in" filter="wipe(up)">
                                      <p:cBhvr>
                                        <p:cTn id="114" dur="500"/>
                                        <p:tgtEl>
                                          <p:spTgt spid="152608"/>
                                        </p:tgtEl>
                                      </p:cBhvr>
                                    </p:animEffect>
                                  </p:childTnLst>
                                </p:cTn>
                              </p:par>
                            </p:childTnLst>
                          </p:cTn>
                        </p:par>
                      </p:childTnLst>
                    </p:cTn>
                  </p:par>
                  <p:par>
                    <p:cTn id="115" fill="hold">
                      <p:stCondLst>
                        <p:cond delay="indefinite"/>
                      </p:stCondLst>
                      <p:childTnLst>
                        <p:par>
                          <p:cTn id="116" fill="hold">
                            <p:stCondLst>
                              <p:cond delay="0"/>
                            </p:stCondLst>
                            <p:childTnLst>
                              <p:par>
                                <p:cTn id="117" presetID="17" presetClass="entr" presetSubtype="8" fill="hold" grpId="0" nodeType="clickEffect">
                                  <p:stCondLst>
                                    <p:cond delay="0"/>
                                  </p:stCondLst>
                                  <p:childTnLst>
                                    <p:set>
                                      <p:cBhvr>
                                        <p:cTn id="118" dur="1" fill="hold">
                                          <p:stCondLst>
                                            <p:cond delay="0"/>
                                          </p:stCondLst>
                                        </p:cTn>
                                        <p:tgtEl>
                                          <p:spTgt spid="152609"/>
                                        </p:tgtEl>
                                        <p:attrNameLst>
                                          <p:attrName>style.visibility</p:attrName>
                                        </p:attrNameLst>
                                      </p:cBhvr>
                                      <p:to>
                                        <p:strVal val="visible"/>
                                      </p:to>
                                    </p:set>
                                    <p:anim calcmode="lin" valueType="num">
                                      <p:cBhvr>
                                        <p:cTn id="119" dur="500" fill="hold"/>
                                        <p:tgtEl>
                                          <p:spTgt spid="152609"/>
                                        </p:tgtEl>
                                        <p:attrNameLst>
                                          <p:attrName>ppt_x</p:attrName>
                                        </p:attrNameLst>
                                      </p:cBhvr>
                                      <p:tavLst>
                                        <p:tav tm="0">
                                          <p:val>
                                            <p:strVal val="#ppt_x-#ppt_w/2"/>
                                          </p:val>
                                        </p:tav>
                                        <p:tav tm="100000">
                                          <p:val>
                                            <p:strVal val="#ppt_x"/>
                                          </p:val>
                                        </p:tav>
                                      </p:tavLst>
                                    </p:anim>
                                    <p:anim calcmode="lin" valueType="num">
                                      <p:cBhvr>
                                        <p:cTn id="120" dur="500" fill="hold"/>
                                        <p:tgtEl>
                                          <p:spTgt spid="152609"/>
                                        </p:tgtEl>
                                        <p:attrNameLst>
                                          <p:attrName>ppt_y</p:attrName>
                                        </p:attrNameLst>
                                      </p:cBhvr>
                                      <p:tavLst>
                                        <p:tav tm="0">
                                          <p:val>
                                            <p:strVal val="#ppt_y"/>
                                          </p:val>
                                        </p:tav>
                                        <p:tav tm="100000">
                                          <p:val>
                                            <p:strVal val="#ppt_y"/>
                                          </p:val>
                                        </p:tav>
                                      </p:tavLst>
                                    </p:anim>
                                    <p:anim calcmode="lin" valueType="num">
                                      <p:cBhvr>
                                        <p:cTn id="121" dur="500" fill="hold"/>
                                        <p:tgtEl>
                                          <p:spTgt spid="152609"/>
                                        </p:tgtEl>
                                        <p:attrNameLst>
                                          <p:attrName>ppt_w</p:attrName>
                                        </p:attrNameLst>
                                      </p:cBhvr>
                                      <p:tavLst>
                                        <p:tav tm="0">
                                          <p:val>
                                            <p:fltVal val="0"/>
                                          </p:val>
                                        </p:tav>
                                        <p:tav tm="100000">
                                          <p:val>
                                            <p:strVal val="#ppt_w"/>
                                          </p:val>
                                        </p:tav>
                                      </p:tavLst>
                                    </p:anim>
                                    <p:anim calcmode="lin" valueType="num">
                                      <p:cBhvr>
                                        <p:cTn id="122" dur="500" fill="hold"/>
                                        <p:tgtEl>
                                          <p:spTgt spid="152609"/>
                                        </p:tgtEl>
                                        <p:attrNameLst>
                                          <p:attrName>ppt_h</p:attrName>
                                        </p:attrNameLst>
                                      </p:cBhvr>
                                      <p:tavLst>
                                        <p:tav tm="0">
                                          <p:val>
                                            <p:strVal val="#ppt_h"/>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152611"/>
                                        </p:tgtEl>
                                        <p:attrNameLst>
                                          <p:attrName>style.visibility</p:attrName>
                                        </p:attrNameLst>
                                      </p:cBhvr>
                                      <p:to>
                                        <p:strVal val="visible"/>
                                      </p:to>
                                    </p:set>
                                    <p:animEffect transition="in" filter="wipe(up)">
                                      <p:cBhvr>
                                        <p:cTn id="127" dur="500"/>
                                        <p:tgtEl>
                                          <p:spTgt spid="152611"/>
                                        </p:tgtEl>
                                      </p:cBhvr>
                                    </p:animEffect>
                                  </p:childTnLst>
                                </p:cTn>
                              </p:par>
                            </p:childTnLst>
                          </p:cTn>
                        </p:par>
                      </p:childTnLst>
                    </p:cTn>
                  </p:par>
                  <p:par>
                    <p:cTn id="128" fill="hold">
                      <p:stCondLst>
                        <p:cond delay="indefinite"/>
                      </p:stCondLst>
                      <p:childTnLst>
                        <p:par>
                          <p:cTn id="129" fill="hold">
                            <p:stCondLst>
                              <p:cond delay="0"/>
                            </p:stCondLst>
                            <p:childTnLst>
                              <p:par>
                                <p:cTn id="130" presetID="17" presetClass="entr" presetSubtype="4" fill="hold" grpId="0" nodeType="clickEffect">
                                  <p:stCondLst>
                                    <p:cond delay="0"/>
                                  </p:stCondLst>
                                  <p:childTnLst>
                                    <p:set>
                                      <p:cBhvr>
                                        <p:cTn id="131" dur="1" fill="hold">
                                          <p:stCondLst>
                                            <p:cond delay="0"/>
                                          </p:stCondLst>
                                        </p:cTn>
                                        <p:tgtEl>
                                          <p:spTgt spid="152612"/>
                                        </p:tgtEl>
                                        <p:attrNameLst>
                                          <p:attrName>style.visibility</p:attrName>
                                        </p:attrNameLst>
                                      </p:cBhvr>
                                      <p:to>
                                        <p:strVal val="visible"/>
                                      </p:to>
                                    </p:set>
                                    <p:anim calcmode="lin" valueType="num">
                                      <p:cBhvr>
                                        <p:cTn id="132" dur="500" fill="hold"/>
                                        <p:tgtEl>
                                          <p:spTgt spid="152612"/>
                                        </p:tgtEl>
                                        <p:attrNameLst>
                                          <p:attrName>ppt_x</p:attrName>
                                        </p:attrNameLst>
                                      </p:cBhvr>
                                      <p:tavLst>
                                        <p:tav tm="0">
                                          <p:val>
                                            <p:strVal val="#ppt_x"/>
                                          </p:val>
                                        </p:tav>
                                        <p:tav tm="100000">
                                          <p:val>
                                            <p:strVal val="#ppt_x"/>
                                          </p:val>
                                        </p:tav>
                                      </p:tavLst>
                                    </p:anim>
                                    <p:anim calcmode="lin" valueType="num">
                                      <p:cBhvr>
                                        <p:cTn id="133" dur="500" fill="hold"/>
                                        <p:tgtEl>
                                          <p:spTgt spid="152612"/>
                                        </p:tgtEl>
                                        <p:attrNameLst>
                                          <p:attrName>ppt_y</p:attrName>
                                        </p:attrNameLst>
                                      </p:cBhvr>
                                      <p:tavLst>
                                        <p:tav tm="0">
                                          <p:val>
                                            <p:strVal val="#ppt_y+#ppt_h/2"/>
                                          </p:val>
                                        </p:tav>
                                        <p:tav tm="100000">
                                          <p:val>
                                            <p:strVal val="#ppt_y"/>
                                          </p:val>
                                        </p:tav>
                                      </p:tavLst>
                                    </p:anim>
                                    <p:anim calcmode="lin" valueType="num">
                                      <p:cBhvr>
                                        <p:cTn id="134" dur="500" fill="hold"/>
                                        <p:tgtEl>
                                          <p:spTgt spid="152612"/>
                                        </p:tgtEl>
                                        <p:attrNameLst>
                                          <p:attrName>ppt_w</p:attrName>
                                        </p:attrNameLst>
                                      </p:cBhvr>
                                      <p:tavLst>
                                        <p:tav tm="0">
                                          <p:val>
                                            <p:strVal val="#ppt_w"/>
                                          </p:val>
                                        </p:tav>
                                        <p:tav tm="100000">
                                          <p:val>
                                            <p:strVal val="#ppt_w"/>
                                          </p:val>
                                        </p:tav>
                                      </p:tavLst>
                                    </p:anim>
                                    <p:anim calcmode="lin" valueType="num">
                                      <p:cBhvr>
                                        <p:cTn id="135" dur="500" fill="hold"/>
                                        <p:tgtEl>
                                          <p:spTgt spid="152612"/>
                                        </p:tgtEl>
                                        <p:attrNameLst>
                                          <p:attrName>ppt_h</p:attrName>
                                        </p:attrNameLst>
                                      </p:cBhvr>
                                      <p:tavLst>
                                        <p:tav tm="0">
                                          <p:val>
                                            <p:fltVal val="0"/>
                                          </p:val>
                                        </p:tav>
                                        <p:tav tm="100000">
                                          <p:val>
                                            <p:strVal val="#ppt_h"/>
                                          </p:val>
                                        </p:tav>
                                      </p:tavLst>
                                    </p:anim>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52613"/>
                                        </p:tgtEl>
                                        <p:attrNameLst>
                                          <p:attrName>style.visibility</p:attrName>
                                        </p:attrNameLst>
                                      </p:cBhvr>
                                      <p:to>
                                        <p:strVal val="visible"/>
                                      </p:to>
                                    </p:set>
                                    <p:animEffect transition="in" filter="wipe(left)">
                                      <p:cBhvr>
                                        <p:cTn id="140" dur="500"/>
                                        <p:tgtEl>
                                          <p:spTgt spid="152613"/>
                                        </p:tgtEl>
                                      </p:cBhvr>
                                    </p:animEffect>
                                  </p:childTnLst>
                                </p:cTn>
                              </p:par>
                            </p:childTnLst>
                          </p:cTn>
                        </p:par>
                      </p:childTnLst>
                    </p:cTn>
                  </p:par>
                  <p:par>
                    <p:cTn id="141" fill="hold">
                      <p:stCondLst>
                        <p:cond delay="indefinite"/>
                      </p:stCondLst>
                      <p:childTnLst>
                        <p:par>
                          <p:cTn id="142" fill="hold">
                            <p:stCondLst>
                              <p:cond delay="0"/>
                            </p:stCondLst>
                            <p:childTnLst>
                              <p:par>
                                <p:cTn id="143" presetID="17" presetClass="entr" presetSubtype="2" fill="hold" grpId="0" nodeType="clickEffect">
                                  <p:stCondLst>
                                    <p:cond delay="0"/>
                                  </p:stCondLst>
                                  <p:childTnLst>
                                    <p:set>
                                      <p:cBhvr>
                                        <p:cTn id="144" dur="1" fill="hold">
                                          <p:stCondLst>
                                            <p:cond delay="0"/>
                                          </p:stCondLst>
                                        </p:cTn>
                                        <p:tgtEl>
                                          <p:spTgt spid="152614"/>
                                        </p:tgtEl>
                                        <p:attrNameLst>
                                          <p:attrName>style.visibility</p:attrName>
                                        </p:attrNameLst>
                                      </p:cBhvr>
                                      <p:to>
                                        <p:strVal val="visible"/>
                                      </p:to>
                                    </p:set>
                                    <p:anim calcmode="lin" valueType="num">
                                      <p:cBhvr>
                                        <p:cTn id="145" dur="500" fill="hold"/>
                                        <p:tgtEl>
                                          <p:spTgt spid="152614"/>
                                        </p:tgtEl>
                                        <p:attrNameLst>
                                          <p:attrName>ppt_x</p:attrName>
                                        </p:attrNameLst>
                                      </p:cBhvr>
                                      <p:tavLst>
                                        <p:tav tm="0">
                                          <p:val>
                                            <p:strVal val="#ppt_x+#ppt_w/2"/>
                                          </p:val>
                                        </p:tav>
                                        <p:tav tm="100000">
                                          <p:val>
                                            <p:strVal val="#ppt_x"/>
                                          </p:val>
                                        </p:tav>
                                      </p:tavLst>
                                    </p:anim>
                                    <p:anim calcmode="lin" valueType="num">
                                      <p:cBhvr>
                                        <p:cTn id="146" dur="500" fill="hold"/>
                                        <p:tgtEl>
                                          <p:spTgt spid="152614"/>
                                        </p:tgtEl>
                                        <p:attrNameLst>
                                          <p:attrName>ppt_y</p:attrName>
                                        </p:attrNameLst>
                                      </p:cBhvr>
                                      <p:tavLst>
                                        <p:tav tm="0">
                                          <p:val>
                                            <p:strVal val="#ppt_y"/>
                                          </p:val>
                                        </p:tav>
                                        <p:tav tm="100000">
                                          <p:val>
                                            <p:strVal val="#ppt_y"/>
                                          </p:val>
                                        </p:tav>
                                      </p:tavLst>
                                    </p:anim>
                                    <p:anim calcmode="lin" valueType="num">
                                      <p:cBhvr>
                                        <p:cTn id="147" dur="500" fill="hold"/>
                                        <p:tgtEl>
                                          <p:spTgt spid="152614"/>
                                        </p:tgtEl>
                                        <p:attrNameLst>
                                          <p:attrName>ppt_w</p:attrName>
                                        </p:attrNameLst>
                                      </p:cBhvr>
                                      <p:tavLst>
                                        <p:tav tm="0">
                                          <p:val>
                                            <p:fltVal val="0"/>
                                          </p:val>
                                        </p:tav>
                                        <p:tav tm="100000">
                                          <p:val>
                                            <p:strVal val="#ppt_w"/>
                                          </p:val>
                                        </p:tav>
                                      </p:tavLst>
                                    </p:anim>
                                    <p:anim calcmode="lin" valueType="num">
                                      <p:cBhvr>
                                        <p:cTn id="148" dur="500" fill="hold"/>
                                        <p:tgtEl>
                                          <p:spTgt spid="152614"/>
                                        </p:tgtEl>
                                        <p:attrNameLst>
                                          <p:attrName>ppt_h</p:attrName>
                                        </p:attrNameLst>
                                      </p:cBhvr>
                                      <p:tavLst>
                                        <p:tav tm="0">
                                          <p:val>
                                            <p:strVal val="#ppt_h"/>
                                          </p:val>
                                        </p:tav>
                                        <p:tav tm="100000">
                                          <p:val>
                                            <p:strVal val="#ppt_h"/>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1" fill="hold" grpId="0" nodeType="clickEffect">
                                  <p:stCondLst>
                                    <p:cond delay="0"/>
                                  </p:stCondLst>
                                  <p:childTnLst>
                                    <p:set>
                                      <p:cBhvr>
                                        <p:cTn id="152" dur="1" fill="hold">
                                          <p:stCondLst>
                                            <p:cond delay="0"/>
                                          </p:stCondLst>
                                        </p:cTn>
                                        <p:tgtEl>
                                          <p:spTgt spid="152615"/>
                                        </p:tgtEl>
                                        <p:attrNameLst>
                                          <p:attrName>style.visibility</p:attrName>
                                        </p:attrNameLst>
                                      </p:cBhvr>
                                      <p:to>
                                        <p:strVal val="visible"/>
                                      </p:to>
                                    </p:set>
                                    <p:animEffect transition="in" filter="wipe(up)">
                                      <p:cBhvr>
                                        <p:cTn id="153" dur="500"/>
                                        <p:tgtEl>
                                          <p:spTgt spid="152615"/>
                                        </p:tgtEl>
                                      </p:cBhvr>
                                    </p:animEffect>
                                  </p:childTnLst>
                                </p:cTn>
                              </p:par>
                            </p:childTnLst>
                          </p:cTn>
                        </p:par>
                      </p:childTnLst>
                    </p:cTn>
                  </p:par>
                  <p:par>
                    <p:cTn id="154" fill="hold">
                      <p:stCondLst>
                        <p:cond delay="indefinite"/>
                      </p:stCondLst>
                      <p:childTnLst>
                        <p:par>
                          <p:cTn id="155" fill="hold">
                            <p:stCondLst>
                              <p:cond delay="0"/>
                            </p:stCondLst>
                            <p:childTnLst>
                              <p:par>
                                <p:cTn id="156" presetID="17" presetClass="entr" presetSubtype="2" fill="hold" grpId="0" nodeType="clickEffect">
                                  <p:stCondLst>
                                    <p:cond delay="0"/>
                                  </p:stCondLst>
                                  <p:childTnLst>
                                    <p:set>
                                      <p:cBhvr>
                                        <p:cTn id="157" dur="1" fill="hold">
                                          <p:stCondLst>
                                            <p:cond delay="0"/>
                                          </p:stCondLst>
                                        </p:cTn>
                                        <p:tgtEl>
                                          <p:spTgt spid="152616"/>
                                        </p:tgtEl>
                                        <p:attrNameLst>
                                          <p:attrName>style.visibility</p:attrName>
                                        </p:attrNameLst>
                                      </p:cBhvr>
                                      <p:to>
                                        <p:strVal val="visible"/>
                                      </p:to>
                                    </p:set>
                                    <p:anim calcmode="lin" valueType="num">
                                      <p:cBhvr>
                                        <p:cTn id="158" dur="500" fill="hold"/>
                                        <p:tgtEl>
                                          <p:spTgt spid="152616"/>
                                        </p:tgtEl>
                                        <p:attrNameLst>
                                          <p:attrName>ppt_x</p:attrName>
                                        </p:attrNameLst>
                                      </p:cBhvr>
                                      <p:tavLst>
                                        <p:tav tm="0">
                                          <p:val>
                                            <p:strVal val="#ppt_x+#ppt_w/2"/>
                                          </p:val>
                                        </p:tav>
                                        <p:tav tm="100000">
                                          <p:val>
                                            <p:strVal val="#ppt_x"/>
                                          </p:val>
                                        </p:tav>
                                      </p:tavLst>
                                    </p:anim>
                                    <p:anim calcmode="lin" valueType="num">
                                      <p:cBhvr>
                                        <p:cTn id="159" dur="500" fill="hold"/>
                                        <p:tgtEl>
                                          <p:spTgt spid="152616"/>
                                        </p:tgtEl>
                                        <p:attrNameLst>
                                          <p:attrName>ppt_y</p:attrName>
                                        </p:attrNameLst>
                                      </p:cBhvr>
                                      <p:tavLst>
                                        <p:tav tm="0">
                                          <p:val>
                                            <p:strVal val="#ppt_y"/>
                                          </p:val>
                                        </p:tav>
                                        <p:tav tm="100000">
                                          <p:val>
                                            <p:strVal val="#ppt_y"/>
                                          </p:val>
                                        </p:tav>
                                      </p:tavLst>
                                    </p:anim>
                                    <p:anim calcmode="lin" valueType="num">
                                      <p:cBhvr>
                                        <p:cTn id="160" dur="500" fill="hold"/>
                                        <p:tgtEl>
                                          <p:spTgt spid="152616"/>
                                        </p:tgtEl>
                                        <p:attrNameLst>
                                          <p:attrName>ppt_w</p:attrName>
                                        </p:attrNameLst>
                                      </p:cBhvr>
                                      <p:tavLst>
                                        <p:tav tm="0">
                                          <p:val>
                                            <p:fltVal val="0"/>
                                          </p:val>
                                        </p:tav>
                                        <p:tav tm="100000">
                                          <p:val>
                                            <p:strVal val="#ppt_w"/>
                                          </p:val>
                                        </p:tav>
                                      </p:tavLst>
                                    </p:anim>
                                    <p:anim calcmode="lin" valueType="num">
                                      <p:cBhvr>
                                        <p:cTn id="161" dur="500" fill="hold"/>
                                        <p:tgtEl>
                                          <p:spTgt spid="152616"/>
                                        </p:tgtEl>
                                        <p:attrNameLst>
                                          <p:attrName>ppt_h</p:attrName>
                                        </p:attrNameLst>
                                      </p:cBhvr>
                                      <p:tavLst>
                                        <p:tav tm="0">
                                          <p:val>
                                            <p:strVal val="#ppt_h"/>
                                          </p:val>
                                        </p:tav>
                                        <p:tav tm="100000">
                                          <p:val>
                                            <p:strVal val="#ppt_h"/>
                                          </p:val>
                                        </p:tav>
                                      </p:tavLst>
                                    </p:anim>
                                  </p:childTnLst>
                                </p:cTn>
                              </p:par>
                            </p:childTnLst>
                          </p:cTn>
                        </p:par>
                      </p:childTnLst>
                    </p:cTn>
                  </p:par>
                  <p:par>
                    <p:cTn id="162" fill="hold">
                      <p:stCondLst>
                        <p:cond delay="indefinite"/>
                      </p:stCondLst>
                      <p:childTnLst>
                        <p:par>
                          <p:cTn id="163" fill="hold">
                            <p:stCondLst>
                              <p:cond delay="0"/>
                            </p:stCondLst>
                            <p:childTnLst>
                              <p:par>
                                <p:cTn id="164" presetID="22" presetClass="entr" presetSubtype="1" fill="hold" grpId="0" nodeType="clickEffect">
                                  <p:stCondLst>
                                    <p:cond delay="0"/>
                                  </p:stCondLst>
                                  <p:childTnLst>
                                    <p:set>
                                      <p:cBhvr>
                                        <p:cTn id="165" dur="1" fill="hold">
                                          <p:stCondLst>
                                            <p:cond delay="0"/>
                                          </p:stCondLst>
                                        </p:cTn>
                                        <p:tgtEl>
                                          <p:spTgt spid="152617"/>
                                        </p:tgtEl>
                                        <p:attrNameLst>
                                          <p:attrName>style.visibility</p:attrName>
                                        </p:attrNameLst>
                                      </p:cBhvr>
                                      <p:to>
                                        <p:strVal val="visible"/>
                                      </p:to>
                                    </p:set>
                                    <p:animEffect transition="in" filter="wipe(up)">
                                      <p:cBhvr>
                                        <p:cTn id="166" dur="500"/>
                                        <p:tgtEl>
                                          <p:spTgt spid="152617"/>
                                        </p:tgtEl>
                                      </p:cBhvr>
                                    </p:animEffect>
                                  </p:childTnLst>
                                </p:cTn>
                              </p:par>
                            </p:childTnLst>
                          </p:cTn>
                        </p:par>
                      </p:childTnLst>
                    </p:cTn>
                  </p:par>
                  <p:par>
                    <p:cTn id="167" fill="hold">
                      <p:stCondLst>
                        <p:cond delay="indefinite"/>
                      </p:stCondLst>
                      <p:childTnLst>
                        <p:par>
                          <p:cTn id="168" fill="hold">
                            <p:stCondLst>
                              <p:cond delay="0"/>
                            </p:stCondLst>
                            <p:childTnLst>
                              <p:par>
                                <p:cTn id="169" presetID="17" presetClass="entr" presetSubtype="1" fill="hold" grpId="0" nodeType="clickEffect">
                                  <p:stCondLst>
                                    <p:cond delay="0"/>
                                  </p:stCondLst>
                                  <p:childTnLst>
                                    <p:set>
                                      <p:cBhvr>
                                        <p:cTn id="170" dur="1" fill="hold">
                                          <p:stCondLst>
                                            <p:cond delay="0"/>
                                          </p:stCondLst>
                                        </p:cTn>
                                        <p:tgtEl>
                                          <p:spTgt spid="152618"/>
                                        </p:tgtEl>
                                        <p:attrNameLst>
                                          <p:attrName>style.visibility</p:attrName>
                                        </p:attrNameLst>
                                      </p:cBhvr>
                                      <p:to>
                                        <p:strVal val="visible"/>
                                      </p:to>
                                    </p:set>
                                    <p:anim calcmode="lin" valueType="num">
                                      <p:cBhvr>
                                        <p:cTn id="171" dur="500" fill="hold"/>
                                        <p:tgtEl>
                                          <p:spTgt spid="152618"/>
                                        </p:tgtEl>
                                        <p:attrNameLst>
                                          <p:attrName>ppt_x</p:attrName>
                                        </p:attrNameLst>
                                      </p:cBhvr>
                                      <p:tavLst>
                                        <p:tav tm="0">
                                          <p:val>
                                            <p:strVal val="#ppt_x"/>
                                          </p:val>
                                        </p:tav>
                                        <p:tav tm="100000">
                                          <p:val>
                                            <p:strVal val="#ppt_x"/>
                                          </p:val>
                                        </p:tav>
                                      </p:tavLst>
                                    </p:anim>
                                    <p:anim calcmode="lin" valueType="num">
                                      <p:cBhvr>
                                        <p:cTn id="172" dur="500" fill="hold"/>
                                        <p:tgtEl>
                                          <p:spTgt spid="152618"/>
                                        </p:tgtEl>
                                        <p:attrNameLst>
                                          <p:attrName>ppt_y</p:attrName>
                                        </p:attrNameLst>
                                      </p:cBhvr>
                                      <p:tavLst>
                                        <p:tav tm="0">
                                          <p:val>
                                            <p:strVal val="#ppt_y-#ppt_h/2"/>
                                          </p:val>
                                        </p:tav>
                                        <p:tav tm="100000">
                                          <p:val>
                                            <p:strVal val="#ppt_y"/>
                                          </p:val>
                                        </p:tav>
                                      </p:tavLst>
                                    </p:anim>
                                    <p:anim calcmode="lin" valueType="num">
                                      <p:cBhvr>
                                        <p:cTn id="173" dur="500" fill="hold"/>
                                        <p:tgtEl>
                                          <p:spTgt spid="152618"/>
                                        </p:tgtEl>
                                        <p:attrNameLst>
                                          <p:attrName>ppt_w</p:attrName>
                                        </p:attrNameLst>
                                      </p:cBhvr>
                                      <p:tavLst>
                                        <p:tav tm="0">
                                          <p:val>
                                            <p:strVal val="#ppt_w"/>
                                          </p:val>
                                        </p:tav>
                                        <p:tav tm="100000">
                                          <p:val>
                                            <p:strVal val="#ppt_w"/>
                                          </p:val>
                                        </p:tav>
                                      </p:tavLst>
                                    </p:anim>
                                    <p:anim calcmode="lin" valueType="num">
                                      <p:cBhvr>
                                        <p:cTn id="174" dur="500" fill="hold"/>
                                        <p:tgtEl>
                                          <p:spTgt spid="152618"/>
                                        </p:tgtEl>
                                        <p:attrNameLst>
                                          <p:attrName>ppt_h</p:attrName>
                                        </p:attrNameLst>
                                      </p:cBhvr>
                                      <p:tavLst>
                                        <p:tav tm="0">
                                          <p:val>
                                            <p:fltVal val="0"/>
                                          </p:val>
                                        </p:tav>
                                        <p:tav tm="100000">
                                          <p:val>
                                            <p:strVal val="#ppt_h"/>
                                          </p:val>
                                        </p:tav>
                                      </p:tavLst>
                                    </p:anim>
                                  </p:childTnLst>
                                </p:cTn>
                              </p:par>
                            </p:childTnLst>
                          </p:cTn>
                        </p:par>
                      </p:childTnLst>
                    </p:cTn>
                  </p:par>
                  <p:par>
                    <p:cTn id="175" fill="hold">
                      <p:stCondLst>
                        <p:cond delay="indefinite"/>
                      </p:stCondLst>
                      <p:childTnLst>
                        <p:par>
                          <p:cTn id="176" fill="hold">
                            <p:stCondLst>
                              <p:cond delay="0"/>
                            </p:stCondLst>
                            <p:childTnLst>
                              <p:par>
                                <p:cTn id="177" presetID="22" presetClass="entr" presetSubtype="1" fill="hold" grpId="0" nodeType="clickEffect">
                                  <p:stCondLst>
                                    <p:cond delay="0"/>
                                  </p:stCondLst>
                                  <p:childTnLst>
                                    <p:set>
                                      <p:cBhvr>
                                        <p:cTn id="178" dur="1" fill="hold">
                                          <p:stCondLst>
                                            <p:cond delay="0"/>
                                          </p:stCondLst>
                                        </p:cTn>
                                        <p:tgtEl>
                                          <p:spTgt spid="152619"/>
                                        </p:tgtEl>
                                        <p:attrNameLst>
                                          <p:attrName>style.visibility</p:attrName>
                                        </p:attrNameLst>
                                      </p:cBhvr>
                                      <p:to>
                                        <p:strVal val="visible"/>
                                      </p:to>
                                    </p:set>
                                    <p:animEffect transition="in" filter="wipe(up)">
                                      <p:cBhvr>
                                        <p:cTn id="179" dur="500"/>
                                        <p:tgtEl>
                                          <p:spTgt spid="152619"/>
                                        </p:tgtEl>
                                      </p:cBhvr>
                                    </p:animEffect>
                                  </p:childTnLst>
                                </p:cTn>
                              </p:par>
                            </p:childTnLst>
                          </p:cTn>
                        </p:par>
                      </p:childTnLst>
                    </p:cTn>
                  </p:par>
                  <p:par>
                    <p:cTn id="180" fill="hold">
                      <p:stCondLst>
                        <p:cond delay="indefinite"/>
                      </p:stCondLst>
                      <p:childTnLst>
                        <p:par>
                          <p:cTn id="181" fill="hold">
                            <p:stCondLst>
                              <p:cond delay="0"/>
                            </p:stCondLst>
                            <p:childTnLst>
                              <p:par>
                                <p:cTn id="182" presetID="2" presetClass="entr" presetSubtype="6" fill="hold" grpId="0" nodeType="clickEffect">
                                  <p:stCondLst>
                                    <p:cond delay="0"/>
                                  </p:stCondLst>
                                  <p:childTnLst>
                                    <p:set>
                                      <p:cBhvr>
                                        <p:cTn id="183" dur="1" fill="hold">
                                          <p:stCondLst>
                                            <p:cond delay="0"/>
                                          </p:stCondLst>
                                        </p:cTn>
                                        <p:tgtEl>
                                          <p:spTgt spid="152627"/>
                                        </p:tgtEl>
                                        <p:attrNameLst>
                                          <p:attrName>style.visibility</p:attrName>
                                        </p:attrNameLst>
                                      </p:cBhvr>
                                      <p:to>
                                        <p:strVal val="visible"/>
                                      </p:to>
                                    </p:set>
                                    <p:anim calcmode="lin" valueType="num">
                                      <p:cBhvr additive="base">
                                        <p:cTn id="184" dur="500" fill="hold"/>
                                        <p:tgtEl>
                                          <p:spTgt spid="152627"/>
                                        </p:tgtEl>
                                        <p:attrNameLst>
                                          <p:attrName>ppt_x</p:attrName>
                                        </p:attrNameLst>
                                      </p:cBhvr>
                                      <p:tavLst>
                                        <p:tav tm="0">
                                          <p:val>
                                            <p:strVal val="1+#ppt_w/2"/>
                                          </p:val>
                                        </p:tav>
                                        <p:tav tm="100000">
                                          <p:val>
                                            <p:strVal val="#ppt_x"/>
                                          </p:val>
                                        </p:tav>
                                      </p:tavLst>
                                    </p:anim>
                                    <p:anim calcmode="lin" valueType="num">
                                      <p:cBhvr additive="base">
                                        <p:cTn id="185" dur="500" fill="hold"/>
                                        <p:tgtEl>
                                          <p:spTgt spid="152627"/>
                                        </p:tgtEl>
                                        <p:attrNameLst>
                                          <p:attrName>ppt_y</p:attrName>
                                        </p:attrNameLst>
                                      </p:cBhvr>
                                      <p:tavLst>
                                        <p:tav tm="0">
                                          <p:val>
                                            <p:strVal val="1+#ppt_h/2"/>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8" presetID="4" presetClass="entr" presetSubtype="16" fill="hold" grpId="0" nodeType="clickEffect">
                                  <p:stCondLst>
                                    <p:cond delay="0"/>
                                  </p:stCondLst>
                                  <p:childTnLst>
                                    <p:set>
                                      <p:cBhvr>
                                        <p:cTn id="189" dur="1" fill="hold">
                                          <p:stCondLst>
                                            <p:cond delay="0"/>
                                          </p:stCondLst>
                                        </p:cTn>
                                        <p:tgtEl>
                                          <p:spTgt spid="152621"/>
                                        </p:tgtEl>
                                        <p:attrNameLst>
                                          <p:attrName>style.visibility</p:attrName>
                                        </p:attrNameLst>
                                      </p:cBhvr>
                                      <p:to>
                                        <p:strVal val="visible"/>
                                      </p:to>
                                    </p:set>
                                    <p:animEffect transition="in" filter="box(in)">
                                      <p:cBhvr>
                                        <p:cTn id="190" dur="500"/>
                                        <p:tgtEl>
                                          <p:spTgt spid="152621"/>
                                        </p:tgtEl>
                                      </p:cBhvr>
                                    </p:animEffect>
                                  </p:childTnLst>
                                </p:cTn>
                              </p:par>
                            </p:childTnLst>
                          </p:cTn>
                        </p:par>
                        <p:par>
                          <p:cTn id="191" fill="hold">
                            <p:stCondLst>
                              <p:cond delay="500"/>
                            </p:stCondLst>
                            <p:childTnLst>
                              <p:par>
                                <p:cTn id="192" presetID="4" presetClass="entr" presetSubtype="16" fill="hold" grpId="0" nodeType="afterEffect">
                                  <p:stCondLst>
                                    <p:cond delay="0"/>
                                  </p:stCondLst>
                                  <p:childTnLst>
                                    <p:set>
                                      <p:cBhvr>
                                        <p:cTn id="193" dur="1" fill="hold">
                                          <p:stCondLst>
                                            <p:cond delay="0"/>
                                          </p:stCondLst>
                                        </p:cTn>
                                        <p:tgtEl>
                                          <p:spTgt spid="152622"/>
                                        </p:tgtEl>
                                        <p:attrNameLst>
                                          <p:attrName>style.visibility</p:attrName>
                                        </p:attrNameLst>
                                      </p:cBhvr>
                                      <p:to>
                                        <p:strVal val="visible"/>
                                      </p:to>
                                    </p:set>
                                    <p:animEffect transition="in" filter="box(in)">
                                      <p:cBhvr>
                                        <p:cTn id="194" dur="500"/>
                                        <p:tgtEl>
                                          <p:spTgt spid="152622"/>
                                        </p:tgtEl>
                                      </p:cBhvr>
                                    </p:animEffect>
                                  </p:childTnLst>
                                </p:cTn>
                              </p:par>
                            </p:childTnLst>
                          </p:cTn>
                        </p:par>
                        <p:par>
                          <p:cTn id="195" fill="hold">
                            <p:stCondLst>
                              <p:cond delay="1000"/>
                            </p:stCondLst>
                            <p:childTnLst>
                              <p:par>
                                <p:cTn id="196" presetID="4" presetClass="entr" presetSubtype="16" fill="hold" grpId="0" nodeType="afterEffect">
                                  <p:stCondLst>
                                    <p:cond delay="0"/>
                                  </p:stCondLst>
                                  <p:childTnLst>
                                    <p:set>
                                      <p:cBhvr>
                                        <p:cTn id="197" dur="1" fill="hold">
                                          <p:stCondLst>
                                            <p:cond delay="0"/>
                                          </p:stCondLst>
                                        </p:cTn>
                                        <p:tgtEl>
                                          <p:spTgt spid="152624"/>
                                        </p:tgtEl>
                                        <p:attrNameLst>
                                          <p:attrName>style.visibility</p:attrName>
                                        </p:attrNameLst>
                                      </p:cBhvr>
                                      <p:to>
                                        <p:strVal val="visible"/>
                                      </p:to>
                                    </p:set>
                                    <p:animEffect transition="in" filter="box(in)">
                                      <p:cBhvr>
                                        <p:cTn id="198" dur="500"/>
                                        <p:tgtEl>
                                          <p:spTgt spid="152624"/>
                                        </p:tgtEl>
                                      </p:cBhvr>
                                    </p:animEffect>
                                  </p:childTnLst>
                                </p:cTn>
                              </p:par>
                            </p:childTnLst>
                          </p:cTn>
                        </p:par>
                        <p:par>
                          <p:cTn id="199" fill="hold">
                            <p:stCondLst>
                              <p:cond delay="1500"/>
                            </p:stCondLst>
                            <p:childTnLst>
                              <p:par>
                                <p:cTn id="200" presetID="4" presetClass="entr" presetSubtype="16" fill="hold" grpId="0" nodeType="afterEffect">
                                  <p:stCondLst>
                                    <p:cond delay="0"/>
                                  </p:stCondLst>
                                  <p:childTnLst>
                                    <p:set>
                                      <p:cBhvr>
                                        <p:cTn id="201" dur="1" fill="hold">
                                          <p:stCondLst>
                                            <p:cond delay="0"/>
                                          </p:stCondLst>
                                        </p:cTn>
                                        <p:tgtEl>
                                          <p:spTgt spid="152623"/>
                                        </p:tgtEl>
                                        <p:attrNameLst>
                                          <p:attrName>style.visibility</p:attrName>
                                        </p:attrNameLst>
                                      </p:cBhvr>
                                      <p:to>
                                        <p:strVal val="visible"/>
                                      </p:to>
                                    </p:set>
                                    <p:animEffect transition="in" filter="box(in)">
                                      <p:cBhvr>
                                        <p:cTn id="202" dur="500"/>
                                        <p:tgtEl>
                                          <p:spTgt spid="152623"/>
                                        </p:tgtEl>
                                      </p:cBhvr>
                                    </p:animEffect>
                                  </p:childTnLst>
                                </p:cTn>
                              </p:par>
                            </p:childTnLst>
                          </p:cTn>
                        </p:par>
                        <p:par>
                          <p:cTn id="203" fill="hold">
                            <p:stCondLst>
                              <p:cond delay="2000"/>
                            </p:stCondLst>
                            <p:childTnLst>
                              <p:par>
                                <p:cTn id="204" presetID="4" presetClass="entr" presetSubtype="16" fill="hold" grpId="0" nodeType="afterEffect">
                                  <p:stCondLst>
                                    <p:cond delay="0"/>
                                  </p:stCondLst>
                                  <p:childTnLst>
                                    <p:set>
                                      <p:cBhvr>
                                        <p:cTn id="205" dur="1" fill="hold">
                                          <p:stCondLst>
                                            <p:cond delay="0"/>
                                          </p:stCondLst>
                                        </p:cTn>
                                        <p:tgtEl>
                                          <p:spTgt spid="152625"/>
                                        </p:tgtEl>
                                        <p:attrNameLst>
                                          <p:attrName>style.visibility</p:attrName>
                                        </p:attrNameLst>
                                      </p:cBhvr>
                                      <p:to>
                                        <p:strVal val="visible"/>
                                      </p:to>
                                    </p:set>
                                    <p:animEffect transition="in" filter="box(in)">
                                      <p:cBhvr>
                                        <p:cTn id="206" dur="500"/>
                                        <p:tgtEl>
                                          <p:spTgt spid="152625"/>
                                        </p:tgtEl>
                                      </p:cBhvr>
                                    </p:animEffect>
                                  </p:childTnLst>
                                </p:cTn>
                              </p:par>
                            </p:childTnLst>
                          </p:cTn>
                        </p:par>
                        <p:par>
                          <p:cTn id="207" fill="hold">
                            <p:stCondLst>
                              <p:cond delay="2500"/>
                            </p:stCondLst>
                            <p:childTnLst>
                              <p:par>
                                <p:cTn id="208" presetID="4" presetClass="entr" presetSubtype="16" fill="hold" grpId="0" nodeType="afterEffect">
                                  <p:stCondLst>
                                    <p:cond delay="0"/>
                                  </p:stCondLst>
                                  <p:childTnLst>
                                    <p:set>
                                      <p:cBhvr>
                                        <p:cTn id="209" dur="1" fill="hold">
                                          <p:stCondLst>
                                            <p:cond delay="0"/>
                                          </p:stCondLst>
                                        </p:cTn>
                                        <p:tgtEl>
                                          <p:spTgt spid="152626"/>
                                        </p:tgtEl>
                                        <p:attrNameLst>
                                          <p:attrName>style.visibility</p:attrName>
                                        </p:attrNameLst>
                                      </p:cBhvr>
                                      <p:to>
                                        <p:strVal val="visible"/>
                                      </p:to>
                                    </p:set>
                                    <p:animEffect transition="in" filter="box(in)">
                                      <p:cBhvr>
                                        <p:cTn id="210" dur="500"/>
                                        <p:tgtEl>
                                          <p:spTgt spid="152626"/>
                                        </p:tgtEl>
                                      </p:cBhvr>
                                    </p:animEffect>
                                  </p:childTnLst>
                                </p:cTn>
                              </p:par>
                            </p:childTnLst>
                          </p:cTn>
                        </p:par>
                        <p:par>
                          <p:cTn id="211" fill="hold">
                            <p:stCondLst>
                              <p:cond delay="3000"/>
                            </p:stCondLst>
                            <p:childTnLst>
                              <p:par>
                                <p:cTn id="212" presetID="2" presetClass="entr" presetSubtype="4" fill="hold" grpId="0" nodeType="afterEffect">
                                  <p:stCondLst>
                                    <p:cond delay="0"/>
                                  </p:stCondLst>
                                  <p:childTnLst>
                                    <p:set>
                                      <p:cBhvr>
                                        <p:cTn id="213" dur="1" fill="hold">
                                          <p:stCondLst>
                                            <p:cond delay="0"/>
                                          </p:stCondLst>
                                        </p:cTn>
                                        <p:tgtEl>
                                          <p:spTgt spid="152628"/>
                                        </p:tgtEl>
                                        <p:attrNameLst>
                                          <p:attrName>style.visibility</p:attrName>
                                        </p:attrNameLst>
                                      </p:cBhvr>
                                      <p:to>
                                        <p:strVal val="visible"/>
                                      </p:to>
                                    </p:set>
                                    <p:anim calcmode="lin" valueType="num">
                                      <p:cBhvr additive="base">
                                        <p:cTn id="214" dur="500" fill="hold"/>
                                        <p:tgtEl>
                                          <p:spTgt spid="152628"/>
                                        </p:tgtEl>
                                        <p:attrNameLst>
                                          <p:attrName>ppt_x</p:attrName>
                                        </p:attrNameLst>
                                      </p:cBhvr>
                                      <p:tavLst>
                                        <p:tav tm="0">
                                          <p:val>
                                            <p:strVal val="#ppt_x"/>
                                          </p:val>
                                        </p:tav>
                                        <p:tav tm="100000">
                                          <p:val>
                                            <p:strVal val="#ppt_x"/>
                                          </p:val>
                                        </p:tav>
                                      </p:tavLst>
                                    </p:anim>
                                    <p:anim calcmode="lin" valueType="num">
                                      <p:cBhvr additive="base">
                                        <p:cTn id="215" dur="500" fill="hold"/>
                                        <p:tgtEl>
                                          <p:spTgt spid="152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animBg="1" autoUpdateAnimBg="0"/>
      <p:bldP spid="152579" grpId="0" animBg="1" autoUpdateAnimBg="0"/>
      <p:bldP spid="152580" grpId="0" animBg="1" autoUpdateAnimBg="0"/>
      <p:bldP spid="152581" grpId="0" animBg="1" autoUpdateAnimBg="0"/>
      <p:bldP spid="152582" grpId="0" animBg="1" autoUpdateAnimBg="0"/>
      <p:bldP spid="152583" grpId="0" animBg="1" autoUpdateAnimBg="0"/>
      <p:bldP spid="152584" grpId="0" animBg="1" autoUpdateAnimBg="0"/>
      <p:bldP spid="152585" grpId="0" animBg="1"/>
      <p:bldP spid="152586" grpId="0" animBg="1"/>
      <p:bldP spid="152587" grpId="0" animBg="1"/>
      <p:bldP spid="152588" grpId="0" animBg="1"/>
      <p:bldP spid="152589" grpId="0" animBg="1"/>
      <p:bldP spid="152590" grpId="0" animBg="1"/>
      <p:bldP spid="152591" grpId="0" animBg="1"/>
      <p:bldP spid="152592" grpId="0" animBg="1"/>
      <p:bldP spid="152593" grpId="0" animBg="1"/>
      <p:bldP spid="152594" grpId="0" animBg="1"/>
      <p:bldP spid="152595" grpId="0" animBg="1"/>
      <p:bldP spid="152596" grpId="0" bldLvl="0" animBg="1" autoUpdateAnimBg="0"/>
      <p:bldP spid="152597" grpId="0" autoUpdateAnimBg="0"/>
      <p:bldP spid="152598" grpId="0" autoUpdateAnimBg="0"/>
      <p:bldP spid="152599" grpId="0" autoUpdateAnimBg="0"/>
      <p:bldP spid="152600" grpId="0" autoUpdateAnimBg="0"/>
      <p:bldP spid="152601" grpId="0" autoUpdateAnimBg="0"/>
      <p:bldP spid="152602" grpId="0" autoUpdateAnimBg="0"/>
      <p:bldP spid="152603" grpId="0" autoUpdateAnimBg="0"/>
      <p:bldP spid="152604" grpId="0" autoUpdateAnimBg="0"/>
      <p:bldP spid="152605" grpId="0" autoUpdateAnimBg="0"/>
      <p:bldP spid="152606" grpId="0" animBg="1" autoUpdateAnimBg="0"/>
      <p:bldP spid="152607" grpId="0" animBg="1"/>
      <p:bldP spid="152608" grpId="0" animBg="1" autoUpdateAnimBg="0"/>
      <p:bldP spid="152609" grpId="0" animBg="1"/>
      <p:bldP spid="152610" grpId="0" autoUpdateAnimBg="0"/>
      <p:bldP spid="152611" grpId="0" animBg="1" autoUpdateAnimBg="0"/>
      <p:bldP spid="152612" grpId="0" animBg="1"/>
      <p:bldP spid="152613" grpId="0" animBg="1" autoUpdateAnimBg="0"/>
      <p:bldP spid="152614" grpId="0" animBg="1"/>
      <p:bldP spid="152615" grpId="0" animBg="1" autoUpdateAnimBg="0"/>
      <p:bldP spid="152616" grpId="0" animBg="1"/>
      <p:bldP spid="152617" grpId="0" animBg="1" autoUpdateAnimBg="0"/>
      <p:bldP spid="152618" grpId="0" animBg="1"/>
      <p:bldP spid="152619" grpId="0" animBg="1" autoUpdateAnimBg="0"/>
      <p:bldP spid="152620" grpId="0" autoUpdateAnimBg="0"/>
      <p:bldP spid="152621" grpId="0" autoUpdateAnimBg="0"/>
      <p:bldP spid="152622" grpId="0" autoUpdateAnimBg="0"/>
      <p:bldP spid="152623" grpId="0" autoUpdateAnimBg="0"/>
      <p:bldP spid="152624" grpId="0" autoUpdateAnimBg="0"/>
      <p:bldP spid="152625" grpId="0" autoUpdateAnimBg="0"/>
      <p:bldP spid="152626" grpId="0" autoUpdateAnimBg="0"/>
      <p:bldP spid="152627" grpId="0" bldLvl="0" animBg="1" autoUpdateAnimBg="0"/>
      <p:bldP spid="152628"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457200" y="1443038"/>
            <a:ext cx="8382000" cy="239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a:solidFill>
                  <a:srgbClr val="000082"/>
                </a:solidFill>
                <a:latin typeface="Arial" panose="020B0604020202020204" pitchFamily="34" charset="0"/>
                <a:ea typeface="楷体_GB2312" pitchFamily="49" charset="-122"/>
                <a:cs typeface="Arial" panose="020B0604020202020204" pitchFamily="34" charset="0"/>
              </a:rPr>
              <a:t>During the construction of a spanning tree, the n vertices in the graph are divided into two sets: </a:t>
            </a:r>
            <a:r>
              <a:rPr lang="zh-CN" altLang="en-US" sz="2400">
                <a:solidFill>
                  <a:srgbClr val="800000"/>
                </a:solidFill>
                <a:latin typeface="Arial" panose="020B0604020202020204" pitchFamily="34" charset="0"/>
                <a:ea typeface="楷体_GB2312" pitchFamily="49" charset="-122"/>
                <a:cs typeface="Arial" panose="020B0604020202020204" pitchFamily="34" charset="0"/>
              </a:rPr>
              <a:t>U (vertices already in the spanning tree)</a:t>
            </a:r>
            <a:r>
              <a:rPr lang="zh-CN" altLang="en-US" sz="2400">
                <a:solidFill>
                  <a:srgbClr val="000082"/>
                </a:solidFill>
                <a:latin typeface="Arial" panose="020B0604020202020204" pitchFamily="34" charset="0"/>
                <a:ea typeface="楷体_GB2312" pitchFamily="49" charset="-122"/>
                <a:cs typeface="Arial" panose="020B0604020202020204" pitchFamily="34" charset="0"/>
              </a:rPr>
              <a:t> and </a:t>
            </a:r>
            <a:r>
              <a:rPr lang="zh-CN" altLang="en-US" sz="2400">
                <a:solidFill>
                  <a:srgbClr val="CC3300"/>
                </a:solidFill>
                <a:latin typeface="Arial" panose="020B0604020202020204" pitchFamily="34" charset="0"/>
                <a:ea typeface="楷体_GB2312" pitchFamily="49" charset="-122"/>
                <a:cs typeface="Arial" panose="020B0604020202020204" pitchFamily="34" charset="0"/>
              </a:rPr>
              <a:t>V-U (vertices not yet in the spanning tree)</a:t>
            </a:r>
            <a:r>
              <a:rPr lang="zh-CN" altLang="en-US" sz="2400">
                <a:solidFill>
                  <a:srgbClr val="000082"/>
                </a:solidFill>
                <a:latin typeface="Arial" panose="020B0604020202020204" pitchFamily="34" charset="0"/>
                <a:ea typeface="楷体_GB2312" pitchFamily="49" charset="-122"/>
                <a:cs typeface="Arial" panose="020B0604020202020204" pitchFamily="34" charset="0"/>
              </a:rPr>
              <a:t>. The task is to select the edge with the smallest weight among all edges connecting vertices in U and V-U.</a:t>
            </a:r>
            <a:endParaRPr lang="zh-CN" altLang="en-US" sz="2400">
              <a:solidFill>
                <a:srgbClr val="000082"/>
              </a:solidFill>
              <a:latin typeface="Arial" panose="020B0604020202020204" pitchFamily="34" charset="0"/>
              <a:cs typeface="Arial" panose="020B0604020202020204" pitchFamily="34" charset="0"/>
            </a:endParaRPr>
          </a:p>
        </p:txBody>
      </p:sp>
      <p:sp>
        <p:nvSpPr>
          <p:cNvPr id="153603" name="Rectangle 3"/>
          <p:cNvSpPr>
            <a:spLocks noChangeArrowheads="1"/>
          </p:cNvSpPr>
          <p:nvPr/>
        </p:nvSpPr>
        <p:spPr bwMode="auto">
          <a:xfrm>
            <a:off x="457200" y="536575"/>
            <a:ext cx="795274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zh-CN" altLang="en-US" sz="2400" b="1">
                <a:solidFill>
                  <a:srgbClr val="800000"/>
                </a:solidFill>
                <a:latin typeface="Arial" panose="020B0604020202020204" pitchFamily="34" charset="0"/>
                <a:ea typeface="楷体_GB2312" pitchFamily="49" charset="-122"/>
                <a:cs typeface="Arial" panose="020B0604020202020204" pitchFamily="34" charset="0"/>
              </a:rPr>
              <a:t>The added vertices should generally meet the following conditions:</a:t>
            </a:r>
            <a:endParaRPr lang="zh-CN" altLang="en-US" sz="24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153604" name="AutoShape 4"/>
          <p:cNvSpPr>
            <a:spLocks noChangeArrowheads="1"/>
          </p:cNvSpPr>
          <p:nvPr/>
        </p:nvSpPr>
        <p:spPr bwMode="auto">
          <a:xfrm>
            <a:off x="2514600" y="4419600"/>
            <a:ext cx="1371600" cy="1600200"/>
          </a:xfrm>
          <a:prstGeom prst="roundRect">
            <a:avLst>
              <a:gd name="adj" fmla="val 16667"/>
            </a:avLst>
          </a:prstGeom>
          <a:noFill/>
          <a:ln w="12700" cap="sq">
            <a:solidFill>
              <a:srgbClr val="3333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05" name="Oval 5"/>
          <p:cNvSpPr>
            <a:spLocks noChangeArrowheads="1"/>
          </p:cNvSpPr>
          <p:nvPr/>
        </p:nvSpPr>
        <p:spPr bwMode="auto">
          <a:xfrm>
            <a:off x="5257800" y="4267200"/>
            <a:ext cx="1524000" cy="1981200"/>
          </a:xfrm>
          <a:prstGeom prst="ellipse">
            <a:avLst/>
          </a:prstGeom>
          <a:noFill/>
          <a:ln w="12700" cap="sq">
            <a:solidFill>
              <a:srgbClr val="00008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06" name="Oval 6"/>
          <p:cNvSpPr>
            <a:spLocks noChangeArrowheads="1"/>
          </p:cNvSpPr>
          <p:nvPr/>
        </p:nvSpPr>
        <p:spPr bwMode="auto">
          <a:xfrm>
            <a:off x="3200400" y="4572000"/>
            <a:ext cx="304800" cy="304800"/>
          </a:xfrm>
          <a:prstGeom prst="ellipse">
            <a:avLst/>
          </a:prstGeom>
          <a:solidFill>
            <a:srgbClr val="FFFF99"/>
          </a:solidFill>
          <a:ln w="127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07" name="Oval 7"/>
          <p:cNvSpPr>
            <a:spLocks noChangeArrowheads="1"/>
          </p:cNvSpPr>
          <p:nvPr/>
        </p:nvSpPr>
        <p:spPr bwMode="auto">
          <a:xfrm>
            <a:off x="2667000" y="5029200"/>
            <a:ext cx="304800" cy="304800"/>
          </a:xfrm>
          <a:prstGeom prst="ellipse">
            <a:avLst/>
          </a:prstGeom>
          <a:solidFill>
            <a:srgbClr val="FFFF99"/>
          </a:solidFill>
          <a:ln w="127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08" name="Oval 8"/>
          <p:cNvSpPr>
            <a:spLocks noChangeArrowheads="1"/>
          </p:cNvSpPr>
          <p:nvPr/>
        </p:nvSpPr>
        <p:spPr bwMode="auto">
          <a:xfrm>
            <a:off x="3352800" y="5562600"/>
            <a:ext cx="304800" cy="304800"/>
          </a:xfrm>
          <a:prstGeom prst="ellipse">
            <a:avLst/>
          </a:prstGeom>
          <a:solidFill>
            <a:srgbClr val="FFFF99"/>
          </a:solidFill>
          <a:ln w="127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09" name="Oval 9"/>
          <p:cNvSpPr>
            <a:spLocks noChangeArrowheads="1"/>
          </p:cNvSpPr>
          <p:nvPr/>
        </p:nvSpPr>
        <p:spPr bwMode="auto">
          <a:xfrm>
            <a:off x="5791200" y="4419600"/>
            <a:ext cx="304800" cy="304800"/>
          </a:xfrm>
          <a:prstGeom prst="ellipse">
            <a:avLst/>
          </a:prstGeom>
          <a:solidFill>
            <a:srgbClr val="CCFFCC"/>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0" name="Oval 10"/>
          <p:cNvSpPr>
            <a:spLocks noChangeArrowheads="1"/>
          </p:cNvSpPr>
          <p:nvPr/>
        </p:nvSpPr>
        <p:spPr bwMode="auto">
          <a:xfrm>
            <a:off x="6248400" y="4800600"/>
            <a:ext cx="304800" cy="304800"/>
          </a:xfrm>
          <a:prstGeom prst="ellipse">
            <a:avLst/>
          </a:prstGeom>
          <a:solidFill>
            <a:srgbClr val="CCFFCC"/>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1" name="Oval 11"/>
          <p:cNvSpPr>
            <a:spLocks noChangeArrowheads="1"/>
          </p:cNvSpPr>
          <p:nvPr/>
        </p:nvSpPr>
        <p:spPr bwMode="auto">
          <a:xfrm>
            <a:off x="5867400" y="5791200"/>
            <a:ext cx="304800" cy="304800"/>
          </a:xfrm>
          <a:prstGeom prst="ellipse">
            <a:avLst/>
          </a:prstGeom>
          <a:solidFill>
            <a:srgbClr val="CCFFCC"/>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2" name="Oval 12"/>
          <p:cNvSpPr>
            <a:spLocks noChangeArrowheads="1"/>
          </p:cNvSpPr>
          <p:nvPr/>
        </p:nvSpPr>
        <p:spPr bwMode="auto">
          <a:xfrm>
            <a:off x="5562600" y="5029200"/>
            <a:ext cx="304800" cy="304800"/>
          </a:xfrm>
          <a:prstGeom prst="ellipse">
            <a:avLst/>
          </a:prstGeom>
          <a:solidFill>
            <a:srgbClr val="CCFFCC"/>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3" name="Oval 13"/>
          <p:cNvSpPr>
            <a:spLocks noChangeArrowheads="1"/>
          </p:cNvSpPr>
          <p:nvPr/>
        </p:nvSpPr>
        <p:spPr bwMode="auto">
          <a:xfrm>
            <a:off x="6248400" y="5334000"/>
            <a:ext cx="304800" cy="304800"/>
          </a:xfrm>
          <a:prstGeom prst="ellipse">
            <a:avLst/>
          </a:prstGeom>
          <a:solidFill>
            <a:srgbClr val="CCFFCC"/>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4" name="Line 14"/>
          <p:cNvSpPr>
            <a:spLocks noChangeShapeType="1"/>
          </p:cNvSpPr>
          <p:nvPr/>
        </p:nvSpPr>
        <p:spPr bwMode="auto">
          <a:xfrm flipV="1">
            <a:off x="3581400" y="4572000"/>
            <a:ext cx="2209800" cy="152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5" name="Line 15"/>
          <p:cNvSpPr>
            <a:spLocks noChangeShapeType="1"/>
          </p:cNvSpPr>
          <p:nvPr/>
        </p:nvSpPr>
        <p:spPr bwMode="auto">
          <a:xfrm>
            <a:off x="2971800" y="5181600"/>
            <a:ext cx="3276600" cy="3048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6" name="Line 16"/>
          <p:cNvSpPr>
            <a:spLocks noChangeShapeType="1"/>
          </p:cNvSpPr>
          <p:nvPr/>
        </p:nvSpPr>
        <p:spPr bwMode="auto">
          <a:xfrm>
            <a:off x="3657600" y="5715000"/>
            <a:ext cx="2209800" cy="2286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7" name="Line 17"/>
          <p:cNvSpPr>
            <a:spLocks noChangeShapeType="1"/>
          </p:cNvSpPr>
          <p:nvPr/>
        </p:nvSpPr>
        <p:spPr bwMode="auto">
          <a:xfrm flipV="1">
            <a:off x="3657600" y="5181600"/>
            <a:ext cx="190500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8" name="Line 18"/>
          <p:cNvSpPr>
            <a:spLocks noChangeShapeType="1"/>
          </p:cNvSpPr>
          <p:nvPr/>
        </p:nvSpPr>
        <p:spPr bwMode="auto">
          <a:xfrm>
            <a:off x="3505200" y="4724400"/>
            <a:ext cx="2743200" cy="2286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19" name="Line 19"/>
          <p:cNvSpPr>
            <a:spLocks noChangeShapeType="1"/>
          </p:cNvSpPr>
          <p:nvPr/>
        </p:nvSpPr>
        <p:spPr bwMode="auto">
          <a:xfrm flipV="1">
            <a:off x="2971800" y="4648200"/>
            <a:ext cx="2819400" cy="5334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20" name="Line 20"/>
          <p:cNvSpPr>
            <a:spLocks noChangeShapeType="1"/>
          </p:cNvSpPr>
          <p:nvPr/>
        </p:nvSpPr>
        <p:spPr bwMode="auto">
          <a:xfrm>
            <a:off x="3505200" y="4800600"/>
            <a:ext cx="2057400" cy="381000"/>
          </a:xfrm>
          <a:prstGeom prst="line">
            <a:avLst/>
          </a:prstGeom>
          <a:noFill/>
          <a:ln w="12700" cap="sq">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21" name="Line 21"/>
          <p:cNvSpPr>
            <a:spLocks noChangeShapeType="1"/>
          </p:cNvSpPr>
          <p:nvPr/>
        </p:nvSpPr>
        <p:spPr bwMode="auto">
          <a:xfrm>
            <a:off x="3505200" y="4800600"/>
            <a:ext cx="2057400" cy="381000"/>
          </a:xfrm>
          <a:prstGeom prst="line">
            <a:avLst/>
          </a:prstGeom>
          <a:noFill/>
          <a:ln w="38100" cap="sq">
            <a:solidFill>
              <a:srgbClr val="CC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22" name="Rectangle 22"/>
          <p:cNvSpPr>
            <a:spLocks noChangeArrowheads="1"/>
          </p:cNvSpPr>
          <p:nvPr/>
        </p:nvSpPr>
        <p:spPr bwMode="auto">
          <a:xfrm>
            <a:off x="1828800" y="4191000"/>
            <a:ext cx="4394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82"/>
                </a:solidFill>
                <a:ea typeface="楷体_GB2312" pitchFamily="49" charset="-122"/>
              </a:rPr>
              <a:t>U</a:t>
            </a:r>
            <a:endParaRPr lang="en-US" altLang="zh-CN" b="1">
              <a:solidFill>
                <a:srgbClr val="000082"/>
              </a:solidFill>
              <a:ea typeface="楷体_GB2312" pitchFamily="49" charset="-122"/>
            </a:endParaRPr>
          </a:p>
        </p:txBody>
      </p:sp>
      <p:sp>
        <p:nvSpPr>
          <p:cNvPr id="153623" name="Rectangle 23"/>
          <p:cNvSpPr>
            <a:spLocks noChangeArrowheads="1"/>
          </p:cNvSpPr>
          <p:nvPr/>
        </p:nvSpPr>
        <p:spPr bwMode="auto">
          <a:xfrm>
            <a:off x="6858000" y="4191000"/>
            <a:ext cx="78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000082"/>
                </a:solidFill>
                <a:ea typeface="楷体_GB2312" pitchFamily="49" charset="-122"/>
              </a:rPr>
              <a:t>V-U</a:t>
            </a:r>
            <a:endParaRPr lang="en-US" altLang="zh-CN" b="1">
              <a:solidFill>
                <a:srgbClr val="000082"/>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53602"/>
                                        </p:tgtEl>
                                        <p:attrNameLst>
                                          <p:attrName>style.visibility</p:attrName>
                                        </p:attrNameLst>
                                      </p:cBhvr>
                                      <p:to>
                                        <p:strVal val="visible"/>
                                      </p:to>
                                    </p:set>
                                    <p:animEffect transition="in" filter="wipe(right)">
                                      <p:cBhvr>
                                        <p:cTn id="7" dur="500"/>
                                        <p:tgtEl>
                                          <p:spTgt spid="1536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53604"/>
                                        </p:tgtEl>
                                        <p:attrNameLst>
                                          <p:attrName>style.visibility</p:attrName>
                                        </p:attrNameLst>
                                      </p:cBhvr>
                                      <p:to>
                                        <p:strVal val="visible"/>
                                      </p:to>
                                    </p:set>
                                  </p:childTnLst>
                                </p:cTn>
                              </p:par>
                              <p:par>
                                <p:cTn id="12" presetID="2" presetClass="entr" presetSubtype="8" fill="hold" grpId="0" nodeType="withEffect">
                                  <p:stCondLst>
                                    <p:cond delay="0"/>
                                  </p:stCondLst>
                                  <p:childTnLst>
                                    <p:set>
                                      <p:cBhvr>
                                        <p:cTn id="13" dur="1" fill="hold">
                                          <p:stCondLst>
                                            <p:cond delay="0"/>
                                          </p:stCondLst>
                                        </p:cTn>
                                        <p:tgtEl>
                                          <p:spTgt spid="153622"/>
                                        </p:tgtEl>
                                        <p:attrNameLst>
                                          <p:attrName>style.visibility</p:attrName>
                                        </p:attrNameLst>
                                      </p:cBhvr>
                                      <p:to>
                                        <p:strVal val="visible"/>
                                      </p:to>
                                    </p:set>
                                    <p:anim calcmode="lin" valueType="num">
                                      <p:cBhvr additive="base">
                                        <p:cTn id="14" dur="500" fill="hold"/>
                                        <p:tgtEl>
                                          <p:spTgt spid="153622"/>
                                        </p:tgtEl>
                                        <p:attrNameLst>
                                          <p:attrName>ppt_x</p:attrName>
                                        </p:attrNameLst>
                                      </p:cBhvr>
                                      <p:tavLst>
                                        <p:tav tm="0">
                                          <p:val>
                                            <p:strVal val="0-#ppt_w/2"/>
                                          </p:val>
                                        </p:tav>
                                        <p:tav tm="100000">
                                          <p:val>
                                            <p:strVal val="#ppt_x"/>
                                          </p:val>
                                        </p:tav>
                                      </p:tavLst>
                                    </p:anim>
                                    <p:anim calcmode="lin" valueType="num">
                                      <p:cBhvr additive="base">
                                        <p:cTn id="15" dur="500" fill="hold"/>
                                        <p:tgtEl>
                                          <p:spTgt spid="153622"/>
                                        </p:tgtEl>
                                        <p:attrNameLst>
                                          <p:attrName>ppt_y</p:attrName>
                                        </p:attrNameLst>
                                      </p:cBhvr>
                                      <p:tavLst>
                                        <p:tav tm="0">
                                          <p:val>
                                            <p:strVal val="#ppt_y"/>
                                          </p:val>
                                        </p:tav>
                                        <p:tav tm="100000">
                                          <p:val>
                                            <p:strVal val="#ppt_y"/>
                                          </p:val>
                                        </p:tav>
                                      </p:tavLst>
                                    </p:anim>
                                  </p:childTnLst>
                                </p:cTn>
                              </p:par>
                              <p:par>
                                <p:cTn id="16" presetID="1" presetClass="entr" presetSubtype="0" fill="hold" grpId="0" nodeType="withEffect">
                                  <p:stCondLst>
                                    <p:cond delay="0"/>
                                  </p:stCondLst>
                                  <p:childTnLst>
                                    <p:set>
                                      <p:cBhvr>
                                        <p:cTn id="17" dur="1" fill="hold">
                                          <p:stCondLst>
                                            <p:cond delay="499"/>
                                          </p:stCondLst>
                                        </p:cTn>
                                        <p:tgtEl>
                                          <p:spTgt spid="15360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499"/>
                                          </p:stCondLst>
                                        </p:cTn>
                                        <p:tgtEl>
                                          <p:spTgt spid="15360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499"/>
                                          </p:stCondLst>
                                        </p:cTn>
                                        <p:tgtEl>
                                          <p:spTgt spid="153608"/>
                                        </p:tgtEl>
                                        <p:attrNameLst>
                                          <p:attrName>style.visibility</p:attrName>
                                        </p:attrNameLst>
                                      </p:cBhvr>
                                      <p:to>
                                        <p:strVal val="visible"/>
                                      </p:to>
                                    </p:se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53605"/>
                                        </p:tgtEl>
                                        <p:attrNameLst>
                                          <p:attrName>style.visibility</p:attrName>
                                        </p:attrNameLst>
                                      </p:cBhvr>
                                      <p:to>
                                        <p:strVal val="visible"/>
                                      </p:to>
                                    </p:set>
                                  </p:childTnLst>
                                </p:cTn>
                              </p:par>
                              <p:par>
                                <p:cTn id="25" presetID="2" presetClass="entr" presetSubtype="8" fill="hold" grpId="0" nodeType="withEffect">
                                  <p:stCondLst>
                                    <p:cond delay="0"/>
                                  </p:stCondLst>
                                  <p:childTnLst>
                                    <p:set>
                                      <p:cBhvr>
                                        <p:cTn id="26" dur="1" fill="hold">
                                          <p:stCondLst>
                                            <p:cond delay="0"/>
                                          </p:stCondLst>
                                        </p:cTn>
                                        <p:tgtEl>
                                          <p:spTgt spid="153623"/>
                                        </p:tgtEl>
                                        <p:attrNameLst>
                                          <p:attrName>style.visibility</p:attrName>
                                        </p:attrNameLst>
                                      </p:cBhvr>
                                      <p:to>
                                        <p:strVal val="visible"/>
                                      </p:to>
                                    </p:set>
                                    <p:anim calcmode="lin" valueType="num">
                                      <p:cBhvr additive="base">
                                        <p:cTn id="27" dur="500" fill="hold"/>
                                        <p:tgtEl>
                                          <p:spTgt spid="153623"/>
                                        </p:tgtEl>
                                        <p:attrNameLst>
                                          <p:attrName>ppt_x</p:attrName>
                                        </p:attrNameLst>
                                      </p:cBhvr>
                                      <p:tavLst>
                                        <p:tav tm="0">
                                          <p:val>
                                            <p:strVal val="0-#ppt_w/2"/>
                                          </p:val>
                                        </p:tav>
                                        <p:tav tm="100000">
                                          <p:val>
                                            <p:strVal val="#ppt_x"/>
                                          </p:val>
                                        </p:tav>
                                      </p:tavLst>
                                    </p:anim>
                                    <p:anim calcmode="lin" valueType="num">
                                      <p:cBhvr additive="base">
                                        <p:cTn id="28" dur="500" fill="hold"/>
                                        <p:tgtEl>
                                          <p:spTgt spid="153623"/>
                                        </p:tgtEl>
                                        <p:attrNameLst>
                                          <p:attrName>ppt_y</p:attrName>
                                        </p:attrNameLst>
                                      </p:cBhvr>
                                      <p:tavLst>
                                        <p:tav tm="0">
                                          <p:val>
                                            <p:strVal val="#ppt_y"/>
                                          </p:val>
                                        </p:tav>
                                        <p:tav tm="100000">
                                          <p:val>
                                            <p:strVal val="#ppt_y"/>
                                          </p:val>
                                        </p:tav>
                                      </p:tavLst>
                                    </p:anim>
                                  </p:childTnLst>
                                </p:cTn>
                              </p:par>
                              <p:par>
                                <p:cTn id="29" presetID="1" presetClass="entr" presetSubtype="0" fill="hold" grpId="0" nodeType="withEffect">
                                  <p:stCondLst>
                                    <p:cond delay="0"/>
                                  </p:stCondLst>
                                  <p:childTnLst>
                                    <p:set>
                                      <p:cBhvr>
                                        <p:cTn id="30" dur="1" fill="hold">
                                          <p:stCondLst>
                                            <p:cond delay="499"/>
                                          </p:stCondLst>
                                        </p:cTn>
                                        <p:tgtEl>
                                          <p:spTgt spid="15360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1536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1536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1536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1536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3614"/>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499"/>
                                          </p:stCondLst>
                                        </p:cTn>
                                        <p:tgtEl>
                                          <p:spTgt spid="153615"/>
                                        </p:tgtEl>
                                        <p:attrNameLst>
                                          <p:attrName>style.visibility</p:attrName>
                                        </p:attrNameLst>
                                      </p:cBhvr>
                                      <p:to>
                                        <p:strVal val="visible"/>
                                      </p:to>
                                    </p:set>
                                  </p:childTnLst>
                                </p:cTn>
                              </p:par>
                            </p:childTnLst>
                          </p:cTn>
                        </p:par>
                        <p:par>
                          <p:cTn id="46" fill="hold">
                            <p:stCondLst>
                              <p:cond delay="1000"/>
                            </p:stCondLst>
                            <p:childTnLst>
                              <p:par>
                                <p:cTn id="47" presetID="1" presetClass="entr" presetSubtype="0" fill="hold" grpId="0" nodeType="afterEffect">
                                  <p:stCondLst>
                                    <p:cond delay="0"/>
                                  </p:stCondLst>
                                  <p:childTnLst>
                                    <p:set>
                                      <p:cBhvr>
                                        <p:cTn id="48" dur="1" fill="hold">
                                          <p:stCondLst>
                                            <p:cond delay="499"/>
                                          </p:stCondLst>
                                        </p:cTn>
                                        <p:tgtEl>
                                          <p:spTgt spid="153616"/>
                                        </p:tgtEl>
                                        <p:attrNameLst>
                                          <p:attrName>style.visibility</p:attrName>
                                        </p:attrNameLst>
                                      </p:cBhvr>
                                      <p:to>
                                        <p:strVal val="visible"/>
                                      </p:to>
                                    </p:set>
                                  </p:childTnLst>
                                </p:cTn>
                              </p:par>
                            </p:childTnLst>
                          </p:cTn>
                        </p:par>
                        <p:par>
                          <p:cTn id="49" fill="hold">
                            <p:stCondLst>
                              <p:cond delay="1500"/>
                            </p:stCondLst>
                            <p:childTnLst>
                              <p:par>
                                <p:cTn id="50" presetID="1" presetClass="entr" presetSubtype="0" fill="hold" grpId="0" nodeType="afterEffect">
                                  <p:stCondLst>
                                    <p:cond delay="0"/>
                                  </p:stCondLst>
                                  <p:childTnLst>
                                    <p:set>
                                      <p:cBhvr>
                                        <p:cTn id="51" dur="1" fill="hold">
                                          <p:stCondLst>
                                            <p:cond delay="499"/>
                                          </p:stCondLst>
                                        </p:cTn>
                                        <p:tgtEl>
                                          <p:spTgt spid="153617"/>
                                        </p:tgtEl>
                                        <p:attrNameLst>
                                          <p:attrName>style.visibility</p:attrName>
                                        </p:attrNameLst>
                                      </p:cBhvr>
                                      <p:to>
                                        <p:strVal val="visible"/>
                                      </p:to>
                                    </p:set>
                                  </p:childTnLst>
                                </p:cTn>
                              </p:par>
                            </p:childTnLst>
                          </p:cTn>
                        </p:par>
                        <p:par>
                          <p:cTn id="52" fill="hold">
                            <p:stCondLst>
                              <p:cond delay="2000"/>
                            </p:stCondLst>
                            <p:childTnLst>
                              <p:par>
                                <p:cTn id="53" presetID="1" presetClass="entr" presetSubtype="0" fill="hold" grpId="0" nodeType="afterEffect">
                                  <p:stCondLst>
                                    <p:cond delay="0"/>
                                  </p:stCondLst>
                                  <p:childTnLst>
                                    <p:set>
                                      <p:cBhvr>
                                        <p:cTn id="54" dur="1" fill="hold">
                                          <p:stCondLst>
                                            <p:cond delay="499"/>
                                          </p:stCondLst>
                                        </p:cTn>
                                        <p:tgtEl>
                                          <p:spTgt spid="153618"/>
                                        </p:tgtEl>
                                        <p:attrNameLst>
                                          <p:attrName>style.visibility</p:attrName>
                                        </p:attrNameLst>
                                      </p:cBhvr>
                                      <p:to>
                                        <p:strVal val="visible"/>
                                      </p:to>
                                    </p:set>
                                  </p:childTnLst>
                                </p:cTn>
                              </p:par>
                            </p:childTnLst>
                          </p:cTn>
                        </p:par>
                        <p:par>
                          <p:cTn id="55" fill="hold">
                            <p:stCondLst>
                              <p:cond delay="2500"/>
                            </p:stCondLst>
                            <p:childTnLst>
                              <p:par>
                                <p:cTn id="56" presetID="1" presetClass="entr" presetSubtype="0" fill="hold" grpId="0" nodeType="afterEffect">
                                  <p:stCondLst>
                                    <p:cond delay="0"/>
                                  </p:stCondLst>
                                  <p:childTnLst>
                                    <p:set>
                                      <p:cBhvr>
                                        <p:cTn id="57" dur="1" fill="hold">
                                          <p:stCondLst>
                                            <p:cond delay="499"/>
                                          </p:stCondLst>
                                        </p:cTn>
                                        <p:tgtEl>
                                          <p:spTgt spid="153619"/>
                                        </p:tgtEl>
                                        <p:attrNameLst>
                                          <p:attrName>style.visibility</p:attrName>
                                        </p:attrNameLst>
                                      </p:cBhvr>
                                      <p:to>
                                        <p:strVal val="visible"/>
                                      </p:to>
                                    </p:set>
                                  </p:childTnLst>
                                </p:cTn>
                              </p:par>
                            </p:childTnLst>
                          </p:cTn>
                        </p:par>
                        <p:par>
                          <p:cTn id="58" fill="hold">
                            <p:stCondLst>
                              <p:cond delay="3000"/>
                            </p:stCondLst>
                            <p:childTnLst>
                              <p:par>
                                <p:cTn id="59" presetID="1" presetClass="entr" presetSubtype="0" fill="hold" grpId="0" nodeType="afterEffect">
                                  <p:stCondLst>
                                    <p:cond delay="0"/>
                                  </p:stCondLst>
                                  <p:childTnLst>
                                    <p:set>
                                      <p:cBhvr>
                                        <p:cTn id="60" dur="1" fill="hold">
                                          <p:stCondLst>
                                            <p:cond delay="499"/>
                                          </p:stCondLst>
                                        </p:cTn>
                                        <p:tgtEl>
                                          <p:spTgt spid="1536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7" presetClass="entr" presetSubtype="8" fill="hold" grpId="0" nodeType="clickEffect">
                                  <p:stCondLst>
                                    <p:cond delay="0"/>
                                  </p:stCondLst>
                                  <p:childTnLst>
                                    <p:set>
                                      <p:cBhvr>
                                        <p:cTn id="64" dur="1" fill="hold">
                                          <p:stCondLst>
                                            <p:cond delay="0"/>
                                          </p:stCondLst>
                                        </p:cTn>
                                        <p:tgtEl>
                                          <p:spTgt spid="153621"/>
                                        </p:tgtEl>
                                        <p:attrNameLst>
                                          <p:attrName>style.visibility</p:attrName>
                                        </p:attrNameLst>
                                      </p:cBhvr>
                                      <p:to>
                                        <p:strVal val="visible"/>
                                      </p:to>
                                    </p:set>
                                    <p:anim calcmode="lin" valueType="num">
                                      <p:cBhvr>
                                        <p:cTn id="65" dur="500" fill="hold"/>
                                        <p:tgtEl>
                                          <p:spTgt spid="153621"/>
                                        </p:tgtEl>
                                        <p:attrNameLst>
                                          <p:attrName>ppt_x</p:attrName>
                                        </p:attrNameLst>
                                      </p:cBhvr>
                                      <p:tavLst>
                                        <p:tav tm="0">
                                          <p:val>
                                            <p:strVal val="#ppt_x-#ppt_w/2"/>
                                          </p:val>
                                        </p:tav>
                                        <p:tav tm="100000">
                                          <p:val>
                                            <p:strVal val="#ppt_x"/>
                                          </p:val>
                                        </p:tav>
                                      </p:tavLst>
                                    </p:anim>
                                    <p:anim calcmode="lin" valueType="num">
                                      <p:cBhvr>
                                        <p:cTn id="66" dur="500" fill="hold"/>
                                        <p:tgtEl>
                                          <p:spTgt spid="153621"/>
                                        </p:tgtEl>
                                        <p:attrNameLst>
                                          <p:attrName>ppt_y</p:attrName>
                                        </p:attrNameLst>
                                      </p:cBhvr>
                                      <p:tavLst>
                                        <p:tav tm="0">
                                          <p:val>
                                            <p:strVal val="#ppt_y"/>
                                          </p:val>
                                        </p:tav>
                                        <p:tav tm="100000">
                                          <p:val>
                                            <p:strVal val="#ppt_y"/>
                                          </p:val>
                                        </p:tav>
                                      </p:tavLst>
                                    </p:anim>
                                    <p:anim calcmode="lin" valueType="num">
                                      <p:cBhvr>
                                        <p:cTn id="67" dur="500" fill="hold"/>
                                        <p:tgtEl>
                                          <p:spTgt spid="153621"/>
                                        </p:tgtEl>
                                        <p:attrNameLst>
                                          <p:attrName>ppt_w</p:attrName>
                                        </p:attrNameLst>
                                      </p:cBhvr>
                                      <p:tavLst>
                                        <p:tav tm="0">
                                          <p:val>
                                            <p:fltVal val="0"/>
                                          </p:val>
                                        </p:tav>
                                        <p:tav tm="100000">
                                          <p:val>
                                            <p:strVal val="#ppt_w"/>
                                          </p:val>
                                        </p:tav>
                                      </p:tavLst>
                                    </p:anim>
                                    <p:anim calcmode="lin" valueType="num">
                                      <p:cBhvr>
                                        <p:cTn id="68" dur="500" fill="hold"/>
                                        <p:tgtEl>
                                          <p:spTgt spid="15362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2" grpId="0" bldLvl="0" animBg="1" autoUpdateAnimBg="0"/>
      <p:bldP spid="153604" grpId="0" bldLvl="0" animBg="1"/>
      <p:bldP spid="153605" grpId="0" bldLvl="0" animBg="1"/>
      <p:bldP spid="153606" grpId="0" bldLvl="0" animBg="1"/>
      <p:bldP spid="153607" grpId="0" bldLvl="0" animBg="1"/>
      <p:bldP spid="153608" grpId="0" bldLvl="0" animBg="1"/>
      <p:bldP spid="153609" grpId="0" bldLvl="0" animBg="1"/>
      <p:bldP spid="153610" grpId="0" bldLvl="0" animBg="1"/>
      <p:bldP spid="153611" grpId="0" bldLvl="0" animBg="1"/>
      <p:bldP spid="153612" grpId="0" bldLvl="0" animBg="1"/>
      <p:bldP spid="153613" grpId="0" bldLvl="0" animBg="1"/>
      <p:bldP spid="153614" grpId="0" bldLvl="0" animBg="1"/>
      <p:bldP spid="153615" grpId="0" bldLvl="0" animBg="1"/>
      <p:bldP spid="153616" grpId="0" bldLvl="0" animBg="1"/>
      <p:bldP spid="153617" grpId="0" bldLvl="0" animBg="1"/>
      <p:bldP spid="153618" grpId="0" bldLvl="0" animBg="1"/>
      <p:bldP spid="153619" grpId="0" bldLvl="0" animBg="1"/>
      <p:bldP spid="153620" grpId="0" bldLvl="0" animBg="1"/>
      <p:bldP spid="153621" grpId="0" bldLvl="0" animBg="1"/>
      <p:bldP spid="153622" grpId="0" bldLvl="0" animBg="1" autoUpdateAnimBg="0"/>
      <p:bldP spid="153623" grpId="0" bldLvl="0" animBg="1"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p:cNvSpPr txBox="1">
            <a:spLocks noChangeArrowheads="1"/>
          </p:cNvSpPr>
          <p:nvPr/>
        </p:nvSpPr>
        <p:spPr bwMode="auto">
          <a:xfrm>
            <a:off x="179388" y="404813"/>
            <a:ext cx="5703887" cy="2675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a:solidFill>
                  <a:srgbClr val="000082"/>
                </a:solidFill>
                <a:latin typeface="Arial" panose="020B0604020202020204" pitchFamily="34" charset="0"/>
                <a:ea typeface="楷体_GB2312" pitchFamily="49" charset="-122"/>
                <a:cs typeface="Arial" panose="020B0604020202020204" pitchFamily="34" charset="0"/>
                <a:sym typeface="+mn-ea"/>
              </a:rPr>
              <a:t>Create a helper array to record, for each vertex in the current V-U set, the edge with the lowest cost connecting it to vertices in set U.</a:t>
            </a:r>
            <a:endParaRPr lang="zh-CN" altLang="en-US" b="1">
              <a:solidFill>
                <a:srgbClr val="000082"/>
              </a:solidFill>
              <a:latin typeface="Arial" panose="020B0604020202020204" pitchFamily="34" charset="0"/>
              <a:ea typeface="楷体_GB2312" pitchFamily="49" charset="-122"/>
              <a:cs typeface="Arial" panose="020B0604020202020204" pitchFamily="34" charset="0"/>
              <a:sym typeface="+mn-ea"/>
            </a:endParaRPr>
          </a:p>
        </p:txBody>
      </p:sp>
      <p:sp>
        <p:nvSpPr>
          <p:cNvPr id="154627" name="Text Box 3"/>
          <p:cNvSpPr txBox="1">
            <a:spLocks noChangeArrowheads="1"/>
          </p:cNvSpPr>
          <p:nvPr/>
        </p:nvSpPr>
        <p:spPr bwMode="auto">
          <a:xfrm>
            <a:off x="252095" y="3025775"/>
            <a:ext cx="8848725" cy="274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20000"/>
              </a:lnSpc>
            </a:pPr>
            <a:r>
              <a:rPr lang="en-US" altLang="zh-CN" sz="3600" b="1">
                <a:solidFill>
                  <a:srgbClr val="000082"/>
                </a:solidFill>
                <a:ea typeface="楷体_GB2312" pitchFamily="49" charset="-122"/>
              </a:rPr>
              <a:t>struct {</a:t>
            </a:r>
            <a:endParaRPr lang="en-US" altLang="zh-CN" sz="3600">
              <a:solidFill>
                <a:srgbClr val="000082"/>
              </a:solidFill>
              <a:ea typeface="楷体_GB2312" pitchFamily="49" charset="-122"/>
            </a:endParaRPr>
          </a:p>
          <a:p>
            <a:pPr algn="l">
              <a:lnSpc>
                <a:spcPct val="120000"/>
              </a:lnSpc>
            </a:pPr>
            <a:r>
              <a:rPr lang="en-US" altLang="zh-CN" sz="3600">
                <a:solidFill>
                  <a:srgbClr val="000082"/>
                </a:solidFill>
                <a:ea typeface="楷体_GB2312" pitchFamily="49" charset="-122"/>
              </a:rPr>
              <a:t>     VertexType  adjvex;</a:t>
            </a:r>
            <a:r>
              <a:rPr lang="en-US" altLang="zh-CN" sz="3200" b="1">
                <a:solidFill>
                  <a:srgbClr val="003300"/>
                </a:solidFill>
                <a:ea typeface="楷体_GB2312" pitchFamily="49" charset="-122"/>
              </a:rPr>
              <a:t>// </a:t>
            </a:r>
            <a:r>
              <a:rPr lang="en-US" altLang="zh-CN" sz="2400" b="1">
                <a:solidFill>
                  <a:srgbClr val="003300"/>
                </a:solidFill>
                <a:ea typeface="楷体_GB2312" pitchFamily="49" charset="-122"/>
                <a:sym typeface="+mn-ea"/>
              </a:rPr>
              <a:t>The vertex index in the U set</a:t>
            </a:r>
            <a:endParaRPr lang="zh-CN" altLang="en-US" sz="3600" b="1">
              <a:solidFill>
                <a:srgbClr val="003300"/>
              </a:solidFill>
              <a:ea typeface="楷体_GB2312" pitchFamily="49" charset="-122"/>
            </a:endParaRPr>
          </a:p>
          <a:p>
            <a:pPr algn="l">
              <a:lnSpc>
                <a:spcPct val="120000"/>
              </a:lnSpc>
            </a:pPr>
            <a:r>
              <a:rPr lang="zh-CN" altLang="en-US" sz="3600">
                <a:solidFill>
                  <a:srgbClr val="000082"/>
                </a:solidFill>
                <a:ea typeface="楷体_GB2312" pitchFamily="49" charset="-122"/>
              </a:rPr>
              <a:t>     </a:t>
            </a:r>
            <a:r>
              <a:rPr lang="en-US" altLang="zh-CN" sz="3600">
                <a:solidFill>
                  <a:srgbClr val="000082"/>
                </a:solidFill>
                <a:ea typeface="楷体_GB2312" pitchFamily="49" charset="-122"/>
              </a:rPr>
              <a:t>VRType     lowcost;  </a:t>
            </a:r>
            <a:r>
              <a:rPr lang="en-US" altLang="zh-CN" sz="2800" b="1">
                <a:solidFill>
                  <a:srgbClr val="003300"/>
                </a:solidFill>
                <a:ea typeface="楷体_GB2312" pitchFamily="49" charset="-122"/>
              </a:rPr>
              <a:t>// </a:t>
            </a:r>
            <a:r>
              <a:rPr lang="en-US" altLang="zh-CN" b="1">
                <a:solidFill>
                  <a:srgbClr val="003300"/>
                </a:solidFill>
                <a:ea typeface="楷体_GB2312" pitchFamily="49" charset="-122"/>
                <a:sym typeface="+mn-ea"/>
              </a:rPr>
              <a:t>Edge weight</a:t>
            </a:r>
            <a:endParaRPr lang="zh-CN" altLang="en-US" sz="2800" b="1">
              <a:solidFill>
                <a:srgbClr val="003300"/>
              </a:solidFill>
              <a:ea typeface="楷体_GB2312" pitchFamily="49" charset="-122"/>
            </a:endParaRPr>
          </a:p>
          <a:p>
            <a:pPr algn="l">
              <a:lnSpc>
                <a:spcPct val="120000"/>
              </a:lnSpc>
            </a:pPr>
            <a:r>
              <a:rPr lang="en-US" altLang="zh-CN" sz="3600" b="1">
                <a:solidFill>
                  <a:srgbClr val="000082"/>
                </a:solidFill>
                <a:ea typeface="楷体_GB2312" pitchFamily="49" charset="-122"/>
              </a:rPr>
              <a:t>}</a:t>
            </a:r>
            <a:r>
              <a:rPr lang="en-US" altLang="zh-CN" sz="3600">
                <a:solidFill>
                  <a:srgbClr val="000082"/>
                </a:solidFill>
                <a:ea typeface="楷体_GB2312" pitchFamily="49" charset="-122"/>
              </a:rPr>
              <a:t> closedge </a:t>
            </a:r>
            <a:r>
              <a:rPr lang="en-US" altLang="zh-CN" sz="3200">
                <a:solidFill>
                  <a:srgbClr val="000082"/>
                </a:solidFill>
                <a:ea typeface="楷体_GB2312" pitchFamily="49" charset="-122"/>
              </a:rPr>
              <a:t>[MAX_VERTEX_NUM];</a:t>
            </a:r>
            <a:endParaRPr lang="en-US" altLang="zh-CN" sz="2000" b="1"/>
          </a:p>
        </p:txBody>
      </p:sp>
      <p:grpSp>
        <p:nvGrpSpPr>
          <p:cNvPr id="154654" name="Group 30"/>
          <p:cNvGrpSpPr/>
          <p:nvPr/>
        </p:nvGrpSpPr>
        <p:grpSpPr bwMode="auto">
          <a:xfrm>
            <a:off x="6588125" y="836613"/>
            <a:ext cx="2298700" cy="2144712"/>
            <a:chOff x="2776" y="2681"/>
            <a:chExt cx="1448" cy="1351"/>
          </a:xfrm>
        </p:grpSpPr>
        <p:sp>
          <p:nvSpPr>
            <p:cNvPr id="154628" name="Oval 4"/>
            <p:cNvSpPr>
              <a:spLocks noChangeArrowheads="1"/>
            </p:cNvSpPr>
            <p:nvPr/>
          </p:nvSpPr>
          <p:spPr bwMode="auto">
            <a:xfrm>
              <a:off x="3400" y="2681"/>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1</a:t>
              </a:r>
              <a:endParaRPr lang="en-US" altLang="zh-CN" sz="2800" b="1"/>
            </a:p>
          </p:txBody>
        </p:sp>
        <p:sp>
          <p:nvSpPr>
            <p:cNvPr id="154629" name="Oval 5"/>
            <p:cNvSpPr>
              <a:spLocks noChangeArrowheads="1"/>
            </p:cNvSpPr>
            <p:nvPr/>
          </p:nvSpPr>
          <p:spPr bwMode="auto">
            <a:xfrm>
              <a:off x="2776" y="3017"/>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2</a:t>
              </a:r>
              <a:endParaRPr lang="en-US" altLang="zh-CN" sz="2800" b="1"/>
            </a:p>
          </p:txBody>
        </p:sp>
        <p:sp>
          <p:nvSpPr>
            <p:cNvPr id="154630" name="Oval 6"/>
            <p:cNvSpPr>
              <a:spLocks noChangeArrowheads="1"/>
            </p:cNvSpPr>
            <p:nvPr/>
          </p:nvSpPr>
          <p:spPr bwMode="auto">
            <a:xfrm>
              <a:off x="4024" y="3017"/>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4</a:t>
              </a:r>
              <a:endParaRPr lang="en-US" altLang="zh-CN" sz="2800" b="1"/>
            </a:p>
          </p:txBody>
        </p:sp>
        <p:sp>
          <p:nvSpPr>
            <p:cNvPr id="154631" name="Oval 7"/>
            <p:cNvSpPr>
              <a:spLocks noChangeArrowheads="1"/>
            </p:cNvSpPr>
            <p:nvPr/>
          </p:nvSpPr>
          <p:spPr bwMode="auto">
            <a:xfrm>
              <a:off x="3016" y="3689"/>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5</a:t>
              </a:r>
              <a:endParaRPr lang="en-US" altLang="zh-CN" sz="2800" b="1"/>
            </a:p>
          </p:txBody>
        </p:sp>
        <p:sp>
          <p:nvSpPr>
            <p:cNvPr id="154632" name="Oval 8"/>
            <p:cNvSpPr>
              <a:spLocks noChangeArrowheads="1"/>
            </p:cNvSpPr>
            <p:nvPr/>
          </p:nvSpPr>
          <p:spPr bwMode="auto">
            <a:xfrm>
              <a:off x="3784" y="3689"/>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6</a:t>
              </a:r>
              <a:endParaRPr lang="en-US" altLang="zh-CN" sz="2800" b="1"/>
            </a:p>
          </p:txBody>
        </p:sp>
        <p:sp>
          <p:nvSpPr>
            <p:cNvPr id="154633" name="Oval 9"/>
            <p:cNvSpPr>
              <a:spLocks noChangeArrowheads="1"/>
            </p:cNvSpPr>
            <p:nvPr/>
          </p:nvSpPr>
          <p:spPr bwMode="auto">
            <a:xfrm>
              <a:off x="3400" y="3260"/>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t>3</a:t>
              </a:r>
              <a:endParaRPr lang="en-US" altLang="zh-CN" sz="2800" b="1"/>
            </a:p>
          </p:txBody>
        </p:sp>
        <p:sp>
          <p:nvSpPr>
            <p:cNvPr id="154634" name="Line 10"/>
            <p:cNvSpPr>
              <a:spLocks noChangeShapeType="1"/>
            </p:cNvSpPr>
            <p:nvPr/>
          </p:nvSpPr>
          <p:spPr bwMode="auto">
            <a:xfrm flipH="1">
              <a:off x="2920" y="2777"/>
              <a:ext cx="48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35" name="Line 11"/>
            <p:cNvSpPr>
              <a:spLocks noChangeShapeType="1"/>
            </p:cNvSpPr>
            <p:nvPr/>
          </p:nvSpPr>
          <p:spPr bwMode="auto">
            <a:xfrm>
              <a:off x="3592" y="2777"/>
              <a:ext cx="480"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36" name="Line 12"/>
            <p:cNvSpPr>
              <a:spLocks noChangeShapeType="1"/>
            </p:cNvSpPr>
            <p:nvPr/>
          </p:nvSpPr>
          <p:spPr bwMode="auto">
            <a:xfrm>
              <a:off x="2872" y="3209"/>
              <a:ext cx="192" cy="52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37" name="Line 13"/>
            <p:cNvSpPr>
              <a:spLocks noChangeShapeType="1"/>
            </p:cNvSpPr>
            <p:nvPr/>
          </p:nvSpPr>
          <p:spPr bwMode="auto">
            <a:xfrm>
              <a:off x="3208" y="3803"/>
              <a:ext cx="576"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38" name="Line 14"/>
            <p:cNvSpPr>
              <a:spLocks noChangeShapeType="1"/>
            </p:cNvSpPr>
            <p:nvPr/>
          </p:nvSpPr>
          <p:spPr bwMode="auto">
            <a:xfrm flipH="1">
              <a:off x="3928" y="3209"/>
              <a:ext cx="192" cy="52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39" name="Line 15"/>
            <p:cNvSpPr>
              <a:spLocks noChangeShapeType="1"/>
            </p:cNvSpPr>
            <p:nvPr/>
          </p:nvSpPr>
          <p:spPr bwMode="auto">
            <a:xfrm>
              <a:off x="3496" y="2873"/>
              <a:ext cx="0" cy="38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40" name="Line 16"/>
            <p:cNvSpPr>
              <a:spLocks noChangeShapeType="1"/>
            </p:cNvSpPr>
            <p:nvPr/>
          </p:nvSpPr>
          <p:spPr bwMode="auto">
            <a:xfrm>
              <a:off x="2968" y="3161"/>
              <a:ext cx="432" cy="19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41" name="Line 17"/>
            <p:cNvSpPr>
              <a:spLocks noChangeShapeType="1"/>
            </p:cNvSpPr>
            <p:nvPr/>
          </p:nvSpPr>
          <p:spPr bwMode="auto">
            <a:xfrm flipH="1">
              <a:off x="3592" y="3161"/>
              <a:ext cx="432" cy="19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42" name="Line 18"/>
            <p:cNvSpPr>
              <a:spLocks noChangeShapeType="1"/>
            </p:cNvSpPr>
            <p:nvPr/>
          </p:nvSpPr>
          <p:spPr bwMode="auto">
            <a:xfrm flipH="1">
              <a:off x="3160" y="3449"/>
              <a:ext cx="288" cy="24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43" name="Line 19"/>
            <p:cNvSpPr>
              <a:spLocks noChangeShapeType="1"/>
            </p:cNvSpPr>
            <p:nvPr/>
          </p:nvSpPr>
          <p:spPr bwMode="auto">
            <a:xfrm>
              <a:off x="3571" y="3431"/>
              <a:ext cx="288" cy="288"/>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54644" name="Rectangle 20"/>
            <p:cNvSpPr>
              <a:spLocks noChangeArrowheads="1"/>
            </p:cNvSpPr>
            <p:nvPr/>
          </p:nvSpPr>
          <p:spPr bwMode="auto">
            <a:xfrm>
              <a:off x="3448" y="2921"/>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1</a:t>
              </a:r>
              <a:endParaRPr lang="en-US" altLang="zh-CN" b="1"/>
            </a:p>
          </p:txBody>
        </p:sp>
        <p:sp>
          <p:nvSpPr>
            <p:cNvPr id="154645" name="Rectangle 21"/>
            <p:cNvSpPr>
              <a:spLocks noChangeArrowheads="1"/>
            </p:cNvSpPr>
            <p:nvPr/>
          </p:nvSpPr>
          <p:spPr bwMode="auto">
            <a:xfrm>
              <a:off x="4012" y="3353"/>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2</a:t>
              </a:r>
              <a:endParaRPr lang="en-US" altLang="zh-CN" b="1"/>
            </a:p>
          </p:txBody>
        </p:sp>
        <p:sp>
          <p:nvSpPr>
            <p:cNvPr id="154646" name="Rectangle 22"/>
            <p:cNvSpPr>
              <a:spLocks noChangeArrowheads="1"/>
            </p:cNvSpPr>
            <p:nvPr/>
          </p:nvSpPr>
          <p:spPr bwMode="auto">
            <a:xfrm>
              <a:off x="2794" y="3353"/>
              <a:ext cx="20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a:t>3</a:t>
              </a:r>
              <a:endParaRPr lang="en-US" altLang="zh-CN" b="1"/>
            </a:p>
          </p:txBody>
        </p:sp>
        <p:sp>
          <p:nvSpPr>
            <p:cNvPr id="154647" name="Rectangle 23"/>
            <p:cNvSpPr>
              <a:spLocks noChangeArrowheads="1"/>
            </p:cNvSpPr>
            <p:nvPr/>
          </p:nvSpPr>
          <p:spPr bwMode="auto">
            <a:xfrm>
              <a:off x="3682" y="3418"/>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4</a:t>
              </a:r>
              <a:endParaRPr lang="en-US" altLang="zh-CN" b="1"/>
            </a:p>
          </p:txBody>
        </p:sp>
        <p:sp>
          <p:nvSpPr>
            <p:cNvPr id="154648" name="Rectangle 24"/>
            <p:cNvSpPr>
              <a:spLocks noChangeArrowheads="1"/>
            </p:cNvSpPr>
            <p:nvPr/>
          </p:nvSpPr>
          <p:spPr bwMode="auto">
            <a:xfrm>
              <a:off x="3777" y="2732"/>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154649" name="Rectangle 25"/>
            <p:cNvSpPr>
              <a:spLocks noChangeArrowheads="1"/>
            </p:cNvSpPr>
            <p:nvPr/>
          </p:nvSpPr>
          <p:spPr bwMode="auto">
            <a:xfrm>
              <a:off x="3160" y="3068"/>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154650" name="Rectangle 26"/>
            <p:cNvSpPr>
              <a:spLocks noChangeArrowheads="1"/>
            </p:cNvSpPr>
            <p:nvPr/>
          </p:nvSpPr>
          <p:spPr bwMode="auto">
            <a:xfrm>
              <a:off x="3649" y="3083"/>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5</a:t>
              </a:r>
              <a:endParaRPr lang="en-US" altLang="zh-CN" b="1"/>
            </a:p>
          </p:txBody>
        </p:sp>
        <p:sp>
          <p:nvSpPr>
            <p:cNvPr id="154651" name="Rectangle 27"/>
            <p:cNvSpPr>
              <a:spLocks noChangeArrowheads="1"/>
            </p:cNvSpPr>
            <p:nvPr/>
          </p:nvSpPr>
          <p:spPr bwMode="auto">
            <a:xfrm>
              <a:off x="3042" y="2732"/>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sp>
          <p:nvSpPr>
            <p:cNvPr id="154652" name="Rectangle 28"/>
            <p:cNvSpPr>
              <a:spLocks noChangeArrowheads="1"/>
            </p:cNvSpPr>
            <p:nvPr/>
          </p:nvSpPr>
          <p:spPr bwMode="auto">
            <a:xfrm>
              <a:off x="3175" y="3371"/>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sp>
          <p:nvSpPr>
            <p:cNvPr id="154653" name="Rectangle 29"/>
            <p:cNvSpPr>
              <a:spLocks noChangeArrowheads="1"/>
            </p:cNvSpPr>
            <p:nvPr/>
          </p:nvSpPr>
          <p:spPr bwMode="auto">
            <a:xfrm>
              <a:off x="3400" y="3773"/>
              <a:ext cx="212"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p>
              <a:r>
                <a:rPr lang="en-US" altLang="zh-CN" b="1"/>
                <a:t>6</a:t>
              </a:r>
              <a:endParaRPr lang="en-US" altLang="zh-CN" b="1"/>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4626"/>
                                        </p:tgtEl>
                                        <p:attrNameLst>
                                          <p:attrName>style.visibility</p:attrName>
                                        </p:attrNameLst>
                                      </p:cBhvr>
                                      <p:to>
                                        <p:strVal val="visible"/>
                                      </p:to>
                                    </p:set>
                                    <p:animEffect transition="in" filter="wipe(left)">
                                      <p:cBhvr>
                                        <p:cTn id="7" dur="500"/>
                                        <p:tgtEl>
                                          <p:spTgt spid="154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4627"/>
                                        </p:tgtEl>
                                        <p:attrNameLst>
                                          <p:attrName>style.visibility</p:attrName>
                                        </p:attrNameLst>
                                      </p:cBhvr>
                                      <p:to>
                                        <p:strVal val="visible"/>
                                      </p:to>
                                    </p:set>
                                    <p:animEffect transition="in" filter="wipe(up)">
                                      <p:cBhvr>
                                        <p:cTn id="12" dur="500"/>
                                        <p:tgtEl>
                                          <p:spTgt spid="15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bldLvl="0" animBg="1" autoUpdateAnimBg="0"/>
      <p:bldP spid="154627" grpId="0" bldLvl="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Oval 2"/>
          <p:cNvSpPr>
            <a:spLocks noChangeArrowheads="1"/>
          </p:cNvSpPr>
          <p:nvPr/>
        </p:nvSpPr>
        <p:spPr bwMode="auto">
          <a:xfrm>
            <a:off x="2819400" y="808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155651" name="Oval 3"/>
          <p:cNvSpPr>
            <a:spLocks noChangeArrowheads="1"/>
          </p:cNvSpPr>
          <p:nvPr/>
        </p:nvSpPr>
        <p:spPr bwMode="auto">
          <a:xfrm>
            <a:off x="5105400" y="808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155652" name="Oval 4"/>
          <p:cNvSpPr>
            <a:spLocks noChangeArrowheads="1"/>
          </p:cNvSpPr>
          <p:nvPr/>
        </p:nvSpPr>
        <p:spPr bwMode="auto">
          <a:xfrm>
            <a:off x="6400800" y="1265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55653" name="Oval 5"/>
          <p:cNvSpPr>
            <a:spLocks noChangeArrowheads="1"/>
          </p:cNvSpPr>
          <p:nvPr/>
        </p:nvSpPr>
        <p:spPr bwMode="auto">
          <a:xfrm>
            <a:off x="5791200" y="21034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55654" name="Oval 6"/>
          <p:cNvSpPr>
            <a:spLocks noChangeArrowheads="1"/>
          </p:cNvSpPr>
          <p:nvPr/>
        </p:nvSpPr>
        <p:spPr bwMode="auto">
          <a:xfrm>
            <a:off x="4419600"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55655" name="Oval 7"/>
          <p:cNvSpPr>
            <a:spLocks noChangeArrowheads="1"/>
          </p:cNvSpPr>
          <p:nvPr/>
        </p:nvSpPr>
        <p:spPr bwMode="auto">
          <a:xfrm>
            <a:off x="2667000" y="2332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155656" name="Oval 8"/>
          <p:cNvSpPr>
            <a:spLocks noChangeArrowheads="1"/>
          </p:cNvSpPr>
          <p:nvPr/>
        </p:nvSpPr>
        <p:spPr bwMode="auto">
          <a:xfrm>
            <a:off x="4343400" y="2941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55657" name="Line 9"/>
          <p:cNvSpPr>
            <a:spLocks noChangeShapeType="1"/>
          </p:cNvSpPr>
          <p:nvPr/>
        </p:nvSpPr>
        <p:spPr bwMode="auto">
          <a:xfrm flipV="1">
            <a:off x="3276600" y="1036638"/>
            <a:ext cx="1828800" cy="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58" name="Line 10"/>
          <p:cNvSpPr>
            <a:spLocks noChangeShapeType="1"/>
          </p:cNvSpPr>
          <p:nvPr/>
        </p:nvSpPr>
        <p:spPr bwMode="auto">
          <a:xfrm>
            <a:off x="3200400" y="1189038"/>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59" name="Line 11"/>
          <p:cNvSpPr>
            <a:spLocks noChangeShapeType="1"/>
          </p:cNvSpPr>
          <p:nvPr/>
        </p:nvSpPr>
        <p:spPr bwMode="auto">
          <a:xfrm flipH="1">
            <a:off x="4724400" y="1189038"/>
            <a:ext cx="457200" cy="609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0" name="Line 12"/>
          <p:cNvSpPr>
            <a:spLocks noChangeShapeType="1"/>
          </p:cNvSpPr>
          <p:nvPr/>
        </p:nvSpPr>
        <p:spPr bwMode="auto">
          <a:xfrm flipH="1">
            <a:off x="2895600" y="1265238"/>
            <a:ext cx="152400" cy="1066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1" name="Line 13"/>
          <p:cNvSpPr>
            <a:spLocks noChangeShapeType="1"/>
          </p:cNvSpPr>
          <p:nvPr/>
        </p:nvSpPr>
        <p:spPr bwMode="auto">
          <a:xfrm flipV="1">
            <a:off x="3124200" y="2103438"/>
            <a:ext cx="1295400" cy="381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2" name="Line 14"/>
          <p:cNvSpPr>
            <a:spLocks noChangeShapeType="1"/>
          </p:cNvSpPr>
          <p:nvPr/>
        </p:nvSpPr>
        <p:spPr bwMode="auto">
          <a:xfrm>
            <a:off x="4876800" y="2027238"/>
            <a:ext cx="914400" cy="228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3" name="Line 15"/>
          <p:cNvSpPr>
            <a:spLocks noChangeShapeType="1"/>
          </p:cNvSpPr>
          <p:nvPr/>
        </p:nvSpPr>
        <p:spPr bwMode="auto">
          <a:xfrm>
            <a:off x="5562600" y="1036638"/>
            <a:ext cx="838200" cy="304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4" name="Line 16"/>
          <p:cNvSpPr>
            <a:spLocks noChangeShapeType="1"/>
          </p:cNvSpPr>
          <p:nvPr/>
        </p:nvSpPr>
        <p:spPr bwMode="auto">
          <a:xfrm flipH="1">
            <a:off x="6172200" y="1646238"/>
            <a:ext cx="3048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5" name="Line 17"/>
          <p:cNvSpPr>
            <a:spLocks noChangeShapeType="1"/>
          </p:cNvSpPr>
          <p:nvPr/>
        </p:nvSpPr>
        <p:spPr bwMode="auto">
          <a:xfrm>
            <a:off x="5486400" y="1189038"/>
            <a:ext cx="533400" cy="990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6" name="Line 18"/>
          <p:cNvSpPr>
            <a:spLocks noChangeShapeType="1"/>
          </p:cNvSpPr>
          <p:nvPr/>
        </p:nvSpPr>
        <p:spPr bwMode="auto">
          <a:xfrm>
            <a:off x="3124200" y="2636838"/>
            <a:ext cx="12192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7" name="Line 19"/>
          <p:cNvSpPr>
            <a:spLocks noChangeShapeType="1"/>
          </p:cNvSpPr>
          <p:nvPr/>
        </p:nvSpPr>
        <p:spPr bwMode="auto">
          <a:xfrm flipH="1">
            <a:off x="4800600" y="2408238"/>
            <a:ext cx="9906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68" name="Text Box 20"/>
          <p:cNvSpPr txBox="1">
            <a:spLocks noChangeArrowheads="1"/>
          </p:cNvSpPr>
          <p:nvPr/>
        </p:nvSpPr>
        <p:spPr bwMode="auto">
          <a:xfrm>
            <a:off x="3810000" y="5937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19</a:t>
            </a:r>
            <a:endParaRPr lang="en-US" altLang="zh-CN" sz="2800"/>
          </a:p>
        </p:txBody>
      </p:sp>
      <p:sp>
        <p:nvSpPr>
          <p:cNvPr id="155669" name="Text Box 21"/>
          <p:cNvSpPr txBox="1">
            <a:spLocks noChangeArrowheads="1"/>
          </p:cNvSpPr>
          <p:nvPr/>
        </p:nvSpPr>
        <p:spPr bwMode="auto">
          <a:xfrm>
            <a:off x="5943600" y="7318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5</a:t>
            </a:r>
            <a:endParaRPr lang="en-US" altLang="zh-CN">
              <a:solidFill>
                <a:schemeClr val="tx2"/>
              </a:solidFill>
            </a:endParaRPr>
          </a:p>
        </p:txBody>
      </p:sp>
      <p:sp>
        <p:nvSpPr>
          <p:cNvPr id="155670" name="Text Box 22"/>
          <p:cNvSpPr txBox="1">
            <a:spLocks noChangeArrowheads="1"/>
          </p:cNvSpPr>
          <p:nvPr/>
        </p:nvSpPr>
        <p:spPr bwMode="auto">
          <a:xfrm>
            <a:off x="3429000" y="10366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14</a:t>
            </a:r>
            <a:endParaRPr lang="en-US" altLang="zh-CN"/>
          </a:p>
        </p:txBody>
      </p:sp>
      <p:sp>
        <p:nvSpPr>
          <p:cNvPr id="155671" name="Text Box 23"/>
          <p:cNvSpPr txBox="1">
            <a:spLocks noChangeArrowheads="1"/>
          </p:cNvSpPr>
          <p:nvPr/>
        </p:nvSpPr>
        <p:spPr bwMode="auto">
          <a:xfrm>
            <a:off x="2508250" y="14938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18</a:t>
            </a:r>
            <a:endParaRPr lang="en-US" altLang="zh-CN" sz="3200"/>
          </a:p>
        </p:txBody>
      </p:sp>
      <p:sp>
        <p:nvSpPr>
          <p:cNvPr id="155672" name="Text Box 24"/>
          <p:cNvSpPr txBox="1">
            <a:spLocks noChangeArrowheads="1"/>
          </p:cNvSpPr>
          <p:nvPr/>
        </p:nvSpPr>
        <p:spPr bwMode="auto">
          <a:xfrm>
            <a:off x="3581400" y="24844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27</a:t>
            </a:r>
            <a:endParaRPr lang="en-US" altLang="zh-CN" sz="3200"/>
          </a:p>
        </p:txBody>
      </p:sp>
      <p:sp>
        <p:nvSpPr>
          <p:cNvPr id="155673" name="Text Box 25"/>
          <p:cNvSpPr txBox="1">
            <a:spLocks noChangeArrowheads="1"/>
          </p:cNvSpPr>
          <p:nvPr/>
        </p:nvSpPr>
        <p:spPr bwMode="auto">
          <a:xfrm>
            <a:off x="3276600" y="19192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16</a:t>
            </a:r>
            <a:endParaRPr lang="en-US" altLang="zh-CN" sz="2800"/>
          </a:p>
        </p:txBody>
      </p:sp>
      <p:sp>
        <p:nvSpPr>
          <p:cNvPr id="155674" name="Text Box 26"/>
          <p:cNvSpPr txBox="1">
            <a:spLocks noChangeArrowheads="1"/>
          </p:cNvSpPr>
          <p:nvPr/>
        </p:nvSpPr>
        <p:spPr bwMode="auto">
          <a:xfrm>
            <a:off x="5105400" y="17367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8</a:t>
            </a:r>
            <a:endParaRPr lang="en-US" altLang="zh-CN" sz="3200"/>
          </a:p>
        </p:txBody>
      </p:sp>
      <p:sp>
        <p:nvSpPr>
          <p:cNvPr id="155675" name="Text Box 27"/>
          <p:cNvSpPr txBox="1">
            <a:spLocks noChangeArrowheads="1"/>
          </p:cNvSpPr>
          <p:nvPr/>
        </p:nvSpPr>
        <p:spPr bwMode="auto">
          <a:xfrm>
            <a:off x="4876800" y="23463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21</a:t>
            </a:r>
            <a:endParaRPr lang="en-US" altLang="zh-CN" sz="2800"/>
          </a:p>
        </p:txBody>
      </p:sp>
      <p:sp>
        <p:nvSpPr>
          <p:cNvPr id="155676" name="Text Box 28"/>
          <p:cNvSpPr txBox="1">
            <a:spLocks noChangeArrowheads="1"/>
          </p:cNvSpPr>
          <p:nvPr/>
        </p:nvSpPr>
        <p:spPr bwMode="auto">
          <a:xfrm>
            <a:off x="6324600" y="1722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3</a:t>
            </a:r>
            <a:endParaRPr lang="en-US" altLang="zh-CN" sz="3200"/>
          </a:p>
        </p:txBody>
      </p:sp>
      <p:sp>
        <p:nvSpPr>
          <p:cNvPr id="155677" name="Oval 29"/>
          <p:cNvSpPr>
            <a:spLocks noChangeArrowheads="1"/>
          </p:cNvSpPr>
          <p:nvPr/>
        </p:nvSpPr>
        <p:spPr bwMode="auto">
          <a:xfrm>
            <a:off x="2819400" y="8080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55678" name="Line 30"/>
          <p:cNvSpPr>
            <a:spLocks noChangeShapeType="1"/>
          </p:cNvSpPr>
          <p:nvPr/>
        </p:nvSpPr>
        <p:spPr bwMode="auto">
          <a:xfrm>
            <a:off x="4876800" y="2027238"/>
            <a:ext cx="914400" cy="2286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79" name="Oval 31"/>
          <p:cNvSpPr>
            <a:spLocks noChangeArrowheads="1"/>
          </p:cNvSpPr>
          <p:nvPr/>
        </p:nvSpPr>
        <p:spPr bwMode="auto">
          <a:xfrm>
            <a:off x="4419600" y="17986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155680" name="Line 32"/>
          <p:cNvSpPr>
            <a:spLocks noChangeShapeType="1"/>
          </p:cNvSpPr>
          <p:nvPr/>
        </p:nvSpPr>
        <p:spPr bwMode="auto">
          <a:xfrm>
            <a:off x="3200400" y="1189038"/>
            <a:ext cx="12954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81" name="Text Box 33"/>
          <p:cNvSpPr txBox="1">
            <a:spLocks noChangeArrowheads="1"/>
          </p:cNvSpPr>
          <p:nvPr/>
        </p:nvSpPr>
        <p:spPr bwMode="auto">
          <a:xfrm>
            <a:off x="4572000" y="10366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12</a:t>
            </a:r>
            <a:endParaRPr lang="en-US" altLang="zh-CN" sz="3200"/>
          </a:p>
        </p:txBody>
      </p:sp>
      <p:sp>
        <p:nvSpPr>
          <p:cNvPr id="155682" name="Oval 34"/>
          <p:cNvSpPr>
            <a:spLocks noChangeArrowheads="1"/>
          </p:cNvSpPr>
          <p:nvPr/>
        </p:nvSpPr>
        <p:spPr bwMode="auto">
          <a:xfrm>
            <a:off x="5791200" y="21034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155683" name="Line 35"/>
          <p:cNvSpPr>
            <a:spLocks noChangeShapeType="1"/>
          </p:cNvSpPr>
          <p:nvPr/>
        </p:nvSpPr>
        <p:spPr bwMode="auto">
          <a:xfrm flipH="1">
            <a:off x="6172200" y="1646238"/>
            <a:ext cx="304800" cy="457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84" name="Oval 36"/>
          <p:cNvSpPr>
            <a:spLocks noChangeArrowheads="1"/>
          </p:cNvSpPr>
          <p:nvPr/>
        </p:nvSpPr>
        <p:spPr bwMode="auto">
          <a:xfrm>
            <a:off x="6400800" y="12652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155685" name="Line 37"/>
          <p:cNvSpPr>
            <a:spLocks noChangeShapeType="1"/>
          </p:cNvSpPr>
          <p:nvPr/>
        </p:nvSpPr>
        <p:spPr bwMode="auto">
          <a:xfrm>
            <a:off x="5562600" y="1036638"/>
            <a:ext cx="838200" cy="304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686" name="Oval 38"/>
          <p:cNvSpPr>
            <a:spLocks noChangeArrowheads="1"/>
          </p:cNvSpPr>
          <p:nvPr/>
        </p:nvSpPr>
        <p:spPr bwMode="auto">
          <a:xfrm>
            <a:off x="5105400" y="8080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155687" name="Text Box 39"/>
          <p:cNvSpPr txBox="1">
            <a:spLocks noChangeArrowheads="1"/>
          </p:cNvSpPr>
          <p:nvPr/>
        </p:nvSpPr>
        <p:spPr bwMode="auto">
          <a:xfrm>
            <a:off x="5638800" y="1341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7</a:t>
            </a:r>
            <a:endParaRPr lang="en-US" altLang="zh-CN" sz="3200"/>
          </a:p>
        </p:txBody>
      </p:sp>
      <p:graphicFrame>
        <p:nvGraphicFramePr>
          <p:cNvPr id="155688" name="Object 40"/>
          <p:cNvGraphicFramePr>
            <a:graphicFrameLocks noChangeAspect="1"/>
          </p:cNvGraphicFramePr>
          <p:nvPr/>
        </p:nvGraphicFramePr>
        <p:xfrm>
          <a:off x="457200" y="3848100"/>
          <a:ext cx="8191500" cy="2476500"/>
        </p:xfrm>
        <a:graphic>
          <a:graphicData uri="http://schemas.openxmlformats.org/presentationml/2006/ole">
            <mc:AlternateContent xmlns:mc="http://schemas.openxmlformats.org/markup-compatibility/2006">
              <mc:Choice xmlns:v="urn:schemas-microsoft-com:vml" Requires="v">
                <p:oleObj spid="_x0000_s2" name="Document" r:id="rId1" imgW="8201025" imgH="2486025" progId="Word.Document.8">
                  <p:embed/>
                </p:oleObj>
              </mc:Choice>
              <mc:Fallback>
                <p:oleObj name="Document" r:id="rId1" imgW="8201025" imgH="2486025" progId="Word.Document.8">
                  <p:embed/>
                  <p:pic>
                    <p:nvPicPr>
                      <p:cNvPr id="0" name="Object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48100"/>
                        <a:ext cx="8191500" cy="247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89" name="Text Box 41"/>
          <p:cNvSpPr txBox="1">
            <a:spLocks noChangeArrowheads="1"/>
          </p:cNvSpPr>
          <p:nvPr/>
        </p:nvSpPr>
        <p:spPr bwMode="auto">
          <a:xfrm>
            <a:off x="3200400" y="47244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155690" name="Text Box 42"/>
          <p:cNvSpPr txBox="1">
            <a:spLocks noChangeArrowheads="1"/>
          </p:cNvSpPr>
          <p:nvPr/>
        </p:nvSpPr>
        <p:spPr bwMode="auto">
          <a:xfrm>
            <a:off x="5943600" y="47244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155691" name="Text Box 43"/>
          <p:cNvSpPr txBox="1">
            <a:spLocks noChangeArrowheads="1"/>
          </p:cNvSpPr>
          <p:nvPr/>
        </p:nvSpPr>
        <p:spPr bwMode="auto">
          <a:xfrm>
            <a:off x="7772400" y="46926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155692" name="Text Box 44"/>
          <p:cNvSpPr txBox="1">
            <a:spLocks noChangeArrowheads="1"/>
          </p:cNvSpPr>
          <p:nvPr/>
        </p:nvSpPr>
        <p:spPr bwMode="auto">
          <a:xfrm>
            <a:off x="3200400" y="53784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19</a:t>
            </a:r>
            <a:endParaRPr lang="en-US" altLang="zh-CN" sz="3600" b="1"/>
          </a:p>
        </p:txBody>
      </p:sp>
      <p:sp>
        <p:nvSpPr>
          <p:cNvPr id="155693" name="Text Box 45"/>
          <p:cNvSpPr txBox="1">
            <a:spLocks noChangeArrowheads="1"/>
          </p:cNvSpPr>
          <p:nvPr/>
        </p:nvSpPr>
        <p:spPr bwMode="auto">
          <a:xfrm>
            <a:off x="5927725" y="54102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14</a:t>
            </a:r>
            <a:endParaRPr lang="en-US" altLang="zh-CN" sz="3600" b="1"/>
          </a:p>
        </p:txBody>
      </p:sp>
      <p:sp>
        <p:nvSpPr>
          <p:cNvPr id="155694" name="Text Box 46"/>
          <p:cNvSpPr txBox="1">
            <a:spLocks noChangeArrowheads="1"/>
          </p:cNvSpPr>
          <p:nvPr/>
        </p:nvSpPr>
        <p:spPr bwMode="auto">
          <a:xfrm>
            <a:off x="7756525" y="53784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18</a:t>
            </a:r>
            <a:endParaRPr lang="en-US" altLang="zh-CN" sz="3600" b="1"/>
          </a:p>
        </p:txBody>
      </p:sp>
      <p:sp>
        <p:nvSpPr>
          <p:cNvPr id="155695" name="Text Box 47"/>
          <p:cNvSpPr txBox="1">
            <a:spLocks noChangeArrowheads="1"/>
          </p:cNvSpPr>
          <p:nvPr/>
        </p:nvSpPr>
        <p:spPr bwMode="auto">
          <a:xfrm>
            <a:off x="5943600" y="54546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14</a:t>
            </a:r>
            <a:endParaRPr lang="en-US" altLang="zh-CN" sz="3600" b="1"/>
          </a:p>
        </p:txBody>
      </p:sp>
      <p:sp>
        <p:nvSpPr>
          <p:cNvPr id="155696" name="Text Box 48"/>
          <p:cNvSpPr txBox="1">
            <a:spLocks noChangeArrowheads="1"/>
          </p:cNvSpPr>
          <p:nvPr/>
        </p:nvSpPr>
        <p:spPr bwMode="auto">
          <a:xfrm>
            <a:off x="495300" y="573088"/>
            <a:ext cx="23006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solidFill>
                  <a:srgbClr val="000082"/>
                </a:solidFill>
                <a:latin typeface="Arial" panose="020B0604020202020204" pitchFamily="34" charset="0"/>
                <a:ea typeface="隶书" panose="02010509060101010101" pitchFamily="49" charset="-122"/>
                <a:cs typeface="Arial" panose="020B0604020202020204" pitchFamily="34" charset="0"/>
                <a:sym typeface="+mn-ea"/>
              </a:rPr>
              <a:t>for instance ：</a:t>
            </a:r>
            <a:endParaRPr lang="zh-CN" altLang="en-US" sz="2400" b="1">
              <a:solidFill>
                <a:srgbClr val="000082"/>
              </a:solidFill>
              <a:latin typeface="Arial" panose="020B0604020202020204" pitchFamily="34" charset="0"/>
              <a:ea typeface="隶书" panose="02010509060101010101" pitchFamily="49" charset="-122"/>
              <a:cs typeface="Arial" panose="020B0604020202020204" pitchFamily="34" charset="0"/>
              <a:sym typeface="+mn-ea"/>
            </a:endParaRPr>
          </a:p>
        </p:txBody>
      </p:sp>
      <p:sp>
        <p:nvSpPr>
          <p:cNvPr id="155697" name="Text Box 49"/>
          <p:cNvSpPr txBox="1">
            <a:spLocks noChangeArrowheads="1"/>
          </p:cNvSpPr>
          <p:nvPr/>
        </p:nvSpPr>
        <p:spPr bwMode="auto">
          <a:xfrm>
            <a:off x="3200400"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155698" name="Text Box 50"/>
          <p:cNvSpPr txBox="1">
            <a:spLocks noChangeArrowheads="1"/>
          </p:cNvSpPr>
          <p:nvPr/>
        </p:nvSpPr>
        <p:spPr bwMode="auto">
          <a:xfrm>
            <a:off x="3200400"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12</a:t>
            </a:r>
            <a:endParaRPr lang="en-US" altLang="zh-CN" sz="3600" b="1"/>
          </a:p>
        </p:txBody>
      </p:sp>
      <p:sp>
        <p:nvSpPr>
          <p:cNvPr id="155699" name="Text Box 51"/>
          <p:cNvSpPr txBox="1">
            <a:spLocks noChangeArrowheads="1"/>
          </p:cNvSpPr>
          <p:nvPr/>
        </p:nvSpPr>
        <p:spPr bwMode="auto">
          <a:xfrm>
            <a:off x="5013325"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155700" name="Text Box 52"/>
          <p:cNvSpPr txBox="1">
            <a:spLocks noChangeArrowheads="1"/>
          </p:cNvSpPr>
          <p:nvPr/>
        </p:nvSpPr>
        <p:spPr bwMode="auto">
          <a:xfrm>
            <a:off x="7756525"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155701" name="Text Box 53"/>
          <p:cNvSpPr txBox="1">
            <a:spLocks noChangeArrowheads="1"/>
          </p:cNvSpPr>
          <p:nvPr/>
        </p:nvSpPr>
        <p:spPr bwMode="auto">
          <a:xfrm>
            <a:off x="5013325"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t>8</a:t>
            </a:r>
            <a:endParaRPr lang="en-US" altLang="zh-CN" sz="3600" b="1"/>
          </a:p>
        </p:txBody>
      </p:sp>
      <p:sp>
        <p:nvSpPr>
          <p:cNvPr id="155702" name="Text Box 54"/>
          <p:cNvSpPr txBox="1">
            <a:spLocks noChangeArrowheads="1"/>
          </p:cNvSpPr>
          <p:nvPr/>
        </p:nvSpPr>
        <p:spPr bwMode="auto">
          <a:xfrm>
            <a:off x="7772400"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16</a:t>
            </a:r>
            <a:endParaRPr lang="en-US" altLang="zh-CN" sz="3600" b="1"/>
          </a:p>
        </p:txBody>
      </p:sp>
      <p:sp>
        <p:nvSpPr>
          <p:cNvPr id="155703" name="Text Box 55"/>
          <p:cNvSpPr txBox="1">
            <a:spLocks noChangeArrowheads="1"/>
          </p:cNvSpPr>
          <p:nvPr/>
        </p:nvSpPr>
        <p:spPr bwMode="auto">
          <a:xfrm>
            <a:off x="50292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rgbClr val="00008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8</a:t>
            </a:r>
            <a:endParaRPr lang="en-US" altLang="zh-CN" sz="3600" b="1"/>
          </a:p>
        </p:txBody>
      </p:sp>
      <p:sp>
        <p:nvSpPr>
          <p:cNvPr id="155704" name="Text Box 56"/>
          <p:cNvSpPr txBox="1">
            <a:spLocks noChangeArrowheads="1"/>
          </p:cNvSpPr>
          <p:nvPr/>
        </p:nvSpPr>
        <p:spPr bwMode="auto">
          <a:xfrm>
            <a:off x="41148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155705" name="Text Box 57"/>
          <p:cNvSpPr txBox="1">
            <a:spLocks noChangeArrowheads="1"/>
          </p:cNvSpPr>
          <p:nvPr/>
        </p:nvSpPr>
        <p:spPr bwMode="auto">
          <a:xfrm>
            <a:off x="41148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3</a:t>
            </a:r>
            <a:endParaRPr lang="en-US" altLang="zh-CN" sz="3600" b="1"/>
          </a:p>
        </p:txBody>
      </p:sp>
      <p:sp>
        <p:nvSpPr>
          <p:cNvPr id="155706" name="Text Box 58"/>
          <p:cNvSpPr txBox="1">
            <a:spLocks noChangeArrowheads="1"/>
          </p:cNvSpPr>
          <p:nvPr/>
        </p:nvSpPr>
        <p:spPr bwMode="auto">
          <a:xfrm>
            <a:off x="32004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155707" name="Text Box 59"/>
          <p:cNvSpPr txBox="1">
            <a:spLocks noChangeArrowheads="1"/>
          </p:cNvSpPr>
          <p:nvPr/>
        </p:nvSpPr>
        <p:spPr bwMode="auto">
          <a:xfrm>
            <a:off x="68580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155708" name="Text Box 60"/>
          <p:cNvSpPr txBox="1">
            <a:spLocks noChangeArrowheads="1"/>
          </p:cNvSpPr>
          <p:nvPr/>
        </p:nvSpPr>
        <p:spPr bwMode="auto">
          <a:xfrm>
            <a:off x="32004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t>7</a:t>
            </a:r>
            <a:endParaRPr lang="en-US" altLang="zh-CN" sz="3600" b="1"/>
          </a:p>
        </p:txBody>
      </p:sp>
      <p:sp>
        <p:nvSpPr>
          <p:cNvPr id="155709" name="Text Box 61"/>
          <p:cNvSpPr txBox="1">
            <a:spLocks noChangeArrowheads="1"/>
          </p:cNvSpPr>
          <p:nvPr/>
        </p:nvSpPr>
        <p:spPr bwMode="auto">
          <a:xfrm>
            <a:off x="68580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21</a:t>
            </a:r>
            <a:endParaRPr lang="en-US" altLang="zh-CN" sz="3600" b="1"/>
          </a:p>
        </p:txBody>
      </p:sp>
      <p:sp>
        <p:nvSpPr>
          <p:cNvPr id="155710" name="Text Box 62"/>
          <p:cNvSpPr txBox="1">
            <a:spLocks noChangeArrowheads="1"/>
          </p:cNvSpPr>
          <p:nvPr/>
        </p:nvSpPr>
        <p:spPr bwMode="auto">
          <a:xfrm>
            <a:off x="41148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3</a:t>
            </a:r>
            <a:endParaRPr lang="en-US" altLang="zh-CN" sz="3600" b="1"/>
          </a:p>
        </p:txBody>
      </p:sp>
      <p:sp>
        <p:nvSpPr>
          <p:cNvPr id="155711" name="Text Box 63"/>
          <p:cNvSpPr txBox="1">
            <a:spLocks noChangeArrowheads="1"/>
          </p:cNvSpPr>
          <p:nvPr/>
        </p:nvSpPr>
        <p:spPr bwMode="auto">
          <a:xfrm>
            <a:off x="3200400" y="4724400"/>
            <a:ext cx="854075" cy="654050"/>
          </a:xfrm>
          <a:prstGeom prst="rect">
            <a:avLst/>
          </a:prstGeom>
          <a:solidFill>
            <a:srgbClr val="FFFF99"/>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800000"/>
                </a:solidFill>
              </a:rPr>
              <a:t>c</a:t>
            </a:r>
            <a:endParaRPr lang="en-US" altLang="zh-CN" sz="3600" b="1"/>
          </a:p>
        </p:txBody>
      </p:sp>
      <p:sp>
        <p:nvSpPr>
          <p:cNvPr id="155712" name="Text Box 64"/>
          <p:cNvSpPr txBox="1">
            <a:spLocks noChangeArrowheads="1"/>
          </p:cNvSpPr>
          <p:nvPr/>
        </p:nvSpPr>
        <p:spPr bwMode="auto">
          <a:xfrm>
            <a:off x="3200400" y="5441950"/>
            <a:ext cx="854075" cy="654050"/>
          </a:xfrm>
          <a:prstGeom prst="rect">
            <a:avLst/>
          </a:prstGeom>
          <a:solidFill>
            <a:srgbClr val="FFFF99"/>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800000"/>
                </a:solidFill>
              </a:rPr>
              <a:t>5</a:t>
            </a:r>
            <a:endParaRPr lang="en-US" altLang="zh-CN" sz="3600" b="1"/>
          </a:p>
        </p:txBody>
      </p:sp>
      <p:sp>
        <p:nvSpPr>
          <p:cNvPr id="155713" name="Text Box 65"/>
          <p:cNvSpPr txBox="1">
            <a:spLocks noChangeArrowheads="1"/>
          </p:cNvSpPr>
          <p:nvPr/>
        </p:nvSpPr>
        <p:spPr bwMode="auto">
          <a:xfrm>
            <a:off x="32004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5</a:t>
            </a:r>
            <a:endParaRPr lang="en-US" altLang="zh-CN" sz="3600" b="1"/>
          </a:p>
        </p:txBody>
      </p:sp>
      <p:sp>
        <p:nvSpPr>
          <p:cNvPr id="155714" name="Oval 66"/>
          <p:cNvSpPr>
            <a:spLocks noChangeArrowheads="1"/>
          </p:cNvSpPr>
          <p:nvPr/>
        </p:nvSpPr>
        <p:spPr bwMode="auto">
          <a:xfrm>
            <a:off x="2667000" y="2324100"/>
            <a:ext cx="457200" cy="411163"/>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sz="3600" b="1">
              <a:solidFill>
                <a:srgbClr val="800000"/>
              </a:solidFill>
            </a:endParaRPr>
          </a:p>
        </p:txBody>
      </p:sp>
      <p:sp>
        <p:nvSpPr>
          <p:cNvPr id="155715" name="Line 67"/>
          <p:cNvSpPr>
            <a:spLocks noChangeShapeType="1"/>
          </p:cNvSpPr>
          <p:nvPr/>
        </p:nvSpPr>
        <p:spPr bwMode="auto">
          <a:xfrm flipV="1">
            <a:off x="3124200" y="2095500"/>
            <a:ext cx="1295400" cy="3810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716" name="Oval 68"/>
          <p:cNvSpPr>
            <a:spLocks noChangeArrowheads="1"/>
          </p:cNvSpPr>
          <p:nvPr/>
        </p:nvSpPr>
        <p:spPr bwMode="auto">
          <a:xfrm>
            <a:off x="4343400" y="2933700"/>
            <a:ext cx="457200" cy="411163"/>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sz="3600" b="1">
              <a:solidFill>
                <a:srgbClr val="800000"/>
              </a:solidFill>
            </a:endParaRPr>
          </a:p>
        </p:txBody>
      </p:sp>
      <p:sp>
        <p:nvSpPr>
          <p:cNvPr id="155717" name="Line 69"/>
          <p:cNvSpPr>
            <a:spLocks noChangeShapeType="1"/>
          </p:cNvSpPr>
          <p:nvPr/>
        </p:nvSpPr>
        <p:spPr bwMode="auto">
          <a:xfrm flipH="1">
            <a:off x="4838700" y="2381250"/>
            <a:ext cx="9906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5688"/>
                                        </p:tgtEl>
                                        <p:attrNameLst>
                                          <p:attrName>style.visibility</p:attrName>
                                        </p:attrNameLst>
                                      </p:cBhvr>
                                      <p:to>
                                        <p:strVal val="visible"/>
                                      </p:to>
                                    </p:set>
                                    <p:anim calcmode="lin" valueType="num">
                                      <p:cBhvr additive="base">
                                        <p:cTn id="7" dur="500" fill="hold"/>
                                        <p:tgtEl>
                                          <p:spTgt spid="155688"/>
                                        </p:tgtEl>
                                        <p:attrNameLst>
                                          <p:attrName>ppt_x</p:attrName>
                                        </p:attrNameLst>
                                      </p:cBhvr>
                                      <p:tavLst>
                                        <p:tav tm="0">
                                          <p:val>
                                            <p:strVal val="0-#ppt_w/2"/>
                                          </p:val>
                                        </p:tav>
                                        <p:tav tm="100000">
                                          <p:val>
                                            <p:strVal val="#ppt_x"/>
                                          </p:val>
                                        </p:tav>
                                      </p:tavLst>
                                    </p:anim>
                                    <p:anim calcmode="lin" valueType="num">
                                      <p:cBhvr additive="base">
                                        <p:cTn id="8" dur="500" fill="hold"/>
                                        <p:tgtEl>
                                          <p:spTgt spid="1556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5677"/>
                                        </p:tgtEl>
                                        <p:attrNameLst>
                                          <p:attrName>style.visibility</p:attrName>
                                        </p:attrNameLst>
                                      </p:cBhvr>
                                      <p:to>
                                        <p:strVal val="visible"/>
                                      </p:to>
                                    </p:set>
                                    <p:anim calcmode="lin" valueType="num">
                                      <p:cBhvr additive="base">
                                        <p:cTn id="13" dur="500" fill="hold"/>
                                        <p:tgtEl>
                                          <p:spTgt spid="155677"/>
                                        </p:tgtEl>
                                        <p:attrNameLst>
                                          <p:attrName>ppt_x</p:attrName>
                                        </p:attrNameLst>
                                      </p:cBhvr>
                                      <p:tavLst>
                                        <p:tav tm="0">
                                          <p:val>
                                            <p:strVal val="0-#ppt_w/2"/>
                                          </p:val>
                                        </p:tav>
                                        <p:tav tm="100000">
                                          <p:val>
                                            <p:strVal val="#ppt_x"/>
                                          </p:val>
                                        </p:tav>
                                      </p:tavLst>
                                    </p:anim>
                                    <p:anim calcmode="lin" valueType="num">
                                      <p:cBhvr additive="base">
                                        <p:cTn id="14" dur="500" fill="hold"/>
                                        <p:tgtEl>
                                          <p:spTgt spid="1556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5689">
                                            <p:txEl>
                                              <p:pRg st="0" end="0"/>
                                            </p:txEl>
                                          </p:spTgt>
                                        </p:tgtEl>
                                        <p:attrNameLst>
                                          <p:attrName>style.visibility</p:attrName>
                                        </p:attrNameLst>
                                      </p:cBhvr>
                                      <p:to>
                                        <p:strVal val="visible"/>
                                      </p:to>
                                    </p:set>
                                    <p:anim calcmode="lin" valueType="num">
                                      <p:cBhvr additive="base">
                                        <p:cTn id="19" dur="500" fill="hold"/>
                                        <p:tgtEl>
                                          <p:spTgt spid="15568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5689">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155692">
                                            <p:txEl>
                                              <p:pRg st="0" end="0"/>
                                            </p:txEl>
                                          </p:spTgt>
                                        </p:tgtEl>
                                        <p:attrNameLst>
                                          <p:attrName>style.visibility</p:attrName>
                                        </p:attrNameLst>
                                      </p:cBhvr>
                                      <p:to>
                                        <p:strVal val="visible"/>
                                      </p:to>
                                    </p:set>
                                    <p:anim calcmode="lin" valueType="num">
                                      <p:cBhvr additive="base">
                                        <p:cTn id="24" dur="500" fill="hold"/>
                                        <p:tgtEl>
                                          <p:spTgt spid="155692">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556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55690">
                                            <p:txEl>
                                              <p:pRg st="0" end="0"/>
                                            </p:txEl>
                                          </p:spTgt>
                                        </p:tgtEl>
                                        <p:attrNameLst>
                                          <p:attrName>style.visibility</p:attrName>
                                        </p:attrNameLst>
                                      </p:cBhvr>
                                      <p:to>
                                        <p:strVal val="visible"/>
                                      </p:to>
                                    </p:set>
                                    <p:anim calcmode="lin" valueType="num">
                                      <p:cBhvr additive="base">
                                        <p:cTn id="30" dur="500" fill="hold"/>
                                        <p:tgtEl>
                                          <p:spTgt spid="155690">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55690">
                                            <p:txEl>
                                              <p:pRg st="0" end="0"/>
                                            </p:txEl>
                                          </p:spTgt>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155693">
                                            <p:txEl>
                                              <p:pRg st="0" end="0"/>
                                            </p:txEl>
                                          </p:spTgt>
                                        </p:tgtEl>
                                        <p:attrNameLst>
                                          <p:attrName>style.visibility</p:attrName>
                                        </p:attrNameLst>
                                      </p:cBhvr>
                                      <p:to>
                                        <p:strVal val="visible"/>
                                      </p:to>
                                    </p:set>
                                    <p:anim calcmode="lin" valueType="num">
                                      <p:cBhvr additive="base">
                                        <p:cTn id="35" dur="500" fill="hold"/>
                                        <p:tgtEl>
                                          <p:spTgt spid="155693">
                                            <p:txEl>
                                              <p:pRg st="0" end="0"/>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556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55691">
                                            <p:txEl>
                                              <p:pRg st="0" end="0"/>
                                            </p:txEl>
                                          </p:spTgt>
                                        </p:tgtEl>
                                        <p:attrNameLst>
                                          <p:attrName>style.visibility</p:attrName>
                                        </p:attrNameLst>
                                      </p:cBhvr>
                                      <p:to>
                                        <p:strVal val="visible"/>
                                      </p:to>
                                    </p:set>
                                    <p:anim calcmode="lin" valueType="num">
                                      <p:cBhvr additive="base">
                                        <p:cTn id="41" dur="500" fill="hold"/>
                                        <p:tgtEl>
                                          <p:spTgt spid="155691">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155691">
                                            <p:txEl>
                                              <p:pRg st="0" end="0"/>
                                            </p:txEl>
                                          </p:spTgt>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 presetClass="entr" presetSubtype="8" fill="hold" grpId="0" nodeType="afterEffect">
                                  <p:stCondLst>
                                    <p:cond delay="0"/>
                                  </p:stCondLst>
                                  <p:childTnLst>
                                    <p:set>
                                      <p:cBhvr>
                                        <p:cTn id="45" dur="1" fill="hold">
                                          <p:stCondLst>
                                            <p:cond delay="0"/>
                                          </p:stCondLst>
                                        </p:cTn>
                                        <p:tgtEl>
                                          <p:spTgt spid="155694">
                                            <p:txEl>
                                              <p:pRg st="0" end="0"/>
                                            </p:txEl>
                                          </p:spTgt>
                                        </p:tgtEl>
                                        <p:attrNameLst>
                                          <p:attrName>style.visibility</p:attrName>
                                        </p:attrNameLst>
                                      </p:cBhvr>
                                      <p:to>
                                        <p:strVal val="visible"/>
                                      </p:to>
                                    </p:set>
                                    <p:anim calcmode="lin" valueType="num">
                                      <p:cBhvr additive="base">
                                        <p:cTn id="46" dur="500" fill="hold"/>
                                        <p:tgtEl>
                                          <p:spTgt spid="155694">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1556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55695"/>
                                        </p:tgtEl>
                                        <p:attrNameLst>
                                          <p:attrName>style.visibility</p:attrName>
                                        </p:attrNameLst>
                                      </p:cBhvr>
                                      <p:to>
                                        <p:strVal val="visible"/>
                                      </p:to>
                                    </p:set>
                                    <p:anim calcmode="lin" valueType="num">
                                      <p:cBhvr additive="base">
                                        <p:cTn id="52" dur="500" fill="hold"/>
                                        <p:tgtEl>
                                          <p:spTgt spid="155695"/>
                                        </p:tgtEl>
                                        <p:attrNameLst>
                                          <p:attrName>ppt_x</p:attrName>
                                        </p:attrNameLst>
                                      </p:cBhvr>
                                      <p:tavLst>
                                        <p:tav tm="0">
                                          <p:val>
                                            <p:strVal val="0-#ppt_w/2"/>
                                          </p:val>
                                        </p:tav>
                                        <p:tav tm="100000">
                                          <p:val>
                                            <p:strVal val="#ppt_x"/>
                                          </p:val>
                                        </p:tav>
                                      </p:tavLst>
                                    </p:anim>
                                    <p:anim calcmode="lin" valueType="num">
                                      <p:cBhvr additive="base">
                                        <p:cTn id="53" dur="500" fill="hold"/>
                                        <p:tgtEl>
                                          <p:spTgt spid="155695"/>
                                        </p:tgtEl>
                                        <p:attrNameLst>
                                          <p:attrName>ppt_y</p:attrName>
                                        </p:attrNameLst>
                                      </p:cBhvr>
                                      <p:tavLst>
                                        <p:tav tm="0">
                                          <p:val>
                                            <p:strVal val="#ppt_y"/>
                                          </p:val>
                                        </p:tav>
                                        <p:tav tm="100000">
                                          <p:val>
                                            <p:strVal val="#ppt_y"/>
                                          </p:val>
                                        </p:tav>
                                      </p:tavLst>
                                    </p:anim>
                                  </p:childTnLst>
                                </p:cTn>
                              </p:par>
                            </p:childTnLst>
                          </p:cTn>
                        </p:par>
                        <p:par>
                          <p:cTn id="54" fill="hold">
                            <p:stCondLst>
                              <p:cond delay="500"/>
                            </p:stCondLst>
                            <p:childTnLst>
                              <p:par>
                                <p:cTn id="55" presetID="2" presetClass="entr" presetSubtype="8" fill="hold" grpId="0" nodeType="afterEffect">
                                  <p:stCondLst>
                                    <p:cond delay="0"/>
                                  </p:stCondLst>
                                  <p:childTnLst>
                                    <p:set>
                                      <p:cBhvr>
                                        <p:cTn id="56" dur="1" fill="hold">
                                          <p:stCondLst>
                                            <p:cond delay="0"/>
                                          </p:stCondLst>
                                        </p:cTn>
                                        <p:tgtEl>
                                          <p:spTgt spid="155680"/>
                                        </p:tgtEl>
                                        <p:attrNameLst>
                                          <p:attrName>style.visibility</p:attrName>
                                        </p:attrNameLst>
                                      </p:cBhvr>
                                      <p:to>
                                        <p:strVal val="visible"/>
                                      </p:to>
                                    </p:set>
                                    <p:anim calcmode="lin" valueType="num">
                                      <p:cBhvr additive="base">
                                        <p:cTn id="57" dur="500" fill="hold"/>
                                        <p:tgtEl>
                                          <p:spTgt spid="155680"/>
                                        </p:tgtEl>
                                        <p:attrNameLst>
                                          <p:attrName>ppt_x</p:attrName>
                                        </p:attrNameLst>
                                      </p:cBhvr>
                                      <p:tavLst>
                                        <p:tav tm="0">
                                          <p:val>
                                            <p:strVal val="0-#ppt_w/2"/>
                                          </p:val>
                                        </p:tav>
                                        <p:tav tm="100000">
                                          <p:val>
                                            <p:strVal val="#ppt_x"/>
                                          </p:val>
                                        </p:tav>
                                      </p:tavLst>
                                    </p:anim>
                                    <p:anim calcmode="lin" valueType="num">
                                      <p:cBhvr additive="base">
                                        <p:cTn id="58" dur="500" fill="hold"/>
                                        <p:tgtEl>
                                          <p:spTgt spid="155680"/>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55679"/>
                                        </p:tgtEl>
                                        <p:attrNameLst>
                                          <p:attrName>style.visibility</p:attrName>
                                        </p:attrNameLst>
                                      </p:cBhvr>
                                      <p:to>
                                        <p:strVal val="visible"/>
                                      </p:to>
                                    </p:set>
                                    <p:anim calcmode="lin" valueType="num">
                                      <p:cBhvr additive="base">
                                        <p:cTn id="63" dur="500" fill="hold"/>
                                        <p:tgtEl>
                                          <p:spTgt spid="155679"/>
                                        </p:tgtEl>
                                        <p:attrNameLst>
                                          <p:attrName>ppt_x</p:attrName>
                                        </p:attrNameLst>
                                      </p:cBhvr>
                                      <p:tavLst>
                                        <p:tav tm="0">
                                          <p:val>
                                            <p:strVal val="0-#ppt_w/2"/>
                                          </p:val>
                                        </p:tav>
                                        <p:tav tm="100000">
                                          <p:val>
                                            <p:strVal val="#ppt_x"/>
                                          </p:val>
                                        </p:tav>
                                      </p:tavLst>
                                    </p:anim>
                                    <p:anim calcmode="lin" valueType="num">
                                      <p:cBhvr additive="base">
                                        <p:cTn id="64" dur="500" fill="hold"/>
                                        <p:tgtEl>
                                          <p:spTgt spid="155679"/>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55697"/>
                                        </p:tgtEl>
                                        <p:attrNameLst>
                                          <p:attrName>style.visibility</p:attrName>
                                        </p:attrNameLst>
                                      </p:cBhvr>
                                      <p:to>
                                        <p:strVal val="visible"/>
                                      </p:to>
                                    </p:set>
                                    <p:anim calcmode="lin" valueType="num">
                                      <p:cBhvr additive="base">
                                        <p:cTn id="69" dur="500" fill="hold"/>
                                        <p:tgtEl>
                                          <p:spTgt spid="155697"/>
                                        </p:tgtEl>
                                        <p:attrNameLst>
                                          <p:attrName>ppt_x</p:attrName>
                                        </p:attrNameLst>
                                      </p:cBhvr>
                                      <p:tavLst>
                                        <p:tav tm="0">
                                          <p:val>
                                            <p:strVal val="0-#ppt_w/2"/>
                                          </p:val>
                                        </p:tav>
                                        <p:tav tm="100000">
                                          <p:val>
                                            <p:strVal val="#ppt_x"/>
                                          </p:val>
                                        </p:tav>
                                      </p:tavLst>
                                    </p:anim>
                                    <p:anim calcmode="lin" valueType="num">
                                      <p:cBhvr additive="base">
                                        <p:cTn id="70" dur="500" fill="hold"/>
                                        <p:tgtEl>
                                          <p:spTgt spid="155697"/>
                                        </p:tgtEl>
                                        <p:attrNameLst>
                                          <p:attrName>ppt_y</p:attrName>
                                        </p:attrNameLst>
                                      </p:cBhvr>
                                      <p:tavLst>
                                        <p:tav tm="0">
                                          <p:val>
                                            <p:strVal val="#ppt_y"/>
                                          </p:val>
                                        </p:tav>
                                        <p:tav tm="100000">
                                          <p:val>
                                            <p:strVal val="#ppt_y"/>
                                          </p:val>
                                        </p:tav>
                                      </p:tavLst>
                                    </p:anim>
                                  </p:childTnLst>
                                </p:cTn>
                              </p:par>
                            </p:childTnLst>
                          </p:cTn>
                        </p:par>
                        <p:par>
                          <p:cTn id="71" fill="hold">
                            <p:stCondLst>
                              <p:cond delay="500"/>
                            </p:stCondLst>
                            <p:childTnLst>
                              <p:par>
                                <p:cTn id="72" presetID="2" presetClass="entr" presetSubtype="8" fill="hold" grpId="0" nodeType="afterEffect">
                                  <p:stCondLst>
                                    <p:cond delay="0"/>
                                  </p:stCondLst>
                                  <p:childTnLst>
                                    <p:set>
                                      <p:cBhvr>
                                        <p:cTn id="73" dur="1" fill="hold">
                                          <p:stCondLst>
                                            <p:cond delay="0"/>
                                          </p:stCondLst>
                                        </p:cTn>
                                        <p:tgtEl>
                                          <p:spTgt spid="155698"/>
                                        </p:tgtEl>
                                        <p:attrNameLst>
                                          <p:attrName>style.visibility</p:attrName>
                                        </p:attrNameLst>
                                      </p:cBhvr>
                                      <p:to>
                                        <p:strVal val="visible"/>
                                      </p:to>
                                    </p:set>
                                    <p:anim calcmode="lin" valueType="num">
                                      <p:cBhvr additive="base">
                                        <p:cTn id="74" dur="500" fill="hold"/>
                                        <p:tgtEl>
                                          <p:spTgt spid="155698"/>
                                        </p:tgtEl>
                                        <p:attrNameLst>
                                          <p:attrName>ppt_x</p:attrName>
                                        </p:attrNameLst>
                                      </p:cBhvr>
                                      <p:tavLst>
                                        <p:tav tm="0">
                                          <p:val>
                                            <p:strVal val="0-#ppt_w/2"/>
                                          </p:val>
                                        </p:tav>
                                        <p:tav tm="100000">
                                          <p:val>
                                            <p:strVal val="#ppt_x"/>
                                          </p:val>
                                        </p:tav>
                                      </p:tavLst>
                                    </p:anim>
                                    <p:anim calcmode="lin" valueType="num">
                                      <p:cBhvr additive="base">
                                        <p:cTn id="75" dur="500" fill="hold"/>
                                        <p:tgtEl>
                                          <p:spTgt spid="155698"/>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8" fill="hold" grpId="0" nodeType="clickEffect">
                                  <p:stCondLst>
                                    <p:cond delay="0"/>
                                  </p:stCondLst>
                                  <p:childTnLst>
                                    <p:set>
                                      <p:cBhvr>
                                        <p:cTn id="79" dur="1" fill="hold">
                                          <p:stCondLst>
                                            <p:cond delay="0"/>
                                          </p:stCondLst>
                                        </p:cTn>
                                        <p:tgtEl>
                                          <p:spTgt spid="155699"/>
                                        </p:tgtEl>
                                        <p:attrNameLst>
                                          <p:attrName>style.visibility</p:attrName>
                                        </p:attrNameLst>
                                      </p:cBhvr>
                                      <p:to>
                                        <p:strVal val="visible"/>
                                      </p:to>
                                    </p:set>
                                    <p:anim calcmode="lin" valueType="num">
                                      <p:cBhvr additive="base">
                                        <p:cTn id="80" dur="500" fill="hold"/>
                                        <p:tgtEl>
                                          <p:spTgt spid="155699"/>
                                        </p:tgtEl>
                                        <p:attrNameLst>
                                          <p:attrName>ppt_x</p:attrName>
                                        </p:attrNameLst>
                                      </p:cBhvr>
                                      <p:tavLst>
                                        <p:tav tm="0">
                                          <p:val>
                                            <p:strVal val="0-#ppt_w/2"/>
                                          </p:val>
                                        </p:tav>
                                        <p:tav tm="100000">
                                          <p:val>
                                            <p:strVal val="#ppt_x"/>
                                          </p:val>
                                        </p:tav>
                                      </p:tavLst>
                                    </p:anim>
                                    <p:anim calcmode="lin" valueType="num">
                                      <p:cBhvr additive="base">
                                        <p:cTn id="81" dur="500" fill="hold"/>
                                        <p:tgtEl>
                                          <p:spTgt spid="155699"/>
                                        </p:tgtEl>
                                        <p:attrNameLst>
                                          <p:attrName>ppt_y</p:attrName>
                                        </p:attrNameLst>
                                      </p:cBhvr>
                                      <p:tavLst>
                                        <p:tav tm="0">
                                          <p:val>
                                            <p:strVal val="#ppt_y"/>
                                          </p:val>
                                        </p:tav>
                                        <p:tav tm="100000">
                                          <p:val>
                                            <p:strVal val="#ppt_y"/>
                                          </p:val>
                                        </p:tav>
                                      </p:tavLst>
                                    </p:anim>
                                  </p:childTnLst>
                                </p:cTn>
                              </p:par>
                            </p:childTnLst>
                          </p:cTn>
                        </p:par>
                        <p:par>
                          <p:cTn id="82" fill="hold">
                            <p:stCondLst>
                              <p:cond delay="500"/>
                            </p:stCondLst>
                            <p:childTnLst>
                              <p:par>
                                <p:cTn id="83" presetID="2" presetClass="entr" presetSubtype="8" fill="hold" grpId="0" nodeType="afterEffect">
                                  <p:stCondLst>
                                    <p:cond delay="0"/>
                                  </p:stCondLst>
                                  <p:childTnLst>
                                    <p:set>
                                      <p:cBhvr>
                                        <p:cTn id="84" dur="1" fill="hold">
                                          <p:stCondLst>
                                            <p:cond delay="0"/>
                                          </p:stCondLst>
                                        </p:cTn>
                                        <p:tgtEl>
                                          <p:spTgt spid="155701"/>
                                        </p:tgtEl>
                                        <p:attrNameLst>
                                          <p:attrName>style.visibility</p:attrName>
                                        </p:attrNameLst>
                                      </p:cBhvr>
                                      <p:to>
                                        <p:strVal val="visible"/>
                                      </p:to>
                                    </p:set>
                                    <p:anim calcmode="lin" valueType="num">
                                      <p:cBhvr additive="base">
                                        <p:cTn id="85" dur="500" fill="hold"/>
                                        <p:tgtEl>
                                          <p:spTgt spid="155701"/>
                                        </p:tgtEl>
                                        <p:attrNameLst>
                                          <p:attrName>ppt_x</p:attrName>
                                        </p:attrNameLst>
                                      </p:cBhvr>
                                      <p:tavLst>
                                        <p:tav tm="0">
                                          <p:val>
                                            <p:strVal val="0-#ppt_w/2"/>
                                          </p:val>
                                        </p:tav>
                                        <p:tav tm="100000">
                                          <p:val>
                                            <p:strVal val="#ppt_x"/>
                                          </p:val>
                                        </p:tav>
                                      </p:tavLst>
                                    </p:anim>
                                    <p:anim calcmode="lin" valueType="num">
                                      <p:cBhvr additive="base">
                                        <p:cTn id="86" dur="500" fill="hold"/>
                                        <p:tgtEl>
                                          <p:spTgt spid="155701"/>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55700"/>
                                        </p:tgtEl>
                                        <p:attrNameLst>
                                          <p:attrName>style.visibility</p:attrName>
                                        </p:attrNameLst>
                                      </p:cBhvr>
                                      <p:to>
                                        <p:strVal val="visible"/>
                                      </p:to>
                                    </p:set>
                                    <p:anim calcmode="lin" valueType="num">
                                      <p:cBhvr additive="base">
                                        <p:cTn id="91" dur="500" fill="hold"/>
                                        <p:tgtEl>
                                          <p:spTgt spid="155700"/>
                                        </p:tgtEl>
                                        <p:attrNameLst>
                                          <p:attrName>ppt_x</p:attrName>
                                        </p:attrNameLst>
                                      </p:cBhvr>
                                      <p:tavLst>
                                        <p:tav tm="0">
                                          <p:val>
                                            <p:strVal val="0-#ppt_w/2"/>
                                          </p:val>
                                        </p:tav>
                                        <p:tav tm="100000">
                                          <p:val>
                                            <p:strVal val="#ppt_x"/>
                                          </p:val>
                                        </p:tav>
                                      </p:tavLst>
                                    </p:anim>
                                    <p:anim calcmode="lin" valueType="num">
                                      <p:cBhvr additive="base">
                                        <p:cTn id="92" dur="500" fill="hold"/>
                                        <p:tgtEl>
                                          <p:spTgt spid="155700"/>
                                        </p:tgtEl>
                                        <p:attrNameLst>
                                          <p:attrName>ppt_y</p:attrName>
                                        </p:attrNameLst>
                                      </p:cBhvr>
                                      <p:tavLst>
                                        <p:tav tm="0">
                                          <p:val>
                                            <p:strVal val="#ppt_y"/>
                                          </p:val>
                                        </p:tav>
                                        <p:tav tm="100000">
                                          <p:val>
                                            <p:strVal val="#ppt_y"/>
                                          </p:val>
                                        </p:tav>
                                      </p:tavLst>
                                    </p:anim>
                                  </p:childTnLst>
                                </p:cTn>
                              </p:par>
                            </p:childTnLst>
                          </p:cTn>
                        </p:par>
                        <p:par>
                          <p:cTn id="93" fill="hold">
                            <p:stCondLst>
                              <p:cond delay="500"/>
                            </p:stCondLst>
                            <p:childTnLst>
                              <p:par>
                                <p:cTn id="94" presetID="2" presetClass="entr" presetSubtype="8" fill="hold" grpId="0" nodeType="afterEffect">
                                  <p:stCondLst>
                                    <p:cond delay="0"/>
                                  </p:stCondLst>
                                  <p:childTnLst>
                                    <p:set>
                                      <p:cBhvr>
                                        <p:cTn id="95" dur="1" fill="hold">
                                          <p:stCondLst>
                                            <p:cond delay="0"/>
                                          </p:stCondLst>
                                        </p:cTn>
                                        <p:tgtEl>
                                          <p:spTgt spid="155702"/>
                                        </p:tgtEl>
                                        <p:attrNameLst>
                                          <p:attrName>style.visibility</p:attrName>
                                        </p:attrNameLst>
                                      </p:cBhvr>
                                      <p:to>
                                        <p:strVal val="visible"/>
                                      </p:to>
                                    </p:set>
                                    <p:anim calcmode="lin" valueType="num">
                                      <p:cBhvr additive="base">
                                        <p:cTn id="96" dur="500" fill="hold"/>
                                        <p:tgtEl>
                                          <p:spTgt spid="155702"/>
                                        </p:tgtEl>
                                        <p:attrNameLst>
                                          <p:attrName>ppt_x</p:attrName>
                                        </p:attrNameLst>
                                      </p:cBhvr>
                                      <p:tavLst>
                                        <p:tav tm="0">
                                          <p:val>
                                            <p:strVal val="0-#ppt_w/2"/>
                                          </p:val>
                                        </p:tav>
                                        <p:tav tm="100000">
                                          <p:val>
                                            <p:strVal val="#ppt_x"/>
                                          </p:val>
                                        </p:tav>
                                      </p:tavLst>
                                    </p:anim>
                                    <p:anim calcmode="lin" valueType="num">
                                      <p:cBhvr additive="base">
                                        <p:cTn id="97" dur="500" fill="hold"/>
                                        <p:tgtEl>
                                          <p:spTgt spid="155702"/>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8" fill="hold" grpId="0" nodeType="clickEffect">
                                  <p:stCondLst>
                                    <p:cond delay="0"/>
                                  </p:stCondLst>
                                  <p:childTnLst>
                                    <p:set>
                                      <p:cBhvr>
                                        <p:cTn id="101" dur="1" fill="hold">
                                          <p:stCondLst>
                                            <p:cond delay="0"/>
                                          </p:stCondLst>
                                        </p:cTn>
                                        <p:tgtEl>
                                          <p:spTgt spid="155703"/>
                                        </p:tgtEl>
                                        <p:attrNameLst>
                                          <p:attrName>style.visibility</p:attrName>
                                        </p:attrNameLst>
                                      </p:cBhvr>
                                      <p:to>
                                        <p:strVal val="visible"/>
                                      </p:to>
                                    </p:set>
                                    <p:anim calcmode="lin" valueType="num">
                                      <p:cBhvr additive="base">
                                        <p:cTn id="102" dur="500" fill="hold"/>
                                        <p:tgtEl>
                                          <p:spTgt spid="155703"/>
                                        </p:tgtEl>
                                        <p:attrNameLst>
                                          <p:attrName>ppt_x</p:attrName>
                                        </p:attrNameLst>
                                      </p:cBhvr>
                                      <p:tavLst>
                                        <p:tav tm="0">
                                          <p:val>
                                            <p:strVal val="0-#ppt_w/2"/>
                                          </p:val>
                                        </p:tav>
                                        <p:tav tm="100000">
                                          <p:val>
                                            <p:strVal val="#ppt_x"/>
                                          </p:val>
                                        </p:tav>
                                      </p:tavLst>
                                    </p:anim>
                                    <p:anim calcmode="lin" valueType="num">
                                      <p:cBhvr additive="base">
                                        <p:cTn id="103" dur="500" fill="hold"/>
                                        <p:tgtEl>
                                          <p:spTgt spid="155703"/>
                                        </p:tgtEl>
                                        <p:attrNameLst>
                                          <p:attrName>ppt_y</p:attrName>
                                        </p:attrNameLst>
                                      </p:cBhvr>
                                      <p:tavLst>
                                        <p:tav tm="0">
                                          <p:val>
                                            <p:strVal val="#ppt_y"/>
                                          </p:val>
                                        </p:tav>
                                        <p:tav tm="100000">
                                          <p:val>
                                            <p:strVal val="#ppt_y"/>
                                          </p:val>
                                        </p:tav>
                                      </p:tavLst>
                                    </p:anim>
                                  </p:childTnLst>
                                </p:cTn>
                              </p:par>
                            </p:childTnLst>
                          </p:cTn>
                        </p:par>
                        <p:par>
                          <p:cTn id="104" fill="hold">
                            <p:stCondLst>
                              <p:cond delay="500"/>
                            </p:stCondLst>
                            <p:childTnLst>
                              <p:par>
                                <p:cTn id="105" presetID="2" presetClass="entr" presetSubtype="8" fill="hold" grpId="0" nodeType="afterEffect">
                                  <p:stCondLst>
                                    <p:cond delay="0"/>
                                  </p:stCondLst>
                                  <p:childTnLst>
                                    <p:set>
                                      <p:cBhvr>
                                        <p:cTn id="106" dur="1" fill="hold">
                                          <p:stCondLst>
                                            <p:cond delay="0"/>
                                          </p:stCondLst>
                                        </p:cTn>
                                        <p:tgtEl>
                                          <p:spTgt spid="155678"/>
                                        </p:tgtEl>
                                        <p:attrNameLst>
                                          <p:attrName>style.visibility</p:attrName>
                                        </p:attrNameLst>
                                      </p:cBhvr>
                                      <p:to>
                                        <p:strVal val="visible"/>
                                      </p:to>
                                    </p:set>
                                    <p:anim calcmode="lin" valueType="num">
                                      <p:cBhvr additive="base">
                                        <p:cTn id="107" dur="500" fill="hold"/>
                                        <p:tgtEl>
                                          <p:spTgt spid="155678"/>
                                        </p:tgtEl>
                                        <p:attrNameLst>
                                          <p:attrName>ppt_x</p:attrName>
                                        </p:attrNameLst>
                                      </p:cBhvr>
                                      <p:tavLst>
                                        <p:tav tm="0">
                                          <p:val>
                                            <p:strVal val="0-#ppt_w/2"/>
                                          </p:val>
                                        </p:tav>
                                        <p:tav tm="100000">
                                          <p:val>
                                            <p:strVal val="#ppt_x"/>
                                          </p:val>
                                        </p:tav>
                                      </p:tavLst>
                                    </p:anim>
                                    <p:anim calcmode="lin" valueType="num">
                                      <p:cBhvr additive="base">
                                        <p:cTn id="108" dur="500" fill="hold"/>
                                        <p:tgtEl>
                                          <p:spTgt spid="155678"/>
                                        </p:tgtEl>
                                        <p:attrNameLst>
                                          <p:attrName>ppt_y</p:attrName>
                                        </p:attrNameLst>
                                      </p:cBhvr>
                                      <p:tavLst>
                                        <p:tav tm="0">
                                          <p:val>
                                            <p:strVal val="#ppt_y"/>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8" fill="hold" grpId="0" nodeType="clickEffect">
                                  <p:stCondLst>
                                    <p:cond delay="0"/>
                                  </p:stCondLst>
                                  <p:childTnLst>
                                    <p:set>
                                      <p:cBhvr>
                                        <p:cTn id="112" dur="1" fill="hold">
                                          <p:stCondLst>
                                            <p:cond delay="0"/>
                                          </p:stCondLst>
                                        </p:cTn>
                                        <p:tgtEl>
                                          <p:spTgt spid="155682"/>
                                        </p:tgtEl>
                                        <p:attrNameLst>
                                          <p:attrName>style.visibility</p:attrName>
                                        </p:attrNameLst>
                                      </p:cBhvr>
                                      <p:to>
                                        <p:strVal val="visible"/>
                                      </p:to>
                                    </p:set>
                                    <p:anim calcmode="lin" valueType="num">
                                      <p:cBhvr additive="base">
                                        <p:cTn id="113" dur="500" fill="hold"/>
                                        <p:tgtEl>
                                          <p:spTgt spid="155682"/>
                                        </p:tgtEl>
                                        <p:attrNameLst>
                                          <p:attrName>ppt_x</p:attrName>
                                        </p:attrNameLst>
                                      </p:cBhvr>
                                      <p:tavLst>
                                        <p:tav tm="0">
                                          <p:val>
                                            <p:strVal val="0-#ppt_w/2"/>
                                          </p:val>
                                        </p:tav>
                                        <p:tav tm="100000">
                                          <p:val>
                                            <p:strVal val="#ppt_x"/>
                                          </p:val>
                                        </p:tav>
                                      </p:tavLst>
                                    </p:anim>
                                    <p:anim calcmode="lin" valueType="num">
                                      <p:cBhvr additive="base">
                                        <p:cTn id="114" dur="500" fill="hold"/>
                                        <p:tgtEl>
                                          <p:spTgt spid="155682"/>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155706"/>
                                        </p:tgtEl>
                                        <p:attrNameLst>
                                          <p:attrName>style.visibility</p:attrName>
                                        </p:attrNameLst>
                                      </p:cBhvr>
                                      <p:to>
                                        <p:strVal val="visible"/>
                                      </p:to>
                                    </p:set>
                                    <p:anim calcmode="lin" valueType="num">
                                      <p:cBhvr additive="base">
                                        <p:cTn id="119" dur="500" fill="hold"/>
                                        <p:tgtEl>
                                          <p:spTgt spid="155706"/>
                                        </p:tgtEl>
                                        <p:attrNameLst>
                                          <p:attrName>ppt_x</p:attrName>
                                        </p:attrNameLst>
                                      </p:cBhvr>
                                      <p:tavLst>
                                        <p:tav tm="0">
                                          <p:val>
                                            <p:strVal val="0-#ppt_w/2"/>
                                          </p:val>
                                        </p:tav>
                                        <p:tav tm="100000">
                                          <p:val>
                                            <p:strVal val="#ppt_x"/>
                                          </p:val>
                                        </p:tav>
                                      </p:tavLst>
                                    </p:anim>
                                    <p:anim calcmode="lin" valueType="num">
                                      <p:cBhvr additive="base">
                                        <p:cTn id="120" dur="500" fill="hold"/>
                                        <p:tgtEl>
                                          <p:spTgt spid="155706"/>
                                        </p:tgtEl>
                                        <p:attrNameLst>
                                          <p:attrName>ppt_y</p:attrName>
                                        </p:attrNameLst>
                                      </p:cBhvr>
                                      <p:tavLst>
                                        <p:tav tm="0">
                                          <p:val>
                                            <p:strVal val="#ppt_y"/>
                                          </p:val>
                                        </p:tav>
                                        <p:tav tm="100000">
                                          <p:val>
                                            <p:strVal val="#ppt_y"/>
                                          </p:val>
                                        </p:tav>
                                      </p:tavLst>
                                    </p:anim>
                                  </p:childTnLst>
                                </p:cTn>
                              </p:par>
                            </p:childTnLst>
                          </p:cTn>
                        </p:par>
                        <p:par>
                          <p:cTn id="121" fill="hold">
                            <p:stCondLst>
                              <p:cond delay="500"/>
                            </p:stCondLst>
                            <p:childTnLst>
                              <p:par>
                                <p:cTn id="122" presetID="2" presetClass="entr" presetSubtype="8" fill="hold" grpId="0" nodeType="afterEffect">
                                  <p:stCondLst>
                                    <p:cond delay="0"/>
                                  </p:stCondLst>
                                  <p:childTnLst>
                                    <p:set>
                                      <p:cBhvr>
                                        <p:cTn id="123" dur="1" fill="hold">
                                          <p:stCondLst>
                                            <p:cond delay="0"/>
                                          </p:stCondLst>
                                        </p:cTn>
                                        <p:tgtEl>
                                          <p:spTgt spid="155708"/>
                                        </p:tgtEl>
                                        <p:attrNameLst>
                                          <p:attrName>style.visibility</p:attrName>
                                        </p:attrNameLst>
                                      </p:cBhvr>
                                      <p:to>
                                        <p:strVal val="visible"/>
                                      </p:to>
                                    </p:set>
                                    <p:anim calcmode="lin" valueType="num">
                                      <p:cBhvr additive="base">
                                        <p:cTn id="124" dur="500" fill="hold"/>
                                        <p:tgtEl>
                                          <p:spTgt spid="155708"/>
                                        </p:tgtEl>
                                        <p:attrNameLst>
                                          <p:attrName>ppt_x</p:attrName>
                                        </p:attrNameLst>
                                      </p:cBhvr>
                                      <p:tavLst>
                                        <p:tav tm="0">
                                          <p:val>
                                            <p:strVal val="0-#ppt_w/2"/>
                                          </p:val>
                                        </p:tav>
                                        <p:tav tm="100000">
                                          <p:val>
                                            <p:strVal val="#ppt_x"/>
                                          </p:val>
                                        </p:tav>
                                      </p:tavLst>
                                    </p:anim>
                                    <p:anim calcmode="lin" valueType="num">
                                      <p:cBhvr additive="base">
                                        <p:cTn id="125" dur="500" fill="hold"/>
                                        <p:tgtEl>
                                          <p:spTgt spid="155708"/>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8" fill="hold" grpId="0" nodeType="clickEffect">
                                  <p:stCondLst>
                                    <p:cond delay="0"/>
                                  </p:stCondLst>
                                  <p:childTnLst>
                                    <p:set>
                                      <p:cBhvr>
                                        <p:cTn id="129" dur="1" fill="hold">
                                          <p:stCondLst>
                                            <p:cond delay="0"/>
                                          </p:stCondLst>
                                        </p:cTn>
                                        <p:tgtEl>
                                          <p:spTgt spid="155704"/>
                                        </p:tgtEl>
                                        <p:attrNameLst>
                                          <p:attrName>style.visibility</p:attrName>
                                        </p:attrNameLst>
                                      </p:cBhvr>
                                      <p:to>
                                        <p:strVal val="visible"/>
                                      </p:to>
                                    </p:set>
                                    <p:anim calcmode="lin" valueType="num">
                                      <p:cBhvr additive="base">
                                        <p:cTn id="130" dur="500" fill="hold"/>
                                        <p:tgtEl>
                                          <p:spTgt spid="155704"/>
                                        </p:tgtEl>
                                        <p:attrNameLst>
                                          <p:attrName>ppt_x</p:attrName>
                                        </p:attrNameLst>
                                      </p:cBhvr>
                                      <p:tavLst>
                                        <p:tav tm="0">
                                          <p:val>
                                            <p:strVal val="0-#ppt_w/2"/>
                                          </p:val>
                                        </p:tav>
                                        <p:tav tm="100000">
                                          <p:val>
                                            <p:strVal val="#ppt_x"/>
                                          </p:val>
                                        </p:tav>
                                      </p:tavLst>
                                    </p:anim>
                                    <p:anim calcmode="lin" valueType="num">
                                      <p:cBhvr additive="base">
                                        <p:cTn id="131" dur="500" fill="hold"/>
                                        <p:tgtEl>
                                          <p:spTgt spid="155704"/>
                                        </p:tgtEl>
                                        <p:attrNameLst>
                                          <p:attrName>ppt_y</p:attrName>
                                        </p:attrNameLst>
                                      </p:cBhvr>
                                      <p:tavLst>
                                        <p:tav tm="0">
                                          <p:val>
                                            <p:strVal val="#ppt_y"/>
                                          </p:val>
                                        </p:tav>
                                        <p:tav tm="100000">
                                          <p:val>
                                            <p:strVal val="#ppt_y"/>
                                          </p:val>
                                        </p:tav>
                                      </p:tavLst>
                                    </p:anim>
                                  </p:childTnLst>
                                </p:cTn>
                              </p:par>
                            </p:childTnLst>
                          </p:cTn>
                        </p:par>
                        <p:par>
                          <p:cTn id="132" fill="hold">
                            <p:stCondLst>
                              <p:cond delay="500"/>
                            </p:stCondLst>
                            <p:childTnLst>
                              <p:par>
                                <p:cTn id="133" presetID="2" presetClass="entr" presetSubtype="8" fill="hold" grpId="0" nodeType="afterEffect">
                                  <p:stCondLst>
                                    <p:cond delay="0"/>
                                  </p:stCondLst>
                                  <p:childTnLst>
                                    <p:set>
                                      <p:cBhvr>
                                        <p:cTn id="134" dur="1" fill="hold">
                                          <p:stCondLst>
                                            <p:cond delay="0"/>
                                          </p:stCondLst>
                                        </p:cTn>
                                        <p:tgtEl>
                                          <p:spTgt spid="155705"/>
                                        </p:tgtEl>
                                        <p:attrNameLst>
                                          <p:attrName>style.visibility</p:attrName>
                                        </p:attrNameLst>
                                      </p:cBhvr>
                                      <p:to>
                                        <p:strVal val="visible"/>
                                      </p:to>
                                    </p:set>
                                    <p:anim calcmode="lin" valueType="num">
                                      <p:cBhvr additive="base">
                                        <p:cTn id="135" dur="500" fill="hold"/>
                                        <p:tgtEl>
                                          <p:spTgt spid="155705"/>
                                        </p:tgtEl>
                                        <p:attrNameLst>
                                          <p:attrName>ppt_x</p:attrName>
                                        </p:attrNameLst>
                                      </p:cBhvr>
                                      <p:tavLst>
                                        <p:tav tm="0">
                                          <p:val>
                                            <p:strVal val="0-#ppt_w/2"/>
                                          </p:val>
                                        </p:tav>
                                        <p:tav tm="100000">
                                          <p:val>
                                            <p:strVal val="#ppt_x"/>
                                          </p:val>
                                        </p:tav>
                                      </p:tavLst>
                                    </p:anim>
                                    <p:anim calcmode="lin" valueType="num">
                                      <p:cBhvr additive="base">
                                        <p:cTn id="136" dur="500" fill="hold"/>
                                        <p:tgtEl>
                                          <p:spTgt spid="155705"/>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8" fill="hold" grpId="0" nodeType="clickEffect">
                                  <p:stCondLst>
                                    <p:cond delay="0"/>
                                  </p:stCondLst>
                                  <p:childTnLst>
                                    <p:set>
                                      <p:cBhvr>
                                        <p:cTn id="140" dur="1" fill="hold">
                                          <p:stCondLst>
                                            <p:cond delay="0"/>
                                          </p:stCondLst>
                                        </p:cTn>
                                        <p:tgtEl>
                                          <p:spTgt spid="155707"/>
                                        </p:tgtEl>
                                        <p:attrNameLst>
                                          <p:attrName>style.visibility</p:attrName>
                                        </p:attrNameLst>
                                      </p:cBhvr>
                                      <p:to>
                                        <p:strVal val="visible"/>
                                      </p:to>
                                    </p:set>
                                    <p:anim calcmode="lin" valueType="num">
                                      <p:cBhvr additive="base">
                                        <p:cTn id="141" dur="500" fill="hold"/>
                                        <p:tgtEl>
                                          <p:spTgt spid="155707"/>
                                        </p:tgtEl>
                                        <p:attrNameLst>
                                          <p:attrName>ppt_x</p:attrName>
                                        </p:attrNameLst>
                                      </p:cBhvr>
                                      <p:tavLst>
                                        <p:tav tm="0">
                                          <p:val>
                                            <p:strVal val="0-#ppt_w/2"/>
                                          </p:val>
                                        </p:tav>
                                        <p:tav tm="100000">
                                          <p:val>
                                            <p:strVal val="#ppt_x"/>
                                          </p:val>
                                        </p:tav>
                                      </p:tavLst>
                                    </p:anim>
                                    <p:anim calcmode="lin" valueType="num">
                                      <p:cBhvr additive="base">
                                        <p:cTn id="142" dur="500" fill="hold"/>
                                        <p:tgtEl>
                                          <p:spTgt spid="155707"/>
                                        </p:tgtEl>
                                        <p:attrNameLst>
                                          <p:attrName>ppt_y</p:attrName>
                                        </p:attrNameLst>
                                      </p:cBhvr>
                                      <p:tavLst>
                                        <p:tav tm="0">
                                          <p:val>
                                            <p:strVal val="#ppt_y"/>
                                          </p:val>
                                        </p:tav>
                                        <p:tav tm="100000">
                                          <p:val>
                                            <p:strVal val="#ppt_y"/>
                                          </p:val>
                                        </p:tav>
                                      </p:tavLst>
                                    </p:anim>
                                  </p:childTnLst>
                                </p:cTn>
                              </p:par>
                            </p:childTnLst>
                          </p:cTn>
                        </p:par>
                        <p:par>
                          <p:cTn id="143" fill="hold">
                            <p:stCondLst>
                              <p:cond delay="500"/>
                            </p:stCondLst>
                            <p:childTnLst>
                              <p:par>
                                <p:cTn id="144" presetID="2" presetClass="entr" presetSubtype="8" fill="hold" grpId="0" nodeType="afterEffect">
                                  <p:stCondLst>
                                    <p:cond delay="0"/>
                                  </p:stCondLst>
                                  <p:childTnLst>
                                    <p:set>
                                      <p:cBhvr>
                                        <p:cTn id="145" dur="1" fill="hold">
                                          <p:stCondLst>
                                            <p:cond delay="0"/>
                                          </p:stCondLst>
                                        </p:cTn>
                                        <p:tgtEl>
                                          <p:spTgt spid="155709"/>
                                        </p:tgtEl>
                                        <p:attrNameLst>
                                          <p:attrName>style.visibility</p:attrName>
                                        </p:attrNameLst>
                                      </p:cBhvr>
                                      <p:to>
                                        <p:strVal val="visible"/>
                                      </p:to>
                                    </p:set>
                                    <p:anim calcmode="lin" valueType="num">
                                      <p:cBhvr additive="base">
                                        <p:cTn id="146" dur="500" fill="hold"/>
                                        <p:tgtEl>
                                          <p:spTgt spid="155709"/>
                                        </p:tgtEl>
                                        <p:attrNameLst>
                                          <p:attrName>ppt_x</p:attrName>
                                        </p:attrNameLst>
                                      </p:cBhvr>
                                      <p:tavLst>
                                        <p:tav tm="0">
                                          <p:val>
                                            <p:strVal val="0-#ppt_w/2"/>
                                          </p:val>
                                        </p:tav>
                                        <p:tav tm="100000">
                                          <p:val>
                                            <p:strVal val="#ppt_x"/>
                                          </p:val>
                                        </p:tav>
                                      </p:tavLst>
                                    </p:anim>
                                    <p:anim calcmode="lin" valueType="num">
                                      <p:cBhvr additive="base">
                                        <p:cTn id="147" dur="500" fill="hold"/>
                                        <p:tgtEl>
                                          <p:spTgt spid="155709"/>
                                        </p:tgtEl>
                                        <p:attrNameLst>
                                          <p:attrName>ppt_y</p:attrName>
                                        </p:attrNameLst>
                                      </p:cBhvr>
                                      <p:tavLst>
                                        <p:tav tm="0">
                                          <p:val>
                                            <p:strVal val="#ppt_y"/>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8" fill="hold" grpId="0" nodeType="clickEffect">
                                  <p:stCondLst>
                                    <p:cond delay="0"/>
                                  </p:stCondLst>
                                  <p:childTnLst>
                                    <p:set>
                                      <p:cBhvr>
                                        <p:cTn id="151" dur="1" fill="hold">
                                          <p:stCondLst>
                                            <p:cond delay="0"/>
                                          </p:stCondLst>
                                        </p:cTn>
                                        <p:tgtEl>
                                          <p:spTgt spid="155710"/>
                                        </p:tgtEl>
                                        <p:attrNameLst>
                                          <p:attrName>style.visibility</p:attrName>
                                        </p:attrNameLst>
                                      </p:cBhvr>
                                      <p:to>
                                        <p:strVal val="visible"/>
                                      </p:to>
                                    </p:set>
                                    <p:anim calcmode="lin" valueType="num">
                                      <p:cBhvr additive="base">
                                        <p:cTn id="152" dur="500" fill="hold"/>
                                        <p:tgtEl>
                                          <p:spTgt spid="155710"/>
                                        </p:tgtEl>
                                        <p:attrNameLst>
                                          <p:attrName>ppt_x</p:attrName>
                                        </p:attrNameLst>
                                      </p:cBhvr>
                                      <p:tavLst>
                                        <p:tav tm="0">
                                          <p:val>
                                            <p:strVal val="0-#ppt_w/2"/>
                                          </p:val>
                                        </p:tav>
                                        <p:tav tm="100000">
                                          <p:val>
                                            <p:strVal val="#ppt_x"/>
                                          </p:val>
                                        </p:tav>
                                      </p:tavLst>
                                    </p:anim>
                                    <p:anim calcmode="lin" valueType="num">
                                      <p:cBhvr additive="base">
                                        <p:cTn id="153" dur="500" fill="hold"/>
                                        <p:tgtEl>
                                          <p:spTgt spid="155710"/>
                                        </p:tgtEl>
                                        <p:attrNameLst>
                                          <p:attrName>ppt_y</p:attrName>
                                        </p:attrNameLst>
                                      </p:cBhvr>
                                      <p:tavLst>
                                        <p:tav tm="0">
                                          <p:val>
                                            <p:strVal val="#ppt_y"/>
                                          </p:val>
                                        </p:tav>
                                        <p:tav tm="100000">
                                          <p:val>
                                            <p:strVal val="#ppt_y"/>
                                          </p:val>
                                        </p:tav>
                                      </p:tavLst>
                                    </p:anim>
                                  </p:childTnLst>
                                </p:cTn>
                              </p:par>
                            </p:childTnLst>
                          </p:cTn>
                        </p:par>
                        <p:par>
                          <p:cTn id="154" fill="hold">
                            <p:stCondLst>
                              <p:cond delay="500"/>
                            </p:stCondLst>
                            <p:childTnLst>
                              <p:par>
                                <p:cTn id="155" presetID="2" presetClass="entr" presetSubtype="8" fill="hold" grpId="0" nodeType="afterEffect">
                                  <p:stCondLst>
                                    <p:cond delay="0"/>
                                  </p:stCondLst>
                                  <p:childTnLst>
                                    <p:set>
                                      <p:cBhvr>
                                        <p:cTn id="156" dur="1" fill="hold">
                                          <p:stCondLst>
                                            <p:cond delay="0"/>
                                          </p:stCondLst>
                                        </p:cTn>
                                        <p:tgtEl>
                                          <p:spTgt spid="155683"/>
                                        </p:tgtEl>
                                        <p:attrNameLst>
                                          <p:attrName>style.visibility</p:attrName>
                                        </p:attrNameLst>
                                      </p:cBhvr>
                                      <p:to>
                                        <p:strVal val="visible"/>
                                      </p:to>
                                    </p:set>
                                    <p:anim calcmode="lin" valueType="num">
                                      <p:cBhvr additive="base">
                                        <p:cTn id="157" dur="500" fill="hold"/>
                                        <p:tgtEl>
                                          <p:spTgt spid="155683"/>
                                        </p:tgtEl>
                                        <p:attrNameLst>
                                          <p:attrName>ppt_x</p:attrName>
                                        </p:attrNameLst>
                                      </p:cBhvr>
                                      <p:tavLst>
                                        <p:tav tm="0">
                                          <p:val>
                                            <p:strVal val="0-#ppt_w/2"/>
                                          </p:val>
                                        </p:tav>
                                        <p:tav tm="100000">
                                          <p:val>
                                            <p:strVal val="#ppt_x"/>
                                          </p:val>
                                        </p:tav>
                                      </p:tavLst>
                                    </p:anim>
                                    <p:anim calcmode="lin" valueType="num">
                                      <p:cBhvr additive="base">
                                        <p:cTn id="158" dur="500" fill="hold"/>
                                        <p:tgtEl>
                                          <p:spTgt spid="155683"/>
                                        </p:tgtEl>
                                        <p:attrNameLst>
                                          <p:attrName>ppt_y</p:attrName>
                                        </p:attrNameLst>
                                      </p:cBhvr>
                                      <p:tavLst>
                                        <p:tav tm="0">
                                          <p:val>
                                            <p:strVal val="#ppt_y"/>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8" fill="hold" grpId="0" nodeType="clickEffect">
                                  <p:stCondLst>
                                    <p:cond delay="0"/>
                                  </p:stCondLst>
                                  <p:childTnLst>
                                    <p:set>
                                      <p:cBhvr>
                                        <p:cTn id="162" dur="1" fill="hold">
                                          <p:stCondLst>
                                            <p:cond delay="0"/>
                                          </p:stCondLst>
                                        </p:cTn>
                                        <p:tgtEl>
                                          <p:spTgt spid="155684"/>
                                        </p:tgtEl>
                                        <p:attrNameLst>
                                          <p:attrName>style.visibility</p:attrName>
                                        </p:attrNameLst>
                                      </p:cBhvr>
                                      <p:to>
                                        <p:strVal val="visible"/>
                                      </p:to>
                                    </p:set>
                                    <p:anim calcmode="lin" valueType="num">
                                      <p:cBhvr additive="base">
                                        <p:cTn id="163" dur="500" fill="hold"/>
                                        <p:tgtEl>
                                          <p:spTgt spid="155684"/>
                                        </p:tgtEl>
                                        <p:attrNameLst>
                                          <p:attrName>ppt_x</p:attrName>
                                        </p:attrNameLst>
                                      </p:cBhvr>
                                      <p:tavLst>
                                        <p:tav tm="0">
                                          <p:val>
                                            <p:strVal val="0-#ppt_w/2"/>
                                          </p:val>
                                        </p:tav>
                                        <p:tav tm="100000">
                                          <p:val>
                                            <p:strVal val="#ppt_x"/>
                                          </p:val>
                                        </p:tav>
                                      </p:tavLst>
                                    </p:anim>
                                    <p:anim calcmode="lin" valueType="num">
                                      <p:cBhvr additive="base">
                                        <p:cTn id="164" dur="500" fill="hold"/>
                                        <p:tgtEl>
                                          <p:spTgt spid="155684"/>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155711"/>
                                        </p:tgtEl>
                                        <p:attrNameLst>
                                          <p:attrName>style.visibility</p:attrName>
                                        </p:attrNameLst>
                                      </p:cBhvr>
                                      <p:to>
                                        <p:strVal val="visible"/>
                                      </p:to>
                                    </p:set>
                                    <p:anim calcmode="lin" valueType="num">
                                      <p:cBhvr additive="base">
                                        <p:cTn id="169" dur="500" fill="hold"/>
                                        <p:tgtEl>
                                          <p:spTgt spid="155711"/>
                                        </p:tgtEl>
                                        <p:attrNameLst>
                                          <p:attrName>ppt_x</p:attrName>
                                        </p:attrNameLst>
                                      </p:cBhvr>
                                      <p:tavLst>
                                        <p:tav tm="0">
                                          <p:val>
                                            <p:strVal val="0-#ppt_w/2"/>
                                          </p:val>
                                        </p:tav>
                                        <p:tav tm="100000">
                                          <p:val>
                                            <p:strVal val="#ppt_x"/>
                                          </p:val>
                                        </p:tav>
                                      </p:tavLst>
                                    </p:anim>
                                    <p:anim calcmode="lin" valueType="num">
                                      <p:cBhvr additive="base">
                                        <p:cTn id="170" dur="500" fill="hold"/>
                                        <p:tgtEl>
                                          <p:spTgt spid="155711"/>
                                        </p:tgtEl>
                                        <p:attrNameLst>
                                          <p:attrName>ppt_y</p:attrName>
                                        </p:attrNameLst>
                                      </p:cBhvr>
                                      <p:tavLst>
                                        <p:tav tm="0">
                                          <p:val>
                                            <p:strVal val="#ppt_y"/>
                                          </p:val>
                                        </p:tav>
                                        <p:tav tm="100000">
                                          <p:val>
                                            <p:strVal val="#ppt_y"/>
                                          </p:val>
                                        </p:tav>
                                      </p:tavLst>
                                    </p:anim>
                                  </p:childTnLst>
                                </p:cTn>
                              </p:par>
                            </p:childTnLst>
                          </p:cTn>
                        </p:par>
                        <p:par>
                          <p:cTn id="171" fill="hold">
                            <p:stCondLst>
                              <p:cond delay="500"/>
                            </p:stCondLst>
                            <p:childTnLst>
                              <p:par>
                                <p:cTn id="172" presetID="2" presetClass="entr" presetSubtype="8" fill="hold" grpId="0" nodeType="afterEffect">
                                  <p:stCondLst>
                                    <p:cond delay="0"/>
                                  </p:stCondLst>
                                  <p:childTnLst>
                                    <p:set>
                                      <p:cBhvr>
                                        <p:cTn id="173" dur="1" fill="hold">
                                          <p:stCondLst>
                                            <p:cond delay="0"/>
                                          </p:stCondLst>
                                        </p:cTn>
                                        <p:tgtEl>
                                          <p:spTgt spid="155712"/>
                                        </p:tgtEl>
                                        <p:attrNameLst>
                                          <p:attrName>style.visibility</p:attrName>
                                        </p:attrNameLst>
                                      </p:cBhvr>
                                      <p:to>
                                        <p:strVal val="visible"/>
                                      </p:to>
                                    </p:set>
                                    <p:anim calcmode="lin" valueType="num">
                                      <p:cBhvr additive="base">
                                        <p:cTn id="174" dur="500" fill="hold"/>
                                        <p:tgtEl>
                                          <p:spTgt spid="155712"/>
                                        </p:tgtEl>
                                        <p:attrNameLst>
                                          <p:attrName>ppt_x</p:attrName>
                                        </p:attrNameLst>
                                      </p:cBhvr>
                                      <p:tavLst>
                                        <p:tav tm="0">
                                          <p:val>
                                            <p:strVal val="0-#ppt_w/2"/>
                                          </p:val>
                                        </p:tav>
                                        <p:tav tm="100000">
                                          <p:val>
                                            <p:strVal val="#ppt_x"/>
                                          </p:val>
                                        </p:tav>
                                      </p:tavLst>
                                    </p:anim>
                                    <p:anim calcmode="lin" valueType="num">
                                      <p:cBhvr additive="base">
                                        <p:cTn id="175" dur="500" fill="hold"/>
                                        <p:tgtEl>
                                          <p:spTgt spid="155712"/>
                                        </p:tgtEl>
                                        <p:attrNameLst>
                                          <p:attrName>ppt_y</p:attrName>
                                        </p:attrNameLst>
                                      </p:cBhvr>
                                      <p:tavLst>
                                        <p:tav tm="0">
                                          <p:val>
                                            <p:strVal val="#ppt_y"/>
                                          </p:val>
                                        </p:tav>
                                        <p:tav tm="100000">
                                          <p:val>
                                            <p:strVal val="#ppt_y"/>
                                          </p:val>
                                        </p:tav>
                                      </p:tavLst>
                                    </p:anim>
                                  </p:childTnLst>
                                </p:cTn>
                              </p:par>
                            </p:childTnLst>
                          </p:cTn>
                        </p:par>
                      </p:childTnLst>
                    </p:cTn>
                  </p:par>
                  <p:par>
                    <p:cTn id="176" fill="hold">
                      <p:stCondLst>
                        <p:cond delay="indefinite"/>
                      </p:stCondLst>
                      <p:childTnLst>
                        <p:par>
                          <p:cTn id="177" fill="hold">
                            <p:stCondLst>
                              <p:cond delay="0"/>
                            </p:stCondLst>
                            <p:childTnLst>
                              <p:par>
                                <p:cTn id="178" presetID="2" presetClass="entr" presetSubtype="8" fill="hold" grpId="0" nodeType="clickEffect">
                                  <p:stCondLst>
                                    <p:cond delay="0"/>
                                  </p:stCondLst>
                                  <p:childTnLst>
                                    <p:set>
                                      <p:cBhvr>
                                        <p:cTn id="179" dur="1" fill="hold">
                                          <p:stCondLst>
                                            <p:cond delay="0"/>
                                          </p:stCondLst>
                                        </p:cTn>
                                        <p:tgtEl>
                                          <p:spTgt spid="155713"/>
                                        </p:tgtEl>
                                        <p:attrNameLst>
                                          <p:attrName>style.visibility</p:attrName>
                                        </p:attrNameLst>
                                      </p:cBhvr>
                                      <p:to>
                                        <p:strVal val="visible"/>
                                      </p:to>
                                    </p:set>
                                    <p:anim calcmode="lin" valueType="num">
                                      <p:cBhvr additive="base">
                                        <p:cTn id="180" dur="500" fill="hold"/>
                                        <p:tgtEl>
                                          <p:spTgt spid="155713"/>
                                        </p:tgtEl>
                                        <p:attrNameLst>
                                          <p:attrName>ppt_x</p:attrName>
                                        </p:attrNameLst>
                                      </p:cBhvr>
                                      <p:tavLst>
                                        <p:tav tm="0">
                                          <p:val>
                                            <p:strVal val="0-#ppt_w/2"/>
                                          </p:val>
                                        </p:tav>
                                        <p:tav tm="100000">
                                          <p:val>
                                            <p:strVal val="#ppt_x"/>
                                          </p:val>
                                        </p:tav>
                                      </p:tavLst>
                                    </p:anim>
                                    <p:anim calcmode="lin" valueType="num">
                                      <p:cBhvr additive="base">
                                        <p:cTn id="181" dur="500" fill="hold"/>
                                        <p:tgtEl>
                                          <p:spTgt spid="155713"/>
                                        </p:tgtEl>
                                        <p:attrNameLst>
                                          <p:attrName>ppt_y</p:attrName>
                                        </p:attrNameLst>
                                      </p:cBhvr>
                                      <p:tavLst>
                                        <p:tav tm="0">
                                          <p:val>
                                            <p:strVal val="#ppt_y"/>
                                          </p:val>
                                        </p:tav>
                                        <p:tav tm="100000">
                                          <p:val>
                                            <p:strVal val="#ppt_y"/>
                                          </p:val>
                                        </p:tav>
                                      </p:tavLst>
                                    </p:anim>
                                  </p:childTnLst>
                                </p:cTn>
                              </p:par>
                            </p:childTnLst>
                          </p:cTn>
                        </p:par>
                        <p:par>
                          <p:cTn id="182" fill="hold">
                            <p:stCondLst>
                              <p:cond delay="500"/>
                            </p:stCondLst>
                            <p:childTnLst>
                              <p:par>
                                <p:cTn id="183" presetID="2" presetClass="entr" presetSubtype="8" fill="hold" grpId="0" nodeType="afterEffect">
                                  <p:stCondLst>
                                    <p:cond delay="0"/>
                                  </p:stCondLst>
                                  <p:childTnLst>
                                    <p:set>
                                      <p:cBhvr>
                                        <p:cTn id="184" dur="1" fill="hold">
                                          <p:stCondLst>
                                            <p:cond delay="0"/>
                                          </p:stCondLst>
                                        </p:cTn>
                                        <p:tgtEl>
                                          <p:spTgt spid="155685"/>
                                        </p:tgtEl>
                                        <p:attrNameLst>
                                          <p:attrName>style.visibility</p:attrName>
                                        </p:attrNameLst>
                                      </p:cBhvr>
                                      <p:to>
                                        <p:strVal val="visible"/>
                                      </p:to>
                                    </p:set>
                                    <p:anim calcmode="lin" valueType="num">
                                      <p:cBhvr additive="base">
                                        <p:cTn id="185" dur="500" fill="hold"/>
                                        <p:tgtEl>
                                          <p:spTgt spid="155685"/>
                                        </p:tgtEl>
                                        <p:attrNameLst>
                                          <p:attrName>ppt_x</p:attrName>
                                        </p:attrNameLst>
                                      </p:cBhvr>
                                      <p:tavLst>
                                        <p:tav tm="0">
                                          <p:val>
                                            <p:strVal val="0-#ppt_w/2"/>
                                          </p:val>
                                        </p:tav>
                                        <p:tav tm="100000">
                                          <p:val>
                                            <p:strVal val="#ppt_x"/>
                                          </p:val>
                                        </p:tav>
                                      </p:tavLst>
                                    </p:anim>
                                    <p:anim calcmode="lin" valueType="num">
                                      <p:cBhvr additive="base">
                                        <p:cTn id="186" dur="500" fill="hold"/>
                                        <p:tgtEl>
                                          <p:spTgt spid="155685"/>
                                        </p:tgtEl>
                                        <p:attrNameLst>
                                          <p:attrName>ppt_y</p:attrName>
                                        </p:attrNameLst>
                                      </p:cBhvr>
                                      <p:tavLst>
                                        <p:tav tm="0">
                                          <p:val>
                                            <p:strVal val="#ppt_y"/>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2" presetClass="entr" presetSubtype="8" fill="hold" grpId="0" nodeType="clickEffect">
                                  <p:stCondLst>
                                    <p:cond delay="0"/>
                                  </p:stCondLst>
                                  <p:childTnLst>
                                    <p:set>
                                      <p:cBhvr>
                                        <p:cTn id="190" dur="1" fill="hold">
                                          <p:stCondLst>
                                            <p:cond delay="0"/>
                                          </p:stCondLst>
                                        </p:cTn>
                                        <p:tgtEl>
                                          <p:spTgt spid="155686"/>
                                        </p:tgtEl>
                                        <p:attrNameLst>
                                          <p:attrName>style.visibility</p:attrName>
                                        </p:attrNameLst>
                                      </p:cBhvr>
                                      <p:to>
                                        <p:strVal val="visible"/>
                                      </p:to>
                                    </p:set>
                                    <p:anim calcmode="lin" valueType="num">
                                      <p:cBhvr additive="base">
                                        <p:cTn id="191" dur="500" fill="hold"/>
                                        <p:tgtEl>
                                          <p:spTgt spid="155686"/>
                                        </p:tgtEl>
                                        <p:attrNameLst>
                                          <p:attrName>ppt_x</p:attrName>
                                        </p:attrNameLst>
                                      </p:cBhvr>
                                      <p:tavLst>
                                        <p:tav tm="0">
                                          <p:val>
                                            <p:strVal val="0-#ppt_w/2"/>
                                          </p:val>
                                        </p:tav>
                                        <p:tav tm="100000">
                                          <p:val>
                                            <p:strVal val="#ppt_x"/>
                                          </p:val>
                                        </p:tav>
                                      </p:tavLst>
                                    </p:anim>
                                    <p:anim calcmode="lin" valueType="num">
                                      <p:cBhvr additive="base">
                                        <p:cTn id="192" dur="500" fill="hold"/>
                                        <p:tgtEl>
                                          <p:spTgt spid="155686"/>
                                        </p:tgtEl>
                                        <p:attrNameLst>
                                          <p:attrName>ppt_y</p:attrName>
                                        </p:attrNameLst>
                                      </p:cBhvr>
                                      <p:tavLst>
                                        <p:tav tm="0">
                                          <p:val>
                                            <p:strVal val="#ppt_y"/>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8" fill="hold" grpId="0" nodeType="clickEffect">
                                  <p:stCondLst>
                                    <p:cond delay="0"/>
                                  </p:stCondLst>
                                  <p:childTnLst>
                                    <p:set>
                                      <p:cBhvr>
                                        <p:cTn id="196" dur="1" fill="hold">
                                          <p:stCondLst>
                                            <p:cond delay="0"/>
                                          </p:stCondLst>
                                        </p:cTn>
                                        <p:tgtEl>
                                          <p:spTgt spid="155715"/>
                                        </p:tgtEl>
                                        <p:attrNameLst>
                                          <p:attrName>style.visibility</p:attrName>
                                        </p:attrNameLst>
                                      </p:cBhvr>
                                      <p:to>
                                        <p:strVal val="visible"/>
                                      </p:to>
                                    </p:set>
                                    <p:anim calcmode="lin" valueType="num">
                                      <p:cBhvr additive="base">
                                        <p:cTn id="197" dur="500" fill="hold"/>
                                        <p:tgtEl>
                                          <p:spTgt spid="155715"/>
                                        </p:tgtEl>
                                        <p:attrNameLst>
                                          <p:attrName>ppt_x</p:attrName>
                                        </p:attrNameLst>
                                      </p:cBhvr>
                                      <p:tavLst>
                                        <p:tav tm="0">
                                          <p:val>
                                            <p:strVal val="0-#ppt_w/2"/>
                                          </p:val>
                                        </p:tav>
                                        <p:tav tm="100000">
                                          <p:val>
                                            <p:strVal val="#ppt_x"/>
                                          </p:val>
                                        </p:tav>
                                      </p:tavLst>
                                    </p:anim>
                                    <p:anim calcmode="lin" valueType="num">
                                      <p:cBhvr additive="base">
                                        <p:cTn id="198" dur="500" fill="hold"/>
                                        <p:tgtEl>
                                          <p:spTgt spid="155715"/>
                                        </p:tgtEl>
                                        <p:attrNameLst>
                                          <p:attrName>ppt_y</p:attrName>
                                        </p:attrNameLst>
                                      </p:cBhvr>
                                      <p:tavLst>
                                        <p:tav tm="0">
                                          <p:val>
                                            <p:strVal val="#ppt_y"/>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2" presetClass="entr" presetSubtype="8" fill="hold" grpId="0" nodeType="clickEffect">
                                  <p:stCondLst>
                                    <p:cond delay="0"/>
                                  </p:stCondLst>
                                  <p:childTnLst>
                                    <p:set>
                                      <p:cBhvr>
                                        <p:cTn id="202" dur="1" fill="hold">
                                          <p:stCondLst>
                                            <p:cond delay="0"/>
                                          </p:stCondLst>
                                        </p:cTn>
                                        <p:tgtEl>
                                          <p:spTgt spid="155714"/>
                                        </p:tgtEl>
                                        <p:attrNameLst>
                                          <p:attrName>style.visibility</p:attrName>
                                        </p:attrNameLst>
                                      </p:cBhvr>
                                      <p:to>
                                        <p:strVal val="visible"/>
                                      </p:to>
                                    </p:set>
                                    <p:anim calcmode="lin" valueType="num">
                                      <p:cBhvr additive="base">
                                        <p:cTn id="203" dur="500" fill="hold"/>
                                        <p:tgtEl>
                                          <p:spTgt spid="155714"/>
                                        </p:tgtEl>
                                        <p:attrNameLst>
                                          <p:attrName>ppt_x</p:attrName>
                                        </p:attrNameLst>
                                      </p:cBhvr>
                                      <p:tavLst>
                                        <p:tav tm="0">
                                          <p:val>
                                            <p:strVal val="0-#ppt_w/2"/>
                                          </p:val>
                                        </p:tav>
                                        <p:tav tm="100000">
                                          <p:val>
                                            <p:strVal val="#ppt_x"/>
                                          </p:val>
                                        </p:tav>
                                      </p:tavLst>
                                    </p:anim>
                                    <p:anim calcmode="lin" valueType="num">
                                      <p:cBhvr additive="base">
                                        <p:cTn id="204" dur="500" fill="hold"/>
                                        <p:tgtEl>
                                          <p:spTgt spid="155714"/>
                                        </p:tgtEl>
                                        <p:attrNameLst>
                                          <p:attrName>ppt_y</p:attrName>
                                        </p:attrNameLst>
                                      </p:cBhvr>
                                      <p:tavLst>
                                        <p:tav tm="0">
                                          <p:val>
                                            <p:strVal val="#ppt_y"/>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8" fill="hold" grpId="0" nodeType="clickEffect">
                                  <p:stCondLst>
                                    <p:cond delay="0"/>
                                  </p:stCondLst>
                                  <p:childTnLst>
                                    <p:set>
                                      <p:cBhvr>
                                        <p:cTn id="208" dur="1" fill="hold">
                                          <p:stCondLst>
                                            <p:cond delay="0"/>
                                          </p:stCondLst>
                                        </p:cTn>
                                        <p:tgtEl>
                                          <p:spTgt spid="155717"/>
                                        </p:tgtEl>
                                        <p:attrNameLst>
                                          <p:attrName>style.visibility</p:attrName>
                                        </p:attrNameLst>
                                      </p:cBhvr>
                                      <p:to>
                                        <p:strVal val="visible"/>
                                      </p:to>
                                    </p:set>
                                    <p:anim calcmode="lin" valueType="num">
                                      <p:cBhvr additive="base">
                                        <p:cTn id="209" dur="500" fill="hold"/>
                                        <p:tgtEl>
                                          <p:spTgt spid="155717"/>
                                        </p:tgtEl>
                                        <p:attrNameLst>
                                          <p:attrName>ppt_x</p:attrName>
                                        </p:attrNameLst>
                                      </p:cBhvr>
                                      <p:tavLst>
                                        <p:tav tm="0">
                                          <p:val>
                                            <p:strVal val="0-#ppt_w/2"/>
                                          </p:val>
                                        </p:tav>
                                        <p:tav tm="100000">
                                          <p:val>
                                            <p:strVal val="#ppt_x"/>
                                          </p:val>
                                        </p:tav>
                                      </p:tavLst>
                                    </p:anim>
                                    <p:anim calcmode="lin" valueType="num">
                                      <p:cBhvr additive="base">
                                        <p:cTn id="210" dur="500" fill="hold"/>
                                        <p:tgtEl>
                                          <p:spTgt spid="155717"/>
                                        </p:tgtEl>
                                        <p:attrNameLst>
                                          <p:attrName>ppt_y</p:attrName>
                                        </p:attrNameLst>
                                      </p:cBhvr>
                                      <p:tavLst>
                                        <p:tav tm="0">
                                          <p:val>
                                            <p:strVal val="#ppt_y"/>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2" presetClass="entr" presetSubtype="8" fill="hold" grpId="0" nodeType="clickEffect">
                                  <p:stCondLst>
                                    <p:cond delay="0"/>
                                  </p:stCondLst>
                                  <p:childTnLst>
                                    <p:set>
                                      <p:cBhvr>
                                        <p:cTn id="214" dur="1" fill="hold">
                                          <p:stCondLst>
                                            <p:cond delay="0"/>
                                          </p:stCondLst>
                                        </p:cTn>
                                        <p:tgtEl>
                                          <p:spTgt spid="155716"/>
                                        </p:tgtEl>
                                        <p:attrNameLst>
                                          <p:attrName>style.visibility</p:attrName>
                                        </p:attrNameLst>
                                      </p:cBhvr>
                                      <p:to>
                                        <p:strVal val="visible"/>
                                      </p:to>
                                    </p:set>
                                    <p:anim calcmode="lin" valueType="num">
                                      <p:cBhvr additive="base">
                                        <p:cTn id="215" dur="500" fill="hold"/>
                                        <p:tgtEl>
                                          <p:spTgt spid="155716"/>
                                        </p:tgtEl>
                                        <p:attrNameLst>
                                          <p:attrName>ppt_x</p:attrName>
                                        </p:attrNameLst>
                                      </p:cBhvr>
                                      <p:tavLst>
                                        <p:tav tm="0">
                                          <p:val>
                                            <p:strVal val="0-#ppt_w/2"/>
                                          </p:val>
                                        </p:tav>
                                        <p:tav tm="100000">
                                          <p:val>
                                            <p:strVal val="#ppt_x"/>
                                          </p:val>
                                        </p:tav>
                                      </p:tavLst>
                                    </p:anim>
                                    <p:anim calcmode="lin" valueType="num">
                                      <p:cBhvr additive="base">
                                        <p:cTn id="216" dur="500" fill="hold"/>
                                        <p:tgtEl>
                                          <p:spTgt spid="1557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7" grpId="0" animBg="1" autoUpdateAnimBg="0"/>
      <p:bldP spid="155678" grpId="0" animBg="1"/>
      <p:bldP spid="155679" grpId="0" animBg="1" autoUpdateAnimBg="0"/>
      <p:bldP spid="155680" grpId="0" animBg="1"/>
      <p:bldP spid="155682" grpId="0" animBg="1" autoUpdateAnimBg="0"/>
      <p:bldP spid="155683" grpId="0" animBg="1"/>
      <p:bldP spid="155684" grpId="0" animBg="1" autoUpdateAnimBg="0"/>
      <p:bldP spid="155685" grpId="0" animBg="1"/>
      <p:bldP spid="155686" grpId="0" animBg="1" autoUpdateAnimBg="0"/>
      <p:bldP spid="155689" grpId="0" autoUpdateAnimBg="0" build="p"/>
      <p:bldP spid="155690" grpId="0" autoUpdateAnimBg="0" build="p"/>
      <p:bldP spid="155691" grpId="0" autoUpdateAnimBg="0" build="p"/>
      <p:bldP spid="155692" grpId="0" advAuto="0" autoUpdateAnimBg="0" build="p"/>
      <p:bldP spid="155693" grpId="0" advAuto="0" autoUpdateAnimBg="0" build="p"/>
      <p:bldP spid="155694" grpId="0" advAuto="0" autoUpdateAnimBg="0" build="p"/>
      <p:bldP spid="155695" grpId="0" animBg="1" autoUpdateAnimBg="0"/>
      <p:bldP spid="155697" grpId="0" animBg="1" autoUpdateAnimBg="0"/>
      <p:bldP spid="155698" grpId="0" animBg="1" autoUpdateAnimBg="0"/>
      <p:bldP spid="155699" grpId="0" animBg="1" autoUpdateAnimBg="0"/>
      <p:bldP spid="155700" grpId="0" animBg="1" autoUpdateAnimBg="0"/>
      <p:bldP spid="155701" grpId="0" animBg="1" autoUpdateAnimBg="0"/>
      <p:bldP spid="155702" grpId="0" animBg="1" autoUpdateAnimBg="0"/>
      <p:bldP spid="155703" grpId="0" animBg="1" autoUpdateAnimBg="0"/>
      <p:bldP spid="155704" grpId="0" animBg="1" autoUpdateAnimBg="0"/>
      <p:bldP spid="155705" grpId="0" animBg="1" autoUpdateAnimBg="0"/>
      <p:bldP spid="155706" grpId="0" animBg="1" autoUpdateAnimBg="0"/>
      <p:bldP spid="155707" grpId="0" animBg="1" autoUpdateAnimBg="0"/>
      <p:bldP spid="155708" grpId="0" animBg="1" autoUpdateAnimBg="0"/>
      <p:bldP spid="155709" grpId="0" animBg="1" autoUpdateAnimBg="0"/>
      <p:bldP spid="155710" grpId="0" animBg="1" autoUpdateAnimBg="0"/>
      <p:bldP spid="155711" grpId="0" animBg="1" autoUpdateAnimBg="0"/>
      <p:bldP spid="155712" grpId="0" animBg="1" autoUpdateAnimBg="0"/>
      <p:bldP spid="155713" grpId="0" animBg="1" autoUpdateAnimBg="0"/>
      <p:bldP spid="155714" grpId="0" animBg="1" autoUpdateAnimBg="0"/>
      <p:bldP spid="155715" grpId="0" animBg="1"/>
      <p:bldP spid="155716" grpId="0" animBg="1" autoUpdateAnimBg="0"/>
      <p:bldP spid="155717"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Oval 2"/>
          <p:cNvSpPr>
            <a:spLocks noChangeArrowheads="1"/>
          </p:cNvSpPr>
          <p:nvPr/>
        </p:nvSpPr>
        <p:spPr bwMode="auto">
          <a:xfrm>
            <a:off x="2819400"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156675" name="Oval 3"/>
          <p:cNvSpPr>
            <a:spLocks noChangeArrowheads="1"/>
          </p:cNvSpPr>
          <p:nvPr/>
        </p:nvSpPr>
        <p:spPr bwMode="auto">
          <a:xfrm>
            <a:off x="5105400"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156676" name="Oval 4"/>
          <p:cNvSpPr>
            <a:spLocks noChangeArrowheads="1"/>
          </p:cNvSpPr>
          <p:nvPr/>
        </p:nvSpPr>
        <p:spPr bwMode="auto">
          <a:xfrm>
            <a:off x="6400800" y="22558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56677" name="Oval 5"/>
          <p:cNvSpPr>
            <a:spLocks noChangeArrowheads="1"/>
          </p:cNvSpPr>
          <p:nvPr/>
        </p:nvSpPr>
        <p:spPr bwMode="auto">
          <a:xfrm>
            <a:off x="5791200" y="3094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56678" name="Oval 6"/>
          <p:cNvSpPr>
            <a:spLocks noChangeArrowheads="1"/>
          </p:cNvSpPr>
          <p:nvPr/>
        </p:nvSpPr>
        <p:spPr bwMode="auto">
          <a:xfrm>
            <a:off x="4419600" y="2789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56679" name="Oval 7"/>
          <p:cNvSpPr>
            <a:spLocks noChangeArrowheads="1"/>
          </p:cNvSpPr>
          <p:nvPr/>
        </p:nvSpPr>
        <p:spPr bwMode="auto">
          <a:xfrm>
            <a:off x="2667000" y="3322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156680" name="Oval 8"/>
          <p:cNvSpPr>
            <a:spLocks noChangeArrowheads="1"/>
          </p:cNvSpPr>
          <p:nvPr/>
        </p:nvSpPr>
        <p:spPr bwMode="auto">
          <a:xfrm>
            <a:off x="4343400" y="3932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56681" name="Line 9"/>
          <p:cNvSpPr>
            <a:spLocks noChangeShapeType="1"/>
          </p:cNvSpPr>
          <p:nvPr/>
        </p:nvSpPr>
        <p:spPr bwMode="auto">
          <a:xfrm>
            <a:off x="3200400" y="2179638"/>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2" name="Line 10"/>
          <p:cNvSpPr>
            <a:spLocks noChangeShapeType="1"/>
          </p:cNvSpPr>
          <p:nvPr/>
        </p:nvSpPr>
        <p:spPr bwMode="auto">
          <a:xfrm flipV="1">
            <a:off x="3124200" y="3094038"/>
            <a:ext cx="1295400" cy="381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3" name="Line 11"/>
          <p:cNvSpPr>
            <a:spLocks noChangeShapeType="1"/>
          </p:cNvSpPr>
          <p:nvPr/>
        </p:nvSpPr>
        <p:spPr bwMode="auto">
          <a:xfrm>
            <a:off x="4876800" y="3017838"/>
            <a:ext cx="914400" cy="228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4" name="Line 12"/>
          <p:cNvSpPr>
            <a:spLocks noChangeShapeType="1"/>
          </p:cNvSpPr>
          <p:nvPr/>
        </p:nvSpPr>
        <p:spPr bwMode="auto">
          <a:xfrm>
            <a:off x="5562600" y="2027238"/>
            <a:ext cx="838200" cy="304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5" name="Line 13"/>
          <p:cNvSpPr>
            <a:spLocks noChangeShapeType="1"/>
          </p:cNvSpPr>
          <p:nvPr/>
        </p:nvSpPr>
        <p:spPr bwMode="auto">
          <a:xfrm flipH="1">
            <a:off x="6172200" y="2636838"/>
            <a:ext cx="3048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6" name="Line 14"/>
          <p:cNvSpPr>
            <a:spLocks noChangeShapeType="1"/>
          </p:cNvSpPr>
          <p:nvPr/>
        </p:nvSpPr>
        <p:spPr bwMode="auto">
          <a:xfrm flipH="1">
            <a:off x="4800600" y="3398838"/>
            <a:ext cx="9906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687" name="Text Box 15"/>
          <p:cNvSpPr txBox="1">
            <a:spLocks noChangeArrowheads="1"/>
          </p:cNvSpPr>
          <p:nvPr/>
        </p:nvSpPr>
        <p:spPr bwMode="auto">
          <a:xfrm>
            <a:off x="5943600" y="1722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5</a:t>
            </a:r>
            <a:endParaRPr lang="en-US" altLang="zh-CN">
              <a:solidFill>
                <a:schemeClr val="tx2"/>
              </a:solidFill>
            </a:endParaRPr>
          </a:p>
        </p:txBody>
      </p:sp>
      <p:sp>
        <p:nvSpPr>
          <p:cNvPr id="156688" name="Text Box 16"/>
          <p:cNvSpPr txBox="1">
            <a:spLocks noChangeArrowheads="1"/>
          </p:cNvSpPr>
          <p:nvPr/>
        </p:nvSpPr>
        <p:spPr bwMode="auto">
          <a:xfrm>
            <a:off x="3429000" y="20272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14</a:t>
            </a:r>
            <a:endParaRPr lang="en-US" altLang="zh-CN"/>
          </a:p>
        </p:txBody>
      </p:sp>
      <p:sp>
        <p:nvSpPr>
          <p:cNvPr id="156689" name="Text Box 17"/>
          <p:cNvSpPr txBox="1">
            <a:spLocks noChangeArrowheads="1"/>
          </p:cNvSpPr>
          <p:nvPr/>
        </p:nvSpPr>
        <p:spPr bwMode="auto">
          <a:xfrm>
            <a:off x="3276600" y="29098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16</a:t>
            </a:r>
            <a:endParaRPr lang="en-US" altLang="zh-CN" sz="2800"/>
          </a:p>
        </p:txBody>
      </p:sp>
      <p:sp>
        <p:nvSpPr>
          <p:cNvPr id="156690" name="Text Box 18"/>
          <p:cNvSpPr txBox="1">
            <a:spLocks noChangeArrowheads="1"/>
          </p:cNvSpPr>
          <p:nvPr/>
        </p:nvSpPr>
        <p:spPr bwMode="auto">
          <a:xfrm>
            <a:off x="5105400" y="27273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8</a:t>
            </a:r>
            <a:endParaRPr lang="en-US" altLang="zh-CN" sz="3200"/>
          </a:p>
        </p:txBody>
      </p:sp>
      <p:sp>
        <p:nvSpPr>
          <p:cNvPr id="156691" name="Text Box 19"/>
          <p:cNvSpPr txBox="1">
            <a:spLocks noChangeArrowheads="1"/>
          </p:cNvSpPr>
          <p:nvPr/>
        </p:nvSpPr>
        <p:spPr bwMode="auto">
          <a:xfrm>
            <a:off x="4876800" y="33369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21</a:t>
            </a:r>
            <a:endParaRPr lang="en-US" altLang="zh-CN" sz="2800"/>
          </a:p>
        </p:txBody>
      </p:sp>
      <p:sp>
        <p:nvSpPr>
          <p:cNvPr id="156692" name="Text Box 20"/>
          <p:cNvSpPr txBox="1">
            <a:spLocks noChangeArrowheads="1"/>
          </p:cNvSpPr>
          <p:nvPr/>
        </p:nvSpPr>
        <p:spPr bwMode="auto">
          <a:xfrm>
            <a:off x="6324600" y="27130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3</a:t>
            </a:r>
            <a:endParaRPr lang="en-US" altLang="zh-CN" sz="320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0" y="0"/>
            <a:ext cx="8475345" cy="7062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200">
                <a:solidFill>
                  <a:srgbClr val="000082"/>
                </a:solidFill>
                <a:ea typeface="楷体_GB2312" pitchFamily="49" charset="-122"/>
              </a:rPr>
              <a:t>void MiniSpanTree_P(MGraph G, VertexType u) {</a:t>
            </a:r>
            <a:endParaRPr lang="en-US" altLang="zh-CN" sz="3200">
              <a:solidFill>
                <a:srgbClr val="000082"/>
              </a:solidFill>
              <a:ea typeface="楷体_GB2312" pitchFamily="49" charset="-122"/>
            </a:endParaRPr>
          </a:p>
          <a:p>
            <a:pPr algn="l">
              <a:lnSpc>
                <a:spcPct val="110000"/>
              </a:lnSpc>
            </a:pPr>
            <a:r>
              <a:rPr lang="en-US" altLang="zh-CN" b="1">
                <a:solidFill>
                  <a:srgbClr val="003300"/>
                </a:solidFill>
                <a:ea typeface="楷体_GB2312" pitchFamily="49" charset="-122"/>
              </a:rPr>
              <a:t>//</a:t>
            </a:r>
            <a:r>
              <a:rPr lang="en-US" altLang="zh-CN" sz="1400" b="1">
                <a:solidFill>
                  <a:srgbClr val="003300"/>
                </a:solidFill>
                <a:ea typeface="楷体_GB2312" pitchFamily="49" charset="-122"/>
                <a:sym typeface="+mn-ea"/>
              </a:rPr>
              <a:t>Construct the minimum spanning tree of network G starting from vertex u using Prims algorithm</a:t>
            </a:r>
            <a:endParaRPr lang="zh-CN" altLang="en-US" sz="1400" b="1">
              <a:solidFill>
                <a:srgbClr val="003300"/>
              </a:solidFill>
              <a:ea typeface="楷体_GB2312" pitchFamily="49" charset="-122"/>
            </a:endParaRPr>
          </a:p>
          <a:p>
            <a:pPr algn="l">
              <a:lnSpc>
                <a:spcPct val="110000"/>
              </a:lnSpc>
            </a:pPr>
            <a:endParaRPr lang="zh-CN" altLang="en-US" b="1">
              <a:solidFill>
                <a:srgbClr val="003300"/>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endParaRPr lang="zh-CN" altLang="en-US" sz="3600" b="1">
              <a:solidFill>
                <a:srgbClr val="000082"/>
              </a:solidFill>
              <a:ea typeface="楷体_GB2312" pitchFamily="49" charset="-122"/>
            </a:endParaRPr>
          </a:p>
          <a:p>
            <a:pPr algn="l">
              <a:lnSpc>
                <a:spcPct val="110000"/>
              </a:lnSpc>
            </a:pPr>
            <a:r>
              <a:rPr lang="en-US" altLang="zh-CN" sz="3600" b="1">
                <a:solidFill>
                  <a:srgbClr val="000082"/>
                </a:solidFill>
                <a:ea typeface="楷体_GB2312" pitchFamily="49" charset="-122"/>
              </a:rPr>
              <a:t>}</a:t>
            </a:r>
            <a:endParaRPr lang="en-US" altLang="zh-CN" sz="3600" b="1">
              <a:solidFill>
                <a:srgbClr val="000082"/>
              </a:solidFill>
              <a:ea typeface="楷体_GB2312" pitchFamily="49" charset="-122"/>
            </a:endParaRPr>
          </a:p>
        </p:txBody>
      </p:sp>
      <p:sp>
        <p:nvSpPr>
          <p:cNvPr id="157699" name="Rectangle 3">
            <a:hlinkClick r:id="" action="ppaction://hlinkshowjump?jump=nextslide"/>
          </p:cNvPr>
          <p:cNvSpPr>
            <a:spLocks noChangeArrowheads="1"/>
          </p:cNvSpPr>
          <p:nvPr/>
        </p:nvSpPr>
        <p:spPr bwMode="auto">
          <a:xfrm>
            <a:off x="1042988" y="5453063"/>
            <a:ext cx="7131685" cy="62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2400" b="1">
                <a:solidFill>
                  <a:srgbClr val="800000"/>
                </a:solidFill>
                <a:ea typeface="楷体_GB2312" pitchFamily="49" charset="-122"/>
              </a:rPr>
              <a:t>……</a:t>
            </a:r>
            <a:r>
              <a:rPr lang="en-US" altLang="zh-CN" sz="2400" b="1">
                <a:solidFill>
                  <a:srgbClr val="800000"/>
                </a:solidFill>
                <a:ea typeface="楷体_GB2312" pitchFamily="49" charset="-122"/>
                <a:sym typeface="+mn-ea"/>
              </a:rPr>
              <a:t>continue adding vertices to the generating tree</a:t>
            </a:r>
            <a:r>
              <a:rPr lang="zh-CN" altLang="zh-CN" sz="2400" b="1">
                <a:solidFill>
                  <a:srgbClr val="800000"/>
                </a:solidFill>
                <a:ea typeface="楷体_GB2312" pitchFamily="49" charset="-122"/>
              </a:rPr>
              <a:t>;</a:t>
            </a:r>
            <a:r>
              <a:rPr lang="en-US" altLang="zh-CN" sz="2400" b="1">
                <a:solidFill>
                  <a:srgbClr val="800000"/>
                </a:solidFill>
                <a:ea typeface="楷体_GB2312" pitchFamily="49" charset="-122"/>
              </a:rPr>
              <a:t> </a:t>
            </a:r>
            <a:r>
              <a:rPr lang="en-US" altLang="zh-CN" b="1">
                <a:solidFill>
                  <a:srgbClr val="000082"/>
                </a:solidFill>
                <a:ea typeface="楷体_GB2312" pitchFamily="49" charset="-122"/>
              </a:rPr>
              <a:t>}</a:t>
            </a:r>
            <a:endParaRPr lang="en-US" altLang="zh-CN" b="1">
              <a:solidFill>
                <a:srgbClr val="000082"/>
              </a:solidFill>
              <a:ea typeface="楷体_GB2312" pitchFamily="49" charset="-122"/>
            </a:endParaRPr>
          </a:p>
        </p:txBody>
      </p:sp>
      <p:sp>
        <p:nvSpPr>
          <p:cNvPr id="157701" name="Rectangle 5"/>
          <p:cNvSpPr>
            <a:spLocks noChangeArrowheads="1"/>
          </p:cNvSpPr>
          <p:nvPr/>
        </p:nvSpPr>
        <p:spPr bwMode="auto">
          <a:xfrm>
            <a:off x="0" y="1052513"/>
            <a:ext cx="9237980" cy="435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0000"/>
              </a:lnSpc>
            </a:pPr>
            <a:r>
              <a:rPr lang="en-US" altLang="zh-CN" sz="3600">
                <a:solidFill>
                  <a:srgbClr val="000082"/>
                </a:solidFill>
                <a:ea typeface="楷体_GB2312" pitchFamily="49" charset="-122"/>
              </a:rPr>
              <a:t>    k = LocateVex ( G, u ); </a:t>
            </a:r>
            <a:endParaRPr lang="en-US" altLang="zh-CN" sz="3600">
              <a:solidFill>
                <a:srgbClr val="000082"/>
              </a:solidFill>
              <a:ea typeface="楷体_GB2312" pitchFamily="49" charset="-122"/>
            </a:endParaRPr>
          </a:p>
          <a:p>
            <a:pPr algn="l">
              <a:lnSpc>
                <a:spcPct val="110000"/>
              </a:lnSpc>
            </a:pPr>
            <a:r>
              <a:rPr lang="en-US" altLang="zh-CN" sz="3600">
                <a:solidFill>
                  <a:srgbClr val="000082"/>
                </a:solidFill>
                <a:ea typeface="楷体_GB2312" pitchFamily="49" charset="-122"/>
              </a:rPr>
              <a:t>    </a:t>
            </a:r>
            <a:r>
              <a:rPr lang="en-US" altLang="zh-CN" sz="3600" b="1">
                <a:solidFill>
                  <a:srgbClr val="000082"/>
                </a:solidFill>
                <a:ea typeface="楷体_GB2312" pitchFamily="49" charset="-122"/>
              </a:rPr>
              <a:t>for </a:t>
            </a:r>
            <a:r>
              <a:rPr lang="en-US" altLang="zh-CN" sz="3600">
                <a:solidFill>
                  <a:srgbClr val="000082"/>
                </a:solidFill>
                <a:ea typeface="楷体_GB2312" pitchFamily="49" charset="-122"/>
              </a:rPr>
              <a:t>( j=0; j&lt;G.vexnum; </a:t>
            </a:r>
            <a:r>
              <a:rPr lang="en-US" altLang="zh-CN" sz="3600" b="1">
                <a:solidFill>
                  <a:srgbClr val="000082"/>
                </a:solidFill>
                <a:ea typeface="楷体_GB2312" pitchFamily="49" charset="-122"/>
              </a:rPr>
              <a:t>++</a:t>
            </a:r>
            <a:r>
              <a:rPr lang="en-US" altLang="zh-CN" sz="3600">
                <a:solidFill>
                  <a:srgbClr val="000082"/>
                </a:solidFill>
                <a:ea typeface="楷体_GB2312" pitchFamily="49" charset="-122"/>
              </a:rPr>
              <a:t>j )  </a:t>
            </a:r>
            <a:r>
              <a:rPr lang="en-US" altLang="zh-CN" b="1">
                <a:solidFill>
                  <a:srgbClr val="003300"/>
                </a:solidFill>
                <a:ea typeface="楷体_GB2312" pitchFamily="49" charset="-122"/>
              </a:rPr>
              <a:t>// </a:t>
            </a:r>
            <a:r>
              <a:rPr lang="en-US" altLang="zh-CN" sz="2000" b="1">
                <a:solidFill>
                  <a:srgbClr val="003300"/>
                </a:solidFill>
                <a:ea typeface="楷体_GB2312" pitchFamily="49" charset="-122"/>
                <a:sym typeface="+mn-ea"/>
              </a:rPr>
              <a:t>Initialize auxiliary array</a:t>
            </a:r>
            <a:endParaRPr lang="en-US" altLang="zh-CN" b="1">
              <a:solidFill>
                <a:srgbClr val="003300"/>
              </a:solidFill>
              <a:ea typeface="楷体_GB2312" pitchFamily="49" charset="-122"/>
            </a:endParaRPr>
          </a:p>
          <a:p>
            <a:pPr lvl="1" algn="l">
              <a:lnSpc>
                <a:spcPct val="110000"/>
              </a:lnSpc>
            </a:pPr>
            <a:r>
              <a:rPr lang="zh-CN" altLang="en-US" sz="3600">
                <a:solidFill>
                  <a:srgbClr val="000082"/>
                </a:solidFill>
                <a:ea typeface="楷体_GB2312" pitchFamily="49" charset="-122"/>
              </a:rPr>
              <a:t> </a:t>
            </a:r>
            <a:r>
              <a:rPr lang="zh-CN" altLang="en-US" sz="3600" b="1">
                <a:solidFill>
                  <a:srgbClr val="000082"/>
                </a:solidFill>
                <a:ea typeface="楷体_GB2312" pitchFamily="49" charset="-122"/>
              </a:rPr>
              <a:t>   </a:t>
            </a:r>
            <a:r>
              <a:rPr lang="en-US" altLang="zh-CN" sz="3600" b="1">
                <a:solidFill>
                  <a:srgbClr val="000082"/>
                </a:solidFill>
                <a:ea typeface="楷体_GB2312" pitchFamily="49" charset="-122"/>
              </a:rPr>
              <a:t>if</a:t>
            </a:r>
            <a:r>
              <a:rPr lang="en-US" altLang="zh-CN" sz="3600">
                <a:solidFill>
                  <a:srgbClr val="000082"/>
                </a:solidFill>
                <a:ea typeface="楷体_GB2312" pitchFamily="49" charset="-122"/>
              </a:rPr>
              <a:t> (j</a:t>
            </a:r>
            <a:r>
              <a:rPr lang="en-US" altLang="zh-CN" sz="3600" b="1">
                <a:solidFill>
                  <a:srgbClr val="000082"/>
                </a:solidFill>
                <a:ea typeface="楷体_GB2312" pitchFamily="49" charset="-122"/>
              </a:rPr>
              <a:t>!=</a:t>
            </a:r>
            <a:r>
              <a:rPr lang="en-US" altLang="zh-CN" sz="3600">
                <a:solidFill>
                  <a:srgbClr val="000082"/>
                </a:solidFill>
                <a:ea typeface="楷体_GB2312" pitchFamily="49" charset="-122"/>
              </a:rPr>
              <a:t>k)</a:t>
            </a:r>
            <a:r>
              <a:rPr lang="en-US" altLang="zh-CN" sz="3600">
                <a:ea typeface="楷体_GB2312" pitchFamily="49" charset="-122"/>
              </a:rPr>
              <a:t>  </a:t>
            </a:r>
            <a:endParaRPr lang="en-US" altLang="zh-CN" sz="3600">
              <a:ea typeface="楷体_GB2312" pitchFamily="49" charset="-122"/>
            </a:endParaRPr>
          </a:p>
          <a:p>
            <a:pPr lvl="1" algn="l">
              <a:lnSpc>
                <a:spcPct val="110000"/>
              </a:lnSpc>
            </a:pPr>
            <a:r>
              <a:rPr lang="en-US" altLang="zh-CN" sz="3600">
                <a:ea typeface="楷体_GB2312" pitchFamily="49" charset="-122"/>
              </a:rPr>
              <a:t>     </a:t>
            </a:r>
            <a:r>
              <a:rPr lang="en-US" altLang="zh-CN" sz="3600" b="1">
                <a:ea typeface="楷体_GB2312" pitchFamily="49" charset="-122"/>
              </a:rPr>
              <a:t>  </a:t>
            </a:r>
            <a:r>
              <a:rPr lang="en-US" altLang="zh-CN" sz="3600" b="1">
                <a:solidFill>
                  <a:srgbClr val="800000"/>
                </a:solidFill>
                <a:ea typeface="楷体_GB2312" pitchFamily="49" charset="-122"/>
              </a:rPr>
              <a:t>closedge[j] = { u, G.arcs[k][j].adj };</a:t>
            </a:r>
            <a:endParaRPr lang="en-US" altLang="zh-CN" sz="3600" b="1">
              <a:solidFill>
                <a:srgbClr val="800000"/>
              </a:solidFill>
              <a:ea typeface="楷体_GB2312" pitchFamily="49" charset="-122"/>
            </a:endParaRPr>
          </a:p>
          <a:p>
            <a:pPr lvl="1" algn="l">
              <a:lnSpc>
                <a:spcPct val="110000"/>
              </a:lnSpc>
            </a:pPr>
            <a:r>
              <a:rPr lang="zh-CN" altLang="en-US" sz="3600" b="1">
                <a:ea typeface="楷体_GB2312" pitchFamily="49" charset="-122"/>
              </a:rPr>
              <a:t>　                                            </a:t>
            </a:r>
            <a:r>
              <a:rPr lang="en-US" altLang="zh-CN" b="1">
                <a:solidFill>
                  <a:srgbClr val="003300"/>
                </a:solidFill>
                <a:ea typeface="楷体_GB2312" pitchFamily="49" charset="-122"/>
              </a:rPr>
              <a:t>// {adjvex, lowcost}</a:t>
            </a:r>
            <a:endParaRPr lang="en-US" altLang="zh-CN" sz="3600" b="1">
              <a:ea typeface="楷体_GB2312" pitchFamily="49" charset="-122"/>
            </a:endParaRPr>
          </a:p>
          <a:p>
            <a:pPr algn="l">
              <a:lnSpc>
                <a:spcPct val="110000"/>
              </a:lnSpc>
            </a:pPr>
            <a:r>
              <a:rPr lang="en-US" altLang="zh-CN" sz="3600">
                <a:ea typeface="楷体_GB2312" pitchFamily="49" charset="-122"/>
              </a:rPr>
              <a:t>    </a:t>
            </a:r>
            <a:r>
              <a:rPr lang="en-US" altLang="zh-CN" sz="3600">
                <a:solidFill>
                  <a:srgbClr val="000082"/>
                </a:solidFill>
                <a:ea typeface="楷体_GB2312" pitchFamily="49" charset="-122"/>
              </a:rPr>
              <a:t>closedge[k].lowcost = 0;          </a:t>
            </a:r>
            <a:r>
              <a:rPr lang="en-US" altLang="zh-CN" b="1">
                <a:solidFill>
                  <a:srgbClr val="003300"/>
                </a:solidFill>
                <a:ea typeface="楷体_GB2312" pitchFamily="49" charset="-122"/>
              </a:rPr>
              <a:t>// </a:t>
            </a:r>
            <a:r>
              <a:rPr lang="en-US" altLang="zh-CN" b="1">
                <a:solidFill>
                  <a:srgbClr val="003300"/>
                </a:solidFill>
                <a:ea typeface="楷体_GB2312" pitchFamily="49" charset="-122"/>
                <a:sym typeface="+mn-ea"/>
              </a:rPr>
              <a:t>Initially</a:t>
            </a:r>
            <a:r>
              <a:rPr lang="en-US" altLang="zh-CN" b="1">
                <a:solidFill>
                  <a:srgbClr val="003300"/>
                </a:solidFill>
                <a:ea typeface="楷体_GB2312" pitchFamily="49" charset="-122"/>
              </a:rPr>
              <a:t>，U</a:t>
            </a:r>
            <a:r>
              <a:rPr lang="zh-CN" altLang="en-US" b="1">
                <a:solidFill>
                  <a:srgbClr val="003300"/>
                </a:solidFill>
                <a:ea typeface="楷体_GB2312" pitchFamily="49" charset="-122"/>
              </a:rPr>
              <a:t>＝</a:t>
            </a:r>
            <a:r>
              <a:rPr lang="en-US" altLang="zh-CN" b="1">
                <a:solidFill>
                  <a:srgbClr val="003300"/>
                </a:solidFill>
                <a:ea typeface="楷体_GB2312" pitchFamily="49" charset="-122"/>
              </a:rPr>
              <a:t>{u}</a:t>
            </a:r>
            <a:endParaRPr lang="en-US" altLang="zh-CN" b="1">
              <a:solidFill>
                <a:srgbClr val="003300"/>
              </a:solidFill>
              <a:ea typeface="楷体_GB2312" pitchFamily="49" charset="-122"/>
            </a:endParaRPr>
          </a:p>
          <a:p>
            <a:pPr algn="l">
              <a:lnSpc>
                <a:spcPct val="110000"/>
              </a:lnSpc>
            </a:pPr>
            <a:r>
              <a:rPr lang="en-US" altLang="zh-CN" sz="3600">
                <a:solidFill>
                  <a:srgbClr val="000082"/>
                </a:solidFill>
                <a:ea typeface="楷体_GB2312" pitchFamily="49" charset="-122"/>
              </a:rPr>
              <a:t>    </a:t>
            </a:r>
            <a:r>
              <a:rPr lang="en-US" altLang="zh-CN" sz="3600" b="1">
                <a:solidFill>
                  <a:srgbClr val="000082"/>
                </a:solidFill>
                <a:ea typeface="楷体_GB2312" pitchFamily="49" charset="-122"/>
              </a:rPr>
              <a:t>for</a:t>
            </a:r>
            <a:r>
              <a:rPr lang="en-US" altLang="zh-CN" sz="3600">
                <a:solidFill>
                  <a:srgbClr val="000082"/>
                </a:solidFill>
                <a:ea typeface="楷体_GB2312" pitchFamily="49" charset="-122"/>
              </a:rPr>
              <a:t> (i=1; i&lt;G.vexnum; ++i) </a:t>
            </a:r>
            <a:r>
              <a:rPr lang="en-US" altLang="zh-CN" sz="3600" b="1">
                <a:solidFill>
                  <a:srgbClr val="000082"/>
                </a:solidFill>
                <a:ea typeface="楷体_GB2312" pitchFamily="49" charset="-122"/>
              </a:rPr>
              <a:t>{</a:t>
            </a:r>
            <a:r>
              <a:rPr lang="en-US" altLang="zh-CN" b="1">
                <a:solidFill>
                  <a:srgbClr val="003300"/>
                </a:solidFill>
                <a:ea typeface="楷体_GB2312" pitchFamily="49" charset="-122"/>
              </a:rPr>
              <a:t>//</a:t>
            </a:r>
            <a:r>
              <a:rPr lang="en-US" altLang="zh-CN" sz="1600" b="1">
                <a:solidFill>
                  <a:srgbClr val="003300"/>
                </a:solidFill>
                <a:ea typeface="楷体_GB2312" pitchFamily="49" charset="-122"/>
                <a:sym typeface="+mn-ea"/>
              </a:rPr>
              <a:t>Select the remaining N-1 vertices</a:t>
            </a:r>
            <a:endParaRPr lang="en-US" altLang="zh-CN" sz="1600" b="1">
              <a:solidFill>
                <a:srgbClr val="003300"/>
              </a:solidFill>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strips(downLeft)">
                                      <p:cBhvr>
                                        <p:cTn id="7" dur="500"/>
                                        <p:tgtEl>
                                          <p:spTgt spid="1576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57701">
                                            <p:txEl>
                                              <p:pRg st="4294967295" end="4294967295"/>
                                            </p:txEl>
                                          </p:spTgt>
                                        </p:tgtEl>
                                        <p:attrNameLst>
                                          <p:attrName>style.visibility</p:attrName>
                                        </p:attrNameLst>
                                      </p:cBhvr>
                                      <p:to>
                                        <p:strVal val="visible"/>
                                      </p:to>
                                    </p:set>
                                    <p:animEffect transition="in" filter="strips(downLeft)">
                                      <p:cBhvr>
                                        <p:cTn id="12" dur="500"/>
                                        <p:tgtEl>
                                          <p:spTgt spid="157701">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57701">
                                            <p:txEl>
                                              <p:pRg st="0" end="0"/>
                                            </p:txEl>
                                          </p:spTgt>
                                        </p:tgtEl>
                                        <p:attrNameLst>
                                          <p:attrName>style.visibility</p:attrName>
                                        </p:attrNameLst>
                                      </p:cBhvr>
                                      <p:to>
                                        <p:strVal val="visible"/>
                                      </p:to>
                                    </p:set>
                                    <p:animEffect transition="in" filter="strips(downLeft)">
                                      <p:cBhvr>
                                        <p:cTn id="17" dur="500"/>
                                        <p:tgtEl>
                                          <p:spTgt spid="15770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57701">
                                            <p:txEl>
                                              <p:pRg st="1" end="1"/>
                                            </p:txEl>
                                          </p:spTgt>
                                        </p:tgtEl>
                                        <p:attrNameLst>
                                          <p:attrName>style.visibility</p:attrName>
                                        </p:attrNameLst>
                                      </p:cBhvr>
                                      <p:to>
                                        <p:strVal val="visible"/>
                                      </p:to>
                                    </p:set>
                                    <p:animEffect transition="in" filter="strips(downLeft)">
                                      <p:cBhvr>
                                        <p:cTn id="22" dur="500"/>
                                        <p:tgtEl>
                                          <p:spTgt spid="157701">
                                            <p:txEl>
                                              <p:pRg st="1" end="1"/>
                                            </p:txEl>
                                          </p:spTgt>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157701">
                                            <p:txEl>
                                              <p:pRg st="2" end="2"/>
                                            </p:txEl>
                                          </p:spTgt>
                                        </p:tgtEl>
                                        <p:attrNameLst>
                                          <p:attrName>style.visibility</p:attrName>
                                        </p:attrNameLst>
                                      </p:cBhvr>
                                      <p:to>
                                        <p:strVal val="visible"/>
                                      </p:to>
                                    </p:set>
                                    <p:animEffect transition="in" filter="strips(downLeft)">
                                      <p:cBhvr>
                                        <p:cTn id="25" dur="500"/>
                                        <p:tgtEl>
                                          <p:spTgt spid="157701">
                                            <p:txEl>
                                              <p:pRg st="2" end="2"/>
                                            </p:txEl>
                                          </p:spTgt>
                                        </p:tgtEl>
                                      </p:cBhvr>
                                    </p:animEffect>
                                  </p:childTnLst>
                                </p:cTn>
                              </p:par>
                              <p:par>
                                <p:cTn id="26" presetID="18" presetClass="entr" presetSubtype="12" fill="hold" grpId="0" nodeType="withEffect">
                                  <p:stCondLst>
                                    <p:cond delay="0"/>
                                  </p:stCondLst>
                                  <p:childTnLst>
                                    <p:set>
                                      <p:cBhvr>
                                        <p:cTn id="27" dur="1" fill="hold">
                                          <p:stCondLst>
                                            <p:cond delay="0"/>
                                          </p:stCondLst>
                                        </p:cTn>
                                        <p:tgtEl>
                                          <p:spTgt spid="157701">
                                            <p:txEl>
                                              <p:pRg st="3" end="3"/>
                                            </p:txEl>
                                          </p:spTgt>
                                        </p:tgtEl>
                                        <p:attrNameLst>
                                          <p:attrName>style.visibility</p:attrName>
                                        </p:attrNameLst>
                                      </p:cBhvr>
                                      <p:to>
                                        <p:strVal val="visible"/>
                                      </p:to>
                                    </p:set>
                                    <p:animEffect transition="in" filter="strips(downLeft)">
                                      <p:cBhvr>
                                        <p:cTn id="28" dur="500"/>
                                        <p:tgtEl>
                                          <p:spTgt spid="157701">
                                            <p:txEl>
                                              <p:pRg st="3" end="3"/>
                                            </p:txEl>
                                          </p:spTgt>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157701">
                                            <p:txEl>
                                              <p:pRg st="4" end="4"/>
                                            </p:txEl>
                                          </p:spTgt>
                                        </p:tgtEl>
                                        <p:attrNameLst>
                                          <p:attrName>style.visibility</p:attrName>
                                        </p:attrNameLst>
                                      </p:cBhvr>
                                      <p:to>
                                        <p:strVal val="visible"/>
                                      </p:to>
                                    </p:set>
                                    <p:animEffect transition="in" filter="strips(downLeft)">
                                      <p:cBhvr>
                                        <p:cTn id="31" dur="500"/>
                                        <p:tgtEl>
                                          <p:spTgt spid="157701">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157701">
                                            <p:txEl>
                                              <p:pRg st="5" end="5"/>
                                            </p:txEl>
                                          </p:spTgt>
                                        </p:tgtEl>
                                        <p:attrNameLst>
                                          <p:attrName>style.visibility</p:attrName>
                                        </p:attrNameLst>
                                      </p:cBhvr>
                                      <p:to>
                                        <p:strVal val="visible"/>
                                      </p:to>
                                    </p:set>
                                    <p:animEffect transition="in" filter="strips(downLeft)">
                                      <p:cBhvr>
                                        <p:cTn id="36" dur="500"/>
                                        <p:tgtEl>
                                          <p:spTgt spid="157701">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grpId="0" nodeType="clickEffect">
                                  <p:stCondLst>
                                    <p:cond delay="0"/>
                                  </p:stCondLst>
                                  <p:childTnLst>
                                    <p:set>
                                      <p:cBhvr>
                                        <p:cTn id="40" dur="1" fill="hold">
                                          <p:stCondLst>
                                            <p:cond delay="0"/>
                                          </p:stCondLst>
                                        </p:cTn>
                                        <p:tgtEl>
                                          <p:spTgt spid="157701">
                                            <p:txEl>
                                              <p:pRg st="6" end="6"/>
                                            </p:txEl>
                                          </p:spTgt>
                                        </p:tgtEl>
                                        <p:attrNameLst>
                                          <p:attrName>style.visibility</p:attrName>
                                        </p:attrNameLst>
                                      </p:cBhvr>
                                      <p:to>
                                        <p:strVal val="visible"/>
                                      </p:to>
                                    </p:set>
                                    <p:animEffect transition="in" filter="strips(downLeft)">
                                      <p:cBhvr>
                                        <p:cTn id="41" dur="500"/>
                                        <p:tgtEl>
                                          <p:spTgt spid="157701">
                                            <p:txEl>
                                              <p:pRg st="6" end="6"/>
                                            </p:txEl>
                                          </p:spTgt>
                                        </p:tgtEl>
                                      </p:cBhvr>
                                    </p:animEffect>
                                  </p:childTnLst>
                                </p:cTn>
                              </p:par>
                            </p:childTnLst>
                          </p:cTn>
                        </p:par>
                        <p:par>
                          <p:cTn id="42" fill="hold">
                            <p:stCondLst>
                              <p:cond delay="500"/>
                            </p:stCondLst>
                            <p:childTnLst>
                              <p:par>
                                <p:cTn id="43" presetID="2" presetClass="entr" presetSubtype="4" fill="hold" grpId="0" nodeType="afterEffect">
                                  <p:stCondLst>
                                    <p:cond delay="0"/>
                                  </p:stCondLst>
                                  <p:childTnLst>
                                    <p:set>
                                      <p:cBhvr>
                                        <p:cTn id="44" dur="1" fill="hold">
                                          <p:stCondLst>
                                            <p:cond delay="0"/>
                                          </p:stCondLst>
                                        </p:cTn>
                                        <p:tgtEl>
                                          <p:spTgt spid="157699"/>
                                        </p:tgtEl>
                                        <p:attrNameLst>
                                          <p:attrName>style.visibility</p:attrName>
                                        </p:attrNameLst>
                                      </p:cBhvr>
                                      <p:to>
                                        <p:strVal val="visible"/>
                                      </p:to>
                                    </p:set>
                                    <p:anim calcmode="lin" valueType="num">
                                      <p:cBhvr additive="base">
                                        <p:cTn id="45" dur="500" fill="hold"/>
                                        <p:tgtEl>
                                          <p:spTgt spid="157699"/>
                                        </p:tgtEl>
                                        <p:attrNameLst>
                                          <p:attrName>ppt_x</p:attrName>
                                        </p:attrNameLst>
                                      </p:cBhvr>
                                      <p:tavLst>
                                        <p:tav tm="0">
                                          <p:val>
                                            <p:strVal val="#ppt_x"/>
                                          </p:val>
                                        </p:tav>
                                        <p:tav tm="100000">
                                          <p:val>
                                            <p:strVal val="#ppt_x"/>
                                          </p:val>
                                        </p:tav>
                                      </p:tavLst>
                                    </p:anim>
                                    <p:anim calcmode="lin" valueType="num">
                                      <p:cBhvr additive="base">
                                        <p:cTn id="46" dur="500" fill="hold"/>
                                        <p:tgtEl>
                                          <p:spTgt spid="157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bldLvl="0" animBg="1" autoUpdateAnimBg="0"/>
      <p:bldP spid="157699" grpId="0" bldLvl="0" animBg="1" autoUpdateAnimBg="0"/>
      <p:bldP spid="157701" grpId="0" autoUpdateAnimBg="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228600" y="188913"/>
            <a:ext cx="8915400" cy="5507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a:solidFill>
                  <a:srgbClr val="000082"/>
                </a:solidFill>
                <a:ea typeface="楷体_GB2312" pitchFamily="49" charset="-122"/>
              </a:rPr>
              <a:t>  </a:t>
            </a:r>
            <a:r>
              <a:rPr lang="en-US" altLang="zh-CN" sz="3200">
                <a:solidFill>
                  <a:srgbClr val="0000FF"/>
                </a:solidFill>
                <a:ea typeface="楷体_GB2312" pitchFamily="49" charset="-122"/>
              </a:rPr>
              <a:t>k = minimum(closedge)</a:t>
            </a:r>
            <a:r>
              <a:rPr lang="en-US" altLang="zh-CN" sz="3200">
                <a:ea typeface="楷体_GB2312" pitchFamily="49" charset="-122"/>
              </a:rPr>
              <a:t>;  </a:t>
            </a:r>
            <a:endParaRPr lang="en-US" altLang="zh-CN" sz="3200">
              <a:ea typeface="楷体_GB2312" pitchFamily="49" charset="-122"/>
            </a:endParaRPr>
          </a:p>
          <a:p>
            <a:r>
              <a:rPr lang="en-US" altLang="zh-CN" sz="3200">
                <a:ea typeface="楷体_GB2312" pitchFamily="49" charset="-122"/>
              </a:rPr>
              <a:t> </a:t>
            </a:r>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Find the next vertex (k) to join the spanning tree</a:t>
            </a:r>
            <a:endParaRPr lang="en-US" altLang="zh-CN" sz="2400" b="1">
              <a:solidFill>
                <a:srgbClr val="003300"/>
              </a:solidFill>
              <a:ea typeface="楷体_GB2312" pitchFamily="49" charset="-122"/>
            </a:endParaRPr>
          </a:p>
          <a:p>
            <a:r>
              <a:rPr lang="en-US" altLang="zh-CN" sz="2400" b="1">
                <a:solidFill>
                  <a:srgbClr val="003300"/>
                </a:solidFill>
                <a:ea typeface="楷体_GB2312" pitchFamily="49" charset="-122"/>
              </a:rPr>
              <a:t>        // </a:t>
            </a:r>
            <a:r>
              <a:rPr lang="en-US" altLang="zh-CN" sz="2400" b="1">
                <a:solidFill>
                  <a:srgbClr val="003300"/>
                </a:solidFill>
                <a:ea typeface="楷体_GB2312" pitchFamily="49" charset="-122"/>
                <a:sym typeface="+mn-ea"/>
              </a:rPr>
              <a:t>At this point,</a:t>
            </a:r>
            <a:r>
              <a:rPr lang="en-US" altLang="zh-CN" sz="2400" b="1">
                <a:solidFill>
                  <a:srgbClr val="003300"/>
                </a:solidFill>
                <a:ea typeface="楷体_GB2312" pitchFamily="49" charset="-122"/>
              </a:rPr>
              <a:t>closedge[k].lowcost=</a:t>
            </a:r>
            <a:endParaRPr lang="en-US" altLang="zh-CN" sz="2400" b="1">
              <a:solidFill>
                <a:srgbClr val="003300"/>
              </a:solidFill>
              <a:ea typeface="楷体_GB2312" pitchFamily="49" charset="-122"/>
            </a:endParaRPr>
          </a:p>
          <a:p>
            <a:r>
              <a:rPr lang="en-US" altLang="zh-CN" sz="2400" b="1">
                <a:solidFill>
                  <a:srgbClr val="003300"/>
                </a:solidFill>
                <a:ea typeface="楷体_GB2312" pitchFamily="49" charset="-122"/>
              </a:rPr>
              <a:t>        // MIN{closedge[v</a:t>
            </a:r>
            <a:r>
              <a:rPr lang="en-US" altLang="zh-CN" sz="2400" b="1" baseline="-25000">
                <a:solidFill>
                  <a:srgbClr val="003300"/>
                </a:solidFill>
                <a:ea typeface="楷体_GB2312" pitchFamily="49" charset="-122"/>
              </a:rPr>
              <a:t>i </a:t>
            </a:r>
            <a:r>
              <a:rPr lang="en-US" altLang="zh-CN" sz="2400" b="1">
                <a:solidFill>
                  <a:srgbClr val="003300"/>
                </a:solidFill>
                <a:ea typeface="楷体_GB2312" pitchFamily="49" charset="-122"/>
              </a:rPr>
              <a:t>].lowcost|closedge[v</a:t>
            </a:r>
            <a:r>
              <a:rPr lang="en-US" altLang="zh-CN" sz="2400" b="1" baseline="-25000">
                <a:solidFill>
                  <a:srgbClr val="003300"/>
                </a:solidFill>
                <a:ea typeface="楷体_GB2312" pitchFamily="49" charset="-122"/>
              </a:rPr>
              <a:t>i</a:t>
            </a:r>
            <a:r>
              <a:rPr lang="en-US" altLang="zh-CN" sz="2400" b="1">
                <a:solidFill>
                  <a:srgbClr val="003300"/>
                </a:solidFill>
                <a:ea typeface="楷体_GB2312" pitchFamily="49" charset="-122"/>
              </a:rPr>
              <a:t>].lowcost&gt;0, V</a:t>
            </a:r>
            <a:r>
              <a:rPr lang="en-US" altLang="zh-CN" sz="2400" b="1" baseline="-25000">
                <a:solidFill>
                  <a:srgbClr val="003300"/>
                </a:solidFill>
                <a:ea typeface="楷体_GB2312" pitchFamily="49" charset="-122"/>
              </a:rPr>
              <a:t>i</a:t>
            </a:r>
            <a:r>
              <a:rPr lang="en-US" altLang="zh-CN" sz="2400" b="1">
                <a:solidFill>
                  <a:srgbClr val="003300"/>
                </a:solidFill>
                <a:ea typeface="楷体_GB2312" pitchFamily="49" charset="-122"/>
              </a:rPr>
              <a:t>∈V-U}</a:t>
            </a:r>
            <a:endParaRPr lang="en-US" altLang="zh-CN" sz="2400" b="1">
              <a:solidFill>
                <a:srgbClr val="003300"/>
              </a:solidFill>
              <a:ea typeface="楷体_GB2312" pitchFamily="49" charset="-122"/>
            </a:endParaRPr>
          </a:p>
          <a:p>
            <a:r>
              <a:rPr lang="en-US" altLang="zh-CN" sz="3200">
                <a:solidFill>
                  <a:srgbClr val="000082"/>
                </a:solidFill>
                <a:ea typeface="楷体_GB2312" pitchFamily="49" charset="-122"/>
              </a:rPr>
              <a:t>  </a:t>
            </a:r>
            <a:r>
              <a:rPr lang="en-US" altLang="zh-CN" b="1">
                <a:solidFill>
                  <a:srgbClr val="000082"/>
                </a:solidFill>
                <a:ea typeface="楷体_GB2312" pitchFamily="49" charset="-122"/>
              </a:rPr>
              <a:t>printf</a:t>
            </a:r>
            <a:r>
              <a:rPr lang="en-US" altLang="zh-CN">
                <a:solidFill>
                  <a:srgbClr val="000082"/>
                </a:solidFill>
                <a:ea typeface="楷体_GB2312" pitchFamily="49" charset="-122"/>
              </a:rPr>
              <a:t>(closedge[k].adjvex, G.vexs[k]); </a:t>
            </a:r>
            <a:endParaRPr lang="en-US" altLang="zh-CN">
              <a:solidFill>
                <a:srgbClr val="000082"/>
              </a:solidFill>
              <a:ea typeface="楷体_GB2312" pitchFamily="49" charset="-122"/>
            </a:endParaRPr>
          </a:p>
          <a:p>
            <a:r>
              <a:rPr lang="en-US" altLang="zh-CN">
                <a:solidFill>
                  <a:srgbClr val="000082"/>
                </a:solidFill>
                <a:ea typeface="楷体_GB2312" pitchFamily="49" charset="-122"/>
              </a:rPr>
              <a:t>   </a:t>
            </a:r>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Output the two vertices of an edge in the generated tree</a:t>
            </a:r>
            <a:endParaRPr lang="zh-CN" altLang="en-US" sz="2400" b="1">
              <a:solidFill>
                <a:srgbClr val="003300"/>
              </a:solidFill>
              <a:ea typeface="楷体_GB2312" pitchFamily="49" charset="-122"/>
            </a:endParaRPr>
          </a:p>
          <a:p>
            <a:r>
              <a:rPr lang="zh-CN" altLang="en-US">
                <a:solidFill>
                  <a:srgbClr val="000082"/>
                </a:solidFill>
                <a:ea typeface="楷体_GB2312" pitchFamily="49" charset="-122"/>
              </a:rPr>
              <a:t>  </a:t>
            </a:r>
            <a:r>
              <a:rPr lang="en-US" altLang="zh-CN">
                <a:solidFill>
                  <a:srgbClr val="000082"/>
                </a:solidFill>
                <a:ea typeface="楷体_GB2312" pitchFamily="49" charset="-122"/>
              </a:rPr>
              <a:t>closedge[k].lowcost = 0;</a:t>
            </a:r>
            <a:r>
              <a:rPr lang="en-US" altLang="zh-CN" sz="2400" b="1">
                <a:solidFill>
                  <a:srgbClr val="003300"/>
                </a:solidFill>
                <a:ea typeface="楷体_GB2312" pitchFamily="49" charset="-122"/>
              </a:rPr>
              <a:t>// </a:t>
            </a:r>
            <a:r>
              <a:rPr lang="en-US" altLang="zh-CN" sz="2000" b="1">
                <a:solidFill>
                  <a:srgbClr val="003300"/>
                </a:solidFill>
                <a:ea typeface="楷体_GB2312" pitchFamily="49" charset="-122"/>
                <a:sym typeface="+mn-ea"/>
              </a:rPr>
              <a:t>The k-th vertex is merged into the U set</a:t>
            </a:r>
            <a:endParaRPr lang="zh-CN" altLang="en-US" sz="2400" b="1">
              <a:solidFill>
                <a:srgbClr val="003300"/>
              </a:solidFill>
              <a:ea typeface="楷体_GB2312" pitchFamily="49" charset="-122"/>
            </a:endParaRPr>
          </a:p>
          <a:p>
            <a:r>
              <a:rPr lang="zh-CN" altLang="en-US" sz="3200" b="1">
                <a:solidFill>
                  <a:srgbClr val="000082"/>
                </a:solidFill>
                <a:ea typeface="楷体_GB2312" pitchFamily="49" charset="-122"/>
              </a:rPr>
              <a:t>  </a:t>
            </a:r>
            <a:r>
              <a:rPr lang="en-US" altLang="zh-CN" sz="3200" b="1">
                <a:solidFill>
                  <a:srgbClr val="000082"/>
                </a:solidFill>
                <a:ea typeface="楷体_GB2312" pitchFamily="49" charset="-122"/>
              </a:rPr>
              <a:t>for</a:t>
            </a:r>
            <a:r>
              <a:rPr lang="en-US" altLang="zh-CN" sz="3200">
                <a:solidFill>
                  <a:srgbClr val="000082"/>
                </a:solidFill>
                <a:ea typeface="楷体_GB2312" pitchFamily="49" charset="-122"/>
              </a:rPr>
              <a:t> (j=0; j&lt;G.vexnum; </a:t>
            </a:r>
            <a:r>
              <a:rPr lang="en-US" altLang="zh-CN" sz="3200" b="1">
                <a:solidFill>
                  <a:srgbClr val="000082"/>
                </a:solidFill>
                <a:ea typeface="楷体_GB2312" pitchFamily="49" charset="-122"/>
              </a:rPr>
              <a:t>++</a:t>
            </a:r>
            <a:r>
              <a:rPr lang="en-US" altLang="zh-CN" sz="3200">
                <a:solidFill>
                  <a:srgbClr val="000082"/>
                </a:solidFill>
                <a:ea typeface="楷体_GB2312" pitchFamily="49" charset="-122"/>
              </a:rPr>
              <a:t>j) </a:t>
            </a:r>
            <a:endParaRPr lang="en-US" altLang="zh-CN" sz="3200">
              <a:solidFill>
                <a:srgbClr val="000082"/>
              </a:solidFill>
              <a:ea typeface="楷体_GB2312" pitchFamily="49" charset="-122"/>
            </a:endParaRPr>
          </a:p>
          <a:p>
            <a:r>
              <a:rPr lang="en-US" altLang="zh-CN" sz="3200">
                <a:solidFill>
                  <a:srgbClr val="000082"/>
                </a:solidFill>
                <a:ea typeface="楷体_GB2312" pitchFamily="49" charset="-122"/>
              </a:rPr>
              <a:t>                    </a:t>
            </a:r>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Modify the minimum edge of other vertices</a:t>
            </a:r>
            <a:endParaRPr lang="zh-CN" altLang="en-US" sz="2400" b="1">
              <a:solidFill>
                <a:srgbClr val="003300"/>
              </a:solidFill>
              <a:ea typeface="楷体_GB2312" pitchFamily="49" charset="-122"/>
            </a:endParaRPr>
          </a:p>
          <a:p>
            <a:r>
              <a:rPr lang="zh-CN" altLang="en-US" sz="3200">
                <a:ea typeface="楷体_GB2312" pitchFamily="49" charset="-122"/>
              </a:rPr>
              <a:t>    </a:t>
            </a:r>
            <a:r>
              <a:rPr lang="zh-CN" altLang="en-US" sz="3200" b="1">
                <a:solidFill>
                  <a:srgbClr val="0000FF"/>
                </a:solidFill>
                <a:ea typeface="楷体_GB2312" pitchFamily="49" charset="-122"/>
              </a:rPr>
              <a:t> </a:t>
            </a:r>
            <a:r>
              <a:rPr lang="en-US" altLang="zh-CN" b="1">
                <a:solidFill>
                  <a:srgbClr val="800000"/>
                </a:solidFill>
                <a:ea typeface="楷体_GB2312" pitchFamily="49" charset="-122"/>
              </a:rPr>
              <a:t>if (G.arcs[k][j].adj &lt; closedge[j].lowcost)</a:t>
            </a:r>
            <a:endParaRPr lang="en-US" altLang="zh-CN" b="1">
              <a:solidFill>
                <a:srgbClr val="800000"/>
              </a:solidFill>
              <a:ea typeface="楷体_GB2312" pitchFamily="49" charset="-122"/>
            </a:endParaRPr>
          </a:p>
          <a:p>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Merge the new vertex into U and select the minimum edge again</a:t>
            </a:r>
            <a:endParaRPr lang="zh-CN" altLang="en-US" b="1">
              <a:solidFill>
                <a:srgbClr val="800000"/>
              </a:solidFill>
              <a:ea typeface="楷体_GB2312" pitchFamily="49" charset="-122"/>
            </a:endParaRPr>
          </a:p>
          <a:p>
            <a:r>
              <a:rPr lang="zh-CN" altLang="en-US" b="1">
                <a:solidFill>
                  <a:srgbClr val="800000"/>
                </a:solidFill>
                <a:ea typeface="楷体_GB2312" pitchFamily="49" charset="-122"/>
              </a:rPr>
              <a:t>        </a:t>
            </a:r>
            <a:r>
              <a:rPr lang="en-US" altLang="zh-CN" b="1">
                <a:solidFill>
                  <a:srgbClr val="800000"/>
                </a:solidFill>
                <a:ea typeface="楷体_GB2312" pitchFamily="49" charset="-122"/>
              </a:rPr>
              <a:t>closedge[j] = { G.vexs[k], G.arcs[k][j].adj };</a:t>
            </a:r>
            <a:r>
              <a:rPr lang="en-US" altLang="zh-CN" sz="3200" b="1">
                <a:solidFill>
                  <a:srgbClr val="800000"/>
                </a:solidFill>
              </a:rPr>
              <a:t> </a:t>
            </a:r>
            <a:endParaRPr lang="en-US" altLang="zh-CN" sz="3200" b="1">
              <a:solidFill>
                <a:srgbClr val="800000"/>
              </a:solidFill>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158722"/>
                                        </p:tgtEl>
                                        <p:attrNameLst>
                                          <p:attrName>style.visibility</p:attrName>
                                        </p:attrNameLst>
                                      </p:cBhvr>
                                      <p:to>
                                        <p:strVal val="visible"/>
                                      </p:to>
                                    </p:set>
                                    <p:animEffect transition="in" filter="strips(upRight)">
                                      <p:cBhvr>
                                        <p:cTn id="7" dur="500"/>
                                        <p:tgtEl>
                                          <p:spTgt spid="158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bldLvl="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Oval 2"/>
          <p:cNvSpPr>
            <a:spLocks noChangeArrowheads="1"/>
          </p:cNvSpPr>
          <p:nvPr/>
        </p:nvSpPr>
        <p:spPr bwMode="auto">
          <a:xfrm>
            <a:off x="490538" y="808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283651" name="Oval 3"/>
          <p:cNvSpPr>
            <a:spLocks noChangeArrowheads="1"/>
          </p:cNvSpPr>
          <p:nvPr/>
        </p:nvSpPr>
        <p:spPr bwMode="auto">
          <a:xfrm>
            <a:off x="2776538" y="808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283652" name="Oval 4"/>
          <p:cNvSpPr>
            <a:spLocks noChangeArrowheads="1"/>
          </p:cNvSpPr>
          <p:nvPr/>
        </p:nvSpPr>
        <p:spPr bwMode="auto">
          <a:xfrm>
            <a:off x="4071938" y="1265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283653" name="Oval 5"/>
          <p:cNvSpPr>
            <a:spLocks noChangeArrowheads="1"/>
          </p:cNvSpPr>
          <p:nvPr/>
        </p:nvSpPr>
        <p:spPr bwMode="auto">
          <a:xfrm>
            <a:off x="3462338" y="21034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283654" name="Oval 6"/>
          <p:cNvSpPr>
            <a:spLocks noChangeArrowheads="1"/>
          </p:cNvSpPr>
          <p:nvPr/>
        </p:nvSpPr>
        <p:spPr bwMode="auto">
          <a:xfrm>
            <a:off x="2090738"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283655" name="Oval 7"/>
          <p:cNvSpPr>
            <a:spLocks noChangeArrowheads="1"/>
          </p:cNvSpPr>
          <p:nvPr/>
        </p:nvSpPr>
        <p:spPr bwMode="auto">
          <a:xfrm>
            <a:off x="338138" y="2332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283656" name="Oval 8"/>
          <p:cNvSpPr>
            <a:spLocks noChangeArrowheads="1"/>
          </p:cNvSpPr>
          <p:nvPr/>
        </p:nvSpPr>
        <p:spPr bwMode="auto">
          <a:xfrm>
            <a:off x="2014538" y="2941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283657" name="Line 9"/>
          <p:cNvSpPr>
            <a:spLocks noChangeShapeType="1"/>
          </p:cNvSpPr>
          <p:nvPr/>
        </p:nvSpPr>
        <p:spPr bwMode="auto">
          <a:xfrm flipV="1">
            <a:off x="947738" y="1036638"/>
            <a:ext cx="1828800" cy="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58" name="Line 10"/>
          <p:cNvSpPr>
            <a:spLocks noChangeShapeType="1"/>
          </p:cNvSpPr>
          <p:nvPr/>
        </p:nvSpPr>
        <p:spPr bwMode="auto">
          <a:xfrm>
            <a:off x="871538" y="1189038"/>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59" name="Line 11"/>
          <p:cNvSpPr>
            <a:spLocks noChangeShapeType="1"/>
          </p:cNvSpPr>
          <p:nvPr/>
        </p:nvSpPr>
        <p:spPr bwMode="auto">
          <a:xfrm flipH="1">
            <a:off x="2395538" y="1189038"/>
            <a:ext cx="457200" cy="609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0" name="Line 12"/>
          <p:cNvSpPr>
            <a:spLocks noChangeShapeType="1"/>
          </p:cNvSpPr>
          <p:nvPr/>
        </p:nvSpPr>
        <p:spPr bwMode="auto">
          <a:xfrm flipH="1">
            <a:off x="566738" y="1265238"/>
            <a:ext cx="152400" cy="1066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1" name="Line 13"/>
          <p:cNvSpPr>
            <a:spLocks noChangeShapeType="1"/>
          </p:cNvSpPr>
          <p:nvPr/>
        </p:nvSpPr>
        <p:spPr bwMode="auto">
          <a:xfrm flipV="1">
            <a:off x="795338" y="2103438"/>
            <a:ext cx="1295400" cy="381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2" name="Line 14"/>
          <p:cNvSpPr>
            <a:spLocks noChangeShapeType="1"/>
          </p:cNvSpPr>
          <p:nvPr/>
        </p:nvSpPr>
        <p:spPr bwMode="auto">
          <a:xfrm>
            <a:off x="2547938" y="2027238"/>
            <a:ext cx="914400" cy="228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3" name="Line 15"/>
          <p:cNvSpPr>
            <a:spLocks noChangeShapeType="1"/>
          </p:cNvSpPr>
          <p:nvPr/>
        </p:nvSpPr>
        <p:spPr bwMode="auto">
          <a:xfrm>
            <a:off x="3233738" y="1036638"/>
            <a:ext cx="838200" cy="304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4" name="Line 16"/>
          <p:cNvSpPr>
            <a:spLocks noChangeShapeType="1"/>
          </p:cNvSpPr>
          <p:nvPr/>
        </p:nvSpPr>
        <p:spPr bwMode="auto">
          <a:xfrm flipH="1">
            <a:off x="3843338" y="1646238"/>
            <a:ext cx="3048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5" name="Line 17"/>
          <p:cNvSpPr>
            <a:spLocks noChangeShapeType="1"/>
          </p:cNvSpPr>
          <p:nvPr/>
        </p:nvSpPr>
        <p:spPr bwMode="auto">
          <a:xfrm>
            <a:off x="3157538" y="1189038"/>
            <a:ext cx="533400" cy="990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6" name="Line 18"/>
          <p:cNvSpPr>
            <a:spLocks noChangeShapeType="1"/>
          </p:cNvSpPr>
          <p:nvPr/>
        </p:nvSpPr>
        <p:spPr bwMode="auto">
          <a:xfrm>
            <a:off x="795338" y="2636838"/>
            <a:ext cx="12192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7" name="Line 19"/>
          <p:cNvSpPr>
            <a:spLocks noChangeShapeType="1"/>
          </p:cNvSpPr>
          <p:nvPr/>
        </p:nvSpPr>
        <p:spPr bwMode="auto">
          <a:xfrm flipH="1">
            <a:off x="2471738" y="2408238"/>
            <a:ext cx="9906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68" name="Text Box 20"/>
          <p:cNvSpPr txBox="1">
            <a:spLocks noChangeArrowheads="1"/>
          </p:cNvSpPr>
          <p:nvPr/>
        </p:nvSpPr>
        <p:spPr bwMode="auto">
          <a:xfrm>
            <a:off x="1481138" y="5937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19</a:t>
            </a:r>
            <a:endParaRPr lang="en-US" altLang="zh-CN" sz="2800"/>
          </a:p>
        </p:txBody>
      </p:sp>
      <p:sp>
        <p:nvSpPr>
          <p:cNvPr id="283669" name="Text Box 21"/>
          <p:cNvSpPr txBox="1">
            <a:spLocks noChangeArrowheads="1"/>
          </p:cNvSpPr>
          <p:nvPr/>
        </p:nvSpPr>
        <p:spPr bwMode="auto">
          <a:xfrm>
            <a:off x="3614738" y="7318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5</a:t>
            </a:r>
            <a:endParaRPr lang="en-US" altLang="zh-CN">
              <a:solidFill>
                <a:schemeClr val="tx2"/>
              </a:solidFill>
            </a:endParaRPr>
          </a:p>
        </p:txBody>
      </p:sp>
      <p:sp>
        <p:nvSpPr>
          <p:cNvPr id="283670" name="Text Box 22"/>
          <p:cNvSpPr txBox="1">
            <a:spLocks noChangeArrowheads="1"/>
          </p:cNvSpPr>
          <p:nvPr/>
        </p:nvSpPr>
        <p:spPr bwMode="auto">
          <a:xfrm>
            <a:off x="1100138" y="10366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14</a:t>
            </a:r>
            <a:endParaRPr lang="en-US" altLang="zh-CN"/>
          </a:p>
        </p:txBody>
      </p:sp>
      <p:sp>
        <p:nvSpPr>
          <p:cNvPr id="283671" name="Text Box 23"/>
          <p:cNvSpPr txBox="1">
            <a:spLocks noChangeArrowheads="1"/>
          </p:cNvSpPr>
          <p:nvPr/>
        </p:nvSpPr>
        <p:spPr bwMode="auto">
          <a:xfrm>
            <a:off x="179388" y="14938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18</a:t>
            </a:r>
            <a:endParaRPr lang="en-US" altLang="zh-CN" sz="3200"/>
          </a:p>
        </p:txBody>
      </p:sp>
      <p:sp>
        <p:nvSpPr>
          <p:cNvPr id="283672" name="Text Box 24"/>
          <p:cNvSpPr txBox="1">
            <a:spLocks noChangeArrowheads="1"/>
          </p:cNvSpPr>
          <p:nvPr/>
        </p:nvSpPr>
        <p:spPr bwMode="auto">
          <a:xfrm>
            <a:off x="1252538" y="24844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t>27</a:t>
            </a:r>
            <a:endParaRPr lang="en-US" altLang="zh-CN" sz="3200"/>
          </a:p>
        </p:txBody>
      </p:sp>
      <p:sp>
        <p:nvSpPr>
          <p:cNvPr id="283673" name="Text Box 25"/>
          <p:cNvSpPr txBox="1">
            <a:spLocks noChangeArrowheads="1"/>
          </p:cNvSpPr>
          <p:nvPr/>
        </p:nvSpPr>
        <p:spPr bwMode="auto">
          <a:xfrm>
            <a:off x="947738" y="19192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16</a:t>
            </a:r>
            <a:endParaRPr lang="en-US" altLang="zh-CN" sz="2800"/>
          </a:p>
        </p:txBody>
      </p:sp>
      <p:sp>
        <p:nvSpPr>
          <p:cNvPr id="283674" name="Text Box 26"/>
          <p:cNvSpPr txBox="1">
            <a:spLocks noChangeArrowheads="1"/>
          </p:cNvSpPr>
          <p:nvPr/>
        </p:nvSpPr>
        <p:spPr bwMode="auto">
          <a:xfrm>
            <a:off x="2776538" y="17367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8</a:t>
            </a:r>
            <a:endParaRPr lang="en-US" altLang="zh-CN" sz="3200"/>
          </a:p>
        </p:txBody>
      </p:sp>
      <p:sp>
        <p:nvSpPr>
          <p:cNvPr id="283675" name="Text Box 27"/>
          <p:cNvSpPr txBox="1">
            <a:spLocks noChangeArrowheads="1"/>
          </p:cNvSpPr>
          <p:nvPr/>
        </p:nvSpPr>
        <p:spPr bwMode="auto">
          <a:xfrm>
            <a:off x="2547938" y="23463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21</a:t>
            </a:r>
            <a:endParaRPr lang="en-US" altLang="zh-CN" sz="2800"/>
          </a:p>
        </p:txBody>
      </p:sp>
      <p:sp>
        <p:nvSpPr>
          <p:cNvPr id="283676" name="Text Box 28"/>
          <p:cNvSpPr txBox="1">
            <a:spLocks noChangeArrowheads="1"/>
          </p:cNvSpPr>
          <p:nvPr/>
        </p:nvSpPr>
        <p:spPr bwMode="auto">
          <a:xfrm>
            <a:off x="3995738" y="1722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3</a:t>
            </a:r>
            <a:endParaRPr lang="en-US" altLang="zh-CN" sz="3200"/>
          </a:p>
        </p:txBody>
      </p:sp>
      <p:sp>
        <p:nvSpPr>
          <p:cNvPr id="283677" name="Oval 29"/>
          <p:cNvSpPr>
            <a:spLocks noChangeArrowheads="1"/>
          </p:cNvSpPr>
          <p:nvPr/>
        </p:nvSpPr>
        <p:spPr bwMode="auto">
          <a:xfrm>
            <a:off x="490538" y="8080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283678" name="Line 30"/>
          <p:cNvSpPr>
            <a:spLocks noChangeShapeType="1"/>
          </p:cNvSpPr>
          <p:nvPr/>
        </p:nvSpPr>
        <p:spPr bwMode="auto">
          <a:xfrm>
            <a:off x="2547938" y="2027238"/>
            <a:ext cx="914400" cy="2286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79" name="Oval 31"/>
          <p:cNvSpPr>
            <a:spLocks noChangeArrowheads="1"/>
          </p:cNvSpPr>
          <p:nvPr/>
        </p:nvSpPr>
        <p:spPr bwMode="auto">
          <a:xfrm>
            <a:off x="2090738" y="17986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283680" name="Line 32"/>
          <p:cNvSpPr>
            <a:spLocks noChangeShapeType="1"/>
          </p:cNvSpPr>
          <p:nvPr/>
        </p:nvSpPr>
        <p:spPr bwMode="auto">
          <a:xfrm>
            <a:off x="871538" y="1189038"/>
            <a:ext cx="12954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81" name="Text Box 33"/>
          <p:cNvSpPr txBox="1">
            <a:spLocks noChangeArrowheads="1"/>
          </p:cNvSpPr>
          <p:nvPr/>
        </p:nvSpPr>
        <p:spPr bwMode="auto">
          <a:xfrm>
            <a:off x="2243138" y="10366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12</a:t>
            </a:r>
            <a:endParaRPr lang="en-US" altLang="zh-CN" sz="3200"/>
          </a:p>
        </p:txBody>
      </p:sp>
      <p:sp>
        <p:nvSpPr>
          <p:cNvPr id="283682" name="Oval 34"/>
          <p:cNvSpPr>
            <a:spLocks noChangeArrowheads="1"/>
          </p:cNvSpPr>
          <p:nvPr/>
        </p:nvSpPr>
        <p:spPr bwMode="auto">
          <a:xfrm>
            <a:off x="3462338" y="21034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283683" name="Line 35"/>
          <p:cNvSpPr>
            <a:spLocks noChangeShapeType="1"/>
          </p:cNvSpPr>
          <p:nvPr/>
        </p:nvSpPr>
        <p:spPr bwMode="auto">
          <a:xfrm flipH="1">
            <a:off x="3843338" y="1646238"/>
            <a:ext cx="304800" cy="457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84" name="Oval 36"/>
          <p:cNvSpPr>
            <a:spLocks noChangeArrowheads="1"/>
          </p:cNvSpPr>
          <p:nvPr/>
        </p:nvSpPr>
        <p:spPr bwMode="auto">
          <a:xfrm>
            <a:off x="4071938" y="12652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283685" name="Line 37"/>
          <p:cNvSpPr>
            <a:spLocks noChangeShapeType="1"/>
          </p:cNvSpPr>
          <p:nvPr/>
        </p:nvSpPr>
        <p:spPr bwMode="auto">
          <a:xfrm>
            <a:off x="3233738" y="1036638"/>
            <a:ext cx="838200" cy="304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686" name="Oval 38"/>
          <p:cNvSpPr>
            <a:spLocks noChangeArrowheads="1"/>
          </p:cNvSpPr>
          <p:nvPr/>
        </p:nvSpPr>
        <p:spPr bwMode="auto">
          <a:xfrm>
            <a:off x="2776538" y="808038"/>
            <a:ext cx="457200" cy="411162"/>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283687" name="Text Box 39"/>
          <p:cNvSpPr txBox="1">
            <a:spLocks noChangeArrowheads="1"/>
          </p:cNvSpPr>
          <p:nvPr/>
        </p:nvSpPr>
        <p:spPr bwMode="auto">
          <a:xfrm>
            <a:off x="3309938" y="1341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7</a:t>
            </a:r>
            <a:endParaRPr lang="en-US" altLang="zh-CN" sz="3200"/>
          </a:p>
        </p:txBody>
      </p:sp>
      <p:graphicFrame>
        <p:nvGraphicFramePr>
          <p:cNvPr id="283688" name="Object 40"/>
          <p:cNvGraphicFramePr>
            <a:graphicFrameLocks noChangeAspect="1"/>
          </p:cNvGraphicFramePr>
          <p:nvPr/>
        </p:nvGraphicFramePr>
        <p:xfrm>
          <a:off x="457200" y="3848100"/>
          <a:ext cx="8191500" cy="2476500"/>
        </p:xfrm>
        <a:graphic>
          <a:graphicData uri="http://schemas.openxmlformats.org/presentationml/2006/ole">
            <mc:AlternateContent xmlns:mc="http://schemas.openxmlformats.org/markup-compatibility/2006">
              <mc:Choice xmlns:v="urn:schemas-microsoft-com:vml" Requires="v">
                <p:oleObj spid="_x0000_s2" name="Document" r:id="rId1" imgW="8201025" imgH="2486025" progId="Word.Document.8">
                  <p:embed/>
                </p:oleObj>
              </mc:Choice>
              <mc:Fallback>
                <p:oleObj name="Document" r:id="rId1" imgW="8201025" imgH="2486025" progId="Word.Document.8">
                  <p:embed/>
                  <p:pic>
                    <p:nvPicPr>
                      <p:cNvPr id="0" name="Object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848100"/>
                        <a:ext cx="8191500" cy="247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3689" name="Text Box 41"/>
          <p:cNvSpPr txBox="1">
            <a:spLocks noChangeArrowheads="1"/>
          </p:cNvSpPr>
          <p:nvPr/>
        </p:nvSpPr>
        <p:spPr bwMode="auto">
          <a:xfrm>
            <a:off x="3200400" y="47244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283690" name="Text Box 42"/>
          <p:cNvSpPr txBox="1">
            <a:spLocks noChangeArrowheads="1"/>
          </p:cNvSpPr>
          <p:nvPr/>
        </p:nvSpPr>
        <p:spPr bwMode="auto">
          <a:xfrm>
            <a:off x="5943600" y="47244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283691" name="Text Box 43"/>
          <p:cNvSpPr txBox="1">
            <a:spLocks noChangeArrowheads="1"/>
          </p:cNvSpPr>
          <p:nvPr/>
        </p:nvSpPr>
        <p:spPr bwMode="auto">
          <a:xfrm>
            <a:off x="7772400" y="46926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a</a:t>
            </a:r>
            <a:endParaRPr lang="en-US" altLang="zh-CN" sz="3600" b="1"/>
          </a:p>
        </p:txBody>
      </p:sp>
      <p:sp>
        <p:nvSpPr>
          <p:cNvPr id="283692" name="Text Box 44"/>
          <p:cNvSpPr txBox="1">
            <a:spLocks noChangeArrowheads="1"/>
          </p:cNvSpPr>
          <p:nvPr/>
        </p:nvSpPr>
        <p:spPr bwMode="auto">
          <a:xfrm>
            <a:off x="3200400" y="53784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19</a:t>
            </a:r>
            <a:endParaRPr lang="en-US" altLang="zh-CN" sz="3600" b="1"/>
          </a:p>
        </p:txBody>
      </p:sp>
      <p:sp>
        <p:nvSpPr>
          <p:cNvPr id="283693" name="Text Box 45"/>
          <p:cNvSpPr txBox="1">
            <a:spLocks noChangeArrowheads="1"/>
          </p:cNvSpPr>
          <p:nvPr/>
        </p:nvSpPr>
        <p:spPr bwMode="auto">
          <a:xfrm>
            <a:off x="5927725" y="541020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14</a:t>
            </a:r>
            <a:endParaRPr lang="en-US" altLang="zh-CN" sz="3600" b="1"/>
          </a:p>
        </p:txBody>
      </p:sp>
      <p:sp>
        <p:nvSpPr>
          <p:cNvPr id="283694" name="Text Box 46"/>
          <p:cNvSpPr txBox="1">
            <a:spLocks noChangeArrowheads="1"/>
          </p:cNvSpPr>
          <p:nvPr/>
        </p:nvSpPr>
        <p:spPr bwMode="auto">
          <a:xfrm>
            <a:off x="7756525" y="5378450"/>
            <a:ext cx="854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18</a:t>
            </a:r>
            <a:endParaRPr lang="en-US" altLang="zh-CN" sz="3600" b="1"/>
          </a:p>
        </p:txBody>
      </p:sp>
      <p:sp>
        <p:nvSpPr>
          <p:cNvPr id="283695" name="Text Box 47"/>
          <p:cNvSpPr txBox="1">
            <a:spLocks noChangeArrowheads="1"/>
          </p:cNvSpPr>
          <p:nvPr/>
        </p:nvSpPr>
        <p:spPr bwMode="auto">
          <a:xfrm>
            <a:off x="5943600" y="54546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0</a:t>
            </a:r>
            <a:endParaRPr lang="en-US" altLang="zh-CN" sz="3600" b="1"/>
          </a:p>
        </p:txBody>
      </p:sp>
      <p:sp>
        <p:nvSpPr>
          <p:cNvPr id="283697" name="Text Box 49"/>
          <p:cNvSpPr txBox="1">
            <a:spLocks noChangeArrowheads="1"/>
          </p:cNvSpPr>
          <p:nvPr/>
        </p:nvSpPr>
        <p:spPr bwMode="auto">
          <a:xfrm>
            <a:off x="3200400"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283698" name="Text Box 50"/>
          <p:cNvSpPr txBox="1">
            <a:spLocks noChangeArrowheads="1"/>
          </p:cNvSpPr>
          <p:nvPr/>
        </p:nvSpPr>
        <p:spPr bwMode="auto">
          <a:xfrm>
            <a:off x="3200400"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12</a:t>
            </a:r>
            <a:endParaRPr lang="en-US" altLang="zh-CN" sz="3600" b="1"/>
          </a:p>
        </p:txBody>
      </p:sp>
      <p:sp>
        <p:nvSpPr>
          <p:cNvPr id="283699" name="Text Box 51"/>
          <p:cNvSpPr txBox="1">
            <a:spLocks noChangeArrowheads="1"/>
          </p:cNvSpPr>
          <p:nvPr/>
        </p:nvSpPr>
        <p:spPr bwMode="auto">
          <a:xfrm>
            <a:off x="5013325"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283700" name="Text Box 52"/>
          <p:cNvSpPr txBox="1">
            <a:spLocks noChangeArrowheads="1"/>
          </p:cNvSpPr>
          <p:nvPr/>
        </p:nvSpPr>
        <p:spPr bwMode="auto">
          <a:xfrm>
            <a:off x="7756525" y="472440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e</a:t>
            </a:r>
            <a:endParaRPr lang="en-US" altLang="zh-CN" sz="3600" b="1"/>
          </a:p>
        </p:txBody>
      </p:sp>
      <p:sp>
        <p:nvSpPr>
          <p:cNvPr id="283701" name="Text Box 53"/>
          <p:cNvSpPr txBox="1">
            <a:spLocks noChangeArrowheads="1"/>
          </p:cNvSpPr>
          <p:nvPr/>
        </p:nvSpPr>
        <p:spPr bwMode="auto">
          <a:xfrm>
            <a:off x="5013325"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t>8</a:t>
            </a:r>
            <a:endParaRPr lang="en-US" altLang="zh-CN" sz="3600" b="1"/>
          </a:p>
        </p:txBody>
      </p:sp>
      <p:sp>
        <p:nvSpPr>
          <p:cNvPr id="283702" name="Text Box 54"/>
          <p:cNvSpPr txBox="1">
            <a:spLocks noChangeArrowheads="1"/>
          </p:cNvSpPr>
          <p:nvPr/>
        </p:nvSpPr>
        <p:spPr bwMode="auto">
          <a:xfrm>
            <a:off x="7772400" y="5441950"/>
            <a:ext cx="854075" cy="654050"/>
          </a:xfrm>
          <a:prstGeom prst="rect">
            <a:avLst/>
          </a:prstGeom>
          <a:solidFill>
            <a:srgbClr val="FFFFFF"/>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000082"/>
                </a:solidFill>
              </a:rPr>
              <a:t>16</a:t>
            </a:r>
            <a:endParaRPr lang="en-US" altLang="zh-CN" sz="3600" b="1"/>
          </a:p>
        </p:txBody>
      </p:sp>
      <p:sp>
        <p:nvSpPr>
          <p:cNvPr id="283703" name="Text Box 55"/>
          <p:cNvSpPr txBox="1">
            <a:spLocks noChangeArrowheads="1"/>
          </p:cNvSpPr>
          <p:nvPr/>
        </p:nvSpPr>
        <p:spPr bwMode="auto">
          <a:xfrm>
            <a:off x="50292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rgbClr val="00008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0</a:t>
            </a:r>
            <a:endParaRPr lang="en-US" altLang="zh-CN" sz="3600" b="1"/>
          </a:p>
        </p:txBody>
      </p:sp>
      <p:sp>
        <p:nvSpPr>
          <p:cNvPr id="283704" name="Text Box 56"/>
          <p:cNvSpPr txBox="1">
            <a:spLocks noChangeArrowheads="1"/>
          </p:cNvSpPr>
          <p:nvPr/>
        </p:nvSpPr>
        <p:spPr bwMode="auto">
          <a:xfrm>
            <a:off x="41148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283705" name="Text Box 57"/>
          <p:cNvSpPr txBox="1">
            <a:spLocks noChangeArrowheads="1"/>
          </p:cNvSpPr>
          <p:nvPr/>
        </p:nvSpPr>
        <p:spPr bwMode="auto">
          <a:xfrm>
            <a:off x="41148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3</a:t>
            </a:r>
            <a:endParaRPr lang="en-US" altLang="zh-CN" sz="3600" b="1"/>
          </a:p>
        </p:txBody>
      </p:sp>
      <p:sp>
        <p:nvSpPr>
          <p:cNvPr id="283706" name="Text Box 58"/>
          <p:cNvSpPr txBox="1">
            <a:spLocks noChangeArrowheads="1"/>
          </p:cNvSpPr>
          <p:nvPr/>
        </p:nvSpPr>
        <p:spPr bwMode="auto">
          <a:xfrm>
            <a:off x="32004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283707" name="Text Box 59"/>
          <p:cNvSpPr txBox="1">
            <a:spLocks noChangeArrowheads="1"/>
          </p:cNvSpPr>
          <p:nvPr/>
        </p:nvSpPr>
        <p:spPr bwMode="auto">
          <a:xfrm>
            <a:off x="6858000" y="472440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d</a:t>
            </a:r>
            <a:endParaRPr lang="en-US" altLang="zh-CN" sz="3600" b="1"/>
          </a:p>
        </p:txBody>
      </p:sp>
      <p:sp>
        <p:nvSpPr>
          <p:cNvPr id="283708" name="Text Box 60"/>
          <p:cNvSpPr txBox="1">
            <a:spLocks noChangeArrowheads="1"/>
          </p:cNvSpPr>
          <p:nvPr/>
        </p:nvSpPr>
        <p:spPr bwMode="auto">
          <a:xfrm>
            <a:off x="32004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t>7</a:t>
            </a:r>
            <a:endParaRPr lang="en-US" altLang="zh-CN" sz="3600" b="1"/>
          </a:p>
        </p:txBody>
      </p:sp>
      <p:sp>
        <p:nvSpPr>
          <p:cNvPr id="283709" name="Text Box 61"/>
          <p:cNvSpPr txBox="1">
            <a:spLocks noChangeArrowheads="1"/>
          </p:cNvSpPr>
          <p:nvPr/>
        </p:nvSpPr>
        <p:spPr bwMode="auto">
          <a:xfrm>
            <a:off x="6858000" y="5441950"/>
            <a:ext cx="854075" cy="654050"/>
          </a:xfrm>
          <a:prstGeom prst="rect">
            <a:avLst/>
          </a:prstGeom>
          <a:solidFill>
            <a:srgbClr val="CCFFCC"/>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chemeClr val="tx2"/>
                </a:solidFill>
              </a:rPr>
              <a:t>21</a:t>
            </a:r>
            <a:endParaRPr lang="en-US" altLang="zh-CN" sz="3600" b="1"/>
          </a:p>
        </p:txBody>
      </p:sp>
      <p:sp>
        <p:nvSpPr>
          <p:cNvPr id="283710" name="Text Box 62"/>
          <p:cNvSpPr txBox="1">
            <a:spLocks noChangeArrowheads="1"/>
          </p:cNvSpPr>
          <p:nvPr/>
        </p:nvSpPr>
        <p:spPr bwMode="auto">
          <a:xfrm>
            <a:off x="41148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0</a:t>
            </a:r>
            <a:endParaRPr lang="en-US" altLang="zh-CN" sz="3600" b="1"/>
          </a:p>
        </p:txBody>
      </p:sp>
      <p:sp>
        <p:nvSpPr>
          <p:cNvPr id="283711" name="Text Box 63"/>
          <p:cNvSpPr txBox="1">
            <a:spLocks noChangeArrowheads="1"/>
          </p:cNvSpPr>
          <p:nvPr/>
        </p:nvSpPr>
        <p:spPr bwMode="auto">
          <a:xfrm>
            <a:off x="3200400" y="4724400"/>
            <a:ext cx="854075" cy="654050"/>
          </a:xfrm>
          <a:prstGeom prst="rect">
            <a:avLst/>
          </a:prstGeom>
          <a:solidFill>
            <a:srgbClr val="FFFF99"/>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800000"/>
                </a:solidFill>
              </a:rPr>
              <a:t>c</a:t>
            </a:r>
            <a:endParaRPr lang="en-US" altLang="zh-CN" sz="3600" b="1"/>
          </a:p>
        </p:txBody>
      </p:sp>
      <p:sp>
        <p:nvSpPr>
          <p:cNvPr id="283712" name="Text Box 64"/>
          <p:cNvSpPr txBox="1">
            <a:spLocks noChangeArrowheads="1"/>
          </p:cNvSpPr>
          <p:nvPr/>
        </p:nvSpPr>
        <p:spPr bwMode="auto">
          <a:xfrm>
            <a:off x="3200400" y="5441950"/>
            <a:ext cx="854075" cy="654050"/>
          </a:xfrm>
          <a:prstGeom prst="rect">
            <a:avLst/>
          </a:prstGeom>
          <a:solidFill>
            <a:srgbClr val="FFFF99"/>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800000"/>
                </a:solidFill>
              </a:rPr>
              <a:t>5</a:t>
            </a:r>
            <a:endParaRPr lang="en-US" altLang="zh-CN" sz="3600" b="1"/>
          </a:p>
        </p:txBody>
      </p:sp>
      <p:sp>
        <p:nvSpPr>
          <p:cNvPr id="283713" name="Text Box 65"/>
          <p:cNvSpPr txBox="1">
            <a:spLocks noChangeArrowheads="1"/>
          </p:cNvSpPr>
          <p:nvPr/>
        </p:nvSpPr>
        <p:spPr bwMode="auto">
          <a:xfrm>
            <a:off x="3200400" y="5441950"/>
            <a:ext cx="854075" cy="641350"/>
          </a:xfrm>
          <a:prstGeom prst="rect">
            <a:avLst/>
          </a:prstGeom>
          <a:solidFill>
            <a:srgbClr val="FADCDC"/>
          </a:solidFill>
          <a:ln>
            <a:noFill/>
          </a:ln>
          <a:effectLst/>
          <a:extLs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FF0000"/>
                </a:solidFill>
              </a:rPr>
              <a:t>0</a:t>
            </a:r>
            <a:endParaRPr lang="en-US" altLang="zh-CN" sz="3600" b="1"/>
          </a:p>
        </p:txBody>
      </p:sp>
      <p:sp>
        <p:nvSpPr>
          <p:cNvPr id="283714" name="Oval 66"/>
          <p:cNvSpPr>
            <a:spLocks noChangeArrowheads="1"/>
          </p:cNvSpPr>
          <p:nvPr/>
        </p:nvSpPr>
        <p:spPr bwMode="auto">
          <a:xfrm>
            <a:off x="338138" y="2324100"/>
            <a:ext cx="457200" cy="411163"/>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sz="3600" b="1">
              <a:solidFill>
                <a:srgbClr val="800000"/>
              </a:solidFill>
            </a:endParaRPr>
          </a:p>
        </p:txBody>
      </p:sp>
      <p:sp>
        <p:nvSpPr>
          <p:cNvPr id="283715" name="Line 67"/>
          <p:cNvSpPr>
            <a:spLocks noChangeShapeType="1"/>
          </p:cNvSpPr>
          <p:nvPr/>
        </p:nvSpPr>
        <p:spPr bwMode="auto">
          <a:xfrm flipV="1">
            <a:off x="795338" y="2095500"/>
            <a:ext cx="1295400" cy="3810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716" name="Oval 68"/>
          <p:cNvSpPr>
            <a:spLocks noChangeArrowheads="1"/>
          </p:cNvSpPr>
          <p:nvPr/>
        </p:nvSpPr>
        <p:spPr bwMode="auto">
          <a:xfrm>
            <a:off x="2014538" y="2933700"/>
            <a:ext cx="457200" cy="411163"/>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sz="3600" b="1">
              <a:solidFill>
                <a:srgbClr val="800000"/>
              </a:solidFill>
            </a:endParaRPr>
          </a:p>
        </p:txBody>
      </p:sp>
      <p:sp>
        <p:nvSpPr>
          <p:cNvPr id="283717" name="Line 69"/>
          <p:cNvSpPr>
            <a:spLocks noChangeShapeType="1"/>
          </p:cNvSpPr>
          <p:nvPr/>
        </p:nvSpPr>
        <p:spPr bwMode="auto">
          <a:xfrm flipH="1">
            <a:off x="2509838" y="2381250"/>
            <a:ext cx="9906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718" name="Text Box 70"/>
          <p:cNvSpPr txBox="1">
            <a:spLocks noChangeArrowheads="1"/>
          </p:cNvSpPr>
          <p:nvPr/>
        </p:nvSpPr>
        <p:spPr bwMode="auto">
          <a:xfrm>
            <a:off x="4716463" y="0"/>
            <a:ext cx="4427537" cy="326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b="1"/>
              <a:t>     a     b       c      d     e     f      g</a:t>
            </a:r>
            <a:endParaRPr lang="en-US" altLang="zh-CN" b="1"/>
          </a:p>
          <a:p>
            <a:pPr>
              <a:spcBef>
                <a:spcPct val="10000"/>
              </a:spcBef>
            </a:pPr>
            <a:r>
              <a:rPr lang="en-US" altLang="zh-CN" b="1"/>
              <a:t>a   </a:t>
            </a:r>
            <a:r>
              <a:rPr lang="en-US" altLang="zh-CN" b="1">
                <a:latin typeface="宋体" panose="02010600030101010101" pitchFamily="2" charset="-122"/>
              </a:rPr>
              <a:t>∞</a:t>
            </a:r>
            <a:r>
              <a:rPr lang="en-US" altLang="zh-CN" b="1"/>
              <a:t>   </a:t>
            </a:r>
            <a:r>
              <a:rPr lang="en-US" altLang="zh-CN" b="1">
                <a:latin typeface="宋体" panose="02010600030101010101" pitchFamily="2" charset="-122"/>
              </a:rPr>
              <a:t>19</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14   </a:t>
            </a:r>
            <a:r>
              <a:rPr lang="en-US" altLang="zh-CN" b="1">
                <a:latin typeface="宋体" panose="02010600030101010101" pitchFamily="2" charset="-122"/>
              </a:rPr>
              <a:t>∞</a:t>
            </a:r>
            <a:r>
              <a:rPr lang="en-US" altLang="zh-CN" b="1"/>
              <a:t>   18</a:t>
            </a:r>
            <a:endParaRPr lang="en-US" altLang="zh-CN" b="1"/>
          </a:p>
          <a:p>
            <a:pPr>
              <a:spcBef>
                <a:spcPct val="10000"/>
              </a:spcBef>
            </a:pPr>
            <a:r>
              <a:rPr lang="en-US" altLang="zh-CN" b="1">
                <a:latin typeface="宋体" panose="02010600030101010101" pitchFamily="2" charset="-122"/>
              </a:rPr>
              <a:t>b 19</a:t>
            </a:r>
            <a:r>
              <a:rPr lang="en-US" altLang="zh-CN" b="1"/>
              <a:t>    </a:t>
            </a:r>
            <a:r>
              <a:rPr lang="en-US" altLang="zh-CN" b="1">
                <a:latin typeface="宋体" panose="02010600030101010101" pitchFamily="2" charset="-122"/>
              </a:rPr>
              <a:t>∞</a:t>
            </a:r>
            <a:r>
              <a:rPr lang="en-US" altLang="zh-CN" b="1"/>
              <a:t>     5     </a:t>
            </a:r>
            <a:r>
              <a:rPr lang="en-US" altLang="zh-CN" b="1">
                <a:latin typeface="宋体" panose="02010600030101010101" pitchFamily="2" charset="-122"/>
              </a:rPr>
              <a:t>7</a:t>
            </a:r>
            <a:r>
              <a:rPr lang="en-US" altLang="zh-CN" b="1"/>
              <a:t>     </a:t>
            </a:r>
            <a:r>
              <a:rPr lang="en-US" altLang="zh-CN" b="1">
                <a:latin typeface="宋体" panose="02010600030101010101" pitchFamily="2" charset="-122"/>
              </a:rPr>
              <a:t>12</a:t>
            </a:r>
            <a:r>
              <a:rPr lang="en-US" altLang="zh-CN" b="1"/>
              <a:t>   </a:t>
            </a:r>
            <a:r>
              <a:rPr lang="en-US" altLang="zh-CN" b="1">
                <a:latin typeface="宋体" panose="02010600030101010101" pitchFamily="2" charset="-122"/>
              </a:rPr>
              <a:t>∞ </a:t>
            </a:r>
            <a:r>
              <a:rPr lang="en-US" altLang="zh-CN" b="1"/>
              <a:t> </a:t>
            </a:r>
            <a:r>
              <a:rPr lang="en-US" altLang="zh-CN" b="1">
                <a:latin typeface="宋体" panose="02010600030101010101" pitchFamily="2" charset="-122"/>
              </a:rPr>
              <a:t>∞</a:t>
            </a:r>
            <a:r>
              <a:rPr lang="en-US" altLang="zh-CN" b="1"/>
              <a:t>                       </a:t>
            </a:r>
            <a:endParaRPr lang="en-US" altLang="zh-CN" b="1"/>
          </a:p>
          <a:p>
            <a:pPr>
              <a:spcBef>
                <a:spcPct val="10000"/>
              </a:spcBef>
            </a:pPr>
            <a:r>
              <a:rPr lang="en-US" altLang="zh-CN" b="1">
                <a:latin typeface="宋体" panose="02010600030101010101" pitchFamily="2" charset="-122"/>
              </a:rPr>
              <a:t>c ∞</a:t>
            </a:r>
            <a:r>
              <a:rPr lang="en-US" altLang="zh-CN" b="1"/>
              <a:t>    </a:t>
            </a:r>
            <a:r>
              <a:rPr lang="en-US" altLang="zh-CN" b="1">
                <a:latin typeface="宋体" panose="02010600030101010101" pitchFamily="2" charset="-122"/>
              </a:rPr>
              <a:t>5</a:t>
            </a:r>
            <a:r>
              <a:rPr lang="en-US" altLang="zh-CN" b="1"/>
              <a:t>     </a:t>
            </a:r>
            <a:r>
              <a:rPr lang="en-US" altLang="zh-CN" b="1">
                <a:latin typeface="宋体" panose="02010600030101010101" pitchFamily="2" charset="-122"/>
              </a:rPr>
              <a:t>∞</a:t>
            </a:r>
            <a:r>
              <a:rPr lang="en-US" altLang="zh-CN" b="1"/>
              <a:t>     3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a:t>
            </a:r>
            <a:endParaRPr lang="en-US" altLang="zh-CN" b="1"/>
          </a:p>
          <a:p>
            <a:pPr>
              <a:spcBef>
                <a:spcPct val="10000"/>
              </a:spcBef>
            </a:pPr>
            <a:r>
              <a:rPr lang="en-US" altLang="zh-CN" b="1">
                <a:latin typeface="宋体" panose="02010600030101010101" pitchFamily="2" charset="-122"/>
              </a:rPr>
              <a:t>d ∞</a:t>
            </a:r>
            <a:r>
              <a:rPr lang="en-US" altLang="zh-CN" b="1"/>
              <a:t>    </a:t>
            </a:r>
            <a:r>
              <a:rPr lang="en-US" altLang="zh-CN" b="1">
                <a:latin typeface="宋体" panose="02010600030101010101" pitchFamily="2" charset="-122"/>
              </a:rPr>
              <a:t>7 </a:t>
            </a:r>
            <a:r>
              <a:rPr lang="en-US" altLang="zh-CN" b="1"/>
              <a:t>     </a:t>
            </a:r>
            <a:r>
              <a:rPr lang="en-US" altLang="zh-CN" b="1">
                <a:latin typeface="宋体" panose="02010600030101010101" pitchFamily="2" charset="-122"/>
              </a:rPr>
              <a:t>3</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8</a:t>
            </a:r>
            <a:r>
              <a:rPr lang="en-US" altLang="zh-CN" b="1"/>
              <a:t>    21   </a:t>
            </a:r>
            <a:r>
              <a:rPr lang="en-US" altLang="zh-CN" b="1">
                <a:latin typeface="宋体" panose="02010600030101010101" pitchFamily="2" charset="-122"/>
              </a:rPr>
              <a:t>∞</a:t>
            </a:r>
            <a:endParaRPr lang="en-US" altLang="zh-CN" b="1"/>
          </a:p>
          <a:p>
            <a:pPr>
              <a:spcBef>
                <a:spcPct val="10000"/>
              </a:spcBef>
            </a:pPr>
            <a:r>
              <a:rPr lang="en-US" altLang="zh-CN" b="1">
                <a:latin typeface="宋体" panose="02010600030101010101" pitchFamily="2" charset="-122"/>
              </a:rPr>
              <a:t>e 14</a:t>
            </a:r>
            <a:r>
              <a:rPr lang="en-US" altLang="zh-CN" b="1"/>
              <a:t>    </a:t>
            </a:r>
            <a:r>
              <a:rPr lang="en-US" altLang="zh-CN" b="1">
                <a:latin typeface="宋体" panose="02010600030101010101" pitchFamily="2" charset="-122"/>
              </a:rPr>
              <a:t>12</a:t>
            </a:r>
            <a:r>
              <a:rPr lang="en-US" altLang="zh-CN" b="1"/>
              <a:t>    </a:t>
            </a:r>
            <a:r>
              <a:rPr lang="en-US" altLang="zh-CN" b="1">
                <a:latin typeface="宋体" panose="02010600030101010101" pitchFamily="2" charset="-122"/>
              </a:rPr>
              <a:t>∞</a:t>
            </a:r>
            <a:r>
              <a:rPr lang="en-US" altLang="zh-CN" b="1"/>
              <a:t>    8     </a:t>
            </a:r>
            <a:r>
              <a:rPr lang="en-US" altLang="zh-CN" b="1">
                <a:latin typeface="宋体" panose="02010600030101010101" pitchFamily="2" charset="-122"/>
              </a:rPr>
              <a:t>∞ </a:t>
            </a:r>
            <a:r>
              <a:rPr lang="en-US" altLang="zh-CN" b="1"/>
              <a:t> </a:t>
            </a:r>
            <a:r>
              <a:rPr lang="en-US" altLang="zh-CN" b="1">
                <a:latin typeface="宋体" panose="02010600030101010101" pitchFamily="2" charset="-122"/>
              </a:rPr>
              <a:t>∞</a:t>
            </a:r>
            <a:r>
              <a:rPr lang="en-US" altLang="zh-CN" b="1"/>
              <a:t>   16</a:t>
            </a:r>
            <a:endParaRPr lang="en-US" altLang="zh-CN" b="1"/>
          </a:p>
          <a:p>
            <a:pPr>
              <a:spcBef>
                <a:spcPct val="10000"/>
              </a:spcBef>
            </a:pPr>
            <a:r>
              <a:rPr lang="en-US" altLang="zh-CN" b="1">
                <a:latin typeface="宋体" panose="02010600030101010101" pitchFamily="2" charset="-122"/>
              </a:rPr>
              <a:t>f ∞</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21</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  </a:t>
            </a:r>
            <a:r>
              <a:rPr lang="en-US" altLang="zh-CN" b="1"/>
              <a:t>27</a:t>
            </a:r>
            <a:endParaRPr lang="en-US" altLang="zh-CN" b="1">
              <a:latin typeface="宋体" panose="02010600030101010101" pitchFamily="2" charset="-122"/>
            </a:endParaRPr>
          </a:p>
          <a:p>
            <a:pPr>
              <a:spcBef>
                <a:spcPct val="10000"/>
              </a:spcBef>
            </a:pPr>
            <a:r>
              <a:rPr lang="en-US" altLang="zh-CN" b="1">
                <a:latin typeface="宋体" panose="02010600030101010101" pitchFamily="2" charset="-122"/>
              </a:rPr>
              <a:t>g 18</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a:t>
            </a:r>
            <a:r>
              <a:rPr lang="en-US" altLang="zh-CN" b="1">
                <a:latin typeface="宋体" panose="02010600030101010101" pitchFamily="2" charset="-122"/>
              </a:rPr>
              <a:t>∞</a:t>
            </a:r>
            <a:r>
              <a:rPr lang="en-US" altLang="zh-CN" b="1"/>
              <a:t>   16   </a:t>
            </a:r>
            <a:r>
              <a:rPr lang="en-US" altLang="zh-CN" b="1">
                <a:latin typeface="宋体" panose="02010600030101010101" pitchFamily="2" charset="-122"/>
              </a:rPr>
              <a:t>27</a:t>
            </a:r>
            <a:r>
              <a:rPr lang="en-US" altLang="zh-CN" b="1"/>
              <a:t>   </a:t>
            </a:r>
            <a:r>
              <a:rPr lang="en-US" altLang="zh-CN" b="1">
                <a:latin typeface="宋体" panose="02010600030101010101" pitchFamily="2" charset="-122"/>
              </a:rPr>
              <a:t>∞</a:t>
            </a:r>
            <a:endParaRPr lang="en-US" altLang="zh-CN" b="1">
              <a:latin typeface="宋体" panose="02010600030101010101" pitchFamily="2" charset="-122"/>
            </a:endParaRPr>
          </a:p>
        </p:txBody>
      </p:sp>
      <p:sp>
        <p:nvSpPr>
          <p:cNvPr id="283719" name="AutoShape 71"/>
          <p:cNvSpPr/>
          <p:nvPr/>
        </p:nvSpPr>
        <p:spPr bwMode="auto">
          <a:xfrm>
            <a:off x="4932363" y="333375"/>
            <a:ext cx="215900" cy="3024188"/>
          </a:xfrm>
          <a:prstGeom prst="leftBrace">
            <a:avLst>
              <a:gd name="adj1" fmla="val 11672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720" name="AutoShape 72"/>
          <p:cNvSpPr/>
          <p:nvPr/>
        </p:nvSpPr>
        <p:spPr bwMode="auto">
          <a:xfrm>
            <a:off x="8820150" y="404813"/>
            <a:ext cx="179388" cy="2808287"/>
          </a:xfrm>
          <a:prstGeom prst="rightBrace">
            <a:avLst>
              <a:gd name="adj1" fmla="val 13045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3724" name="Text Box 76"/>
          <p:cNvSpPr txBox="1">
            <a:spLocks noChangeArrowheads="1"/>
          </p:cNvSpPr>
          <p:nvPr/>
        </p:nvSpPr>
        <p:spPr bwMode="auto">
          <a:xfrm>
            <a:off x="2268538" y="5445125"/>
            <a:ext cx="854075" cy="654050"/>
          </a:xfrm>
          <a:prstGeom prst="rect">
            <a:avLst/>
          </a:prstGeom>
          <a:solidFill>
            <a:srgbClr val="FFCCFF"/>
          </a:solidFill>
          <a:ln w="12700" cap="sq">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a:solidFill>
                  <a:srgbClr val="FF0000"/>
                </a:solidFill>
              </a:rPr>
              <a:t>0</a:t>
            </a:r>
            <a:endParaRPr lang="en-US" altLang="zh-CN" sz="3600" b="1">
              <a:solidFill>
                <a:srgbClr val="FF0000"/>
              </a:solidFill>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83688"/>
                                        </p:tgtEl>
                                        <p:attrNameLst>
                                          <p:attrName>style.visibility</p:attrName>
                                        </p:attrNameLst>
                                      </p:cBhvr>
                                      <p:to>
                                        <p:strVal val="visible"/>
                                      </p:to>
                                    </p:set>
                                    <p:anim calcmode="lin" valueType="num">
                                      <p:cBhvr additive="base">
                                        <p:cTn id="7" dur="500" fill="hold"/>
                                        <p:tgtEl>
                                          <p:spTgt spid="283688"/>
                                        </p:tgtEl>
                                        <p:attrNameLst>
                                          <p:attrName>ppt_x</p:attrName>
                                        </p:attrNameLst>
                                      </p:cBhvr>
                                      <p:tavLst>
                                        <p:tav tm="0">
                                          <p:val>
                                            <p:strVal val="0-#ppt_w/2"/>
                                          </p:val>
                                        </p:tav>
                                        <p:tav tm="100000">
                                          <p:val>
                                            <p:strVal val="#ppt_x"/>
                                          </p:val>
                                        </p:tav>
                                      </p:tavLst>
                                    </p:anim>
                                    <p:anim calcmode="lin" valueType="num">
                                      <p:cBhvr additive="base">
                                        <p:cTn id="8" dur="500" fill="hold"/>
                                        <p:tgtEl>
                                          <p:spTgt spid="2836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3677"/>
                                        </p:tgtEl>
                                        <p:attrNameLst>
                                          <p:attrName>style.visibility</p:attrName>
                                        </p:attrNameLst>
                                      </p:cBhvr>
                                      <p:to>
                                        <p:strVal val="visible"/>
                                      </p:to>
                                    </p:set>
                                    <p:anim calcmode="lin" valueType="num">
                                      <p:cBhvr additive="base">
                                        <p:cTn id="13" dur="500" fill="hold"/>
                                        <p:tgtEl>
                                          <p:spTgt spid="283677"/>
                                        </p:tgtEl>
                                        <p:attrNameLst>
                                          <p:attrName>ppt_x</p:attrName>
                                        </p:attrNameLst>
                                      </p:cBhvr>
                                      <p:tavLst>
                                        <p:tav tm="0">
                                          <p:val>
                                            <p:strVal val="0-#ppt_w/2"/>
                                          </p:val>
                                        </p:tav>
                                        <p:tav tm="100000">
                                          <p:val>
                                            <p:strVal val="#ppt_x"/>
                                          </p:val>
                                        </p:tav>
                                      </p:tavLst>
                                    </p:anim>
                                    <p:anim calcmode="lin" valueType="num">
                                      <p:cBhvr additive="base">
                                        <p:cTn id="14" dur="500" fill="hold"/>
                                        <p:tgtEl>
                                          <p:spTgt spid="2836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3689">
                                            <p:txEl>
                                              <p:pRg st="0" end="0"/>
                                            </p:txEl>
                                          </p:spTgt>
                                        </p:tgtEl>
                                        <p:attrNameLst>
                                          <p:attrName>style.visibility</p:attrName>
                                        </p:attrNameLst>
                                      </p:cBhvr>
                                      <p:to>
                                        <p:strVal val="visible"/>
                                      </p:to>
                                    </p:set>
                                    <p:anim calcmode="lin" valueType="num">
                                      <p:cBhvr additive="base">
                                        <p:cTn id="19" dur="500" fill="hold"/>
                                        <p:tgtEl>
                                          <p:spTgt spid="283689">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83689">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283692">
                                            <p:txEl>
                                              <p:pRg st="0" end="0"/>
                                            </p:txEl>
                                          </p:spTgt>
                                        </p:tgtEl>
                                        <p:attrNameLst>
                                          <p:attrName>style.visibility</p:attrName>
                                        </p:attrNameLst>
                                      </p:cBhvr>
                                      <p:to>
                                        <p:strVal val="visible"/>
                                      </p:to>
                                    </p:set>
                                    <p:anim calcmode="lin" valueType="num">
                                      <p:cBhvr additive="base">
                                        <p:cTn id="24" dur="500" fill="hold"/>
                                        <p:tgtEl>
                                          <p:spTgt spid="283692">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2836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83690">
                                            <p:txEl>
                                              <p:pRg st="0" end="0"/>
                                            </p:txEl>
                                          </p:spTgt>
                                        </p:tgtEl>
                                        <p:attrNameLst>
                                          <p:attrName>style.visibility</p:attrName>
                                        </p:attrNameLst>
                                      </p:cBhvr>
                                      <p:to>
                                        <p:strVal val="visible"/>
                                      </p:to>
                                    </p:set>
                                    <p:anim calcmode="lin" valueType="num">
                                      <p:cBhvr additive="base">
                                        <p:cTn id="30" dur="500" fill="hold"/>
                                        <p:tgtEl>
                                          <p:spTgt spid="283690">
                                            <p:txEl>
                                              <p:pRg st="0" end="0"/>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83690">
                                            <p:txEl>
                                              <p:pRg st="0" end="0"/>
                                            </p:txEl>
                                          </p:spTgt>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2" presetClass="entr" presetSubtype="8" fill="hold" grpId="0" nodeType="afterEffect">
                                  <p:stCondLst>
                                    <p:cond delay="0"/>
                                  </p:stCondLst>
                                  <p:childTnLst>
                                    <p:set>
                                      <p:cBhvr>
                                        <p:cTn id="34" dur="1" fill="hold">
                                          <p:stCondLst>
                                            <p:cond delay="0"/>
                                          </p:stCondLst>
                                        </p:cTn>
                                        <p:tgtEl>
                                          <p:spTgt spid="283693">
                                            <p:txEl>
                                              <p:pRg st="0" end="0"/>
                                            </p:txEl>
                                          </p:spTgt>
                                        </p:tgtEl>
                                        <p:attrNameLst>
                                          <p:attrName>style.visibility</p:attrName>
                                        </p:attrNameLst>
                                      </p:cBhvr>
                                      <p:to>
                                        <p:strVal val="visible"/>
                                      </p:to>
                                    </p:set>
                                    <p:anim calcmode="lin" valueType="num">
                                      <p:cBhvr additive="base">
                                        <p:cTn id="35" dur="500" fill="hold"/>
                                        <p:tgtEl>
                                          <p:spTgt spid="283693">
                                            <p:txEl>
                                              <p:pRg st="0" end="0"/>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836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83691">
                                            <p:txEl>
                                              <p:pRg st="0" end="0"/>
                                            </p:txEl>
                                          </p:spTgt>
                                        </p:tgtEl>
                                        <p:attrNameLst>
                                          <p:attrName>style.visibility</p:attrName>
                                        </p:attrNameLst>
                                      </p:cBhvr>
                                      <p:to>
                                        <p:strVal val="visible"/>
                                      </p:to>
                                    </p:set>
                                    <p:anim calcmode="lin" valueType="num">
                                      <p:cBhvr additive="base">
                                        <p:cTn id="41" dur="500" fill="hold"/>
                                        <p:tgtEl>
                                          <p:spTgt spid="283691">
                                            <p:txEl>
                                              <p:pRg st="0" end="0"/>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83691">
                                            <p:txEl>
                                              <p:pRg st="0" end="0"/>
                                            </p:txEl>
                                          </p:spTgt>
                                        </p:tgtEl>
                                        <p:attrNameLst>
                                          <p:attrName>ppt_y</p:attrName>
                                        </p:attrNameLst>
                                      </p:cBhvr>
                                      <p:tavLst>
                                        <p:tav tm="0">
                                          <p:val>
                                            <p:strVal val="#ppt_y"/>
                                          </p:val>
                                        </p:tav>
                                        <p:tav tm="100000">
                                          <p:val>
                                            <p:strVal val="#ppt_y"/>
                                          </p:val>
                                        </p:tav>
                                      </p:tavLst>
                                    </p:anim>
                                  </p:childTnLst>
                                </p:cTn>
                              </p:par>
                            </p:childTnLst>
                          </p:cTn>
                        </p:par>
                        <p:par>
                          <p:cTn id="43" fill="hold">
                            <p:stCondLst>
                              <p:cond delay="500"/>
                            </p:stCondLst>
                            <p:childTnLst>
                              <p:par>
                                <p:cTn id="44" presetID="2" presetClass="entr" presetSubtype="8" fill="hold" grpId="0" nodeType="afterEffect">
                                  <p:stCondLst>
                                    <p:cond delay="0"/>
                                  </p:stCondLst>
                                  <p:childTnLst>
                                    <p:set>
                                      <p:cBhvr>
                                        <p:cTn id="45" dur="1" fill="hold">
                                          <p:stCondLst>
                                            <p:cond delay="0"/>
                                          </p:stCondLst>
                                        </p:cTn>
                                        <p:tgtEl>
                                          <p:spTgt spid="283694">
                                            <p:txEl>
                                              <p:pRg st="0" end="0"/>
                                            </p:txEl>
                                          </p:spTgt>
                                        </p:tgtEl>
                                        <p:attrNameLst>
                                          <p:attrName>style.visibility</p:attrName>
                                        </p:attrNameLst>
                                      </p:cBhvr>
                                      <p:to>
                                        <p:strVal val="visible"/>
                                      </p:to>
                                    </p:set>
                                    <p:anim calcmode="lin" valueType="num">
                                      <p:cBhvr additive="base">
                                        <p:cTn id="46" dur="500" fill="hold"/>
                                        <p:tgtEl>
                                          <p:spTgt spid="283694">
                                            <p:txEl>
                                              <p:pRg st="0" end="0"/>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2836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283724"/>
                                        </p:tgtEl>
                                        <p:attrNameLst>
                                          <p:attrName>style.visibility</p:attrName>
                                        </p:attrNameLst>
                                      </p:cBhvr>
                                      <p:to>
                                        <p:strVal val="visible"/>
                                      </p:to>
                                    </p:set>
                                    <p:anim calcmode="lin" valueType="num">
                                      <p:cBhvr additive="base">
                                        <p:cTn id="52" dur="500" fill="hold"/>
                                        <p:tgtEl>
                                          <p:spTgt spid="283724"/>
                                        </p:tgtEl>
                                        <p:attrNameLst>
                                          <p:attrName>ppt_x</p:attrName>
                                        </p:attrNameLst>
                                      </p:cBhvr>
                                      <p:tavLst>
                                        <p:tav tm="0">
                                          <p:val>
                                            <p:strVal val="0-#ppt_w/2"/>
                                          </p:val>
                                        </p:tav>
                                        <p:tav tm="100000">
                                          <p:val>
                                            <p:strVal val="#ppt_x"/>
                                          </p:val>
                                        </p:tav>
                                      </p:tavLst>
                                    </p:anim>
                                    <p:anim calcmode="lin" valueType="num">
                                      <p:cBhvr additive="base">
                                        <p:cTn id="53" dur="500" fill="hold"/>
                                        <p:tgtEl>
                                          <p:spTgt spid="283724"/>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283695"/>
                                        </p:tgtEl>
                                        <p:attrNameLst>
                                          <p:attrName>style.visibility</p:attrName>
                                        </p:attrNameLst>
                                      </p:cBhvr>
                                      <p:to>
                                        <p:strVal val="visible"/>
                                      </p:to>
                                    </p:set>
                                    <p:anim calcmode="lin" valueType="num">
                                      <p:cBhvr additive="base">
                                        <p:cTn id="58" dur="500" fill="hold"/>
                                        <p:tgtEl>
                                          <p:spTgt spid="283695"/>
                                        </p:tgtEl>
                                        <p:attrNameLst>
                                          <p:attrName>ppt_x</p:attrName>
                                        </p:attrNameLst>
                                      </p:cBhvr>
                                      <p:tavLst>
                                        <p:tav tm="0">
                                          <p:val>
                                            <p:strVal val="0-#ppt_w/2"/>
                                          </p:val>
                                        </p:tav>
                                        <p:tav tm="100000">
                                          <p:val>
                                            <p:strVal val="#ppt_x"/>
                                          </p:val>
                                        </p:tav>
                                      </p:tavLst>
                                    </p:anim>
                                    <p:anim calcmode="lin" valueType="num">
                                      <p:cBhvr additive="base">
                                        <p:cTn id="59" dur="500" fill="hold"/>
                                        <p:tgtEl>
                                          <p:spTgt spid="283695"/>
                                        </p:tgtEl>
                                        <p:attrNameLst>
                                          <p:attrName>ppt_y</p:attrName>
                                        </p:attrNameLst>
                                      </p:cBhvr>
                                      <p:tavLst>
                                        <p:tav tm="0">
                                          <p:val>
                                            <p:strVal val="#ppt_y"/>
                                          </p:val>
                                        </p:tav>
                                        <p:tav tm="100000">
                                          <p:val>
                                            <p:strVal val="#ppt_y"/>
                                          </p:val>
                                        </p:tav>
                                      </p:tavLst>
                                    </p:anim>
                                  </p:childTnLst>
                                </p:cTn>
                              </p:par>
                            </p:childTnLst>
                          </p:cTn>
                        </p:par>
                        <p:par>
                          <p:cTn id="60" fill="hold">
                            <p:stCondLst>
                              <p:cond delay="500"/>
                            </p:stCondLst>
                            <p:childTnLst>
                              <p:par>
                                <p:cTn id="61" presetID="2" presetClass="entr" presetSubtype="8" fill="hold" grpId="0" nodeType="afterEffect">
                                  <p:stCondLst>
                                    <p:cond delay="0"/>
                                  </p:stCondLst>
                                  <p:childTnLst>
                                    <p:set>
                                      <p:cBhvr>
                                        <p:cTn id="62" dur="1" fill="hold">
                                          <p:stCondLst>
                                            <p:cond delay="0"/>
                                          </p:stCondLst>
                                        </p:cTn>
                                        <p:tgtEl>
                                          <p:spTgt spid="283680"/>
                                        </p:tgtEl>
                                        <p:attrNameLst>
                                          <p:attrName>style.visibility</p:attrName>
                                        </p:attrNameLst>
                                      </p:cBhvr>
                                      <p:to>
                                        <p:strVal val="visible"/>
                                      </p:to>
                                    </p:set>
                                    <p:anim calcmode="lin" valueType="num">
                                      <p:cBhvr additive="base">
                                        <p:cTn id="63" dur="500" fill="hold"/>
                                        <p:tgtEl>
                                          <p:spTgt spid="283680"/>
                                        </p:tgtEl>
                                        <p:attrNameLst>
                                          <p:attrName>ppt_x</p:attrName>
                                        </p:attrNameLst>
                                      </p:cBhvr>
                                      <p:tavLst>
                                        <p:tav tm="0">
                                          <p:val>
                                            <p:strVal val="0-#ppt_w/2"/>
                                          </p:val>
                                        </p:tav>
                                        <p:tav tm="100000">
                                          <p:val>
                                            <p:strVal val="#ppt_x"/>
                                          </p:val>
                                        </p:tav>
                                      </p:tavLst>
                                    </p:anim>
                                    <p:anim calcmode="lin" valueType="num">
                                      <p:cBhvr additive="base">
                                        <p:cTn id="64" dur="500" fill="hold"/>
                                        <p:tgtEl>
                                          <p:spTgt spid="283680"/>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283679"/>
                                        </p:tgtEl>
                                        <p:attrNameLst>
                                          <p:attrName>style.visibility</p:attrName>
                                        </p:attrNameLst>
                                      </p:cBhvr>
                                      <p:to>
                                        <p:strVal val="visible"/>
                                      </p:to>
                                    </p:set>
                                    <p:anim calcmode="lin" valueType="num">
                                      <p:cBhvr additive="base">
                                        <p:cTn id="69" dur="500" fill="hold"/>
                                        <p:tgtEl>
                                          <p:spTgt spid="283679"/>
                                        </p:tgtEl>
                                        <p:attrNameLst>
                                          <p:attrName>ppt_x</p:attrName>
                                        </p:attrNameLst>
                                      </p:cBhvr>
                                      <p:tavLst>
                                        <p:tav tm="0">
                                          <p:val>
                                            <p:strVal val="0-#ppt_w/2"/>
                                          </p:val>
                                        </p:tav>
                                        <p:tav tm="100000">
                                          <p:val>
                                            <p:strVal val="#ppt_x"/>
                                          </p:val>
                                        </p:tav>
                                      </p:tavLst>
                                    </p:anim>
                                    <p:anim calcmode="lin" valueType="num">
                                      <p:cBhvr additive="base">
                                        <p:cTn id="70" dur="500" fill="hold"/>
                                        <p:tgtEl>
                                          <p:spTgt spid="283679"/>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283697"/>
                                        </p:tgtEl>
                                        <p:attrNameLst>
                                          <p:attrName>style.visibility</p:attrName>
                                        </p:attrNameLst>
                                      </p:cBhvr>
                                      <p:to>
                                        <p:strVal val="visible"/>
                                      </p:to>
                                    </p:set>
                                    <p:anim calcmode="lin" valueType="num">
                                      <p:cBhvr additive="base">
                                        <p:cTn id="75" dur="500" fill="hold"/>
                                        <p:tgtEl>
                                          <p:spTgt spid="283697"/>
                                        </p:tgtEl>
                                        <p:attrNameLst>
                                          <p:attrName>ppt_x</p:attrName>
                                        </p:attrNameLst>
                                      </p:cBhvr>
                                      <p:tavLst>
                                        <p:tav tm="0">
                                          <p:val>
                                            <p:strVal val="0-#ppt_w/2"/>
                                          </p:val>
                                        </p:tav>
                                        <p:tav tm="100000">
                                          <p:val>
                                            <p:strVal val="#ppt_x"/>
                                          </p:val>
                                        </p:tav>
                                      </p:tavLst>
                                    </p:anim>
                                    <p:anim calcmode="lin" valueType="num">
                                      <p:cBhvr additive="base">
                                        <p:cTn id="76" dur="500" fill="hold"/>
                                        <p:tgtEl>
                                          <p:spTgt spid="283697"/>
                                        </p:tgtEl>
                                        <p:attrNameLst>
                                          <p:attrName>ppt_y</p:attrName>
                                        </p:attrNameLst>
                                      </p:cBhvr>
                                      <p:tavLst>
                                        <p:tav tm="0">
                                          <p:val>
                                            <p:strVal val="#ppt_y"/>
                                          </p:val>
                                        </p:tav>
                                        <p:tav tm="100000">
                                          <p:val>
                                            <p:strVal val="#ppt_y"/>
                                          </p:val>
                                        </p:tav>
                                      </p:tavLst>
                                    </p:anim>
                                  </p:childTnLst>
                                </p:cTn>
                              </p:par>
                            </p:childTnLst>
                          </p:cTn>
                        </p:par>
                        <p:par>
                          <p:cTn id="77" fill="hold">
                            <p:stCondLst>
                              <p:cond delay="500"/>
                            </p:stCondLst>
                            <p:childTnLst>
                              <p:par>
                                <p:cTn id="78" presetID="2" presetClass="entr" presetSubtype="8" fill="hold" grpId="0" nodeType="afterEffect">
                                  <p:stCondLst>
                                    <p:cond delay="0"/>
                                  </p:stCondLst>
                                  <p:childTnLst>
                                    <p:set>
                                      <p:cBhvr>
                                        <p:cTn id="79" dur="1" fill="hold">
                                          <p:stCondLst>
                                            <p:cond delay="0"/>
                                          </p:stCondLst>
                                        </p:cTn>
                                        <p:tgtEl>
                                          <p:spTgt spid="283698"/>
                                        </p:tgtEl>
                                        <p:attrNameLst>
                                          <p:attrName>style.visibility</p:attrName>
                                        </p:attrNameLst>
                                      </p:cBhvr>
                                      <p:to>
                                        <p:strVal val="visible"/>
                                      </p:to>
                                    </p:set>
                                    <p:anim calcmode="lin" valueType="num">
                                      <p:cBhvr additive="base">
                                        <p:cTn id="80" dur="500" fill="hold"/>
                                        <p:tgtEl>
                                          <p:spTgt spid="283698"/>
                                        </p:tgtEl>
                                        <p:attrNameLst>
                                          <p:attrName>ppt_x</p:attrName>
                                        </p:attrNameLst>
                                      </p:cBhvr>
                                      <p:tavLst>
                                        <p:tav tm="0">
                                          <p:val>
                                            <p:strVal val="0-#ppt_w/2"/>
                                          </p:val>
                                        </p:tav>
                                        <p:tav tm="100000">
                                          <p:val>
                                            <p:strVal val="#ppt_x"/>
                                          </p:val>
                                        </p:tav>
                                      </p:tavLst>
                                    </p:anim>
                                    <p:anim calcmode="lin" valueType="num">
                                      <p:cBhvr additive="base">
                                        <p:cTn id="81" dur="500" fill="hold"/>
                                        <p:tgtEl>
                                          <p:spTgt spid="283698"/>
                                        </p:tgtEl>
                                        <p:attrNameLst>
                                          <p:attrName>ppt_y</p:attrName>
                                        </p:attrNameLst>
                                      </p:cBhvr>
                                      <p:tavLst>
                                        <p:tav tm="0">
                                          <p:val>
                                            <p:strVal val="#ppt_y"/>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8" fill="hold" grpId="0" nodeType="clickEffect">
                                  <p:stCondLst>
                                    <p:cond delay="0"/>
                                  </p:stCondLst>
                                  <p:childTnLst>
                                    <p:set>
                                      <p:cBhvr>
                                        <p:cTn id="85" dur="1" fill="hold">
                                          <p:stCondLst>
                                            <p:cond delay="0"/>
                                          </p:stCondLst>
                                        </p:cTn>
                                        <p:tgtEl>
                                          <p:spTgt spid="283699"/>
                                        </p:tgtEl>
                                        <p:attrNameLst>
                                          <p:attrName>style.visibility</p:attrName>
                                        </p:attrNameLst>
                                      </p:cBhvr>
                                      <p:to>
                                        <p:strVal val="visible"/>
                                      </p:to>
                                    </p:set>
                                    <p:anim calcmode="lin" valueType="num">
                                      <p:cBhvr additive="base">
                                        <p:cTn id="86" dur="500" fill="hold"/>
                                        <p:tgtEl>
                                          <p:spTgt spid="283699"/>
                                        </p:tgtEl>
                                        <p:attrNameLst>
                                          <p:attrName>ppt_x</p:attrName>
                                        </p:attrNameLst>
                                      </p:cBhvr>
                                      <p:tavLst>
                                        <p:tav tm="0">
                                          <p:val>
                                            <p:strVal val="0-#ppt_w/2"/>
                                          </p:val>
                                        </p:tav>
                                        <p:tav tm="100000">
                                          <p:val>
                                            <p:strVal val="#ppt_x"/>
                                          </p:val>
                                        </p:tav>
                                      </p:tavLst>
                                    </p:anim>
                                    <p:anim calcmode="lin" valueType="num">
                                      <p:cBhvr additive="base">
                                        <p:cTn id="87" dur="500" fill="hold"/>
                                        <p:tgtEl>
                                          <p:spTgt spid="283699"/>
                                        </p:tgtEl>
                                        <p:attrNameLst>
                                          <p:attrName>ppt_y</p:attrName>
                                        </p:attrNameLst>
                                      </p:cBhvr>
                                      <p:tavLst>
                                        <p:tav tm="0">
                                          <p:val>
                                            <p:strVal val="#ppt_y"/>
                                          </p:val>
                                        </p:tav>
                                        <p:tav tm="100000">
                                          <p:val>
                                            <p:strVal val="#ppt_y"/>
                                          </p:val>
                                        </p:tav>
                                      </p:tavLst>
                                    </p:anim>
                                  </p:childTnLst>
                                </p:cTn>
                              </p:par>
                            </p:childTnLst>
                          </p:cTn>
                        </p:par>
                        <p:par>
                          <p:cTn id="88" fill="hold">
                            <p:stCondLst>
                              <p:cond delay="500"/>
                            </p:stCondLst>
                            <p:childTnLst>
                              <p:par>
                                <p:cTn id="89" presetID="2" presetClass="entr" presetSubtype="8" fill="hold" grpId="0" nodeType="afterEffect">
                                  <p:stCondLst>
                                    <p:cond delay="0"/>
                                  </p:stCondLst>
                                  <p:childTnLst>
                                    <p:set>
                                      <p:cBhvr>
                                        <p:cTn id="90" dur="1" fill="hold">
                                          <p:stCondLst>
                                            <p:cond delay="0"/>
                                          </p:stCondLst>
                                        </p:cTn>
                                        <p:tgtEl>
                                          <p:spTgt spid="283701"/>
                                        </p:tgtEl>
                                        <p:attrNameLst>
                                          <p:attrName>style.visibility</p:attrName>
                                        </p:attrNameLst>
                                      </p:cBhvr>
                                      <p:to>
                                        <p:strVal val="visible"/>
                                      </p:to>
                                    </p:set>
                                    <p:anim calcmode="lin" valueType="num">
                                      <p:cBhvr additive="base">
                                        <p:cTn id="91" dur="500" fill="hold"/>
                                        <p:tgtEl>
                                          <p:spTgt spid="283701"/>
                                        </p:tgtEl>
                                        <p:attrNameLst>
                                          <p:attrName>ppt_x</p:attrName>
                                        </p:attrNameLst>
                                      </p:cBhvr>
                                      <p:tavLst>
                                        <p:tav tm="0">
                                          <p:val>
                                            <p:strVal val="0-#ppt_w/2"/>
                                          </p:val>
                                        </p:tav>
                                        <p:tav tm="100000">
                                          <p:val>
                                            <p:strVal val="#ppt_x"/>
                                          </p:val>
                                        </p:tav>
                                      </p:tavLst>
                                    </p:anim>
                                    <p:anim calcmode="lin" valueType="num">
                                      <p:cBhvr additive="base">
                                        <p:cTn id="92" dur="500" fill="hold"/>
                                        <p:tgtEl>
                                          <p:spTgt spid="283701"/>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83700"/>
                                        </p:tgtEl>
                                        <p:attrNameLst>
                                          <p:attrName>style.visibility</p:attrName>
                                        </p:attrNameLst>
                                      </p:cBhvr>
                                      <p:to>
                                        <p:strVal val="visible"/>
                                      </p:to>
                                    </p:set>
                                    <p:anim calcmode="lin" valueType="num">
                                      <p:cBhvr additive="base">
                                        <p:cTn id="97" dur="500" fill="hold"/>
                                        <p:tgtEl>
                                          <p:spTgt spid="283700"/>
                                        </p:tgtEl>
                                        <p:attrNameLst>
                                          <p:attrName>ppt_x</p:attrName>
                                        </p:attrNameLst>
                                      </p:cBhvr>
                                      <p:tavLst>
                                        <p:tav tm="0">
                                          <p:val>
                                            <p:strVal val="0-#ppt_w/2"/>
                                          </p:val>
                                        </p:tav>
                                        <p:tav tm="100000">
                                          <p:val>
                                            <p:strVal val="#ppt_x"/>
                                          </p:val>
                                        </p:tav>
                                      </p:tavLst>
                                    </p:anim>
                                    <p:anim calcmode="lin" valueType="num">
                                      <p:cBhvr additive="base">
                                        <p:cTn id="98" dur="500" fill="hold"/>
                                        <p:tgtEl>
                                          <p:spTgt spid="283700"/>
                                        </p:tgtEl>
                                        <p:attrNameLst>
                                          <p:attrName>ppt_y</p:attrName>
                                        </p:attrNameLst>
                                      </p:cBhvr>
                                      <p:tavLst>
                                        <p:tav tm="0">
                                          <p:val>
                                            <p:strVal val="#ppt_y"/>
                                          </p:val>
                                        </p:tav>
                                        <p:tav tm="100000">
                                          <p:val>
                                            <p:strVal val="#ppt_y"/>
                                          </p:val>
                                        </p:tav>
                                      </p:tavLst>
                                    </p:anim>
                                  </p:childTnLst>
                                </p:cTn>
                              </p:par>
                            </p:childTnLst>
                          </p:cTn>
                        </p:par>
                        <p:par>
                          <p:cTn id="99" fill="hold">
                            <p:stCondLst>
                              <p:cond delay="500"/>
                            </p:stCondLst>
                            <p:childTnLst>
                              <p:par>
                                <p:cTn id="100" presetID="2" presetClass="entr" presetSubtype="8" fill="hold" grpId="0" nodeType="afterEffect">
                                  <p:stCondLst>
                                    <p:cond delay="0"/>
                                  </p:stCondLst>
                                  <p:childTnLst>
                                    <p:set>
                                      <p:cBhvr>
                                        <p:cTn id="101" dur="1" fill="hold">
                                          <p:stCondLst>
                                            <p:cond delay="0"/>
                                          </p:stCondLst>
                                        </p:cTn>
                                        <p:tgtEl>
                                          <p:spTgt spid="283702"/>
                                        </p:tgtEl>
                                        <p:attrNameLst>
                                          <p:attrName>style.visibility</p:attrName>
                                        </p:attrNameLst>
                                      </p:cBhvr>
                                      <p:to>
                                        <p:strVal val="visible"/>
                                      </p:to>
                                    </p:set>
                                    <p:anim calcmode="lin" valueType="num">
                                      <p:cBhvr additive="base">
                                        <p:cTn id="102" dur="500" fill="hold"/>
                                        <p:tgtEl>
                                          <p:spTgt spid="283702"/>
                                        </p:tgtEl>
                                        <p:attrNameLst>
                                          <p:attrName>ppt_x</p:attrName>
                                        </p:attrNameLst>
                                      </p:cBhvr>
                                      <p:tavLst>
                                        <p:tav tm="0">
                                          <p:val>
                                            <p:strVal val="0-#ppt_w/2"/>
                                          </p:val>
                                        </p:tav>
                                        <p:tav tm="100000">
                                          <p:val>
                                            <p:strVal val="#ppt_x"/>
                                          </p:val>
                                        </p:tav>
                                      </p:tavLst>
                                    </p:anim>
                                    <p:anim calcmode="lin" valueType="num">
                                      <p:cBhvr additive="base">
                                        <p:cTn id="103" dur="500" fill="hold"/>
                                        <p:tgtEl>
                                          <p:spTgt spid="283702"/>
                                        </p:tgtEl>
                                        <p:attrNameLst>
                                          <p:attrName>ppt_y</p:attrName>
                                        </p:attrNameLst>
                                      </p:cBhvr>
                                      <p:tavLst>
                                        <p:tav tm="0">
                                          <p:val>
                                            <p:strVal val="#ppt_y"/>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8" fill="hold" grpId="0" nodeType="clickEffect">
                                  <p:stCondLst>
                                    <p:cond delay="0"/>
                                  </p:stCondLst>
                                  <p:childTnLst>
                                    <p:set>
                                      <p:cBhvr>
                                        <p:cTn id="107" dur="1" fill="hold">
                                          <p:stCondLst>
                                            <p:cond delay="0"/>
                                          </p:stCondLst>
                                        </p:cTn>
                                        <p:tgtEl>
                                          <p:spTgt spid="283703"/>
                                        </p:tgtEl>
                                        <p:attrNameLst>
                                          <p:attrName>style.visibility</p:attrName>
                                        </p:attrNameLst>
                                      </p:cBhvr>
                                      <p:to>
                                        <p:strVal val="visible"/>
                                      </p:to>
                                    </p:set>
                                    <p:anim calcmode="lin" valueType="num">
                                      <p:cBhvr additive="base">
                                        <p:cTn id="108" dur="500" fill="hold"/>
                                        <p:tgtEl>
                                          <p:spTgt spid="283703"/>
                                        </p:tgtEl>
                                        <p:attrNameLst>
                                          <p:attrName>ppt_x</p:attrName>
                                        </p:attrNameLst>
                                      </p:cBhvr>
                                      <p:tavLst>
                                        <p:tav tm="0">
                                          <p:val>
                                            <p:strVal val="0-#ppt_w/2"/>
                                          </p:val>
                                        </p:tav>
                                        <p:tav tm="100000">
                                          <p:val>
                                            <p:strVal val="#ppt_x"/>
                                          </p:val>
                                        </p:tav>
                                      </p:tavLst>
                                    </p:anim>
                                    <p:anim calcmode="lin" valueType="num">
                                      <p:cBhvr additive="base">
                                        <p:cTn id="109" dur="500" fill="hold"/>
                                        <p:tgtEl>
                                          <p:spTgt spid="283703"/>
                                        </p:tgtEl>
                                        <p:attrNameLst>
                                          <p:attrName>ppt_y</p:attrName>
                                        </p:attrNameLst>
                                      </p:cBhvr>
                                      <p:tavLst>
                                        <p:tav tm="0">
                                          <p:val>
                                            <p:strVal val="#ppt_y"/>
                                          </p:val>
                                        </p:tav>
                                        <p:tav tm="100000">
                                          <p:val>
                                            <p:strVal val="#ppt_y"/>
                                          </p:val>
                                        </p:tav>
                                      </p:tavLst>
                                    </p:anim>
                                  </p:childTnLst>
                                </p:cTn>
                              </p:par>
                            </p:childTnLst>
                          </p:cTn>
                        </p:par>
                        <p:par>
                          <p:cTn id="110" fill="hold">
                            <p:stCondLst>
                              <p:cond delay="500"/>
                            </p:stCondLst>
                            <p:childTnLst>
                              <p:par>
                                <p:cTn id="111" presetID="2" presetClass="entr" presetSubtype="8" fill="hold" grpId="0" nodeType="afterEffect">
                                  <p:stCondLst>
                                    <p:cond delay="0"/>
                                  </p:stCondLst>
                                  <p:childTnLst>
                                    <p:set>
                                      <p:cBhvr>
                                        <p:cTn id="112" dur="1" fill="hold">
                                          <p:stCondLst>
                                            <p:cond delay="0"/>
                                          </p:stCondLst>
                                        </p:cTn>
                                        <p:tgtEl>
                                          <p:spTgt spid="283678"/>
                                        </p:tgtEl>
                                        <p:attrNameLst>
                                          <p:attrName>style.visibility</p:attrName>
                                        </p:attrNameLst>
                                      </p:cBhvr>
                                      <p:to>
                                        <p:strVal val="visible"/>
                                      </p:to>
                                    </p:set>
                                    <p:anim calcmode="lin" valueType="num">
                                      <p:cBhvr additive="base">
                                        <p:cTn id="113" dur="500" fill="hold"/>
                                        <p:tgtEl>
                                          <p:spTgt spid="283678"/>
                                        </p:tgtEl>
                                        <p:attrNameLst>
                                          <p:attrName>ppt_x</p:attrName>
                                        </p:attrNameLst>
                                      </p:cBhvr>
                                      <p:tavLst>
                                        <p:tav tm="0">
                                          <p:val>
                                            <p:strVal val="0-#ppt_w/2"/>
                                          </p:val>
                                        </p:tav>
                                        <p:tav tm="100000">
                                          <p:val>
                                            <p:strVal val="#ppt_x"/>
                                          </p:val>
                                        </p:tav>
                                      </p:tavLst>
                                    </p:anim>
                                    <p:anim calcmode="lin" valueType="num">
                                      <p:cBhvr additive="base">
                                        <p:cTn id="114" dur="500" fill="hold"/>
                                        <p:tgtEl>
                                          <p:spTgt spid="283678"/>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283682"/>
                                        </p:tgtEl>
                                        <p:attrNameLst>
                                          <p:attrName>style.visibility</p:attrName>
                                        </p:attrNameLst>
                                      </p:cBhvr>
                                      <p:to>
                                        <p:strVal val="visible"/>
                                      </p:to>
                                    </p:set>
                                    <p:anim calcmode="lin" valueType="num">
                                      <p:cBhvr additive="base">
                                        <p:cTn id="119" dur="500" fill="hold"/>
                                        <p:tgtEl>
                                          <p:spTgt spid="283682"/>
                                        </p:tgtEl>
                                        <p:attrNameLst>
                                          <p:attrName>ppt_x</p:attrName>
                                        </p:attrNameLst>
                                      </p:cBhvr>
                                      <p:tavLst>
                                        <p:tav tm="0">
                                          <p:val>
                                            <p:strVal val="0-#ppt_w/2"/>
                                          </p:val>
                                        </p:tav>
                                        <p:tav tm="100000">
                                          <p:val>
                                            <p:strVal val="#ppt_x"/>
                                          </p:val>
                                        </p:tav>
                                      </p:tavLst>
                                    </p:anim>
                                    <p:anim calcmode="lin" valueType="num">
                                      <p:cBhvr additive="base">
                                        <p:cTn id="120" dur="500" fill="hold"/>
                                        <p:tgtEl>
                                          <p:spTgt spid="283682"/>
                                        </p:tgtEl>
                                        <p:attrNameLst>
                                          <p:attrName>ppt_y</p:attrName>
                                        </p:attrNameLst>
                                      </p:cBhvr>
                                      <p:tavLst>
                                        <p:tav tm="0">
                                          <p:val>
                                            <p:strVal val="#ppt_y"/>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8" fill="hold" grpId="0" nodeType="clickEffect">
                                  <p:stCondLst>
                                    <p:cond delay="0"/>
                                  </p:stCondLst>
                                  <p:childTnLst>
                                    <p:set>
                                      <p:cBhvr>
                                        <p:cTn id="124" dur="1" fill="hold">
                                          <p:stCondLst>
                                            <p:cond delay="0"/>
                                          </p:stCondLst>
                                        </p:cTn>
                                        <p:tgtEl>
                                          <p:spTgt spid="283706"/>
                                        </p:tgtEl>
                                        <p:attrNameLst>
                                          <p:attrName>style.visibility</p:attrName>
                                        </p:attrNameLst>
                                      </p:cBhvr>
                                      <p:to>
                                        <p:strVal val="visible"/>
                                      </p:to>
                                    </p:set>
                                    <p:anim calcmode="lin" valueType="num">
                                      <p:cBhvr additive="base">
                                        <p:cTn id="125" dur="500" fill="hold"/>
                                        <p:tgtEl>
                                          <p:spTgt spid="283706"/>
                                        </p:tgtEl>
                                        <p:attrNameLst>
                                          <p:attrName>ppt_x</p:attrName>
                                        </p:attrNameLst>
                                      </p:cBhvr>
                                      <p:tavLst>
                                        <p:tav tm="0">
                                          <p:val>
                                            <p:strVal val="0-#ppt_w/2"/>
                                          </p:val>
                                        </p:tav>
                                        <p:tav tm="100000">
                                          <p:val>
                                            <p:strVal val="#ppt_x"/>
                                          </p:val>
                                        </p:tav>
                                      </p:tavLst>
                                    </p:anim>
                                    <p:anim calcmode="lin" valueType="num">
                                      <p:cBhvr additive="base">
                                        <p:cTn id="126" dur="500" fill="hold"/>
                                        <p:tgtEl>
                                          <p:spTgt spid="283706"/>
                                        </p:tgtEl>
                                        <p:attrNameLst>
                                          <p:attrName>ppt_y</p:attrName>
                                        </p:attrNameLst>
                                      </p:cBhvr>
                                      <p:tavLst>
                                        <p:tav tm="0">
                                          <p:val>
                                            <p:strVal val="#ppt_y"/>
                                          </p:val>
                                        </p:tav>
                                        <p:tav tm="100000">
                                          <p:val>
                                            <p:strVal val="#ppt_y"/>
                                          </p:val>
                                        </p:tav>
                                      </p:tavLst>
                                    </p:anim>
                                  </p:childTnLst>
                                </p:cTn>
                              </p:par>
                            </p:childTnLst>
                          </p:cTn>
                        </p:par>
                        <p:par>
                          <p:cTn id="127" fill="hold">
                            <p:stCondLst>
                              <p:cond delay="500"/>
                            </p:stCondLst>
                            <p:childTnLst>
                              <p:par>
                                <p:cTn id="128" presetID="2" presetClass="entr" presetSubtype="8" fill="hold" grpId="0" nodeType="afterEffect">
                                  <p:stCondLst>
                                    <p:cond delay="0"/>
                                  </p:stCondLst>
                                  <p:childTnLst>
                                    <p:set>
                                      <p:cBhvr>
                                        <p:cTn id="129" dur="1" fill="hold">
                                          <p:stCondLst>
                                            <p:cond delay="0"/>
                                          </p:stCondLst>
                                        </p:cTn>
                                        <p:tgtEl>
                                          <p:spTgt spid="283708"/>
                                        </p:tgtEl>
                                        <p:attrNameLst>
                                          <p:attrName>style.visibility</p:attrName>
                                        </p:attrNameLst>
                                      </p:cBhvr>
                                      <p:to>
                                        <p:strVal val="visible"/>
                                      </p:to>
                                    </p:set>
                                    <p:anim calcmode="lin" valueType="num">
                                      <p:cBhvr additive="base">
                                        <p:cTn id="130" dur="500" fill="hold"/>
                                        <p:tgtEl>
                                          <p:spTgt spid="283708"/>
                                        </p:tgtEl>
                                        <p:attrNameLst>
                                          <p:attrName>ppt_x</p:attrName>
                                        </p:attrNameLst>
                                      </p:cBhvr>
                                      <p:tavLst>
                                        <p:tav tm="0">
                                          <p:val>
                                            <p:strVal val="0-#ppt_w/2"/>
                                          </p:val>
                                        </p:tav>
                                        <p:tav tm="100000">
                                          <p:val>
                                            <p:strVal val="#ppt_x"/>
                                          </p:val>
                                        </p:tav>
                                      </p:tavLst>
                                    </p:anim>
                                    <p:anim calcmode="lin" valueType="num">
                                      <p:cBhvr additive="base">
                                        <p:cTn id="131" dur="500" fill="hold"/>
                                        <p:tgtEl>
                                          <p:spTgt spid="283708"/>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8" fill="hold" grpId="0" nodeType="clickEffect">
                                  <p:stCondLst>
                                    <p:cond delay="0"/>
                                  </p:stCondLst>
                                  <p:childTnLst>
                                    <p:set>
                                      <p:cBhvr>
                                        <p:cTn id="135" dur="1" fill="hold">
                                          <p:stCondLst>
                                            <p:cond delay="0"/>
                                          </p:stCondLst>
                                        </p:cTn>
                                        <p:tgtEl>
                                          <p:spTgt spid="283704"/>
                                        </p:tgtEl>
                                        <p:attrNameLst>
                                          <p:attrName>style.visibility</p:attrName>
                                        </p:attrNameLst>
                                      </p:cBhvr>
                                      <p:to>
                                        <p:strVal val="visible"/>
                                      </p:to>
                                    </p:set>
                                    <p:anim calcmode="lin" valueType="num">
                                      <p:cBhvr additive="base">
                                        <p:cTn id="136" dur="500" fill="hold"/>
                                        <p:tgtEl>
                                          <p:spTgt spid="283704"/>
                                        </p:tgtEl>
                                        <p:attrNameLst>
                                          <p:attrName>ppt_x</p:attrName>
                                        </p:attrNameLst>
                                      </p:cBhvr>
                                      <p:tavLst>
                                        <p:tav tm="0">
                                          <p:val>
                                            <p:strVal val="0-#ppt_w/2"/>
                                          </p:val>
                                        </p:tav>
                                        <p:tav tm="100000">
                                          <p:val>
                                            <p:strVal val="#ppt_x"/>
                                          </p:val>
                                        </p:tav>
                                      </p:tavLst>
                                    </p:anim>
                                    <p:anim calcmode="lin" valueType="num">
                                      <p:cBhvr additive="base">
                                        <p:cTn id="137" dur="500" fill="hold"/>
                                        <p:tgtEl>
                                          <p:spTgt spid="283704"/>
                                        </p:tgtEl>
                                        <p:attrNameLst>
                                          <p:attrName>ppt_y</p:attrName>
                                        </p:attrNameLst>
                                      </p:cBhvr>
                                      <p:tavLst>
                                        <p:tav tm="0">
                                          <p:val>
                                            <p:strVal val="#ppt_y"/>
                                          </p:val>
                                        </p:tav>
                                        <p:tav tm="100000">
                                          <p:val>
                                            <p:strVal val="#ppt_y"/>
                                          </p:val>
                                        </p:tav>
                                      </p:tavLst>
                                    </p:anim>
                                  </p:childTnLst>
                                </p:cTn>
                              </p:par>
                            </p:childTnLst>
                          </p:cTn>
                        </p:par>
                        <p:par>
                          <p:cTn id="138" fill="hold">
                            <p:stCondLst>
                              <p:cond delay="500"/>
                            </p:stCondLst>
                            <p:childTnLst>
                              <p:par>
                                <p:cTn id="139" presetID="2" presetClass="entr" presetSubtype="8" fill="hold" grpId="0" nodeType="afterEffect">
                                  <p:stCondLst>
                                    <p:cond delay="0"/>
                                  </p:stCondLst>
                                  <p:childTnLst>
                                    <p:set>
                                      <p:cBhvr>
                                        <p:cTn id="140" dur="1" fill="hold">
                                          <p:stCondLst>
                                            <p:cond delay="0"/>
                                          </p:stCondLst>
                                        </p:cTn>
                                        <p:tgtEl>
                                          <p:spTgt spid="283705"/>
                                        </p:tgtEl>
                                        <p:attrNameLst>
                                          <p:attrName>style.visibility</p:attrName>
                                        </p:attrNameLst>
                                      </p:cBhvr>
                                      <p:to>
                                        <p:strVal val="visible"/>
                                      </p:to>
                                    </p:set>
                                    <p:anim calcmode="lin" valueType="num">
                                      <p:cBhvr additive="base">
                                        <p:cTn id="141" dur="500" fill="hold"/>
                                        <p:tgtEl>
                                          <p:spTgt spid="283705"/>
                                        </p:tgtEl>
                                        <p:attrNameLst>
                                          <p:attrName>ppt_x</p:attrName>
                                        </p:attrNameLst>
                                      </p:cBhvr>
                                      <p:tavLst>
                                        <p:tav tm="0">
                                          <p:val>
                                            <p:strVal val="0-#ppt_w/2"/>
                                          </p:val>
                                        </p:tav>
                                        <p:tav tm="100000">
                                          <p:val>
                                            <p:strVal val="#ppt_x"/>
                                          </p:val>
                                        </p:tav>
                                      </p:tavLst>
                                    </p:anim>
                                    <p:anim calcmode="lin" valueType="num">
                                      <p:cBhvr additive="base">
                                        <p:cTn id="142" dur="500" fill="hold"/>
                                        <p:tgtEl>
                                          <p:spTgt spid="283705"/>
                                        </p:tgtEl>
                                        <p:attrNameLst>
                                          <p:attrName>ppt_y</p:attrName>
                                        </p:attrNameLst>
                                      </p:cBhvr>
                                      <p:tavLst>
                                        <p:tav tm="0">
                                          <p:val>
                                            <p:strVal val="#ppt_y"/>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grpId="0" nodeType="clickEffect">
                                  <p:stCondLst>
                                    <p:cond delay="0"/>
                                  </p:stCondLst>
                                  <p:childTnLst>
                                    <p:set>
                                      <p:cBhvr>
                                        <p:cTn id="146" dur="1" fill="hold">
                                          <p:stCondLst>
                                            <p:cond delay="0"/>
                                          </p:stCondLst>
                                        </p:cTn>
                                        <p:tgtEl>
                                          <p:spTgt spid="283707"/>
                                        </p:tgtEl>
                                        <p:attrNameLst>
                                          <p:attrName>style.visibility</p:attrName>
                                        </p:attrNameLst>
                                      </p:cBhvr>
                                      <p:to>
                                        <p:strVal val="visible"/>
                                      </p:to>
                                    </p:set>
                                    <p:anim calcmode="lin" valueType="num">
                                      <p:cBhvr additive="base">
                                        <p:cTn id="147" dur="500" fill="hold"/>
                                        <p:tgtEl>
                                          <p:spTgt spid="283707"/>
                                        </p:tgtEl>
                                        <p:attrNameLst>
                                          <p:attrName>ppt_x</p:attrName>
                                        </p:attrNameLst>
                                      </p:cBhvr>
                                      <p:tavLst>
                                        <p:tav tm="0">
                                          <p:val>
                                            <p:strVal val="0-#ppt_w/2"/>
                                          </p:val>
                                        </p:tav>
                                        <p:tav tm="100000">
                                          <p:val>
                                            <p:strVal val="#ppt_x"/>
                                          </p:val>
                                        </p:tav>
                                      </p:tavLst>
                                    </p:anim>
                                    <p:anim calcmode="lin" valueType="num">
                                      <p:cBhvr additive="base">
                                        <p:cTn id="148" dur="500" fill="hold"/>
                                        <p:tgtEl>
                                          <p:spTgt spid="283707"/>
                                        </p:tgtEl>
                                        <p:attrNameLst>
                                          <p:attrName>ppt_y</p:attrName>
                                        </p:attrNameLst>
                                      </p:cBhvr>
                                      <p:tavLst>
                                        <p:tav tm="0">
                                          <p:val>
                                            <p:strVal val="#ppt_y"/>
                                          </p:val>
                                        </p:tav>
                                        <p:tav tm="100000">
                                          <p:val>
                                            <p:strVal val="#ppt_y"/>
                                          </p:val>
                                        </p:tav>
                                      </p:tavLst>
                                    </p:anim>
                                  </p:childTnLst>
                                </p:cTn>
                              </p:par>
                            </p:childTnLst>
                          </p:cTn>
                        </p:par>
                        <p:par>
                          <p:cTn id="149" fill="hold">
                            <p:stCondLst>
                              <p:cond delay="500"/>
                            </p:stCondLst>
                            <p:childTnLst>
                              <p:par>
                                <p:cTn id="150" presetID="2" presetClass="entr" presetSubtype="8" fill="hold" grpId="0" nodeType="afterEffect">
                                  <p:stCondLst>
                                    <p:cond delay="0"/>
                                  </p:stCondLst>
                                  <p:childTnLst>
                                    <p:set>
                                      <p:cBhvr>
                                        <p:cTn id="151" dur="1" fill="hold">
                                          <p:stCondLst>
                                            <p:cond delay="0"/>
                                          </p:stCondLst>
                                        </p:cTn>
                                        <p:tgtEl>
                                          <p:spTgt spid="283709"/>
                                        </p:tgtEl>
                                        <p:attrNameLst>
                                          <p:attrName>style.visibility</p:attrName>
                                        </p:attrNameLst>
                                      </p:cBhvr>
                                      <p:to>
                                        <p:strVal val="visible"/>
                                      </p:to>
                                    </p:set>
                                    <p:anim calcmode="lin" valueType="num">
                                      <p:cBhvr additive="base">
                                        <p:cTn id="152" dur="500" fill="hold"/>
                                        <p:tgtEl>
                                          <p:spTgt spid="283709"/>
                                        </p:tgtEl>
                                        <p:attrNameLst>
                                          <p:attrName>ppt_x</p:attrName>
                                        </p:attrNameLst>
                                      </p:cBhvr>
                                      <p:tavLst>
                                        <p:tav tm="0">
                                          <p:val>
                                            <p:strVal val="0-#ppt_w/2"/>
                                          </p:val>
                                        </p:tav>
                                        <p:tav tm="100000">
                                          <p:val>
                                            <p:strVal val="#ppt_x"/>
                                          </p:val>
                                        </p:tav>
                                      </p:tavLst>
                                    </p:anim>
                                    <p:anim calcmode="lin" valueType="num">
                                      <p:cBhvr additive="base">
                                        <p:cTn id="153" dur="500" fill="hold"/>
                                        <p:tgtEl>
                                          <p:spTgt spid="283709"/>
                                        </p:tgtEl>
                                        <p:attrNameLst>
                                          <p:attrName>ppt_y</p:attrName>
                                        </p:attrNameLst>
                                      </p:cBhvr>
                                      <p:tavLst>
                                        <p:tav tm="0">
                                          <p:val>
                                            <p:strVal val="#ppt_y"/>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 presetClass="entr" presetSubtype="8" fill="hold" grpId="0" nodeType="clickEffect">
                                  <p:stCondLst>
                                    <p:cond delay="0"/>
                                  </p:stCondLst>
                                  <p:childTnLst>
                                    <p:set>
                                      <p:cBhvr>
                                        <p:cTn id="157" dur="1" fill="hold">
                                          <p:stCondLst>
                                            <p:cond delay="0"/>
                                          </p:stCondLst>
                                        </p:cTn>
                                        <p:tgtEl>
                                          <p:spTgt spid="283710"/>
                                        </p:tgtEl>
                                        <p:attrNameLst>
                                          <p:attrName>style.visibility</p:attrName>
                                        </p:attrNameLst>
                                      </p:cBhvr>
                                      <p:to>
                                        <p:strVal val="visible"/>
                                      </p:to>
                                    </p:set>
                                    <p:anim calcmode="lin" valueType="num">
                                      <p:cBhvr additive="base">
                                        <p:cTn id="158" dur="500" fill="hold"/>
                                        <p:tgtEl>
                                          <p:spTgt spid="283710"/>
                                        </p:tgtEl>
                                        <p:attrNameLst>
                                          <p:attrName>ppt_x</p:attrName>
                                        </p:attrNameLst>
                                      </p:cBhvr>
                                      <p:tavLst>
                                        <p:tav tm="0">
                                          <p:val>
                                            <p:strVal val="0-#ppt_w/2"/>
                                          </p:val>
                                        </p:tav>
                                        <p:tav tm="100000">
                                          <p:val>
                                            <p:strVal val="#ppt_x"/>
                                          </p:val>
                                        </p:tav>
                                      </p:tavLst>
                                    </p:anim>
                                    <p:anim calcmode="lin" valueType="num">
                                      <p:cBhvr additive="base">
                                        <p:cTn id="159" dur="500" fill="hold"/>
                                        <p:tgtEl>
                                          <p:spTgt spid="283710"/>
                                        </p:tgtEl>
                                        <p:attrNameLst>
                                          <p:attrName>ppt_y</p:attrName>
                                        </p:attrNameLst>
                                      </p:cBhvr>
                                      <p:tavLst>
                                        <p:tav tm="0">
                                          <p:val>
                                            <p:strVal val="#ppt_y"/>
                                          </p:val>
                                        </p:tav>
                                        <p:tav tm="100000">
                                          <p:val>
                                            <p:strVal val="#ppt_y"/>
                                          </p:val>
                                        </p:tav>
                                      </p:tavLst>
                                    </p:anim>
                                  </p:childTnLst>
                                </p:cTn>
                              </p:par>
                            </p:childTnLst>
                          </p:cTn>
                        </p:par>
                        <p:par>
                          <p:cTn id="160" fill="hold">
                            <p:stCondLst>
                              <p:cond delay="500"/>
                            </p:stCondLst>
                            <p:childTnLst>
                              <p:par>
                                <p:cTn id="161" presetID="2" presetClass="entr" presetSubtype="8" fill="hold" grpId="0" nodeType="afterEffect">
                                  <p:stCondLst>
                                    <p:cond delay="0"/>
                                  </p:stCondLst>
                                  <p:childTnLst>
                                    <p:set>
                                      <p:cBhvr>
                                        <p:cTn id="162" dur="1" fill="hold">
                                          <p:stCondLst>
                                            <p:cond delay="0"/>
                                          </p:stCondLst>
                                        </p:cTn>
                                        <p:tgtEl>
                                          <p:spTgt spid="283683"/>
                                        </p:tgtEl>
                                        <p:attrNameLst>
                                          <p:attrName>style.visibility</p:attrName>
                                        </p:attrNameLst>
                                      </p:cBhvr>
                                      <p:to>
                                        <p:strVal val="visible"/>
                                      </p:to>
                                    </p:set>
                                    <p:anim calcmode="lin" valueType="num">
                                      <p:cBhvr additive="base">
                                        <p:cTn id="163" dur="500" fill="hold"/>
                                        <p:tgtEl>
                                          <p:spTgt spid="283683"/>
                                        </p:tgtEl>
                                        <p:attrNameLst>
                                          <p:attrName>ppt_x</p:attrName>
                                        </p:attrNameLst>
                                      </p:cBhvr>
                                      <p:tavLst>
                                        <p:tav tm="0">
                                          <p:val>
                                            <p:strVal val="0-#ppt_w/2"/>
                                          </p:val>
                                        </p:tav>
                                        <p:tav tm="100000">
                                          <p:val>
                                            <p:strVal val="#ppt_x"/>
                                          </p:val>
                                        </p:tav>
                                      </p:tavLst>
                                    </p:anim>
                                    <p:anim calcmode="lin" valueType="num">
                                      <p:cBhvr additive="base">
                                        <p:cTn id="164" dur="500" fill="hold"/>
                                        <p:tgtEl>
                                          <p:spTgt spid="283683"/>
                                        </p:tgtEl>
                                        <p:attrNameLst>
                                          <p:attrName>ppt_y</p:attrName>
                                        </p:attrNameLst>
                                      </p:cBhvr>
                                      <p:tavLst>
                                        <p:tav tm="0">
                                          <p:val>
                                            <p:strVal val="#ppt_y"/>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283684"/>
                                        </p:tgtEl>
                                        <p:attrNameLst>
                                          <p:attrName>style.visibility</p:attrName>
                                        </p:attrNameLst>
                                      </p:cBhvr>
                                      <p:to>
                                        <p:strVal val="visible"/>
                                      </p:to>
                                    </p:set>
                                    <p:anim calcmode="lin" valueType="num">
                                      <p:cBhvr additive="base">
                                        <p:cTn id="169" dur="500" fill="hold"/>
                                        <p:tgtEl>
                                          <p:spTgt spid="283684"/>
                                        </p:tgtEl>
                                        <p:attrNameLst>
                                          <p:attrName>ppt_x</p:attrName>
                                        </p:attrNameLst>
                                      </p:cBhvr>
                                      <p:tavLst>
                                        <p:tav tm="0">
                                          <p:val>
                                            <p:strVal val="0-#ppt_w/2"/>
                                          </p:val>
                                        </p:tav>
                                        <p:tav tm="100000">
                                          <p:val>
                                            <p:strVal val="#ppt_x"/>
                                          </p:val>
                                        </p:tav>
                                      </p:tavLst>
                                    </p:anim>
                                    <p:anim calcmode="lin" valueType="num">
                                      <p:cBhvr additive="base">
                                        <p:cTn id="170" dur="500" fill="hold"/>
                                        <p:tgtEl>
                                          <p:spTgt spid="283684"/>
                                        </p:tgtEl>
                                        <p:attrNameLst>
                                          <p:attrName>ppt_y</p:attrName>
                                        </p:attrNameLst>
                                      </p:cBhvr>
                                      <p:tavLst>
                                        <p:tav tm="0">
                                          <p:val>
                                            <p:strVal val="#ppt_y"/>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8" fill="hold" grpId="0" nodeType="clickEffect">
                                  <p:stCondLst>
                                    <p:cond delay="0"/>
                                  </p:stCondLst>
                                  <p:childTnLst>
                                    <p:set>
                                      <p:cBhvr>
                                        <p:cTn id="174" dur="1" fill="hold">
                                          <p:stCondLst>
                                            <p:cond delay="0"/>
                                          </p:stCondLst>
                                        </p:cTn>
                                        <p:tgtEl>
                                          <p:spTgt spid="283711"/>
                                        </p:tgtEl>
                                        <p:attrNameLst>
                                          <p:attrName>style.visibility</p:attrName>
                                        </p:attrNameLst>
                                      </p:cBhvr>
                                      <p:to>
                                        <p:strVal val="visible"/>
                                      </p:to>
                                    </p:set>
                                    <p:anim calcmode="lin" valueType="num">
                                      <p:cBhvr additive="base">
                                        <p:cTn id="175" dur="500" fill="hold"/>
                                        <p:tgtEl>
                                          <p:spTgt spid="283711"/>
                                        </p:tgtEl>
                                        <p:attrNameLst>
                                          <p:attrName>ppt_x</p:attrName>
                                        </p:attrNameLst>
                                      </p:cBhvr>
                                      <p:tavLst>
                                        <p:tav tm="0">
                                          <p:val>
                                            <p:strVal val="0-#ppt_w/2"/>
                                          </p:val>
                                        </p:tav>
                                        <p:tav tm="100000">
                                          <p:val>
                                            <p:strVal val="#ppt_x"/>
                                          </p:val>
                                        </p:tav>
                                      </p:tavLst>
                                    </p:anim>
                                    <p:anim calcmode="lin" valueType="num">
                                      <p:cBhvr additive="base">
                                        <p:cTn id="176" dur="500" fill="hold"/>
                                        <p:tgtEl>
                                          <p:spTgt spid="283711"/>
                                        </p:tgtEl>
                                        <p:attrNameLst>
                                          <p:attrName>ppt_y</p:attrName>
                                        </p:attrNameLst>
                                      </p:cBhvr>
                                      <p:tavLst>
                                        <p:tav tm="0">
                                          <p:val>
                                            <p:strVal val="#ppt_y"/>
                                          </p:val>
                                        </p:tav>
                                        <p:tav tm="100000">
                                          <p:val>
                                            <p:strVal val="#ppt_y"/>
                                          </p:val>
                                        </p:tav>
                                      </p:tavLst>
                                    </p:anim>
                                  </p:childTnLst>
                                </p:cTn>
                              </p:par>
                            </p:childTnLst>
                          </p:cTn>
                        </p:par>
                        <p:par>
                          <p:cTn id="177" fill="hold">
                            <p:stCondLst>
                              <p:cond delay="500"/>
                            </p:stCondLst>
                            <p:childTnLst>
                              <p:par>
                                <p:cTn id="178" presetID="2" presetClass="entr" presetSubtype="8" fill="hold" grpId="0" nodeType="afterEffect">
                                  <p:stCondLst>
                                    <p:cond delay="0"/>
                                  </p:stCondLst>
                                  <p:childTnLst>
                                    <p:set>
                                      <p:cBhvr>
                                        <p:cTn id="179" dur="1" fill="hold">
                                          <p:stCondLst>
                                            <p:cond delay="0"/>
                                          </p:stCondLst>
                                        </p:cTn>
                                        <p:tgtEl>
                                          <p:spTgt spid="283712"/>
                                        </p:tgtEl>
                                        <p:attrNameLst>
                                          <p:attrName>style.visibility</p:attrName>
                                        </p:attrNameLst>
                                      </p:cBhvr>
                                      <p:to>
                                        <p:strVal val="visible"/>
                                      </p:to>
                                    </p:set>
                                    <p:anim calcmode="lin" valueType="num">
                                      <p:cBhvr additive="base">
                                        <p:cTn id="180" dur="500" fill="hold"/>
                                        <p:tgtEl>
                                          <p:spTgt spid="283712"/>
                                        </p:tgtEl>
                                        <p:attrNameLst>
                                          <p:attrName>ppt_x</p:attrName>
                                        </p:attrNameLst>
                                      </p:cBhvr>
                                      <p:tavLst>
                                        <p:tav tm="0">
                                          <p:val>
                                            <p:strVal val="0-#ppt_w/2"/>
                                          </p:val>
                                        </p:tav>
                                        <p:tav tm="100000">
                                          <p:val>
                                            <p:strVal val="#ppt_x"/>
                                          </p:val>
                                        </p:tav>
                                      </p:tavLst>
                                    </p:anim>
                                    <p:anim calcmode="lin" valueType="num">
                                      <p:cBhvr additive="base">
                                        <p:cTn id="181" dur="500" fill="hold"/>
                                        <p:tgtEl>
                                          <p:spTgt spid="283712"/>
                                        </p:tgtEl>
                                        <p:attrNameLst>
                                          <p:attrName>ppt_y</p:attrName>
                                        </p:attrNameLst>
                                      </p:cBhvr>
                                      <p:tavLst>
                                        <p:tav tm="0">
                                          <p:val>
                                            <p:strVal val="#ppt_y"/>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2" presetClass="entr" presetSubtype="8" fill="hold" grpId="0" nodeType="clickEffect">
                                  <p:stCondLst>
                                    <p:cond delay="0"/>
                                  </p:stCondLst>
                                  <p:childTnLst>
                                    <p:set>
                                      <p:cBhvr>
                                        <p:cTn id="185" dur="1" fill="hold">
                                          <p:stCondLst>
                                            <p:cond delay="0"/>
                                          </p:stCondLst>
                                        </p:cTn>
                                        <p:tgtEl>
                                          <p:spTgt spid="283713"/>
                                        </p:tgtEl>
                                        <p:attrNameLst>
                                          <p:attrName>style.visibility</p:attrName>
                                        </p:attrNameLst>
                                      </p:cBhvr>
                                      <p:to>
                                        <p:strVal val="visible"/>
                                      </p:to>
                                    </p:set>
                                    <p:anim calcmode="lin" valueType="num">
                                      <p:cBhvr additive="base">
                                        <p:cTn id="186" dur="500" fill="hold"/>
                                        <p:tgtEl>
                                          <p:spTgt spid="283713"/>
                                        </p:tgtEl>
                                        <p:attrNameLst>
                                          <p:attrName>ppt_x</p:attrName>
                                        </p:attrNameLst>
                                      </p:cBhvr>
                                      <p:tavLst>
                                        <p:tav tm="0">
                                          <p:val>
                                            <p:strVal val="0-#ppt_w/2"/>
                                          </p:val>
                                        </p:tav>
                                        <p:tav tm="100000">
                                          <p:val>
                                            <p:strVal val="#ppt_x"/>
                                          </p:val>
                                        </p:tav>
                                      </p:tavLst>
                                    </p:anim>
                                    <p:anim calcmode="lin" valueType="num">
                                      <p:cBhvr additive="base">
                                        <p:cTn id="187" dur="500" fill="hold"/>
                                        <p:tgtEl>
                                          <p:spTgt spid="283713"/>
                                        </p:tgtEl>
                                        <p:attrNameLst>
                                          <p:attrName>ppt_y</p:attrName>
                                        </p:attrNameLst>
                                      </p:cBhvr>
                                      <p:tavLst>
                                        <p:tav tm="0">
                                          <p:val>
                                            <p:strVal val="#ppt_y"/>
                                          </p:val>
                                        </p:tav>
                                        <p:tav tm="100000">
                                          <p:val>
                                            <p:strVal val="#ppt_y"/>
                                          </p:val>
                                        </p:tav>
                                      </p:tavLst>
                                    </p:anim>
                                  </p:childTnLst>
                                </p:cTn>
                              </p:par>
                            </p:childTnLst>
                          </p:cTn>
                        </p:par>
                        <p:par>
                          <p:cTn id="188" fill="hold">
                            <p:stCondLst>
                              <p:cond delay="500"/>
                            </p:stCondLst>
                            <p:childTnLst>
                              <p:par>
                                <p:cTn id="189" presetID="2" presetClass="entr" presetSubtype="8" fill="hold" grpId="0" nodeType="afterEffect">
                                  <p:stCondLst>
                                    <p:cond delay="0"/>
                                  </p:stCondLst>
                                  <p:childTnLst>
                                    <p:set>
                                      <p:cBhvr>
                                        <p:cTn id="190" dur="1" fill="hold">
                                          <p:stCondLst>
                                            <p:cond delay="0"/>
                                          </p:stCondLst>
                                        </p:cTn>
                                        <p:tgtEl>
                                          <p:spTgt spid="283685"/>
                                        </p:tgtEl>
                                        <p:attrNameLst>
                                          <p:attrName>style.visibility</p:attrName>
                                        </p:attrNameLst>
                                      </p:cBhvr>
                                      <p:to>
                                        <p:strVal val="visible"/>
                                      </p:to>
                                    </p:set>
                                    <p:anim calcmode="lin" valueType="num">
                                      <p:cBhvr additive="base">
                                        <p:cTn id="191" dur="500" fill="hold"/>
                                        <p:tgtEl>
                                          <p:spTgt spid="283685"/>
                                        </p:tgtEl>
                                        <p:attrNameLst>
                                          <p:attrName>ppt_x</p:attrName>
                                        </p:attrNameLst>
                                      </p:cBhvr>
                                      <p:tavLst>
                                        <p:tav tm="0">
                                          <p:val>
                                            <p:strVal val="0-#ppt_w/2"/>
                                          </p:val>
                                        </p:tav>
                                        <p:tav tm="100000">
                                          <p:val>
                                            <p:strVal val="#ppt_x"/>
                                          </p:val>
                                        </p:tav>
                                      </p:tavLst>
                                    </p:anim>
                                    <p:anim calcmode="lin" valueType="num">
                                      <p:cBhvr additive="base">
                                        <p:cTn id="192" dur="500" fill="hold"/>
                                        <p:tgtEl>
                                          <p:spTgt spid="283685"/>
                                        </p:tgtEl>
                                        <p:attrNameLst>
                                          <p:attrName>ppt_y</p:attrName>
                                        </p:attrNameLst>
                                      </p:cBhvr>
                                      <p:tavLst>
                                        <p:tav tm="0">
                                          <p:val>
                                            <p:strVal val="#ppt_y"/>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8" fill="hold" grpId="0" nodeType="clickEffect">
                                  <p:stCondLst>
                                    <p:cond delay="0"/>
                                  </p:stCondLst>
                                  <p:childTnLst>
                                    <p:set>
                                      <p:cBhvr>
                                        <p:cTn id="196" dur="1" fill="hold">
                                          <p:stCondLst>
                                            <p:cond delay="0"/>
                                          </p:stCondLst>
                                        </p:cTn>
                                        <p:tgtEl>
                                          <p:spTgt spid="283686"/>
                                        </p:tgtEl>
                                        <p:attrNameLst>
                                          <p:attrName>style.visibility</p:attrName>
                                        </p:attrNameLst>
                                      </p:cBhvr>
                                      <p:to>
                                        <p:strVal val="visible"/>
                                      </p:to>
                                    </p:set>
                                    <p:anim calcmode="lin" valueType="num">
                                      <p:cBhvr additive="base">
                                        <p:cTn id="197" dur="500" fill="hold"/>
                                        <p:tgtEl>
                                          <p:spTgt spid="283686"/>
                                        </p:tgtEl>
                                        <p:attrNameLst>
                                          <p:attrName>ppt_x</p:attrName>
                                        </p:attrNameLst>
                                      </p:cBhvr>
                                      <p:tavLst>
                                        <p:tav tm="0">
                                          <p:val>
                                            <p:strVal val="0-#ppt_w/2"/>
                                          </p:val>
                                        </p:tav>
                                        <p:tav tm="100000">
                                          <p:val>
                                            <p:strVal val="#ppt_x"/>
                                          </p:val>
                                        </p:tav>
                                      </p:tavLst>
                                    </p:anim>
                                    <p:anim calcmode="lin" valueType="num">
                                      <p:cBhvr additive="base">
                                        <p:cTn id="198" dur="500" fill="hold"/>
                                        <p:tgtEl>
                                          <p:spTgt spid="283686"/>
                                        </p:tgtEl>
                                        <p:attrNameLst>
                                          <p:attrName>ppt_y</p:attrName>
                                        </p:attrNameLst>
                                      </p:cBhvr>
                                      <p:tavLst>
                                        <p:tav tm="0">
                                          <p:val>
                                            <p:strVal val="#ppt_y"/>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2" presetClass="entr" presetSubtype="8" fill="hold" grpId="0" nodeType="clickEffect">
                                  <p:stCondLst>
                                    <p:cond delay="0"/>
                                  </p:stCondLst>
                                  <p:childTnLst>
                                    <p:set>
                                      <p:cBhvr>
                                        <p:cTn id="202" dur="1" fill="hold">
                                          <p:stCondLst>
                                            <p:cond delay="0"/>
                                          </p:stCondLst>
                                        </p:cTn>
                                        <p:tgtEl>
                                          <p:spTgt spid="283715"/>
                                        </p:tgtEl>
                                        <p:attrNameLst>
                                          <p:attrName>style.visibility</p:attrName>
                                        </p:attrNameLst>
                                      </p:cBhvr>
                                      <p:to>
                                        <p:strVal val="visible"/>
                                      </p:to>
                                    </p:set>
                                    <p:anim calcmode="lin" valueType="num">
                                      <p:cBhvr additive="base">
                                        <p:cTn id="203" dur="500" fill="hold"/>
                                        <p:tgtEl>
                                          <p:spTgt spid="283715"/>
                                        </p:tgtEl>
                                        <p:attrNameLst>
                                          <p:attrName>ppt_x</p:attrName>
                                        </p:attrNameLst>
                                      </p:cBhvr>
                                      <p:tavLst>
                                        <p:tav tm="0">
                                          <p:val>
                                            <p:strVal val="0-#ppt_w/2"/>
                                          </p:val>
                                        </p:tav>
                                        <p:tav tm="100000">
                                          <p:val>
                                            <p:strVal val="#ppt_x"/>
                                          </p:val>
                                        </p:tav>
                                      </p:tavLst>
                                    </p:anim>
                                    <p:anim calcmode="lin" valueType="num">
                                      <p:cBhvr additive="base">
                                        <p:cTn id="204" dur="500" fill="hold"/>
                                        <p:tgtEl>
                                          <p:spTgt spid="283715"/>
                                        </p:tgtEl>
                                        <p:attrNameLst>
                                          <p:attrName>ppt_y</p:attrName>
                                        </p:attrNameLst>
                                      </p:cBhvr>
                                      <p:tavLst>
                                        <p:tav tm="0">
                                          <p:val>
                                            <p:strVal val="#ppt_y"/>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8" fill="hold" grpId="0" nodeType="clickEffect">
                                  <p:stCondLst>
                                    <p:cond delay="0"/>
                                  </p:stCondLst>
                                  <p:childTnLst>
                                    <p:set>
                                      <p:cBhvr>
                                        <p:cTn id="208" dur="1" fill="hold">
                                          <p:stCondLst>
                                            <p:cond delay="0"/>
                                          </p:stCondLst>
                                        </p:cTn>
                                        <p:tgtEl>
                                          <p:spTgt spid="283714"/>
                                        </p:tgtEl>
                                        <p:attrNameLst>
                                          <p:attrName>style.visibility</p:attrName>
                                        </p:attrNameLst>
                                      </p:cBhvr>
                                      <p:to>
                                        <p:strVal val="visible"/>
                                      </p:to>
                                    </p:set>
                                    <p:anim calcmode="lin" valueType="num">
                                      <p:cBhvr additive="base">
                                        <p:cTn id="209" dur="500" fill="hold"/>
                                        <p:tgtEl>
                                          <p:spTgt spid="283714"/>
                                        </p:tgtEl>
                                        <p:attrNameLst>
                                          <p:attrName>ppt_x</p:attrName>
                                        </p:attrNameLst>
                                      </p:cBhvr>
                                      <p:tavLst>
                                        <p:tav tm="0">
                                          <p:val>
                                            <p:strVal val="0-#ppt_w/2"/>
                                          </p:val>
                                        </p:tav>
                                        <p:tav tm="100000">
                                          <p:val>
                                            <p:strVal val="#ppt_x"/>
                                          </p:val>
                                        </p:tav>
                                      </p:tavLst>
                                    </p:anim>
                                    <p:anim calcmode="lin" valueType="num">
                                      <p:cBhvr additive="base">
                                        <p:cTn id="210" dur="500" fill="hold"/>
                                        <p:tgtEl>
                                          <p:spTgt spid="283714"/>
                                        </p:tgtEl>
                                        <p:attrNameLst>
                                          <p:attrName>ppt_y</p:attrName>
                                        </p:attrNameLst>
                                      </p:cBhvr>
                                      <p:tavLst>
                                        <p:tav tm="0">
                                          <p:val>
                                            <p:strVal val="#ppt_y"/>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2" presetClass="entr" presetSubtype="8" fill="hold" grpId="0" nodeType="clickEffect">
                                  <p:stCondLst>
                                    <p:cond delay="0"/>
                                  </p:stCondLst>
                                  <p:childTnLst>
                                    <p:set>
                                      <p:cBhvr>
                                        <p:cTn id="214" dur="1" fill="hold">
                                          <p:stCondLst>
                                            <p:cond delay="0"/>
                                          </p:stCondLst>
                                        </p:cTn>
                                        <p:tgtEl>
                                          <p:spTgt spid="283717"/>
                                        </p:tgtEl>
                                        <p:attrNameLst>
                                          <p:attrName>style.visibility</p:attrName>
                                        </p:attrNameLst>
                                      </p:cBhvr>
                                      <p:to>
                                        <p:strVal val="visible"/>
                                      </p:to>
                                    </p:set>
                                    <p:anim calcmode="lin" valueType="num">
                                      <p:cBhvr additive="base">
                                        <p:cTn id="215" dur="500" fill="hold"/>
                                        <p:tgtEl>
                                          <p:spTgt spid="283717"/>
                                        </p:tgtEl>
                                        <p:attrNameLst>
                                          <p:attrName>ppt_x</p:attrName>
                                        </p:attrNameLst>
                                      </p:cBhvr>
                                      <p:tavLst>
                                        <p:tav tm="0">
                                          <p:val>
                                            <p:strVal val="0-#ppt_w/2"/>
                                          </p:val>
                                        </p:tav>
                                        <p:tav tm="100000">
                                          <p:val>
                                            <p:strVal val="#ppt_x"/>
                                          </p:val>
                                        </p:tav>
                                      </p:tavLst>
                                    </p:anim>
                                    <p:anim calcmode="lin" valueType="num">
                                      <p:cBhvr additive="base">
                                        <p:cTn id="216" dur="500" fill="hold"/>
                                        <p:tgtEl>
                                          <p:spTgt spid="283717"/>
                                        </p:tgtEl>
                                        <p:attrNameLst>
                                          <p:attrName>ppt_y</p:attrName>
                                        </p:attrNameLst>
                                      </p:cBhvr>
                                      <p:tavLst>
                                        <p:tav tm="0">
                                          <p:val>
                                            <p:strVal val="#ppt_y"/>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presetID="2" presetClass="entr" presetSubtype="8" fill="hold" grpId="0" nodeType="clickEffect">
                                  <p:stCondLst>
                                    <p:cond delay="0"/>
                                  </p:stCondLst>
                                  <p:childTnLst>
                                    <p:set>
                                      <p:cBhvr>
                                        <p:cTn id="220" dur="1" fill="hold">
                                          <p:stCondLst>
                                            <p:cond delay="0"/>
                                          </p:stCondLst>
                                        </p:cTn>
                                        <p:tgtEl>
                                          <p:spTgt spid="283716"/>
                                        </p:tgtEl>
                                        <p:attrNameLst>
                                          <p:attrName>style.visibility</p:attrName>
                                        </p:attrNameLst>
                                      </p:cBhvr>
                                      <p:to>
                                        <p:strVal val="visible"/>
                                      </p:to>
                                    </p:set>
                                    <p:anim calcmode="lin" valueType="num">
                                      <p:cBhvr additive="base">
                                        <p:cTn id="221" dur="500" fill="hold"/>
                                        <p:tgtEl>
                                          <p:spTgt spid="283716"/>
                                        </p:tgtEl>
                                        <p:attrNameLst>
                                          <p:attrName>ppt_x</p:attrName>
                                        </p:attrNameLst>
                                      </p:cBhvr>
                                      <p:tavLst>
                                        <p:tav tm="0">
                                          <p:val>
                                            <p:strVal val="0-#ppt_w/2"/>
                                          </p:val>
                                        </p:tav>
                                        <p:tav tm="100000">
                                          <p:val>
                                            <p:strVal val="#ppt_x"/>
                                          </p:val>
                                        </p:tav>
                                      </p:tavLst>
                                    </p:anim>
                                    <p:anim calcmode="lin" valueType="num">
                                      <p:cBhvr additive="base">
                                        <p:cTn id="222" dur="500" fill="hold"/>
                                        <p:tgtEl>
                                          <p:spTgt spid="2837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77" grpId="0" animBg="1" autoUpdateAnimBg="0"/>
      <p:bldP spid="283678" grpId="0" animBg="1"/>
      <p:bldP spid="283679" grpId="0" animBg="1" autoUpdateAnimBg="0"/>
      <p:bldP spid="283680" grpId="0" animBg="1"/>
      <p:bldP spid="283682" grpId="0" animBg="1" autoUpdateAnimBg="0"/>
      <p:bldP spid="283683" grpId="0" animBg="1"/>
      <p:bldP spid="283684" grpId="0" animBg="1" autoUpdateAnimBg="0"/>
      <p:bldP spid="283685" grpId="0" animBg="1"/>
      <p:bldP spid="283686" grpId="0" animBg="1" autoUpdateAnimBg="0"/>
      <p:bldP spid="283689" grpId="0" autoUpdateAnimBg="0" build="p"/>
      <p:bldP spid="283690" grpId="0" autoUpdateAnimBg="0" build="p"/>
      <p:bldP spid="283691" grpId="0" autoUpdateAnimBg="0" build="p"/>
      <p:bldP spid="283692" grpId="0" advAuto="0" autoUpdateAnimBg="0" build="p"/>
      <p:bldP spid="283693" grpId="0" advAuto="0" autoUpdateAnimBg="0" build="p"/>
      <p:bldP spid="283694" grpId="0" advAuto="0" autoUpdateAnimBg="0" build="p"/>
      <p:bldP spid="283695" grpId="0" animBg="1" autoUpdateAnimBg="0"/>
      <p:bldP spid="283697" grpId="0" animBg="1" autoUpdateAnimBg="0"/>
      <p:bldP spid="283698" grpId="0" animBg="1" autoUpdateAnimBg="0"/>
      <p:bldP spid="283699" grpId="0" animBg="1" autoUpdateAnimBg="0"/>
      <p:bldP spid="283700" grpId="0" animBg="1" autoUpdateAnimBg="0"/>
      <p:bldP spid="283701" grpId="0" animBg="1" autoUpdateAnimBg="0"/>
      <p:bldP spid="283702" grpId="0" animBg="1" autoUpdateAnimBg="0"/>
      <p:bldP spid="283703" grpId="0" animBg="1" autoUpdateAnimBg="0"/>
      <p:bldP spid="283704" grpId="0" animBg="1" autoUpdateAnimBg="0"/>
      <p:bldP spid="283705" grpId="0" animBg="1" autoUpdateAnimBg="0"/>
      <p:bldP spid="283706" grpId="0" animBg="1" autoUpdateAnimBg="0"/>
      <p:bldP spid="283707" grpId="0" animBg="1" autoUpdateAnimBg="0"/>
      <p:bldP spid="283708" grpId="0" animBg="1" autoUpdateAnimBg="0"/>
      <p:bldP spid="283709" grpId="0" animBg="1" autoUpdateAnimBg="0"/>
      <p:bldP spid="283710" grpId="0" animBg="1" autoUpdateAnimBg="0"/>
      <p:bldP spid="283711" grpId="0" animBg="1" autoUpdateAnimBg="0"/>
      <p:bldP spid="283712" grpId="0" animBg="1" autoUpdateAnimBg="0"/>
      <p:bldP spid="283713" grpId="0" animBg="1" autoUpdateAnimBg="0"/>
      <p:bldP spid="283714" grpId="0" animBg="1" autoUpdateAnimBg="0"/>
      <p:bldP spid="283715" grpId="0" animBg="1"/>
      <p:bldP spid="283716" grpId="0" animBg="1" autoUpdateAnimBg="0"/>
      <p:bldP spid="283717" grpId="0" animBg="1"/>
      <p:bldP spid="283724" grpId="0" animBg="1"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533400" y="3352800"/>
            <a:ext cx="8382000" cy="2399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a:solidFill>
                  <a:srgbClr val="000082"/>
                </a:solidFill>
                <a:latin typeface="Arial" panose="020B0604020202020204" pitchFamily="34" charset="0"/>
                <a:ea typeface="楷体_GB2312" pitchFamily="49" charset="-122"/>
                <a:cs typeface="Arial" panose="020B0604020202020204" pitchFamily="34" charset="0"/>
              </a:rPr>
              <a:t>How to do it:</a:t>
            </a:r>
            <a:endParaRPr lang="en-US" altLang="zh-CN" sz="2400" b="1">
              <a:solidFill>
                <a:srgbClr val="000082"/>
              </a:solidFill>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2400">
                <a:solidFill>
                  <a:srgbClr val="000082"/>
                </a:solidFill>
                <a:latin typeface="Arial" panose="020B0604020202020204" pitchFamily="34" charset="0"/>
                <a:ea typeface="楷体_GB2312" pitchFamily="49" charset="-122"/>
                <a:cs typeface="Arial" panose="020B0604020202020204" pitchFamily="34" charset="0"/>
              </a:rPr>
              <a:t>First, construct a subgraph SG containing only n vertices. Then, starting with the edge of the smallest weight, add it to SG if its inclusion does </a:t>
            </a:r>
            <a:r>
              <a:rPr lang="zh-CN" altLang="en-US" sz="2400">
                <a:solidFill>
                  <a:srgbClr val="FF0000"/>
                </a:solidFill>
                <a:latin typeface="Arial" panose="020B0604020202020204" pitchFamily="34" charset="0"/>
                <a:ea typeface="楷体_GB2312" pitchFamily="49" charset="-122"/>
                <a:cs typeface="Arial" panose="020B0604020202020204" pitchFamily="34" charset="0"/>
              </a:rPr>
              <a:t>not create a cycle</a:t>
            </a:r>
            <a:r>
              <a:rPr lang="zh-CN" altLang="en-US" sz="2400">
                <a:solidFill>
                  <a:srgbClr val="000082"/>
                </a:solidFill>
                <a:latin typeface="Arial" panose="020B0604020202020204" pitchFamily="34" charset="0"/>
                <a:ea typeface="楷体_GB2312" pitchFamily="49" charset="-122"/>
                <a:cs typeface="Arial" panose="020B0604020202020204" pitchFamily="34" charset="0"/>
              </a:rPr>
              <a:t>. Repeat this process until n-1 edges are added.</a:t>
            </a:r>
            <a:endParaRPr lang="zh-CN" altLang="en-US" sz="2400">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159747" name="Rectangle 3"/>
          <p:cNvSpPr>
            <a:spLocks noChangeArrowheads="1"/>
          </p:cNvSpPr>
          <p:nvPr/>
        </p:nvSpPr>
        <p:spPr bwMode="auto">
          <a:xfrm>
            <a:off x="457200" y="1355725"/>
            <a:ext cx="84582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a:solidFill>
                  <a:srgbClr val="000082"/>
                </a:solidFill>
                <a:latin typeface="Arial" panose="020B0604020202020204" pitchFamily="34" charset="0"/>
                <a:ea typeface="楷体_GB2312" pitchFamily="49" charset="-122"/>
                <a:cs typeface="Arial" panose="020B0604020202020204" pitchFamily="34" charset="0"/>
              </a:rPr>
              <a:t>Consider the starting point of the problem:</a:t>
            </a:r>
            <a:endParaRPr lang="en-US" altLang="zh-CN" sz="2400" b="1">
              <a:solidFill>
                <a:srgbClr val="000082"/>
              </a:solidFill>
              <a:latin typeface="Arial" panose="020B0604020202020204" pitchFamily="34" charset="0"/>
              <a:ea typeface="楷体_GB2312" pitchFamily="49" charset="-122"/>
              <a:cs typeface="Arial" panose="020B0604020202020204" pitchFamily="34" charset="0"/>
            </a:endParaRPr>
          </a:p>
          <a:p>
            <a:pPr>
              <a:lnSpc>
                <a:spcPct val="125000"/>
              </a:lnSpc>
            </a:pPr>
            <a:r>
              <a:rPr lang="zh-CN" altLang="en-US" sz="2400">
                <a:solidFill>
                  <a:srgbClr val="000082"/>
                </a:solidFill>
                <a:latin typeface="Arial" panose="020B0604020202020204" pitchFamily="34" charset="0"/>
                <a:ea typeface="楷体_GB2312" pitchFamily="49" charset="-122"/>
                <a:cs typeface="Arial" panose="020B0604020202020204" pitchFamily="34" charset="0"/>
              </a:rPr>
              <a:t>To minimize the sum of weights on the generated tree edges, </a:t>
            </a:r>
            <a:r>
              <a:rPr lang="zh-CN" altLang="en-US" sz="2400">
                <a:solidFill>
                  <a:srgbClr val="3333FF"/>
                </a:solidFill>
                <a:latin typeface="Arial" panose="020B0604020202020204" pitchFamily="34" charset="0"/>
                <a:ea typeface="楷体_GB2312" pitchFamily="49" charset="-122"/>
                <a:cs typeface="Arial" panose="020B0604020202020204" pitchFamily="34" charset="0"/>
              </a:rPr>
              <a:t>each edge should have the smallest possible weight</a:t>
            </a:r>
            <a:r>
              <a:rPr lang="zh-CN" altLang="en-US" sz="2400">
                <a:solidFill>
                  <a:srgbClr val="000082"/>
                </a:solidFill>
                <a:latin typeface="Arial" panose="020B0604020202020204" pitchFamily="34" charset="0"/>
                <a:ea typeface="楷体_GB2312" pitchFamily="49" charset="-122"/>
                <a:cs typeface="Arial" panose="020B0604020202020204" pitchFamily="34" charset="0"/>
              </a:rPr>
              <a:t>.</a:t>
            </a:r>
            <a:endParaRPr lang="zh-CN" altLang="en-US" sz="2400">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159748" name="Rectangle 4"/>
          <p:cNvSpPr>
            <a:spLocks noChangeArrowheads="1"/>
          </p:cNvSpPr>
          <p:nvPr/>
        </p:nvSpPr>
        <p:spPr bwMode="auto">
          <a:xfrm>
            <a:off x="381000" y="228600"/>
            <a:ext cx="8151813"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800000"/>
                </a:solidFill>
                <a:latin typeface="Arial" panose="020B0604020202020204" pitchFamily="34" charset="0"/>
                <a:ea typeface="楷体_GB2312" pitchFamily="49" charset="-122"/>
                <a:cs typeface="Arial" panose="020B0604020202020204" pitchFamily="34" charset="0"/>
              </a:rPr>
              <a:t>(2) The basic idea of Kruskal algorithm</a:t>
            </a:r>
            <a:endParaRPr lang="zh-CN" altLang="en-US" sz="3200" b="1">
              <a:solidFill>
                <a:srgbClr val="800000"/>
              </a:solidFill>
              <a:latin typeface="Arial" panose="020B0604020202020204" pitchFamily="34" charset="0"/>
              <a:ea typeface="楷体_GB2312" pitchFamily="49" charset="-122"/>
              <a:cs typeface="Arial" panose="020B0604020202020204" pitchFamily="34" charset="0"/>
            </a:endParaRPr>
          </a:p>
        </p:txBody>
      </p:sp>
      <p:graphicFrame>
        <p:nvGraphicFramePr>
          <p:cNvPr id="159749" name="Object 5"/>
          <p:cNvGraphicFramePr>
            <a:graphicFrameLocks noChangeAspect="1"/>
          </p:cNvGraphicFramePr>
          <p:nvPr/>
        </p:nvGraphicFramePr>
        <p:xfrm>
          <a:off x="228600" y="1524000"/>
          <a:ext cx="228600" cy="228600"/>
        </p:xfrm>
        <a:graphic>
          <a:graphicData uri="http://schemas.openxmlformats.org/presentationml/2006/ole">
            <mc:AlternateContent xmlns:mc="http://schemas.openxmlformats.org/markup-compatibility/2006">
              <mc:Choice xmlns:v="urn:schemas-microsoft-com:vml" Requires="v">
                <p:oleObj spid="_x0000_s2" name="剪辑" r:id="rId1" imgW="8026400" imgH="8026400" progId="MS_ClipArt_Gallery.2">
                  <p:embed/>
                </p:oleObj>
              </mc:Choice>
              <mc:Fallback>
                <p:oleObj name="剪辑" r:id="rId1" imgW="8026400" imgH="8026400" progId="MS_ClipArt_Gallery.2">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9750" name="Object 6"/>
          <p:cNvGraphicFramePr>
            <a:graphicFrameLocks noChangeAspect="1"/>
          </p:cNvGraphicFramePr>
          <p:nvPr/>
        </p:nvGraphicFramePr>
        <p:xfrm>
          <a:off x="304800" y="3505200"/>
          <a:ext cx="228600" cy="228600"/>
        </p:xfrm>
        <a:graphic>
          <a:graphicData uri="http://schemas.openxmlformats.org/presentationml/2006/ole">
            <mc:AlternateContent xmlns:mc="http://schemas.openxmlformats.org/markup-compatibility/2006">
              <mc:Choice xmlns:v="urn:schemas-microsoft-com:vml" Requires="v">
                <p:oleObj spid="_x0000_s3" name="剪辑" r:id="rId3" imgW="8026400" imgH="8026400" progId="MS_ClipArt_Gallery.2">
                  <p:embed/>
                </p:oleObj>
              </mc:Choice>
              <mc:Fallback>
                <p:oleObj name="剪辑" r:id="rId3" imgW="8026400" imgH="8026400"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505200"/>
                        <a:ext cx="2286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9748"/>
                                        </p:tgtEl>
                                        <p:attrNameLst>
                                          <p:attrName>style.visibility</p:attrName>
                                        </p:attrNameLst>
                                      </p:cBhvr>
                                      <p:to>
                                        <p:strVal val="visible"/>
                                      </p:to>
                                    </p:set>
                                    <p:anim calcmode="lin" valueType="num">
                                      <p:cBhvr additive="base">
                                        <p:cTn id="7" dur="500" fill="hold"/>
                                        <p:tgtEl>
                                          <p:spTgt spid="159748"/>
                                        </p:tgtEl>
                                        <p:attrNameLst>
                                          <p:attrName>ppt_x</p:attrName>
                                        </p:attrNameLst>
                                      </p:cBhvr>
                                      <p:tavLst>
                                        <p:tav tm="0">
                                          <p:val>
                                            <p:strVal val="0-#ppt_w/2"/>
                                          </p:val>
                                        </p:tav>
                                        <p:tav tm="100000">
                                          <p:val>
                                            <p:strVal val="#ppt_x"/>
                                          </p:val>
                                        </p:tav>
                                      </p:tavLst>
                                    </p:anim>
                                    <p:anim calcmode="lin" valueType="num">
                                      <p:cBhvr additive="base">
                                        <p:cTn id="8" dur="500" fill="hold"/>
                                        <p:tgtEl>
                                          <p:spTgt spid="1597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59749"/>
                                        </p:tgtEl>
                                        <p:attrNameLst>
                                          <p:attrName>style.visibility</p:attrName>
                                        </p:attrNameLst>
                                      </p:cBhvr>
                                      <p:to>
                                        <p:strVal val="visible"/>
                                      </p:to>
                                    </p:set>
                                    <p:anim calcmode="lin" valueType="num">
                                      <p:cBhvr additive="base">
                                        <p:cTn id="13" dur="500" fill="hold"/>
                                        <p:tgtEl>
                                          <p:spTgt spid="159749"/>
                                        </p:tgtEl>
                                        <p:attrNameLst>
                                          <p:attrName>ppt_x</p:attrName>
                                        </p:attrNameLst>
                                      </p:cBhvr>
                                      <p:tavLst>
                                        <p:tav tm="0">
                                          <p:val>
                                            <p:strVal val="0-#ppt_w/2"/>
                                          </p:val>
                                        </p:tav>
                                        <p:tav tm="100000">
                                          <p:val>
                                            <p:strVal val="#ppt_x"/>
                                          </p:val>
                                        </p:tav>
                                      </p:tavLst>
                                    </p:anim>
                                    <p:anim calcmode="lin" valueType="num">
                                      <p:cBhvr additive="base">
                                        <p:cTn id="14" dur="500" fill="hold"/>
                                        <p:tgtEl>
                                          <p:spTgt spid="159749"/>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59747"/>
                                        </p:tgtEl>
                                        <p:attrNameLst>
                                          <p:attrName>style.visibility</p:attrName>
                                        </p:attrNameLst>
                                      </p:cBhvr>
                                      <p:to>
                                        <p:strVal val="visible"/>
                                      </p:to>
                                    </p:set>
                                    <p:anim calcmode="lin" valueType="num">
                                      <p:cBhvr additive="base">
                                        <p:cTn id="18" dur="500" fill="hold"/>
                                        <p:tgtEl>
                                          <p:spTgt spid="159747"/>
                                        </p:tgtEl>
                                        <p:attrNameLst>
                                          <p:attrName>ppt_x</p:attrName>
                                        </p:attrNameLst>
                                      </p:cBhvr>
                                      <p:tavLst>
                                        <p:tav tm="0">
                                          <p:val>
                                            <p:strVal val="0-#ppt_w/2"/>
                                          </p:val>
                                        </p:tav>
                                        <p:tav tm="100000">
                                          <p:val>
                                            <p:strVal val="#ppt_x"/>
                                          </p:val>
                                        </p:tav>
                                      </p:tavLst>
                                    </p:anim>
                                    <p:anim calcmode="lin" valueType="num">
                                      <p:cBhvr additive="base">
                                        <p:cTn id="19" dur="500" fill="hold"/>
                                        <p:tgtEl>
                                          <p:spTgt spid="15974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59750"/>
                                        </p:tgtEl>
                                        <p:attrNameLst>
                                          <p:attrName>style.visibility</p:attrName>
                                        </p:attrNameLst>
                                      </p:cBhvr>
                                      <p:to>
                                        <p:strVal val="visible"/>
                                      </p:to>
                                    </p:set>
                                    <p:anim calcmode="lin" valueType="num">
                                      <p:cBhvr additive="base">
                                        <p:cTn id="24" dur="500" fill="hold"/>
                                        <p:tgtEl>
                                          <p:spTgt spid="159750"/>
                                        </p:tgtEl>
                                        <p:attrNameLst>
                                          <p:attrName>ppt_x</p:attrName>
                                        </p:attrNameLst>
                                      </p:cBhvr>
                                      <p:tavLst>
                                        <p:tav tm="0">
                                          <p:val>
                                            <p:strVal val="0-#ppt_w/2"/>
                                          </p:val>
                                        </p:tav>
                                        <p:tav tm="100000">
                                          <p:val>
                                            <p:strVal val="#ppt_x"/>
                                          </p:val>
                                        </p:tav>
                                      </p:tavLst>
                                    </p:anim>
                                    <p:anim calcmode="lin" valueType="num">
                                      <p:cBhvr additive="base">
                                        <p:cTn id="25" dur="500" fill="hold"/>
                                        <p:tgtEl>
                                          <p:spTgt spid="159750"/>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9746"/>
                                        </p:tgtEl>
                                        <p:attrNameLst>
                                          <p:attrName>style.visibility</p:attrName>
                                        </p:attrNameLst>
                                      </p:cBhvr>
                                      <p:to>
                                        <p:strVal val="visible"/>
                                      </p:to>
                                    </p:set>
                                    <p:animEffect transition="in" filter="wipe(left)">
                                      <p:cBhvr>
                                        <p:cTn id="29" dur="500"/>
                                        <p:tgtEl>
                                          <p:spTgt spid="15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ldLvl="0" animBg="1" autoUpdateAnimBg="0"/>
      <p:bldP spid="159747" grpId="0" bldLvl="0" animBg="1" autoUpdateAnimBg="0"/>
      <p:bldP spid="159748" grpId="0" bldLvl="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Oval 2"/>
          <p:cNvSpPr>
            <a:spLocks noChangeArrowheads="1"/>
          </p:cNvSpPr>
          <p:nvPr/>
        </p:nvSpPr>
        <p:spPr bwMode="auto">
          <a:xfrm>
            <a:off x="2514600" y="15700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160771" name="Oval 3"/>
          <p:cNvSpPr>
            <a:spLocks noChangeArrowheads="1"/>
          </p:cNvSpPr>
          <p:nvPr/>
        </p:nvSpPr>
        <p:spPr bwMode="auto">
          <a:xfrm>
            <a:off x="5334000" y="15700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160772" name="Oval 4"/>
          <p:cNvSpPr>
            <a:spLocks noChangeArrowheads="1"/>
          </p:cNvSpPr>
          <p:nvPr/>
        </p:nvSpPr>
        <p:spPr bwMode="auto">
          <a:xfrm>
            <a:off x="7086600" y="24082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60773" name="Oval 5"/>
          <p:cNvSpPr>
            <a:spLocks noChangeArrowheads="1"/>
          </p:cNvSpPr>
          <p:nvPr/>
        </p:nvSpPr>
        <p:spPr bwMode="auto">
          <a:xfrm>
            <a:off x="5562600" y="40846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60774" name="Oval 6"/>
          <p:cNvSpPr>
            <a:spLocks noChangeArrowheads="1"/>
          </p:cNvSpPr>
          <p:nvPr/>
        </p:nvSpPr>
        <p:spPr bwMode="auto">
          <a:xfrm>
            <a:off x="3886200" y="31702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60775" name="Oval 7"/>
          <p:cNvSpPr>
            <a:spLocks noChangeArrowheads="1"/>
          </p:cNvSpPr>
          <p:nvPr/>
        </p:nvSpPr>
        <p:spPr bwMode="auto">
          <a:xfrm>
            <a:off x="1905000" y="40846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160776" name="Oval 8"/>
          <p:cNvSpPr>
            <a:spLocks noChangeArrowheads="1"/>
          </p:cNvSpPr>
          <p:nvPr/>
        </p:nvSpPr>
        <p:spPr bwMode="auto">
          <a:xfrm>
            <a:off x="4191000" y="5227638"/>
            <a:ext cx="533400" cy="533400"/>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60777" name="Line 9"/>
          <p:cNvSpPr>
            <a:spLocks noChangeShapeType="1"/>
          </p:cNvSpPr>
          <p:nvPr/>
        </p:nvSpPr>
        <p:spPr bwMode="auto">
          <a:xfrm>
            <a:off x="3048000" y="1874838"/>
            <a:ext cx="2286000" cy="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8" name="Line 10"/>
          <p:cNvSpPr>
            <a:spLocks noChangeShapeType="1"/>
          </p:cNvSpPr>
          <p:nvPr/>
        </p:nvSpPr>
        <p:spPr bwMode="auto">
          <a:xfrm>
            <a:off x="2971800" y="2027238"/>
            <a:ext cx="990600" cy="1219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79" name="Line 11"/>
          <p:cNvSpPr>
            <a:spLocks noChangeShapeType="1"/>
          </p:cNvSpPr>
          <p:nvPr/>
        </p:nvSpPr>
        <p:spPr bwMode="auto">
          <a:xfrm flipH="1">
            <a:off x="4343400" y="2027238"/>
            <a:ext cx="1066800" cy="1219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0" name="Line 12"/>
          <p:cNvSpPr>
            <a:spLocks noChangeShapeType="1"/>
          </p:cNvSpPr>
          <p:nvPr/>
        </p:nvSpPr>
        <p:spPr bwMode="auto">
          <a:xfrm flipH="1">
            <a:off x="2209800" y="2027238"/>
            <a:ext cx="457200" cy="20574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1" name="Line 13"/>
          <p:cNvSpPr>
            <a:spLocks noChangeShapeType="1"/>
          </p:cNvSpPr>
          <p:nvPr/>
        </p:nvSpPr>
        <p:spPr bwMode="auto">
          <a:xfrm flipV="1">
            <a:off x="2438400" y="3551238"/>
            <a:ext cx="1524000" cy="762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2" name="Line 14"/>
          <p:cNvSpPr>
            <a:spLocks noChangeShapeType="1"/>
          </p:cNvSpPr>
          <p:nvPr/>
        </p:nvSpPr>
        <p:spPr bwMode="auto">
          <a:xfrm>
            <a:off x="4419600" y="3551238"/>
            <a:ext cx="12192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3" name="Line 15"/>
          <p:cNvSpPr>
            <a:spLocks noChangeShapeType="1"/>
          </p:cNvSpPr>
          <p:nvPr/>
        </p:nvSpPr>
        <p:spPr bwMode="auto">
          <a:xfrm>
            <a:off x="5867400" y="1874838"/>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4" name="Line 16"/>
          <p:cNvSpPr>
            <a:spLocks noChangeShapeType="1"/>
          </p:cNvSpPr>
          <p:nvPr/>
        </p:nvSpPr>
        <p:spPr bwMode="auto">
          <a:xfrm flipH="1">
            <a:off x="6019800" y="2865438"/>
            <a:ext cx="1143000" cy="1371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5" name="Line 17"/>
          <p:cNvSpPr>
            <a:spLocks noChangeShapeType="1"/>
          </p:cNvSpPr>
          <p:nvPr/>
        </p:nvSpPr>
        <p:spPr bwMode="auto">
          <a:xfrm>
            <a:off x="5638800" y="2103438"/>
            <a:ext cx="152400" cy="1981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6" name="Line 18"/>
          <p:cNvSpPr>
            <a:spLocks noChangeShapeType="1"/>
          </p:cNvSpPr>
          <p:nvPr/>
        </p:nvSpPr>
        <p:spPr bwMode="auto">
          <a:xfrm>
            <a:off x="2362200" y="4541838"/>
            <a:ext cx="1828800" cy="838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7" name="Line 19"/>
          <p:cNvSpPr>
            <a:spLocks noChangeShapeType="1"/>
          </p:cNvSpPr>
          <p:nvPr/>
        </p:nvSpPr>
        <p:spPr bwMode="auto">
          <a:xfrm flipH="1">
            <a:off x="4724400" y="4541838"/>
            <a:ext cx="914400" cy="838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88" name="Text Box 20"/>
          <p:cNvSpPr txBox="1">
            <a:spLocks noChangeArrowheads="1"/>
          </p:cNvSpPr>
          <p:nvPr/>
        </p:nvSpPr>
        <p:spPr bwMode="auto">
          <a:xfrm>
            <a:off x="3717925" y="13716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19</a:t>
            </a:r>
            <a:endParaRPr lang="en-US" altLang="zh-CN"/>
          </a:p>
        </p:txBody>
      </p:sp>
      <p:sp>
        <p:nvSpPr>
          <p:cNvPr id="160789" name="Text Box 21"/>
          <p:cNvSpPr txBox="1">
            <a:spLocks noChangeArrowheads="1"/>
          </p:cNvSpPr>
          <p:nvPr/>
        </p:nvSpPr>
        <p:spPr bwMode="auto">
          <a:xfrm>
            <a:off x="6248400" y="16764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5</a:t>
            </a:r>
            <a:endParaRPr lang="en-US" altLang="zh-CN">
              <a:solidFill>
                <a:schemeClr val="tx2"/>
              </a:solidFill>
            </a:endParaRPr>
          </a:p>
        </p:txBody>
      </p:sp>
      <p:sp>
        <p:nvSpPr>
          <p:cNvPr id="160790" name="Text Box 22"/>
          <p:cNvSpPr txBox="1">
            <a:spLocks noChangeArrowheads="1"/>
          </p:cNvSpPr>
          <p:nvPr/>
        </p:nvSpPr>
        <p:spPr bwMode="auto">
          <a:xfrm>
            <a:off x="3352800" y="22558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14</a:t>
            </a:r>
            <a:endParaRPr lang="en-US" altLang="zh-CN"/>
          </a:p>
        </p:txBody>
      </p:sp>
      <p:sp>
        <p:nvSpPr>
          <p:cNvPr id="160791" name="Text Box 23"/>
          <p:cNvSpPr txBox="1">
            <a:spLocks noChangeArrowheads="1"/>
          </p:cNvSpPr>
          <p:nvPr/>
        </p:nvSpPr>
        <p:spPr bwMode="auto">
          <a:xfrm>
            <a:off x="1905000" y="273208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18</a:t>
            </a:r>
            <a:endParaRPr lang="en-US" altLang="zh-CN" sz="3200"/>
          </a:p>
        </p:txBody>
      </p:sp>
      <p:sp>
        <p:nvSpPr>
          <p:cNvPr id="160792" name="Text Box 24"/>
          <p:cNvSpPr txBox="1">
            <a:spLocks noChangeArrowheads="1"/>
          </p:cNvSpPr>
          <p:nvPr/>
        </p:nvSpPr>
        <p:spPr bwMode="auto">
          <a:xfrm>
            <a:off x="2955925" y="486568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t>27</a:t>
            </a:r>
            <a:endParaRPr lang="en-US" altLang="zh-CN" sz="3200"/>
          </a:p>
        </p:txBody>
      </p:sp>
      <p:sp>
        <p:nvSpPr>
          <p:cNvPr id="160793" name="Text Box 25"/>
          <p:cNvSpPr txBox="1">
            <a:spLocks noChangeArrowheads="1"/>
          </p:cNvSpPr>
          <p:nvPr/>
        </p:nvSpPr>
        <p:spPr bwMode="auto">
          <a:xfrm>
            <a:off x="2879725" y="341788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16</a:t>
            </a:r>
            <a:endParaRPr lang="en-US" altLang="zh-CN" sz="3200"/>
          </a:p>
        </p:txBody>
      </p:sp>
      <p:sp>
        <p:nvSpPr>
          <p:cNvPr id="160794" name="Text Box 26"/>
          <p:cNvSpPr txBox="1">
            <a:spLocks noChangeArrowheads="1"/>
          </p:cNvSpPr>
          <p:nvPr/>
        </p:nvSpPr>
        <p:spPr bwMode="auto">
          <a:xfrm>
            <a:off x="4870450" y="34290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8</a:t>
            </a:r>
            <a:endParaRPr lang="en-US" altLang="zh-CN" sz="3200"/>
          </a:p>
        </p:txBody>
      </p:sp>
      <p:sp>
        <p:nvSpPr>
          <p:cNvPr id="160795" name="Text Box 27"/>
          <p:cNvSpPr txBox="1">
            <a:spLocks noChangeArrowheads="1"/>
          </p:cNvSpPr>
          <p:nvPr/>
        </p:nvSpPr>
        <p:spPr bwMode="auto">
          <a:xfrm>
            <a:off x="4953000" y="48466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21</a:t>
            </a:r>
            <a:endParaRPr lang="en-US" altLang="zh-CN" sz="3200"/>
          </a:p>
        </p:txBody>
      </p:sp>
      <p:sp>
        <p:nvSpPr>
          <p:cNvPr id="160796" name="Text Box 28"/>
          <p:cNvSpPr txBox="1">
            <a:spLocks noChangeArrowheads="1"/>
          </p:cNvSpPr>
          <p:nvPr/>
        </p:nvSpPr>
        <p:spPr bwMode="auto">
          <a:xfrm>
            <a:off x="6384925" y="3494088"/>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3</a:t>
            </a:r>
            <a:endParaRPr lang="en-US" altLang="zh-CN" sz="3200"/>
          </a:p>
        </p:txBody>
      </p:sp>
      <p:sp>
        <p:nvSpPr>
          <p:cNvPr id="160797" name="Oval 29"/>
          <p:cNvSpPr>
            <a:spLocks noChangeArrowheads="1"/>
          </p:cNvSpPr>
          <p:nvPr/>
        </p:nvSpPr>
        <p:spPr bwMode="auto">
          <a:xfrm>
            <a:off x="2514600" y="15700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a</a:t>
            </a:r>
            <a:endParaRPr lang="en-US" altLang="zh-CN"/>
          </a:p>
        </p:txBody>
      </p:sp>
      <p:sp>
        <p:nvSpPr>
          <p:cNvPr id="160798" name="Line 30"/>
          <p:cNvSpPr>
            <a:spLocks noChangeShapeType="1"/>
          </p:cNvSpPr>
          <p:nvPr/>
        </p:nvSpPr>
        <p:spPr bwMode="auto">
          <a:xfrm>
            <a:off x="2971800" y="2027238"/>
            <a:ext cx="990600" cy="1219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799" name="Oval 31"/>
          <p:cNvSpPr>
            <a:spLocks noChangeArrowheads="1"/>
          </p:cNvSpPr>
          <p:nvPr/>
        </p:nvSpPr>
        <p:spPr bwMode="auto">
          <a:xfrm>
            <a:off x="3886200" y="31702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e</a:t>
            </a:r>
            <a:endParaRPr lang="en-US" altLang="zh-CN"/>
          </a:p>
        </p:txBody>
      </p:sp>
      <p:sp>
        <p:nvSpPr>
          <p:cNvPr id="160800" name="Line 32"/>
          <p:cNvSpPr>
            <a:spLocks noChangeShapeType="1"/>
          </p:cNvSpPr>
          <p:nvPr/>
        </p:nvSpPr>
        <p:spPr bwMode="auto">
          <a:xfrm>
            <a:off x="4419600" y="3551238"/>
            <a:ext cx="12192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1" name="Text Box 33"/>
          <p:cNvSpPr txBox="1">
            <a:spLocks noChangeArrowheads="1"/>
          </p:cNvSpPr>
          <p:nvPr/>
        </p:nvSpPr>
        <p:spPr bwMode="auto">
          <a:xfrm>
            <a:off x="4495800" y="20574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12</a:t>
            </a:r>
            <a:endParaRPr lang="en-US" altLang="zh-CN" sz="3200"/>
          </a:p>
        </p:txBody>
      </p:sp>
      <p:sp>
        <p:nvSpPr>
          <p:cNvPr id="160802" name="Oval 34"/>
          <p:cNvSpPr>
            <a:spLocks noChangeArrowheads="1"/>
          </p:cNvSpPr>
          <p:nvPr/>
        </p:nvSpPr>
        <p:spPr bwMode="auto">
          <a:xfrm>
            <a:off x="5562600" y="40846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d</a:t>
            </a:r>
            <a:endParaRPr lang="en-US" altLang="zh-CN"/>
          </a:p>
        </p:txBody>
      </p:sp>
      <p:sp>
        <p:nvSpPr>
          <p:cNvPr id="160803" name="Line 35"/>
          <p:cNvSpPr>
            <a:spLocks noChangeShapeType="1"/>
          </p:cNvSpPr>
          <p:nvPr/>
        </p:nvSpPr>
        <p:spPr bwMode="auto">
          <a:xfrm flipH="1">
            <a:off x="6019800" y="2865438"/>
            <a:ext cx="1143000" cy="13716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4" name="Oval 36"/>
          <p:cNvSpPr>
            <a:spLocks noChangeArrowheads="1"/>
          </p:cNvSpPr>
          <p:nvPr/>
        </p:nvSpPr>
        <p:spPr bwMode="auto">
          <a:xfrm>
            <a:off x="7086600" y="24082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c</a:t>
            </a:r>
            <a:endParaRPr lang="en-US" altLang="zh-CN"/>
          </a:p>
        </p:txBody>
      </p:sp>
      <p:sp>
        <p:nvSpPr>
          <p:cNvPr id="160805" name="Line 37"/>
          <p:cNvSpPr>
            <a:spLocks noChangeShapeType="1"/>
          </p:cNvSpPr>
          <p:nvPr/>
        </p:nvSpPr>
        <p:spPr bwMode="auto">
          <a:xfrm>
            <a:off x="5867400" y="1874838"/>
            <a:ext cx="1295400" cy="6858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6" name="Oval 38"/>
          <p:cNvSpPr>
            <a:spLocks noChangeArrowheads="1"/>
          </p:cNvSpPr>
          <p:nvPr/>
        </p:nvSpPr>
        <p:spPr bwMode="auto">
          <a:xfrm>
            <a:off x="5334000" y="15700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b</a:t>
            </a:r>
            <a:endParaRPr lang="en-US" altLang="zh-CN"/>
          </a:p>
        </p:txBody>
      </p:sp>
      <p:sp>
        <p:nvSpPr>
          <p:cNvPr id="160807" name="Line 39"/>
          <p:cNvSpPr>
            <a:spLocks noChangeShapeType="1"/>
          </p:cNvSpPr>
          <p:nvPr/>
        </p:nvSpPr>
        <p:spPr bwMode="auto">
          <a:xfrm flipV="1">
            <a:off x="2438400" y="3551238"/>
            <a:ext cx="1524000" cy="7620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08" name="Oval 40"/>
          <p:cNvSpPr>
            <a:spLocks noChangeArrowheads="1"/>
          </p:cNvSpPr>
          <p:nvPr/>
        </p:nvSpPr>
        <p:spPr bwMode="auto">
          <a:xfrm>
            <a:off x="1905000" y="4084638"/>
            <a:ext cx="533400" cy="533400"/>
          </a:xfrm>
          <a:prstGeom prst="ellipse">
            <a:avLst/>
          </a:prstGeom>
          <a:solidFill>
            <a:srgbClr val="FFFF99"/>
          </a:solidFill>
          <a:ln w="28575" cap="sq">
            <a:solidFill>
              <a:srgbClr val="9933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g</a:t>
            </a:r>
            <a:endParaRPr lang="en-US" altLang="zh-CN"/>
          </a:p>
        </p:txBody>
      </p:sp>
      <p:sp>
        <p:nvSpPr>
          <p:cNvPr id="160809" name="Line 41"/>
          <p:cNvSpPr>
            <a:spLocks noChangeShapeType="1"/>
          </p:cNvSpPr>
          <p:nvPr/>
        </p:nvSpPr>
        <p:spPr bwMode="auto">
          <a:xfrm flipH="1">
            <a:off x="4724400" y="4541838"/>
            <a:ext cx="914400" cy="838200"/>
          </a:xfrm>
          <a:prstGeom prst="line">
            <a:avLst/>
          </a:prstGeom>
          <a:noFill/>
          <a:ln w="28575" cap="sq">
            <a:solidFill>
              <a:srgbClr val="FF66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10" name="Oval 42"/>
          <p:cNvSpPr>
            <a:spLocks noChangeArrowheads="1"/>
          </p:cNvSpPr>
          <p:nvPr/>
        </p:nvSpPr>
        <p:spPr bwMode="auto">
          <a:xfrm>
            <a:off x="4191000" y="5227638"/>
            <a:ext cx="533400" cy="533400"/>
          </a:xfrm>
          <a:prstGeom prst="ellipse">
            <a:avLst/>
          </a:prstGeom>
          <a:solidFill>
            <a:srgbClr val="FFFF99"/>
          </a:solidFill>
          <a:ln w="28575"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rgbClr val="800000"/>
                </a:solidFill>
              </a:rPr>
              <a:t>f</a:t>
            </a:r>
            <a:endParaRPr lang="en-US" altLang="zh-CN"/>
          </a:p>
        </p:txBody>
      </p:sp>
      <p:sp>
        <p:nvSpPr>
          <p:cNvPr id="160811" name="Text Box 43"/>
          <p:cNvSpPr txBox="1">
            <a:spLocks noChangeArrowheads="1"/>
          </p:cNvSpPr>
          <p:nvPr/>
        </p:nvSpPr>
        <p:spPr bwMode="auto">
          <a:xfrm>
            <a:off x="5699125" y="2579688"/>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chemeClr val="tx2"/>
                </a:solidFill>
              </a:rPr>
              <a:t>7</a:t>
            </a:r>
            <a:endParaRPr lang="en-US" altLang="zh-CN" sz="3200"/>
          </a:p>
        </p:txBody>
      </p:sp>
      <p:sp>
        <p:nvSpPr>
          <p:cNvPr id="160812" name="Text Box 44"/>
          <p:cNvSpPr txBox="1">
            <a:spLocks noChangeArrowheads="1"/>
          </p:cNvSpPr>
          <p:nvPr/>
        </p:nvSpPr>
        <p:spPr bwMode="auto">
          <a:xfrm>
            <a:off x="3352800" y="22558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14</a:t>
            </a:r>
            <a:endParaRPr lang="en-US" altLang="zh-CN" b="1">
              <a:solidFill>
                <a:srgbClr val="FF0000"/>
              </a:solidFill>
            </a:endParaRPr>
          </a:p>
        </p:txBody>
      </p:sp>
      <p:sp>
        <p:nvSpPr>
          <p:cNvPr id="160813" name="Text Box 45"/>
          <p:cNvSpPr txBox="1">
            <a:spLocks noChangeArrowheads="1"/>
          </p:cNvSpPr>
          <p:nvPr/>
        </p:nvSpPr>
        <p:spPr bwMode="auto">
          <a:xfrm>
            <a:off x="4870450" y="34290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8</a:t>
            </a:r>
            <a:endParaRPr lang="en-US" altLang="zh-CN" sz="3200"/>
          </a:p>
        </p:txBody>
      </p:sp>
      <p:sp>
        <p:nvSpPr>
          <p:cNvPr id="160814" name="Text Box 46"/>
          <p:cNvSpPr txBox="1">
            <a:spLocks noChangeArrowheads="1"/>
          </p:cNvSpPr>
          <p:nvPr/>
        </p:nvSpPr>
        <p:spPr bwMode="auto">
          <a:xfrm>
            <a:off x="6248400" y="16764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5</a:t>
            </a:r>
            <a:endParaRPr lang="en-US" altLang="zh-CN">
              <a:solidFill>
                <a:schemeClr val="tx2"/>
              </a:solidFill>
            </a:endParaRPr>
          </a:p>
        </p:txBody>
      </p:sp>
      <p:sp>
        <p:nvSpPr>
          <p:cNvPr id="160815" name="Text Box 47"/>
          <p:cNvSpPr txBox="1">
            <a:spLocks noChangeArrowheads="1"/>
          </p:cNvSpPr>
          <p:nvPr/>
        </p:nvSpPr>
        <p:spPr bwMode="auto">
          <a:xfrm>
            <a:off x="6394450" y="35052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3</a:t>
            </a:r>
            <a:endParaRPr lang="en-US" altLang="zh-CN" sz="3200"/>
          </a:p>
        </p:txBody>
      </p:sp>
      <p:sp>
        <p:nvSpPr>
          <p:cNvPr id="160816" name="Text Box 48"/>
          <p:cNvSpPr txBox="1">
            <a:spLocks noChangeArrowheads="1"/>
          </p:cNvSpPr>
          <p:nvPr/>
        </p:nvSpPr>
        <p:spPr bwMode="auto">
          <a:xfrm>
            <a:off x="2895600" y="33988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16</a:t>
            </a:r>
            <a:endParaRPr lang="en-US" altLang="zh-CN" sz="3200" b="1">
              <a:solidFill>
                <a:srgbClr val="FF0000"/>
              </a:solidFill>
            </a:endParaRPr>
          </a:p>
        </p:txBody>
      </p:sp>
      <p:sp>
        <p:nvSpPr>
          <p:cNvPr id="160817" name="Text Box 49"/>
          <p:cNvSpPr txBox="1">
            <a:spLocks noChangeArrowheads="1"/>
          </p:cNvSpPr>
          <p:nvPr/>
        </p:nvSpPr>
        <p:spPr bwMode="auto">
          <a:xfrm>
            <a:off x="4953000" y="4846638"/>
            <a:ext cx="590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FF0000"/>
                </a:solidFill>
              </a:rPr>
              <a:t>21</a:t>
            </a:r>
            <a:endParaRPr lang="en-US" altLang="zh-CN" sz="3200"/>
          </a:p>
        </p:txBody>
      </p:sp>
      <p:sp>
        <p:nvSpPr>
          <p:cNvPr id="160818" name="Text Box 50"/>
          <p:cNvSpPr txBox="1">
            <a:spLocks noChangeArrowheads="1"/>
          </p:cNvSpPr>
          <p:nvPr/>
        </p:nvSpPr>
        <p:spPr bwMode="auto">
          <a:xfrm>
            <a:off x="517525" y="441325"/>
            <a:ext cx="371348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4000" b="1">
                <a:solidFill>
                  <a:srgbClr val="000082"/>
                </a:solidFill>
                <a:latin typeface="Arial" panose="020B0604020202020204" pitchFamily="34" charset="0"/>
                <a:ea typeface="楷体_GB2312" pitchFamily="49" charset="-122"/>
                <a:cs typeface="Arial" panose="020B0604020202020204" pitchFamily="34" charset="0"/>
                <a:sym typeface="+mn-ea"/>
              </a:rPr>
              <a:t>for instance ：</a:t>
            </a:r>
            <a:endParaRPr lang="en-US" altLang="zh-CN">
              <a:latin typeface="Arial" panose="020B0604020202020204" pitchFamily="34" charset="0"/>
              <a:cs typeface="Arial" panose="020B0604020202020204" pitchFamily="34" charset="0"/>
            </a:endParaRPr>
          </a:p>
        </p:txBody>
      </p:sp>
      <p:sp>
        <p:nvSpPr>
          <p:cNvPr id="160819" name="Line 51"/>
          <p:cNvSpPr>
            <a:spLocks noChangeShapeType="1"/>
          </p:cNvSpPr>
          <p:nvPr/>
        </p:nvSpPr>
        <p:spPr bwMode="auto">
          <a:xfrm>
            <a:off x="5638800" y="2103438"/>
            <a:ext cx="152400" cy="1981200"/>
          </a:xfrm>
          <a:prstGeom prst="line">
            <a:avLst/>
          </a:prstGeom>
          <a:noFill/>
          <a:ln w="28575" cap="sq">
            <a:solidFill>
              <a:srgbClr val="DFA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0" name="Line 52"/>
          <p:cNvSpPr>
            <a:spLocks noChangeShapeType="1"/>
          </p:cNvSpPr>
          <p:nvPr/>
        </p:nvSpPr>
        <p:spPr bwMode="auto">
          <a:xfrm flipH="1">
            <a:off x="4343400" y="2027238"/>
            <a:ext cx="1066800" cy="1219200"/>
          </a:xfrm>
          <a:prstGeom prst="line">
            <a:avLst/>
          </a:prstGeom>
          <a:noFill/>
          <a:ln w="28575" cap="sq">
            <a:solidFill>
              <a:srgbClr val="DFA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1" name="Line 53"/>
          <p:cNvSpPr>
            <a:spLocks noChangeShapeType="1"/>
          </p:cNvSpPr>
          <p:nvPr/>
        </p:nvSpPr>
        <p:spPr bwMode="auto">
          <a:xfrm flipH="1">
            <a:off x="2209800" y="2027238"/>
            <a:ext cx="457200" cy="2057400"/>
          </a:xfrm>
          <a:prstGeom prst="line">
            <a:avLst/>
          </a:prstGeom>
          <a:noFill/>
          <a:ln w="28575" cap="sq">
            <a:solidFill>
              <a:srgbClr val="DFA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2" name="Line 54"/>
          <p:cNvSpPr>
            <a:spLocks noChangeShapeType="1"/>
          </p:cNvSpPr>
          <p:nvPr/>
        </p:nvSpPr>
        <p:spPr bwMode="auto">
          <a:xfrm>
            <a:off x="3048000" y="1874838"/>
            <a:ext cx="2286000" cy="0"/>
          </a:xfrm>
          <a:prstGeom prst="line">
            <a:avLst/>
          </a:prstGeom>
          <a:noFill/>
          <a:ln w="28575" cap="sq">
            <a:solidFill>
              <a:srgbClr val="DFA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823" name="Text Box 55"/>
          <p:cNvSpPr txBox="1">
            <a:spLocks noChangeArrowheads="1"/>
          </p:cNvSpPr>
          <p:nvPr/>
        </p:nvSpPr>
        <p:spPr bwMode="auto">
          <a:xfrm>
            <a:off x="5715000" y="25908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DFAFFF"/>
                </a:solidFill>
              </a:rPr>
              <a:t>7</a:t>
            </a:r>
            <a:endParaRPr lang="en-US" altLang="zh-CN" sz="3200"/>
          </a:p>
        </p:txBody>
      </p:sp>
      <p:sp>
        <p:nvSpPr>
          <p:cNvPr id="160824" name="Text Box 56"/>
          <p:cNvSpPr txBox="1">
            <a:spLocks noChangeArrowheads="1"/>
          </p:cNvSpPr>
          <p:nvPr/>
        </p:nvSpPr>
        <p:spPr bwMode="auto">
          <a:xfrm>
            <a:off x="4495800" y="20574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DFAFFF"/>
                </a:solidFill>
              </a:rPr>
              <a:t>12</a:t>
            </a:r>
            <a:endParaRPr lang="en-US" altLang="zh-CN" sz="3200"/>
          </a:p>
        </p:txBody>
      </p:sp>
      <p:sp>
        <p:nvSpPr>
          <p:cNvPr id="160825" name="Text Box 57"/>
          <p:cNvSpPr txBox="1">
            <a:spLocks noChangeArrowheads="1"/>
          </p:cNvSpPr>
          <p:nvPr/>
        </p:nvSpPr>
        <p:spPr bwMode="auto">
          <a:xfrm>
            <a:off x="1905000" y="27432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DFAFFF"/>
                </a:solidFill>
              </a:rPr>
              <a:t>18</a:t>
            </a:r>
            <a:endParaRPr lang="en-US" altLang="zh-CN" sz="3200"/>
          </a:p>
        </p:txBody>
      </p:sp>
      <p:sp>
        <p:nvSpPr>
          <p:cNvPr id="160826" name="Text Box 58"/>
          <p:cNvSpPr txBox="1">
            <a:spLocks noChangeArrowheads="1"/>
          </p:cNvSpPr>
          <p:nvPr/>
        </p:nvSpPr>
        <p:spPr bwMode="auto">
          <a:xfrm>
            <a:off x="3733800" y="13716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DFAFFF"/>
                </a:solidFill>
              </a:rPr>
              <a:t>19</a:t>
            </a:r>
            <a:endParaRPr lang="en-US" altLang="zh-CN"/>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0818"/>
                                        </p:tgtEl>
                                        <p:attrNameLst>
                                          <p:attrName>style.visibility</p:attrName>
                                        </p:attrNameLst>
                                      </p:cBhvr>
                                      <p:to>
                                        <p:strVal val="visible"/>
                                      </p:to>
                                    </p:set>
                                    <p:anim calcmode="lin" valueType="num">
                                      <p:cBhvr additive="base">
                                        <p:cTn id="7" dur="500" fill="hold"/>
                                        <p:tgtEl>
                                          <p:spTgt spid="160818"/>
                                        </p:tgtEl>
                                        <p:attrNameLst>
                                          <p:attrName>ppt_x</p:attrName>
                                        </p:attrNameLst>
                                      </p:cBhvr>
                                      <p:tavLst>
                                        <p:tav tm="0">
                                          <p:val>
                                            <p:strVal val="0-#ppt_w/2"/>
                                          </p:val>
                                        </p:tav>
                                        <p:tav tm="100000">
                                          <p:val>
                                            <p:strVal val="#ppt_x"/>
                                          </p:val>
                                        </p:tav>
                                      </p:tavLst>
                                    </p:anim>
                                    <p:anim calcmode="lin" valueType="num">
                                      <p:cBhvr additive="base">
                                        <p:cTn id="8" dur="500" fill="hold"/>
                                        <p:tgtEl>
                                          <p:spTgt spid="1608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60770"/>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160771"/>
                                        </p:tgtEl>
                                        <p:attrNameLst>
                                          <p:attrName>style.visibility</p:attrName>
                                        </p:attrNameLst>
                                      </p:cBhvr>
                                      <p:to>
                                        <p:strVal val="visible"/>
                                      </p:to>
                                    </p:se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160772"/>
                                        </p:tgtEl>
                                        <p:attrNameLst>
                                          <p:attrName>style.visibility</p:attrName>
                                        </p:attrNameLst>
                                      </p:cBhvr>
                                      <p:to>
                                        <p:strVal val="visible"/>
                                      </p:to>
                                    </p:se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499"/>
                                          </p:stCondLst>
                                        </p:cTn>
                                        <p:tgtEl>
                                          <p:spTgt spid="160773"/>
                                        </p:tgtEl>
                                        <p:attrNameLst>
                                          <p:attrName>style.visibility</p:attrName>
                                        </p:attrNameLst>
                                      </p:cBhvr>
                                      <p:to>
                                        <p:strVal val="visible"/>
                                      </p:to>
                                    </p:set>
                                  </p:childTnLst>
                                </p:cTn>
                              </p:par>
                            </p:childTnLst>
                          </p:cTn>
                        </p:par>
                        <p:par>
                          <p:cTn id="21" fill="hold">
                            <p:stCondLst>
                              <p:cond delay="2500"/>
                            </p:stCondLst>
                            <p:childTnLst>
                              <p:par>
                                <p:cTn id="22" presetID="1" presetClass="entr" presetSubtype="0" fill="hold" grpId="0" nodeType="afterEffect">
                                  <p:stCondLst>
                                    <p:cond delay="0"/>
                                  </p:stCondLst>
                                  <p:childTnLst>
                                    <p:set>
                                      <p:cBhvr>
                                        <p:cTn id="23" dur="1" fill="hold">
                                          <p:stCondLst>
                                            <p:cond delay="499"/>
                                          </p:stCondLst>
                                        </p:cTn>
                                        <p:tgtEl>
                                          <p:spTgt spid="160774"/>
                                        </p:tgtEl>
                                        <p:attrNameLst>
                                          <p:attrName>style.visibility</p:attrName>
                                        </p:attrNameLst>
                                      </p:cBhvr>
                                      <p:to>
                                        <p:strVal val="visible"/>
                                      </p:to>
                                    </p:set>
                                  </p:childTnLst>
                                </p:cTn>
                              </p:par>
                            </p:childTnLst>
                          </p:cTn>
                        </p:par>
                        <p:par>
                          <p:cTn id="24" fill="hold">
                            <p:stCondLst>
                              <p:cond delay="3000"/>
                            </p:stCondLst>
                            <p:childTnLst>
                              <p:par>
                                <p:cTn id="25" presetID="1" presetClass="entr" presetSubtype="0" fill="hold" grpId="0" nodeType="afterEffect">
                                  <p:stCondLst>
                                    <p:cond delay="0"/>
                                  </p:stCondLst>
                                  <p:childTnLst>
                                    <p:set>
                                      <p:cBhvr>
                                        <p:cTn id="26" dur="1" fill="hold">
                                          <p:stCondLst>
                                            <p:cond delay="499"/>
                                          </p:stCondLst>
                                        </p:cTn>
                                        <p:tgtEl>
                                          <p:spTgt spid="160775"/>
                                        </p:tgtEl>
                                        <p:attrNameLst>
                                          <p:attrName>style.visibility</p:attrName>
                                        </p:attrNameLst>
                                      </p:cBhvr>
                                      <p:to>
                                        <p:strVal val="visible"/>
                                      </p:to>
                                    </p:set>
                                  </p:childTnLst>
                                </p:cTn>
                              </p:par>
                            </p:childTnLst>
                          </p:cTn>
                        </p:par>
                        <p:par>
                          <p:cTn id="27" fill="hold">
                            <p:stCondLst>
                              <p:cond delay="3500"/>
                            </p:stCondLst>
                            <p:childTnLst>
                              <p:par>
                                <p:cTn id="28" presetID="1" presetClass="entr" presetSubtype="0" fill="hold" grpId="0" nodeType="afterEffect">
                                  <p:stCondLst>
                                    <p:cond delay="0"/>
                                  </p:stCondLst>
                                  <p:childTnLst>
                                    <p:set>
                                      <p:cBhvr>
                                        <p:cTn id="29" dur="1" fill="hold">
                                          <p:stCondLst>
                                            <p:cond delay="499"/>
                                          </p:stCondLst>
                                        </p:cTn>
                                        <p:tgtEl>
                                          <p:spTgt spid="160776"/>
                                        </p:tgtEl>
                                        <p:attrNameLst>
                                          <p:attrName>style.visibility</p:attrName>
                                        </p:attrNameLst>
                                      </p:cBhvr>
                                      <p:to>
                                        <p:strVal val="visible"/>
                                      </p:to>
                                    </p:set>
                                  </p:childTnLst>
                                </p:cTn>
                              </p:par>
                            </p:childTnLst>
                          </p:cTn>
                        </p:par>
                        <p:par>
                          <p:cTn id="30" fill="hold">
                            <p:stCondLst>
                              <p:cond delay="4000"/>
                            </p:stCondLst>
                            <p:childTnLst>
                              <p:par>
                                <p:cTn id="31" presetID="1" presetClass="entr" presetSubtype="0" fill="hold" grpId="0" nodeType="afterEffect">
                                  <p:stCondLst>
                                    <p:cond delay="0"/>
                                  </p:stCondLst>
                                  <p:childTnLst>
                                    <p:set>
                                      <p:cBhvr>
                                        <p:cTn id="32" dur="1" fill="hold">
                                          <p:stCondLst>
                                            <p:cond delay="499"/>
                                          </p:stCondLst>
                                        </p:cTn>
                                        <p:tgtEl>
                                          <p:spTgt spid="160777"/>
                                        </p:tgtEl>
                                        <p:attrNameLst>
                                          <p:attrName>style.visibility</p:attrName>
                                        </p:attrNameLst>
                                      </p:cBhvr>
                                      <p:to>
                                        <p:strVal val="visible"/>
                                      </p:to>
                                    </p:set>
                                  </p:childTnLst>
                                </p:cTn>
                              </p:par>
                            </p:childTnLst>
                          </p:cTn>
                        </p:par>
                        <p:par>
                          <p:cTn id="33" fill="hold">
                            <p:stCondLst>
                              <p:cond delay="4500"/>
                            </p:stCondLst>
                            <p:childTnLst>
                              <p:par>
                                <p:cTn id="34" presetID="1" presetClass="entr" presetSubtype="0" fill="hold" grpId="0" nodeType="afterEffect">
                                  <p:stCondLst>
                                    <p:cond delay="0"/>
                                  </p:stCondLst>
                                  <p:childTnLst>
                                    <p:set>
                                      <p:cBhvr>
                                        <p:cTn id="35" dur="1" fill="hold">
                                          <p:stCondLst>
                                            <p:cond delay="499"/>
                                          </p:stCondLst>
                                        </p:cTn>
                                        <p:tgtEl>
                                          <p:spTgt spid="160778"/>
                                        </p:tgtEl>
                                        <p:attrNameLst>
                                          <p:attrName>style.visibility</p:attrName>
                                        </p:attrNameLst>
                                      </p:cBhvr>
                                      <p:to>
                                        <p:strVal val="visible"/>
                                      </p:to>
                                    </p:set>
                                  </p:childTnLst>
                                </p:cTn>
                              </p:par>
                            </p:childTnLst>
                          </p:cTn>
                        </p:par>
                        <p:par>
                          <p:cTn id="36" fill="hold">
                            <p:stCondLst>
                              <p:cond delay="5000"/>
                            </p:stCondLst>
                            <p:childTnLst>
                              <p:par>
                                <p:cTn id="37" presetID="1" presetClass="entr" presetSubtype="0" fill="hold" grpId="0" nodeType="afterEffect">
                                  <p:stCondLst>
                                    <p:cond delay="0"/>
                                  </p:stCondLst>
                                  <p:childTnLst>
                                    <p:set>
                                      <p:cBhvr>
                                        <p:cTn id="38" dur="1" fill="hold">
                                          <p:stCondLst>
                                            <p:cond delay="499"/>
                                          </p:stCondLst>
                                        </p:cTn>
                                        <p:tgtEl>
                                          <p:spTgt spid="160779"/>
                                        </p:tgtEl>
                                        <p:attrNameLst>
                                          <p:attrName>style.visibility</p:attrName>
                                        </p:attrNameLst>
                                      </p:cBhvr>
                                      <p:to>
                                        <p:strVal val="visible"/>
                                      </p:to>
                                    </p:set>
                                  </p:childTnLst>
                                </p:cTn>
                              </p:par>
                            </p:childTnLst>
                          </p:cTn>
                        </p:par>
                        <p:par>
                          <p:cTn id="39" fill="hold">
                            <p:stCondLst>
                              <p:cond delay="5500"/>
                            </p:stCondLst>
                            <p:childTnLst>
                              <p:par>
                                <p:cTn id="40" presetID="1" presetClass="entr" presetSubtype="0" fill="hold" grpId="0" nodeType="afterEffect">
                                  <p:stCondLst>
                                    <p:cond delay="0"/>
                                  </p:stCondLst>
                                  <p:childTnLst>
                                    <p:set>
                                      <p:cBhvr>
                                        <p:cTn id="41" dur="1" fill="hold">
                                          <p:stCondLst>
                                            <p:cond delay="499"/>
                                          </p:stCondLst>
                                        </p:cTn>
                                        <p:tgtEl>
                                          <p:spTgt spid="160780"/>
                                        </p:tgtEl>
                                        <p:attrNameLst>
                                          <p:attrName>style.visibility</p:attrName>
                                        </p:attrNameLst>
                                      </p:cBhvr>
                                      <p:to>
                                        <p:strVal val="visible"/>
                                      </p:to>
                                    </p:set>
                                  </p:childTnLst>
                                </p:cTn>
                              </p:par>
                            </p:childTnLst>
                          </p:cTn>
                        </p:par>
                        <p:par>
                          <p:cTn id="42" fill="hold">
                            <p:stCondLst>
                              <p:cond delay="6000"/>
                            </p:stCondLst>
                            <p:childTnLst>
                              <p:par>
                                <p:cTn id="43" presetID="1" presetClass="entr" presetSubtype="0" fill="hold" grpId="0" nodeType="afterEffect">
                                  <p:stCondLst>
                                    <p:cond delay="0"/>
                                  </p:stCondLst>
                                  <p:childTnLst>
                                    <p:set>
                                      <p:cBhvr>
                                        <p:cTn id="44" dur="1" fill="hold">
                                          <p:stCondLst>
                                            <p:cond delay="499"/>
                                          </p:stCondLst>
                                        </p:cTn>
                                        <p:tgtEl>
                                          <p:spTgt spid="160781"/>
                                        </p:tgtEl>
                                        <p:attrNameLst>
                                          <p:attrName>style.visibility</p:attrName>
                                        </p:attrNameLst>
                                      </p:cBhvr>
                                      <p:to>
                                        <p:strVal val="visible"/>
                                      </p:to>
                                    </p:set>
                                  </p:childTnLst>
                                </p:cTn>
                              </p:par>
                            </p:childTnLst>
                          </p:cTn>
                        </p:par>
                        <p:par>
                          <p:cTn id="45" fill="hold">
                            <p:stCondLst>
                              <p:cond delay="6500"/>
                            </p:stCondLst>
                            <p:childTnLst>
                              <p:par>
                                <p:cTn id="46" presetID="1" presetClass="entr" presetSubtype="0" fill="hold" grpId="0" nodeType="afterEffect">
                                  <p:stCondLst>
                                    <p:cond delay="0"/>
                                  </p:stCondLst>
                                  <p:childTnLst>
                                    <p:set>
                                      <p:cBhvr>
                                        <p:cTn id="47" dur="1" fill="hold">
                                          <p:stCondLst>
                                            <p:cond delay="499"/>
                                          </p:stCondLst>
                                        </p:cTn>
                                        <p:tgtEl>
                                          <p:spTgt spid="160782"/>
                                        </p:tgtEl>
                                        <p:attrNameLst>
                                          <p:attrName>style.visibility</p:attrName>
                                        </p:attrNameLst>
                                      </p:cBhvr>
                                      <p:to>
                                        <p:strVal val="visible"/>
                                      </p:to>
                                    </p:set>
                                  </p:childTnLst>
                                </p:cTn>
                              </p:par>
                            </p:childTnLst>
                          </p:cTn>
                        </p:par>
                        <p:par>
                          <p:cTn id="48" fill="hold">
                            <p:stCondLst>
                              <p:cond delay="7000"/>
                            </p:stCondLst>
                            <p:childTnLst>
                              <p:par>
                                <p:cTn id="49" presetID="1" presetClass="entr" presetSubtype="0" fill="hold" grpId="0" nodeType="afterEffect">
                                  <p:stCondLst>
                                    <p:cond delay="0"/>
                                  </p:stCondLst>
                                  <p:childTnLst>
                                    <p:set>
                                      <p:cBhvr>
                                        <p:cTn id="50" dur="1" fill="hold">
                                          <p:stCondLst>
                                            <p:cond delay="499"/>
                                          </p:stCondLst>
                                        </p:cTn>
                                        <p:tgtEl>
                                          <p:spTgt spid="160783"/>
                                        </p:tgtEl>
                                        <p:attrNameLst>
                                          <p:attrName>style.visibility</p:attrName>
                                        </p:attrNameLst>
                                      </p:cBhvr>
                                      <p:to>
                                        <p:strVal val="visible"/>
                                      </p:to>
                                    </p:set>
                                  </p:childTnLst>
                                </p:cTn>
                              </p:par>
                            </p:childTnLst>
                          </p:cTn>
                        </p:par>
                        <p:par>
                          <p:cTn id="51" fill="hold">
                            <p:stCondLst>
                              <p:cond delay="7500"/>
                            </p:stCondLst>
                            <p:childTnLst>
                              <p:par>
                                <p:cTn id="52" presetID="1" presetClass="entr" presetSubtype="0" fill="hold" grpId="0" nodeType="afterEffect">
                                  <p:stCondLst>
                                    <p:cond delay="0"/>
                                  </p:stCondLst>
                                  <p:childTnLst>
                                    <p:set>
                                      <p:cBhvr>
                                        <p:cTn id="53" dur="1" fill="hold">
                                          <p:stCondLst>
                                            <p:cond delay="499"/>
                                          </p:stCondLst>
                                        </p:cTn>
                                        <p:tgtEl>
                                          <p:spTgt spid="160784"/>
                                        </p:tgtEl>
                                        <p:attrNameLst>
                                          <p:attrName>style.visibility</p:attrName>
                                        </p:attrNameLst>
                                      </p:cBhvr>
                                      <p:to>
                                        <p:strVal val="visible"/>
                                      </p:to>
                                    </p:set>
                                  </p:childTnLst>
                                </p:cTn>
                              </p:par>
                            </p:childTnLst>
                          </p:cTn>
                        </p:par>
                        <p:par>
                          <p:cTn id="54" fill="hold">
                            <p:stCondLst>
                              <p:cond delay="8000"/>
                            </p:stCondLst>
                            <p:childTnLst>
                              <p:par>
                                <p:cTn id="55" presetID="1" presetClass="entr" presetSubtype="0" fill="hold" grpId="0" nodeType="afterEffect">
                                  <p:stCondLst>
                                    <p:cond delay="0"/>
                                  </p:stCondLst>
                                  <p:childTnLst>
                                    <p:set>
                                      <p:cBhvr>
                                        <p:cTn id="56" dur="1" fill="hold">
                                          <p:stCondLst>
                                            <p:cond delay="499"/>
                                          </p:stCondLst>
                                        </p:cTn>
                                        <p:tgtEl>
                                          <p:spTgt spid="160785"/>
                                        </p:tgtEl>
                                        <p:attrNameLst>
                                          <p:attrName>style.visibility</p:attrName>
                                        </p:attrNameLst>
                                      </p:cBhvr>
                                      <p:to>
                                        <p:strVal val="visible"/>
                                      </p:to>
                                    </p:set>
                                  </p:childTnLst>
                                </p:cTn>
                              </p:par>
                            </p:childTnLst>
                          </p:cTn>
                        </p:par>
                        <p:par>
                          <p:cTn id="57" fill="hold">
                            <p:stCondLst>
                              <p:cond delay="8500"/>
                            </p:stCondLst>
                            <p:childTnLst>
                              <p:par>
                                <p:cTn id="58" presetID="1" presetClass="entr" presetSubtype="0" fill="hold" grpId="0" nodeType="afterEffect">
                                  <p:stCondLst>
                                    <p:cond delay="0"/>
                                  </p:stCondLst>
                                  <p:childTnLst>
                                    <p:set>
                                      <p:cBhvr>
                                        <p:cTn id="59" dur="1" fill="hold">
                                          <p:stCondLst>
                                            <p:cond delay="499"/>
                                          </p:stCondLst>
                                        </p:cTn>
                                        <p:tgtEl>
                                          <p:spTgt spid="160786"/>
                                        </p:tgtEl>
                                        <p:attrNameLst>
                                          <p:attrName>style.visibility</p:attrName>
                                        </p:attrNameLst>
                                      </p:cBhvr>
                                      <p:to>
                                        <p:strVal val="visible"/>
                                      </p:to>
                                    </p:set>
                                  </p:childTnLst>
                                </p:cTn>
                              </p:par>
                            </p:childTnLst>
                          </p:cTn>
                        </p:par>
                        <p:par>
                          <p:cTn id="60" fill="hold">
                            <p:stCondLst>
                              <p:cond delay="9000"/>
                            </p:stCondLst>
                            <p:childTnLst>
                              <p:par>
                                <p:cTn id="61" presetID="1" presetClass="entr" presetSubtype="0" fill="hold" grpId="0" nodeType="afterEffect">
                                  <p:stCondLst>
                                    <p:cond delay="0"/>
                                  </p:stCondLst>
                                  <p:childTnLst>
                                    <p:set>
                                      <p:cBhvr>
                                        <p:cTn id="62" dur="1" fill="hold">
                                          <p:stCondLst>
                                            <p:cond delay="499"/>
                                          </p:stCondLst>
                                        </p:cTn>
                                        <p:tgtEl>
                                          <p:spTgt spid="160787"/>
                                        </p:tgtEl>
                                        <p:attrNameLst>
                                          <p:attrName>style.visibility</p:attrName>
                                        </p:attrNameLst>
                                      </p:cBhvr>
                                      <p:to>
                                        <p:strVal val="visible"/>
                                      </p:to>
                                    </p:set>
                                  </p:childTnLst>
                                </p:cTn>
                              </p:par>
                            </p:childTnLst>
                          </p:cTn>
                        </p:par>
                        <p:par>
                          <p:cTn id="63" fill="hold">
                            <p:stCondLst>
                              <p:cond delay="9500"/>
                            </p:stCondLst>
                            <p:childTnLst>
                              <p:par>
                                <p:cTn id="64" presetID="1" presetClass="entr" presetSubtype="0" fill="hold" grpId="0" nodeType="afterEffect">
                                  <p:stCondLst>
                                    <p:cond delay="0"/>
                                  </p:stCondLst>
                                  <p:childTnLst>
                                    <p:set>
                                      <p:cBhvr>
                                        <p:cTn id="65" dur="1" fill="hold">
                                          <p:stCondLst>
                                            <p:cond delay="499"/>
                                          </p:stCondLst>
                                        </p:cTn>
                                        <p:tgtEl>
                                          <p:spTgt spid="160788"/>
                                        </p:tgtEl>
                                        <p:attrNameLst>
                                          <p:attrName>style.visibility</p:attrName>
                                        </p:attrNameLst>
                                      </p:cBhvr>
                                      <p:to>
                                        <p:strVal val="visible"/>
                                      </p:to>
                                    </p:set>
                                  </p:childTnLst>
                                </p:cTn>
                              </p:par>
                            </p:childTnLst>
                          </p:cTn>
                        </p:par>
                        <p:par>
                          <p:cTn id="66" fill="hold">
                            <p:stCondLst>
                              <p:cond delay="10000"/>
                            </p:stCondLst>
                            <p:childTnLst>
                              <p:par>
                                <p:cTn id="67" presetID="1" presetClass="entr" presetSubtype="0" fill="hold" grpId="0" nodeType="afterEffect">
                                  <p:stCondLst>
                                    <p:cond delay="0"/>
                                  </p:stCondLst>
                                  <p:childTnLst>
                                    <p:set>
                                      <p:cBhvr>
                                        <p:cTn id="68" dur="1" fill="hold">
                                          <p:stCondLst>
                                            <p:cond delay="499"/>
                                          </p:stCondLst>
                                        </p:cTn>
                                        <p:tgtEl>
                                          <p:spTgt spid="160789"/>
                                        </p:tgtEl>
                                        <p:attrNameLst>
                                          <p:attrName>style.visibility</p:attrName>
                                        </p:attrNameLst>
                                      </p:cBhvr>
                                      <p:to>
                                        <p:strVal val="visible"/>
                                      </p:to>
                                    </p:set>
                                  </p:childTnLst>
                                </p:cTn>
                              </p:par>
                            </p:childTnLst>
                          </p:cTn>
                        </p:par>
                        <p:par>
                          <p:cTn id="69" fill="hold">
                            <p:stCondLst>
                              <p:cond delay="10500"/>
                            </p:stCondLst>
                            <p:childTnLst>
                              <p:par>
                                <p:cTn id="70" presetID="1" presetClass="entr" presetSubtype="0" fill="hold" grpId="0" nodeType="afterEffect">
                                  <p:stCondLst>
                                    <p:cond delay="0"/>
                                  </p:stCondLst>
                                  <p:childTnLst>
                                    <p:set>
                                      <p:cBhvr>
                                        <p:cTn id="71" dur="1" fill="hold">
                                          <p:stCondLst>
                                            <p:cond delay="499"/>
                                          </p:stCondLst>
                                        </p:cTn>
                                        <p:tgtEl>
                                          <p:spTgt spid="160790"/>
                                        </p:tgtEl>
                                        <p:attrNameLst>
                                          <p:attrName>style.visibility</p:attrName>
                                        </p:attrNameLst>
                                      </p:cBhvr>
                                      <p:to>
                                        <p:strVal val="visible"/>
                                      </p:to>
                                    </p:set>
                                  </p:childTnLst>
                                </p:cTn>
                              </p:par>
                            </p:childTnLst>
                          </p:cTn>
                        </p:par>
                        <p:par>
                          <p:cTn id="72" fill="hold">
                            <p:stCondLst>
                              <p:cond delay="11000"/>
                            </p:stCondLst>
                            <p:childTnLst>
                              <p:par>
                                <p:cTn id="73" presetID="1" presetClass="entr" presetSubtype="0" fill="hold" grpId="0" nodeType="afterEffect">
                                  <p:stCondLst>
                                    <p:cond delay="0"/>
                                  </p:stCondLst>
                                  <p:childTnLst>
                                    <p:set>
                                      <p:cBhvr>
                                        <p:cTn id="74" dur="1" fill="hold">
                                          <p:stCondLst>
                                            <p:cond delay="499"/>
                                          </p:stCondLst>
                                        </p:cTn>
                                        <p:tgtEl>
                                          <p:spTgt spid="160791"/>
                                        </p:tgtEl>
                                        <p:attrNameLst>
                                          <p:attrName>style.visibility</p:attrName>
                                        </p:attrNameLst>
                                      </p:cBhvr>
                                      <p:to>
                                        <p:strVal val="visible"/>
                                      </p:to>
                                    </p:set>
                                  </p:childTnLst>
                                </p:cTn>
                              </p:par>
                            </p:childTnLst>
                          </p:cTn>
                        </p:par>
                        <p:par>
                          <p:cTn id="75" fill="hold">
                            <p:stCondLst>
                              <p:cond delay="11500"/>
                            </p:stCondLst>
                            <p:childTnLst>
                              <p:par>
                                <p:cTn id="76" presetID="1" presetClass="entr" presetSubtype="0" fill="hold" grpId="0" nodeType="afterEffect">
                                  <p:stCondLst>
                                    <p:cond delay="0"/>
                                  </p:stCondLst>
                                  <p:childTnLst>
                                    <p:set>
                                      <p:cBhvr>
                                        <p:cTn id="77" dur="1" fill="hold">
                                          <p:stCondLst>
                                            <p:cond delay="499"/>
                                          </p:stCondLst>
                                        </p:cTn>
                                        <p:tgtEl>
                                          <p:spTgt spid="160792"/>
                                        </p:tgtEl>
                                        <p:attrNameLst>
                                          <p:attrName>style.visibility</p:attrName>
                                        </p:attrNameLst>
                                      </p:cBhvr>
                                      <p:to>
                                        <p:strVal val="visible"/>
                                      </p:to>
                                    </p:set>
                                  </p:childTnLst>
                                </p:cTn>
                              </p:par>
                            </p:childTnLst>
                          </p:cTn>
                        </p:par>
                        <p:par>
                          <p:cTn id="78" fill="hold">
                            <p:stCondLst>
                              <p:cond delay="12000"/>
                            </p:stCondLst>
                            <p:childTnLst>
                              <p:par>
                                <p:cTn id="79" presetID="1" presetClass="entr" presetSubtype="0" fill="hold" grpId="0" nodeType="afterEffect">
                                  <p:stCondLst>
                                    <p:cond delay="0"/>
                                  </p:stCondLst>
                                  <p:childTnLst>
                                    <p:set>
                                      <p:cBhvr>
                                        <p:cTn id="80" dur="1" fill="hold">
                                          <p:stCondLst>
                                            <p:cond delay="499"/>
                                          </p:stCondLst>
                                        </p:cTn>
                                        <p:tgtEl>
                                          <p:spTgt spid="160793"/>
                                        </p:tgtEl>
                                        <p:attrNameLst>
                                          <p:attrName>style.visibility</p:attrName>
                                        </p:attrNameLst>
                                      </p:cBhvr>
                                      <p:to>
                                        <p:strVal val="visible"/>
                                      </p:to>
                                    </p:set>
                                  </p:childTnLst>
                                </p:cTn>
                              </p:par>
                            </p:childTnLst>
                          </p:cTn>
                        </p:par>
                        <p:par>
                          <p:cTn id="81" fill="hold">
                            <p:stCondLst>
                              <p:cond delay="12500"/>
                            </p:stCondLst>
                            <p:childTnLst>
                              <p:par>
                                <p:cTn id="82" presetID="1" presetClass="entr" presetSubtype="0" fill="hold" grpId="0" nodeType="afterEffect">
                                  <p:stCondLst>
                                    <p:cond delay="0"/>
                                  </p:stCondLst>
                                  <p:childTnLst>
                                    <p:set>
                                      <p:cBhvr>
                                        <p:cTn id="83" dur="1" fill="hold">
                                          <p:stCondLst>
                                            <p:cond delay="499"/>
                                          </p:stCondLst>
                                        </p:cTn>
                                        <p:tgtEl>
                                          <p:spTgt spid="160795"/>
                                        </p:tgtEl>
                                        <p:attrNameLst>
                                          <p:attrName>style.visibility</p:attrName>
                                        </p:attrNameLst>
                                      </p:cBhvr>
                                      <p:to>
                                        <p:strVal val="visible"/>
                                      </p:to>
                                    </p:set>
                                  </p:childTnLst>
                                </p:cTn>
                              </p:par>
                            </p:childTnLst>
                          </p:cTn>
                        </p:par>
                        <p:par>
                          <p:cTn id="84" fill="hold">
                            <p:stCondLst>
                              <p:cond delay="13000"/>
                            </p:stCondLst>
                            <p:childTnLst>
                              <p:par>
                                <p:cTn id="85" presetID="1" presetClass="entr" presetSubtype="0" fill="hold" grpId="0" nodeType="afterEffect">
                                  <p:stCondLst>
                                    <p:cond delay="0"/>
                                  </p:stCondLst>
                                  <p:childTnLst>
                                    <p:set>
                                      <p:cBhvr>
                                        <p:cTn id="86" dur="1" fill="hold">
                                          <p:stCondLst>
                                            <p:cond delay="499"/>
                                          </p:stCondLst>
                                        </p:cTn>
                                        <p:tgtEl>
                                          <p:spTgt spid="160796"/>
                                        </p:tgtEl>
                                        <p:attrNameLst>
                                          <p:attrName>style.visibility</p:attrName>
                                        </p:attrNameLst>
                                      </p:cBhvr>
                                      <p:to>
                                        <p:strVal val="visible"/>
                                      </p:to>
                                    </p:set>
                                  </p:childTnLst>
                                </p:cTn>
                              </p:par>
                            </p:childTnLst>
                          </p:cTn>
                        </p:par>
                        <p:par>
                          <p:cTn id="87" fill="hold">
                            <p:stCondLst>
                              <p:cond delay="13500"/>
                            </p:stCondLst>
                            <p:childTnLst>
                              <p:par>
                                <p:cTn id="88" presetID="1" presetClass="entr" presetSubtype="0" fill="hold" grpId="0" nodeType="afterEffect">
                                  <p:stCondLst>
                                    <p:cond delay="0"/>
                                  </p:stCondLst>
                                  <p:childTnLst>
                                    <p:set>
                                      <p:cBhvr>
                                        <p:cTn id="89" dur="1" fill="hold">
                                          <p:stCondLst>
                                            <p:cond delay="499"/>
                                          </p:stCondLst>
                                        </p:cTn>
                                        <p:tgtEl>
                                          <p:spTgt spid="160801"/>
                                        </p:tgtEl>
                                        <p:attrNameLst>
                                          <p:attrName>style.visibility</p:attrName>
                                        </p:attrNameLst>
                                      </p:cBhvr>
                                      <p:to>
                                        <p:strVal val="visible"/>
                                      </p:to>
                                    </p:set>
                                  </p:childTnLst>
                                </p:cTn>
                              </p:par>
                            </p:childTnLst>
                          </p:cTn>
                        </p:par>
                        <p:par>
                          <p:cTn id="90" fill="hold">
                            <p:stCondLst>
                              <p:cond delay="14000"/>
                            </p:stCondLst>
                            <p:childTnLst>
                              <p:par>
                                <p:cTn id="91" presetID="1" presetClass="entr" presetSubtype="0" fill="hold" grpId="0" nodeType="afterEffect">
                                  <p:stCondLst>
                                    <p:cond delay="0"/>
                                  </p:stCondLst>
                                  <p:childTnLst>
                                    <p:set>
                                      <p:cBhvr>
                                        <p:cTn id="92" dur="1" fill="hold">
                                          <p:stCondLst>
                                            <p:cond delay="499"/>
                                          </p:stCondLst>
                                        </p:cTn>
                                        <p:tgtEl>
                                          <p:spTgt spid="160811"/>
                                        </p:tgtEl>
                                        <p:attrNameLst>
                                          <p:attrName>style.visibility</p:attrName>
                                        </p:attrNameLst>
                                      </p:cBhvr>
                                      <p:to>
                                        <p:strVal val="visible"/>
                                      </p:to>
                                    </p:set>
                                  </p:childTnLst>
                                </p:cTn>
                              </p:par>
                            </p:childTnLst>
                          </p:cTn>
                        </p:par>
                        <p:par>
                          <p:cTn id="93" fill="hold">
                            <p:stCondLst>
                              <p:cond delay="14500"/>
                            </p:stCondLst>
                            <p:childTnLst>
                              <p:par>
                                <p:cTn id="94" presetID="1" presetClass="entr" presetSubtype="0" fill="hold" grpId="0" nodeType="afterEffect">
                                  <p:stCondLst>
                                    <p:cond delay="0"/>
                                  </p:stCondLst>
                                  <p:childTnLst>
                                    <p:set>
                                      <p:cBhvr>
                                        <p:cTn id="95" dur="1" fill="hold">
                                          <p:stCondLst>
                                            <p:cond delay="499"/>
                                          </p:stCondLst>
                                        </p:cTn>
                                        <p:tgtEl>
                                          <p:spTgt spid="16079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160797"/>
                                        </p:tgtEl>
                                        <p:attrNameLst>
                                          <p:attrName>style.visibility</p:attrName>
                                        </p:attrNameLst>
                                      </p:cBhvr>
                                      <p:to>
                                        <p:strVal val="visible"/>
                                      </p:to>
                                    </p:set>
                                    <p:animEffect transition="in" filter="wipe(up)">
                                      <p:cBhvr>
                                        <p:cTn id="100" dur="500"/>
                                        <p:tgtEl>
                                          <p:spTgt spid="160797"/>
                                        </p:tgtEl>
                                      </p:cBhvr>
                                    </p:animEffect>
                                  </p:childTnLst>
                                </p:cTn>
                              </p:par>
                            </p:childTnLst>
                          </p:cTn>
                        </p:par>
                        <p:par>
                          <p:cTn id="101" fill="hold">
                            <p:stCondLst>
                              <p:cond delay="500"/>
                            </p:stCondLst>
                            <p:childTnLst>
                              <p:par>
                                <p:cTn id="102" presetID="22" presetClass="entr" presetSubtype="1" fill="hold" grpId="0" nodeType="afterEffect">
                                  <p:stCondLst>
                                    <p:cond delay="0"/>
                                  </p:stCondLst>
                                  <p:childTnLst>
                                    <p:set>
                                      <p:cBhvr>
                                        <p:cTn id="103" dur="1" fill="hold">
                                          <p:stCondLst>
                                            <p:cond delay="0"/>
                                          </p:stCondLst>
                                        </p:cTn>
                                        <p:tgtEl>
                                          <p:spTgt spid="160806"/>
                                        </p:tgtEl>
                                        <p:attrNameLst>
                                          <p:attrName>style.visibility</p:attrName>
                                        </p:attrNameLst>
                                      </p:cBhvr>
                                      <p:to>
                                        <p:strVal val="visible"/>
                                      </p:to>
                                    </p:set>
                                    <p:animEffect transition="in" filter="wipe(up)">
                                      <p:cBhvr>
                                        <p:cTn id="104" dur="500"/>
                                        <p:tgtEl>
                                          <p:spTgt spid="160806"/>
                                        </p:tgtEl>
                                      </p:cBhvr>
                                    </p:animEffect>
                                  </p:childTnLst>
                                </p:cTn>
                              </p:par>
                            </p:childTnLst>
                          </p:cTn>
                        </p:par>
                        <p:par>
                          <p:cTn id="105" fill="hold">
                            <p:stCondLst>
                              <p:cond delay="1000"/>
                            </p:stCondLst>
                            <p:childTnLst>
                              <p:par>
                                <p:cTn id="106" presetID="22" presetClass="entr" presetSubtype="8" fill="hold" grpId="0" nodeType="afterEffect">
                                  <p:stCondLst>
                                    <p:cond delay="0"/>
                                  </p:stCondLst>
                                  <p:childTnLst>
                                    <p:set>
                                      <p:cBhvr>
                                        <p:cTn id="107" dur="1" fill="hold">
                                          <p:stCondLst>
                                            <p:cond delay="0"/>
                                          </p:stCondLst>
                                        </p:cTn>
                                        <p:tgtEl>
                                          <p:spTgt spid="160804"/>
                                        </p:tgtEl>
                                        <p:attrNameLst>
                                          <p:attrName>style.visibility</p:attrName>
                                        </p:attrNameLst>
                                      </p:cBhvr>
                                      <p:to>
                                        <p:strVal val="visible"/>
                                      </p:to>
                                    </p:set>
                                    <p:animEffect transition="in" filter="wipe(left)">
                                      <p:cBhvr>
                                        <p:cTn id="108" dur="500"/>
                                        <p:tgtEl>
                                          <p:spTgt spid="160804"/>
                                        </p:tgtEl>
                                      </p:cBhvr>
                                    </p:animEffect>
                                  </p:childTnLst>
                                </p:cTn>
                              </p:par>
                            </p:childTnLst>
                          </p:cTn>
                        </p:par>
                        <p:par>
                          <p:cTn id="109" fill="hold">
                            <p:stCondLst>
                              <p:cond delay="1500"/>
                            </p:stCondLst>
                            <p:childTnLst>
                              <p:par>
                                <p:cTn id="110" presetID="22" presetClass="entr" presetSubtype="1" fill="hold" grpId="0" nodeType="afterEffect">
                                  <p:stCondLst>
                                    <p:cond delay="0"/>
                                  </p:stCondLst>
                                  <p:childTnLst>
                                    <p:set>
                                      <p:cBhvr>
                                        <p:cTn id="111" dur="1" fill="hold">
                                          <p:stCondLst>
                                            <p:cond delay="0"/>
                                          </p:stCondLst>
                                        </p:cTn>
                                        <p:tgtEl>
                                          <p:spTgt spid="160802"/>
                                        </p:tgtEl>
                                        <p:attrNameLst>
                                          <p:attrName>style.visibility</p:attrName>
                                        </p:attrNameLst>
                                      </p:cBhvr>
                                      <p:to>
                                        <p:strVal val="visible"/>
                                      </p:to>
                                    </p:set>
                                    <p:animEffect transition="in" filter="wipe(up)">
                                      <p:cBhvr>
                                        <p:cTn id="112" dur="500"/>
                                        <p:tgtEl>
                                          <p:spTgt spid="160802"/>
                                        </p:tgtEl>
                                      </p:cBhvr>
                                    </p:animEffect>
                                  </p:childTnLst>
                                </p:cTn>
                              </p:par>
                            </p:childTnLst>
                          </p:cTn>
                        </p:par>
                        <p:par>
                          <p:cTn id="113" fill="hold">
                            <p:stCondLst>
                              <p:cond delay="2000"/>
                            </p:stCondLst>
                            <p:childTnLst>
                              <p:par>
                                <p:cTn id="114" presetID="22" presetClass="entr" presetSubtype="1" fill="hold" grpId="0" nodeType="afterEffect">
                                  <p:stCondLst>
                                    <p:cond delay="0"/>
                                  </p:stCondLst>
                                  <p:childTnLst>
                                    <p:set>
                                      <p:cBhvr>
                                        <p:cTn id="115" dur="1" fill="hold">
                                          <p:stCondLst>
                                            <p:cond delay="0"/>
                                          </p:stCondLst>
                                        </p:cTn>
                                        <p:tgtEl>
                                          <p:spTgt spid="160799"/>
                                        </p:tgtEl>
                                        <p:attrNameLst>
                                          <p:attrName>style.visibility</p:attrName>
                                        </p:attrNameLst>
                                      </p:cBhvr>
                                      <p:to>
                                        <p:strVal val="visible"/>
                                      </p:to>
                                    </p:set>
                                    <p:animEffect transition="in" filter="wipe(up)">
                                      <p:cBhvr>
                                        <p:cTn id="116" dur="500"/>
                                        <p:tgtEl>
                                          <p:spTgt spid="160799"/>
                                        </p:tgtEl>
                                      </p:cBhvr>
                                    </p:animEffect>
                                  </p:childTnLst>
                                </p:cTn>
                              </p:par>
                            </p:childTnLst>
                          </p:cTn>
                        </p:par>
                        <p:par>
                          <p:cTn id="117" fill="hold">
                            <p:stCondLst>
                              <p:cond delay="2500"/>
                            </p:stCondLst>
                            <p:childTnLst>
                              <p:par>
                                <p:cTn id="118" presetID="22" presetClass="entr" presetSubtype="1" fill="hold" grpId="0" nodeType="afterEffect">
                                  <p:stCondLst>
                                    <p:cond delay="0"/>
                                  </p:stCondLst>
                                  <p:childTnLst>
                                    <p:set>
                                      <p:cBhvr>
                                        <p:cTn id="119" dur="1" fill="hold">
                                          <p:stCondLst>
                                            <p:cond delay="0"/>
                                          </p:stCondLst>
                                        </p:cTn>
                                        <p:tgtEl>
                                          <p:spTgt spid="160810"/>
                                        </p:tgtEl>
                                        <p:attrNameLst>
                                          <p:attrName>style.visibility</p:attrName>
                                        </p:attrNameLst>
                                      </p:cBhvr>
                                      <p:to>
                                        <p:strVal val="visible"/>
                                      </p:to>
                                    </p:set>
                                    <p:animEffect transition="in" filter="wipe(up)">
                                      <p:cBhvr>
                                        <p:cTn id="120" dur="500"/>
                                        <p:tgtEl>
                                          <p:spTgt spid="160810"/>
                                        </p:tgtEl>
                                      </p:cBhvr>
                                    </p:animEffect>
                                  </p:childTnLst>
                                </p:cTn>
                              </p:par>
                            </p:childTnLst>
                          </p:cTn>
                        </p:par>
                        <p:par>
                          <p:cTn id="121" fill="hold">
                            <p:stCondLst>
                              <p:cond delay="3000"/>
                            </p:stCondLst>
                            <p:childTnLst>
                              <p:par>
                                <p:cTn id="122" presetID="22" presetClass="entr" presetSubtype="1" fill="hold" grpId="0" nodeType="afterEffect">
                                  <p:stCondLst>
                                    <p:cond delay="0"/>
                                  </p:stCondLst>
                                  <p:childTnLst>
                                    <p:set>
                                      <p:cBhvr>
                                        <p:cTn id="123" dur="1" fill="hold">
                                          <p:stCondLst>
                                            <p:cond delay="0"/>
                                          </p:stCondLst>
                                        </p:cTn>
                                        <p:tgtEl>
                                          <p:spTgt spid="160808"/>
                                        </p:tgtEl>
                                        <p:attrNameLst>
                                          <p:attrName>style.visibility</p:attrName>
                                        </p:attrNameLst>
                                      </p:cBhvr>
                                      <p:to>
                                        <p:strVal val="visible"/>
                                      </p:to>
                                    </p:set>
                                    <p:animEffect transition="in" filter="wipe(up)">
                                      <p:cBhvr>
                                        <p:cTn id="124" dur="500"/>
                                        <p:tgtEl>
                                          <p:spTgt spid="160808"/>
                                        </p:tgtEl>
                                      </p:cBhvr>
                                    </p:animEffect>
                                  </p:childTnLst>
                                </p:cTn>
                              </p:par>
                            </p:childTnLst>
                          </p:cTn>
                        </p:par>
                      </p:childTnLst>
                    </p:cTn>
                  </p:par>
                  <p:par>
                    <p:cTn id="125" fill="hold">
                      <p:stCondLst>
                        <p:cond delay="indefinite"/>
                      </p:stCondLst>
                      <p:childTnLst>
                        <p:par>
                          <p:cTn id="126" fill="hold">
                            <p:stCondLst>
                              <p:cond delay="0"/>
                            </p:stCondLst>
                            <p:childTnLst>
                              <p:par>
                                <p:cTn id="127" presetID="17" presetClass="entr" presetSubtype="1" fill="hold" grpId="0" nodeType="clickEffect">
                                  <p:stCondLst>
                                    <p:cond delay="0"/>
                                  </p:stCondLst>
                                  <p:childTnLst>
                                    <p:set>
                                      <p:cBhvr>
                                        <p:cTn id="128" dur="1" fill="hold">
                                          <p:stCondLst>
                                            <p:cond delay="0"/>
                                          </p:stCondLst>
                                        </p:cTn>
                                        <p:tgtEl>
                                          <p:spTgt spid="160803"/>
                                        </p:tgtEl>
                                        <p:attrNameLst>
                                          <p:attrName>style.visibility</p:attrName>
                                        </p:attrNameLst>
                                      </p:cBhvr>
                                      <p:to>
                                        <p:strVal val="visible"/>
                                      </p:to>
                                    </p:set>
                                    <p:anim calcmode="lin" valueType="num">
                                      <p:cBhvr>
                                        <p:cTn id="129" dur="500" fill="hold"/>
                                        <p:tgtEl>
                                          <p:spTgt spid="160803"/>
                                        </p:tgtEl>
                                        <p:attrNameLst>
                                          <p:attrName>ppt_x</p:attrName>
                                        </p:attrNameLst>
                                      </p:cBhvr>
                                      <p:tavLst>
                                        <p:tav tm="0">
                                          <p:val>
                                            <p:strVal val="#ppt_x"/>
                                          </p:val>
                                        </p:tav>
                                        <p:tav tm="100000">
                                          <p:val>
                                            <p:strVal val="#ppt_x"/>
                                          </p:val>
                                        </p:tav>
                                      </p:tavLst>
                                    </p:anim>
                                    <p:anim calcmode="lin" valueType="num">
                                      <p:cBhvr>
                                        <p:cTn id="130" dur="500" fill="hold"/>
                                        <p:tgtEl>
                                          <p:spTgt spid="160803"/>
                                        </p:tgtEl>
                                        <p:attrNameLst>
                                          <p:attrName>ppt_y</p:attrName>
                                        </p:attrNameLst>
                                      </p:cBhvr>
                                      <p:tavLst>
                                        <p:tav tm="0">
                                          <p:val>
                                            <p:strVal val="#ppt_y-#ppt_h/2"/>
                                          </p:val>
                                        </p:tav>
                                        <p:tav tm="100000">
                                          <p:val>
                                            <p:strVal val="#ppt_y"/>
                                          </p:val>
                                        </p:tav>
                                      </p:tavLst>
                                    </p:anim>
                                    <p:anim calcmode="lin" valueType="num">
                                      <p:cBhvr>
                                        <p:cTn id="131" dur="500" fill="hold"/>
                                        <p:tgtEl>
                                          <p:spTgt spid="160803"/>
                                        </p:tgtEl>
                                        <p:attrNameLst>
                                          <p:attrName>ppt_w</p:attrName>
                                        </p:attrNameLst>
                                      </p:cBhvr>
                                      <p:tavLst>
                                        <p:tav tm="0">
                                          <p:val>
                                            <p:strVal val="#ppt_w"/>
                                          </p:val>
                                        </p:tav>
                                        <p:tav tm="100000">
                                          <p:val>
                                            <p:strVal val="#ppt_w"/>
                                          </p:val>
                                        </p:tav>
                                      </p:tavLst>
                                    </p:anim>
                                    <p:anim calcmode="lin" valueType="num">
                                      <p:cBhvr>
                                        <p:cTn id="132" dur="500" fill="hold"/>
                                        <p:tgtEl>
                                          <p:spTgt spid="160803"/>
                                        </p:tgtEl>
                                        <p:attrNameLst>
                                          <p:attrName>ppt_h</p:attrName>
                                        </p:attrNameLst>
                                      </p:cBhvr>
                                      <p:tavLst>
                                        <p:tav tm="0">
                                          <p:val>
                                            <p:fltVal val="0"/>
                                          </p:val>
                                        </p:tav>
                                        <p:tav tm="100000">
                                          <p:val>
                                            <p:strVal val="#ppt_h"/>
                                          </p:val>
                                        </p:tav>
                                      </p:tavLst>
                                    </p:anim>
                                  </p:childTnLst>
                                </p:cTn>
                              </p:par>
                            </p:childTnLst>
                          </p:cTn>
                        </p:par>
                        <p:par>
                          <p:cTn id="133" fill="hold">
                            <p:stCondLst>
                              <p:cond delay="500"/>
                            </p:stCondLst>
                            <p:childTnLst>
                              <p:par>
                                <p:cTn id="134" presetID="12" presetClass="entr" presetSubtype="1" fill="hold" grpId="0" nodeType="afterEffect">
                                  <p:stCondLst>
                                    <p:cond delay="0"/>
                                  </p:stCondLst>
                                  <p:childTnLst>
                                    <p:set>
                                      <p:cBhvr>
                                        <p:cTn id="135" dur="1" fill="hold">
                                          <p:stCondLst>
                                            <p:cond delay="0"/>
                                          </p:stCondLst>
                                        </p:cTn>
                                        <p:tgtEl>
                                          <p:spTgt spid="160815"/>
                                        </p:tgtEl>
                                        <p:attrNameLst>
                                          <p:attrName>style.visibility</p:attrName>
                                        </p:attrNameLst>
                                      </p:cBhvr>
                                      <p:to>
                                        <p:strVal val="visible"/>
                                      </p:to>
                                    </p:set>
                                    <p:animEffect transition="in" filter="slide(fromTop)">
                                      <p:cBhvr>
                                        <p:cTn id="136" dur="500"/>
                                        <p:tgtEl>
                                          <p:spTgt spid="160815"/>
                                        </p:tgtEl>
                                      </p:cBhvr>
                                    </p:animEffect>
                                  </p:childTnLst>
                                </p:cTn>
                              </p:par>
                            </p:childTnLst>
                          </p:cTn>
                        </p:par>
                      </p:childTnLst>
                    </p:cTn>
                  </p:par>
                  <p:par>
                    <p:cTn id="137" fill="hold">
                      <p:stCondLst>
                        <p:cond delay="indefinite"/>
                      </p:stCondLst>
                      <p:childTnLst>
                        <p:par>
                          <p:cTn id="138" fill="hold">
                            <p:stCondLst>
                              <p:cond delay="0"/>
                            </p:stCondLst>
                            <p:childTnLst>
                              <p:par>
                                <p:cTn id="139" presetID="17" presetClass="entr" presetSubtype="1" fill="hold" grpId="0" nodeType="clickEffect">
                                  <p:stCondLst>
                                    <p:cond delay="0"/>
                                  </p:stCondLst>
                                  <p:childTnLst>
                                    <p:set>
                                      <p:cBhvr>
                                        <p:cTn id="140" dur="1" fill="hold">
                                          <p:stCondLst>
                                            <p:cond delay="0"/>
                                          </p:stCondLst>
                                        </p:cTn>
                                        <p:tgtEl>
                                          <p:spTgt spid="160805"/>
                                        </p:tgtEl>
                                        <p:attrNameLst>
                                          <p:attrName>style.visibility</p:attrName>
                                        </p:attrNameLst>
                                      </p:cBhvr>
                                      <p:to>
                                        <p:strVal val="visible"/>
                                      </p:to>
                                    </p:set>
                                    <p:anim calcmode="lin" valueType="num">
                                      <p:cBhvr>
                                        <p:cTn id="141" dur="500" fill="hold"/>
                                        <p:tgtEl>
                                          <p:spTgt spid="160805"/>
                                        </p:tgtEl>
                                        <p:attrNameLst>
                                          <p:attrName>ppt_x</p:attrName>
                                        </p:attrNameLst>
                                      </p:cBhvr>
                                      <p:tavLst>
                                        <p:tav tm="0">
                                          <p:val>
                                            <p:strVal val="#ppt_x"/>
                                          </p:val>
                                        </p:tav>
                                        <p:tav tm="100000">
                                          <p:val>
                                            <p:strVal val="#ppt_x"/>
                                          </p:val>
                                        </p:tav>
                                      </p:tavLst>
                                    </p:anim>
                                    <p:anim calcmode="lin" valueType="num">
                                      <p:cBhvr>
                                        <p:cTn id="142" dur="500" fill="hold"/>
                                        <p:tgtEl>
                                          <p:spTgt spid="160805"/>
                                        </p:tgtEl>
                                        <p:attrNameLst>
                                          <p:attrName>ppt_y</p:attrName>
                                        </p:attrNameLst>
                                      </p:cBhvr>
                                      <p:tavLst>
                                        <p:tav tm="0">
                                          <p:val>
                                            <p:strVal val="#ppt_y-#ppt_h/2"/>
                                          </p:val>
                                        </p:tav>
                                        <p:tav tm="100000">
                                          <p:val>
                                            <p:strVal val="#ppt_y"/>
                                          </p:val>
                                        </p:tav>
                                      </p:tavLst>
                                    </p:anim>
                                    <p:anim calcmode="lin" valueType="num">
                                      <p:cBhvr>
                                        <p:cTn id="143" dur="500" fill="hold"/>
                                        <p:tgtEl>
                                          <p:spTgt spid="160805"/>
                                        </p:tgtEl>
                                        <p:attrNameLst>
                                          <p:attrName>ppt_w</p:attrName>
                                        </p:attrNameLst>
                                      </p:cBhvr>
                                      <p:tavLst>
                                        <p:tav tm="0">
                                          <p:val>
                                            <p:strVal val="#ppt_w"/>
                                          </p:val>
                                        </p:tav>
                                        <p:tav tm="100000">
                                          <p:val>
                                            <p:strVal val="#ppt_w"/>
                                          </p:val>
                                        </p:tav>
                                      </p:tavLst>
                                    </p:anim>
                                    <p:anim calcmode="lin" valueType="num">
                                      <p:cBhvr>
                                        <p:cTn id="144" dur="500" fill="hold"/>
                                        <p:tgtEl>
                                          <p:spTgt spid="160805"/>
                                        </p:tgtEl>
                                        <p:attrNameLst>
                                          <p:attrName>ppt_h</p:attrName>
                                        </p:attrNameLst>
                                      </p:cBhvr>
                                      <p:tavLst>
                                        <p:tav tm="0">
                                          <p:val>
                                            <p:fltVal val="0"/>
                                          </p:val>
                                        </p:tav>
                                        <p:tav tm="100000">
                                          <p:val>
                                            <p:strVal val="#ppt_h"/>
                                          </p:val>
                                        </p:tav>
                                      </p:tavLst>
                                    </p:anim>
                                  </p:childTnLst>
                                </p:cTn>
                              </p:par>
                            </p:childTnLst>
                          </p:cTn>
                        </p:par>
                        <p:par>
                          <p:cTn id="145" fill="hold">
                            <p:stCondLst>
                              <p:cond delay="500"/>
                            </p:stCondLst>
                            <p:childTnLst>
                              <p:par>
                                <p:cTn id="146" presetID="12" presetClass="entr" presetSubtype="1" fill="hold" grpId="0" nodeType="afterEffect">
                                  <p:stCondLst>
                                    <p:cond delay="0"/>
                                  </p:stCondLst>
                                  <p:childTnLst>
                                    <p:set>
                                      <p:cBhvr>
                                        <p:cTn id="147" dur="1" fill="hold">
                                          <p:stCondLst>
                                            <p:cond delay="0"/>
                                          </p:stCondLst>
                                        </p:cTn>
                                        <p:tgtEl>
                                          <p:spTgt spid="160814"/>
                                        </p:tgtEl>
                                        <p:attrNameLst>
                                          <p:attrName>style.visibility</p:attrName>
                                        </p:attrNameLst>
                                      </p:cBhvr>
                                      <p:to>
                                        <p:strVal val="visible"/>
                                      </p:to>
                                    </p:set>
                                    <p:animEffect transition="in" filter="slide(fromTop)">
                                      <p:cBhvr>
                                        <p:cTn id="148" dur="500"/>
                                        <p:tgtEl>
                                          <p:spTgt spid="160814"/>
                                        </p:tgtEl>
                                      </p:cBhvr>
                                    </p:animEffect>
                                  </p:childTnLst>
                                </p:cTn>
                              </p:par>
                            </p:childTnLst>
                          </p:cTn>
                        </p:par>
                      </p:childTnLst>
                    </p:cTn>
                  </p:par>
                  <p:par>
                    <p:cTn id="149" fill="hold">
                      <p:stCondLst>
                        <p:cond delay="indefinite"/>
                      </p:stCondLst>
                      <p:childTnLst>
                        <p:par>
                          <p:cTn id="150" fill="hold">
                            <p:stCondLst>
                              <p:cond delay="0"/>
                            </p:stCondLst>
                            <p:childTnLst>
                              <p:par>
                                <p:cTn id="151" presetID="17" presetClass="entr" presetSubtype="1" fill="hold" grpId="0" nodeType="clickEffect">
                                  <p:stCondLst>
                                    <p:cond delay="0"/>
                                  </p:stCondLst>
                                  <p:childTnLst>
                                    <p:set>
                                      <p:cBhvr>
                                        <p:cTn id="152" dur="1" fill="hold">
                                          <p:stCondLst>
                                            <p:cond delay="0"/>
                                          </p:stCondLst>
                                        </p:cTn>
                                        <p:tgtEl>
                                          <p:spTgt spid="160819"/>
                                        </p:tgtEl>
                                        <p:attrNameLst>
                                          <p:attrName>style.visibility</p:attrName>
                                        </p:attrNameLst>
                                      </p:cBhvr>
                                      <p:to>
                                        <p:strVal val="visible"/>
                                      </p:to>
                                    </p:set>
                                    <p:anim calcmode="lin" valueType="num">
                                      <p:cBhvr>
                                        <p:cTn id="153" dur="500" fill="hold"/>
                                        <p:tgtEl>
                                          <p:spTgt spid="160819"/>
                                        </p:tgtEl>
                                        <p:attrNameLst>
                                          <p:attrName>ppt_x</p:attrName>
                                        </p:attrNameLst>
                                      </p:cBhvr>
                                      <p:tavLst>
                                        <p:tav tm="0">
                                          <p:val>
                                            <p:strVal val="#ppt_x"/>
                                          </p:val>
                                        </p:tav>
                                        <p:tav tm="100000">
                                          <p:val>
                                            <p:strVal val="#ppt_x"/>
                                          </p:val>
                                        </p:tav>
                                      </p:tavLst>
                                    </p:anim>
                                    <p:anim calcmode="lin" valueType="num">
                                      <p:cBhvr>
                                        <p:cTn id="154" dur="500" fill="hold"/>
                                        <p:tgtEl>
                                          <p:spTgt spid="160819"/>
                                        </p:tgtEl>
                                        <p:attrNameLst>
                                          <p:attrName>ppt_y</p:attrName>
                                        </p:attrNameLst>
                                      </p:cBhvr>
                                      <p:tavLst>
                                        <p:tav tm="0">
                                          <p:val>
                                            <p:strVal val="#ppt_y-#ppt_h/2"/>
                                          </p:val>
                                        </p:tav>
                                        <p:tav tm="100000">
                                          <p:val>
                                            <p:strVal val="#ppt_y"/>
                                          </p:val>
                                        </p:tav>
                                      </p:tavLst>
                                    </p:anim>
                                    <p:anim calcmode="lin" valueType="num">
                                      <p:cBhvr>
                                        <p:cTn id="155" dur="500" fill="hold"/>
                                        <p:tgtEl>
                                          <p:spTgt spid="160819"/>
                                        </p:tgtEl>
                                        <p:attrNameLst>
                                          <p:attrName>ppt_w</p:attrName>
                                        </p:attrNameLst>
                                      </p:cBhvr>
                                      <p:tavLst>
                                        <p:tav tm="0">
                                          <p:val>
                                            <p:strVal val="#ppt_w"/>
                                          </p:val>
                                        </p:tav>
                                        <p:tav tm="100000">
                                          <p:val>
                                            <p:strVal val="#ppt_w"/>
                                          </p:val>
                                        </p:tav>
                                      </p:tavLst>
                                    </p:anim>
                                    <p:anim calcmode="lin" valueType="num">
                                      <p:cBhvr>
                                        <p:cTn id="156" dur="500" fill="hold"/>
                                        <p:tgtEl>
                                          <p:spTgt spid="160819"/>
                                        </p:tgtEl>
                                        <p:attrNameLst>
                                          <p:attrName>ppt_h</p:attrName>
                                        </p:attrNameLst>
                                      </p:cBhvr>
                                      <p:tavLst>
                                        <p:tav tm="0">
                                          <p:val>
                                            <p:fltVal val="0"/>
                                          </p:val>
                                        </p:tav>
                                        <p:tav tm="100000">
                                          <p:val>
                                            <p:strVal val="#ppt_h"/>
                                          </p:val>
                                        </p:tav>
                                      </p:tavLst>
                                    </p:anim>
                                  </p:childTnLst>
                                </p:cTn>
                              </p:par>
                            </p:childTnLst>
                          </p:cTn>
                        </p:par>
                        <p:par>
                          <p:cTn id="157" fill="hold">
                            <p:stCondLst>
                              <p:cond delay="500"/>
                            </p:stCondLst>
                            <p:childTnLst>
                              <p:par>
                                <p:cTn id="158" presetID="4" presetClass="entr" presetSubtype="32" fill="hold" grpId="0" nodeType="afterEffect">
                                  <p:stCondLst>
                                    <p:cond delay="0"/>
                                  </p:stCondLst>
                                  <p:childTnLst>
                                    <p:set>
                                      <p:cBhvr>
                                        <p:cTn id="159" dur="1" fill="hold">
                                          <p:stCondLst>
                                            <p:cond delay="0"/>
                                          </p:stCondLst>
                                        </p:cTn>
                                        <p:tgtEl>
                                          <p:spTgt spid="160823"/>
                                        </p:tgtEl>
                                        <p:attrNameLst>
                                          <p:attrName>style.visibility</p:attrName>
                                        </p:attrNameLst>
                                      </p:cBhvr>
                                      <p:to>
                                        <p:strVal val="visible"/>
                                      </p:to>
                                    </p:set>
                                    <p:animEffect transition="in" filter="box(out)">
                                      <p:cBhvr>
                                        <p:cTn id="160" dur="500"/>
                                        <p:tgtEl>
                                          <p:spTgt spid="160823"/>
                                        </p:tgtEl>
                                      </p:cBhvr>
                                    </p:animEffect>
                                  </p:childTnLst>
                                </p:cTn>
                              </p:par>
                            </p:childTnLst>
                          </p:cTn>
                        </p:par>
                      </p:childTnLst>
                    </p:cTn>
                  </p:par>
                  <p:par>
                    <p:cTn id="161" fill="hold">
                      <p:stCondLst>
                        <p:cond delay="indefinite"/>
                      </p:stCondLst>
                      <p:childTnLst>
                        <p:par>
                          <p:cTn id="162" fill="hold">
                            <p:stCondLst>
                              <p:cond delay="0"/>
                            </p:stCondLst>
                            <p:childTnLst>
                              <p:par>
                                <p:cTn id="163" presetID="17" presetClass="entr" presetSubtype="1" fill="hold" grpId="0" nodeType="clickEffect">
                                  <p:stCondLst>
                                    <p:cond delay="0"/>
                                  </p:stCondLst>
                                  <p:childTnLst>
                                    <p:set>
                                      <p:cBhvr>
                                        <p:cTn id="164" dur="1" fill="hold">
                                          <p:stCondLst>
                                            <p:cond delay="0"/>
                                          </p:stCondLst>
                                        </p:cTn>
                                        <p:tgtEl>
                                          <p:spTgt spid="160800"/>
                                        </p:tgtEl>
                                        <p:attrNameLst>
                                          <p:attrName>style.visibility</p:attrName>
                                        </p:attrNameLst>
                                      </p:cBhvr>
                                      <p:to>
                                        <p:strVal val="visible"/>
                                      </p:to>
                                    </p:set>
                                    <p:anim calcmode="lin" valueType="num">
                                      <p:cBhvr>
                                        <p:cTn id="165" dur="500" fill="hold"/>
                                        <p:tgtEl>
                                          <p:spTgt spid="160800"/>
                                        </p:tgtEl>
                                        <p:attrNameLst>
                                          <p:attrName>ppt_x</p:attrName>
                                        </p:attrNameLst>
                                      </p:cBhvr>
                                      <p:tavLst>
                                        <p:tav tm="0">
                                          <p:val>
                                            <p:strVal val="#ppt_x"/>
                                          </p:val>
                                        </p:tav>
                                        <p:tav tm="100000">
                                          <p:val>
                                            <p:strVal val="#ppt_x"/>
                                          </p:val>
                                        </p:tav>
                                      </p:tavLst>
                                    </p:anim>
                                    <p:anim calcmode="lin" valueType="num">
                                      <p:cBhvr>
                                        <p:cTn id="166" dur="500" fill="hold"/>
                                        <p:tgtEl>
                                          <p:spTgt spid="160800"/>
                                        </p:tgtEl>
                                        <p:attrNameLst>
                                          <p:attrName>ppt_y</p:attrName>
                                        </p:attrNameLst>
                                      </p:cBhvr>
                                      <p:tavLst>
                                        <p:tav tm="0">
                                          <p:val>
                                            <p:strVal val="#ppt_y-#ppt_h/2"/>
                                          </p:val>
                                        </p:tav>
                                        <p:tav tm="100000">
                                          <p:val>
                                            <p:strVal val="#ppt_y"/>
                                          </p:val>
                                        </p:tav>
                                      </p:tavLst>
                                    </p:anim>
                                    <p:anim calcmode="lin" valueType="num">
                                      <p:cBhvr>
                                        <p:cTn id="167" dur="500" fill="hold"/>
                                        <p:tgtEl>
                                          <p:spTgt spid="160800"/>
                                        </p:tgtEl>
                                        <p:attrNameLst>
                                          <p:attrName>ppt_w</p:attrName>
                                        </p:attrNameLst>
                                      </p:cBhvr>
                                      <p:tavLst>
                                        <p:tav tm="0">
                                          <p:val>
                                            <p:strVal val="#ppt_w"/>
                                          </p:val>
                                        </p:tav>
                                        <p:tav tm="100000">
                                          <p:val>
                                            <p:strVal val="#ppt_w"/>
                                          </p:val>
                                        </p:tav>
                                      </p:tavLst>
                                    </p:anim>
                                    <p:anim calcmode="lin" valueType="num">
                                      <p:cBhvr>
                                        <p:cTn id="168" dur="500" fill="hold"/>
                                        <p:tgtEl>
                                          <p:spTgt spid="160800"/>
                                        </p:tgtEl>
                                        <p:attrNameLst>
                                          <p:attrName>ppt_h</p:attrName>
                                        </p:attrNameLst>
                                      </p:cBhvr>
                                      <p:tavLst>
                                        <p:tav tm="0">
                                          <p:val>
                                            <p:fltVal val="0"/>
                                          </p:val>
                                        </p:tav>
                                        <p:tav tm="100000">
                                          <p:val>
                                            <p:strVal val="#ppt_h"/>
                                          </p:val>
                                        </p:tav>
                                      </p:tavLst>
                                    </p:anim>
                                  </p:childTnLst>
                                </p:cTn>
                              </p:par>
                            </p:childTnLst>
                          </p:cTn>
                        </p:par>
                        <p:par>
                          <p:cTn id="169" fill="hold">
                            <p:stCondLst>
                              <p:cond delay="500"/>
                            </p:stCondLst>
                            <p:childTnLst>
                              <p:par>
                                <p:cTn id="170" presetID="12" presetClass="entr" presetSubtype="1" fill="hold" grpId="0" nodeType="afterEffect">
                                  <p:stCondLst>
                                    <p:cond delay="0"/>
                                  </p:stCondLst>
                                  <p:childTnLst>
                                    <p:set>
                                      <p:cBhvr>
                                        <p:cTn id="171" dur="1" fill="hold">
                                          <p:stCondLst>
                                            <p:cond delay="0"/>
                                          </p:stCondLst>
                                        </p:cTn>
                                        <p:tgtEl>
                                          <p:spTgt spid="160813"/>
                                        </p:tgtEl>
                                        <p:attrNameLst>
                                          <p:attrName>style.visibility</p:attrName>
                                        </p:attrNameLst>
                                      </p:cBhvr>
                                      <p:to>
                                        <p:strVal val="visible"/>
                                      </p:to>
                                    </p:set>
                                    <p:animEffect transition="in" filter="slide(fromTop)">
                                      <p:cBhvr>
                                        <p:cTn id="172" dur="500"/>
                                        <p:tgtEl>
                                          <p:spTgt spid="160813"/>
                                        </p:tgtEl>
                                      </p:cBhvr>
                                    </p:animEffect>
                                  </p:childTnLst>
                                </p:cTn>
                              </p:par>
                            </p:childTnLst>
                          </p:cTn>
                        </p:par>
                      </p:childTnLst>
                    </p:cTn>
                  </p:par>
                  <p:par>
                    <p:cTn id="173" fill="hold">
                      <p:stCondLst>
                        <p:cond delay="indefinite"/>
                      </p:stCondLst>
                      <p:childTnLst>
                        <p:par>
                          <p:cTn id="174" fill="hold">
                            <p:stCondLst>
                              <p:cond delay="0"/>
                            </p:stCondLst>
                            <p:childTnLst>
                              <p:par>
                                <p:cTn id="175" presetID="17" presetClass="entr" presetSubtype="1" fill="hold" grpId="0" nodeType="clickEffect">
                                  <p:stCondLst>
                                    <p:cond delay="0"/>
                                  </p:stCondLst>
                                  <p:childTnLst>
                                    <p:set>
                                      <p:cBhvr>
                                        <p:cTn id="176" dur="1" fill="hold">
                                          <p:stCondLst>
                                            <p:cond delay="0"/>
                                          </p:stCondLst>
                                        </p:cTn>
                                        <p:tgtEl>
                                          <p:spTgt spid="160820"/>
                                        </p:tgtEl>
                                        <p:attrNameLst>
                                          <p:attrName>style.visibility</p:attrName>
                                        </p:attrNameLst>
                                      </p:cBhvr>
                                      <p:to>
                                        <p:strVal val="visible"/>
                                      </p:to>
                                    </p:set>
                                    <p:anim calcmode="lin" valueType="num">
                                      <p:cBhvr>
                                        <p:cTn id="177" dur="500" fill="hold"/>
                                        <p:tgtEl>
                                          <p:spTgt spid="160820"/>
                                        </p:tgtEl>
                                        <p:attrNameLst>
                                          <p:attrName>ppt_x</p:attrName>
                                        </p:attrNameLst>
                                      </p:cBhvr>
                                      <p:tavLst>
                                        <p:tav tm="0">
                                          <p:val>
                                            <p:strVal val="#ppt_x"/>
                                          </p:val>
                                        </p:tav>
                                        <p:tav tm="100000">
                                          <p:val>
                                            <p:strVal val="#ppt_x"/>
                                          </p:val>
                                        </p:tav>
                                      </p:tavLst>
                                    </p:anim>
                                    <p:anim calcmode="lin" valueType="num">
                                      <p:cBhvr>
                                        <p:cTn id="178" dur="500" fill="hold"/>
                                        <p:tgtEl>
                                          <p:spTgt spid="160820"/>
                                        </p:tgtEl>
                                        <p:attrNameLst>
                                          <p:attrName>ppt_y</p:attrName>
                                        </p:attrNameLst>
                                      </p:cBhvr>
                                      <p:tavLst>
                                        <p:tav tm="0">
                                          <p:val>
                                            <p:strVal val="#ppt_y-#ppt_h/2"/>
                                          </p:val>
                                        </p:tav>
                                        <p:tav tm="100000">
                                          <p:val>
                                            <p:strVal val="#ppt_y"/>
                                          </p:val>
                                        </p:tav>
                                      </p:tavLst>
                                    </p:anim>
                                    <p:anim calcmode="lin" valueType="num">
                                      <p:cBhvr>
                                        <p:cTn id="179" dur="500" fill="hold"/>
                                        <p:tgtEl>
                                          <p:spTgt spid="160820"/>
                                        </p:tgtEl>
                                        <p:attrNameLst>
                                          <p:attrName>ppt_w</p:attrName>
                                        </p:attrNameLst>
                                      </p:cBhvr>
                                      <p:tavLst>
                                        <p:tav tm="0">
                                          <p:val>
                                            <p:strVal val="#ppt_w"/>
                                          </p:val>
                                        </p:tav>
                                        <p:tav tm="100000">
                                          <p:val>
                                            <p:strVal val="#ppt_w"/>
                                          </p:val>
                                        </p:tav>
                                      </p:tavLst>
                                    </p:anim>
                                    <p:anim calcmode="lin" valueType="num">
                                      <p:cBhvr>
                                        <p:cTn id="180" dur="500" fill="hold"/>
                                        <p:tgtEl>
                                          <p:spTgt spid="160820"/>
                                        </p:tgtEl>
                                        <p:attrNameLst>
                                          <p:attrName>ppt_h</p:attrName>
                                        </p:attrNameLst>
                                      </p:cBhvr>
                                      <p:tavLst>
                                        <p:tav tm="0">
                                          <p:val>
                                            <p:fltVal val="0"/>
                                          </p:val>
                                        </p:tav>
                                        <p:tav tm="100000">
                                          <p:val>
                                            <p:strVal val="#ppt_h"/>
                                          </p:val>
                                        </p:tav>
                                      </p:tavLst>
                                    </p:anim>
                                  </p:childTnLst>
                                </p:cTn>
                              </p:par>
                            </p:childTnLst>
                          </p:cTn>
                        </p:par>
                        <p:par>
                          <p:cTn id="181" fill="hold">
                            <p:stCondLst>
                              <p:cond delay="500"/>
                            </p:stCondLst>
                            <p:childTnLst>
                              <p:par>
                                <p:cTn id="182" presetID="4" presetClass="entr" presetSubtype="32" fill="hold" grpId="0" nodeType="afterEffect">
                                  <p:stCondLst>
                                    <p:cond delay="0"/>
                                  </p:stCondLst>
                                  <p:childTnLst>
                                    <p:set>
                                      <p:cBhvr>
                                        <p:cTn id="183" dur="1" fill="hold">
                                          <p:stCondLst>
                                            <p:cond delay="0"/>
                                          </p:stCondLst>
                                        </p:cTn>
                                        <p:tgtEl>
                                          <p:spTgt spid="160824"/>
                                        </p:tgtEl>
                                        <p:attrNameLst>
                                          <p:attrName>style.visibility</p:attrName>
                                        </p:attrNameLst>
                                      </p:cBhvr>
                                      <p:to>
                                        <p:strVal val="visible"/>
                                      </p:to>
                                    </p:set>
                                    <p:animEffect transition="in" filter="box(out)">
                                      <p:cBhvr>
                                        <p:cTn id="184" dur="500"/>
                                        <p:tgtEl>
                                          <p:spTgt spid="160824"/>
                                        </p:tgtEl>
                                      </p:cBhvr>
                                    </p:animEffect>
                                  </p:childTnLst>
                                </p:cTn>
                              </p:par>
                            </p:childTnLst>
                          </p:cTn>
                        </p:par>
                      </p:childTnLst>
                    </p:cTn>
                  </p:par>
                  <p:par>
                    <p:cTn id="185" fill="hold">
                      <p:stCondLst>
                        <p:cond delay="indefinite"/>
                      </p:stCondLst>
                      <p:childTnLst>
                        <p:par>
                          <p:cTn id="186" fill="hold">
                            <p:stCondLst>
                              <p:cond delay="0"/>
                            </p:stCondLst>
                            <p:childTnLst>
                              <p:par>
                                <p:cTn id="187" presetID="17" presetClass="entr" presetSubtype="1" fill="hold" grpId="0" nodeType="clickEffect">
                                  <p:stCondLst>
                                    <p:cond delay="0"/>
                                  </p:stCondLst>
                                  <p:childTnLst>
                                    <p:set>
                                      <p:cBhvr>
                                        <p:cTn id="188" dur="1" fill="hold">
                                          <p:stCondLst>
                                            <p:cond delay="0"/>
                                          </p:stCondLst>
                                        </p:cTn>
                                        <p:tgtEl>
                                          <p:spTgt spid="160798"/>
                                        </p:tgtEl>
                                        <p:attrNameLst>
                                          <p:attrName>style.visibility</p:attrName>
                                        </p:attrNameLst>
                                      </p:cBhvr>
                                      <p:to>
                                        <p:strVal val="visible"/>
                                      </p:to>
                                    </p:set>
                                    <p:anim calcmode="lin" valueType="num">
                                      <p:cBhvr>
                                        <p:cTn id="189" dur="500" fill="hold"/>
                                        <p:tgtEl>
                                          <p:spTgt spid="160798"/>
                                        </p:tgtEl>
                                        <p:attrNameLst>
                                          <p:attrName>ppt_x</p:attrName>
                                        </p:attrNameLst>
                                      </p:cBhvr>
                                      <p:tavLst>
                                        <p:tav tm="0">
                                          <p:val>
                                            <p:strVal val="#ppt_x"/>
                                          </p:val>
                                        </p:tav>
                                        <p:tav tm="100000">
                                          <p:val>
                                            <p:strVal val="#ppt_x"/>
                                          </p:val>
                                        </p:tav>
                                      </p:tavLst>
                                    </p:anim>
                                    <p:anim calcmode="lin" valueType="num">
                                      <p:cBhvr>
                                        <p:cTn id="190" dur="500" fill="hold"/>
                                        <p:tgtEl>
                                          <p:spTgt spid="160798"/>
                                        </p:tgtEl>
                                        <p:attrNameLst>
                                          <p:attrName>ppt_y</p:attrName>
                                        </p:attrNameLst>
                                      </p:cBhvr>
                                      <p:tavLst>
                                        <p:tav tm="0">
                                          <p:val>
                                            <p:strVal val="#ppt_y-#ppt_h/2"/>
                                          </p:val>
                                        </p:tav>
                                        <p:tav tm="100000">
                                          <p:val>
                                            <p:strVal val="#ppt_y"/>
                                          </p:val>
                                        </p:tav>
                                      </p:tavLst>
                                    </p:anim>
                                    <p:anim calcmode="lin" valueType="num">
                                      <p:cBhvr>
                                        <p:cTn id="191" dur="500" fill="hold"/>
                                        <p:tgtEl>
                                          <p:spTgt spid="160798"/>
                                        </p:tgtEl>
                                        <p:attrNameLst>
                                          <p:attrName>ppt_w</p:attrName>
                                        </p:attrNameLst>
                                      </p:cBhvr>
                                      <p:tavLst>
                                        <p:tav tm="0">
                                          <p:val>
                                            <p:strVal val="#ppt_w"/>
                                          </p:val>
                                        </p:tav>
                                        <p:tav tm="100000">
                                          <p:val>
                                            <p:strVal val="#ppt_w"/>
                                          </p:val>
                                        </p:tav>
                                      </p:tavLst>
                                    </p:anim>
                                    <p:anim calcmode="lin" valueType="num">
                                      <p:cBhvr>
                                        <p:cTn id="192" dur="500" fill="hold"/>
                                        <p:tgtEl>
                                          <p:spTgt spid="160798"/>
                                        </p:tgtEl>
                                        <p:attrNameLst>
                                          <p:attrName>ppt_h</p:attrName>
                                        </p:attrNameLst>
                                      </p:cBhvr>
                                      <p:tavLst>
                                        <p:tav tm="0">
                                          <p:val>
                                            <p:fltVal val="0"/>
                                          </p:val>
                                        </p:tav>
                                        <p:tav tm="100000">
                                          <p:val>
                                            <p:strVal val="#ppt_h"/>
                                          </p:val>
                                        </p:tav>
                                      </p:tavLst>
                                    </p:anim>
                                  </p:childTnLst>
                                </p:cTn>
                              </p:par>
                            </p:childTnLst>
                          </p:cTn>
                        </p:par>
                        <p:par>
                          <p:cTn id="193" fill="hold">
                            <p:stCondLst>
                              <p:cond delay="500"/>
                            </p:stCondLst>
                            <p:childTnLst>
                              <p:par>
                                <p:cTn id="194" presetID="12" presetClass="entr" presetSubtype="1" fill="hold" grpId="0" nodeType="afterEffect">
                                  <p:stCondLst>
                                    <p:cond delay="0"/>
                                  </p:stCondLst>
                                  <p:childTnLst>
                                    <p:set>
                                      <p:cBhvr>
                                        <p:cTn id="195" dur="1" fill="hold">
                                          <p:stCondLst>
                                            <p:cond delay="0"/>
                                          </p:stCondLst>
                                        </p:cTn>
                                        <p:tgtEl>
                                          <p:spTgt spid="160812"/>
                                        </p:tgtEl>
                                        <p:attrNameLst>
                                          <p:attrName>style.visibility</p:attrName>
                                        </p:attrNameLst>
                                      </p:cBhvr>
                                      <p:to>
                                        <p:strVal val="visible"/>
                                      </p:to>
                                    </p:set>
                                    <p:animEffect transition="in" filter="slide(fromTop)">
                                      <p:cBhvr>
                                        <p:cTn id="196" dur="500"/>
                                        <p:tgtEl>
                                          <p:spTgt spid="160812"/>
                                        </p:tgtEl>
                                      </p:cBhvr>
                                    </p:animEffect>
                                  </p:childTnLst>
                                </p:cTn>
                              </p:par>
                            </p:childTnLst>
                          </p:cTn>
                        </p:par>
                      </p:childTnLst>
                    </p:cTn>
                  </p:par>
                  <p:par>
                    <p:cTn id="197" fill="hold">
                      <p:stCondLst>
                        <p:cond delay="indefinite"/>
                      </p:stCondLst>
                      <p:childTnLst>
                        <p:par>
                          <p:cTn id="198" fill="hold">
                            <p:stCondLst>
                              <p:cond delay="0"/>
                            </p:stCondLst>
                            <p:childTnLst>
                              <p:par>
                                <p:cTn id="199" presetID="17" presetClass="entr" presetSubtype="1" fill="hold" grpId="0" nodeType="clickEffect">
                                  <p:stCondLst>
                                    <p:cond delay="0"/>
                                  </p:stCondLst>
                                  <p:childTnLst>
                                    <p:set>
                                      <p:cBhvr>
                                        <p:cTn id="200" dur="1" fill="hold">
                                          <p:stCondLst>
                                            <p:cond delay="0"/>
                                          </p:stCondLst>
                                        </p:cTn>
                                        <p:tgtEl>
                                          <p:spTgt spid="160807"/>
                                        </p:tgtEl>
                                        <p:attrNameLst>
                                          <p:attrName>style.visibility</p:attrName>
                                        </p:attrNameLst>
                                      </p:cBhvr>
                                      <p:to>
                                        <p:strVal val="visible"/>
                                      </p:to>
                                    </p:set>
                                    <p:anim calcmode="lin" valueType="num">
                                      <p:cBhvr>
                                        <p:cTn id="201" dur="500" fill="hold"/>
                                        <p:tgtEl>
                                          <p:spTgt spid="160807"/>
                                        </p:tgtEl>
                                        <p:attrNameLst>
                                          <p:attrName>ppt_x</p:attrName>
                                        </p:attrNameLst>
                                      </p:cBhvr>
                                      <p:tavLst>
                                        <p:tav tm="0">
                                          <p:val>
                                            <p:strVal val="#ppt_x"/>
                                          </p:val>
                                        </p:tav>
                                        <p:tav tm="100000">
                                          <p:val>
                                            <p:strVal val="#ppt_x"/>
                                          </p:val>
                                        </p:tav>
                                      </p:tavLst>
                                    </p:anim>
                                    <p:anim calcmode="lin" valueType="num">
                                      <p:cBhvr>
                                        <p:cTn id="202" dur="500" fill="hold"/>
                                        <p:tgtEl>
                                          <p:spTgt spid="160807"/>
                                        </p:tgtEl>
                                        <p:attrNameLst>
                                          <p:attrName>ppt_y</p:attrName>
                                        </p:attrNameLst>
                                      </p:cBhvr>
                                      <p:tavLst>
                                        <p:tav tm="0">
                                          <p:val>
                                            <p:strVal val="#ppt_y-#ppt_h/2"/>
                                          </p:val>
                                        </p:tav>
                                        <p:tav tm="100000">
                                          <p:val>
                                            <p:strVal val="#ppt_y"/>
                                          </p:val>
                                        </p:tav>
                                      </p:tavLst>
                                    </p:anim>
                                    <p:anim calcmode="lin" valueType="num">
                                      <p:cBhvr>
                                        <p:cTn id="203" dur="500" fill="hold"/>
                                        <p:tgtEl>
                                          <p:spTgt spid="160807"/>
                                        </p:tgtEl>
                                        <p:attrNameLst>
                                          <p:attrName>ppt_w</p:attrName>
                                        </p:attrNameLst>
                                      </p:cBhvr>
                                      <p:tavLst>
                                        <p:tav tm="0">
                                          <p:val>
                                            <p:strVal val="#ppt_w"/>
                                          </p:val>
                                        </p:tav>
                                        <p:tav tm="100000">
                                          <p:val>
                                            <p:strVal val="#ppt_w"/>
                                          </p:val>
                                        </p:tav>
                                      </p:tavLst>
                                    </p:anim>
                                    <p:anim calcmode="lin" valueType="num">
                                      <p:cBhvr>
                                        <p:cTn id="204" dur="500" fill="hold"/>
                                        <p:tgtEl>
                                          <p:spTgt spid="160807"/>
                                        </p:tgtEl>
                                        <p:attrNameLst>
                                          <p:attrName>ppt_h</p:attrName>
                                        </p:attrNameLst>
                                      </p:cBhvr>
                                      <p:tavLst>
                                        <p:tav tm="0">
                                          <p:val>
                                            <p:fltVal val="0"/>
                                          </p:val>
                                        </p:tav>
                                        <p:tav tm="100000">
                                          <p:val>
                                            <p:strVal val="#ppt_h"/>
                                          </p:val>
                                        </p:tav>
                                      </p:tavLst>
                                    </p:anim>
                                  </p:childTnLst>
                                </p:cTn>
                              </p:par>
                            </p:childTnLst>
                          </p:cTn>
                        </p:par>
                        <p:par>
                          <p:cTn id="205" fill="hold">
                            <p:stCondLst>
                              <p:cond delay="500"/>
                            </p:stCondLst>
                            <p:childTnLst>
                              <p:par>
                                <p:cTn id="206" presetID="12" presetClass="entr" presetSubtype="1" fill="hold" grpId="0" nodeType="afterEffect">
                                  <p:stCondLst>
                                    <p:cond delay="0"/>
                                  </p:stCondLst>
                                  <p:childTnLst>
                                    <p:set>
                                      <p:cBhvr>
                                        <p:cTn id="207" dur="1" fill="hold">
                                          <p:stCondLst>
                                            <p:cond delay="0"/>
                                          </p:stCondLst>
                                        </p:cTn>
                                        <p:tgtEl>
                                          <p:spTgt spid="160816"/>
                                        </p:tgtEl>
                                        <p:attrNameLst>
                                          <p:attrName>style.visibility</p:attrName>
                                        </p:attrNameLst>
                                      </p:cBhvr>
                                      <p:to>
                                        <p:strVal val="visible"/>
                                      </p:to>
                                    </p:set>
                                    <p:animEffect transition="in" filter="slide(fromTop)">
                                      <p:cBhvr>
                                        <p:cTn id="208" dur="500"/>
                                        <p:tgtEl>
                                          <p:spTgt spid="160816"/>
                                        </p:tgtEl>
                                      </p:cBhvr>
                                    </p:animEffect>
                                  </p:childTnLst>
                                </p:cTn>
                              </p:par>
                            </p:childTnLst>
                          </p:cTn>
                        </p:par>
                      </p:childTnLst>
                    </p:cTn>
                  </p:par>
                  <p:par>
                    <p:cTn id="209" fill="hold">
                      <p:stCondLst>
                        <p:cond delay="indefinite"/>
                      </p:stCondLst>
                      <p:childTnLst>
                        <p:par>
                          <p:cTn id="210" fill="hold">
                            <p:stCondLst>
                              <p:cond delay="0"/>
                            </p:stCondLst>
                            <p:childTnLst>
                              <p:par>
                                <p:cTn id="211" presetID="17" presetClass="entr" presetSubtype="1" fill="hold" grpId="0" nodeType="clickEffect">
                                  <p:stCondLst>
                                    <p:cond delay="0"/>
                                  </p:stCondLst>
                                  <p:childTnLst>
                                    <p:set>
                                      <p:cBhvr>
                                        <p:cTn id="212" dur="1" fill="hold">
                                          <p:stCondLst>
                                            <p:cond delay="0"/>
                                          </p:stCondLst>
                                        </p:cTn>
                                        <p:tgtEl>
                                          <p:spTgt spid="160821"/>
                                        </p:tgtEl>
                                        <p:attrNameLst>
                                          <p:attrName>style.visibility</p:attrName>
                                        </p:attrNameLst>
                                      </p:cBhvr>
                                      <p:to>
                                        <p:strVal val="visible"/>
                                      </p:to>
                                    </p:set>
                                    <p:anim calcmode="lin" valueType="num">
                                      <p:cBhvr>
                                        <p:cTn id="213" dur="500" fill="hold"/>
                                        <p:tgtEl>
                                          <p:spTgt spid="160821"/>
                                        </p:tgtEl>
                                        <p:attrNameLst>
                                          <p:attrName>ppt_x</p:attrName>
                                        </p:attrNameLst>
                                      </p:cBhvr>
                                      <p:tavLst>
                                        <p:tav tm="0">
                                          <p:val>
                                            <p:strVal val="#ppt_x"/>
                                          </p:val>
                                        </p:tav>
                                        <p:tav tm="100000">
                                          <p:val>
                                            <p:strVal val="#ppt_x"/>
                                          </p:val>
                                        </p:tav>
                                      </p:tavLst>
                                    </p:anim>
                                    <p:anim calcmode="lin" valueType="num">
                                      <p:cBhvr>
                                        <p:cTn id="214" dur="500" fill="hold"/>
                                        <p:tgtEl>
                                          <p:spTgt spid="160821"/>
                                        </p:tgtEl>
                                        <p:attrNameLst>
                                          <p:attrName>ppt_y</p:attrName>
                                        </p:attrNameLst>
                                      </p:cBhvr>
                                      <p:tavLst>
                                        <p:tav tm="0">
                                          <p:val>
                                            <p:strVal val="#ppt_y-#ppt_h/2"/>
                                          </p:val>
                                        </p:tav>
                                        <p:tav tm="100000">
                                          <p:val>
                                            <p:strVal val="#ppt_y"/>
                                          </p:val>
                                        </p:tav>
                                      </p:tavLst>
                                    </p:anim>
                                    <p:anim calcmode="lin" valueType="num">
                                      <p:cBhvr>
                                        <p:cTn id="215" dur="500" fill="hold"/>
                                        <p:tgtEl>
                                          <p:spTgt spid="160821"/>
                                        </p:tgtEl>
                                        <p:attrNameLst>
                                          <p:attrName>ppt_w</p:attrName>
                                        </p:attrNameLst>
                                      </p:cBhvr>
                                      <p:tavLst>
                                        <p:tav tm="0">
                                          <p:val>
                                            <p:strVal val="#ppt_w"/>
                                          </p:val>
                                        </p:tav>
                                        <p:tav tm="100000">
                                          <p:val>
                                            <p:strVal val="#ppt_w"/>
                                          </p:val>
                                        </p:tav>
                                      </p:tavLst>
                                    </p:anim>
                                    <p:anim calcmode="lin" valueType="num">
                                      <p:cBhvr>
                                        <p:cTn id="216" dur="500" fill="hold"/>
                                        <p:tgtEl>
                                          <p:spTgt spid="160821"/>
                                        </p:tgtEl>
                                        <p:attrNameLst>
                                          <p:attrName>ppt_h</p:attrName>
                                        </p:attrNameLst>
                                      </p:cBhvr>
                                      <p:tavLst>
                                        <p:tav tm="0">
                                          <p:val>
                                            <p:fltVal val="0"/>
                                          </p:val>
                                        </p:tav>
                                        <p:tav tm="100000">
                                          <p:val>
                                            <p:strVal val="#ppt_h"/>
                                          </p:val>
                                        </p:tav>
                                      </p:tavLst>
                                    </p:anim>
                                  </p:childTnLst>
                                </p:cTn>
                              </p:par>
                            </p:childTnLst>
                          </p:cTn>
                        </p:par>
                        <p:par>
                          <p:cTn id="217" fill="hold">
                            <p:stCondLst>
                              <p:cond delay="500"/>
                            </p:stCondLst>
                            <p:childTnLst>
                              <p:par>
                                <p:cTn id="218" presetID="4" presetClass="entr" presetSubtype="32" fill="hold" grpId="0" nodeType="afterEffect">
                                  <p:stCondLst>
                                    <p:cond delay="0"/>
                                  </p:stCondLst>
                                  <p:childTnLst>
                                    <p:set>
                                      <p:cBhvr>
                                        <p:cTn id="219" dur="1" fill="hold">
                                          <p:stCondLst>
                                            <p:cond delay="0"/>
                                          </p:stCondLst>
                                        </p:cTn>
                                        <p:tgtEl>
                                          <p:spTgt spid="160825"/>
                                        </p:tgtEl>
                                        <p:attrNameLst>
                                          <p:attrName>style.visibility</p:attrName>
                                        </p:attrNameLst>
                                      </p:cBhvr>
                                      <p:to>
                                        <p:strVal val="visible"/>
                                      </p:to>
                                    </p:set>
                                    <p:animEffect transition="in" filter="box(out)">
                                      <p:cBhvr>
                                        <p:cTn id="220" dur="500"/>
                                        <p:tgtEl>
                                          <p:spTgt spid="160825"/>
                                        </p:tgtEl>
                                      </p:cBhvr>
                                    </p:animEffect>
                                  </p:childTnLst>
                                </p:cTn>
                              </p:par>
                            </p:childTnLst>
                          </p:cTn>
                        </p:par>
                      </p:childTnLst>
                    </p:cTn>
                  </p:par>
                  <p:par>
                    <p:cTn id="221" fill="hold">
                      <p:stCondLst>
                        <p:cond delay="indefinite"/>
                      </p:stCondLst>
                      <p:childTnLst>
                        <p:par>
                          <p:cTn id="222" fill="hold">
                            <p:stCondLst>
                              <p:cond delay="0"/>
                            </p:stCondLst>
                            <p:childTnLst>
                              <p:par>
                                <p:cTn id="223" presetID="17" presetClass="entr" presetSubtype="8" fill="hold" grpId="0" nodeType="clickEffect">
                                  <p:stCondLst>
                                    <p:cond delay="0"/>
                                  </p:stCondLst>
                                  <p:childTnLst>
                                    <p:set>
                                      <p:cBhvr>
                                        <p:cTn id="224" dur="1" fill="hold">
                                          <p:stCondLst>
                                            <p:cond delay="0"/>
                                          </p:stCondLst>
                                        </p:cTn>
                                        <p:tgtEl>
                                          <p:spTgt spid="160822"/>
                                        </p:tgtEl>
                                        <p:attrNameLst>
                                          <p:attrName>style.visibility</p:attrName>
                                        </p:attrNameLst>
                                      </p:cBhvr>
                                      <p:to>
                                        <p:strVal val="visible"/>
                                      </p:to>
                                    </p:set>
                                    <p:anim calcmode="lin" valueType="num">
                                      <p:cBhvr>
                                        <p:cTn id="225" dur="500" fill="hold"/>
                                        <p:tgtEl>
                                          <p:spTgt spid="160822"/>
                                        </p:tgtEl>
                                        <p:attrNameLst>
                                          <p:attrName>ppt_x</p:attrName>
                                        </p:attrNameLst>
                                      </p:cBhvr>
                                      <p:tavLst>
                                        <p:tav tm="0">
                                          <p:val>
                                            <p:strVal val="#ppt_x-#ppt_w/2"/>
                                          </p:val>
                                        </p:tav>
                                        <p:tav tm="100000">
                                          <p:val>
                                            <p:strVal val="#ppt_x"/>
                                          </p:val>
                                        </p:tav>
                                      </p:tavLst>
                                    </p:anim>
                                    <p:anim calcmode="lin" valueType="num">
                                      <p:cBhvr>
                                        <p:cTn id="226" dur="500" fill="hold"/>
                                        <p:tgtEl>
                                          <p:spTgt spid="160822"/>
                                        </p:tgtEl>
                                        <p:attrNameLst>
                                          <p:attrName>ppt_y</p:attrName>
                                        </p:attrNameLst>
                                      </p:cBhvr>
                                      <p:tavLst>
                                        <p:tav tm="0">
                                          <p:val>
                                            <p:strVal val="#ppt_y"/>
                                          </p:val>
                                        </p:tav>
                                        <p:tav tm="100000">
                                          <p:val>
                                            <p:strVal val="#ppt_y"/>
                                          </p:val>
                                        </p:tav>
                                      </p:tavLst>
                                    </p:anim>
                                    <p:anim calcmode="lin" valueType="num">
                                      <p:cBhvr>
                                        <p:cTn id="227" dur="500" fill="hold"/>
                                        <p:tgtEl>
                                          <p:spTgt spid="160822"/>
                                        </p:tgtEl>
                                        <p:attrNameLst>
                                          <p:attrName>ppt_w</p:attrName>
                                        </p:attrNameLst>
                                      </p:cBhvr>
                                      <p:tavLst>
                                        <p:tav tm="0">
                                          <p:val>
                                            <p:fltVal val="0"/>
                                          </p:val>
                                        </p:tav>
                                        <p:tav tm="100000">
                                          <p:val>
                                            <p:strVal val="#ppt_w"/>
                                          </p:val>
                                        </p:tav>
                                      </p:tavLst>
                                    </p:anim>
                                    <p:anim calcmode="lin" valueType="num">
                                      <p:cBhvr>
                                        <p:cTn id="228" dur="500" fill="hold"/>
                                        <p:tgtEl>
                                          <p:spTgt spid="160822"/>
                                        </p:tgtEl>
                                        <p:attrNameLst>
                                          <p:attrName>ppt_h</p:attrName>
                                        </p:attrNameLst>
                                      </p:cBhvr>
                                      <p:tavLst>
                                        <p:tav tm="0">
                                          <p:val>
                                            <p:strVal val="#ppt_h"/>
                                          </p:val>
                                        </p:tav>
                                        <p:tav tm="100000">
                                          <p:val>
                                            <p:strVal val="#ppt_h"/>
                                          </p:val>
                                        </p:tav>
                                      </p:tavLst>
                                    </p:anim>
                                  </p:childTnLst>
                                </p:cTn>
                              </p:par>
                            </p:childTnLst>
                          </p:cTn>
                        </p:par>
                        <p:par>
                          <p:cTn id="229" fill="hold">
                            <p:stCondLst>
                              <p:cond delay="500"/>
                            </p:stCondLst>
                            <p:childTnLst>
                              <p:par>
                                <p:cTn id="230" presetID="4" presetClass="entr" presetSubtype="32" fill="hold" grpId="0" nodeType="afterEffect">
                                  <p:stCondLst>
                                    <p:cond delay="0"/>
                                  </p:stCondLst>
                                  <p:childTnLst>
                                    <p:set>
                                      <p:cBhvr>
                                        <p:cTn id="231" dur="1" fill="hold">
                                          <p:stCondLst>
                                            <p:cond delay="0"/>
                                          </p:stCondLst>
                                        </p:cTn>
                                        <p:tgtEl>
                                          <p:spTgt spid="160826"/>
                                        </p:tgtEl>
                                        <p:attrNameLst>
                                          <p:attrName>style.visibility</p:attrName>
                                        </p:attrNameLst>
                                      </p:cBhvr>
                                      <p:to>
                                        <p:strVal val="visible"/>
                                      </p:to>
                                    </p:set>
                                    <p:animEffect transition="in" filter="box(out)">
                                      <p:cBhvr>
                                        <p:cTn id="232" dur="500"/>
                                        <p:tgtEl>
                                          <p:spTgt spid="160826"/>
                                        </p:tgtEl>
                                      </p:cBhvr>
                                    </p:animEffect>
                                  </p:childTnLst>
                                </p:cTn>
                              </p:par>
                            </p:childTnLst>
                          </p:cTn>
                        </p:par>
                      </p:childTnLst>
                    </p:cTn>
                  </p:par>
                  <p:par>
                    <p:cTn id="233" fill="hold">
                      <p:stCondLst>
                        <p:cond delay="indefinite"/>
                      </p:stCondLst>
                      <p:childTnLst>
                        <p:par>
                          <p:cTn id="234" fill="hold">
                            <p:stCondLst>
                              <p:cond delay="0"/>
                            </p:stCondLst>
                            <p:childTnLst>
                              <p:par>
                                <p:cTn id="235" presetID="17" presetClass="entr" presetSubtype="1" fill="hold" grpId="0" nodeType="clickEffect">
                                  <p:stCondLst>
                                    <p:cond delay="0"/>
                                  </p:stCondLst>
                                  <p:childTnLst>
                                    <p:set>
                                      <p:cBhvr>
                                        <p:cTn id="236" dur="1" fill="hold">
                                          <p:stCondLst>
                                            <p:cond delay="0"/>
                                          </p:stCondLst>
                                        </p:cTn>
                                        <p:tgtEl>
                                          <p:spTgt spid="160809"/>
                                        </p:tgtEl>
                                        <p:attrNameLst>
                                          <p:attrName>style.visibility</p:attrName>
                                        </p:attrNameLst>
                                      </p:cBhvr>
                                      <p:to>
                                        <p:strVal val="visible"/>
                                      </p:to>
                                    </p:set>
                                    <p:anim calcmode="lin" valueType="num">
                                      <p:cBhvr>
                                        <p:cTn id="237" dur="500" fill="hold"/>
                                        <p:tgtEl>
                                          <p:spTgt spid="160809"/>
                                        </p:tgtEl>
                                        <p:attrNameLst>
                                          <p:attrName>ppt_x</p:attrName>
                                        </p:attrNameLst>
                                      </p:cBhvr>
                                      <p:tavLst>
                                        <p:tav tm="0">
                                          <p:val>
                                            <p:strVal val="#ppt_x"/>
                                          </p:val>
                                        </p:tav>
                                        <p:tav tm="100000">
                                          <p:val>
                                            <p:strVal val="#ppt_x"/>
                                          </p:val>
                                        </p:tav>
                                      </p:tavLst>
                                    </p:anim>
                                    <p:anim calcmode="lin" valueType="num">
                                      <p:cBhvr>
                                        <p:cTn id="238" dur="500" fill="hold"/>
                                        <p:tgtEl>
                                          <p:spTgt spid="160809"/>
                                        </p:tgtEl>
                                        <p:attrNameLst>
                                          <p:attrName>ppt_y</p:attrName>
                                        </p:attrNameLst>
                                      </p:cBhvr>
                                      <p:tavLst>
                                        <p:tav tm="0">
                                          <p:val>
                                            <p:strVal val="#ppt_y-#ppt_h/2"/>
                                          </p:val>
                                        </p:tav>
                                        <p:tav tm="100000">
                                          <p:val>
                                            <p:strVal val="#ppt_y"/>
                                          </p:val>
                                        </p:tav>
                                      </p:tavLst>
                                    </p:anim>
                                    <p:anim calcmode="lin" valueType="num">
                                      <p:cBhvr>
                                        <p:cTn id="239" dur="500" fill="hold"/>
                                        <p:tgtEl>
                                          <p:spTgt spid="160809"/>
                                        </p:tgtEl>
                                        <p:attrNameLst>
                                          <p:attrName>ppt_w</p:attrName>
                                        </p:attrNameLst>
                                      </p:cBhvr>
                                      <p:tavLst>
                                        <p:tav tm="0">
                                          <p:val>
                                            <p:strVal val="#ppt_w"/>
                                          </p:val>
                                        </p:tav>
                                        <p:tav tm="100000">
                                          <p:val>
                                            <p:strVal val="#ppt_w"/>
                                          </p:val>
                                        </p:tav>
                                      </p:tavLst>
                                    </p:anim>
                                    <p:anim calcmode="lin" valueType="num">
                                      <p:cBhvr>
                                        <p:cTn id="240" dur="500" fill="hold"/>
                                        <p:tgtEl>
                                          <p:spTgt spid="160809"/>
                                        </p:tgtEl>
                                        <p:attrNameLst>
                                          <p:attrName>ppt_h</p:attrName>
                                        </p:attrNameLst>
                                      </p:cBhvr>
                                      <p:tavLst>
                                        <p:tav tm="0">
                                          <p:val>
                                            <p:fltVal val="0"/>
                                          </p:val>
                                        </p:tav>
                                        <p:tav tm="100000">
                                          <p:val>
                                            <p:strVal val="#ppt_h"/>
                                          </p:val>
                                        </p:tav>
                                      </p:tavLst>
                                    </p:anim>
                                  </p:childTnLst>
                                </p:cTn>
                              </p:par>
                            </p:childTnLst>
                          </p:cTn>
                        </p:par>
                        <p:par>
                          <p:cTn id="241" fill="hold">
                            <p:stCondLst>
                              <p:cond delay="500"/>
                            </p:stCondLst>
                            <p:childTnLst>
                              <p:par>
                                <p:cTn id="242" presetID="12" presetClass="entr" presetSubtype="1" fill="hold" grpId="0" nodeType="afterEffect">
                                  <p:stCondLst>
                                    <p:cond delay="0"/>
                                  </p:stCondLst>
                                  <p:childTnLst>
                                    <p:set>
                                      <p:cBhvr>
                                        <p:cTn id="243" dur="1" fill="hold">
                                          <p:stCondLst>
                                            <p:cond delay="0"/>
                                          </p:stCondLst>
                                        </p:cTn>
                                        <p:tgtEl>
                                          <p:spTgt spid="160817"/>
                                        </p:tgtEl>
                                        <p:attrNameLst>
                                          <p:attrName>style.visibility</p:attrName>
                                        </p:attrNameLst>
                                      </p:cBhvr>
                                      <p:to>
                                        <p:strVal val="visible"/>
                                      </p:to>
                                    </p:set>
                                    <p:animEffect transition="in" filter="slide(fromTop)">
                                      <p:cBhvr>
                                        <p:cTn id="244" dur="500"/>
                                        <p:tgtEl>
                                          <p:spTgt spid="160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nimBg="1" autoUpdateAnimBg="0"/>
      <p:bldP spid="160771" grpId="0" animBg="1" autoUpdateAnimBg="0"/>
      <p:bldP spid="160772" grpId="0" animBg="1" autoUpdateAnimBg="0"/>
      <p:bldP spid="160773" grpId="0" animBg="1" autoUpdateAnimBg="0"/>
      <p:bldP spid="160774" grpId="0" animBg="1" autoUpdateAnimBg="0"/>
      <p:bldP spid="160775" grpId="0" animBg="1" autoUpdateAnimBg="0"/>
      <p:bldP spid="160776" grpId="0" animBg="1" autoUpdateAnimBg="0"/>
      <p:bldP spid="160777" grpId="0" animBg="1"/>
      <p:bldP spid="160778" grpId="0" animBg="1"/>
      <p:bldP spid="160779" grpId="0" animBg="1"/>
      <p:bldP spid="160780" grpId="0" animBg="1"/>
      <p:bldP spid="160781" grpId="0" animBg="1"/>
      <p:bldP spid="160782" grpId="0" animBg="1"/>
      <p:bldP spid="160783" grpId="0" animBg="1"/>
      <p:bldP spid="160784" grpId="0" animBg="1"/>
      <p:bldP spid="160785" grpId="0" animBg="1"/>
      <p:bldP spid="160786" grpId="0" animBg="1"/>
      <p:bldP spid="160787" grpId="0" animBg="1"/>
      <p:bldP spid="160788" grpId="0" autoUpdateAnimBg="0"/>
      <p:bldP spid="160789" grpId="0" autoUpdateAnimBg="0"/>
      <p:bldP spid="160790" grpId="0" autoUpdateAnimBg="0"/>
      <p:bldP spid="160791" grpId="0" autoUpdateAnimBg="0"/>
      <p:bldP spid="160792" grpId="0" autoUpdateAnimBg="0"/>
      <p:bldP spid="160793" grpId="0" autoUpdateAnimBg="0"/>
      <p:bldP spid="160794" grpId="0" autoUpdateAnimBg="0"/>
      <p:bldP spid="160795" grpId="0" autoUpdateAnimBg="0"/>
      <p:bldP spid="160796" grpId="0" autoUpdateAnimBg="0"/>
      <p:bldP spid="160797" grpId="0" animBg="1" autoUpdateAnimBg="0"/>
      <p:bldP spid="160798" grpId="0" animBg="1"/>
      <p:bldP spid="160799" grpId="0" animBg="1" autoUpdateAnimBg="0"/>
      <p:bldP spid="160800" grpId="0" animBg="1"/>
      <p:bldP spid="160801" grpId="0" autoUpdateAnimBg="0"/>
      <p:bldP spid="160802" grpId="0" animBg="1" autoUpdateAnimBg="0"/>
      <p:bldP spid="160803" grpId="0" animBg="1"/>
      <p:bldP spid="160804" grpId="0" animBg="1" autoUpdateAnimBg="0"/>
      <p:bldP spid="160805" grpId="0" animBg="1"/>
      <p:bldP spid="160806" grpId="0" animBg="1" autoUpdateAnimBg="0"/>
      <p:bldP spid="160807" grpId="0" animBg="1"/>
      <p:bldP spid="160808" grpId="0" animBg="1" autoUpdateAnimBg="0"/>
      <p:bldP spid="160809" grpId="0" animBg="1"/>
      <p:bldP spid="160810" grpId="0" animBg="1" autoUpdateAnimBg="0"/>
      <p:bldP spid="160811" grpId="0" autoUpdateAnimBg="0"/>
      <p:bldP spid="160812" grpId="0" autoUpdateAnimBg="0"/>
      <p:bldP spid="160813" grpId="0" autoUpdateAnimBg="0"/>
      <p:bldP spid="160814" grpId="0" autoUpdateAnimBg="0"/>
      <p:bldP spid="160815" grpId="0" autoUpdateAnimBg="0"/>
      <p:bldP spid="160816" grpId="0" autoUpdateAnimBg="0"/>
      <p:bldP spid="160817" grpId="0" autoUpdateAnimBg="0"/>
      <p:bldP spid="160818" grpId="0" bldLvl="0" animBg="1" autoUpdateAnimBg="0"/>
      <p:bldP spid="160819" grpId="0" animBg="1"/>
      <p:bldP spid="160820" grpId="0" animBg="1"/>
      <p:bldP spid="160821" grpId="0" animBg="1"/>
      <p:bldP spid="160822" grpId="0" animBg="1"/>
      <p:bldP spid="160823" grpId="0" autoUpdateAnimBg="0"/>
      <p:bldP spid="160824" grpId="0" autoUpdateAnimBg="0"/>
      <p:bldP spid="160825" grpId="0" autoUpdateAnimBg="0"/>
      <p:bldP spid="160826"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Oval 2"/>
          <p:cNvSpPr>
            <a:spLocks noChangeArrowheads="1"/>
          </p:cNvSpPr>
          <p:nvPr/>
        </p:nvSpPr>
        <p:spPr bwMode="auto">
          <a:xfrm>
            <a:off x="2819400"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a</a:t>
            </a:r>
            <a:endParaRPr lang="en-US" altLang="zh-CN"/>
          </a:p>
        </p:txBody>
      </p:sp>
      <p:sp>
        <p:nvSpPr>
          <p:cNvPr id="161795" name="Oval 3"/>
          <p:cNvSpPr>
            <a:spLocks noChangeArrowheads="1"/>
          </p:cNvSpPr>
          <p:nvPr/>
        </p:nvSpPr>
        <p:spPr bwMode="auto">
          <a:xfrm>
            <a:off x="5105400" y="1798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b</a:t>
            </a:r>
            <a:endParaRPr lang="en-US" altLang="zh-CN"/>
          </a:p>
        </p:txBody>
      </p:sp>
      <p:sp>
        <p:nvSpPr>
          <p:cNvPr id="161796" name="Oval 4"/>
          <p:cNvSpPr>
            <a:spLocks noChangeArrowheads="1"/>
          </p:cNvSpPr>
          <p:nvPr/>
        </p:nvSpPr>
        <p:spPr bwMode="auto">
          <a:xfrm>
            <a:off x="6400800" y="22558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c</a:t>
            </a:r>
            <a:endParaRPr lang="en-US" altLang="zh-CN"/>
          </a:p>
        </p:txBody>
      </p:sp>
      <p:sp>
        <p:nvSpPr>
          <p:cNvPr id="161797" name="Oval 5"/>
          <p:cNvSpPr>
            <a:spLocks noChangeArrowheads="1"/>
          </p:cNvSpPr>
          <p:nvPr/>
        </p:nvSpPr>
        <p:spPr bwMode="auto">
          <a:xfrm>
            <a:off x="5791200" y="30940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d</a:t>
            </a:r>
            <a:endParaRPr lang="en-US" altLang="zh-CN"/>
          </a:p>
        </p:txBody>
      </p:sp>
      <p:sp>
        <p:nvSpPr>
          <p:cNvPr id="161798" name="Oval 6"/>
          <p:cNvSpPr>
            <a:spLocks noChangeArrowheads="1"/>
          </p:cNvSpPr>
          <p:nvPr/>
        </p:nvSpPr>
        <p:spPr bwMode="auto">
          <a:xfrm>
            <a:off x="4419600" y="2789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e</a:t>
            </a:r>
            <a:endParaRPr lang="en-US" altLang="zh-CN"/>
          </a:p>
        </p:txBody>
      </p:sp>
      <p:sp>
        <p:nvSpPr>
          <p:cNvPr id="161799" name="Oval 7"/>
          <p:cNvSpPr>
            <a:spLocks noChangeArrowheads="1"/>
          </p:cNvSpPr>
          <p:nvPr/>
        </p:nvSpPr>
        <p:spPr bwMode="auto">
          <a:xfrm>
            <a:off x="2667000" y="33226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g</a:t>
            </a:r>
            <a:endParaRPr lang="en-US" altLang="zh-CN"/>
          </a:p>
        </p:txBody>
      </p:sp>
      <p:sp>
        <p:nvSpPr>
          <p:cNvPr id="161800" name="Oval 8"/>
          <p:cNvSpPr>
            <a:spLocks noChangeArrowheads="1"/>
          </p:cNvSpPr>
          <p:nvPr/>
        </p:nvSpPr>
        <p:spPr bwMode="auto">
          <a:xfrm>
            <a:off x="4343400" y="3932238"/>
            <a:ext cx="457200" cy="411162"/>
          </a:xfrm>
          <a:prstGeom prst="ellipse">
            <a:avLst/>
          </a:prstGeom>
          <a:solidFill>
            <a:srgbClr val="CCFFCC"/>
          </a:solidFill>
          <a:ln w="28575"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a:solidFill>
                  <a:schemeClr val="tx2"/>
                </a:solidFill>
              </a:rPr>
              <a:t>f</a:t>
            </a:r>
            <a:endParaRPr lang="en-US" altLang="zh-CN"/>
          </a:p>
        </p:txBody>
      </p:sp>
      <p:sp>
        <p:nvSpPr>
          <p:cNvPr id="161801" name="Line 9"/>
          <p:cNvSpPr>
            <a:spLocks noChangeShapeType="1"/>
          </p:cNvSpPr>
          <p:nvPr/>
        </p:nvSpPr>
        <p:spPr bwMode="auto">
          <a:xfrm>
            <a:off x="3200400" y="2179638"/>
            <a:ext cx="12954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2" name="Line 10"/>
          <p:cNvSpPr>
            <a:spLocks noChangeShapeType="1"/>
          </p:cNvSpPr>
          <p:nvPr/>
        </p:nvSpPr>
        <p:spPr bwMode="auto">
          <a:xfrm flipV="1">
            <a:off x="3124200" y="3094038"/>
            <a:ext cx="1295400" cy="3810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3" name="Line 11"/>
          <p:cNvSpPr>
            <a:spLocks noChangeShapeType="1"/>
          </p:cNvSpPr>
          <p:nvPr/>
        </p:nvSpPr>
        <p:spPr bwMode="auto">
          <a:xfrm>
            <a:off x="4876800" y="3017838"/>
            <a:ext cx="914400" cy="2286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4" name="Line 12"/>
          <p:cNvSpPr>
            <a:spLocks noChangeShapeType="1"/>
          </p:cNvSpPr>
          <p:nvPr/>
        </p:nvSpPr>
        <p:spPr bwMode="auto">
          <a:xfrm>
            <a:off x="5562600" y="2027238"/>
            <a:ext cx="838200" cy="304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5" name="Line 13"/>
          <p:cNvSpPr>
            <a:spLocks noChangeShapeType="1"/>
          </p:cNvSpPr>
          <p:nvPr/>
        </p:nvSpPr>
        <p:spPr bwMode="auto">
          <a:xfrm flipH="1">
            <a:off x="6172200" y="2636838"/>
            <a:ext cx="304800" cy="4572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6" name="Line 14"/>
          <p:cNvSpPr>
            <a:spLocks noChangeShapeType="1"/>
          </p:cNvSpPr>
          <p:nvPr/>
        </p:nvSpPr>
        <p:spPr bwMode="auto">
          <a:xfrm flipH="1">
            <a:off x="4800600" y="3398838"/>
            <a:ext cx="990600" cy="685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7" name="Text Box 15"/>
          <p:cNvSpPr txBox="1">
            <a:spLocks noChangeArrowheads="1"/>
          </p:cNvSpPr>
          <p:nvPr/>
        </p:nvSpPr>
        <p:spPr bwMode="auto">
          <a:xfrm>
            <a:off x="5943600" y="17224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5</a:t>
            </a:r>
            <a:endParaRPr lang="en-US" altLang="zh-CN">
              <a:solidFill>
                <a:schemeClr val="tx2"/>
              </a:solidFill>
            </a:endParaRPr>
          </a:p>
        </p:txBody>
      </p:sp>
      <p:sp>
        <p:nvSpPr>
          <p:cNvPr id="161808" name="Text Box 16"/>
          <p:cNvSpPr txBox="1">
            <a:spLocks noChangeArrowheads="1"/>
          </p:cNvSpPr>
          <p:nvPr/>
        </p:nvSpPr>
        <p:spPr bwMode="auto">
          <a:xfrm>
            <a:off x="3429000" y="202723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14</a:t>
            </a:r>
            <a:endParaRPr lang="en-US" altLang="zh-CN"/>
          </a:p>
        </p:txBody>
      </p:sp>
      <p:sp>
        <p:nvSpPr>
          <p:cNvPr id="161809" name="Text Box 17"/>
          <p:cNvSpPr txBox="1">
            <a:spLocks noChangeArrowheads="1"/>
          </p:cNvSpPr>
          <p:nvPr/>
        </p:nvSpPr>
        <p:spPr bwMode="auto">
          <a:xfrm>
            <a:off x="3276600" y="29098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16</a:t>
            </a:r>
            <a:endParaRPr lang="en-US" altLang="zh-CN" sz="2800"/>
          </a:p>
        </p:txBody>
      </p:sp>
      <p:sp>
        <p:nvSpPr>
          <p:cNvPr id="161810" name="Text Box 18"/>
          <p:cNvSpPr txBox="1">
            <a:spLocks noChangeArrowheads="1"/>
          </p:cNvSpPr>
          <p:nvPr/>
        </p:nvSpPr>
        <p:spPr bwMode="auto">
          <a:xfrm>
            <a:off x="5105400" y="2727325"/>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8</a:t>
            </a:r>
            <a:endParaRPr lang="en-US" altLang="zh-CN" sz="3200"/>
          </a:p>
        </p:txBody>
      </p:sp>
      <p:sp>
        <p:nvSpPr>
          <p:cNvPr id="161811" name="Text Box 19"/>
          <p:cNvSpPr txBox="1">
            <a:spLocks noChangeArrowheads="1"/>
          </p:cNvSpPr>
          <p:nvPr/>
        </p:nvSpPr>
        <p:spPr bwMode="auto">
          <a:xfrm>
            <a:off x="4876800" y="3336925"/>
            <a:ext cx="539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21</a:t>
            </a:r>
            <a:endParaRPr lang="en-US" altLang="zh-CN" sz="2800"/>
          </a:p>
        </p:txBody>
      </p:sp>
      <p:sp>
        <p:nvSpPr>
          <p:cNvPr id="161812" name="Text Box 20"/>
          <p:cNvSpPr txBox="1">
            <a:spLocks noChangeArrowheads="1"/>
          </p:cNvSpPr>
          <p:nvPr/>
        </p:nvSpPr>
        <p:spPr bwMode="auto">
          <a:xfrm>
            <a:off x="6324600" y="2713038"/>
            <a:ext cx="361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chemeClr val="tx2"/>
                </a:solidFill>
              </a:rPr>
              <a:t>3</a:t>
            </a:r>
            <a:endParaRPr lang="en-US" altLang="zh-CN" sz="320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p:cNvSpPr txBox="1">
            <a:spLocks noChangeArrowheads="1"/>
          </p:cNvSpPr>
          <p:nvPr/>
        </p:nvSpPr>
        <p:spPr bwMode="auto">
          <a:xfrm>
            <a:off x="1619250" y="0"/>
            <a:ext cx="6050915"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400" b="1">
                <a:solidFill>
                  <a:srgbClr val="6600CC"/>
                </a:solidFill>
                <a:ea typeface="楷体_GB2312" pitchFamily="49" charset="-122"/>
                <a:sym typeface="+mn-ea"/>
              </a:rPr>
              <a:t>A</a:t>
            </a:r>
            <a:r>
              <a:rPr lang="zh-CN" altLang="en-US" sz="4400" b="1">
                <a:solidFill>
                  <a:srgbClr val="6600CC"/>
                </a:solidFill>
                <a:ea typeface="楷体_GB2312" pitchFamily="49" charset="-122"/>
                <a:sym typeface="+mn-ea"/>
              </a:rPr>
              <a:t>rithmetic </a:t>
            </a:r>
            <a:r>
              <a:rPr lang="en-US" altLang="zh-CN" sz="4400" b="1">
                <a:solidFill>
                  <a:srgbClr val="6600CC"/>
                </a:solidFill>
                <a:ea typeface="楷体_GB2312" pitchFamily="49" charset="-122"/>
                <a:sym typeface="+mn-ea"/>
              </a:rPr>
              <a:t>S</a:t>
            </a:r>
            <a:r>
              <a:rPr lang="zh-CN" altLang="en-US" sz="4400" b="1">
                <a:solidFill>
                  <a:srgbClr val="6600CC"/>
                </a:solidFill>
                <a:ea typeface="楷体_GB2312" pitchFamily="49" charset="-122"/>
                <a:sym typeface="+mn-ea"/>
              </a:rPr>
              <a:t>tatement ：</a:t>
            </a:r>
            <a:endParaRPr lang="en-US" altLang="zh-CN" sz="5400" b="1">
              <a:solidFill>
                <a:srgbClr val="6600CC"/>
              </a:solidFill>
              <a:ea typeface="楷体_GB2312" pitchFamily="49" charset="-122"/>
            </a:endParaRPr>
          </a:p>
        </p:txBody>
      </p:sp>
      <p:sp>
        <p:nvSpPr>
          <p:cNvPr id="162819" name="Text Box 3"/>
          <p:cNvSpPr txBox="1">
            <a:spLocks noChangeArrowheads="1"/>
          </p:cNvSpPr>
          <p:nvPr/>
        </p:nvSpPr>
        <p:spPr bwMode="auto">
          <a:xfrm>
            <a:off x="381000" y="838200"/>
            <a:ext cx="8742680" cy="4554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25000"/>
              </a:lnSpc>
            </a:pPr>
            <a:r>
              <a:rPr lang="en-US" altLang="zh-CN" sz="2400">
                <a:solidFill>
                  <a:srgbClr val="000082"/>
                </a:solidFill>
                <a:ea typeface="楷体_GB2312" pitchFamily="49" charset="-122"/>
              </a:rPr>
              <a:t>Construct a disconnected graph</a:t>
            </a:r>
            <a:r>
              <a:rPr lang="zh-CN" altLang="en-US" sz="2400">
                <a:solidFill>
                  <a:srgbClr val="000082"/>
                </a:solidFill>
                <a:ea typeface="楷体_GB2312" pitchFamily="49" charset="-122"/>
              </a:rPr>
              <a:t> </a:t>
            </a:r>
            <a:r>
              <a:rPr lang="en-US" altLang="zh-CN" sz="2400">
                <a:solidFill>
                  <a:srgbClr val="000082"/>
                </a:solidFill>
                <a:ea typeface="楷体_GB2312" pitchFamily="49" charset="-122"/>
              </a:rPr>
              <a:t>ST=( V,{ } );   </a:t>
            </a:r>
            <a:endParaRPr lang="en-US" altLang="zh-CN" sz="2400">
              <a:solidFill>
                <a:srgbClr val="000082"/>
              </a:solidFill>
              <a:ea typeface="楷体_GB2312" pitchFamily="49" charset="-122"/>
            </a:endParaRPr>
          </a:p>
          <a:p>
            <a:pPr algn="l">
              <a:lnSpc>
                <a:spcPct val="125000"/>
              </a:lnSpc>
            </a:pPr>
            <a:r>
              <a:rPr lang="en-US" altLang="zh-CN" sz="2000" b="1">
                <a:solidFill>
                  <a:srgbClr val="7C7906"/>
                </a:solidFill>
                <a:ea typeface="楷体_GB2312" pitchFamily="49" charset="-122"/>
              </a:rPr>
              <a:t>//v represents the set of vertices</a:t>
            </a:r>
            <a:r>
              <a:rPr lang="zh-CN" altLang="en-US" sz="2000" b="1">
                <a:solidFill>
                  <a:srgbClr val="7C7906"/>
                </a:solidFill>
                <a:ea typeface="楷体_GB2312" pitchFamily="49" charset="-122"/>
              </a:rPr>
              <a:t>，</a:t>
            </a:r>
            <a:endParaRPr lang="zh-CN" altLang="en-US" sz="2000" b="1">
              <a:solidFill>
                <a:srgbClr val="7C7906"/>
              </a:solidFill>
              <a:ea typeface="楷体_GB2312" pitchFamily="49" charset="-122"/>
            </a:endParaRPr>
          </a:p>
          <a:p>
            <a:pPr algn="l">
              <a:lnSpc>
                <a:spcPct val="125000"/>
              </a:lnSpc>
            </a:pPr>
            <a:r>
              <a:rPr lang="zh-CN" altLang="en-US" sz="2000" b="1">
                <a:solidFill>
                  <a:srgbClr val="7C7906"/>
                </a:solidFill>
                <a:ea typeface="楷体_GB2312" pitchFamily="49" charset="-122"/>
              </a:rPr>
              <a:t>    </a:t>
            </a:r>
            <a:r>
              <a:rPr lang="en-US" altLang="zh-CN" sz="2000" b="1">
                <a:solidFill>
                  <a:srgbClr val="7C7906"/>
                </a:solidFill>
                <a:ea typeface="楷体_GB2312" pitchFamily="49" charset="-122"/>
              </a:rPr>
              <a:t>//{ }represents the set of edges, which is initially empty</a:t>
            </a:r>
            <a:endParaRPr lang="en-US" altLang="zh-CN" sz="2000" b="1">
              <a:solidFill>
                <a:srgbClr val="7C7906"/>
              </a:solidFill>
              <a:ea typeface="楷体_GB2312" pitchFamily="49" charset="-122"/>
            </a:endParaRPr>
          </a:p>
          <a:p>
            <a:pPr algn="l">
              <a:lnSpc>
                <a:spcPct val="125000"/>
              </a:lnSpc>
            </a:pPr>
            <a:r>
              <a:rPr lang="zh-CN" altLang="en-US" sz="2400">
                <a:solidFill>
                  <a:srgbClr val="000082"/>
                </a:solidFill>
                <a:ea typeface="楷体_GB2312" pitchFamily="49" charset="-122"/>
              </a:rPr>
              <a:t> </a:t>
            </a:r>
            <a:r>
              <a:rPr lang="en-US" altLang="zh-CN" sz="2400">
                <a:solidFill>
                  <a:srgbClr val="000082"/>
                </a:solidFill>
                <a:ea typeface="楷体_GB2312" pitchFamily="49" charset="-122"/>
              </a:rPr>
              <a:t>k = i = 0;              </a:t>
            </a:r>
            <a:r>
              <a:rPr lang="en-US" altLang="zh-CN" sz="2000" b="1">
                <a:solidFill>
                  <a:srgbClr val="003300"/>
                </a:solidFill>
                <a:ea typeface="楷体_GB2312" pitchFamily="49" charset="-122"/>
              </a:rPr>
              <a:t>// k counts the number of selected edges</a:t>
            </a:r>
            <a:endParaRPr lang="en-US" altLang="zh-CN" sz="2000" b="1">
              <a:solidFill>
                <a:srgbClr val="003300"/>
              </a:solidFill>
              <a:ea typeface="楷体_GB2312" pitchFamily="49" charset="-122"/>
            </a:endParaRPr>
          </a:p>
          <a:p>
            <a:pPr algn="l">
              <a:lnSpc>
                <a:spcPct val="125000"/>
              </a:lnSpc>
            </a:pPr>
            <a:r>
              <a:rPr lang="zh-CN" altLang="en-US" sz="2400" b="1">
                <a:solidFill>
                  <a:srgbClr val="000082"/>
                </a:solidFill>
                <a:ea typeface="楷体_GB2312" pitchFamily="49" charset="-122"/>
              </a:rPr>
              <a:t> </a:t>
            </a:r>
            <a:r>
              <a:rPr lang="en-US" altLang="zh-CN" sz="2400" b="1">
                <a:solidFill>
                  <a:srgbClr val="000082"/>
                </a:solidFill>
                <a:ea typeface="楷体_GB2312" pitchFamily="49" charset="-122"/>
              </a:rPr>
              <a:t>while</a:t>
            </a:r>
            <a:r>
              <a:rPr lang="en-US" altLang="zh-CN" sz="2400">
                <a:solidFill>
                  <a:srgbClr val="000082"/>
                </a:solidFill>
                <a:ea typeface="楷体_GB2312" pitchFamily="49" charset="-122"/>
              </a:rPr>
              <a:t> (k&lt;n-1) </a:t>
            </a:r>
            <a:r>
              <a:rPr lang="en-US" altLang="zh-CN" sz="2400" b="1">
                <a:solidFill>
                  <a:srgbClr val="000082"/>
                </a:solidFill>
                <a:ea typeface="楷体_GB2312" pitchFamily="49" charset="-122"/>
              </a:rPr>
              <a:t>{</a:t>
            </a:r>
            <a:endParaRPr lang="en-US" altLang="zh-CN" sz="2400">
              <a:solidFill>
                <a:srgbClr val="000082"/>
              </a:solidFill>
              <a:ea typeface="楷体_GB2312" pitchFamily="49" charset="-122"/>
            </a:endParaRPr>
          </a:p>
          <a:p>
            <a:pPr algn="l">
              <a:lnSpc>
                <a:spcPct val="125000"/>
              </a:lnSpc>
            </a:pPr>
            <a:r>
              <a:rPr lang="en-US" altLang="zh-CN" sz="2400">
                <a:solidFill>
                  <a:srgbClr val="000082"/>
                </a:solidFill>
                <a:ea typeface="楷体_GB2312" pitchFamily="49" charset="-122"/>
              </a:rPr>
              <a:t>      ++i;</a:t>
            </a:r>
            <a:endParaRPr lang="en-US" altLang="zh-CN" sz="2400">
              <a:solidFill>
                <a:srgbClr val="000082"/>
              </a:solidFill>
              <a:ea typeface="楷体_GB2312" pitchFamily="49" charset="-122"/>
            </a:endParaRPr>
          </a:p>
          <a:p>
            <a:pPr algn="l">
              <a:lnSpc>
                <a:spcPct val="125000"/>
              </a:lnSpc>
            </a:pPr>
            <a:r>
              <a:rPr lang="en-US" altLang="zh-CN" sz="2400">
                <a:solidFill>
                  <a:srgbClr val="000082"/>
                </a:solidFill>
                <a:ea typeface="楷体_GB2312" pitchFamily="49" charset="-122"/>
              </a:rPr>
              <a:t>      </a:t>
            </a:r>
            <a:r>
              <a:rPr lang="en-US" altLang="zh-CN" sz="2400" b="1">
                <a:solidFill>
                  <a:srgbClr val="800000"/>
                </a:solidFill>
                <a:ea typeface="楷体_GB2312" pitchFamily="49" charset="-122"/>
              </a:rPr>
              <a:t>Check the</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i-th edge</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sym typeface="+mn-ea"/>
              </a:rPr>
              <a:t>(u,v)</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with the smallest weight in edge set</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E</a:t>
            </a:r>
            <a:endParaRPr lang="en-US" altLang="zh-CN" sz="2400" b="1">
              <a:solidFill>
                <a:srgbClr val="800000"/>
              </a:solidFill>
              <a:ea typeface="楷体_GB2312" pitchFamily="49" charset="-122"/>
            </a:endParaRPr>
          </a:p>
          <a:p>
            <a:pPr algn="l">
              <a:lnSpc>
                <a:spcPct val="125000"/>
              </a:lnSpc>
            </a:pPr>
            <a:r>
              <a:rPr lang="en-US" altLang="zh-CN" sz="2400" b="1">
                <a:solidFill>
                  <a:srgbClr val="800000"/>
                </a:solidFill>
                <a:ea typeface="楷体_GB2312" pitchFamily="49" charset="-122"/>
              </a:rPr>
              <a:t>      If adding</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sym typeface="+mn-ea"/>
              </a:rPr>
              <a:t>(u,v)</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to</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ST</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does not form a cycle in</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ST,</a:t>
            </a:r>
            <a:endParaRPr lang="en-US" altLang="zh-CN" sz="2400" b="1">
              <a:solidFill>
                <a:srgbClr val="800000"/>
              </a:solidFill>
              <a:ea typeface="楷体_GB2312" pitchFamily="49" charset="-122"/>
            </a:endParaRPr>
          </a:p>
          <a:p>
            <a:pPr algn="l">
              <a:lnSpc>
                <a:spcPct val="125000"/>
              </a:lnSpc>
            </a:pPr>
            <a:r>
              <a:rPr lang="en-US" altLang="zh-CN" sz="2400" b="1">
                <a:solidFill>
                  <a:srgbClr val="800000"/>
                </a:solidFill>
                <a:ea typeface="楷体_GB2312" pitchFamily="49" charset="-122"/>
              </a:rPr>
              <a:t>      then output edge</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sym typeface="+mn-ea"/>
              </a:rPr>
              <a:t>(u,v)</a:t>
            </a:r>
            <a:r>
              <a:rPr lang="en-US" altLang="en-US" sz="2400" b="1">
                <a:solidFill>
                  <a:srgbClr val="800000"/>
                </a:solidFill>
                <a:ea typeface="楷体_GB2312" pitchFamily="49" charset="-122"/>
              </a:rPr>
              <a:t> </a:t>
            </a:r>
            <a:r>
              <a:rPr lang="en-US" altLang="zh-CN" sz="2400" b="1">
                <a:solidFill>
                  <a:srgbClr val="800000"/>
                </a:solidFill>
                <a:ea typeface="楷体_GB2312" pitchFamily="49" charset="-122"/>
              </a:rPr>
              <a:t>and</a:t>
            </a:r>
            <a:r>
              <a:rPr lang="zh-CN" altLang="en-US" sz="2400" b="1">
                <a:solidFill>
                  <a:srgbClr val="800000"/>
                </a:solidFill>
                <a:ea typeface="楷体_GB2312" pitchFamily="49" charset="-122"/>
              </a:rPr>
              <a:t>  </a:t>
            </a:r>
            <a:r>
              <a:rPr lang="en-US" altLang="zh-CN" sz="2400" b="1">
                <a:solidFill>
                  <a:srgbClr val="800000"/>
                </a:solidFill>
                <a:ea typeface="楷体_GB2312" pitchFamily="49" charset="-122"/>
              </a:rPr>
              <a:t>k++;</a:t>
            </a:r>
            <a:endParaRPr lang="en-US" altLang="zh-CN" sz="2400">
              <a:solidFill>
                <a:srgbClr val="000082"/>
              </a:solidFill>
              <a:ea typeface="楷体_GB2312" pitchFamily="49" charset="-122"/>
            </a:endParaRPr>
          </a:p>
          <a:p>
            <a:pPr algn="l">
              <a:lnSpc>
                <a:spcPct val="125000"/>
              </a:lnSpc>
            </a:pPr>
            <a:r>
              <a:rPr lang="en-US" altLang="zh-CN" sz="2400" b="1">
                <a:solidFill>
                  <a:srgbClr val="000082"/>
                </a:solidFill>
                <a:ea typeface="楷体_GB2312" pitchFamily="49" charset="-122"/>
              </a:rPr>
              <a:t>}</a:t>
            </a:r>
            <a:endParaRPr lang="en-US" altLang="zh-CN" sz="2400" b="1">
              <a:solidFill>
                <a:srgbClr val="000082"/>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818"/>
                                        </p:tgtEl>
                                        <p:attrNameLst>
                                          <p:attrName>style.visibility</p:attrName>
                                        </p:attrNameLst>
                                      </p:cBhvr>
                                      <p:to>
                                        <p:strVal val="visible"/>
                                      </p:to>
                                    </p:set>
                                    <p:anim calcmode="lin" valueType="num">
                                      <p:cBhvr additive="base">
                                        <p:cTn id="7" dur="500" fill="hold"/>
                                        <p:tgtEl>
                                          <p:spTgt spid="162818"/>
                                        </p:tgtEl>
                                        <p:attrNameLst>
                                          <p:attrName>ppt_x</p:attrName>
                                        </p:attrNameLst>
                                      </p:cBhvr>
                                      <p:tavLst>
                                        <p:tav tm="0">
                                          <p:val>
                                            <p:strVal val="0-#ppt_w/2"/>
                                          </p:val>
                                        </p:tav>
                                        <p:tav tm="100000">
                                          <p:val>
                                            <p:strVal val="#ppt_x"/>
                                          </p:val>
                                        </p:tav>
                                      </p:tavLst>
                                    </p:anim>
                                    <p:anim calcmode="lin" valueType="num">
                                      <p:cBhvr additive="base">
                                        <p:cTn id="8" dur="500" fill="hold"/>
                                        <p:tgtEl>
                                          <p:spTgt spid="1628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62819"/>
                                        </p:tgtEl>
                                        <p:attrNameLst>
                                          <p:attrName>style.visibility</p:attrName>
                                        </p:attrNameLst>
                                      </p:cBhvr>
                                      <p:to>
                                        <p:strVal val="visible"/>
                                      </p:to>
                                    </p:set>
                                    <p:animEffect transition="in" filter="strips(downRight)">
                                      <p:cBhvr>
                                        <p:cTn id="13" dur="500"/>
                                        <p:tgtEl>
                                          <p:spTgt spid="162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bldLvl="0" animBg="1" autoUpdateAnimBg="0"/>
      <p:bldP spid="162819" grpId="0" bldLvl="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ChangeArrowheads="1"/>
          </p:cNvSpPr>
          <p:nvPr/>
        </p:nvSpPr>
        <p:spPr bwMode="auto">
          <a:xfrm>
            <a:off x="2940050" y="2057400"/>
            <a:ext cx="27844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0000FF"/>
                </a:solidFill>
                <a:latin typeface="Arial" panose="020B0604020202020204" pitchFamily="34" charset="0"/>
                <a:ea typeface="楷体_GB2312" pitchFamily="49" charset="-122"/>
                <a:cs typeface="Arial" panose="020B0604020202020204" pitchFamily="34" charset="0"/>
              </a:rPr>
              <a:t>Prims algorithm</a:t>
            </a:r>
            <a:endParaRPr lang="zh-CN" altLang="en-US" sz="240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163843" name="Rectangle 3"/>
          <p:cNvSpPr>
            <a:spLocks noChangeArrowheads="1"/>
          </p:cNvSpPr>
          <p:nvPr/>
        </p:nvSpPr>
        <p:spPr bwMode="auto">
          <a:xfrm>
            <a:off x="5773420" y="1860550"/>
            <a:ext cx="3505200" cy="718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70000"/>
              </a:lnSpc>
            </a:pPr>
            <a:r>
              <a:rPr lang="zh-CN" altLang="en-US" sz="2400" b="1">
                <a:solidFill>
                  <a:srgbClr val="0000FF"/>
                </a:solidFill>
                <a:latin typeface="Arial" panose="020B0604020202020204" pitchFamily="34" charset="0"/>
                <a:ea typeface="楷体_GB2312" pitchFamily="49" charset="-122"/>
                <a:cs typeface="Arial" panose="020B0604020202020204" pitchFamily="34" charset="0"/>
              </a:rPr>
              <a:t>Kruskals algorithm</a:t>
            </a:r>
            <a:endParaRPr lang="zh-CN" altLang="en-US" sz="2400">
              <a:solidFill>
                <a:srgbClr val="000082"/>
              </a:solidFill>
              <a:latin typeface="Arial" panose="020B0604020202020204" pitchFamily="34" charset="0"/>
              <a:ea typeface="楷体_GB2312" pitchFamily="49" charset="-122"/>
              <a:cs typeface="Arial" panose="020B0604020202020204" pitchFamily="34" charset="0"/>
            </a:endParaRPr>
          </a:p>
        </p:txBody>
      </p:sp>
      <p:sp>
        <p:nvSpPr>
          <p:cNvPr id="163844" name="Rectangle 4"/>
          <p:cNvSpPr>
            <a:spLocks noChangeArrowheads="1"/>
          </p:cNvSpPr>
          <p:nvPr/>
        </p:nvSpPr>
        <p:spPr bwMode="auto">
          <a:xfrm>
            <a:off x="304800" y="3489325"/>
            <a:ext cx="2971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0000FF"/>
                </a:solidFill>
                <a:latin typeface="Arial" panose="020B0604020202020204" pitchFamily="34" charset="0"/>
                <a:ea typeface="楷体_GB2312" pitchFamily="49" charset="-122"/>
                <a:cs typeface="Arial" panose="020B0604020202020204" pitchFamily="34" charset="0"/>
              </a:rPr>
              <a:t>T</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ime complexity</a:t>
            </a:r>
            <a:endParaRPr lang="zh-CN" altLang="en-US" sz="2400" b="1">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163845" name="Rectangle 5"/>
          <p:cNvSpPr>
            <a:spLocks noChangeArrowheads="1"/>
          </p:cNvSpPr>
          <p:nvPr/>
        </p:nvSpPr>
        <p:spPr bwMode="auto">
          <a:xfrm>
            <a:off x="3609975" y="3505200"/>
            <a:ext cx="9194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b="1">
                <a:solidFill>
                  <a:srgbClr val="590096"/>
                </a:solidFill>
                <a:latin typeface="Arial" panose="020B0604020202020204" pitchFamily="34" charset="0"/>
                <a:ea typeface="楷体_GB2312" pitchFamily="49" charset="-122"/>
                <a:cs typeface="Arial" panose="020B0604020202020204" pitchFamily="34" charset="0"/>
                <a:sym typeface="+mn-ea"/>
              </a:rPr>
              <a:t>O(n</a:t>
            </a:r>
            <a:r>
              <a:rPr lang="en-US" altLang="zh-CN" sz="2400" b="1" baseline="30000">
                <a:solidFill>
                  <a:srgbClr val="590096"/>
                </a:solidFill>
                <a:latin typeface="Arial" panose="020B0604020202020204" pitchFamily="34" charset="0"/>
                <a:ea typeface="楷体_GB2312" pitchFamily="49" charset="-122"/>
                <a:cs typeface="Arial" panose="020B0604020202020204" pitchFamily="34" charset="0"/>
                <a:sym typeface="+mn-ea"/>
              </a:rPr>
              <a:t>2</a:t>
            </a:r>
            <a:r>
              <a:rPr lang="en-US" altLang="zh-CN" sz="2400" b="1">
                <a:solidFill>
                  <a:srgbClr val="590096"/>
                </a:solidFill>
                <a:latin typeface="Arial" panose="020B0604020202020204" pitchFamily="34" charset="0"/>
                <a:ea typeface="楷体_GB2312" pitchFamily="49" charset="-122"/>
                <a:cs typeface="Arial" panose="020B0604020202020204" pitchFamily="34" charset="0"/>
                <a:sym typeface="+mn-ea"/>
              </a:rPr>
              <a:t>)</a:t>
            </a:r>
            <a:endParaRPr lang="en-US" altLang="zh-CN" sz="2400" b="1">
              <a:solidFill>
                <a:srgbClr val="590096"/>
              </a:solidFill>
              <a:latin typeface="Arial" panose="020B0604020202020204" pitchFamily="34" charset="0"/>
              <a:ea typeface="楷体_GB2312" pitchFamily="49" charset="-122"/>
              <a:cs typeface="Arial" panose="020B0604020202020204" pitchFamily="34" charset="0"/>
              <a:sym typeface="+mn-ea"/>
            </a:endParaRPr>
          </a:p>
        </p:txBody>
      </p:sp>
      <p:sp>
        <p:nvSpPr>
          <p:cNvPr id="163846" name="Rectangle 6"/>
          <p:cNvSpPr>
            <a:spLocks noChangeArrowheads="1"/>
          </p:cNvSpPr>
          <p:nvPr/>
        </p:nvSpPr>
        <p:spPr bwMode="auto">
          <a:xfrm>
            <a:off x="6284595" y="3489960"/>
            <a:ext cx="20193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590096"/>
                </a:solidFill>
                <a:latin typeface="Arial" panose="020B0604020202020204" pitchFamily="34" charset="0"/>
                <a:ea typeface="楷体_GB2312" pitchFamily="49" charset="-122"/>
                <a:cs typeface="Arial" panose="020B0604020202020204" pitchFamily="34" charset="0"/>
              </a:rPr>
              <a:t>O(eloge)</a:t>
            </a:r>
            <a:endParaRPr lang="en-US" altLang="zh-CN" sz="2400" b="1">
              <a:solidFill>
                <a:srgbClr val="590096"/>
              </a:solidFill>
              <a:latin typeface="Arial" panose="020B0604020202020204" pitchFamily="34" charset="0"/>
              <a:ea typeface="楷体_GB2312" pitchFamily="49" charset="-122"/>
              <a:cs typeface="Arial" panose="020B0604020202020204" pitchFamily="34" charset="0"/>
            </a:endParaRPr>
          </a:p>
        </p:txBody>
      </p:sp>
      <p:sp>
        <p:nvSpPr>
          <p:cNvPr id="163847" name="Rectangle 7"/>
          <p:cNvSpPr>
            <a:spLocks noChangeArrowheads="1"/>
          </p:cNvSpPr>
          <p:nvPr/>
        </p:nvSpPr>
        <p:spPr bwMode="auto">
          <a:xfrm>
            <a:off x="3172143" y="5029200"/>
            <a:ext cx="226536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590096"/>
                </a:solidFill>
                <a:latin typeface="Arial" panose="020B0604020202020204" pitchFamily="34" charset="0"/>
                <a:ea typeface="楷体_GB2312" pitchFamily="49" charset="-122"/>
                <a:cs typeface="Arial" panose="020B0604020202020204" pitchFamily="34" charset="0"/>
              </a:rPr>
              <a:t>D</a:t>
            </a:r>
            <a:r>
              <a:rPr lang="zh-CN" altLang="en-US" sz="2400" b="1">
                <a:solidFill>
                  <a:srgbClr val="590096"/>
                </a:solidFill>
                <a:latin typeface="Arial" panose="020B0604020202020204" pitchFamily="34" charset="0"/>
                <a:ea typeface="楷体_GB2312" pitchFamily="49" charset="-122"/>
                <a:cs typeface="Arial" panose="020B0604020202020204" pitchFamily="34" charset="0"/>
              </a:rPr>
              <a:t>ense graph</a:t>
            </a:r>
            <a:endParaRPr lang="zh-CN" altLang="en-US" sz="2400" b="1">
              <a:solidFill>
                <a:srgbClr val="590096"/>
              </a:solidFill>
              <a:latin typeface="Arial" panose="020B0604020202020204" pitchFamily="34" charset="0"/>
              <a:ea typeface="楷体_GB2312" pitchFamily="49" charset="-122"/>
              <a:cs typeface="Arial" panose="020B0604020202020204" pitchFamily="34" charset="0"/>
            </a:endParaRPr>
          </a:p>
        </p:txBody>
      </p:sp>
      <p:sp>
        <p:nvSpPr>
          <p:cNvPr id="163848" name="Rectangle 8"/>
          <p:cNvSpPr>
            <a:spLocks noChangeArrowheads="1"/>
          </p:cNvSpPr>
          <p:nvPr/>
        </p:nvSpPr>
        <p:spPr bwMode="auto">
          <a:xfrm>
            <a:off x="6012815" y="5029200"/>
            <a:ext cx="22748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solidFill>
                  <a:srgbClr val="590096"/>
                </a:solidFill>
                <a:latin typeface="Arial" panose="020B0604020202020204" pitchFamily="34" charset="0"/>
                <a:ea typeface="楷体_GB2312" pitchFamily="49" charset="-122"/>
                <a:cs typeface="Arial" panose="020B0604020202020204" pitchFamily="34" charset="0"/>
              </a:rPr>
              <a:t>Sparse graph</a:t>
            </a:r>
            <a:endParaRPr lang="zh-CN" altLang="en-US" sz="2400" b="1">
              <a:solidFill>
                <a:srgbClr val="590096"/>
              </a:solidFill>
              <a:latin typeface="Arial" panose="020B0604020202020204" pitchFamily="34" charset="0"/>
              <a:ea typeface="楷体_GB2312" pitchFamily="49" charset="-122"/>
              <a:cs typeface="Arial" panose="020B0604020202020204" pitchFamily="34" charset="0"/>
            </a:endParaRPr>
          </a:p>
        </p:txBody>
      </p:sp>
      <p:sp>
        <p:nvSpPr>
          <p:cNvPr id="163849" name="Rectangle 9"/>
          <p:cNvSpPr>
            <a:spLocks noChangeArrowheads="1"/>
          </p:cNvSpPr>
          <p:nvPr/>
        </p:nvSpPr>
        <p:spPr bwMode="auto">
          <a:xfrm>
            <a:off x="189230" y="2041525"/>
            <a:ext cx="258254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a:solidFill>
                  <a:srgbClr val="0000FF"/>
                </a:solidFill>
                <a:latin typeface="Arial" panose="020B0604020202020204" pitchFamily="34" charset="0"/>
                <a:ea typeface="楷体_GB2312" pitchFamily="49" charset="-122"/>
                <a:cs typeface="Arial" panose="020B0604020202020204" pitchFamily="34" charset="0"/>
              </a:rPr>
              <a:t>Algorithm name</a:t>
            </a:r>
            <a:endParaRPr lang="zh-CN" altLang="en-US" sz="2400" b="1">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163850" name="Text Box 10"/>
          <p:cNvSpPr txBox="1">
            <a:spLocks noChangeArrowheads="1"/>
          </p:cNvSpPr>
          <p:nvPr/>
        </p:nvSpPr>
        <p:spPr bwMode="auto">
          <a:xfrm>
            <a:off x="533400" y="5013325"/>
            <a:ext cx="26701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0000FF"/>
                </a:solidFill>
                <a:latin typeface="Arial" panose="020B0604020202020204" pitchFamily="34" charset="0"/>
                <a:ea typeface="楷体_GB2312" pitchFamily="49" charset="-122"/>
                <a:cs typeface="Arial" panose="020B0604020202020204" pitchFamily="34" charset="0"/>
              </a:rPr>
              <a:t>S</a:t>
            </a:r>
            <a:r>
              <a:rPr lang="zh-CN" altLang="en-US" sz="2400" b="1">
                <a:solidFill>
                  <a:srgbClr val="0000FF"/>
                </a:solidFill>
                <a:latin typeface="Arial" panose="020B0604020202020204" pitchFamily="34" charset="0"/>
                <a:ea typeface="楷体_GB2312" pitchFamily="49" charset="-122"/>
                <a:cs typeface="Arial" panose="020B0604020202020204" pitchFamily="34" charset="0"/>
              </a:rPr>
              <a:t>ubject range</a:t>
            </a:r>
            <a:endParaRPr lang="zh-CN" altLang="en-US" sz="2400">
              <a:latin typeface="Arial" panose="020B0604020202020204" pitchFamily="34" charset="0"/>
              <a:cs typeface="Arial" panose="020B0604020202020204" pitchFamily="34" charset="0"/>
            </a:endParaRPr>
          </a:p>
        </p:txBody>
      </p:sp>
      <p:sp>
        <p:nvSpPr>
          <p:cNvPr id="163851" name="Text Box 11"/>
          <p:cNvSpPr txBox="1">
            <a:spLocks noChangeArrowheads="1"/>
          </p:cNvSpPr>
          <p:nvPr/>
        </p:nvSpPr>
        <p:spPr bwMode="auto">
          <a:xfrm>
            <a:off x="685800" y="304800"/>
            <a:ext cx="75580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a:solidFill>
                  <a:srgbClr val="800000"/>
                </a:solidFill>
                <a:latin typeface="Arial" panose="020B0604020202020204" pitchFamily="34" charset="0"/>
                <a:ea typeface="隶书" panose="02010509060101010101" pitchFamily="49" charset="-122"/>
                <a:cs typeface="Arial" panose="020B0604020202020204" pitchFamily="34" charset="0"/>
              </a:rPr>
              <a:t>(3) Compare the two algorithms</a:t>
            </a:r>
            <a:endParaRPr lang="zh-CN" altLang="en-US" sz="3600">
              <a:solidFill>
                <a:srgbClr val="800000"/>
              </a:solidFill>
              <a:latin typeface="Arial" panose="020B0604020202020204" pitchFamily="34" charset="0"/>
              <a:ea typeface="隶书" panose="02010509060101010101"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5"/>
                                        </p:tgtEl>
                                        <p:attrNameLst>
                                          <p:attrName>style.visibility</p:attrName>
                                        </p:attrNameLst>
                                      </p:cBhvr>
                                      <p:to>
                                        <p:strVal val="visible"/>
                                      </p:to>
                                    </p:set>
                                    <p:animEffect transition="in" filter="wipe(left)">
                                      <p:cBhvr>
                                        <p:cTn id="7" dur="500"/>
                                        <p:tgtEl>
                                          <p:spTgt spid="1638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6"/>
                                        </p:tgtEl>
                                        <p:attrNameLst>
                                          <p:attrName>style.visibility</p:attrName>
                                        </p:attrNameLst>
                                      </p:cBhvr>
                                      <p:to>
                                        <p:strVal val="visible"/>
                                      </p:to>
                                    </p:set>
                                    <p:animEffect transition="in" filter="wipe(left)">
                                      <p:cBhvr>
                                        <p:cTn id="12" dur="500"/>
                                        <p:tgtEl>
                                          <p:spTgt spid="1638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7"/>
                                        </p:tgtEl>
                                        <p:attrNameLst>
                                          <p:attrName>style.visibility</p:attrName>
                                        </p:attrNameLst>
                                      </p:cBhvr>
                                      <p:to>
                                        <p:strVal val="visible"/>
                                      </p:to>
                                    </p:set>
                                    <p:animEffect transition="in" filter="wipe(left)">
                                      <p:cBhvr>
                                        <p:cTn id="17" dur="500"/>
                                        <p:tgtEl>
                                          <p:spTgt spid="1638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848"/>
                                        </p:tgtEl>
                                        <p:attrNameLst>
                                          <p:attrName>style.visibility</p:attrName>
                                        </p:attrNameLst>
                                      </p:cBhvr>
                                      <p:to>
                                        <p:strVal val="visible"/>
                                      </p:to>
                                    </p:set>
                                    <p:animEffect transition="in" filter="wipe(left)">
                                      <p:cBhvr>
                                        <p:cTn id="22" dur="500"/>
                                        <p:tgtEl>
                                          <p:spTgt spid="163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5" grpId="0" bldLvl="0" animBg="1" autoUpdateAnimBg="0"/>
      <p:bldP spid="163846" grpId="0" bldLvl="0" animBg="1" autoUpdateAnimBg="0"/>
      <p:bldP spid="163847" grpId="0" bldLvl="0" animBg="1" autoUpdateAnimBg="0"/>
      <p:bldP spid="163848" grpId="0" bldLvl="0" animBg="1"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storage representations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traversal</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connectivity and spanning tree</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The shortest path between two vertices</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T</a:t>
            </a:r>
            <a:r>
              <a:rPr lang="zh-CN" altLang="en-US" dirty="0">
                <a:latin typeface="Times New Roman" panose="02020603050405020304" pitchFamily="18" charset="0"/>
                <a:cs typeface="Times New Roman" panose="02020603050405020304" pitchFamily="18" charset="0"/>
              </a:rPr>
              <a:t>opological </a:t>
            </a:r>
            <a:r>
              <a:rPr lang="en-US" altLang="zh-CN" dirty="0">
                <a:latin typeface="Times New Roman" panose="02020603050405020304" pitchFamily="18" charset="0"/>
                <a:cs typeface="Times New Roman" panose="02020603050405020304" pitchFamily="18" charset="0"/>
              </a:rPr>
              <a:t>sorting</a:t>
            </a:r>
            <a:endParaRPr lang="en-US" altLang="zh-CN" dirty="0">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cs typeface="Arial" panose="020B0604020202020204" pitchFamily="34" charset="0"/>
              </a:rPr>
              <a:t>The shortest path between two </a:t>
            </a:r>
            <a:r>
              <a:rPr>
                <a:cs typeface="Arial" panose="020B0604020202020204" pitchFamily="34" charset="0"/>
                <a:sym typeface="+mn-ea"/>
              </a:rPr>
              <a:t>vertices</a:t>
            </a:r>
            <a:endParaRPr lang="zh-CN" altLang="en-US" dirty="0">
              <a:cs typeface="Arial" panose="020B0604020202020204" pitchFamily="34" charset="0"/>
            </a:endParaRPr>
          </a:p>
        </p:txBody>
      </p:sp>
      <p:sp>
        <p:nvSpPr>
          <p:cNvPr id="3" name="内容占位符 2"/>
          <p:cNvSpPr>
            <a:spLocks noGrp="1"/>
          </p:cNvSpPr>
          <p:nvPr>
            <p:ph idx="1"/>
          </p:nvPr>
        </p:nvSpPr>
        <p:spPr/>
        <p:txBody>
          <a:bodyPr/>
          <a:lstStyle/>
          <a:p>
            <a:r>
              <a:rPr lang="zh-CN" altLang="en-US" b="1" dirty="0">
                <a:solidFill>
                  <a:srgbClr val="000099"/>
                </a:solidFill>
                <a:ea typeface="楷体_GB2312" pitchFamily="49" charset="-122"/>
                <a:cs typeface="Arial" panose="020B0604020202020204" pitchFamily="34" charset="0"/>
              </a:rPr>
              <a:t>Find the shortest path from a source </a:t>
            </a:r>
            <a:r>
              <a:rPr lang="zh-CN" altLang="en-US" b="1" dirty="0">
                <a:solidFill>
                  <a:srgbClr val="000099"/>
                </a:solidFill>
                <a:ea typeface="楷体_GB2312" pitchFamily="49" charset="-122"/>
                <a:cs typeface="Arial" panose="020B0604020202020204" pitchFamily="34" charset="0"/>
                <a:sym typeface="+mn-ea"/>
              </a:rPr>
              <a:t>vertice</a:t>
            </a:r>
            <a:r>
              <a:rPr lang="en-US" altLang="zh-CN" b="1" dirty="0">
                <a:solidFill>
                  <a:srgbClr val="000099"/>
                </a:solidFill>
                <a:ea typeface="楷体_GB2312" pitchFamily="49" charset="-122"/>
                <a:cs typeface="Arial" panose="020B0604020202020204" pitchFamily="34" charset="0"/>
                <a:sym typeface="+mn-ea"/>
              </a:rPr>
              <a:t> </a:t>
            </a:r>
            <a:r>
              <a:rPr lang="zh-CN" altLang="en-US" b="1" dirty="0">
                <a:solidFill>
                  <a:srgbClr val="000099"/>
                </a:solidFill>
                <a:ea typeface="楷体_GB2312" pitchFamily="49" charset="-122"/>
                <a:cs typeface="Arial" panose="020B0604020202020204" pitchFamily="34" charset="0"/>
              </a:rPr>
              <a:t>to all other </a:t>
            </a:r>
            <a:r>
              <a:rPr lang="zh-CN" altLang="en-US" b="1" dirty="0">
                <a:solidFill>
                  <a:srgbClr val="000099"/>
                </a:solidFill>
                <a:ea typeface="楷体_GB2312" pitchFamily="49" charset="-122"/>
                <a:cs typeface="Arial" panose="020B0604020202020204" pitchFamily="34" charset="0"/>
                <a:sym typeface="+mn-ea"/>
              </a:rPr>
              <a:t>vertices</a:t>
            </a:r>
            <a:endParaRPr lang="en-US" altLang="zh-CN" b="1" dirty="0">
              <a:solidFill>
                <a:srgbClr val="000099"/>
              </a:solidFill>
              <a:ea typeface="楷体_GB2312" pitchFamily="49" charset="-122"/>
              <a:cs typeface="Arial" panose="020B0604020202020204" pitchFamily="34" charset="0"/>
            </a:endParaRPr>
          </a:p>
          <a:p>
            <a:r>
              <a:rPr lang="zh-CN" altLang="en-US" b="1" dirty="0">
                <a:solidFill>
                  <a:srgbClr val="000099"/>
                </a:solidFill>
                <a:ea typeface="楷体_GB2312" pitchFamily="49" charset="-122"/>
                <a:cs typeface="Arial" panose="020B0604020202020204" pitchFamily="34" charset="0"/>
              </a:rPr>
              <a:t>The shortest path between each pair of vertices</a:t>
            </a:r>
            <a:endParaRPr lang="zh-CN" altLang="en-US" dirty="0">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228600" y="44450"/>
            <a:ext cx="794380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4000" b="1" dirty="0">
                <a:solidFill>
                  <a:srgbClr val="FF0000"/>
                </a:solidFill>
                <a:ea typeface="楷体_GB2312" pitchFamily="49" charset="-122"/>
                <a:sym typeface="+mn-ea"/>
              </a:rPr>
              <a:t>Find the shortest path from a source </a:t>
            </a:r>
            <a:r>
              <a:rPr lang="zh-CN" altLang="en-US" sz="4000" b="1" dirty="0">
                <a:solidFill>
                  <a:srgbClr val="FF0000"/>
                </a:solidFill>
                <a:ea typeface="楷体_GB2312" pitchFamily="49" charset="-122"/>
                <a:sym typeface="+mn-ea"/>
              </a:rPr>
              <a:t>vertice </a:t>
            </a:r>
            <a:r>
              <a:rPr lang="zh-CN" altLang="en-US" sz="4000" b="1" dirty="0">
                <a:solidFill>
                  <a:srgbClr val="FF0000"/>
                </a:solidFill>
                <a:ea typeface="楷体_GB2312" pitchFamily="49" charset="-122"/>
                <a:sym typeface="+mn-ea"/>
              </a:rPr>
              <a:t>to all other </a:t>
            </a:r>
            <a:r>
              <a:rPr lang="zh-CN" altLang="en-US" sz="4000" b="1" dirty="0">
                <a:solidFill>
                  <a:srgbClr val="FF0000"/>
                </a:solidFill>
                <a:ea typeface="楷体_GB2312" pitchFamily="49" charset="-122"/>
                <a:sym typeface="+mn-ea"/>
              </a:rPr>
              <a:t>vertices</a:t>
            </a:r>
            <a:endParaRPr lang="zh-CN" altLang="en-US" sz="4000" b="1" dirty="0">
              <a:solidFill>
                <a:srgbClr val="FF0000"/>
              </a:solidFill>
              <a:ea typeface="楷体_GB2312" pitchFamily="49" charset="-122"/>
            </a:endParaRPr>
          </a:p>
        </p:txBody>
      </p:sp>
      <p:grpSp>
        <p:nvGrpSpPr>
          <p:cNvPr id="180227" name="Group 3"/>
          <p:cNvGrpSpPr/>
          <p:nvPr/>
        </p:nvGrpSpPr>
        <p:grpSpPr bwMode="auto">
          <a:xfrm>
            <a:off x="914400" y="2819400"/>
            <a:ext cx="2813050" cy="2971800"/>
            <a:chOff x="576" y="1776"/>
            <a:chExt cx="1772" cy="1872"/>
          </a:xfrm>
        </p:grpSpPr>
        <p:sp>
          <p:nvSpPr>
            <p:cNvPr id="180228" name="Oval 4"/>
            <p:cNvSpPr>
              <a:spLocks noChangeArrowheads="1"/>
            </p:cNvSpPr>
            <p:nvPr/>
          </p:nvSpPr>
          <p:spPr bwMode="auto">
            <a:xfrm>
              <a:off x="1248" y="1776"/>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5</a:t>
              </a:r>
              <a:endParaRPr lang="en-US" altLang="zh-CN" sz="1800"/>
            </a:p>
          </p:txBody>
        </p:sp>
        <p:sp>
          <p:nvSpPr>
            <p:cNvPr id="180229" name="Oval 5"/>
            <p:cNvSpPr>
              <a:spLocks noChangeArrowheads="1"/>
            </p:cNvSpPr>
            <p:nvPr/>
          </p:nvSpPr>
          <p:spPr bwMode="auto">
            <a:xfrm>
              <a:off x="576"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0</a:t>
              </a:r>
              <a:endParaRPr lang="en-US" altLang="zh-CN" sz="1800"/>
            </a:p>
          </p:txBody>
        </p:sp>
        <p:sp>
          <p:nvSpPr>
            <p:cNvPr id="180230" name="Oval 6"/>
            <p:cNvSpPr>
              <a:spLocks noChangeArrowheads="1"/>
            </p:cNvSpPr>
            <p:nvPr/>
          </p:nvSpPr>
          <p:spPr bwMode="auto">
            <a:xfrm>
              <a:off x="576" y="288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1</a:t>
              </a:r>
              <a:endParaRPr lang="en-US" altLang="zh-CN" sz="1800"/>
            </a:p>
          </p:txBody>
        </p:sp>
        <p:sp>
          <p:nvSpPr>
            <p:cNvPr id="180231" name="Oval 7"/>
            <p:cNvSpPr>
              <a:spLocks noChangeArrowheads="1"/>
            </p:cNvSpPr>
            <p:nvPr/>
          </p:nvSpPr>
          <p:spPr bwMode="auto">
            <a:xfrm>
              <a:off x="1200" y="33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2</a:t>
              </a:r>
              <a:endParaRPr lang="en-US" altLang="zh-CN" sz="1800"/>
            </a:p>
          </p:txBody>
        </p:sp>
        <p:sp>
          <p:nvSpPr>
            <p:cNvPr id="180232" name="Oval 8"/>
            <p:cNvSpPr>
              <a:spLocks noChangeArrowheads="1"/>
            </p:cNvSpPr>
            <p:nvPr/>
          </p:nvSpPr>
          <p:spPr bwMode="auto">
            <a:xfrm>
              <a:off x="1872" y="2928"/>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3</a:t>
              </a:r>
              <a:endParaRPr lang="en-US" altLang="zh-CN" sz="1800"/>
            </a:p>
          </p:txBody>
        </p:sp>
        <p:sp>
          <p:nvSpPr>
            <p:cNvPr id="180233" name="Oval 9"/>
            <p:cNvSpPr>
              <a:spLocks noChangeArrowheads="1"/>
            </p:cNvSpPr>
            <p:nvPr/>
          </p:nvSpPr>
          <p:spPr bwMode="auto">
            <a:xfrm>
              <a:off x="1920"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4</a:t>
              </a:r>
              <a:endParaRPr lang="en-US" altLang="zh-CN" sz="1800"/>
            </a:p>
          </p:txBody>
        </p:sp>
        <p:sp>
          <p:nvSpPr>
            <p:cNvPr id="180234" name="Line 10"/>
            <p:cNvSpPr>
              <a:spLocks noChangeShapeType="1"/>
            </p:cNvSpPr>
            <p:nvPr/>
          </p:nvSpPr>
          <p:spPr bwMode="auto">
            <a:xfrm flipV="1">
              <a:off x="816" y="19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35" name="Line 11"/>
            <p:cNvSpPr>
              <a:spLocks noChangeShapeType="1"/>
            </p:cNvSpPr>
            <p:nvPr/>
          </p:nvSpPr>
          <p:spPr bwMode="auto">
            <a:xfrm>
              <a:off x="864" y="2304"/>
              <a:ext cx="1056"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36" name="Line 12"/>
            <p:cNvSpPr>
              <a:spLocks noChangeShapeType="1"/>
            </p:cNvSpPr>
            <p:nvPr/>
          </p:nvSpPr>
          <p:spPr bwMode="auto">
            <a:xfrm>
              <a:off x="816" y="2400"/>
              <a:ext cx="480" cy="96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37" name="Line 13"/>
            <p:cNvSpPr>
              <a:spLocks noChangeShapeType="1"/>
            </p:cNvSpPr>
            <p:nvPr/>
          </p:nvSpPr>
          <p:spPr bwMode="auto">
            <a:xfrm>
              <a:off x="816" y="3120"/>
              <a:ext cx="384" cy="288"/>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38" name="Line 14"/>
            <p:cNvSpPr>
              <a:spLocks noChangeShapeType="1"/>
            </p:cNvSpPr>
            <p:nvPr/>
          </p:nvSpPr>
          <p:spPr bwMode="auto">
            <a:xfrm flipV="1">
              <a:off x="1488" y="31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39" name="Line 15"/>
            <p:cNvSpPr>
              <a:spLocks noChangeShapeType="1"/>
            </p:cNvSpPr>
            <p:nvPr/>
          </p:nvSpPr>
          <p:spPr bwMode="auto">
            <a:xfrm>
              <a:off x="2064" y="2448"/>
              <a:ext cx="0" cy="48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40" name="Line 16"/>
            <p:cNvSpPr>
              <a:spLocks noChangeShapeType="1"/>
            </p:cNvSpPr>
            <p:nvPr/>
          </p:nvSpPr>
          <p:spPr bwMode="auto">
            <a:xfrm flipH="1" flipV="1">
              <a:off x="1536" y="1968"/>
              <a:ext cx="384"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41" name="Line 17"/>
            <p:cNvSpPr>
              <a:spLocks noChangeShapeType="1"/>
            </p:cNvSpPr>
            <p:nvPr/>
          </p:nvSpPr>
          <p:spPr bwMode="auto">
            <a:xfrm flipH="1" flipV="1">
              <a:off x="1440" y="2064"/>
              <a:ext cx="432" cy="912"/>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42" name="Rectangle 18"/>
            <p:cNvSpPr>
              <a:spLocks noChangeArrowheads="1"/>
            </p:cNvSpPr>
            <p:nvPr/>
          </p:nvSpPr>
          <p:spPr bwMode="auto">
            <a:xfrm>
              <a:off x="864" y="32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a:t>
              </a:r>
              <a:endParaRPr lang="en-US" altLang="zh-CN" b="1"/>
            </a:p>
          </p:txBody>
        </p:sp>
        <p:sp>
          <p:nvSpPr>
            <p:cNvPr id="180243" name="Rectangle 19"/>
            <p:cNvSpPr>
              <a:spLocks noChangeArrowheads="1"/>
            </p:cNvSpPr>
            <p:nvPr/>
          </p:nvSpPr>
          <p:spPr bwMode="auto">
            <a:xfrm>
              <a:off x="984" y="26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0244" name="Rectangle 20"/>
            <p:cNvSpPr>
              <a:spLocks noChangeArrowheads="1"/>
            </p:cNvSpPr>
            <p:nvPr/>
          </p:nvSpPr>
          <p:spPr bwMode="auto">
            <a:xfrm>
              <a:off x="1440"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0245" name="Rectangle 21"/>
            <p:cNvSpPr>
              <a:spLocks noChangeArrowheads="1"/>
            </p:cNvSpPr>
            <p:nvPr/>
          </p:nvSpPr>
          <p:spPr bwMode="auto">
            <a:xfrm>
              <a:off x="2040" y="25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20</a:t>
              </a:r>
              <a:endParaRPr lang="en-US" altLang="zh-CN" b="1"/>
            </a:p>
          </p:txBody>
        </p:sp>
        <p:sp>
          <p:nvSpPr>
            <p:cNvPr id="180246" name="Rectangle 22"/>
            <p:cNvSpPr>
              <a:spLocks noChangeArrowheads="1"/>
            </p:cNvSpPr>
            <p:nvPr/>
          </p:nvSpPr>
          <p:spPr bwMode="auto">
            <a:xfrm>
              <a:off x="1104" y="20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30</a:t>
              </a:r>
              <a:endParaRPr lang="en-US" altLang="zh-CN" b="1"/>
            </a:p>
          </p:txBody>
        </p:sp>
        <p:sp>
          <p:nvSpPr>
            <p:cNvPr id="180247" name="Rectangle 23"/>
            <p:cNvSpPr>
              <a:spLocks noChangeArrowheads="1"/>
            </p:cNvSpPr>
            <p:nvPr/>
          </p:nvSpPr>
          <p:spPr bwMode="auto">
            <a:xfrm>
              <a:off x="1468"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50</a:t>
              </a:r>
              <a:endParaRPr lang="en-US" altLang="zh-CN" b="1"/>
            </a:p>
          </p:txBody>
        </p:sp>
        <p:sp>
          <p:nvSpPr>
            <p:cNvPr id="180248" name="Rectangle 24"/>
            <p:cNvSpPr>
              <a:spLocks noChangeArrowheads="1"/>
            </p:cNvSpPr>
            <p:nvPr/>
          </p:nvSpPr>
          <p:spPr bwMode="auto">
            <a:xfrm>
              <a:off x="1716"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60</a:t>
              </a:r>
              <a:endParaRPr lang="en-US" altLang="zh-CN" b="1"/>
            </a:p>
          </p:txBody>
        </p:sp>
        <p:sp>
          <p:nvSpPr>
            <p:cNvPr id="180249" name="Rectangle 25"/>
            <p:cNvSpPr>
              <a:spLocks noChangeArrowheads="1"/>
            </p:cNvSpPr>
            <p:nvPr/>
          </p:nvSpPr>
          <p:spPr bwMode="auto">
            <a:xfrm>
              <a:off x="768" y="183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100</a:t>
              </a:r>
              <a:endParaRPr lang="en-US" altLang="zh-CN" b="1"/>
            </a:p>
          </p:txBody>
        </p:sp>
      </p:grpSp>
      <p:sp>
        <p:nvSpPr>
          <p:cNvPr id="180250" name="Text Box 26"/>
          <p:cNvSpPr txBox="1">
            <a:spLocks noChangeArrowheads="1"/>
          </p:cNvSpPr>
          <p:nvPr/>
        </p:nvSpPr>
        <p:spPr bwMode="auto">
          <a:xfrm>
            <a:off x="4140200" y="2681288"/>
            <a:ext cx="4800600" cy="3280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50000"/>
              </a:spcBef>
            </a:pPr>
            <a:r>
              <a:rPr lang="en-US" altLang="zh-CN" sz="1400" b="1" dirty="0">
                <a:latin typeface="Arial" panose="020B0604020202020204" pitchFamily="34" charset="0"/>
                <a:ea typeface="楷体_GB2312" pitchFamily="49" charset="-122"/>
                <a:cs typeface="Arial" panose="020B0604020202020204" pitchFamily="34" charset="0"/>
              </a:rPr>
              <a:t>Start Vertex  End Vertex  Shortest Path  Path Length</a:t>
            </a:r>
            <a:endParaRPr lang="en-US" altLang="zh-CN" sz="2400" b="1" dirty="0">
              <a:latin typeface="楷体_GB2312" pitchFamily="49" charset="-122"/>
              <a:ea typeface="楷体_GB2312" pitchFamily="49" charset="-122"/>
            </a:endParaRPr>
          </a:p>
          <a:p>
            <a:pPr>
              <a:lnSpc>
                <a:spcPct val="110000"/>
              </a:lnSpc>
              <a:spcBef>
                <a:spcPct val="50000"/>
              </a:spcBef>
            </a:pPr>
            <a:r>
              <a:rPr lang="zh-CN" altLang="en-US" sz="2400" b="1" dirty="0">
                <a:solidFill>
                  <a:srgbClr val="000099"/>
                </a:solidFill>
              </a:rPr>
              <a:t> </a:t>
            </a:r>
            <a:r>
              <a:rPr lang="en-US" altLang="zh-CN" sz="2400" b="1" dirty="0">
                <a:solidFill>
                  <a:srgbClr val="000099"/>
                </a:solidFill>
              </a:rPr>
              <a:t>V</a:t>
            </a:r>
            <a:r>
              <a:rPr lang="en-US" altLang="zh-CN" sz="2400" b="1" baseline="-25000" dirty="0">
                <a:solidFill>
                  <a:srgbClr val="000099"/>
                </a:solidFill>
              </a:rPr>
              <a:t>0          </a:t>
            </a:r>
            <a:r>
              <a:rPr lang="en-US" altLang="zh-CN" sz="2400" b="1" dirty="0">
                <a:solidFill>
                  <a:srgbClr val="000099"/>
                </a:solidFill>
              </a:rPr>
              <a:t>V</a:t>
            </a:r>
            <a:r>
              <a:rPr lang="en-US" altLang="zh-CN" sz="2400" b="1" baseline="-25000" dirty="0">
                <a:solidFill>
                  <a:srgbClr val="000099"/>
                </a:solidFill>
              </a:rPr>
              <a:t>1</a:t>
            </a:r>
            <a:endParaRPr lang="en-US" altLang="zh-CN" sz="2400" b="1" dirty="0">
              <a:latin typeface="楷体_GB2312" pitchFamily="49" charset="-122"/>
              <a:ea typeface="楷体_GB2312" pitchFamily="49" charset="-122"/>
            </a:endParaRPr>
          </a:p>
          <a:p>
            <a:pPr>
              <a:lnSpc>
                <a:spcPct val="110000"/>
              </a:lnSpc>
              <a:spcBef>
                <a:spcPct val="50000"/>
              </a:spcBef>
            </a:pPr>
            <a:r>
              <a:rPr lang="en-US" altLang="zh-CN" sz="2400" b="1" dirty="0">
                <a:solidFill>
                  <a:srgbClr val="000099"/>
                </a:solidFill>
              </a:rPr>
              <a:t>            V</a:t>
            </a:r>
            <a:r>
              <a:rPr lang="en-US" altLang="zh-CN" sz="2400" b="1" baseline="-25000" dirty="0">
                <a:solidFill>
                  <a:srgbClr val="000099"/>
                </a:solidFill>
              </a:rPr>
              <a:t>2</a:t>
            </a:r>
            <a:endParaRPr lang="en-US" altLang="zh-CN" sz="2400" b="1" dirty="0">
              <a:solidFill>
                <a:srgbClr val="000099"/>
              </a:solidFill>
            </a:endParaRPr>
          </a:p>
          <a:p>
            <a:pPr>
              <a:lnSpc>
                <a:spcPct val="110000"/>
              </a:lnSpc>
              <a:spcBef>
                <a:spcPct val="50000"/>
              </a:spcBef>
            </a:pPr>
            <a:r>
              <a:rPr lang="en-US" altLang="zh-CN" sz="2400" b="1" dirty="0">
                <a:solidFill>
                  <a:srgbClr val="000099"/>
                </a:solidFill>
              </a:rPr>
              <a:t>             V</a:t>
            </a:r>
            <a:r>
              <a:rPr lang="en-US" altLang="zh-CN" sz="2400" b="1" baseline="-25000" dirty="0">
                <a:solidFill>
                  <a:srgbClr val="000099"/>
                </a:solidFill>
              </a:rPr>
              <a:t>3</a:t>
            </a:r>
            <a:endParaRPr lang="en-US" altLang="zh-CN" sz="2400" b="1" dirty="0">
              <a:solidFill>
                <a:srgbClr val="000099"/>
              </a:solidFill>
            </a:endParaRPr>
          </a:p>
          <a:p>
            <a:pPr>
              <a:lnSpc>
                <a:spcPct val="110000"/>
              </a:lnSpc>
              <a:spcBef>
                <a:spcPct val="50000"/>
              </a:spcBef>
            </a:pPr>
            <a:r>
              <a:rPr lang="en-US" altLang="zh-CN" sz="2400" b="1" dirty="0">
                <a:solidFill>
                  <a:srgbClr val="000099"/>
                </a:solidFill>
              </a:rPr>
              <a:t>             V</a:t>
            </a:r>
            <a:r>
              <a:rPr lang="en-US" altLang="zh-CN" sz="2400" b="1" baseline="-25000" dirty="0">
                <a:solidFill>
                  <a:srgbClr val="000099"/>
                </a:solidFill>
              </a:rPr>
              <a:t>4</a:t>
            </a:r>
            <a:r>
              <a:rPr lang="en-US" altLang="zh-CN" sz="2400" b="1" dirty="0">
                <a:solidFill>
                  <a:srgbClr val="000099"/>
                </a:solidFill>
              </a:rPr>
              <a:t> </a:t>
            </a:r>
            <a:endParaRPr lang="en-US" altLang="zh-CN" sz="2400" b="1" dirty="0">
              <a:solidFill>
                <a:srgbClr val="000099"/>
              </a:solidFill>
            </a:endParaRPr>
          </a:p>
          <a:p>
            <a:pPr>
              <a:lnSpc>
                <a:spcPct val="110000"/>
              </a:lnSpc>
              <a:spcBef>
                <a:spcPct val="50000"/>
              </a:spcBef>
            </a:pPr>
            <a:r>
              <a:rPr lang="en-US" altLang="zh-CN" sz="2400" b="1" dirty="0">
                <a:solidFill>
                  <a:srgbClr val="000099"/>
                </a:solidFill>
              </a:rPr>
              <a:t>             V</a:t>
            </a:r>
            <a:r>
              <a:rPr lang="en-US" altLang="zh-CN" sz="2400" b="1" baseline="-25000" dirty="0">
                <a:solidFill>
                  <a:srgbClr val="000099"/>
                </a:solidFill>
              </a:rPr>
              <a:t>5</a:t>
            </a:r>
            <a:endParaRPr lang="en-US" altLang="zh-CN" sz="2400" b="1" dirty="0">
              <a:solidFill>
                <a:srgbClr val="000099"/>
              </a:solidFill>
            </a:endParaRPr>
          </a:p>
        </p:txBody>
      </p:sp>
      <p:sp>
        <p:nvSpPr>
          <p:cNvPr id="180251" name="Line 27"/>
          <p:cNvSpPr>
            <a:spLocks noChangeShapeType="1"/>
          </p:cNvSpPr>
          <p:nvPr/>
        </p:nvSpPr>
        <p:spPr bwMode="auto">
          <a:xfrm>
            <a:off x="4267200" y="2667000"/>
            <a:ext cx="4343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52" name="Line 28"/>
          <p:cNvSpPr>
            <a:spLocks noChangeShapeType="1"/>
          </p:cNvSpPr>
          <p:nvPr/>
        </p:nvSpPr>
        <p:spPr bwMode="auto">
          <a:xfrm>
            <a:off x="4284663" y="3213100"/>
            <a:ext cx="4343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53" name="Line 29"/>
          <p:cNvSpPr>
            <a:spLocks noChangeShapeType="1"/>
          </p:cNvSpPr>
          <p:nvPr/>
        </p:nvSpPr>
        <p:spPr bwMode="auto">
          <a:xfrm>
            <a:off x="4305300" y="5943600"/>
            <a:ext cx="4343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0254" name="Rectangle 30"/>
          <p:cNvSpPr>
            <a:spLocks noChangeArrowheads="1"/>
          </p:cNvSpPr>
          <p:nvPr/>
        </p:nvSpPr>
        <p:spPr bwMode="auto">
          <a:xfrm>
            <a:off x="552450" y="1525531"/>
            <a:ext cx="809625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000099"/>
                </a:solidFill>
                <a:ea typeface="楷体_GB2312" pitchFamily="49" charset="-122"/>
                <a:sym typeface="+mn-ea"/>
              </a:rPr>
              <a:t>The shortest path from </a:t>
            </a:r>
            <a:r>
              <a:rPr lang="en-US" altLang="zh-CN" b="1" dirty="0">
                <a:solidFill>
                  <a:srgbClr val="000099"/>
                </a:solidFill>
                <a:ea typeface="楷体_GB2312" pitchFamily="49" charset="-122"/>
                <a:sym typeface="+mn-ea"/>
              </a:rPr>
              <a:t>V</a:t>
            </a:r>
            <a:r>
              <a:rPr lang="en-US" altLang="zh-CN" b="1" baseline="-25000" dirty="0">
                <a:solidFill>
                  <a:srgbClr val="000099"/>
                </a:solidFill>
                <a:ea typeface="楷体_GB2312" pitchFamily="49" charset="-122"/>
                <a:sym typeface="+mn-ea"/>
              </a:rPr>
              <a:t>0</a:t>
            </a:r>
            <a:r>
              <a:rPr lang="zh-CN" altLang="en-US" b="1" dirty="0">
                <a:solidFill>
                  <a:srgbClr val="000099"/>
                </a:solidFill>
                <a:ea typeface="楷体_GB2312" pitchFamily="49" charset="-122"/>
                <a:sym typeface="+mn-ea"/>
              </a:rPr>
              <a:t> to all other vertices in a weighted directed graph:</a:t>
            </a:r>
            <a:endParaRPr lang="zh-CN" altLang="en-US" sz="2800" b="1" dirty="0">
              <a:solidFill>
                <a:srgbClr val="000099"/>
              </a:solidFill>
              <a:ea typeface="楷体_GB2312" pitchFamily="49" charset="-122"/>
            </a:endParaRPr>
          </a:p>
        </p:txBody>
      </p:sp>
      <p:sp>
        <p:nvSpPr>
          <p:cNvPr id="180255" name="Text Box 31"/>
          <p:cNvSpPr txBox="1">
            <a:spLocks noChangeArrowheads="1"/>
          </p:cNvSpPr>
          <p:nvPr/>
        </p:nvSpPr>
        <p:spPr bwMode="auto">
          <a:xfrm>
            <a:off x="6119813" y="3213100"/>
            <a:ext cx="3024187"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olidFill>
                  <a:srgbClr val="000099"/>
                </a:solidFill>
              </a:rPr>
              <a:t>None</a:t>
            </a:r>
            <a:endParaRPr lang="en-US" altLang="zh-CN" sz="2400" b="1" dirty="0">
              <a:solidFill>
                <a:srgbClr val="000099"/>
              </a:solidFill>
            </a:endParaRPr>
          </a:p>
          <a:p>
            <a:pPr>
              <a:spcBef>
                <a:spcPct val="50000"/>
              </a:spcBef>
            </a:pPr>
            <a:r>
              <a:rPr lang="en-US" altLang="zh-CN" sz="2400" b="1" dirty="0">
                <a:solidFill>
                  <a:srgbClr val="000099"/>
                </a:solidFill>
              </a:rPr>
              <a:t>(V</a:t>
            </a:r>
            <a:r>
              <a:rPr lang="en-US" altLang="zh-CN" sz="2400" b="1" baseline="-25000" dirty="0">
                <a:solidFill>
                  <a:srgbClr val="000099"/>
                </a:solidFill>
              </a:rPr>
              <a:t>0</a:t>
            </a:r>
            <a:r>
              <a:rPr lang="en-US" altLang="zh-CN" sz="2400" b="1" dirty="0">
                <a:solidFill>
                  <a:srgbClr val="000099"/>
                </a:solidFill>
              </a:rPr>
              <a:t>,</a:t>
            </a:r>
            <a:r>
              <a:rPr lang="en-US" altLang="zh-CN" sz="2400" b="1" baseline="-25000" dirty="0">
                <a:solidFill>
                  <a:srgbClr val="000099"/>
                </a:solidFill>
              </a:rPr>
              <a:t> </a:t>
            </a:r>
            <a:r>
              <a:rPr lang="en-US" altLang="zh-CN" sz="2400" b="1" dirty="0">
                <a:solidFill>
                  <a:srgbClr val="000099"/>
                </a:solidFill>
              </a:rPr>
              <a:t>V</a:t>
            </a:r>
            <a:r>
              <a:rPr lang="en-US" altLang="zh-CN" sz="2400" b="1" baseline="-25000" dirty="0">
                <a:solidFill>
                  <a:srgbClr val="000099"/>
                </a:solidFill>
              </a:rPr>
              <a:t>2</a:t>
            </a:r>
            <a:r>
              <a:rPr lang="en-US" altLang="zh-CN" sz="2400" b="1" dirty="0">
                <a:solidFill>
                  <a:srgbClr val="000099"/>
                </a:solidFill>
              </a:rPr>
              <a:t>)             10</a:t>
            </a:r>
            <a:endParaRPr lang="en-US" altLang="zh-CN" sz="2400" b="1" dirty="0">
              <a:solidFill>
                <a:srgbClr val="000099"/>
              </a:solidFill>
            </a:endParaRPr>
          </a:p>
          <a:p>
            <a:pPr>
              <a:spcBef>
                <a:spcPct val="50000"/>
              </a:spcBef>
            </a:pPr>
            <a:r>
              <a:rPr lang="en-US" altLang="zh-CN" sz="2400" b="1" dirty="0">
                <a:solidFill>
                  <a:srgbClr val="000099"/>
                </a:solidFill>
              </a:rPr>
              <a:t>(V</a:t>
            </a:r>
            <a:r>
              <a:rPr lang="en-US" altLang="zh-CN" sz="2400" b="1" baseline="-25000" dirty="0">
                <a:solidFill>
                  <a:srgbClr val="000099"/>
                </a:solidFill>
              </a:rPr>
              <a:t>0</a:t>
            </a:r>
            <a:r>
              <a:rPr lang="en-US" altLang="zh-CN" sz="2400" b="1" dirty="0">
                <a:solidFill>
                  <a:srgbClr val="000099"/>
                </a:solidFill>
              </a:rPr>
              <a:t>,V</a:t>
            </a:r>
            <a:r>
              <a:rPr lang="en-US" altLang="zh-CN" sz="2400" b="1" baseline="-25000" dirty="0">
                <a:solidFill>
                  <a:srgbClr val="000099"/>
                </a:solidFill>
              </a:rPr>
              <a:t>4</a:t>
            </a:r>
            <a:r>
              <a:rPr lang="en-US" altLang="zh-CN" sz="2400" b="1" dirty="0">
                <a:solidFill>
                  <a:srgbClr val="000099"/>
                </a:solidFill>
              </a:rPr>
              <a:t>,V</a:t>
            </a:r>
            <a:r>
              <a:rPr lang="en-US" altLang="zh-CN" sz="2400" b="1" baseline="-25000" dirty="0">
                <a:solidFill>
                  <a:srgbClr val="000099"/>
                </a:solidFill>
              </a:rPr>
              <a:t>3</a:t>
            </a:r>
            <a:r>
              <a:rPr lang="en-US" altLang="zh-CN" sz="2400" b="1" dirty="0">
                <a:solidFill>
                  <a:srgbClr val="000099"/>
                </a:solidFill>
              </a:rPr>
              <a:t>)        50</a:t>
            </a:r>
            <a:endParaRPr lang="en-US" altLang="zh-CN" sz="2400" b="1" dirty="0">
              <a:solidFill>
                <a:srgbClr val="000099"/>
              </a:solidFill>
            </a:endParaRPr>
          </a:p>
          <a:p>
            <a:pPr>
              <a:spcBef>
                <a:spcPct val="50000"/>
              </a:spcBef>
            </a:pPr>
            <a:r>
              <a:rPr lang="en-US" altLang="zh-CN" sz="2400" b="1" dirty="0">
                <a:solidFill>
                  <a:srgbClr val="000099"/>
                </a:solidFill>
              </a:rPr>
              <a:t>(V</a:t>
            </a:r>
            <a:r>
              <a:rPr lang="en-US" altLang="zh-CN" sz="2400" b="1" baseline="-25000" dirty="0">
                <a:solidFill>
                  <a:srgbClr val="000099"/>
                </a:solidFill>
              </a:rPr>
              <a:t>0</a:t>
            </a:r>
            <a:r>
              <a:rPr lang="en-US" altLang="zh-CN" sz="2400" b="1" dirty="0">
                <a:solidFill>
                  <a:srgbClr val="000099"/>
                </a:solidFill>
              </a:rPr>
              <a:t>,V</a:t>
            </a:r>
            <a:r>
              <a:rPr lang="en-US" altLang="zh-CN" sz="2400" b="1" baseline="-25000" dirty="0">
                <a:solidFill>
                  <a:srgbClr val="000099"/>
                </a:solidFill>
              </a:rPr>
              <a:t>4</a:t>
            </a:r>
            <a:r>
              <a:rPr lang="en-US" altLang="zh-CN" sz="2400" b="1" dirty="0">
                <a:solidFill>
                  <a:srgbClr val="000099"/>
                </a:solidFill>
              </a:rPr>
              <a:t>)             30</a:t>
            </a:r>
            <a:endParaRPr lang="en-US" altLang="zh-CN" sz="2400" b="1" dirty="0">
              <a:solidFill>
                <a:srgbClr val="000099"/>
              </a:solidFill>
            </a:endParaRPr>
          </a:p>
          <a:p>
            <a:pPr>
              <a:spcBef>
                <a:spcPct val="50000"/>
              </a:spcBef>
            </a:pPr>
            <a:r>
              <a:rPr lang="en-US" altLang="zh-CN" sz="2400" b="1" dirty="0">
                <a:solidFill>
                  <a:srgbClr val="000099"/>
                </a:solidFill>
              </a:rPr>
              <a:t>(V</a:t>
            </a:r>
            <a:r>
              <a:rPr lang="en-US" altLang="zh-CN" sz="2400" b="1" baseline="-25000" dirty="0">
                <a:solidFill>
                  <a:srgbClr val="000099"/>
                </a:solidFill>
              </a:rPr>
              <a:t>0</a:t>
            </a:r>
            <a:r>
              <a:rPr lang="en-US" altLang="zh-CN" sz="2400" b="1" dirty="0">
                <a:solidFill>
                  <a:srgbClr val="000099"/>
                </a:solidFill>
              </a:rPr>
              <a:t>,V</a:t>
            </a:r>
            <a:r>
              <a:rPr lang="en-US" altLang="zh-CN" sz="2400" b="1" baseline="-25000" dirty="0">
                <a:solidFill>
                  <a:srgbClr val="000099"/>
                </a:solidFill>
              </a:rPr>
              <a:t>4</a:t>
            </a:r>
            <a:r>
              <a:rPr lang="en-US" altLang="zh-CN" sz="2400" b="1" dirty="0">
                <a:solidFill>
                  <a:srgbClr val="000099"/>
                </a:solidFill>
              </a:rPr>
              <a:t>,V</a:t>
            </a:r>
            <a:r>
              <a:rPr lang="en-US" altLang="zh-CN" sz="2400" b="1" baseline="-25000" dirty="0">
                <a:solidFill>
                  <a:srgbClr val="000099"/>
                </a:solidFill>
              </a:rPr>
              <a:t>3</a:t>
            </a:r>
            <a:r>
              <a:rPr lang="en-US" altLang="zh-CN" sz="2400" b="1" dirty="0">
                <a:solidFill>
                  <a:srgbClr val="000099"/>
                </a:solidFill>
              </a:rPr>
              <a:t>,V</a:t>
            </a:r>
            <a:r>
              <a:rPr lang="en-US" altLang="zh-CN" sz="2400" b="1" baseline="-25000" dirty="0">
                <a:solidFill>
                  <a:srgbClr val="000099"/>
                </a:solidFill>
              </a:rPr>
              <a:t>5</a:t>
            </a:r>
            <a:r>
              <a:rPr lang="en-US" altLang="zh-CN" sz="2400" b="1" dirty="0">
                <a:solidFill>
                  <a:srgbClr val="000099"/>
                </a:solidFill>
              </a:rPr>
              <a:t>)   60</a:t>
            </a:r>
            <a:endParaRPr lang="en-US" altLang="zh-CN" sz="2400" b="1" dirty="0">
              <a:solidFill>
                <a:srgbClr val="000099"/>
              </a:solidFill>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180227"/>
                                        </p:tgtEl>
                                        <p:attrNameLst>
                                          <p:attrName>style.visibility</p:attrName>
                                        </p:attrNameLst>
                                      </p:cBhvr>
                                      <p:to>
                                        <p:strVal val="visible"/>
                                      </p:to>
                                    </p:set>
                                    <p:anim calcmode="lin" valueType="num">
                                      <p:cBhvr>
                                        <p:cTn id="7" dur="1000" fill="hold"/>
                                        <p:tgtEl>
                                          <p:spTgt spid="180227"/>
                                        </p:tgtEl>
                                        <p:attrNameLst>
                                          <p:attrName>ppt_w</p:attrName>
                                        </p:attrNameLst>
                                      </p:cBhvr>
                                      <p:tavLst>
                                        <p:tav tm="0">
                                          <p:val>
                                            <p:fltVal val="0"/>
                                          </p:val>
                                        </p:tav>
                                        <p:tav tm="100000">
                                          <p:val>
                                            <p:strVal val="#ppt_w"/>
                                          </p:val>
                                        </p:tav>
                                      </p:tavLst>
                                    </p:anim>
                                    <p:anim calcmode="lin" valueType="num">
                                      <p:cBhvr>
                                        <p:cTn id="8" dur="1000" fill="hold"/>
                                        <p:tgtEl>
                                          <p:spTgt spid="180227"/>
                                        </p:tgtEl>
                                        <p:attrNameLst>
                                          <p:attrName>ppt_h</p:attrName>
                                        </p:attrNameLst>
                                      </p:cBhvr>
                                      <p:tavLst>
                                        <p:tav tm="0">
                                          <p:val>
                                            <p:fltVal val="0"/>
                                          </p:val>
                                        </p:tav>
                                        <p:tav tm="100000">
                                          <p:val>
                                            <p:strVal val="#ppt_h"/>
                                          </p:val>
                                        </p:tav>
                                      </p:tavLst>
                                    </p:anim>
                                    <p:anim calcmode="lin" valueType="num">
                                      <p:cBhvr>
                                        <p:cTn id="9" dur="1000" fill="hold"/>
                                        <p:tgtEl>
                                          <p:spTgt spid="180227"/>
                                        </p:tgtEl>
                                        <p:attrNameLst>
                                          <p:attrName>style.rotation</p:attrName>
                                        </p:attrNameLst>
                                      </p:cBhvr>
                                      <p:tavLst>
                                        <p:tav tm="0">
                                          <p:val>
                                            <p:fltVal val="90"/>
                                          </p:val>
                                        </p:tav>
                                        <p:tav tm="100000">
                                          <p:val>
                                            <p:fltVal val="0"/>
                                          </p:val>
                                        </p:tav>
                                      </p:tavLst>
                                    </p:anim>
                                    <p:animEffect transition="in" filter="fade">
                                      <p:cBhvr>
                                        <p:cTn id="10" dur="1000"/>
                                        <p:tgtEl>
                                          <p:spTgt spid="18022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80251"/>
                                        </p:tgtEl>
                                        <p:attrNameLst>
                                          <p:attrName>style.visibility</p:attrName>
                                        </p:attrNameLst>
                                      </p:cBhvr>
                                      <p:to>
                                        <p:strVal val="visible"/>
                                      </p:to>
                                    </p:set>
                                    <p:animEffect transition="in" filter="wipe(left)">
                                      <p:cBhvr>
                                        <p:cTn id="15" dur="500"/>
                                        <p:tgtEl>
                                          <p:spTgt spid="180251"/>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0252"/>
                                        </p:tgtEl>
                                        <p:attrNameLst>
                                          <p:attrName>style.visibility</p:attrName>
                                        </p:attrNameLst>
                                      </p:cBhvr>
                                      <p:to>
                                        <p:strVal val="visible"/>
                                      </p:to>
                                    </p:set>
                                    <p:animEffect transition="in" filter="wipe(left)">
                                      <p:cBhvr>
                                        <p:cTn id="18" dur="500"/>
                                        <p:tgtEl>
                                          <p:spTgt spid="18025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80253"/>
                                        </p:tgtEl>
                                        <p:attrNameLst>
                                          <p:attrName>style.visibility</p:attrName>
                                        </p:attrNameLst>
                                      </p:cBhvr>
                                      <p:to>
                                        <p:strVal val="visible"/>
                                      </p:to>
                                    </p:set>
                                    <p:animEffect transition="in" filter="wipe(left)">
                                      <p:cBhvr>
                                        <p:cTn id="21" dur="500"/>
                                        <p:tgtEl>
                                          <p:spTgt spid="180253"/>
                                        </p:tgtEl>
                                      </p:cBhvr>
                                    </p:animEffect>
                                  </p:childTnLst>
                                </p:cTn>
                              </p:par>
                            </p:childTnLst>
                          </p:cTn>
                        </p:par>
                        <p:par>
                          <p:cTn id="22" fill="hold">
                            <p:stCondLst>
                              <p:cond delay="500"/>
                            </p:stCondLst>
                            <p:childTnLst>
                              <p:par>
                                <p:cTn id="23" presetID="27" presetClass="entr" presetSubtype="0" fill="hold" grpId="0" nodeType="afterEffect">
                                  <p:stCondLst>
                                    <p:cond delay="0"/>
                                  </p:stCondLst>
                                  <p:iterate type="lt">
                                    <p:tmPct val="50000"/>
                                  </p:iterate>
                                  <p:childTnLst>
                                    <p:set>
                                      <p:cBhvr>
                                        <p:cTn id="24" dur="1" fill="hold">
                                          <p:stCondLst>
                                            <p:cond delay="0"/>
                                          </p:stCondLst>
                                        </p:cTn>
                                        <p:tgtEl>
                                          <p:spTgt spid="180250">
                                            <p:txEl>
                                              <p:pRg st="0" end="0"/>
                                            </p:txEl>
                                          </p:spTgt>
                                        </p:tgtEl>
                                        <p:attrNameLst>
                                          <p:attrName>style.visibility</p:attrName>
                                        </p:attrNameLst>
                                      </p:cBhvr>
                                      <p:to>
                                        <p:strVal val="visible"/>
                                      </p:to>
                                    </p:set>
                                    <p:anim calcmode="discrete" valueType="clr">
                                      <p:cBhvr override="childStyle">
                                        <p:cTn id="25" dur="80"/>
                                        <p:tgtEl>
                                          <p:spTgt spid="18025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180250">
                                            <p:txEl>
                                              <p:pRg st="0" end="0"/>
                                            </p:txEl>
                                          </p:spTgt>
                                        </p:tgtEl>
                                        <p:attrNameLst>
                                          <p:attrName>fillcolor</p:attrName>
                                        </p:attrNameLst>
                                      </p:cBhvr>
                                      <p:tavLst>
                                        <p:tav tm="0">
                                          <p:val>
                                            <p:clrVal>
                                              <a:schemeClr val="accent2"/>
                                            </p:clrVal>
                                          </p:val>
                                        </p:tav>
                                        <p:tav tm="50000">
                                          <p:val>
                                            <p:clrVal>
                                              <a:schemeClr val="hlink"/>
                                            </p:clrVal>
                                          </p:val>
                                        </p:tav>
                                      </p:tavLst>
                                    </p:anim>
                                    <p:set>
                                      <p:cBhvr>
                                        <p:cTn id="27" dur="80"/>
                                        <p:tgtEl>
                                          <p:spTgt spid="180250">
                                            <p:txEl>
                                              <p:pRg st="0" end="0"/>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180250">
                                            <p:txEl>
                                              <p:pRg st="1" end="1"/>
                                            </p:txEl>
                                          </p:spTgt>
                                        </p:tgtEl>
                                        <p:attrNameLst>
                                          <p:attrName>style.visibility</p:attrName>
                                        </p:attrNameLst>
                                      </p:cBhvr>
                                      <p:to>
                                        <p:strVal val="visible"/>
                                      </p:to>
                                    </p:set>
                                    <p:anim calcmode="discrete" valueType="clr">
                                      <p:cBhvr override="childStyle">
                                        <p:cTn id="32" dur="80"/>
                                        <p:tgtEl>
                                          <p:spTgt spid="180250">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180250">
                                            <p:txEl>
                                              <p:pRg st="1" end="1"/>
                                            </p:txEl>
                                          </p:spTgt>
                                        </p:tgtEl>
                                        <p:attrNameLst>
                                          <p:attrName>fillcolor</p:attrName>
                                        </p:attrNameLst>
                                      </p:cBhvr>
                                      <p:tavLst>
                                        <p:tav tm="0">
                                          <p:val>
                                            <p:clrVal>
                                              <a:schemeClr val="accent2"/>
                                            </p:clrVal>
                                          </p:val>
                                        </p:tav>
                                        <p:tav tm="50000">
                                          <p:val>
                                            <p:clrVal>
                                              <a:schemeClr val="hlink"/>
                                            </p:clrVal>
                                          </p:val>
                                        </p:tav>
                                      </p:tavLst>
                                    </p:anim>
                                    <p:set>
                                      <p:cBhvr>
                                        <p:cTn id="34" dur="80"/>
                                        <p:tgtEl>
                                          <p:spTgt spid="180250">
                                            <p:txEl>
                                              <p:pRg st="1" end="1"/>
                                            </p:txEl>
                                          </p:spTgt>
                                        </p:tgtEl>
                                        <p:attrNameLst>
                                          <p:attrName>fill.type</p:attrName>
                                        </p:attrNameLst>
                                      </p:cBhvr>
                                      <p:to>
                                        <p:strVal val="solid"/>
                                      </p:to>
                                    </p:set>
                                  </p:childTnLst>
                                </p:cTn>
                              </p:par>
                            </p:childTnLst>
                          </p:cTn>
                        </p:par>
                        <p:par>
                          <p:cTn id="35" fill="hold">
                            <p:stCondLst>
                              <p:cond delay="639"/>
                            </p:stCondLst>
                            <p:childTnLst>
                              <p:par>
                                <p:cTn id="36" presetID="27" presetClass="entr" presetSubtype="0" fill="hold" grpId="0" nodeType="afterEffect">
                                  <p:stCondLst>
                                    <p:cond delay="0"/>
                                  </p:stCondLst>
                                  <p:iterate type="lt">
                                    <p:tmPct val="50000"/>
                                  </p:iterate>
                                  <p:childTnLst>
                                    <p:set>
                                      <p:cBhvr>
                                        <p:cTn id="37" dur="1" fill="hold">
                                          <p:stCondLst>
                                            <p:cond delay="0"/>
                                          </p:stCondLst>
                                        </p:cTn>
                                        <p:tgtEl>
                                          <p:spTgt spid="180250">
                                            <p:txEl>
                                              <p:pRg st="2" end="2"/>
                                            </p:txEl>
                                          </p:spTgt>
                                        </p:tgtEl>
                                        <p:attrNameLst>
                                          <p:attrName>style.visibility</p:attrName>
                                        </p:attrNameLst>
                                      </p:cBhvr>
                                      <p:to>
                                        <p:strVal val="visible"/>
                                      </p:to>
                                    </p:set>
                                    <p:anim calcmode="discrete" valueType="clr">
                                      <p:cBhvr override="childStyle">
                                        <p:cTn id="38" dur="80"/>
                                        <p:tgtEl>
                                          <p:spTgt spid="180250">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180250">
                                            <p:txEl>
                                              <p:pRg st="2" end="2"/>
                                            </p:txEl>
                                          </p:spTgt>
                                        </p:tgtEl>
                                        <p:attrNameLst>
                                          <p:attrName>fillcolor</p:attrName>
                                        </p:attrNameLst>
                                      </p:cBhvr>
                                      <p:tavLst>
                                        <p:tav tm="0">
                                          <p:val>
                                            <p:clrVal>
                                              <a:schemeClr val="accent2"/>
                                            </p:clrVal>
                                          </p:val>
                                        </p:tav>
                                        <p:tav tm="50000">
                                          <p:val>
                                            <p:clrVal>
                                              <a:schemeClr val="hlink"/>
                                            </p:clrVal>
                                          </p:val>
                                        </p:tav>
                                      </p:tavLst>
                                    </p:anim>
                                    <p:set>
                                      <p:cBhvr>
                                        <p:cTn id="40" dur="80"/>
                                        <p:tgtEl>
                                          <p:spTgt spid="180250">
                                            <p:txEl>
                                              <p:pRg st="2" end="2"/>
                                            </p:txEl>
                                          </p:spTgt>
                                        </p:tgtEl>
                                        <p:attrNameLst>
                                          <p:attrName>fill.type</p:attrName>
                                        </p:attrNameLst>
                                      </p:cBhvr>
                                      <p:to>
                                        <p:strVal val="solid"/>
                                      </p:to>
                                    </p:set>
                                  </p:childTnLst>
                                </p:cTn>
                              </p:par>
                            </p:childTnLst>
                          </p:cTn>
                        </p:par>
                        <p:par>
                          <p:cTn id="41" fill="hold">
                            <p:stCondLst>
                              <p:cond delay="1240"/>
                            </p:stCondLst>
                            <p:childTnLst>
                              <p:par>
                                <p:cTn id="42" presetID="27" presetClass="entr" presetSubtype="0" fill="hold" grpId="0" nodeType="afterEffect">
                                  <p:stCondLst>
                                    <p:cond delay="0"/>
                                  </p:stCondLst>
                                  <p:iterate type="lt">
                                    <p:tmPct val="50000"/>
                                  </p:iterate>
                                  <p:childTnLst>
                                    <p:set>
                                      <p:cBhvr>
                                        <p:cTn id="43" dur="1" fill="hold">
                                          <p:stCondLst>
                                            <p:cond delay="0"/>
                                          </p:stCondLst>
                                        </p:cTn>
                                        <p:tgtEl>
                                          <p:spTgt spid="180250">
                                            <p:txEl>
                                              <p:pRg st="3" end="3"/>
                                            </p:txEl>
                                          </p:spTgt>
                                        </p:tgtEl>
                                        <p:attrNameLst>
                                          <p:attrName>style.visibility</p:attrName>
                                        </p:attrNameLst>
                                      </p:cBhvr>
                                      <p:to>
                                        <p:strVal val="visible"/>
                                      </p:to>
                                    </p:set>
                                    <p:anim calcmode="discrete" valueType="clr">
                                      <p:cBhvr override="childStyle">
                                        <p:cTn id="44" dur="80"/>
                                        <p:tgtEl>
                                          <p:spTgt spid="180250">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180250">
                                            <p:txEl>
                                              <p:pRg st="3" end="3"/>
                                            </p:txEl>
                                          </p:spTgt>
                                        </p:tgtEl>
                                        <p:attrNameLst>
                                          <p:attrName>fillcolor</p:attrName>
                                        </p:attrNameLst>
                                      </p:cBhvr>
                                      <p:tavLst>
                                        <p:tav tm="0">
                                          <p:val>
                                            <p:clrVal>
                                              <a:schemeClr val="accent2"/>
                                            </p:clrVal>
                                          </p:val>
                                        </p:tav>
                                        <p:tav tm="50000">
                                          <p:val>
                                            <p:clrVal>
                                              <a:schemeClr val="hlink"/>
                                            </p:clrVal>
                                          </p:val>
                                        </p:tav>
                                      </p:tavLst>
                                    </p:anim>
                                    <p:set>
                                      <p:cBhvr>
                                        <p:cTn id="46" dur="80"/>
                                        <p:tgtEl>
                                          <p:spTgt spid="180250">
                                            <p:txEl>
                                              <p:pRg st="3" end="3"/>
                                            </p:txEl>
                                          </p:spTgt>
                                        </p:tgtEl>
                                        <p:attrNameLst>
                                          <p:attrName>fill.type</p:attrName>
                                        </p:attrNameLst>
                                      </p:cBhvr>
                                      <p:to>
                                        <p:strVal val="solid"/>
                                      </p:to>
                                    </p:set>
                                  </p:childTnLst>
                                </p:cTn>
                              </p:par>
                            </p:childTnLst>
                          </p:cTn>
                        </p:par>
                        <p:par>
                          <p:cTn id="47" fill="hold">
                            <p:stCondLst>
                              <p:cond delay="1879"/>
                            </p:stCondLst>
                            <p:childTnLst>
                              <p:par>
                                <p:cTn id="48" presetID="27" presetClass="entr" presetSubtype="0" fill="hold" grpId="0" nodeType="afterEffect">
                                  <p:stCondLst>
                                    <p:cond delay="0"/>
                                  </p:stCondLst>
                                  <p:iterate type="lt">
                                    <p:tmPct val="50000"/>
                                  </p:iterate>
                                  <p:childTnLst>
                                    <p:set>
                                      <p:cBhvr>
                                        <p:cTn id="49" dur="1" fill="hold">
                                          <p:stCondLst>
                                            <p:cond delay="0"/>
                                          </p:stCondLst>
                                        </p:cTn>
                                        <p:tgtEl>
                                          <p:spTgt spid="180250">
                                            <p:txEl>
                                              <p:pRg st="4" end="4"/>
                                            </p:txEl>
                                          </p:spTgt>
                                        </p:tgtEl>
                                        <p:attrNameLst>
                                          <p:attrName>style.visibility</p:attrName>
                                        </p:attrNameLst>
                                      </p:cBhvr>
                                      <p:to>
                                        <p:strVal val="visible"/>
                                      </p:to>
                                    </p:set>
                                    <p:anim calcmode="discrete" valueType="clr">
                                      <p:cBhvr override="childStyle">
                                        <p:cTn id="50" dur="80"/>
                                        <p:tgtEl>
                                          <p:spTgt spid="180250">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180250">
                                            <p:txEl>
                                              <p:pRg st="4" end="4"/>
                                            </p:txEl>
                                          </p:spTgt>
                                        </p:tgtEl>
                                        <p:attrNameLst>
                                          <p:attrName>fillcolor</p:attrName>
                                        </p:attrNameLst>
                                      </p:cBhvr>
                                      <p:tavLst>
                                        <p:tav tm="0">
                                          <p:val>
                                            <p:clrVal>
                                              <a:schemeClr val="accent2"/>
                                            </p:clrVal>
                                          </p:val>
                                        </p:tav>
                                        <p:tav tm="50000">
                                          <p:val>
                                            <p:clrVal>
                                              <a:schemeClr val="hlink"/>
                                            </p:clrVal>
                                          </p:val>
                                        </p:tav>
                                      </p:tavLst>
                                    </p:anim>
                                    <p:set>
                                      <p:cBhvr>
                                        <p:cTn id="52" dur="80"/>
                                        <p:tgtEl>
                                          <p:spTgt spid="180250">
                                            <p:txEl>
                                              <p:pRg st="4" end="4"/>
                                            </p:txEl>
                                          </p:spTgt>
                                        </p:tgtEl>
                                        <p:attrNameLst>
                                          <p:attrName>fill.type</p:attrName>
                                        </p:attrNameLst>
                                      </p:cBhvr>
                                      <p:to>
                                        <p:strVal val="solid"/>
                                      </p:to>
                                    </p:set>
                                  </p:childTnLst>
                                </p:cTn>
                              </p:par>
                            </p:childTnLst>
                          </p:cTn>
                        </p:par>
                        <p:par>
                          <p:cTn id="53" fill="hold">
                            <p:stCondLst>
                              <p:cond delay="2559"/>
                            </p:stCondLst>
                            <p:childTnLst>
                              <p:par>
                                <p:cTn id="54" presetID="27" presetClass="entr" presetSubtype="0" fill="hold" grpId="0" nodeType="afterEffect">
                                  <p:stCondLst>
                                    <p:cond delay="0"/>
                                  </p:stCondLst>
                                  <p:iterate type="lt">
                                    <p:tmPct val="50000"/>
                                  </p:iterate>
                                  <p:childTnLst>
                                    <p:set>
                                      <p:cBhvr>
                                        <p:cTn id="55" dur="1" fill="hold">
                                          <p:stCondLst>
                                            <p:cond delay="0"/>
                                          </p:stCondLst>
                                        </p:cTn>
                                        <p:tgtEl>
                                          <p:spTgt spid="180250">
                                            <p:txEl>
                                              <p:pRg st="5" end="5"/>
                                            </p:txEl>
                                          </p:spTgt>
                                        </p:tgtEl>
                                        <p:attrNameLst>
                                          <p:attrName>style.visibility</p:attrName>
                                        </p:attrNameLst>
                                      </p:cBhvr>
                                      <p:to>
                                        <p:strVal val="visible"/>
                                      </p:to>
                                    </p:set>
                                    <p:anim calcmode="discrete" valueType="clr">
                                      <p:cBhvr override="childStyle">
                                        <p:cTn id="56" dur="80"/>
                                        <p:tgtEl>
                                          <p:spTgt spid="180250">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180250">
                                            <p:txEl>
                                              <p:pRg st="5" end="5"/>
                                            </p:txEl>
                                          </p:spTgt>
                                        </p:tgtEl>
                                        <p:attrNameLst>
                                          <p:attrName>fillcolor</p:attrName>
                                        </p:attrNameLst>
                                      </p:cBhvr>
                                      <p:tavLst>
                                        <p:tav tm="0">
                                          <p:val>
                                            <p:clrVal>
                                              <a:schemeClr val="accent2"/>
                                            </p:clrVal>
                                          </p:val>
                                        </p:tav>
                                        <p:tav tm="50000">
                                          <p:val>
                                            <p:clrVal>
                                              <a:schemeClr val="hlink"/>
                                            </p:clrVal>
                                          </p:val>
                                        </p:tav>
                                      </p:tavLst>
                                    </p:anim>
                                    <p:set>
                                      <p:cBhvr>
                                        <p:cTn id="58" dur="80"/>
                                        <p:tgtEl>
                                          <p:spTgt spid="180250">
                                            <p:txEl>
                                              <p:pRg st="5" end="5"/>
                                            </p:txEl>
                                          </p:spTgt>
                                        </p:tgtEl>
                                        <p:attrNameLst>
                                          <p:attrName>fill.type</p:attrName>
                                        </p:attrNameLst>
                                      </p:cBhvr>
                                      <p:to>
                                        <p:strVal val="solid"/>
                                      </p:to>
                                    </p:set>
                                  </p:childTnLst>
                                </p:cTn>
                              </p:par>
                            </p:childTnLst>
                          </p:cTn>
                        </p:par>
                      </p:childTnLst>
                    </p:cTn>
                  </p:par>
                  <p:par>
                    <p:cTn id="59" fill="hold">
                      <p:stCondLst>
                        <p:cond delay="indefinite"/>
                      </p:stCondLst>
                      <p:childTnLst>
                        <p:par>
                          <p:cTn id="60" fill="hold">
                            <p:stCondLst>
                              <p:cond delay="0"/>
                            </p:stCondLst>
                            <p:childTnLst>
                              <p:par>
                                <p:cTn id="61" presetID="27" presetClass="entr" presetSubtype="0" fill="hold" grpId="0" nodeType="clickEffect">
                                  <p:stCondLst>
                                    <p:cond delay="0"/>
                                  </p:stCondLst>
                                  <p:iterate type="lt">
                                    <p:tmPct val="50000"/>
                                  </p:iterate>
                                  <p:childTnLst>
                                    <p:set>
                                      <p:cBhvr>
                                        <p:cTn id="62" dur="1" fill="hold">
                                          <p:stCondLst>
                                            <p:cond delay="0"/>
                                          </p:stCondLst>
                                        </p:cTn>
                                        <p:tgtEl>
                                          <p:spTgt spid="180255">
                                            <p:txEl>
                                              <p:pRg st="0" end="0"/>
                                            </p:txEl>
                                          </p:spTgt>
                                        </p:tgtEl>
                                        <p:attrNameLst>
                                          <p:attrName>style.visibility</p:attrName>
                                        </p:attrNameLst>
                                      </p:cBhvr>
                                      <p:to>
                                        <p:strVal val="visible"/>
                                      </p:to>
                                    </p:set>
                                    <p:anim calcmode="discrete" valueType="clr">
                                      <p:cBhvr override="childStyle">
                                        <p:cTn id="63" dur="80"/>
                                        <p:tgtEl>
                                          <p:spTgt spid="18025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4" dur="80"/>
                                        <p:tgtEl>
                                          <p:spTgt spid="180255">
                                            <p:txEl>
                                              <p:pRg st="0" end="0"/>
                                            </p:txEl>
                                          </p:spTgt>
                                        </p:tgtEl>
                                        <p:attrNameLst>
                                          <p:attrName>fillcolor</p:attrName>
                                        </p:attrNameLst>
                                      </p:cBhvr>
                                      <p:tavLst>
                                        <p:tav tm="0">
                                          <p:val>
                                            <p:clrVal>
                                              <a:schemeClr val="accent2"/>
                                            </p:clrVal>
                                          </p:val>
                                        </p:tav>
                                        <p:tav tm="50000">
                                          <p:val>
                                            <p:clrVal>
                                              <a:schemeClr val="hlink"/>
                                            </p:clrVal>
                                          </p:val>
                                        </p:tav>
                                      </p:tavLst>
                                    </p:anim>
                                    <p:set>
                                      <p:cBhvr>
                                        <p:cTn id="65" dur="80"/>
                                        <p:tgtEl>
                                          <p:spTgt spid="180255">
                                            <p:txEl>
                                              <p:pRg st="0" end="0"/>
                                            </p:txEl>
                                          </p:spTgt>
                                        </p:tgtEl>
                                        <p:attrNameLst>
                                          <p:attrName>fill.type</p:attrName>
                                        </p:attrNameLst>
                                      </p:cBhvr>
                                      <p:to>
                                        <p:strVal val="solid"/>
                                      </p:to>
                                    </p:set>
                                  </p:childTnLst>
                                </p:cTn>
                              </p:par>
                            </p:childTnLst>
                          </p:cTn>
                        </p:par>
                      </p:childTnLst>
                    </p:cTn>
                  </p:par>
                  <p:par>
                    <p:cTn id="66" fill="hold">
                      <p:stCondLst>
                        <p:cond delay="indefinite"/>
                      </p:stCondLst>
                      <p:childTnLst>
                        <p:par>
                          <p:cTn id="67" fill="hold">
                            <p:stCondLst>
                              <p:cond delay="0"/>
                            </p:stCondLst>
                            <p:childTnLst>
                              <p:par>
                                <p:cTn id="68" presetID="27" presetClass="entr" presetSubtype="0" fill="hold" grpId="0" nodeType="clickEffect">
                                  <p:stCondLst>
                                    <p:cond delay="0"/>
                                  </p:stCondLst>
                                  <p:iterate type="lt">
                                    <p:tmPct val="50000"/>
                                  </p:iterate>
                                  <p:childTnLst>
                                    <p:set>
                                      <p:cBhvr>
                                        <p:cTn id="69" dur="1" fill="hold">
                                          <p:stCondLst>
                                            <p:cond delay="0"/>
                                          </p:stCondLst>
                                        </p:cTn>
                                        <p:tgtEl>
                                          <p:spTgt spid="180255">
                                            <p:txEl>
                                              <p:pRg st="1" end="1"/>
                                            </p:txEl>
                                          </p:spTgt>
                                        </p:tgtEl>
                                        <p:attrNameLst>
                                          <p:attrName>style.visibility</p:attrName>
                                        </p:attrNameLst>
                                      </p:cBhvr>
                                      <p:to>
                                        <p:strVal val="visible"/>
                                      </p:to>
                                    </p:set>
                                    <p:anim calcmode="discrete" valueType="clr">
                                      <p:cBhvr override="childStyle">
                                        <p:cTn id="70" dur="80"/>
                                        <p:tgtEl>
                                          <p:spTgt spid="18025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1" dur="80"/>
                                        <p:tgtEl>
                                          <p:spTgt spid="180255">
                                            <p:txEl>
                                              <p:pRg st="1" end="1"/>
                                            </p:txEl>
                                          </p:spTgt>
                                        </p:tgtEl>
                                        <p:attrNameLst>
                                          <p:attrName>fillcolor</p:attrName>
                                        </p:attrNameLst>
                                      </p:cBhvr>
                                      <p:tavLst>
                                        <p:tav tm="0">
                                          <p:val>
                                            <p:clrVal>
                                              <a:schemeClr val="accent2"/>
                                            </p:clrVal>
                                          </p:val>
                                        </p:tav>
                                        <p:tav tm="50000">
                                          <p:val>
                                            <p:clrVal>
                                              <a:schemeClr val="hlink"/>
                                            </p:clrVal>
                                          </p:val>
                                        </p:tav>
                                      </p:tavLst>
                                    </p:anim>
                                    <p:set>
                                      <p:cBhvr>
                                        <p:cTn id="72" dur="80"/>
                                        <p:tgtEl>
                                          <p:spTgt spid="180255">
                                            <p:txEl>
                                              <p:pRg st="1" end="1"/>
                                            </p:txEl>
                                          </p:spTgt>
                                        </p:tgtEl>
                                        <p:attrNameLst>
                                          <p:attrName>fill.type</p:attrName>
                                        </p:attrNameLst>
                                      </p:cBhvr>
                                      <p:to>
                                        <p:strVal val="solid"/>
                                      </p:to>
                                    </p:set>
                                  </p:childTnLst>
                                </p:cTn>
                              </p:par>
                            </p:childTnLst>
                          </p:cTn>
                        </p:par>
                      </p:childTnLst>
                    </p:cTn>
                  </p:par>
                  <p:par>
                    <p:cTn id="73" fill="hold">
                      <p:stCondLst>
                        <p:cond delay="indefinite"/>
                      </p:stCondLst>
                      <p:childTnLst>
                        <p:par>
                          <p:cTn id="74" fill="hold">
                            <p:stCondLst>
                              <p:cond delay="0"/>
                            </p:stCondLst>
                            <p:childTnLst>
                              <p:par>
                                <p:cTn id="75" presetID="27" presetClass="entr" presetSubtype="0" fill="hold" grpId="0" nodeType="clickEffect">
                                  <p:stCondLst>
                                    <p:cond delay="0"/>
                                  </p:stCondLst>
                                  <p:iterate type="lt">
                                    <p:tmPct val="50000"/>
                                  </p:iterate>
                                  <p:childTnLst>
                                    <p:set>
                                      <p:cBhvr>
                                        <p:cTn id="76" dur="1" fill="hold">
                                          <p:stCondLst>
                                            <p:cond delay="0"/>
                                          </p:stCondLst>
                                        </p:cTn>
                                        <p:tgtEl>
                                          <p:spTgt spid="180255">
                                            <p:txEl>
                                              <p:pRg st="2" end="2"/>
                                            </p:txEl>
                                          </p:spTgt>
                                        </p:tgtEl>
                                        <p:attrNameLst>
                                          <p:attrName>style.visibility</p:attrName>
                                        </p:attrNameLst>
                                      </p:cBhvr>
                                      <p:to>
                                        <p:strVal val="visible"/>
                                      </p:to>
                                    </p:set>
                                    <p:anim calcmode="discrete" valueType="clr">
                                      <p:cBhvr override="childStyle">
                                        <p:cTn id="77" dur="80"/>
                                        <p:tgtEl>
                                          <p:spTgt spid="18025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8" dur="80"/>
                                        <p:tgtEl>
                                          <p:spTgt spid="180255">
                                            <p:txEl>
                                              <p:pRg st="2" end="2"/>
                                            </p:txEl>
                                          </p:spTgt>
                                        </p:tgtEl>
                                        <p:attrNameLst>
                                          <p:attrName>fillcolor</p:attrName>
                                        </p:attrNameLst>
                                      </p:cBhvr>
                                      <p:tavLst>
                                        <p:tav tm="0">
                                          <p:val>
                                            <p:clrVal>
                                              <a:schemeClr val="accent2"/>
                                            </p:clrVal>
                                          </p:val>
                                        </p:tav>
                                        <p:tav tm="50000">
                                          <p:val>
                                            <p:clrVal>
                                              <a:schemeClr val="hlink"/>
                                            </p:clrVal>
                                          </p:val>
                                        </p:tav>
                                      </p:tavLst>
                                    </p:anim>
                                    <p:set>
                                      <p:cBhvr>
                                        <p:cTn id="79" dur="80"/>
                                        <p:tgtEl>
                                          <p:spTgt spid="180255">
                                            <p:txEl>
                                              <p:pRg st="2" end="2"/>
                                            </p:txEl>
                                          </p:spTgt>
                                        </p:tgtEl>
                                        <p:attrNameLst>
                                          <p:attrName>fill.type</p:attrName>
                                        </p:attrNameLst>
                                      </p:cBhvr>
                                      <p:to>
                                        <p:strVal val="solid"/>
                                      </p:to>
                                    </p:set>
                                  </p:childTnLst>
                                </p:cTn>
                              </p:par>
                            </p:childTnLst>
                          </p:cTn>
                        </p:par>
                      </p:childTnLst>
                    </p:cTn>
                  </p:par>
                  <p:par>
                    <p:cTn id="80" fill="hold">
                      <p:stCondLst>
                        <p:cond delay="indefinite"/>
                      </p:stCondLst>
                      <p:childTnLst>
                        <p:par>
                          <p:cTn id="81" fill="hold">
                            <p:stCondLst>
                              <p:cond delay="0"/>
                            </p:stCondLst>
                            <p:childTnLst>
                              <p:par>
                                <p:cTn id="82" presetID="27" presetClass="entr" presetSubtype="0" fill="hold" grpId="0" nodeType="clickEffect">
                                  <p:stCondLst>
                                    <p:cond delay="0"/>
                                  </p:stCondLst>
                                  <p:iterate type="lt">
                                    <p:tmPct val="50000"/>
                                  </p:iterate>
                                  <p:childTnLst>
                                    <p:set>
                                      <p:cBhvr>
                                        <p:cTn id="83" dur="1" fill="hold">
                                          <p:stCondLst>
                                            <p:cond delay="0"/>
                                          </p:stCondLst>
                                        </p:cTn>
                                        <p:tgtEl>
                                          <p:spTgt spid="180255">
                                            <p:txEl>
                                              <p:pRg st="3" end="3"/>
                                            </p:txEl>
                                          </p:spTgt>
                                        </p:tgtEl>
                                        <p:attrNameLst>
                                          <p:attrName>style.visibility</p:attrName>
                                        </p:attrNameLst>
                                      </p:cBhvr>
                                      <p:to>
                                        <p:strVal val="visible"/>
                                      </p:to>
                                    </p:set>
                                    <p:anim calcmode="discrete" valueType="clr">
                                      <p:cBhvr override="childStyle">
                                        <p:cTn id="84" dur="80"/>
                                        <p:tgtEl>
                                          <p:spTgt spid="18025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5" dur="80"/>
                                        <p:tgtEl>
                                          <p:spTgt spid="180255">
                                            <p:txEl>
                                              <p:pRg st="3" end="3"/>
                                            </p:txEl>
                                          </p:spTgt>
                                        </p:tgtEl>
                                        <p:attrNameLst>
                                          <p:attrName>fillcolor</p:attrName>
                                        </p:attrNameLst>
                                      </p:cBhvr>
                                      <p:tavLst>
                                        <p:tav tm="0">
                                          <p:val>
                                            <p:clrVal>
                                              <a:schemeClr val="accent2"/>
                                            </p:clrVal>
                                          </p:val>
                                        </p:tav>
                                        <p:tav tm="50000">
                                          <p:val>
                                            <p:clrVal>
                                              <a:schemeClr val="hlink"/>
                                            </p:clrVal>
                                          </p:val>
                                        </p:tav>
                                      </p:tavLst>
                                    </p:anim>
                                    <p:set>
                                      <p:cBhvr>
                                        <p:cTn id="86" dur="80"/>
                                        <p:tgtEl>
                                          <p:spTgt spid="180255">
                                            <p:txEl>
                                              <p:pRg st="3" end="3"/>
                                            </p:txEl>
                                          </p:spTgt>
                                        </p:tgtEl>
                                        <p:attrNameLst>
                                          <p:attrName>fill.type</p:attrName>
                                        </p:attrNameLst>
                                      </p:cBhvr>
                                      <p:to>
                                        <p:strVal val="solid"/>
                                      </p:to>
                                    </p:set>
                                  </p:childTnLst>
                                </p:cTn>
                              </p:par>
                            </p:childTnLst>
                          </p:cTn>
                        </p:par>
                      </p:childTnLst>
                    </p:cTn>
                  </p:par>
                  <p:par>
                    <p:cTn id="87" fill="hold">
                      <p:stCondLst>
                        <p:cond delay="indefinite"/>
                      </p:stCondLst>
                      <p:childTnLst>
                        <p:par>
                          <p:cTn id="88" fill="hold">
                            <p:stCondLst>
                              <p:cond delay="0"/>
                            </p:stCondLst>
                            <p:childTnLst>
                              <p:par>
                                <p:cTn id="89" presetID="27" presetClass="entr" presetSubtype="0" fill="hold" grpId="0" nodeType="clickEffect">
                                  <p:stCondLst>
                                    <p:cond delay="0"/>
                                  </p:stCondLst>
                                  <p:iterate type="lt">
                                    <p:tmPct val="50000"/>
                                  </p:iterate>
                                  <p:childTnLst>
                                    <p:set>
                                      <p:cBhvr>
                                        <p:cTn id="90" dur="1" fill="hold">
                                          <p:stCondLst>
                                            <p:cond delay="0"/>
                                          </p:stCondLst>
                                        </p:cTn>
                                        <p:tgtEl>
                                          <p:spTgt spid="180255">
                                            <p:txEl>
                                              <p:pRg st="4" end="4"/>
                                            </p:txEl>
                                          </p:spTgt>
                                        </p:tgtEl>
                                        <p:attrNameLst>
                                          <p:attrName>style.visibility</p:attrName>
                                        </p:attrNameLst>
                                      </p:cBhvr>
                                      <p:to>
                                        <p:strVal val="visible"/>
                                      </p:to>
                                    </p:set>
                                    <p:anim calcmode="discrete" valueType="clr">
                                      <p:cBhvr override="childStyle">
                                        <p:cTn id="91" dur="80"/>
                                        <p:tgtEl>
                                          <p:spTgt spid="18025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2" dur="80"/>
                                        <p:tgtEl>
                                          <p:spTgt spid="180255">
                                            <p:txEl>
                                              <p:pRg st="4" end="4"/>
                                            </p:txEl>
                                          </p:spTgt>
                                        </p:tgtEl>
                                        <p:attrNameLst>
                                          <p:attrName>fillcolor</p:attrName>
                                        </p:attrNameLst>
                                      </p:cBhvr>
                                      <p:tavLst>
                                        <p:tav tm="0">
                                          <p:val>
                                            <p:clrVal>
                                              <a:schemeClr val="accent2"/>
                                            </p:clrVal>
                                          </p:val>
                                        </p:tav>
                                        <p:tav tm="50000">
                                          <p:val>
                                            <p:clrVal>
                                              <a:schemeClr val="hlink"/>
                                            </p:clrVal>
                                          </p:val>
                                        </p:tav>
                                      </p:tavLst>
                                    </p:anim>
                                    <p:set>
                                      <p:cBhvr>
                                        <p:cTn id="93" dur="80"/>
                                        <p:tgtEl>
                                          <p:spTgt spid="180255">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50" grpId="0" build="p"/>
      <p:bldP spid="180251" grpId="0" animBg="1"/>
      <p:bldP spid="180252" grpId="0" animBg="1"/>
      <p:bldP spid="180253" grpId="0" animBg="1"/>
      <p:bldP spid="180255"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323850" y="188913"/>
            <a:ext cx="8435975"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b="1">
                <a:solidFill>
                  <a:srgbClr val="000099"/>
                </a:solidFill>
                <a:latin typeface="Arial" panose="020B0604020202020204" pitchFamily="34" charset="0"/>
                <a:ea typeface="楷体_GB2312" pitchFamily="49" charset="-122"/>
                <a:cs typeface="Arial" panose="020B0604020202020204" pitchFamily="34" charset="0"/>
              </a:rPr>
              <a:t>How to find </a:t>
            </a:r>
            <a:r>
              <a:rPr lang="zh-CN" altLang="en-US" b="1">
                <a:solidFill>
                  <a:srgbClr val="CC3300"/>
                </a:solidFill>
                <a:latin typeface="Arial" panose="020B0604020202020204" pitchFamily="34" charset="0"/>
                <a:ea typeface="楷体_GB2312" pitchFamily="49" charset="-122"/>
                <a:cs typeface="Arial" panose="020B0604020202020204" pitchFamily="34" charset="0"/>
              </a:rPr>
              <a:t>the shortest paths from a source vertex to all other vertices</a:t>
            </a:r>
            <a:r>
              <a:rPr lang="en-US" altLang="zh-CN" b="1">
                <a:solidFill>
                  <a:srgbClr val="000099"/>
                </a:solidFill>
                <a:latin typeface="Arial" panose="020B0604020202020204" pitchFamily="34" charset="0"/>
                <a:ea typeface="楷体_GB2312" pitchFamily="49" charset="-122"/>
                <a:cs typeface="Arial" panose="020B0604020202020204" pitchFamily="34" charset="0"/>
              </a:rPr>
              <a:t>?</a:t>
            </a:r>
            <a:endParaRPr lang="en-US" altLang="zh-CN" b="1">
              <a:solidFill>
                <a:srgbClr val="000099"/>
              </a:solidFill>
              <a:latin typeface="Arial" panose="020B0604020202020204" pitchFamily="34" charset="0"/>
              <a:ea typeface="楷体_GB2312" pitchFamily="49" charset="-122"/>
              <a:cs typeface="Arial" panose="020B0604020202020204" pitchFamily="34" charset="0"/>
            </a:endParaRPr>
          </a:p>
          <a:p>
            <a:pPr>
              <a:lnSpc>
                <a:spcPct val="125000"/>
              </a:lnSpc>
            </a:pPr>
            <a:r>
              <a:rPr lang="en-US" altLang="zh-CN" b="1">
                <a:solidFill>
                  <a:srgbClr val="000099"/>
                </a:solidFill>
                <a:latin typeface="Arial" panose="020B0604020202020204" pitchFamily="34" charset="0"/>
                <a:ea typeface="楷体_GB2312" pitchFamily="49" charset="-122"/>
                <a:cs typeface="Arial" panose="020B0604020202020204" pitchFamily="34" charset="0"/>
              </a:rPr>
              <a:t>Basic Idea of the Algorithm:</a:t>
            </a:r>
            <a:endParaRPr lang="en-US" altLang="zh-CN" b="1">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181251" name="Text Box 3"/>
          <p:cNvSpPr txBox="1">
            <a:spLocks noChangeArrowheads="1"/>
          </p:cNvSpPr>
          <p:nvPr/>
        </p:nvSpPr>
        <p:spPr bwMode="auto">
          <a:xfrm>
            <a:off x="0" y="1700213"/>
            <a:ext cx="86868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800000"/>
                </a:solidFill>
                <a:latin typeface="Arial" panose="020B0604020202020204" pitchFamily="34" charset="0"/>
                <a:ea typeface="隶书" panose="02010509060101010101" pitchFamily="49" charset="-122"/>
                <a:cs typeface="Arial" panose="020B0604020202020204" pitchFamily="34" charset="0"/>
              </a:rPr>
              <a:t>  </a:t>
            </a:r>
            <a:r>
              <a:rPr lang="en-US" altLang="zh-CN">
                <a:solidFill>
                  <a:srgbClr val="000099"/>
                </a:solidFill>
                <a:latin typeface="Arial" panose="020B0604020202020204" pitchFamily="34" charset="0"/>
                <a:cs typeface="Arial" panose="020B0604020202020204" pitchFamily="34" charset="0"/>
              </a:rPr>
              <a:t>Generate the shortest paths </a:t>
            </a:r>
            <a:r>
              <a:rPr lang="zh-CN" altLang="en-US" b="1">
                <a:solidFill>
                  <a:srgbClr val="9900FF"/>
                </a:solidFill>
                <a:latin typeface="Arial" panose="020B0604020202020204" pitchFamily="34" charset="0"/>
                <a:ea typeface="隶书" panose="02010509060101010101" pitchFamily="49" charset="-122"/>
                <a:cs typeface="Arial" panose="020B0604020202020204" pitchFamily="34" charset="0"/>
              </a:rPr>
              <a:t>in increasing order of path length.</a:t>
            </a:r>
            <a:endParaRPr lang="zh-CN" altLang="en-US" b="1">
              <a:solidFill>
                <a:srgbClr val="9900FF"/>
              </a:solidFill>
              <a:latin typeface="Arial" panose="020B0604020202020204" pitchFamily="34" charset="0"/>
              <a:ea typeface="隶书" panose="02010509060101010101" pitchFamily="49" charset="-122"/>
              <a:cs typeface="Arial" panose="020B0604020202020204" pitchFamily="34" charset="0"/>
            </a:endParaRPr>
          </a:p>
        </p:txBody>
      </p:sp>
      <p:sp>
        <p:nvSpPr>
          <p:cNvPr id="181252" name="Oval 4"/>
          <p:cNvSpPr>
            <a:spLocks noChangeArrowheads="1"/>
          </p:cNvSpPr>
          <p:nvPr/>
        </p:nvSpPr>
        <p:spPr bwMode="auto">
          <a:xfrm>
            <a:off x="179388" y="3848100"/>
            <a:ext cx="1217612" cy="604838"/>
          </a:xfrm>
          <a:prstGeom prst="ellipse">
            <a:avLst/>
          </a:prstGeom>
          <a:solidFill>
            <a:srgbClr val="99CCFF">
              <a:alpha val="50000"/>
            </a:srgbClr>
          </a:solidFill>
          <a:ln w="3175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a:solidFill>
                  <a:srgbClr val="000099"/>
                </a:solidFill>
                <a:latin typeface="Arial" panose="020B0604020202020204" pitchFamily="34" charset="0"/>
                <a:ea typeface="楷体_GB2312" pitchFamily="49" charset="-122"/>
                <a:cs typeface="Arial" panose="020B0604020202020204" pitchFamily="34" charset="0"/>
              </a:rPr>
              <a:t>so</a:t>
            </a:r>
            <a:r>
              <a:rPr lang="zh-CN" altLang="en-US" sz="2400" b="1">
                <a:solidFill>
                  <a:srgbClr val="000099"/>
                </a:solidFill>
                <a:latin typeface="Arial" panose="020B0604020202020204" pitchFamily="34" charset="0"/>
                <a:ea typeface="楷体_GB2312" pitchFamily="49" charset="-122"/>
                <a:cs typeface="Arial" panose="020B0604020202020204" pitchFamily="34" charset="0"/>
                <a:sym typeface="+mn-ea"/>
              </a:rPr>
              <a:t>urce</a:t>
            </a:r>
            <a:endParaRPr lang="zh-CN" altLang="en-US" sz="2400" b="1">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81253" name="Oval 5"/>
          <p:cNvSpPr>
            <a:spLocks noChangeArrowheads="1"/>
          </p:cNvSpPr>
          <p:nvPr/>
        </p:nvSpPr>
        <p:spPr bwMode="auto">
          <a:xfrm>
            <a:off x="1854200" y="2852738"/>
            <a:ext cx="533400" cy="533400"/>
          </a:xfrm>
          <a:prstGeom prst="ellips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0000FF"/>
                </a:solidFill>
              </a:rPr>
              <a:t>v</a:t>
            </a:r>
            <a:r>
              <a:rPr lang="en-US" altLang="zh-CN" sz="3200" baseline="-25000">
                <a:solidFill>
                  <a:srgbClr val="0000FF"/>
                </a:solidFill>
              </a:rPr>
              <a:t>1</a:t>
            </a:r>
            <a:endParaRPr lang="en-US" altLang="zh-CN" sz="3200"/>
          </a:p>
        </p:txBody>
      </p:sp>
      <p:sp>
        <p:nvSpPr>
          <p:cNvPr id="181254" name="Oval 6"/>
          <p:cNvSpPr>
            <a:spLocks noChangeArrowheads="1"/>
          </p:cNvSpPr>
          <p:nvPr/>
        </p:nvSpPr>
        <p:spPr bwMode="auto">
          <a:xfrm>
            <a:off x="3835400" y="5138738"/>
            <a:ext cx="457200" cy="457200"/>
          </a:xfrm>
          <a:prstGeom prst="ellipse">
            <a:avLst/>
          </a:prstGeom>
          <a:noFill/>
          <a:ln w="12700" cap="sq">
            <a:solidFill>
              <a:srgbClr val="99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0000FF"/>
                </a:solidFill>
              </a:rPr>
              <a:t>v</a:t>
            </a:r>
            <a:r>
              <a:rPr lang="en-US" altLang="zh-CN" baseline="-25000">
                <a:solidFill>
                  <a:srgbClr val="0000FF"/>
                </a:solidFill>
              </a:rPr>
              <a:t>n</a:t>
            </a:r>
            <a:endParaRPr lang="en-US" altLang="zh-CN"/>
          </a:p>
        </p:txBody>
      </p:sp>
      <p:sp>
        <p:nvSpPr>
          <p:cNvPr id="181255" name="Oval 7"/>
          <p:cNvSpPr>
            <a:spLocks noChangeArrowheads="1"/>
          </p:cNvSpPr>
          <p:nvPr/>
        </p:nvSpPr>
        <p:spPr bwMode="auto">
          <a:xfrm>
            <a:off x="3419475" y="3933825"/>
            <a:ext cx="457200" cy="457200"/>
          </a:xfrm>
          <a:prstGeom prst="ellipse">
            <a:avLst/>
          </a:prstGeom>
          <a:noFill/>
          <a:ln w="12700" cap="sq" algn="ctr">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0000FF"/>
                </a:solidFill>
              </a:rPr>
              <a:t>V</a:t>
            </a:r>
            <a:r>
              <a:rPr lang="en-US" altLang="zh-CN" baseline="-25000">
                <a:solidFill>
                  <a:srgbClr val="0000FF"/>
                </a:solidFill>
              </a:rPr>
              <a:t>3</a:t>
            </a:r>
            <a:endParaRPr lang="en-US" altLang="zh-CN" baseline="-25000">
              <a:solidFill>
                <a:srgbClr val="0000FF"/>
              </a:solidFill>
            </a:endParaRPr>
          </a:p>
        </p:txBody>
      </p:sp>
      <p:sp>
        <p:nvSpPr>
          <p:cNvPr id="181256" name="Text Box 8"/>
          <p:cNvSpPr txBox="1">
            <a:spLocks noChangeArrowheads="1"/>
          </p:cNvSpPr>
          <p:nvPr/>
        </p:nvSpPr>
        <p:spPr bwMode="auto">
          <a:xfrm>
            <a:off x="3635375" y="42926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99"/>
                </a:solidFill>
              </a:rPr>
              <a:t>…</a:t>
            </a:r>
            <a:endParaRPr lang="en-US" altLang="zh-CN" sz="3600" b="1"/>
          </a:p>
        </p:txBody>
      </p:sp>
      <p:sp>
        <p:nvSpPr>
          <p:cNvPr id="181257" name="Line 9"/>
          <p:cNvSpPr>
            <a:spLocks noChangeShapeType="1"/>
          </p:cNvSpPr>
          <p:nvPr/>
        </p:nvSpPr>
        <p:spPr bwMode="auto">
          <a:xfrm flipV="1">
            <a:off x="1244600" y="3233738"/>
            <a:ext cx="685800" cy="685800"/>
          </a:xfrm>
          <a:prstGeom prst="line">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58" name="Line 10"/>
          <p:cNvSpPr>
            <a:spLocks noChangeShapeType="1"/>
          </p:cNvSpPr>
          <p:nvPr/>
        </p:nvSpPr>
        <p:spPr bwMode="auto">
          <a:xfrm flipV="1">
            <a:off x="1397000" y="4149725"/>
            <a:ext cx="2022475" cy="74613"/>
          </a:xfrm>
          <a:prstGeom prst="line">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59" name="Line 11"/>
          <p:cNvSpPr>
            <a:spLocks noChangeShapeType="1"/>
          </p:cNvSpPr>
          <p:nvPr/>
        </p:nvSpPr>
        <p:spPr bwMode="auto">
          <a:xfrm>
            <a:off x="1304925" y="4300538"/>
            <a:ext cx="2574925" cy="990600"/>
          </a:xfrm>
          <a:prstGeom prst="line">
            <a:avLst/>
          </a:prstGeom>
          <a:noFill/>
          <a:ln w="12700" cap="sq">
            <a:solidFill>
              <a:srgbClr val="9900FF"/>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60" name="Text Box 12"/>
          <p:cNvSpPr txBox="1">
            <a:spLocks noChangeArrowheads="1"/>
          </p:cNvSpPr>
          <p:nvPr/>
        </p:nvSpPr>
        <p:spPr bwMode="auto">
          <a:xfrm>
            <a:off x="4175125" y="2492375"/>
            <a:ext cx="4824730" cy="274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a:solidFill>
                  <a:srgbClr val="000099"/>
                </a:solidFill>
                <a:latin typeface="Arial" panose="020B0604020202020204" pitchFamily="34" charset="0"/>
                <a:ea typeface="楷体_GB2312" pitchFamily="49" charset="-122"/>
                <a:cs typeface="Arial" panose="020B0604020202020204" pitchFamily="34" charset="0"/>
              </a:rPr>
              <a:t>Among them,</a:t>
            </a:r>
            <a:r>
              <a:rPr lang="zh-CN" altLang="en-US" sz="2400" b="1">
                <a:solidFill>
                  <a:srgbClr val="A50021"/>
                </a:solidFill>
                <a:latin typeface="Arial" panose="020B0604020202020204" pitchFamily="34" charset="0"/>
                <a:ea typeface="楷体_GB2312" pitchFamily="49" charset="-122"/>
                <a:cs typeface="Arial" panose="020B0604020202020204" pitchFamily="34" charset="0"/>
              </a:rPr>
              <a:t> the shortest path from the source vertex to vertex </a:t>
            </a:r>
            <a:r>
              <a:rPr lang="zh-CN" altLang="en-US" sz="2400" b="1">
                <a:solidFill>
                  <a:srgbClr val="A50021"/>
                </a:solidFill>
                <a:latin typeface="Arial" panose="020B0604020202020204" pitchFamily="34" charset="0"/>
                <a:ea typeface="楷体_GB2312" pitchFamily="49" charset="-122"/>
                <a:cs typeface="Arial" panose="020B0604020202020204" pitchFamily="34" charset="0"/>
                <a:sym typeface="+mn-ea"/>
              </a:rPr>
              <a:t>v</a:t>
            </a:r>
            <a:r>
              <a:rPr lang="zh-CN" altLang="en-US" sz="2400" b="1" baseline="-25000">
                <a:solidFill>
                  <a:srgbClr val="A50021"/>
                </a:solidFill>
                <a:latin typeface="Arial" panose="020B0604020202020204" pitchFamily="34" charset="0"/>
                <a:ea typeface="楷体_GB2312" pitchFamily="49" charset="-122"/>
                <a:cs typeface="Arial" panose="020B0604020202020204" pitchFamily="34" charset="0"/>
                <a:sym typeface="+mn-ea"/>
              </a:rPr>
              <a:t>1</a:t>
            </a:r>
            <a:r>
              <a:rPr lang="zh-CN" altLang="en-US" sz="2400" b="1">
                <a:solidFill>
                  <a:srgbClr val="A50021"/>
                </a:solidFill>
                <a:latin typeface="Arial" panose="020B0604020202020204" pitchFamily="34" charset="0"/>
                <a:ea typeface="楷体_GB2312" pitchFamily="49" charset="-122"/>
                <a:cs typeface="Arial" panose="020B0604020202020204" pitchFamily="34" charset="0"/>
              </a:rPr>
              <a:t> is</a:t>
            </a:r>
            <a:r>
              <a:rPr lang="zh-CN" altLang="en-US" sz="2400">
                <a:solidFill>
                  <a:srgbClr val="000099"/>
                </a:solidFill>
                <a:latin typeface="Arial" panose="020B0604020202020204" pitchFamily="34" charset="0"/>
                <a:ea typeface="楷体_GB2312" pitchFamily="49" charset="-122"/>
                <a:cs typeface="Arial" panose="020B0604020202020204" pitchFamily="34" charset="0"/>
              </a:rPr>
              <a:t> the</a:t>
            </a:r>
            <a:r>
              <a:rPr lang="zh-CN" altLang="en-US" sz="2400" b="1">
                <a:solidFill>
                  <a:srgbClr val="A50021"/>
                </a:solidFill>
                <a:latin typeface="Arial" panose="020B0604020202020204" pitchFamily="34" charset="0"/>
                <a:ea typeface="楷体_GB2312" pitchFamily="49" charset="-122"/>
                <a:cs typeface="Arial" panose="020B0604020202020204" pitchFamily="34" charset="0"/>
              </a:rPr>
              <a:t> </a:t>
            </a:r>
            <a:r>
              <a:rPr lang="zh-CN" altLang="en-US" sz="2400">
                <a:solidFill>
                  <a:srgbClr val="000099"/>
                </a:solidFill>
                <a:latin typeface="Arial" panose="020B0604020202020204" pitchFamily="34" charset="0"/>
                <a:ea typeface="楷体_GB2312" pitchFamily="49" charset="-122"/>
                <a:cs typeface="Arial" panose="020B0604020202020204" pitchFamily="34" charset="0"/>
              </a:rPr>
              <a:t>shortest among all shortest paths.</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000099"/>
                </a:solidFill>
                <a:latin typeface="Arial" panose="020B0604020202020204" pitchFamily="34" charset="0"/>
                <a:ea typeface="楷体_GB2312" pitchFamily="49" charset="-122"/>
                <a:cs typeface="Arial" panose="020B0604020202020204" pitchFamily="34" charset="0"/>
              </a:rPr>
              <a:t>What about the </a:t>
            </a:r>
            <a:r>
              <a:rPr lang="zh-CN" altLang="en-US" sz="2400" b="1">
                <a:solidFill>
                  <a:srgbClr val="FF0000"/>
                </a:solidFill>
                <a:latin typeface="Arial" panose="020B0604020202020204" pitchFamily="34" charset="0"/>
                <a:ea typeface="楷体_GB2312" pitchFamily="49" charset="-122"/>
                <a:cs typeface="Arial" panose="020B0604020202020204" pitchFamily="34" charset="0"/>
              </a:rPr>
              <a:t>next </a:t>
            </a:r>
            <a:r>
              <a:rPr lang="zh-CN" altLang="en-US" sz="2400">
                <a:solidFill>
                  <a:srgbClr val="000099"/>
                </a:solidFill>
                <a:latin typeface="Arial" panose="020B0604020202020204" pitchFamily="34" charset="0"/>
                <a:ea typeface="楷体_GB2312" pitchFamily="49" charset="-122"/>
                <a:cs typeface="Arial" panose="020B0604020202020204" pitchFamily="34" charset="0"/>
              </a:rPr>
              <a:t>shortest path?</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000099"/>
                </a:solidFill>
                <a:latin typeface="Arial" panose="020B0604020202020204" pitchFamily="34" charset="0"/>
                <a:ea typeface="楷体_GB2312" pitchFamily="49" charset="-122"/>
                <a:cs typeface="Arial" panose="020B0604020202020204" pitchFamily="34" charset="0"/>
              </a:rPr>
              <a:t>And the </a:t>
            </a:r>
            <a:r>
              <a:rPr lang="zh-CN" altLang="en-US" sz="2400" b="1">
                <a:solidFill>
                  <a:srgbClr val="FF0000"/>
                </a:solidFill>
                <a:latin typeface="Arial" panose="020B0604020202020204" pitchFamily="34" charset="0"/>
                <a:ea typeface="楷体_GB2312" pitchFamily="49" charset="-122"/>
                <a:cs typeface="Arial" panose="020B0604020202020204" pitchFamily="34" charset="0"/>
              </a:rPr>
              <a:t>one after that?</a:t>
            </a:r>
            <a:endParaRPr lang="zh-CN" altLang="en-US" sz="2400" b="1">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181261" name="Oval 13"/>
          <p:cNvSpPr>
            <a:spLocks noChangeArrowheads="1"/>
          </p:cNvSpPr>
          <p:nvPr/>
        </p:nvSpPr>
        <p:spPr bwMode="auto">
          <a:xfrm>
            <a:off x="2768600" y="3157538"/>
            <a:ext cx="533400" cy="533400"/>
          </a:xfrm>
          <a:prstGeom prst="ellips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0000FF"/>
                </a:solidFill>
              </a:rPr>
              <a:t>v</a:t>
            </a:r>
            <a:r>
              <a:rPr lang="en-US" altLang="zh-CN" sz="3200" baseline="-25000">
                <a:solidFill>
                  <a:srgbClr val="0000FF"/>
                </a:solidFill>
              </a:rPr>
              <a:t>2</a:t>
            </a:r>
            <a:endParaRPr lang="en-US" altLang="zh-CN" sz="3200"/>
          </a:p>
        </p:txBody>
      </p:sp>
      <p:sp>
        <p:nvSpPr>
          <p:cNvPr id="181262" name="Line 14"/>
          <p:cNvSpPr>
            <a:spLocks noChangeShapeType="1"/>
          </p:cNvSpPr>
          <p:nvPr/>
        </p:nvSpPr>
        <p:spPr bwMode="auto">
          <a:xfrm flipV="1">
            <a:off x="1397000" y="3462338"/>
            <a:ext cx="1371600" cy="609600"/>
          </a:xfrm>
          <a:prstGeom prst="line">
            <a:avLst/>
          </a:prstGeom>
          <a:noFill/>
          <a:ln w="12700" cap="sq">
            <a:solidFill>
              <a:srgbClr val="0000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63" name="Line 15"/>
          <p:cNvSpPr>
            <a:spLocks noChangeShapeType="1"/>
          </p:cNvSpPr>
          <p:nvPr/>
        </p:nvSpPr>
        <p:spPr bwMode="auto">
          <a:xfrm>
            <a:off x="2411413" y="3128963"/>
            <a:ext cx="433387" cy="215900"/>
          </a:xfrm>
          <a:prstGeom prst="line">
            <a:avLst/>
          </a:prstGeom>
          <a:noFill/>
          <a:ln w="127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64" name="Line 16"/>
          <p:cNvSpPr>
            <a:spLocks noChangeShapeType="1"/>
          </p:cNvSpPr>
          <p:nvPr/>
        </p:nvSpPr>
        <p:spPr bwMode="auto">
          <a:xfrm>
            <a:off x="2268538" y="3344863"/>
            <a:ext cx="1150937" cy="731837"/>
          </a:xfrm>
          <a:prstGeom prst="line">
            <a:avLst/>
          </a:prstGeom>
          <a:noFill/>
          <a:ln w="127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265" name="Line 17"/>
          <p:cNvSpPr>
            <a:spLocks noChangeShapeType="1"/>
          </p:cNvSpPr>
          <p:nvPr/>
        </p:nvSpPr>
        <p:spPr bwMode="auto">
          <a:xfrm>
            <a:off x="3276600" y="3573463"/>
            <a:ext cx="287338" cy="360362"/>
          </a:xfrm>
          <a:prstGeom prst="line">
            <a:avLst/>
          </a:prstGeom>
          <a:noFill/>
          <a:ln w="12700" cap="sq">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81250"/>
                                        </p:tgtEl>
                                        <p:attrNameLst>
                                          <p:attrName>style.visibility</p:attrName>
                                        </p:attrNameLst>
                                      </p:cBhvr>
                                      <p:to>
                                        <p:strVal val="visible"/>
                                      </p:to>
                                    </p:set>
                                    <p:anim calcmode="lin" valueType="num">
                                      <p:cBhvr additive="base">
                                        <p:cTn id="7" dur="500" fill="hold"/>
                                        <p:tgtEl>
                                          <p:spTgt spid="181250"/>
                                        </p:tgtEl>
                                        <p:attrNameLst>
                                          <p:attrName>ppt_x</p:attrName>
                                        </p:attrNameLst>
                                      </p:cBhvr>
                                      <p:tavLst>
                                        <p:tav tm="0">
                                          <p:val>
                                            <p:strVal val="#ppt_x"/>
                                          </p:val>
                                        </p:tav>
                                        <p:tav tm="100000">
                                          <p:val>
                                            <p:strVal val="#ppt_x"/>
                                          </p:val>
                                        </p:tav>
                                      </p:tavLst>
                                    </p:anim>
                                    <p:anim calcmode="lin" valueType="num">
                                      <p:cBhvr additive="base">
                                        <p:cTn id="8" dur="500" fill="hold"/>
                                        <p:tgtEl>
                                          <p:spTgt spid="18125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181251"/>
                                        </p:tgtEl>
                                        <p:attrNameLst>
                                          <p:attrName>style.visibility</p:attrName>
                                        </p:attrNameLst>
                                      </p:cBhvr>
                                      <p:to>
                                        <p:strVal val="visible"/>
                                      </p:to>
                                    </p:set>
                                    <p:animEffect transition="in" filter="box(out)">
                                      <p:cBhvr>
                                        <p:cTn id="13" dur="500"/>
                                        <p:tgtEl>
                                          <p:spTgt spid="18125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1252"/>
                                        </p:tgtEl>
                                        <p:attrNameLst>
                                          <p:attrName>style.visibility</p:attrName>
                                        </p:attrNameLst>
                                      </p:cBhvr>
                                      <p:to>
                                        <p:strVal val="visible"/>
                                      </p:to>
                                    </p:set>
                                    <p:animEffect transition="in" filter="wipe(left)">
                                      <p:cBhvr>
                                        <p:cTn id="18" dur="500"/>
                                        <p:tgtEl>
                                          <p:spTgt spid="181252"/>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81257"/>
                                        </p:tgtEl>
                                        <p:attrNameLst>
                                          <p:attrName>style.visibility</p:attrName>
                                        </p:attrNameLst>
                                      </p:cBhvr>
                                      <p:to>
                                        <p:strVal val="visible"/>
                                      </p:to>
                                    </p:set>
                                    <p:anim calcmode="lin" valueType="num">
                                      <p:cBhvr>
                                        <p:cTn id="23" dur="500" fill="hold"/>
                                        <p:tgtEl>
                                          <p:spTgt spid="181257"/>
                                        </p:tgtEl>
                                        <p:attrNameLst>
                                          <p:attrName>ppt_x</p:attrName>
                                        </p:attrNameLst>
                                      </p:cBhvr>
                                      <p:tavLst>
                                        <p:tav tm="0">
                                          <p:val>
                                            <p:strVal val="#ppt_x-#ppt_w/2"/>
                                          </p:val>
                                        </p:tav>
                                        <p:tav tm="100000">
                                          <p:val>
                                            <p:strVal val="#ppt_x"/>
                                          </p:val>
                                        </p:tav>
                                      </p:tavLst>
                                    </p:anim>
                                    <p:anim calcmode="lin" valueType="num">
                                      <p:cBhvr>
                                        <p:cTn id="24" dur="500" fill="hold"/>
                                        <p:tgtEl>
                                          <p:spTgt spid="181257"/>
                                        </p:tgtEl>
                                        <p:attrNameLst>
                                          <p:attrName>ppt_y</p:attrName>
                                        </p:attrNameLst>
                                      </p:cBhvr>
                                      <p:tavLst>
                                        <p:tav tm="0">
                                          <p:val>
                                            <p:strVal val="#ppt_y"/>
                                          </p:val>
                                        </p:tav>
                                        <p:tav tm="100000">
                                          <p:val>
                                            <p:strVal val="#ppt_y"/>
                                          </p:val>
                                        </p:tav>
                                      </p:tavLst>
                                    </p:anim>
                                    <p:anim calcmode="lin" valueType="num">
                                      <p:cBhvr>
                                        <p:cTn id="25" dur="500" fill="hold"/>
                                        <p:tgtEl>
                                          <p:spTgt spid="181257"/>
                                        </p:tgtEl>
                                        <p:attrNameLst>
                                          <p:attrName>ppt_w</p:attrName>
                                        </p:attrNameLst>
                                      </p:cBhvr>
                                      <p:tavLst>
                                        <p:tav tm="0">
                                          <p:val>
                                            <p:fltVal val="0"/>
                                          </p:val>
                                        </p:tav>
                                        <p:tav tm="100000">
                                          <p:val>
                                            <p:strVal val="#ppt_w"/>
                                          </p:val>
                                        </p:tav>
                                      </p:tavLst>
                                    </p:anim>
                                    <p:anim calcmode="lin" valueType="num">
                                      <p:cBhvr>
                                        <p:cTn id="26" dur="500" fill="hold"/>
                                        <p:tgtEl>
                                          <p:spTgt spid="181257"/>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81253"/>
                                        </p:tgtEl>
                                        <p:attrNameLst>
                                          <p:attrName>style.visibility</p:attrName>
                                        </p:attrNameLst>
                                      </p:cBhvr>
                                      <p:to>
                                        <p:strVal val="visible"/>
                                      </p:to>
                                    </p:set>
                                    <p:animEffect transition="in" filter="wipe(left)">
                                      <p:cBhvr>
                                        <p:cTn id="30" dur="500"/>
                                        <p:tgtEl>
                                          <p:spTgt spid="181253"/>
                                        </p:tgtEl>
                                      </p:cBhvr>
                                    </p:animEffect>
                                  </p:childTnLst>
                                </p:cTn>
                              </p:par>
                            </p:childTnLst>
                          </p:cTn>
                        </p:par>
                        <p:par>
                          <p:cTn id="31" fill="hold">
                            <p:stCondLst>
                              <p:cond delay="1000"/>
                            </p:stCondLst>
                            <p:childTnLst>
                              <p:par>
                                <p:cTn id="32" presetID="17" presetClass="entr" presetSubtype="8" fill="hold" grpId="0" nodeType="afterEffect">
                                  <p:stCondLst>
                                    <p:cond delay="0"/>
                                  </p:stCondLst>
                                  <p:childTnLst>
                                    <p:set>
                                      <p:cBhvr>
                                        <p:cTn id="33" dur="1" fill="hold">
                                          <p:stCondLst>
                                            <p:cond delay="0"/>
                                          </p:stCondLst>
                                        </p:cTn>
                                        <p:tgtEl>
                                          <p:spTgt spid="181262"/>
                                        </p:tgtEl>
                                        <p:attrNameLst>
                                          <p:attrName>style.visibility</p:attrName>
                                        </p:attrNameLst>
                                      </p:cBhvr>
                                      <p:to>
                                        <p:strVal val="visible"/>
                                      </p:to>
                                    </p:set>
                                    <p:anim calcmode="lin" valueType="num">
                                      <p:cBhvr>
                                        <p:cTn id="34" dur="500" fill="hold"/>
                                        <p:tgtEl>
                                          <p:spTgt spid="181262"/>
                                        </p:tgtEl>
                                        <p:attrNameLst>
                                          <p:attrName>ppt_x</p:attrName>
                                        </p:attrNameLst>
                                      </p:cBhvr>
                                      <p:tavLst>
                                        <p:tav tm="0">
                                          <p:val>
                                            <p:strVal val="#ppt_x-#ppt_w/2"/>
                                          </p:val>
                                        </p:tav>
                                        <p:tav tm="100000">
                                          <p:val>
                                            <p:strVal val="#ppt_x"/>
                                          </p:val>
                                        </p:tav>
                                      </p:tavLst>
                                    </p:anim>
                                    <p:anim calcmode="lin" valueType="num">
                                      <p:cBhvr>
                                        <p:cTn id="35" dur="500" fill="hold"/>
                                        <p:tgtEl>
                                          <p:spTgt spid="181262"/>
                                        </p:tgtEl>
                                        <p:attrNameLst>
                                          <p:attrName>ppt_y</p:attrName>
                                        </p:attrNameLst>
                                      </p:cBhvr>
                                      <p:tavLst>
                                        <p:tav tm="0">
                                          <p:val>
                                            <p:strVal val="#ppt_y"/>
                                          </p:val>
                                        </p:tav>
                                        <p:tav tm="100000">
                                          <p:val>
                                            <p:strVal val="#ppt_y"/>
                                          </p:val>
                                        </p:tav>
                                      </p:tavLst>
                                    </p:anim>
                                    <p:anim calcmode="lin" valueType="num">
                                      <p:cBhvr>
                                        <p:cTn id="36" dur="500" fill="hold"/>
                                        <p:tgtEl>
                                          <p:spTgt spid="181262"/>
                                        </p:tgtEl>
                                        <p:attrNameLst>
                                          <p:attrName>ppt_w</p:attrName>
                                        </p:attrNameLst>
                                      </p:cBhvr>
                                      <p:tavLst>
                                        <p:tav tm="0">
                                          <p:val>
                                            <p:fltVal val="0"/>
                                          </p:val>
                                        </p:tav>
                                        <p:tav tm="100000">
                                          <p:val>
                                            <p:strVal val="#ppt_w"/>
                                          </p:val>
                                        </p:tav>
                                      </p:tavLst>
                                    </p:anim>
                                    <p:anim calcmode="lin" valueType="num">
                                      <p:cBhvr>
                                        <p:cTn id="37" dur="500" fill="hold"/>
                                        <p:tgtEl>
                                          <p:spTgt spid="181262"/>
                                        </p:tgtEl>
                                        <p:attrNameLst>
                                          <p:attrName>ppt_h</p:attrName>
                                        </p:attrNameLst>
                                      </p:cBhvr>
                                      <p:tavLst>
                                        <p:tav tm="0">
                                          <p:val>
                                            <p:strVal val="#ppt_h"/>
                                          </p:val>
                                        </p:tav>
                                        <p:tav tm="100000">
                                          <p:val>
                                            <p:strVal val="#ppt_h"/>
                                          </p:val>
                                        </p:tav>
                                      </p:tavLst>
                                    </p:anim>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181261"/>
                                        </p:tgtEl>
                                        <p:attrNameLst>
                                          <p:attrName>style.visibility</p:attrName>
                                        </p:attrNameLst>
                                      </p:cBhvr>
                                      <p:to>
                                        <p:strVal val="visible"/>
                                      </p:to>
                                    </p:set>
                                    <p:animEffect transition="in" filter="wipe(left)">
                                      <p:cBhvr>
                                        <p:cTn id="41" dur="500"/>
                                        <p:tgtEl>
                                          <p:spTgt spid="181261"/>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181256"/>
                                        </p:tgtEl>
                                        <p:attrNameLst>
                                          <p:attrName>style.visibility</p:attrName>
                                        </p:attrNameLst>
                                      </p:cBhvr>
                                      <p:to>
                                        <p:strVal val="visible"/>
                                      </p:to>
                                    </p:set>
                                    <p:animEffect transition="in" filter="wipe(left)">
                                      <p:cBhvr>
                                        <p:cTn id="45" dur="500"/>
                                        <p:tgtEl>
                                          <p:spTgt spid="181256"/>
                                        </p:tgtEl>
                                      </p:cBhvr>
                                    </p:animEffect>
                                  </p:childTnLst>
                                </p:cTn>
                              </p:par>
                            </p:childTnLst>
                          </p:cTn>
                        </p:par>
                        <p:par>
                          <p:cTn id="46" fill="hold">
                            <p:stCondLst>
                              <p:cond delay="2500"/>
                            </p:stCondLst>
                            <p:childTnLst>
                              <p:par>
                                <p:cTn id="47" presetID="17" presetClass="entr" presetSubtype="8" fill="hold" grpId="0" nodeType="afterEffect">
                                  <p:stCondLst>
                                    <p:cond delay="0"/>
                                  </p:stCondLst>
                                  <p:childTnLst>
                                    <p:set>
                                      <p:cBhvr>
                                        <p:cTn id="48" dur="1" fill="hold">
                                          <p:stCondLst>
                                            <p:cond delay="0"/>
                                          </p:stCondLst>
                                        </p:cTn>
                                        <p:tgtEl>
                                          <p:spTgt spid="181258"/>
                                        </p:tgtEl>
                                        <p:attrNameLst>
                                          <p:attrName>style.visibility</p:attrName>
                                        </p:attrNameLst>
                                      </p:cBhvr>
                                      <p:to>
                                        <p:strVal val="visible"/>
                                      </p:to>
                                    </p:set>
                                    <p:anim calcmode="lin" valueType="num">
                                      <p:cBhvr>
                                        <p:cTn id="49" dur="500" fill="hold"/>
                                        <p:tgtEl>
                                          <p:spTgt spid="181258"/>
                                        </p:tgtEl>
                                        <p:attrNameLst>
                                          <p:attrName>ppt_x</p:attrName>
                                        </p:attrNameLst>
                                      </p:cBhvr>
                                      <p:tavLst>
                                        <p:tav tm="0">
                                          <p:val>
                                            <p:strVal val="#ppt_x-#ppt_w/2"/>
                                          </p:val>
                                        </p:tav>
                                        <p:tav tm="100000">
                                          <p:val>
                                            <p:strVal val="#ppt_x"/>
                                          </p:val>
                                        </p:tav>
                                      </p:tavLst>
                                    </p:anim>
                                    <p:anim calcmode="lin" valueType="num">
                                      <p:cBhvr>
                                        <p:cTn id="50" dur="500" fill="hold"/>
                                        <p:tgtEl>
                                          <p:spTgt spid="181258"/>
                                        </p:tgtEl>
                                        <p:attrNameLst>
                                          <p:attrName>ppt_y</p:attrName>
                                        </p:attrNameLst>
                                      </p:cBhvr>
                                      <p:tavLst>
                                        <p:tav tm="0">
                                          <p:val>
                                            <p:strVal val="#ppt_y"/>
                                          </p:val>
                                        </p:tav>
                                        <p:tav tm="100000">
                                          <p:val>
                                            <p:strVal val="#ppt_y"/>
                                          </p:val>
                                        </p:tav>
                                      </p:tavLst>
                                    </p:anim>
                                    <p:anim calcmode="lin" valueType="num">
                                      <p:cBhvr>
                                        <p:cTn id="51" dur="500" fill="hold"/>
                                        <p:tgtEl>
                                          <p:spTgt spid="181258"/>
                                        </p:tgtEl>
                                        <p:attrNameLst>
                                          <p:attrName>ppt_w</p:attrName>
                                        </p:attrNameLst>
                                      </p:cBhvr>
                                      <p:tavLst>
                                        <p:tav tm="0">
                                          <p:val>
                                            <p:fltVal val="0"/>
                                          </p:val>
                                        </p:tav>
                                        <p:tav tm="100000">
                                          <p:val>
                                            <p:strVal val="#ppt_w"/>
                                          </p:val>
                                        </p:tav>
                                      </p:tavLst>
                                    </p:anim>
                                    <p:anim calcmode="lin" valueType="num">
                                      <p:cBhvr>
                                        <p:cTn id="52" dur="500" fill="hold"/>
                                        <p:tgtEl>
                                          <p:spTgt spid="181258"/>
                                        </p:tgtEl>
                                        <p:attrNameLst>
                                          <p:attrName>ppt_h</p:attrName>
                                        </p:attrNameLst>
                                      </p:cBhvr>
                                      <p:tavLst>
                                        <p:tav tm="0">
                                          <p:val>
                                            <p:strVal val="#ppt_h"/>
                                          </p:val>
                                        </p:tav>
                                        <p:tav tm="100000">
                                          <p:val>
                                            <p:strVal val="#ppt_h"/>
                                          </p:val>
                                        </p:tav>
                                      </p:tavLst>
                                    </p:anim>
                                  </p:childTnLst>
                                </p:cTn>
                              </p:par>
                            </p:childTnLst>
                          </p:cTn>
                        </p:par>
                        <p:par>
                          <p:cTn id="53" fill="hold">
                            <p:stCondLst>
                              <p:cond delay="3000"/>
                            </p:stCondLst>
                            <p:childTnLst>
                              <p:par>
                                <p:cTn id="54" presetID="22" presetClass="entr" presetSubtype="8" fill="hold" grpId="0" nodeType="afterEffect">
                                  <p:stCondLst>
                                    <p:cond delay="0"/>
                                  </p:stCondLst>
                                  <p:childTnLst>
                                    <p:set>
                                      <p:cBhvr>
                                        <p:cTn id="55" dur="1" fill="hold">
                                          <p:stCondLst>
                                            <p:cond delay="0"/>
                                          </p:stCondLst>
                                        </p:cTn>
                                        <p:tgtEl>
                                          <p:spTgt spid="181255"/>
                                        </p:tgtEl>
                                        <p:attrNameLst>
                                          <p:attrName>style.visibility</p:attrName>
                                        </p:attrNameLst>
                                      </p:cBhvr>
                                      <p:to>
                                        <p:strVal val="visible"/>
                                      </p:to>
                                    </p:set>
                                    <p:animEffect transition="in" filter="wipe(left)">
                                      <p:cBhvr>
                                        <p:cTn id="56" dur="500"/>
                                        <p:tgtEl>
                                          <p:spTgt spid="181255"/>
                                        </p:tgtEl>
                                      </p:cBhvr>
                                    </p:animEffect>
                                  </p:childTnLst>
                                </p:cTn>
                              </p:par>
                            </p:childTnLst>
                          </p:cTn>
                        </p:par>
                        <p:par>
                          <p:cTn id="57" fill="hold">
                            <p:stCondLst>
                              <p:cond delay="3500"/>
                            </p:stCondLst>
                            <p:childTnLst>
                              <p:par>
                                <p:cTn id="58" presetID="17" presetClass="entr" presetSubtype="8" fill="hold" grpId="0" nodeType="afterEffect">
                                  <p:stCondLst>
                                    <p:cond delay="0"/>
                                  </p:stCondLst>
                                  <p:childTnLst>
                                    <p:set>
                                      <p:cBhvr>
                                        <p:cTn id="59" dur="1" fill="hold">
                                          <p:stCondLst>
                                            <p:cond delay="0"/>
                                          </p:stCondLst>
                                        </p:cTn>
                                        <p:tgtEl>
                                          <p:spTgt spid="181259"/>
                                        </p:tgtEl>
                                        <p:attrNameLst>
                                          <p:attrName>style.visibility</p:attrName>
                                        </p:attrNameLst>
                                      </p:cBhvr>
                                      <p:to>
                                        <p:strVal val="visible"/>
                                      </p:to>
                                    </p:set>
                                    <p:anim calcmode="lin" valueType="num">
                                      <p:cBhvr>
                                        <p:cTn id="60" dur="500" fill="hold"/>
                                        <p:tgtEl>
                                          <p:spTgt spid="181259"/>
                                        </p:tgtEl>
                                        <p:attrNameLst>
                                          <p:attrName>ppt_x</p:attrName>
                                        </p:attrNameLst>
                                      </p:cBhvr>
                                      <p:tavLst>
                                        <p:tav tm="0">
                                          <p:val>
                                            <p:strVal val="#ppt_x-#ppt_w/2"/>
                                          </p:val>
                                        </p:tav>
                                        <p:tav tm="100000">
                                          <p:val>
                                            <p:strVal val="#ppt_x"/>
                                          </p:val>
                                        </p:tav>
                                      </p:tavLst>
                                    </p:anim>
                                    <p:anim calcmode="lin" valueType="num">
                                      <p:cBhvr>
                                        <p:cTn id="61" dur="500" fill="hold"/>
                                        <p:tgtEl>
                                          <p:spTgt spid="181259"/>
                                        </p:tgtEl>
                                        <p:attrNameLst>
                                          <p:attrName>ppt_y</p:attrName>
                                        </p:attrNameLst>
                                      </p:cBhvr>
                                      <p:tavLst>
                                        <p:tav tm="0">
                                          <p:val>
                                            <p:strVal val="#ppt_y"/>
                                          </p:val>
                                        </p:tav>
                                        <p:tav tm="100000">
                                          <p:val>
                                            <p:strVal val="#ppt_y"/>
                                          </p:val>
                                        </p:tav>
                                      </p:tavLst>
                                    </p:anim>
                                    <p:anim calcmode="lin" valueType="num">
                                      <p:cBhvr>
                                        <p:cTn id="62" dur="500" fill="hold"/>
                                        <p:tgtEl>
                                          <p:spTgt spid="181259"/>
                                        </p:tgtEl>
                                        <p:attrNameLst>
                                          <p:attrName>ppt_w</p:attrName>
                                        </p:attrNameLst>
                                      </p:cBhvr>
                                      <p:tavLst>
                                        <p:tav tm="0">
                                          <p:val>
                                            <p:fltVal val="0"/>
                                          </p:val>
                                        </p:tav>
                                        <p:tav tm="100000">
                                          <p:val>
                                            <p:strVal val="#ppt_w"/>
                                          </p:val>
                                        </p:tav>
                                      </p:tavLst>
                                    </p:anim>
                                    <p:anim calcmode="lin" valueType="num">
                                      <p:cBhvr>
                                        <p:cTn id="63" dur="500" fill="hold"/>
                                        <p:tgtEl>
                                          <p:spTgt spid="181259"/>
                                        </p:tgtEl>
                                        <p:attrNameLst>
                                          <p:attrName>ppt_h</p:attrName>
                                        </p:attrNameLst>
                                      </p:cBhvr>
                                      <p:tavLst>
                                        <p:tav tm="0">
                                          <p:val>
                                            <p:strVal val="#ppt_h"/>
                                          </p:val>
                                        </p:tav>
                                        <p:tav tm="100000">
                                          <p:val>
                                            <p:strVal val="#ppt_h"/>
                                          </p:val>
                                        </p:tav>
                                      </p:tavLst>
                                    </p:anim>
                                  </p:childTnLst>
                                </p:cTn>
                              </p:par>
                            </p:childTnLst>
                          </p:cTn>
                        </p:par>
                        <p:par>
                          <p:cTn id="64" fill="hold">
                            <p:stCondLst>
                              <p:cond delay="4000"/>
                            </p:stCondLst>
                            <p:childTnLst>
                              <p:par>
                                <p:cTn id="65" presetID="22" presetClass="entr" presetSubtype="8" fill="hold" grpId="0" nodeType="afterEffect">
                                  <p:stCondLst>
                                    <p:cond delay="0"/>
                                  </p:stCondLst>
                                  <p:childTnLst>
                                    <p:set>
                                      <p:cBhvr>
                                        <p:cTn id="66" dur="1" fill="hold">
                                          <p:stCondLst>
                                            <p:cond delay="0"/>
                                          </p:stCondLst>
                                        </p:cTn>
                                        <p:tgtEl>
                                          <p:spTgt spid="181254"/>
                                        </p:tgtEl>
                                        <p:attrNameLst>
                                          <p:attrName>style.visibility</p:attrName>
                                        </p:attrNameLst>
                                      </p:cBhvr>
                                      <p:to>
                                        <p:strVal val="visible"/>
                                      </p:to>
                                    </p:set>
                                    <p:animEffect transition="in" filter="wipe(left)">
                                      <p:cBhvr>
                                        <p:cTn id="67" dur="500"/>
                                        <p:tgtEl>
                                          <p:spTgt spid="181254"/>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2" fill="hold" grpId="0" nodeType="clickEffect">
                                  <p:stCondLst>
                                    <p:cond delay="0"/>
                                  </p:stCondLst>
                                  <p:childTnLst>
                                    <p:set>
                                      <p:cBhvr>
                                        <p:cTn id="71" dur="1" fill="hold">
                                          <p:stCondLst>
                                            <p:cond delay="0"/>
                                          </p:stCondLst>
                                        </p:cTn>
                                        <p:tgtEl>
                                          <p:spTgt spid="181260"/>
                                        </p:tgtEl>
                                        <p:attrNameLst>
                                          <p:attrName>style.visibility</p:attrName>
                                        </p:attrNameLst>
                                      </p:cBhvr>
                                      <p:to>
                                        <p:strVal val="visible"/>
                                      </p:to>
                                    </p:set>
                                    <p:anim calcmode="lin" valueType="num">
                                      <p:cBhvr additive="base">
                                        <p:cTn id="72" dur="500" fill="hold"/>
                                        <p:tgtEl>
                                          <p:spTgt spid="181260"/>
                                        </p:tgtEl>
                                        <p:attrNameLst>
                                          <p:attrName>ppt_x</p:attrName>
                                        </p:attrNameLst>
                                      </p:cBhvr>
                                      <p:tavLst>
                                        <p:tav tm="0">
                                          <p:val>
                                            <p:strVal val="1+#ppt_w/2"/>
                                          </p:val>
                                        </p:tav>
                                        <p:tav tm="100000">
                                          <p:val>
                                            <p:strVal val="#ppt_x"/>
                                          </p:val>
                                        </p:tav>
                                      </p:tavLst>
                                    </p:anim>
                                    <p:anim calcmode="lin" valueType="num">
                                      <p:cBhvr additive="base">
                                        <p:cTn id="73" dur="500" fill="hold"/>
                                        <p:tgtEl>
                                          <p:spTgt spid="181260"/>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181263"/>
                                        </p:tgtEl>
                                        <p:attrNameLst>
                                          <p:attrName>style.visibility</p:attrName>
                                        </p:attrNameLst>
                                      </p:cBhvr>
                                      <p:to>
                                        <p:strVal val="visible"/>
                                      </p:to>
                                    </p:set>
                                    <p:anim calcmode="lin" valueType="num">
                                      <p:cBhvr>
                                        <p:cTn id="78" dur="500" fill="hold"/>
                                        <p:tgtEl>
                                          <p:spTgt spid="181263"/>
                                        </p:tgtEl>
                                        <p:attrNameLst>
                                          <p:attrName>ppt_x</p:attrName>
                                        </p:attrNameLst>
                                      </p:cBhvr>
                                      <p:tavLst>
                                        <p:tav tm="0">
                                          <p:val>
                                            <p:strVal val="#ppt_x-#ppt_w/2"/>
                                          </p:val>
                                        </p:tav>
                                        <p:tav tm="100000">
                                          <p:val>
                                            <p:strVal val="#ppt_x"/>
                                          </p:val>
                                        </p:tav>
                                      </p:tavLst>
                                    </p:anim>
                                    <p:anim calcmode="lin" valueType="num">
                                      <p:cBhvr>
                                        <p:cTn id="79" dur="500" fill="hold"/>
                                        <p:tgtEl>
                                          <p:spTgt spid="181263"/>
                                        </p:tgtEl>
                                        <p:attrNameLst>
                                          <p:attrName>ppt_y</p:attrName>
                                        </p:attrNameLst>
                                      </p:cBhvr>
                                      <p:tavLst>
                                        <p:tav tm="0">
                                          <p:val>
                                            <p:strVal val="#ppt_y"/>
                                          </p:val>
                                        </p:tav>
                                        <p:tav tm="100000">
                                          <p:val>
                                            <p:strVal val="#ppt_y"/>
                                          </p:val>
                                        </p:tav>
                                      </p:tavLst>
                                    </p:anim>
                                    <p:anim calcmode="lin" valueType="num">
                                      <p:cBhvr>
                                        <p:cTn id="80" dur="500" fill="hold"/>
                                        <p:tgtEl>
                                          <p:spTgt spid="181263"/>
                                        </p:tgtEl>
                                        <p:attrNameLst>
                                          <p:attrName>ppt_w</p:attrName>
                                        </p:attrNameLst>
                                      </p:cBhvr>
                                      <p:tavLst>
                                        <p:tav tm="0">
                                          <p:val>
                                            <p:fltVal val="0"/>
                                          </p:val>
                                        </p:tav>
                                        <p:tav tm="100000">
                                          <p:val>
                                            <p:strVal val="#ppt_w"/>
                                          </p:val>
                                        </p:tav>
                                      </p:tavLst>
                                    </p:anim>
                                    <p:anim calcmode="lin" valueType="num">
                                      <p:cBhvr>
                                        <p:cTn id="81" dur="500" fill="hold"/>
                                        <p:tgtEl>
                                          <p:spTgt spid="181263"/>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17" presetClass="entr" presetSubtype="8" fill="hold" grpId="0" nodeType="clickEffect">
                                  <p:stCondLst>
                                    <p:cond delay="0"/>
                                  </p:stCondLst>
                                  <p:childTnLst>
                                    <p:set>
                                      <p:cBhvr>
                                        <p:cTn id="85" dur="1" fill="hold">
                                          <p:stCondLst>
                                            <p:cond delay="0"/>
                                          </p:stCondLst>
                                        </p:cTn>
                                        <p:tgtEl>
                                          <p:spTgt spid="181264"/>
                                        </p:tgtEl>
                                        <p:attrNameLst>
                                          <p:attrName>style.visibility</p:attrName>
                                        </p:attrNameLst>
                                      </p:cBhvr>
                                      <p:to>
                                        <p:strVal val="visible"/>
                                      </p:to>
                                    </p:set>
                                    <p:anim calcmode="lin" valueType="num">
                                      <p:cBhvr>
                                        <p:cTn id="86" dur="500" fill="hold"/>
                                        <p:tgtEl>
                                          <p:spTgt spid="181264"/>
                                        </p:tgtEl>
                                        <p:attrNameLst>
                                          <p:attrName>ppt_x</p:attrName>
                                        </p:attrNameLst>
                                      </p:cBhvr>
                                      <p:tavLst>
                                        <p:tav tm="0">
                                          <p:val>
                                            <p:strVal val="#ppt_x-#ppt_w/2"/>
                                          </p:val>
                                        </p:tav>
                                        <p:tav tm="100000">
                                          <p:val>
                                            <p:strVal val="#ppt_x"/>
                                          </p:val>
                                        </p:tav>
                                      </p:tavLst>
                                    </p:anim>
                                    <p:anim calcmode="lin" valueType="num">
                                      <p:cBhvr>
                                        <p:cTn id="87" dur="500" fill="hold"/>
                                        <p:tgtEl>
                                          <p:spTgt spid="181264"/>
                                        </p:tgtEl>
                                        <p:attrNameLst>
                                          <p:attrName>ppt_y</p:attrName>
                                        </p:attrNameLst>
                                      </p:cBhvr>
                                      <p:tavLst>
                                        <p:tav tm="0">
                                          <p:val>
                                            <p:strVal val="#ppt_y"/>
                                          </p:val>
                                        </p:tav>
                                        <p:tav tm="100000">
                                          <p:val>
                                            <p:strVal val="#ppt_y"/>
                                          </p:val>
                                        </p:tav>
                                      </p:tavLst>
                                    </p:anim>
                                    <p:anim calcmode="lin" valueType="num">
                                      <p:cBhvr>
                                        <p:cTn id="88" dur="500" fill="hold"/>
                                        <p:tgtEl>
                                          <p:spTgt spid="181264"/>
                                        </p:tgtEl>
                                        <p:attrNameLst>
                                          <p:attrName>ppt_w</p:attrName>
                                        </p:attrNameLst>
                                      </p:cBhvr>
                                      <p:tavLst>
                                        <p:tav tm="0">
                                          <p:val>
                                            <p:fltVal val="0"/>
                                          </p:val>
                                        </p:tav>
                                        <p:tav tm="100000">
                                          <p:val>
                                            <p:strVal val="#ppt_w"/>
                                          </p:val>
                                        </p:tav>
                                      </p:tavLst>
                                    </p:anim>
                                    <p:anim calcmode="lin" valueType="num">
                                      <p:cBhvr>
                                        <p:cTn id="89" dur="500" fill="hold"/>
                                        <p:tgtEl>
                                          <p:spTgt spid="181264"/>
                                        </p:tgtEl>
                                        <p:attrNameLst>
                                          <p:attrName>ppt_h</p:attrName>
                                        </p:attrNameLst>
                                      </p:cBhvr>
                                      <p:tavLst>
                                        <p:tav tm="0">
                                          <p:val>
                                            <p:strVal val="#ppt_h"/>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17" presetClass="entr" presetSubtype="8" fill="hold" grpId="0" nodeType="clickEffect">
                                  <p:stCondLst>
                                    <p:cond delay="0"/>
                                  </p:stCondLst>
                                  <p:childTnLst>
                                    <p:set>
                                      <p:cBhvr>
                                        <p:cTn id="93" dur="1" fill="hold">
                                          <p:stCondLst>
                                            <p:cond delay="0"/>
                                          </p:stCondLst>
                                        </p:cTn>
                                        <p:tgtEl>
                                          <p:spTgt spid="181265"/>
                                        </p:tgtEl>
                                        <p:attrNameLst>
                                          <p:attrName>style.visibility</p:attrName>
                                        </p:attrNameLst>
                                      </p:cBhvr>
                                      <p:to>
                                        <p:strVal val="visible"/>
                                      </p:to>
                                    </p:set>
                                    <p:anim calcmode="lin" valueType="num">
                                      <p:cBhvr>
                                        <p:cTn id="94" dur="500" fill="hold"/>
                                        <p:tgtEl>
                                          <p:spTgt spid="181265"/>
                                        </p:tgtEl>
                                        <p:attrNameLst>
                                          <p:attrName>ppt_x</p:attrName>
                                        </p:attrNameLst>
                                      </p:cBhvr>
                                      <p:tavLst>
                                        <p:tav tm="0">
                                          <p:val>
                                            <p:strVal val="#ppt_x-#ppt_w/2"/>
                                          </p:val>
                                        </p:tav>
                                        <p:tav tm="100000">
                                          <p:val>
                                            <p:strVal val="#ppt_x"/>
                                          </p:val>
                                        </p:tav>
                                      </p:tavLst>
                                    </p:anim>
                                    <p:anim calcmode="lin" valueType="num">
                                      <p:cBhvr>
                                        <p:cTn id="95" dur="500" fill="hold"/>
                                        <p:tgtEl>
                                          <p:spTgt spid="181265"/>
                                        </p:tgtEl>
                                        <p:attrNameLst>
                                          <p:attrName>ppt_y</p:attrName>
                                        </p:attrNameLst>
                                      </p:cBhvr>
                                      <p:tavLst>
                                        <p:tav tm="0">
                                          <p:val>
                                            <p:strVal val="#ppt_y"/>
                                          </p:val>
                                        </p:tav>
                                        <p:tav tm="100000">
                                          <p:val>
                                            <p:strVal val="#ppt_y"/>
                                          </p:val>
                                        </p:tav>
                                      </p:tavLst>
                                    </p:anim>
                                    <p:anim calcmode="lin" valueType="num">
                                      <p:cBhvr>
                                        <p:cTn id="96" dur="500" fill="hold"/>
                                        <p:tgtEl>
                                          <p:spTgt spid="181265"/>
                                        </p:tgtEl>
                                        <p:attrNameLst>
                                          <p:attrName>ppt_w</p:attrName>
                                        </p:attrNameLst>
                                      </p:cBhvr>
                                      <p:tavLst>
                                        <p:tav tm="0">
                                          <p:val>
                                            <p:fltVal val="0"/>
                                          </p:val>
                                        </p:tav>
                                        <p:tav tm="100000">
                                          <p:val>
                                            <p:strVal val="#ppt_w"/>
                                          </p:val>
                                        </p:tav>
                                      </p:tavLst>
                                    </p:anim>
                                    <p:anim calcmode="lin" valueType="num">
                                      <p:cBhvr>
                                        <p:cTn id="97" dur="500" fill="hold"/>
                                        <p:tgtEl>
                                          <p:spTgt spid="1812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bldLvl="0" animBg="1" autoUpdateAnimBg="0"/>
      <p:bldP spid="181251" grpId="0" bldLvl="0" animBg="1" autoUpdateAnimBg="0"/>
      <p:bldP spid="181252" grpId="0" animBg="1" autoUpdateAnimBg="0"/>
      <p:bldP spid="181253" grpId="0" animBg="1" autoUpdateAnimBg="0"/>
      <p:bldP spid="181254" grpId="0" animBg="1"/>
      <p:bldP spid="181255" grpId="0" animBg="1"/>
      <p:bldP spid="181256" grpId="0" autoUpdateAnimBg="0"/>
      <p:bldP spid="181257" grpId="0" animBg="1"/>
      <p:bldP spid="181258" grpId="0" animBg="1"/>
      <p:bldP spid="181259" grpId="0" animBg="1"/>
      <p:bldP spid="181260" grpId="0" bldLvl="0" animBg="1" autoUpdateAnimBg="0"/>
      <p:bldP spid="181261" grpId="0" animBg="1" autoUpdateAnimBg="0"/>
      <p:bldP spid="181262" grpId="0" animBg="1"/>
      <p:bldP spid="181263" grpId="0" animBg="1"/>
      <p:bldP spid="181264" grpId="0" animBg="1"/>
      <p:bldP spid="181265"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35560" y="1196340"/>
            <a:ext cx="5478145" cy="90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2400" dirty="0">
                <a:solidFill>
                  <a:srgbClr val="000099"/>
                </a:solidFill>
                <a:latin typeface="Arial" panose="020B0604020202020204" pitchFamily="34" charset="0"/>
                <a:ea typeface="楷体_GB2312" pitchFamily="49" charset="-122"/>
                <a:cs typeface="Arial" panose="020B0604020202020204" pitchFamily="34" charset="0"/>
              </a:rPr>
              <a:t>    </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On this path, there must be</a:t>
            </a:r>
            <a:r>
              <a:rPr lang="zh-CN" altLang="en-US" sz="2400" dirty="0">
                <a:solidFill>
                  <a:srgbClr val="0000FF"/>
                </a:solidFill>
                <a:latin typeface="Arial" panose="020B0604020202020204" pitchFamily="34" charset="0"/>
                <a:ea typeface="楷体_GB2312" pitchFamily="49" charset="-122"/>
                <a:cs typeface="Arial" panose="020B0604020202020204" pitchFamily="34" charset="0"/>
                <a:sym typeface="+mn-ea"/>
              </a:rPr>
              <a:t> only one arc with the minimum weight</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let</a:t>
            </a:r>
            <a:r>
              <a:rPr lang="en-US" altLang="zh-CN" sz="2400" b="1" dirty="0">
                <a:latin typeface="Arial" panose="020B0604020202020204" pitchFamily="34" charset="0"/>
                <a:ea typeface="楷体_GB2312" pitchFamily="49" charset="-122"/>
                <a:cs typeface="Arial" panose="020B0604020202020204" pitchFamily="34" charset="0"/>
              </a:rPr>
              <a:t>(V</a:t>
            </a:r>
            <a:r>
              <a:rPr lang="en-US" altLang="zh-CN" sz="2400" b="1" baseline="-25000" dirty="0">
                <a:latin typeface="Arial" panose="020B0604020202020204" pitchFamily="34" charset="0"/>
                <a:ea typeface="楷体_GB2312" pitchFamily="49" charset="-122"/>
                <a:cs typeface="Arial" panose="020B0604020202020204" pitchFamily="34" charset="0"/>
              </a:rPr>
              <a:t>0</a:t>
            </a:r>
            <a:r>
              <a:rPr lang="en-US" altLang="zh-CN" sz="2400" b="1" dirty="0">
                <a:latin typeface="Arial" panose="020B0604020202020204" pitchFamily="34" charset="0"/>
                <a:ea typeface="楷体_GB2312" pitchFamily="49" charset="-122"/>
                <a:cs typeface="Arial" panose="020B0604020202020204" pitchFamily="34" charset="0"/>
              </a:rPr>
              <a:t>,V</a:t>
            </a:r>
            <a:r>
              <a:rPr lang="en-US" altLang="zh-CN" sz="2400" b="1" baseline="-25000" dirty="0">
                <a:latin typeface="Arial" panose="020B0604020202020204" pitchFamily="34" charset="0"/>
                <a:ea typeface="楷体_GB2312" pitchFamily="49" charset="-122"/>
                <a:cs typeface="Arial" panose="020B0604020202020204" pitchFamily="34" charset="0"/>
              </a:rPr>
              <a:t>i</a:t>
            </a:r>
            <a:r>
              <a:rPr lang="en-US" altLang="zh-CN" sz="2400" b="1" dirty="0">
                <a:latin typeface="Arial" panose="020B0604020202020204" pitchFamily="34" charset="0"/>
                <a:ea typeface="楷体_GB2312" pitchFamily="49" charset="-122"/>
                <a:cs typeface="Arial" panose="020B0604020202020204" pitchFamily="34" charset="0"/>
              </a:rPr>
              <a:t>)</a:t>
            </a:r>
            <a:r>
              <a:rPr lang="en-US" altLang="zh-CN" sz="2400" dirty="0">
                <a:solidFill>
                  <a:srgbClr val="0000FF"/>
                </a:solidFill>
                <a:latin typeface="Arial" panose="020B0604020202020204" pitchFamily="34" charset="0"/>
                <a:ea typeface="楷体_GB2312" pitchFamily="49" charset="-122"/>
                <a:cs typeface="Arial" panose="020B0604020202020204" pitchFamily="34" charset="0"/>
              </a:rPr>
              <a:t> </a:t>
            </a:r>
            <a:r>
              <a:rPr lang="zh-CN" altLang="en-US" sz="2400" dirty="0">
                <a:solidFill>
                  <a:srgbClr val="0000FF"/>
                </a:solidFill>
                <a:latin typeface="Arial" panose="020B0604020202020204" pitchFamily="34" charset="0"/>
                <a:ea typeface="楷体_GB2312" pitchFamily="49" charset="-122"/>
                <a:cs typeface="Arial" panose="020B0604020202020204" pitchFamily="34" charset="0"/>
              </a:rPr>
              <a:t>。 </a:t>
            </a:r>
            <a:endParaRPr lang="zh-CN" altLang="en-US" sz="2400"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182277" name="Rectangle 5"/>
          <p:cNvSpPr>
            <a:spLocks noChangeArrowheads="1"/>
          </p:cNvSpPr>
          <p:nvPr/>
        </p:nvSpPr>
        <p:spPr bwMode="auto">
          <a:xfrm>
            <a:off x="72008" y="457508"/>
            <a:ext cx="565212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Characteristics of the </a:t>
            </a:r>
            <a:r>
              <a:rPr lang="zh-CN" altLang="en-US" sz="2400" b="1" dirty="0">
                <a:solidFill>
                  <a:srgbClr val="800000"/>
                </a:solidFill>
                <a:latin typeface="Arial" panose="020B0604020202020204" pitchFamily="34" charset="0"/>
                <a:ea typeface="楷体_GB2312" pitchFamily="49" charset="-122"/>
                <a:cs typeface="Arial" panose="020B0604020202020204" pitchFamily="34" charset="0"/>
                <a:sym typeface="+mn-ea"/>
              </a:rPr>
              <a:t>shortest path</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with the </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sym typeface="+mn-ea"/>
              </a:rPr>
              <a:t>shortest path</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length:</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82279" name="Text Box 7"/>
          <p:cNvSpPr txBox="1">
            <a:spLocks noChangeArrowheads="1"/>
          </p:cNvSpPr>
          <p:nvPr/>
        </p:nvSpPr>
        <p:spPr bwMode="auto">
          <a:xfrm>
            <a:off x="179388" y="4005263"/>
            <a:ext cx="8550275"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There are only two possible scenarios: either a direct path from the source point to the destination (containing a single arc), denoted as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0</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j</a:t>
            </a:r>
            <a:r>
              <a:rPr lang="en-US" altLang="zh-CN" sz="2400" b="1" dirty="0">
                <a:latin typeface="Arial" panose="020B0604020202020204" pitchFamily="34" charset="0"/>
                <a:ea typeface="楷体_GB2312" pitchFamily="49" charset="-122"/>
                <a:cs typeface="Arial" panose="020B0604020202020204" pitchFamily="34" charset="0"/>
                <a:sym typeface="+mn-ea"/>
              </a:rPr>
              <a:t>)</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or a path through vertex </a:t>
            </a:r>
            <a:r>
              <a:rPr lang="en-US" altLang="zh-CN" sz="2400" dirty="0">
                <a:solidFill>
                  <a:srgbClr val="0000FF"/>
                </a:solidFill>
                <a:latin typeface="Arial" panose="020B0604020202020204" pitchFamily="34" charset="0"/>
                <a:ea typeface="楷体_GB2312" pitchFamily="49" charset="-122"/>
                <a:cs typeface="Arial" panose="020B0604020202020204" pitchFamily="34" charset="0"/>
                <a:sym typeface="+mn-ea"/>
              </a:rPr>
              <a:t>v</a:t>
            </a:r>
            <a:r>
              <a:rPr lang="en-US" altLang="zh-CN" sz="2400" baseline="-25000" dirty="0">
                <a:solidFill>
                  <a:srgbClr val="0000FF"/>
                </a:solidFill>
                <a:latin typeface="Arial" panose="020B0604020202020204" pitchFamily="34" charset="0"/>
                <a:ea typeface="楷体_GB2312" pitchFamily="49" charset="-122"/>
                <a:cs typeface="Arial" panose="020B0604020202020204" pitchFamily="34" charset="0"/>
                <a:sym typeface="+mn-ea"/>
              </a:rPr>
              <a:t>i</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 which consists of two arcs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0</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i </a:t>
            </a:r>
            <a:r>
              <a:rPr lang="en-US" altLang="zh-CN" sz="2400" b="1" dirty="0">
                <a:latin typeface="Arial" panose="020B0604020202020204" pitchFamily="34" charset="0"/>
                <a:ea typeface="楷体_GB2312" pitchFamily="49" charset="-122"/>
                <a:cs typeface="Arial" panose="020B0604020202020204" pitchFamily="34" charset="0"/>
                <a:sym typeface="+mn-ea"/>
              </a:rPr>
              <a:t>,</a:t>
            </a:r>
            <a:r>
              <a:rPr lang="en-US" altLang="zh-CN" sz="2400" b="1" baseline="-25000" dirty="0">
                <a:latin typeface="Arial" panose="020B0604020202020204" pitchFamily="34" charset="0"/>
                <a:ea typeface="楷体_GB2312" pitchFamily="49" charset="-122"/>
                <a:cs typeface="Arial" panose="020B0604020202020204" pitchFamily="34" charset="0"/>
                <a:sym typeface="+mn-ea"/>
              </a:rPr>
              <a:t> </a:t>
            </a:r>
            <a:r>
              <a:rPr lang="en-US" altLang="zh-CN" sz="2400" b="1" dirty="0" err="1">
                <a:latin typeface="Arial" panose="020B0604020202020204" pitchFamily="34" charset="0"/>
                <a:ea typeface="楷体_GB2312" pitchFamily="49" charset="-122"/>
                <a:cs typeface="Arial" panose="020B0604020202020204" pitchFamily="34" charset="0"/>
                <a:sym typeface="+mn-ea"/>
              </a:rPr>
              <a:t>V</a:t>
            </a:r>
            <a:r>
              <a:rPr lang="en-US" altLang="zh-CN" sz="2400" b="1" baseline="-25000" dirty="0" err="1">
                <a:latin typeface="Arial" panose="020B0604020202020204" pitchFamily="34" charset="0"/>
                <a:ea typeface="楷体_GB2312" pitchFamily="49" charset="-122"/>
                <a:cs typeface="Arial" panose="020B0604020202020204" pitchFamily="34" charset="0"/>
                <a:sym typeface="+mn-ea"/>
              </a:rPr>
              <a:t>j</a:t>
            </a:r>
            <a:r>
              <a:rPr lang="en-US" altLang="zh-CN" sz="2400" b="1" dirty="0">
                <a:latin typeface="Arial" panose="020B0604020202020204" pitchFamily="34" charset="0"/>
                <a:ea typeface="楷体_GB2312" pitchFamily="49" charset="-122"/>
                <a:cs typeface="Arial" panose="020B0604020202020204" pitchFamily="34" charset="0"/>
                <a:sym typeface="+mn-ea"/>
              </a:rPr>
              <a:t>)</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rPr>
              <a:t>.</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grpSp>
        <p:nvGrpSpPr>
          <p:cNvPr id="182280" name="Group 8"/>
          <p:cNvGrpSpPr/>
          <p:nvPr/>
        </p:nvGrpSpPr>
        <p:grpSpPr bwMode="auto">
          <a:xfrm>
            <a:off x="5652120" y="188640"/>
            <a:ext cx="2813050" cy="2971800"/>
            <a:chOff x="576" y="1776"/>
            <a:chExt cx="1772" cy="1872"/>
          </a:xfrm>
        </p:grpSpPr>
        <p:sp>
          <p:nvSpPr>
            <p:cNvPr id="182281" name="Oval 9"/>
            <p:cNvSpPr>
              <a:spLocks noChangeArrowheads="1"/>
            </p:cNvSpPr>
            <p:nvPr/>
          </p:nvSpPr>
          <p:spPr bwMode="auto">
            <a:xfrm>
              <a:off x="1248" y="1776"/>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5</a:t>
              </a:r>
              <a:endParaRPr lang="en-US" altLang="zh-CN" sz="1800"/>
            </a:p>
          </p:txBody>
        </p:sp>
        <p:sp>
          <p:nvSpPr>
            <p:cNvPr id="182282" name="Oval 10"/>
            <p:cNvSpPr>
              <a:spLocks noChangeArrowheads="1"/>
            </p:cNvSpPr>
            <p:nvPr/>
          </p:nvSpPr>
          <p:spPr bwMode="auto">
            <a:xfrm>
              <a:off x="576"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0</a:t>
              </a:r>
              <a:endParaRPr lang="en-US" altLang="zh-CN" sz="1800"/>
            </a:p>
          </p:txBody>
        </p:sp>
        <p:sp>
          <p:nvSpPr>
            <p:cNvPr id="182283" name="Oval 11"/>
            <p:cNvSpPr>
              <a:spLocks noChangeArrowheads="1"/>
            </p:cNvSpPr>
            <p:nvPr/>
          </p:nvSpPr>
          <p:spPr bwMode="auto">
            <a:xfrm>
              <a:off x="576" y="288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1</a:t>
              </a:r>
              <a:endParaRPr lang="en-US" altLang="zh-CN" sz="1800"/>
            </a:p>
          </p:txBody>
        </p:sp>
        <p:sp>
          <p:nvSpPr>
            <p:cNvPr id="182284" name="Oval 12"/>
            <p:cNvSpPr>
              <a:spLocks noChangeArrowheads="1"/>
            </p:cNvSpPr>
            <p:nvPr/>
          </p:nvSpPr>
          <p:spPr bwMode="auto">
            <a:xfrm>
              <a:off x="1200" y="33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dirty="0">
                  <a:solidFill>
                    <a:srgbClr val="000099"/>
                  </a:solidFill>
                </a:rPr>
                <a:t>V</a:t>
              </a:r>
              <a:r>
                <a:rPr lang="en-US" altLang="zh-CN" b="1" baseline="-25000" dirty="0">
                  <a:solidFill>
                    <a:srgbClr val="000099"/>
                  </a:solidFill>
                </a:rPr>
                <a:t>2</a:t>
              </a:r>
              <a:endParaRPr lang="en-US" altLang="zh-CN" sz="1800" dirty="0"/>
            </a:p>
          </p:txBody>
        </p:sp>
        <p:sp>
          <p:nvSpPr>
            <p:cNvPr id="182285" name="Oval 13"/>
            <p:cNvSpPr>
              <a:spLocks noChangeArrowheads="1"/>
            </p:cNvSpPr>
            <p:nvPr/>
          </p:nvSpPr>
          <p:spPr bwMode="auto">
            <a:xfrm>
              <a:off x="1872" y="2928"/>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3</a:t>
              </a:r>
              <a:endParaRPr lang="en-US" altLang="zh-CN" sz="1800"/>
            </a:p>
          </p:txBody>
        </p:sp>
        <p:sp>
          <p:nvSpPr>
            <p:cNvPr id="182286" name="Oval 14"/>
            <p:cNvSpPr>
              <a:spLocks noChangeArrowheads="1"/>
            </p:cNvSpPr>
            <p:nvPr/>
          </p:nvSpPr>
          <p:spPr bwMode="auto">
            <a:xfrm>
              <a:off x="1920"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4</a:t>
              </a:r>
              <a:endParaRPr lang="en-US" altLang="zh-CN" sz="1800"/>
            </a:p>
          </p:txBody>
        </p:sp>
        <p:sp>
          <p:nvSpPr>
            <p:cNvPr id="182287" name="Line 15"/>
            <p:cNvSpPr>
              <a:spLocks noChangeShapeType="1"/>
            </p:cNvSpPr>
            <p:nvPr/>
          </p:nvSpPr>
          <p:spPr bwMode="auto">
            <a:xfrm flipV="1">
              <a:off x="816" y="19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88" name="Line 16"/>
            <p:cNvSpPr>
              <a:spLocks noChangeShapeType="1"/>
            </p:cNvSpPr>
            <p:nvPr/>
          </p:nvSpPr>
          <p:spPr bwMode="auto">
            <a:xfrm>
              <a:off x="864" y="2304"/>
              <a:ext cx="1056"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89" name="Line 17"/>
            <p:cNvSpPr>
              <a:spLocks noChangeShapeType="1"/>
            </p:cNvSpPr>
            <p:nvPr/>
          </p:nvSpPr>
          <p:spPr bwMode="auto">
            <a:xfrm>
              <a:off x="816" y="2400"/>
              <a:ext cx="480" cy="96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0" name="Line 18"/>
            <p:cNvSpPr>
              <a:spLocks noChangeShapeType="1"/>
            </p:cNvSpPr>
            <p:nvPr/>
          </p:nvSpPr>
          <p:spPr bwMode="auto">
            <a:xfrm>
              <a:off x="816" y="3120"/>
              <a:ext cx="384" cy="288"/>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1" name="Line 19"/>
            <p:cNvSpPr>
              <a:spLocks noChangeShapeType="1"/>
            </p:cNvSpPr>
            <p:nvPr/>
          </p:nvSpPr>
          <p:spPr bwMode="auto">
            <a:xfrm flipV="1">
              <a:off x="1488" y="31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2" name="Line 20"/>
            <p:cNvSpPr>
              <a:spLocks noChangeShapeType="1"/>
            </p:cNvSpPr>
            <p:nvPr/>
          </p:nvSpPr>
          <p:spPr bwMode="auto">
            <a:xfrm>
              <a:off x="2064" y="2448"/>
              <a:ext cx="0" cy="48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3" name="Line 21"/>
            <p:cNvSpPr>
              <a:spLocks noChangeShapeType="1"/>
            </p:cNvSpPr>
            <p:nvPr/>
          </p:nvSpPr>
          <p:spPr bwMode="auto">
            <a:xfrm flipH="1" flipV="1">
              <a:off x="1536" y="1968"/>
              <a:ext cx="384"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4" name="Line 22"/>
            <p:cNvSpPr>
              <a:spLocks noChangeShapeType="1"/>
            </p:cNvSpPr>
            <p:nvPr/>
          </p:nvSpPr>
          <p:spPr bwMode="auto">
            <a:xfrm flipH="1" flipV="1">
              <a:off x="1440" y="2064"/>
              <a:ext cx="432" cy="912"/>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2295" name="Rectangle 23"/>
            <p:cNvSpPr>
              <a:spLocks noChangeArrowheads="1"/>
            </p:cNvSpPr>
            <p:nvPr/>
          </p:nvSpPr>
          <p:spPr bwMode="auto">
            <a:xfrm>
              <a:off x="864" y="32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a:t>
              </a:r>
              <a:endParaRPr lang="en-US" altLang="zh-CN" b="1"/>
            </a:p>
          </p:txBody>
        </p:sp>
        <p:sp>
          <p:nvSpPr>
            <p:cNvPr id="182296" name="Rectangle 24"/>
            <p:cNvSpPr>
              <a:spLocks noChangeArrowheads="1"/>
            </p:cNvSpPr>
            <p:nvPr/>
          </p:nvSpPr>
          <p:spPr bwMode="auto">
            <a:xfrm>
              <a:off x="984" y="26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2297" name="Rectangle 25"/>
            <p:cNvSpPr>
              <a:spLocks noChangeArrowheads="1"/>
            </p:cNvSpPr>
            <p:nvPr/>
          </p:nvSpPr>
          <p:spPr bwMode="auto">
            <a:xfrm>
              <a:off x="1440"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2298" name="Rectangle 26"/>
            <p:cNvSpPr>
              <a:spLocks noChangeArrowheads="1"/>
            </p:cNvSpPr>
            <p:nvPr/>
          </p:nvSpPr>
          <p:spPr bwMode="auto">
            <a:xfrm>
              <a:off x="2040" y="25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20</a:t>
              </a:r>
              <a:endParaRPr lang="en-US" altLang="zh-CN" b="1"/>
            </a:p>
          </p:txBody>
        </p:sp>
        <p:sp>
          <p:nvSpPr>
            <p:cNvPr id="182299" name="Rectangle 27"/>
            <p:cNvSpPr>
              <a:spLocks noChangeArrowheads="1"/>
            </p:cNvSpPr>
            <p:nvPr/>
          </p:nvSpPr>
          <p:spPr bwMode="auto">
            <a:xfrm>
              <a:off x="1104" y="20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30</a:t>
              </a:r>
              <a:endParaRPr lang="en-US" altLang="zh-CN" b="1"/>
            </a:p>
          </p:txBody>
        </p:sp>
        <p:sp>
          <p:nvSpPr>
            <p:cNvPr id="182300" name="Rectangle 28"/>
            <p:cNvSpPr>
              <a:spLocks noChangeArrowheads="1"/>
            </p:cNvSpPr>
            <p:nvPr/>
          </p:nvSpPr>
          <p:spPr bwMode="auto">
            <a:xfrm>
              <a:off x="1468"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50</a:t>
              </a:r>
              <a:endParaRPr lang="en-US" altLang="zh-CN" b="1"/>
            </a:p>
          </p:txBody>
        </p:sp>
        <p:sp>
          <p:nvSpPr>
            <p:cNvPr id="182301" name="Rectangle 29"/>
            <p:cNvSpPr>
              <a:spLocks noChangeArrowheads="1"/>
            </p:cNvSpPr>
            <p:nvPr/>
          </p:nvSpPr>
          <p:spPr bwMode="auto">
            <a:xfrm>
              <a:off x="1716"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60</a:t>
              </a:r>
              <a:endParaRPr lang="en-US" altLang="zh-CN" b="1"/>
            </a:p>
          </p:txBody>
        </p:sp>
        <p:sp>
          <p:nvSpPr>
            <p:cNvPr id="182302" name="Rectangle 30"/>
            <p:cNvSpPr>
              <a:spLocks noChangeArrowheads="1"/>
            </p:cNvSpPr>
            <p:nvPr/>
          </p:nvSpPr>
          <p:spPr bwMode="auto">
            <a:xfrm>
              <a:off x="768" y="183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100</a:t>
              </a:r>
              <a:endParaRPr lang="en-US" altLang="zh-CN" b="1"/>
            </a:p>
          </p:txBody>
        </p:sp>
      </p:grpSp>
      <p:sp>
        <p:nvSpPr>
          <p:cNvPr id="182303" name="Rectangle 31"/>
          <p:cNvSpPr>
            <a:spLocks noChangeArrowheads="1"/>
          </p:cNvSpPr>
          <p:nvPr/>
        </p:nvSpPr>
        <p:spPr bwMode="auto">
          <a:xfrm>
            <a:off x="0" y="3213100"/>
            <a:ext cx="83883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zh-CN" altLang="zh-CN" sz="2400">
                <a:solidFill>
                  <a:srgbClr val="000099"/>
                </a:solidFill>
                <a:latin typeface="Arial" panose="020B0604020202020204" pitchFamily="34" charset="0"/>
                <a:ea typeface="楷体_GB2312" pitchFamily="49" charset="-122"/>
                <a:cs typeface="Arial" panose="020B0604020202020204" pitchFamily="34" charset="0"/>
                <a:sym typeface="+mn-ea"/>
              </a:rPr>
              <a:t>The characteristics of the </a:t>
            </a:r>
            <a:r>
              <a:rPr lang="zh-CN" altLang="zh-CN" sz="2400">
                <a:solidFill>
                  <a:srgbClr val="A50021"/>
                </a:solidFill>
                <a:latin typeface="Arial" panose="020B0604020202020204" pitchFamily="34" charset="0"/>
                <a:ea typeface="楷体_GB2312" pitchFamily="49" charset="-122"/>
                <a:cs typeface="Arial" panose="020B0604020202020204" pitchFamily="34" charset="0"/>
                <a:sym typeface="+mn-ea"/>
              </a:rPr>
              <a:t>second </a:t>
            </a:r>
            <a:r>
              <a:rPr lang="zh-CN" altLang="zh-CN" sz="2400" b="1">
                <a:solidFill>
                  <a:srgbClr val="800000"/>
                </a:solidFill>
                <a:latin typeface="Arial" panose="020B0604020202020204" pitchFamily="34" charset="0"/>
                <a:ea typeface="楷体_GB2312" pitchFamily="49" charset="-122"/>
                <a:cs typeface="Arial" panose="020B0604020202020204" pitchFamily="34" charset="0"/>
                <a:sym typeface="+mn-ea"/>
              </a:rPr>
              <a:t>shortest path</a:t>
            </a:r>
            <a:r>
              <a:rPr lang="zh-CN" altLang="zh-CN" sz="2400">
                <a:solidFill>
                  <a:srgbClr val="000099"/>
                </a:solidFill>
                <a:latin typeface="Arial" panose="020B0604020202020204" pitchFamily="34" charset="0"/>
                <a:ea typeface="楷体_GB2312" pitchFamily="49" charset="-122"/>
                <a:cs typeface="Arial" panose="020B0604020202020204" pitchFamily="34" charset="0"/>
                <a:sym typeface="+mn-ea"/>
              </a:rPr>
              <a:t> are:</a:t>
            </a:r>
            <a:endParaRPr lang="zh-CN" altLang="zh-CN" sz="240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82277"/>
                                        </p:tgtEl>
                                        <p:attrNameLst>
                                          <p:attrName>style.visibility</p:attrName>
                                        </p:attrNameLst>
                                      </p:cBhvr>
                                      <p:to>
                                        <p:strVal val="visible"/>
                                      </p:to>
                                    </p:set>
                                    <p:anim calcmode="lin" valueType="num">
                                      <p:cBhvr additive="base">
                                        <p:cTn id="7" dur="500" fill="hold"/>
                                        <p:tgtEl>
                                          <p:spTgt spid="182277"/>
                                        </p:tgtEl>
                                        <p:attrNameLst>
                                          <p:attrName>ppt_x</p:attrName>
                                        </p:attrNameLst>
                                      </p:cBhvr>
                                      <p:tavLst>
                                        <p:tav tm="0">
                                          <p:val>
                                            <p:strVal val="1+#ppt_w/2"/>
                                          </p:val>
                                        </p:tav>
                                        <p:tav tm="100000">
                                          <p:val>
                                            <p:strVal val="#ppt_x"/>
                                          </p:val>
                                        </p:tav>
                                      </p:tavLst>
                                    </p:anim>
                                    <p:anim calcmode="lin" valueType="num">
                                      <p:cBhvr additive="base">
                                        <p:cTn id="8" dur="500" fill="hold"/>
                                        <p:tgtEl>
                                          <p:spTgt spid="1822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82274"/>
                                        </p:tgtEl>
                                        <p:attrNameLst>
                                          <p:attrName>style.visibility</p:attrName>
                                        </p:attrNameLst>
                                      </p:cBhvr>
                                      <p:to>
                                        <p:strVal val="visible"/>
                                      </p:to>
                                    </p:set>
                                    <p:animEffect transition="in" filter="strips(downRight)">
                                      <p:cBhvr>
                                        <p:cTn id="13" dur="500"/>
                                        <p:tgtEl>
                                          <p:spTgt spid="18227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82303"/>
                                        </p:tgtEl>
                                        <p:attrNameLst>
                                          <p:attrName>style.visibility</p:attrName>
                                        </p:attrNameLst>
                                      </p:cBhvr>
                                      <p:to>
                                        <p:strVal val="visible"/>
                                      </p:to>
                                    </p:set>
                                    <p:anim calcmode="lin" valueType="num">
                                      <p:cBhvr additive="base">
                                        <p:cTn id="18" dur="500" fill="hold"/>
                                        <p:tgtEl>
                                          <p:spTgt spid="182303"/>
                                        </p:tgtEl>
                                        <p:attrNameLst>
                                          <p:attrName>ppt_x</p:attrName>
                                        </p:attrNameLst>
                                      </p:cBhvr>
                                      <p:tavLst>
                                        <p:tav tm="0">
                                          <p:val>
                                            <p:strVal val="1+#ppt_w/2"/>
                                          </p:val>
                                        </p:tav>
                                        <p:tav tm="100000">
                                          <p:val>
                                            <p:strVal val="#ppt_x"/>
                                          </p:val>
                                        </p:tav>
                                      </p:tavLst>
                                    </p:anim>
                                    <p:anim calcmode="lin" valueType="num">
                                      <p:cBhvr additive="base">
                                        <p:cTn id="19" dur="500" fill="hold"/>
                                        <p:tgtEl>
                                          <p:spTgt spid="18230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82279"/>
                                        </p:tgtEl>
                                        <p:attrNameLst>
                                          <p:attrName>style.visibility</p:attrName>
                                        </p:attrNameLst>
                                      </p:cBhvr>
                                      <p:to>
                                        <p:strVal val="visible"/>
                                      </p:to>
                                    </p:set>
                                    <p:animEffect transition="in" filter="strips(downRight)">
                                      <p:cBhvr>
                                        <p:cTn id="24" dur="500"/>
                                        <p:tgtEl>
                                          <p:spTgt spid="18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bldLvl="0" animBg="1" autoUpdateAnimBg="0"/>
      <p:bldP spid="182277" grpId="0" bldLvl="0" animBg="1" autoUpdateAnimBg="0"/>
      <p:bldP spid="182279" grpId="0" bldLvl="0" animBg="1" autoUpdateAnimBg="0"/>
      <p:bldP spid="182303" grpId="0" bldLvl="0" animBg="1"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324991" y="3789363"/>
            <a:ext cx="633031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Char char="•"/>
            </a:pPr>
            <a:r>
              <a:rPr lang="zh-CN" altLang="en-US" b="1" dirty="0">
                <a:latin typeface="Arial" panose="020B0604020202020204" pitchFamily="34" charset="0"/>
                <a:ea typeface="楷体_GB2312" pitchFamily="49" charset="-122"/>
                <a:cs typeface="Arial" panose="020B0604020202020204" pitchFamily="34" charset="0"/>
              </a:rPr>
              <a:t>Other shortest path characteristics:</a:t>
            </a:r>
            <a:endParaRPr lang="zh-CN" altLang="en-US" b="1" dirty="0">
              <a:latin typeface="Arial" panose="020B0604020202020204" pitchFamily="34" charset="0"/>
              <a:ea typeface="楷体_GB2312" pitchFamily="49" charset="-122"/>
              <a:cs typeface="Arial" panose="020B0604020202020204" pitchFamily="34" charset="0"/>
            </a:endParaRPr>
          </a:p>
        </p:txBody>
      </p:sp>
      <p:sp>
        <p:nvSpPr>
          <p:cNvPr id="183299" name="Text Box 3"/>
          <p:cNvSpPr txBox="1">
            <a:spLocks noChangeArrowheads="1"/>
          </p:cNvSpPr>
          <p:nvPr/>
        </p:nvSpPr>
        <p:spPr bwMode="auto">
          <a:xfrm>
            <a:off x="201438" y="64046"/>
            <a:ext cx="745617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buFontTx/>
              <a:buChar char="•"/>
            </a:pPr>
            <a:r>
              <a:rPr lang="zh-CN" altLang="zh-CN" dirty="0">
                <a:solidFill>
                  <a:srgbClr val="000000"/>
                </a:solidFill>
                <a:latin typeface="Arial" panose="020B0604020202020204" pitchFamily="34" charset="0"/>
                <a:ea typeface="楷体_GB2312" pitchFamily="49" charset="-122"/>
                <a:cs typeface="Arial" panose="020B0604020202020204" pitchFamily="34" charset="0"/>
              </a:rPr>
              <a:t>Characteristics of the </a:t>
            </a:r>
            <a:r>
              <a:rPr lang="zh-CN" altLang="zh-CN" b="1" dirty="0">
                <a:solidFill>
                  <a:srgbClr val="FF0000"/>
                </a:solidFill>
                <a:latin typeface="Arial" panose="020B0604020202020204" pitchFamily="34" charset="0"/>
                <a:ea typeface="楷体_GB2312" pitchFamily="49" charset="-122"/>
                <a:cs typeface="Arial" panose="020B0604020202020204" pitchFamily="34" charset="0"/>
              </a:rPr>
              <a:t>second shortest path:</a:t>
            </a:r>
            <a:endParaRPr lang="zh-CN" altLang="zh-CN" b="1" dirty="0">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183301" name="Text Box 5"/>
          <p:cNvSpPr txBox="1">
            <a:spLocks noChangeArrowheads="1"/>
          </p:cNvSpPr>
          <p:nvPr/>
        </p:nvSpPr>
        <p:spPr bwMode="auto">
          <a:xfrm>
            <a:off x="250825" y="620713"/>
            <a:ext cx="5905500" cy="1783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dirty="0">
                <a:solidFill>
                  <a:srgbClr val="000099"/>
                </a:solidFill>
                <a:latin typeface="Arial" panose="020B0604020202020204" pitchFamily="34" charset="0"/>
                <a:ea typeface="楷体_GB2312" pitchFamily="49" charset="-122"/>
                <a:cs typeface="Arial" panose="020B0604020202020204" pitchFamily="34" charset="0"/>
              </a:rPr>
              <a:t>There are three possible scenarios: either a single arc directly from the source point to the destination (denoted as (V₀, Vₖ)); or a path through vertex vᵢ (represented as (V₀, Vᵢ, Vₖ)); or a route through vertex vⱼ (denoted as (V₀, Vⱼ, Vₖ)).</a:t>
            </a:r>
            <a:endParaRPr lang="zh-CN" altLang="en-US" sz="20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183302" name="Text Box 6"/>
          <p:cNvSpPr txBox="1">
            <a:spLocks noChangeArrowheads="1"/>
          </p:cNvSpPr>
          <p:nvPr/>
        </p:nvSpPr>
        <p:spPr bwMode="auto">
          <a:xfrm>
            <a:off x="323850" y="4508500"/>
            <a:ext cx="8245475" cy="110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a:solidFill>
                  <a:srgbClr val="000099"/>
                </a:solidFill>
                <a:latin typeface="Arial" panose="020B0604020202020204" pitchFamily="34" charset="0"/>
                <a:ea typeface="楷体_GB2312" pitchFamily="49" charset="-122"/>
                <a:cs typeface="Arial" panose="020B0604020202020204" pitchFamily="34" charset="0"/>
              </a:rPr>
              <a:t>It may go directly from the source to the destination (with only one arc), or from the source through the vertex of the shortest path to the destination.</a:t>
            </a:r>
            <a:endParaRPr lang="zh-CN" altLang="en-US" sz="2000">
              <a:solidFill>
                <a:srgbClr val="000099"/>
              </a:solidFill>
              <a:latin typeface="Arial" panose="020B0604020202020204" pitchFamily="34" charset="0"/>
              <a:ea typeface="楷体_GB2312" pitchFamily="49" charset="-122"/>
              <a:cs typeface="Arial" panose="020B0604020202020204" pitchFamily="34" charset="0"/>
            </a:endParaRPr>
          </a:p>
        </p:txBody>
      </p:sp>
      <p:grpSp>
        <p:nvGrpSpPr>
          <p:cNvPr id="183304" name="Group 8"/>
          <p:cNvGrpSpPr/>
          <p:nvPr/>
        </p:nvGrpSpPr>
        <p:grpSpPr bwMode="auto">
          <a:xfrm>
            <a:off x="6330950" y="908050"/>
            <a:ext cx="2813050" cy="2971800"/>
            <a:chOff x="576" y="1776"/>
            <a:chExt cx="1772" cy="1872"/>
          </a:xfrm>
        </p:grpSpPr>
        <p:sp>
          <p:nvSpPr>
            <p:cNvPr id="183305" name="Oval 9"/>
            <p:cNvSpPr>
              <a:spLocks noChangeArrowheads="1"/>
            </p:cNvSpPr>
            <p:nvPr/>
          </p:nvSpPr>
          <p:spPr bwMode="auto">
            <a:xfrm>
              <a:off x="1248" y="1776"/>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5</a:t>
              </a:r>
              <a:endParaRPr lang="en-US" altLang="zh-CN" sz="1800"/>
            </a:p>
          </p:txBody>
        </p:sp>
        <p:sp>
          <p:nvSpPr>
            <p:cNvPr id="183306" name="Oval 10"/>
            <p:cNvSpPr>
              <a:spLocks noChangeArrowheads="1"/>
            </p:cNvSpPr>
            <p:nvPr/>
          </p:nvSpPr>
          <p:spPr bwMode="auto">
            <a:xfrm>
              <a:off x="576"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0</a:t>
              </a:r>
              <a:endParaRPr lang="en-US" altLang="zh-CN" sz="1800"/>
            </a:p>
          </p:txBody>
        </p:sp>
        <p:sp>
          <p:nvSpPr>
            <p:cNvPr id="183307" name="Oval 11"/>
            <p:cNvSpPr>
              <a:spLocks noChangeArrowheads="1"/>
            </p:cNvSpPr>
            <p:nvPr/>
          </p:nvSpPr>
          <p:spPr bwMode="auto">
            <a:xfrm>
              <a:off x="576" y="288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1</a:t>
              </a:r>
              <a:endParaRPr lang="en-US" altLang="zh-CN" sz="1800"/>
            </a:p>
          </p:txBody>
        </p:sp>
        <p:sp>
          <p:nvSpPr>
            <p:cNvPr id="183308" name="Oval 12"/>
            <p:cNvSpPr>
              <a:spLocks noChangeArrowheads="1"/>
            </p:cNvSpPr>
            <p:nvPr/>
          </p:nvSpPr>
          <p:spPr bwMode="auto">
            <a:xfrm>
              <a:off x="1200" y="33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2</a:t>
              </a:r>
              <a:endParaRPr lang="en-US" altLang="zh-CN" sz="1800"/>
            </a:p>
          </p:txBody>
        </p:sp>
        <p:sp>
          <p:nvSpPr>
            <p:cNvPr id="183309" name="Oval 13"/>
            <p:cNvSpPr>
              <a:spLocks noChangeArrowheads="1"/>
            </p:cNvSpPr>
            <p:nvPr/>
          </p:nvSpPr>
          <p:spPr bwMode="auto">
            <a:xfrm>
              <a:off x="1872" y="2928"/>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3</a:t>
              </a:r>
              <a:endParaRPr lang="en-US" altLang="zh-CN" sz="1800"/>
            </a:p>
          </p:txBody>
        </p:sp>
        <p:sp>
          <p:nvSpPr>
            <p:cNvPr id="183310" name="Oval 14"/>
            <p:cNvSpPr>
              <a:spLocks noChangeArrowheads="1"/>
            </p:cNvSpPr>
            <p:nvPr/>
          </p:nvSpPr>
          <p:spPr bwMode="auto">
            <a:xfrm>
              <a:off x="1920"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 4</a:t>
              </a:r>
              <a:endParaRPr lang="en-US" altLang="zh-CN" sz="1800"/>
            </a:p>
          </p:txBody>
        </p:sp>
        <p:sp>
          <p:nvSpPr>
            <p:cNvPr id="183311" name="Line 15"/>
            <p:cNvSpPr>
              <a:spLocks noChangeShapeType="1"/>
            </p:cNvSpPr>
            <p:nvPr/>
          </p:nvSpPr>
          <p:spPr bwMode="auto">
            <a:xfrm flipV="1">
              <a:off x="816" y="19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2" name="Line 16"/>
            <p:cNvSpPr>
              <a:spLocks noChangeShapeType="1"/>
            </p:cNvSpPr>
            <p:nvPr/>
          </p:nvSpPr>
          <p:spPr bwMode="auto">
            <a:xfrm>
              <a:off x="864" y="2304"/>
              <a:ext cx="1056"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3" name="Line 17"/>
            <p:cNvSpPr>
              <a:spLocks noChangeShapeType="1"/>
            </p:cNvSpPr>
            <p:nvPr/>
          </p:nvSpPr>
          <p:spPr bwMode="auto">
            <a:xfrm>
              <a:off x="816" y="2400"/>
              <a:ext cx="480" cy="96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4" name="Line 18"/>
            <p:cNvSpPr>
              <a:spLocks noChangeShapeType="1"/>
            </p:cNvSpPr>
            <p:nvPr/>
          </p:nvSpPr>
          <p:spPr bwMode="auto">
            <a:xfrm>
              <a:off x="816" y="3120"/>
              <a:ext cx="384" cy="288"/>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5" name="Line 19"/>
            <p:cNvSpPr>
              <a:spLocks noChangeShapeType="1"/>
            </p:cNvSpPr>
            <p:nvPr/>
          </p:nvSpPr>
          <p:spPr bwMode="auto">
            <a:xfrm flipV="1">
              <a:off x="1488" y="31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6" name="Line 20"/>
            <p:cNvSpPr>
              <a:spLocks noChangeShapeType="1"/>
            </p:cNvSpPr>
            <p:nvPr/>
          </p:nvSpPr>
          <p:spPr bwMode="auto">
            <a:xfrm>
              <a:off x="2064" y="2448"/>
              <a:ext cx="0" cy="48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7" name="Line 21"/>
            <p:cNvSpPr>
              <a:spLocks noChangeShapeType="1"/>
            </p:cNvSpPr>
            <p:nvPr/>
          </p:nvSpPr>
          <p:spPr bwMode="auto">
            <a:xfrm flipH="1" flipV="1">
              <a:off x="1536" y="1968"/>
              <a:ext cx="384"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8" name="Line 22"/>
            <p:cNvSpPr>
              <a:spLocks noChangeShapeType="1"/>
            </p:cNvSpPr>
            <p:nvPr/>
          </p:nvSpPr>
          <p:spPr bwMode="auto">
            <a:xfrm flipH="1" flipV="1">
              <a:off x="1440" y="2064"/>
              <a:ext cx="432" cy="912"/>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3319" name="Rectangle 23"/>
            <p:cNvSpPr>
              <a:spLocks noChangeArrowheads="1"/>
            </p:cNvSpPr>
            <p:nvPr/>
          </p:nvSpPr>
          <p:spPr bwMode="auto">
            <a:xfrm>
              <a:off x="864" y="32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a:t>
              </a:r>
              <a:endParaRPr lang="en-US" altLang="zh-CN" b="1"/>
            </a:p>
          </p:txBody>
        </p:sp>
        <p:sp>
          <p:nvSpPr>
            <p:cNvPr id="183320" name="Rectangle 24"/>
            <p:cNvSpPr>
              <a:spLocks noChangeArrowheads="1"/>
            </p:cNvSpPr>
            <p:nvPr/>
          </p:nvSpPr>
          <p:spPr bwMode="auto">
            <a:xfrm>
              <a:off x="984" y="26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3321" name="Rectangle 25"/>
            <p:cNvSpPr>
              <a:spLocks noChangeArrowheads="1"/>
            </p:cNvSpPr>
            <p:nvPr/>
          </p:nvSpPr>
          <p:spPr bwMode="auto">
            <a:xfrm>
              <a:off x="1440"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3322" name="Rectangle 26"/>
            <p:cNvSpPr>
              <a:spLocks noChangeArrowheads="1"/>
            </p:cNvSpPr>
            <p:nvPr/>
          </p:nvSpPr>
          <p:spPr bwMode="auto">
            <a:xfrm>
              <a:off x="2040" y="25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20</a:t>
              </a:r>
              <a:endParaRPr lang="en-US" altLang="zh-CN" b="1"/>
            </a:p>
          </p:txBody>
        </p:sp>
        <p:sp>
          <p:nvSpPr>
            <p:cNvPr id="183323" name="Rectangle 27"/>
            <p:cNvSpPr>
              <a:spLocks noChangeArrowheads="1"/>
            </p:cNvSpPr>
            <p:nvPr/>
          </p:nvSpPr>
          <p:spPr bwMode="auto">
            <a:xfrm>
              <a:off x="1104" y="20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30</a:t>
              </a:r>
              <a:endParaRPr lang="en-US" altLang="zh-CN" b="1"/>
            </a:p>
          </p:txBody>
        </p:sp>
        <p:sp>
          <p:nvSpPr>
            <p:cNvPr id="183324" name="Rectangle 28"/>
            <p:cNvSpPr>
              <a:spLocks noChangeArrowheads="1"/>
            </p:cNvSpPr>
            <p:nvPr/>
          </p:nvSpPr>
          <p:spPr bwMode="auto">
            <a:xfrm>
              <a:off x="1468"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50</a:t>
              </a:r>
              <a:endParaRPr lang="en-US" altLang="zh-CN" b="1"/>
            </a:p>
          </p:txBody>
        </p:sp>
        <p:sp>
          <p:nvSpPr>
            <p:cNvPr id="183325" name="Rectangle 29"/>
            <p:cNvSpPr>
              <a:spLocks noChangeArrowheads="1"/>
            </p:cNvSpPr>
            <p:nvPr/>
          </p:nvSpPr>
          <p:spPr bwMode="auto">
            <a:xfrm>
              <a:off x="1716"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60</a:t>
              </a:r>
              <a:endParaRPr lang="en-US" altLang="zh-CN" b="1"/>
            </a:p>
          </p:txBody>
        </p:sp>
        <p:sp>
          <p:nvSpPr>
            <p:cNvPr id="183326" name="Rectangle 30"/>
            <p:cNvSpPr>
              <a:spLocks noChangeArrowheads="1"/>
            </p:cNvSpPr>
            <p:nvPr/>
          </p:nvSpPr>
          <p:spPr bwMode="auto">
            <a:xfrm>
              <a:off x="768" y="183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100</a:t>
              </a:r>
              <a:endParaRPr lang="en-US" altLang="zh-CN" b="1"/>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83299"/>
                                        </p:tgtEl>
                                        <p:attrNameLst>
                                          <p:attrName>style.visibility</p:attrName>
                                        </p:attrNameLst>
                                      </p:cBhvr>
                                      <p:to>
                                        <p:strVal val="visible"/>
                                      </p:to>
                                    </p:set>
                                    <p:anim calcmode="lin" valueType="num">
                                      <p:cBhvr additive="base">
                                        <p:cTn id="7" dur="500" fill="hold"/>
                                        <p:tgtEl>
                                          <p:spTgt spid="183299"/>
                                        </p:tgtEl>
                                        <p:attrNameLst>
                                          <p:attrName>ppt_x</p:attrName>
                                        </p:attrNameLst>
                                      </p:cBhvr>
                                      <p:tavLst>
                                        <p:tav tm="0">
                                          <p:val>
                                            <p:strVal val="1+#ppt_w/2"/>
                                          </p:val>
                                        </p:tav>
                                        <p:tav tm="100000">
                                          <p:val>
                                            <p:strVal val="#ppt_x"/>
                                          </p:val>
                                        </p:tav>
                                      </p:tavLst>
                                    </p:anim>
                                    <p:anim calcmode="lin" valueType="num">
                                      <p:cBhvr additive="base">
                                        <p:cTn id="8" dur="500" fill="hold"/>
                                        <p:tgtEl>
                                          <p:spTgt spid="1832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183301"/>
                                        </p:tgtEl>
                                        <p:attrNameLst>
                                          <p:attrName>style.visibility</p:attrName>
                                        </p:attrNameLst>
                                      </p:cBhvr>
                                      <p:to>
                                        <p:strVal val="visible"/>
                                      </p:to>
                                    </p:set>
                                    <p:animEffect transition="in" filter="strips(downRight)">
                                      <p:cBhvr>
                                        <p:cTn id="13" dur="500"/>
                                        <p:tgtEl>
                                          <p:spTgt spid="18330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83298"/>
                                        </p:tgtEl>
                                        <p:attrNameLst>
                                          <p:attrName>style.visibility</p:attrName>
                                        </p:attrNameLst>
                                      </p:cBhvr>
                                      <p:to>
                                        <p:strVal val="visible"/>
                                      </p:to>
                                    </p:set>
                                    <p:anim calcmode="lin" valueType="num">
                                      <p:cBhvr additive="base">
                                        <p:cTn id="18" dur="500" fill="hold"/>
                                        <p:tgtEl>
                                          <p:spTgt spid="183298"/>
                                        </p:tgtEl>
                                        <p:attrNameLst>
                                          <p:attrName>ppt_x</p:attrName>
                                        </p:attrNameLst>
                                      </p:cBhvr>
                                      <p:tavLst>
                                        <p:tav tm="0">
                                          <p:val>
                                            <p:strVal val="1+#ppt_w/2"/>
                                          </p:val>
                                        </p:tav>
                                        <p:tav tm="100000">
                                          <p:val>
                                            <p:strVal val="#ppt_x"/>
                                          </p:val>
                                        </p:tav>
                                      </p:tavLst>
                                    </p:anim>
                                    <p:anim calcmode="lin" valueType="num">
                                      <p:cBhvr additive="base">
                                        <p:cTn id="19" dur="500" fill="hold"/>
                                        <p:tgtEl>
                                          <p:spTgt spid="18329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183302"/>
                                        </p:tgtEl>
                                        <p:attrNameLst>
                                          <p:attrName>style.visibility</p:attrName>
                                        </p:attrNameLst>
                                      </p:cBhvr>
                                      <p:to>
                                        <p:strVal val="visible"/>
                                      </p:to>
                                    </p:set>
                                    <p:animEffect transition="in" filter="strips(downRight)">
                                      <p:cBhvr>
                                        <p:cTn id="24" dur="500"/>
                                        <p:tgtEl>
                                          <p:spTgt spid="183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bldLvl="0" animBg="1" autoUpdateAnimBg="0"/>
      <p:bldP spid="183299" grpId="0" bldLvl="0" animBg="1" autoUpdateAnimBg="0"/>
      <p:bldP spid="183301" grpId="0" bldLvl="0" animBg="1" autoUpdateAnimBg="0"/>
      <p:bldP spid="183302" grpId="0" bldLvl="0"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dirty="0"/>
              <a:t>Proof of Dijkstra algorithm correctness</a:t>
            </a:r>
            <a:endParaRPr lang="zh-CN" altLang="en-US" sz="2800" dirty="0"/>
          </a:p>
        </p:txBody>
      </p:sp>
      <p:sp>
        <p:nvSpPr>
          <p:cNvPr id="3" name="内容占位符 2"/>
          <p:cNvSpPr>
            <a:spLocks noGrp="1"/>
          </p:cNvSpPr>
          <p:nvPr>
            <p:ph idx="1"/>
          </p:nvPr>
        </p:nvSpPr>
        <p:spPr/>
        <p:txBody>
          <a:bodyPr/>
          <a:lstStyle/>
          <a:p>
            <a:pPr marL="0" indent="0">
              <a:lnSpc>
                <a:spcPct val="110000"/>
              </a:lnSpc>
              <a:buNone/>
            </a:pPr>
            <a:r>
              <a:rPr lang="zh-CN" altLang="en-US" sz="2400" b="1" dirty="0">
                <a:solidFill>
                  <a:srgbClr val="000099"/>
                </a:solidFill>
                <a:ea typeface="楷体_GB2312" pitchFamily="49" charset="-122"/>
                <a:cs typeface="Arial" panose="020B0604020202020204" pitchFamily="34" charset="0"/>
              </a:rPr>
              <a:t>Generally, if S denotes the set of destination vertices for the shortest path, it can be proven that the next shortest path (with destination x) is either the arc (</a:t>
            </a:r>
            <a:r>
              <a:rPr lang="zh-CN" altLang="en-US" sz="2400" b="1" dirty="0">
                <a:solidFill>
                  <a:srgbClr val="FF0000"/>
                </a:solidFill>
                <a:ea typeface="楷体_GB2312" pitchFamily="49" charset="-122"/>
                <a:cs typeface="Arial" panose="020B0604020202020204" pitchFamily="34" charset="0"/>
              </a:rPr>
              <a:t>v, x</a:t>
            </a:r>
            <a:r>
              <a:rPr lang="zh-CN" altLang="en-US" sz="2400" b="1" dirty="0">
                <a:solidFill>
                  <a:srgbClr val="000099"/>
                </a:solidFill>
                <a:ea typeface="楷体_GB2312" pitchFamily="49" charset="-122"/>
                <a:cs typeface="Arial" panose="020B0604020202020204" pitchFamily="34" charset="0"/>
              </a:rPr>
              <a:t>) or a path that </a:t>
            </a:r>
            <a:r>
              <a:rPr lang="zh-CN" altLang="en-US" sz="2400" b="1" dirty="0">
                <a:solidFill>
                  <a:srgbClr val="FF0000"/>
                </a:solidFill>
                <a:ea typeface="楷体_GB2312" pitchFamily="49" charset="-122"/>
                <a:cs typeface="Arial" panose="020B0604020202020204" pitchFamily="34" charset="0"/>
              </a:rPr>
              <a:t>only passes through vertices in S and ultimately reaches x</a:t>
            </a:r>
            <a:r>
              <a:rPr lang="zh-CN" altLang="en-US" sz="2400" b="1" dirty="0">
                <a:solidFill>
                  <a:srgbClr val="000099"/>
                </a:solidFill>
                <a:ea typeface="楷体_GB2312" pitchFamily="49" charset="-122"/>
                <a:cs typeface="Arial" panose="020B0604020202020204" pitchFamily="34" charset="0"/>
              </a:rPr>
              <a:t>.</a:t>
            </a:r>
            <a:endParaRPr lang="zh-CN" altLang="en-US" sz="2400" b="1" dirty="0">
              <a:solidFill>
                <a:srgbClr val="000099"/>
              </a:solidFill>
              <a:ea typeface="楷体_GB2312" pitchFamily="49" charset="-122"/>
              <a:cs typeface="Arial" panose="020B0604020202020204" pitchFamily="34" charset="0"/>
            </a:endParaRPr>
          </a:p>
          <a:p>
            <a:pPr marL="0" indent="0">
              <a:lnSpc>
                <a:spcPct val="110000"/>
              </a:lnSpc>
              <a:spcBef>
                <a:spcPct val="50000"/>
              </a:spcBef>
              <a:buNone/>
            </a:pPr>
            <a:r>
              <a:rPr lang="zh-CN" altLang="en-US" sz="2400" b="1" dirty="0">
                <a:solidFill>
                  <a:schemeClr val="tx1"/>
                </a:solidFill>
                <a:ea typeface="楷体_GB2312" pitchFamily="49" charset="-122"/>
                <a:cs typeface="Arial" panose="020B0604020202020204" pitchFamily="34" charset="0"/>
              </a:rPr>
              <a:t>Proof by contradiction:</a:t>
            </a:r>
            <a:endParaRPr lang="zh-CN" altLang="en-US" sz="2400" b="1" dirty="0">
              <a:solidFill>
                <a:schemeClr val="tx1"/>
              </a:solidFill>
              <a:ea typeface="楷体_GB2312" pitchFamily="49" charset="-122"/>
              <a:cs typeface="Arial" panose="020B0604020202020204" pitchFamily="34" charset="0"/>
            </a:endParaRPr>
          </a:p>
          <a:p>
            <a:pPr marL="0" indent="0">
              <a:lnSpc>
                <a:spcPct val="110000"/>
              </a:lnSpc>
              <a:buNone/>
            </a:pPr>
            <a:r>
              <a:rPr lang="zh-CN" altLang="en-US" sz="2400" dirty="0">
                <a:solidFill>
                  <a:srgbClr val="000099"/>
                </a:solidFill>
                <a:ea typeface="楷体_GB2312" pitchFamily="49" charset="-122"/>
                <a:cs typeface="Arial" panose="020B0604020202020204" pitchFamily="34" charset="0"/>
              </a:rPr>
              <a:t>If a vertex on this path is not in S, it would imply the existence of a shorter path with an endpoint outside S. However, this is impossible. Since we</a:t>
            </a:r>
            <a:r>
              <a:rPr lang="zh-CN" altLang="en-US" sz="2400" dirty="0">
                <a:solidFill>
                  <a:srgbClr val="FF0000"/>
                </a:solidFill>
                <a:ea typeface="楷体_GB2312" pitchFamily="49" charset="-122"/>
                <a:cs typeface="Arial" panose="020B0604020202020204" pitchFamily="34" charset="0"/>
              </a:rPr>
              <a:t> generate the shortest paths in ascending order of length</a:t>
            </a:r>
            <a:r>
              <a:rPr lang="zh-CN" altLang="en-US" sz="2400" dirty="0">
                <a:solidFill>
                  <a:srgbClr val="000099"/>
                </a:solidFill>
                <a:ea typeface="楷体_GB2312" pitchFamily="49" charset="-122"/>
                <a:cs typeface="Arial" panose="020B0604020202020204" pitchFamily="34" charset="0"/>
              </a:rPr>
              <a:t>, all paths shorter than this one have already been processed, and their endpoints must be in S. Thus, the assumption is invalid.</a:t>
            </a:r>
            <a:endParaRPr lang="zh-CN" altLang="en-US" sz="2400" dirty="0">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107315" y="260350"/>
            <a:ext cx="80010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a:solidFill>
                  <a:srgbClr val="800000"/>
                </a:solidFill>
                <a:latin typeface="Arial" panose="020B0604020202020204" pitchFamily="34" charset="0"/>
                <a:ea typeface="楷体_GB2312" pitchFamily="49" charset="-122"/>
                <a:cs typeface="Arial" panose="020B0604020202020204" pitchFamily="34" charset="0"/>
              </a:rPr>
              <a:t>Dijkstra algorithm for finding the shortest path:</a:t>
            </a:r>
            <a:endParaRPr lang="zh-CN" altLang="en-US" sz="3200" b="1">
              <a:latin typeface="Arial" panose="020B0604020202020204" pitchFamily="34" charset="0"/>
              <a:ea typeface="楷体_GB2312" pitchFamily="49" charset="-122"/>
              <a:cs typeface="Arial" panose="020B0604020202020204" pitchFamily="34" charset="0"/>
            </a:endParaRPr>
          </a:p>
        </p:txBody>
      </p:sp>
      <p:sp>
        <p:nvSpPr>
          <p:cNvPr id="185347" name="Text Box 3"/>
          <p:cNvSpPr txBox="1">
            <a:spLocks noChangeArrowheads="1"/>
          </p:cNvSpPr>
          <p:nvPr/>
        </p:nvSpPr>
        <p:spPr bwMode="auto">
          <a:xfrm>
            <a:off x="381000" y="3425825"/>
            <a:ext cx="8458200" cy="2675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Generally,</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a:p>
            <a:pPr lvl="1">
              <a:lnSpc>
                <a:spcPct val="140000"/>
              </a:lnSpc>
            </a:pPr>
            <a:r>
              <a:rPr lang="en-US" altLang="zh-CN" sz="2400" dirty="0" err="1">
                <a:solidFill>
                  <a:srgbClr val="000099"/>
                </a:solidFill>
                <a:latin typeface="Arial" panose="020B0604020202020204" pitchFamily="34" charset="0"/>
                <a:ea typeface="楷体_GB2312" pitchFamily="49" charset="-122"/>
                <a:cs typeface="Arial" panose="020B0604020202020204" pitchFamily="34" charset="0"/>
              </a:rPr>
              <a:t>Dist[k] = &lt;the weight of the arc from the source to vertex k&gt;</a:t>
            </a:r>
            <a:endParaRPr lang="en-US" altLang="zh-CN" sz="2400" dirty="0">
              <a:solidFill>
                <a:srgbClr val="000099"/>
              </a:solidFill>
              <a:latin typeface="Arial" panose="020B0604020202020204" pitchFamily="34" charset="0"/>
              <a:ea typeface="楷体_GB2312" pitchFamily="49" charset="-122"/>
              <a:cs typeface="Arial" panose="020B0604020202020204" pitchFamily="34" charset="0"/>
            </a:endParaRPr>
          </a:p>
          <a:p>
            <a:pPr lvl="1">
              <a:lnSpc>
                <a:spcPct val="14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or = &lt;path length from source to</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rPr>
              <a:t> other vertice</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s&gt;</a:t>
            </a:r>
            <a:endParaRPr lang="en-US" altLang="zh-CN" sz="2400" dirty="0">
              <a:solidFill>
                <a:srgbClr val="000099"/>
              </a:solidFill>
              <a:latin typeface="Arial" panose="020B0604020202020204" pitchFamily="34" charset="0"/>
              <a:ea typeface="楷体_GB2312" pitchFamily="49" charset="-122"/>
              <a:cs typeface="Arial" panose="020B0604020202020204" pitchFamily="34" charset="0"/>
            </a:endParaRPr>
          </a:p>
          <a:p>
            <a:pPr>
              <a:lnSpc>
                <a:spcPct val="140000"/>
              </a:lnSpc>
            </a:pPr>
            <a:r>
              <a:rPr lang="en-US" altLang="zh-CN" sz="2400" b="1" dirty="0">
                <a:solidFill>
                  <a:srgbClr val="000099"/>
                </a:solidFill>
                <a:latin typeface="Arial" panose="020B0604020202020204" pitchFamily="34" charset="0"/>
                <a:ea typeface="楷体_GB2312" pitchFamily="49" charset="-122"/>
                <a:cs typeface="Arial" panose="020B0604020202020204" pitchFamily="34" charset="0"/>
              </a:rPr>
              <a:t>+ &lt;weight of the arc from vertex k to </a:t>
            </a:r>
            <a:r>
              <a:rPr lang="zh-CN" altLang="en-US" sz="2400" dirty="0">
                <a:solidFill>
                  <a:srgbClr val="A50021"/>
                </a:solidFill>
                <a:latin typeface="Arial" panose="020B0604020202020204" pitchFamily="34" charset="0"/>
                <a:ea typeface="楷体_GB2312" pitchFamily="49" charset="-122"/>
                <a:cs typeface="Arial" panose="020B0604020202020204" pitchFamily="34" charset="0"/>
              </a:rPr>
              <a:t>vertex</a:t>
            </a:r>
            <a:r>
              <a:rPr lang="en-US" altLang="zh-CN" sz="2400" b="1" dirty="0">
                <a:solidFill>
                  <a:srgbClr val="000099"/>
                </a:solidFill>
                <a:latin typeface="Arial" panose="020B0604020202020204" pitchFamily="34" charset="0"/>
                <a:ea typeface="楷体_GB2312" pitchFamily="49" charset="-122"/>
                <a:cs typeface="Arial" panose="020B0604020202020204" pitchFamily="34" charset="0"/>
              </a:rPr>
              <a:t>&gt;.</a:t>
            </a:r>
            <a:endParaRPr lang="zh-CN" altLang="en-US" sz="2400" dirty="0">
              <a:latin typeface="Arial" panose="020B0604020202020204" pitchFamily="34" charset="0"/>
              <a:cs typeface="Arial" panose="020B0604020202020204" pitchFamily="34" charset="0"/>
            </a:endParaRPr>
          </a:p>
        </p:txBody>
      </p:sp>
      <p:sp>
        <p:nvSpPr>
          <p:cNvPr id="185348" name="Text Box 4"/>
          <p:cNvSpPr txBox="1">
            <a:spLocks noChangeArrowheads="1"/>
          </p:cNvSpPr>
          <p:nvPr/>
        </p:nvSpPr>
        <p:spPr bwMode="auto">
          <a:xfrm>
            <a:off x="381000" y="1354138"/>
            <a:ext cx="83820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dirty="0">
                <a:solidFill>
                  <a:srgbClr val="000099"/>
                </a:solidFill>
                <a:latin typeface="Arial" panose="020B0604020202020204" pitchFamily="34" charset="0"/>
                <a:ea typeface="楷体_GB2312" pitchFamily="49" charset="-122"/>
                <a:cs typeface="Arial" panose="020B0604020202020204" pitchFamily="34" charset="0"/>
              </a:rPr>
              <a:t>Set the auxiliary array Dist, where each component Dist[k] represents </a:t>
            </a:r>
            <a:r>
              <a:rPr lang="zh-CN" altLang="en-US" dirty="0">
                <a:solidFill>
                  <a:srgbClr val="A50021"/>
                </a:solidFill>
                <a:latin typeface="Arial" panose="020B0604020202020204" pitchFamily="34" charset="0"/>
                <a:ea typeface="楷体_GB2312" pitchFamily="49" charset="-122"/>
                <a:cs typeface="Arial" panose="020B0604020202020204" pitchFamily="34" charset="0"/>
              </a:rPr>
              <a:t>the shortest path from the source point to vertex k.</a:t>
            </a:r>
            <a:endParaRPr lang="zh-CN" altLang="en-US"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85346"/>
                                        </p:tgtEl>
                                        <p:attrNameLst>
                                          <p:attrName>style.visibility</p:attrName>
                                        </p:attrNameLst>
                                      </p:cBhvr>
                                      <p:to>
                                        <p:strVal val="visible"/>
                                      </p:to>
                                    </p:set>
                                    <p:anim calcmode="lin" valueType="num">
                                      <p:cBhvr additive="base">
                                        <p:cTn id="7" dur="500" fill="hold"/>
                                        <p:tgtEl>
                                          <p:spTgt spid="185346"/>
                                        </p:tgtEl>
                                        <p:attrNameLst>
                                          <p:attrName>ppt_x</p:attrName>
                                        </p:attrNameLst>
                                      </p:cBhvr>
                                      <p:tavLst>
                                        <p:tav tm="0">
                                          <p:val>
                                            <p:strVal val="#ppt_x"/>
                                          </p:val>
                                        </p:tav>
                                        <p:tav tm="100000">
                                          <p:val>
                                            <p:strVal val="#ppt_x"/>
                                          </p:val>
                                        </p:tav>
                                      </p:tavLst>
                                    </p:anim>
                                    <p:anim calcmode="lin" valueType="num">
                                      <p:cBhvr additive="base">
                                        <p:cTn id="8" dur="500" fill="hold"/>
                                        <p:tgtEl>
                                          <p:spTgt spid="18534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185348"/>
                                        </p:tgtEl>
                                        <p:attrNameLst>
                                          <p:attrName>style.visibility</p:attrName>
                                        </p:attrNameLst>
                                      </p:cBhvr>
                                      <p:to>
                                        <p:strVal val="visible"/>
                                      </p:to>
                                    </p:set>
                                    <p:animEffect transition="in" filter="barn(outVertical)">
                                      <p:cBhvr>
                                        <p:cTn id="13" dur="500"/>
                                        <p:tgtEl>
                                          <p:spTgt spid="185348"/>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85347"/>
                                        </p:tgtEl>
                                        <p:attrNameLst>
                                          <p:attrName>style.visibility</p:attrName>
                                        </p:attrNameLst>
                                      </p:cBhvr>
                                      <p:to>
                                        <p:strVal val="visible"/>
                                      </p:to>
                                    </p:set>
                                    <p:animEffect transition="in" filter="checkerboard(across)">
                                      <p:cBhvr>
                                        <p:cTn id="18" dur="500"/>
                                        <p:tgtEl>
                                          <p:spTgt spid="185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bldLvl="0" animBg="1" autoUpdateAnimBg="0"/>
      <p:bldP spid="185347" grpId="0" bldLvl="0" animBg="1" autoUpdateAnimBg="0"/>
      <p:bldP spid="185348" grpId="0" bldLvl="0" animBg="1"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ChangeArrowheads="1"/>
          </p:cNvSpPr>
          <p:nvPr/>
        </p:nvSpPr>
        <p:spPr bwMode="auto">
          <a:xfrm>
            <a:off x="381000" y="44450"/>
            <a:ext cx="760984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rgbClr val="000099"/>
                </a:solidFill>
                <a:latin typeface="Arial" panose="020B0604020202020204" pitchFamily="34" charset="0"/>
                <a:ea typeface="楷体_GB2312" pitchFamily="49" charset="-122"/>
                <a:cs typeface="Arial" panose="020B0604020202020204" pitchFamily="34" charset="0"/>
              </a:rPr>
              <a:t>1) Select one arc from all arcs originating at the source node v </a:t>
            </a:r>
            <a:r>
              <a:rPr lang="en-US" altLang="zh-CN" sz="2000" b="1" dirty="0">
                <a:solidFill>
                  <a:srgbClr val="A50021"/>
                </a:solidFill>
                <a:latin typeface="Arial" panose="020B0604020202020204" pitchFamily="34" charset="0"/>
                <a:ea typeface="楷体_GB2312" pitchFamily="49" charset="-122"/>
                <a:cs typeface="Arial" panose="020B0604020202020204" pitchFamily="34" charset="0"/>
              </a:rPr>
              <a:t>(</a:t>
            </a:r>
            <a:r>
              <a:rPr lang="en-US" altLang="zh-CN" sz="2000" b="1" dirty="0">
                <a:solidFill>
                  <a:srgbClr val="A50021"/>
                </a:solidFill>
                <a:latin typeface="Arial" panose="020B0604020202020204" pitchFamily="34" charset="0"/>
                <a:ea typeface="楷体_GB2312" pitchFamily="49" charset="-122"/>
                <a:cs typeface="Arial" panose="020B0604020202020204" pitchFamily="34" charset="0"/>
                <a:sym typeface="+mn-ea"/>
              </a:rPr>
              <a:t>v</a:t>
            </a:r>
            <a:r>
              <a:rPr lang="en-US" altLang="zh-CN" sz="2000" b="1" baseline="-25000" dirty="0">
                <a:solidFill>
                  <a:srgbClr val="A50021"/>
                </a:solidFill>
                <a:latin typeface="Arial" panose="020B0604020202020204" pitchFamily="34" charset="0"/>
                <a:ea typeface="楷体_GB2312" pitchFamily="49" charset="-122"/>
                <a:cs typeface="Arial" panose="020B0604020202020204" pitchFamily="34" charset="0"/>
                <a:sym typeface="+mn-ea"/>
              </a:rPr>
              <a:t>0</a:t>
            </a:r>
            <a:r>
              <a:rPr lang="en-US" altLang="zh-CN" sz="2000" b="1" dirty="0">
                <a:solidFill>
                  <a:srgbClr val="A50021"/>
                </a:solidFill>
                <a:latin typeface="Arial" panose="020B0604020202020204" pitchFamily="34" charset="0"/>
                <a:ea typeface="楷体_GB2312" pitchFamily="49" charset="-122"/>
                <a:cs typeface="Arial" panose="020B0604020202020204" pitchFamily="34" charset="0"/>
                <a:sym typeface="+mn-ea"/>
              </a:rPr>
              <a:t>∈</a:t>
            </a:r>
            <a:r>
              <a:rPr lang="en-US" altLang="zh-CN" sz="2000" b="1" dirty="0">
                <a:solidFill>
                  <a:srgbClr val="A50021"/>
                </a:solidFill>
                <a:latin typeface="Arial" panose="020B0604020202020204" pitchFamily="34" charset="0"/>
                <a:ea typeface="楷体_GB2312" pitchFamily="49" charset="-122"/>
                <a:cs typeface="Arial" panose="020B0604020202020204" pitchFamily="34" charset="0"/>
                <a:sym typeface="+mn-ea"/>
              </a:rPr>
              <a:t> S) </a:t>
            </a:r>
            <a:r>
              <a:rPr lang="zh-CN" altLang="en-US" sz="2000" dirty="0">
                <a:solidFill>
                  <a:srgbClr val="000099"/>
                </a:solidFill>
                <a:latin typeface="Arial" panose="020B0604020202020204" pitchFamily="34" charset="0"/>
                <a:ea typeface="楷体_GB2312" pitchFamily="49" charset="-122"/>
                <a:cs typeface="Arial" panose="020B0604020202020204" pitchFamily="34" charset="0"/>
              </a:rPr>
              <a:t>The arc with the smallest weight (v₀, u) is the first shortest path.</a:t>
            </a:r>
            <a:endParaRPr lang="zh-CN" altLang="en-US" sz="20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186371" name="Rectangle 3"/>
          <p:cNvSpPr>
            <a:spLocks noChangeArrowheads="1"/>
          </p:cNvSpPr>
          <p:nvPr/>
        </p:nvSpPr>
        <p:spPr bwMode="auto">
          <a:xfrm>
            <a:off x="445770" y="3429000"/>
            <a:ext cx="7696200" cy="1461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r>
              <a:rPr lang="en-US" altLang="zh-CN" sz="2000" dirty="0">
                <a:solidFill>
                  <a:srgbClr val="000099"/>
                </a:solidFill>
                <a:latin typeface="Arial" panose="020B0604020202020204" pitchFamily="34" charset="0"/>
                <a:ea typeface="楷体_GB2312" pitchFamily="49" charset="-122"/>
                <a:cs typeface="Arial" panose="020B0604020202020204" pitchFamily="34" charset="0"/>
              </a:rPr>
              <a:t>2) Modify the Dist[k] values of all other vertices. Suppose the vertex with the shortest path is j, if</a:t>
            </a:r>
            <a:endParaRPr lang="zh-CN" altLang="en-US" sz="2000" dirty="0">
              <a:solidFill>
                <a:srgbClr val="000099"/>
              </a:solidFill>
              <a:latin typeface="Arial" panose="020B0604020202020204" pitchFamily="34" charset="0"/>
              <a:ea typeface="楷体_GB2312" pitchFamily="49" charset="-122"/>
              <a:cs typeface="Arial" panose="020B0604020202020204" pitchFamily="34" charset="0"/>
            </a:endParaRPr>
          </a:p>
          <a:p>
            <a:pPr>
              <a:spcBef>
                <a:spcPct val="30000"/>
              </a:spcBef>
              <a:spcAft>
                <a:spcPct val="30000"/>
              </a:spcAft>
            </a:pPr>
            <a:r>
              <a:rPr lang="en-US" altLang="zh-CN" sz="2000" b="1" i="1" dirty="0" err="1">
                <a:solidFill>
                  <a:srgbClr val="800000"/>
                </a:solidFill>
                <a:latin typeface="Arial" panose="020B0604020202020204" pitchFamily="34" charset="0"/>
                <a:ea typeface="楷体_GB2312" pitchFamily="49" charset="-122"/>
                <a:cs typeface="Arial" panose="020B0604020202020204" pitchFamily="34" charset="0"/>
              </a:rPr>
              <a:t>Dist[ j]+ G.arcs[ j][ k]&lt; Dist[ k]</a:t>
            </a:r>
            <a:endParaRPr lang="en-US" altLang="zh-CN" sz="2000" b="1" dirty="0">
              <a:solidFill>
                <a:srgbClr val="800000"/>
              </a:solidFill>
              <a:latin typeface="Arial" panose="020B0604020202020204" pitchFamily="34" charset="0"/>
              <a:ea typeface="楷体_GB2312" pitchFamily="49" charset="-122"/>
              <a:cs typeface="Arial" panose="020B0604020202020204" pitchFamily="34" charset="0"/>
            </a:endParaRPr>
          </a:p>
          <a:p>
            <a:r>
              <a:rPr lang="zh-CN" altLang="en-US" sz="2000" dirty="0">
                <a:solidFill>
                  <a:srgbClr val="000099"/>
                </a:solidFill>
                <a:latin typeface="Arial" panose="020B0604020202020204" pitchFamily="34" charset="0"/>
                <a:ea typeface="楷体_GB2312" pitchFamily="49" charset="-122"/>
                <a:cs typeface="Arial" panose="020B0604020202020204" pitchFamily="34" charset="0"/>
              </a:rPr>
              <a:t>Replace Dist[k] with Dist[j]+G.arcs[j][k].</a:t>
            </a:r>
            <a:endParaRPr lang="zh-CN" altLang="en-US" sz="2000" dirty="0">
              <a:solidFill>
                <a:srgbClr val="000099"/>
              </a:solidFill>
              <a:latin typeface="Arial" panose="020B0604020202020204" pitchFamily="34" charset="0"/>
              <a:ea typeface="楷体_GB2312" pitchFamily="49" charset="-122"/>
              <a:cs typeface="Arial" panose="020B0604020202020204" pitchFamily="34" charset="0"/>
            </a:endParaRPr>
          </a:p>
        </p:txBody>
      </p:sp>
      <p:graphicFrame>
        <p:nvGraphicFramePr>
          <p:cNvPr id="186372" name="Object 4"/>
          <p:cNvGraphicFramePr>
            <a:graphicFrameLocks noChangeAspect="1"/>
          </p:cNvGraphicFramePr>
          <p:nvPr/>
        </p:nvGraphicFramePr>
        <p:xfrm>
          <a:off x="990600" y="919163"/>
          <a:ext cx="5181600" cy="1214437"/>
        </p:xfrm>
        <a:graphic>
          <a:graphicData uri="http://schemas.openxmlformats.org/presentationml/2006/ole">
            <mc:AlternateContent xmlns:mc="http://schemas.openxmlformats.org/markup-compatibility/2006">
              <mc:Choice xmlns:v="urn:schemas-microsoft-com:vml" Requires="v">
                <p:oleObj spid="_x0000_s2" name="Equation" r:id="rId1" imgW="1778000" imgH="457200" progId="Equation.DSMT4">
                  <p:embed/>
                </p:oleObj>
              </mc:Choice>
              <mc:Fallback>
                <p:oleObj name="Equation" r:id="rId1" imgW="1778000" imgH="457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19163"/>
                        <a:ext cx="5181600" cy="1214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73" name="Text Box 5"/>
          <p:cNvSpPr txBox="1">
            <a:spLocks noChangeArrowheads="1"/>
          </p:cNvSpPr>
          <p:nvPr/>
        </p:nvSpPr>
        <p:spPr bwMode="auto">
          <a:xfrm>
            <a:off x="5727700" y="1050925"/>
            <a:ext cx="341630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latin typeface="Arial" panose="020B0604020202020204" pitchFamily="34" charset="0"/>
                <a:cs typeface="Arial" panose="020B0604020202020204" pitchFamily="34" charset="0"/>
              </a:rPr>
              <a:t>There is an arc between V0 and k</a:t>
            </a:r>
            <a:endParaRPr lang="en-US" altLang="zh-CN" sz="1600" b="1">
              <a:latin typeface="Arial" panose="020B0604020202020204" pitchFamily="34" charset="0"/>
              <a:cs typeface="Arial" panose="020B0604020202020204" pitchFamily="34" charset="0"/>
            </a:endParaRPr>
          </a:p>
        </p:txBody>
      </p:sp>
      <p:sp>
        <p:nvSpPr>
          <p:cNvPr id="186374" name="Text Box 6"/>
          <p:cNvSpPr txBox="1">
            <a:spLocks noChangeArrowheads="1"/>
          </p:cNvSpPr>
          <p:nvPr/>
        </p:nvSpPr>
        <p:spPr bwMode="auto">
          <a:xfrm>
            <a:off x="5776595" y="1600200"/>
            <a:ext cx="336740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600" b="1">
                <a:latin typeface="Arial" panose="020B0604020202020204" pitchFamily="34" charset="0"/>
                <a:cs typeface="Arial" panose="020B0604020202020204" pitchFamily="34" charset="0"/>
              </a:rPr>
              <a:t>No arc exists between V0 and k</a:t>
            </a:r>
            <a:endParaRPr lang="en-US" altLang="zh-CN" sz="1600" b="1">
              <a:latin typeface="Arial" panose="020B0604020202020204" pitchFamily="34" charset="0"/>
              <a:cs typeface="Arial" panose="020B0604020202020204" pitchFamily="34" charset="0"/>
            </a:endParaRPr>
          </a:p>
        </p:txBody>
      </p:sp>
      <p:sp>
        <p:nvSpPr>
          <p:cNvPr id="186375" name="Text Box 7"/>
          <p:cNvSpPr txBox="1">
            <a:spLocks noChangeArrowheads="1"/>
          </p:cNvSpPr>
          <p:nvPr/>
        </p:nvSpPr>
        <p:spPr bwMode="auto">
          <a:xfrm>
            <a:off x="425450" y="2055813"/>
            <a:ext cx="818515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solidFill>
                  <a:srgbClr val="A50021"/>
                </a:solidFill>
                <a:latin typeface="Arial" panose="020B0604020202020204" pitchFamily="34" charset="0"/>
                <a:ea typeface="楷体_GB2312" pitchFamily="49" charset="-122"/>
                <a:cs typeface="Arial" panose="020B0604020202020204" pitchFamily="34" charset="0"/>
              </a:rPr>
              <a:t>The minimum value represents the length of the shortest path. </a:t>
            </a:r>
            <a:r>
              <a:rPr lang="zh-CN" altLang="en-US" sz="2000" dirty="0">
                <a:solidFill>
                  <a:srgbClr val="333399"/>
                </a:solidFill>
                <a:latin typeface="Arial" panose="020B0604020202020204" pitchFamily="34" charset="0"/>
                <a:ea typeface="楷体_GB2312" pitchFamily="49" charset="-122"/>
                <a:cs typeface="Arial" panose="020B0604020202020204" pitchFamily="34" charset="0"/>
              </a:rPr>
              <a:t>The vertex j corresponding to this minimum value is added to</a:t>
            </a:r>
            <a:r>
              <a:rPr lang="zh-CN" altLang="en-US" sz="2000" b="1" dirty="0">
                <a:solidFill>
                  <a:srgbClr val="A50021"/>
                </a:solidFill>
                <a:latin typeface="Arial" panose="020B0604020202020204" pitchFamily="34" charset="0"/>
                <a:ea typeface="楷体_GB2312" pitchFamily="49" charset="-122"/>
                <a:cs typeface="Arial" panose="020B0604020202020204" pitchFamily="34" charset="0"/>
              </a:rPr>
              <a:t> set S (S=S∪{j}). Set S contains all vertices for which the shortest path has been determined.</a:t>
            </a:r>
            <a:endParaRPr lang="zh-CN" altLang="en-US" sz="2000" b="1"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186376" name="Text Box 8"/>
          <p:cNvSpPr txBox="1">
            <a:spLocks noChangeArrowheads="1"/>
          </p:cNvSpPr>
          <p:nvPr/>
        </p:nvSpPr>
        <p:spPr bwMode="auto">
          <a:xfrm>
            <a:off x="467360" y="5085080"/>
            <a:ext cx="8382000"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solidFill>
                  <a:srgbClr val="000099"/>
                </a:solidFill>
                <a:latin typeface="Arial" panose="020B0604020202020204" pitchFamily="34" charset="0"/>
                <a:ea typeface="楷体_GB2312" pitchFamily="49" charset="-122"/>
                <a:cs typeface="Arial" panose="020B0604020202020204" pitchFamily="34" charset="0"/>
              </a:rPr>
              <a:t>3) Repeat steps 1) and 2) n-1 times. The resulting shortest paths from the remaining vertices form a sequence ordered by increasing path length.</a:t>
            </a:r>
            <a:endParaRPr lang="en-US" altLang="zh-CN" sz="200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86370"/>
                                        </p:tgtEl>
                                        <p:attrNameLst>
                                          <p:attrName>style.visibility</p:attrName>
                                        </p:attrNameLst>
                                      </p:cBhvr>
                                      <p:to>
                                        <p:strVal val="visible"/>
                                      </p:to>
                                    </p:set>
                                    <p:anim calcmode="lin" valueType="num">
                                      <p:cBhvr additive="base">
                                        <p:cTn id="7" dur="500" fill="hold"/>
                                        <p:tgtEl>
                                          <p:spTgt spid="186370"/>
                                        </p:tgtEl>
                                        <p:attrNameLst>
                                          <p:attrName>ppt_x</p:attrName>
                                        </p:attrNameLst>
                                      </p:cBhvr>
                                      <p:tavLst>
                                        <p:tav tm="0">
                                          <p:val>
                                            <p:strVal val="#ppt_x"/>
                                          </p:val>
                                        </p:tav>
                                        <p:tav tm="100000">
                                          <p:val>
                                            <p:strVal val="#ppt_x"/>
                                          </p:val>
                                        </p:tav>
                                      </p:tavLst>
                                    </p:anim>
                                    <p:anim calcmode="lin" valueType="num">
                                      <p:cBhvr additive="base">
                                        <p:cTn id="8" dur="500" fill="hold"/>
                                        <p:tgtEl>
                                          <p:spTgt spid="1863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86372"/>
                                        </p:tgtEl>
                                        <p:attrNameLst>
                                          <p:attrName>style.visibility</p:attrName>
                                        </p:attrNameLst>
                                      </p:cBhvr>
                                      <p:to>
                                        <p:strVal val="visible"/>
                                      </p:to>
                                    </p:set>
                                    <p:animEffect transition="in" filter="wipe(left)">
                                      <p:cBhvr>
                                        <p:cTn id="13" dur="500"/>
                                        <p:tgtEl>
                                          <p:spTgt spid="186372"/>
                                        </p:tgtEl>
                                      </p:cBhvr>
                                    </p:animEffect>
                                  </p:childTnLst>
                                </p:cTn>
                              </p:par>
                            </p:childTnLst>
                          </p:cTn>
                        </p:par>
                        <p:par>
                          <p:cTn id="14" fill="hold">
                            <p:stCondLst>
                              <p:cond delay="500"/>
                            </p:stCondLst>
                            <p:childTnLst>
                              <p:par>
                                <p:cTn id="15" presetID="2" presetClass="entr" presetSubtype="2" fill="hold" grpId="0" nodeType="afterEffect">
                                  <p:stCondLst>
                                    <p:cond delay="0"/>
                                  </p:stCondLst>
                                  <p:childTnLst>
                                    <p:set>
                                      <p:cBhvr>
                                        <p:cTn id="16" dur="1" fill="hold">
                                          <p:stCondLst>
                                            <p:cond delay="0"/>
                                          </p:stCondLst>
                                        </p:cTn>
                                        <p:tgtEl>
                                          <p:spTgt spid="186373"/>
                                        </p:tgtEl>
                                        <p:attrNameLst>
                                          <p:attrName>style.visibility</p:attrName>
                                        </p:attrNameLst>
                                      </p:cBhvr>
                                      <p:to>
                                        <p:strVal val="visible"/>
                                      </p:to>
                                    </p:set>
                                    <p:anim calcmode="lin" valueType="num">
                                      <p:cBhvr additive="base">
                                        <p:cTn id="17" dur="500" fill="hold"/>
                                        <p:tgtEl>
                                          <p:spTgt spid="186373"/>
                                        </p:tgtEl>
                                        <p:attrNameLst>
                                          <p:attrName>ppt_x</p:attrName>
                                        </p:attrNameLst>
                                      </p:cBhvr>
                                      <p:tavLst>
                                        <p:tav tm="0">
                                          <p:val>
                                            <p:strVal val="1+#ppt_w/2"/>
                                          </p:val>
                                        </p:tav>
                                        <p:tav tm="100000">
                                          <p:val>
                                            <p:strVal val="#ppt_x"/>
                                          </p:val>
                                        </p:tav>
                                      </p:tavLst>
                                    </p:anim>
                                    <p:anim calcmode="lin" valueType="num">
                                      <p:cBhvr additive="base">
                                        <p:cTn id="18" dur="500" fill="hold"/>
                                        <p:tgtEl>
                                          <p:spTgt spid="186373"/>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 presetClass="entr" presetSubtype="2" fill="hold" grpId="0" nodeType="afterEffect">
                                  <p:stCondLst>
                                    <p:cond delay="0"/>
                                  </p:stCondLst>
                                  <p:childTnLst>
                                    <p:set>
                                      <p:cBhvr>
                                        <p:cTn id="21" dur="1" fill="hold">
                                          <p:stCondLst>
                                            <p:cond delay="0"/>
                                          </p:stCondLst>
                                        </p:cTn>
                                        <p:tgtEl>
                                          <p:spTgt spid="186374"/>
                                        </p:tgtEl>
                                        <p:attrNameLst>
                                          <p:attrName>style.visibility</p:attrName>
                                        </p:attrNameLst>
                                      </p:cBhvr>
                                      <p:to>
                                        <p:strVal val="visible"/>
                                      </p:to>
                                    </p:set>
                                    <p:anim calcmode="lin" valueType="num">
                                      <p:cBhvr additive="base">
                                        <p:cTn id="22" dur="500" fill="hold"/>
                                        <p:tgtEl>
                                          <p:spTgt spid="186374"/>
                                        </p:tgtEl>
                                        <p:attrNameLst>
                                          <p:attrName>ppt_x</p:attrName>
                                        </p:attrNameLst>
                                      </p:cBhvr>
                                      <p:tavLst>
                                        <p:tav tm="0">
                                          <p:val>
                                            <p:strVal val="1+#ppt_w/2"/>
                                          </p:val>
                                        </p:tav>
                                        <p:tav tm="100000">
                                          <p:val>
                                            <p:strVal val="#ppt_x"/>
                                          </p:val>
                                        </p:tav>
                                      </p:tavLst>
                                    </p:anim>
                                    <p:anim calcmode="lin" valueType="num">
                                      <p:cBhvr additive="base">
                                        <p:cTn id="23" dur="500" fill="hold"/>
                                        <p:tgtEl>
                                          <p:spTgt spid="18637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8" presetClass="entr" presetSubtype="3" fill="hold" grpId="0" nodeType="clickEffect">
                                  <p:stCondLst>
                                    <p:cond delay="0"/>
                                  </p:stCondLst>
                                  <p:childTnLst>
                                    <p:set>
                                      <p:cBhvr>
                                        <p:cTn id="27" dur="1" fill="hold">
                                          <p:stCondLst>
                                            <p:cond delay="0"/>
                                          </p:stCondLst>
                                        </p:cTn>
                                        <p:tgtEl>
                                          <p:spTgt spid="186375"/>
                                        </p:tgtEl>
                                        <p:attrNameLst>
                                          <p:attrName>style.visibility</p:attrName>
                                        </p:attrNameLst>
                                      </p:cBhvr>
                                      <p:to>
                                        <p:strVal val="visible"/>
                                      </p:to>
                                    </p:set>
                                    <p:animEffect transition="in" filter="strips(upRight)">
                                      <p:cBhvr>
                                        <p:cTn id="28" dur="500"/>
                                        <p:tgtEl>
                                          <p:spTgt spid="186375"/>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9" fill="hold" grpId="0" nodeType="clickEffect">
                                  <p:stCondLst>
                                    <p:cond delay="0"/>
                                  </p:stCondLst>
                                  <p:childTnLst>
                                    <p:set>
                                      <p:cBhvr>
                                        <p:cTn id="32" dur="1" fill="hold">
                                          <p:stCondLst>
                                            <p:cond delay="0"/>
                                          </p:stCondLst>
                                        </p:cTn>
                                        <p:tgtEl>
                                          <p:spTgt spid="186371"/>
                                        </p:tgtEl>
                                        <p:attrNameLst>
                                          <p:attrName>style.visibility</p:attrName>
                                        </p:attrNameLst>
                                      </p:cBhvr>
                                      <p:to>
                                        <p:strVal val="visible"/>
                                      </p:to>
                                    </p:set>
                                    <p:animEffect transition="in" filter="strips(upLeft)">
                                      <p:cBhvr>
                                        <p:cTn id="33" dur="500"/>
                                        <p:tgtEl>
                                          <p:spTgt spid="186371"/>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86376"/>
                                        </p:tgtEl>
                                        <p:attrNameLst>
                                          <p:attrName>style.visibility</p:attrName>
                                        </p:attrNameLst>
                                      </p:cBhvr>
                                      <p:to>
                                        <p:strVal val="visible"/>
                                      </p:to>
                                    </p:set>
                                    <p:anim calcmode="lin" valueType="num">
                                      <p:cBhvr additive="base">
                                        <p:cTn id="38" dur="500" fill="hold"/>
                                        <p:tgtEl>
                                          <p:spTgt spid="186376"/>
                                        </p:tgtEl>
                                        <p:attrNameLst>
                                          <p:attrName>ppt_x</p:attrName>
                                        </p:attrNameLst>
                                      </p:cBhvr>
                                      <p:tavLst>
                                        <p:tav tm="0">
                                          <p:val>
                                            <p:strVal val="0-#ppt_w/2"/>
                                          </p:val>
                                        </p:tav>
                                        <p:tav tm="100000">
                                          <p:val>
                                            <p:strVal val="#ppt_x"/>
                                          </p:val>
                                        </p:tav>
                                      </p:tavLst>
                                    </p:anim>
                                    <p:anim calcmode="lin" valueType="num">
                                      <p:cBhvr additive="base">
                                        <p:cTn id="39" dur="500" fill="hold"/>
                                        <p:tgtEl>
                                          <p:spTgt spid="1863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bldLvl="0" animBg="1" autoUpdateAnimBg="0"/>
      <p:bldP spid="186371" grpId="0" bldLvl="0" animBg="1" autoUpdateAnimBg="0"/>
      <p:bldP spid="186373" grpId="0" bldLvl="0" animBg="1" autoUpdateAnimBg="0"/>
      <p:bldP spid="186374" grpId="0" bldLvl="0" animBg="1" autoUpdateAnimBg="0"/>
      <p:bldP spid="186375" grpId="0" bldLvl="0" animBg="1" autoUpdateAnimBg="0"/>
      <p:bldP spid="186376" grpId="0" bldLvl="0" animBg="1"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1122" name="Group 2"/>
          <p:cNvGrpSpPr/>
          <p:nvPr/>
        </p:nvGrpSpPr>
        <p:grpSpPr bwMode="auto">
          <a:xfrm>
            <a:off x="914400" y="1828800"/>
            <a:ext cx="2813050" cy="2971800"/>
            <a:chOff x="576" y="1776"/>
            <a:chExt cx="1772" cy="1872"/>
          </a:xfrm>
        </p:grpSpPr>
        <p:sp>
          <p:nvSpPr>
            <p:cNvPr id="261123" name="Oval 3"/>
            <p:cNvSpPr>
              <a:spLocks noChangeArrowheads="1"/>
            </p:cNvSpPr>
            <p:nvPr/>
          </p:nvSpPr>
          <p:spPr bwMode="auto">
            <a:xfrm>
              <a:off x="1248" y="1776"/>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5</a:t>
              </a:r>
              <a:endParaRPr lang="en-US" altLang="zh-CN" sz="1800" b="1"/>
            </a:p>
          </p:txBody>
        </p:sp>
        <p:sp>
          <p:nvSpPr>
            <p:cNvPr id="261124" name="Oval 4"/>
            <p:cNvSpPr>
              <a:spLocks noChangeArrowheads="1"/>
            </p:cNvSpPr>
            <p:nvPr/>
          </p:nvSpPr>
          <p:spPr bwMode="auto">
            <a:xfrm>
              <a:off x="576"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0</a:t>
              </a:r>
              <a:endParaRPr lang="en-US" altLang="zh-CN" sz="1800" b="1"/>
            </a:p>
          </p:txBody>
        </p:sp>
        <p:sp>
          <p:nvSpPr>
            <p:cNvPr id="261125" name="Oval 5"/>
            <p:cNvSpPr>
              <a:spLocks noChangeArrowheads="1"/>
            </p:cNvSpPr>
            <p:nvPr/>
          </p:nvSpPr>
          <p:spPr bwMode="auto">
            <a:xfrm>
              <a:off x="576" y="288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1</a:t>
              </a:r>
              <a:endParaRPr lang="en-US" altLang="zh-CN" sz="1800" b="1"/>
            </a:p>
          </p:txBody>
        </p:sp>
        <p:sp>
          <p:nvSpPr>
            <p:cNvPr id="261126" name="Oval 6"/>
            <p:cNvSpPr>
              <a:spLocks noChangeArrowheads="1"/>
            </p:cNvSpPr>
            <p:nvPr/>
          </p:nvSpPr>
          <p:spPr bwMode="auto">
            <a:xfrm>
              <a:off x="1200" y="33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2</a:t>
              </a:r>
              <a:endParaRPr lang="en-US" altLang="zh-CN" sz="1800" b="1"/>
            </a:p>
          </p:txBody>
        </p:sp>
        <p:sp>
          <p:nvSpPr>
            <p:cNvPr id="261127" name="Oval 7"/>
            <p:cNvSpPr>
              <a:spLocks noChangeArrowheads="1"/>
            </p:cNvSpPr>
            <p:nvPr/>
          </p:nvSpPr>
          <p:spPr bwMode="auto">
            <a:xfrm>
              <a:off x="1872" y="2928"/>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3</a:t>
              </a:r>
              <a:endParaRPr lang="en-US" altLang="zh-CN" sz="1800" b="1"/>
            </a:p>
          </p:txBody>
        </p:sp>
        <p:sp>
          <p:nvSpPr>
            <p:cNvPr id="261128" name="Oval 8"/>
            <p:cNvSpPr>
              <a:spLocks noChangeArrowheads="1"/>
            </p:cNvSpPr>
            <p:nvPr/>
          </p:nvSpPr>
          <p:spPr bwMode="auto">
            <a:xfrm>
              <a:off x="1920"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4</a:t>
              </a:r>
              <a:endParaRPr lang="en-US" altLang="zh-CN" sz="1800" b="1"/>
            </a:p>
          </p:txBody>
        </p:sp>
        <p:sp>
          <p:nvSpPr>
            <p:cNvPr id="261129" name="Line 9"/>
            <p:cNvSpPr>
              <a:spLocks noChangeShapeType="1"/>
            </p:cNvSpPr>
            <p:nvPr/>
          </p:nvSpPr>
          <p:spPr bwMode="auto">
            <a:xfrm flipV="1">
              <a:off x="816" y="19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0" name="Line 10"/>
            <p:cNvSpPr>
              <a:spLocks noChangeShapeType="1"/>
            </p:cNvSpPr>
            <p:nvPr/>
          </p:nvSpPr>
          <p:spPr bwMode="auto">
            <a:xfrm>
              <a:off x="864" y="2304"/>
              <a:ext cx="1056"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1" name="Line 11"/>
            <p:cNvSpPr>
              <a:spLocks noChangeShapeType="1"/>
            </p:cNvSpPr>
            <p:nvPr/>
          </p:nvSpPr>
          <p:spPr bwMode="auto">
            <a:xfrm>
              <a:off x="816" y="2400"/>
              <a:ext cx="480" cy="96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2" name="Line 12"/>
            <p:cNvSpPr>
              <a:spLocks noChangeShapeType="1"/>
            </p:cNvSpPr>
            <p:nvPr/>
          </p:nvSpPr>
          <p:spPr bwMode="auto">
            <a:xfrm>
              <a:off x="816" y="3120"/>
              <a:ext cx="384" cy="288"/>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3" name="Line 13"/>
            <p:cNvSpPr>
              <a:spLocks noChangeShapeType="1"/>
            </p:cNvSpPr>
            <p:nvPr/>
          </p:nvSpPr>
          <p:spPr bwMode="auto">
            <a:xfrm flipV="1">
              <a:off x="1488" y="31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4" name="Line 14"/>
            <p:cNvSpPr>
              <a:spLocks noChangeShapeType="1"/>
            </p:cNvSpPr>
            <p:nvPr/>
          </p:nvSpPr>
          <p:spPr bwMode="auto">
            <a:xfrm>
              <a:off x="2064" y="2448"/>
              <a:ext cx="0" cy="48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5" name="Line 15"/>
            <p:cNvSpPr>
              <a:spLocks noChangeShapeType="1"/>
            </p:cNvSpPr>
            <p:nvPr/>
          </p:nvSpPr>
          <p:spPr bwMode="auto">
            <a:xfrm flipH="1" flipV="1">
              <a:off x="1536" y="1968"/>
              <a:ext cx="384"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6" name="Line 16"/>
            <p:cNvSpPr>
              <a:spLocks noChangeShapeType="1"/>
            </p:cNvSpPr>
            <p:nvPr/>
          </p:nvSpPr>
          <p:spPr bwMode="auto">
            <a:xfrm flipH="1" flipV="1">
              <a:off x="1440" y="2064"/>
              <a:ext cx="432" cy="912"/>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1137" name="Rectangle 17"/>
            <p:cNvSpPr>
              <a:spLocks noChangeArrowheads="1"/>
            </p:cNvSpPr>
            <p:nvPr/>
          </p:nvSpPr>
          <p:spPr bwMode="auto">
            <a:xfrm>
              <a:off x="864" y="32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a:t>
              </a:r>
              <a:endParaRPr lang="en-US" altLang="zh-CN" b="1"/>
            </a:p>
          </p:txBody>
        </p:sp>
        <p:sp>
          <p:nvSpPr>
            <p:cNvPr id="261138" name="Rectangle 18"/>
            <p:cNvSpPr>
              <a:spLocks noChangeArrowheads="1"/>
            </p:cNvSpPr>
            <p:nvPr/>
          </p:nvSpPr>
          <p:spPr bwMode="auto">
            <a:xfrm>
              <a:off x="984" y="26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261139" name="Rectangle 19"/>
            <p:cNvSpPr>
              <a:spLocks noChangeArrowheads="1"/>
            </p:cNvSpPr>
            <p:nvPr/>
          </p:nvSpPr>
          <p:spPr bwMode="auto">
            <a:xfrm>
              <a:off x="1440"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261140" name="Rectangle 20"/>
            <p:cNvSpPr>
              <a:spLocks noChangeArrowheads="1"/>
            </p:cNvSpPr>
            <p:nvPr/>
          </p:nvSpPr>
          <p:spPr bwMode="auto">
            <a:xfrm>
              <a:off x="2040" y="25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20</a:t>
              </a:r>
              <a:endParaRPr lang="en-US" altLang="zh-CN" b="1"/>
            </a:p>
          </p:txBody>
        </p:sp>
        <p:sp>
          <p:nvSpPr>
            <p:cNvPr id="261141" name="Rectangle 21"/>
            <p:cNvSpPr>
              <a:spLocks noChangeArrowheads="1"/>
            </p:cNvSpPr>
            <p:nvPr/>
          </p:nvSpPr>
          <p:spPr bwMode="auto">
            <a:xfrm>
              <a:off x="1104" y="20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30</a:t>
              </a:r>
              <a:endParaRPr lang="en-US" altLang="zh-CN" b="1"/>
            </a:p>
          </p:txBody>
        </p:sp>
        <p:sp>
          <p:nvSpPr>
            <p:cNvPr id="261142" name="Rectangle 22"/>
            <p:cNvSpPr>
              <a:spLocks noChangeArrowheads="1"/>
            </p:cNvSpPr>
            <p:nvPr/>
          </p:nvSpPr>
          <p:spPr bwMode="auto">
            <a:xfrm>
              <a:off x="1468"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50</a:t>
              </a:r>
              <a:endParaRPr lang="en-US" altLang="zh-CN" b="1"/>
            </a:p>
          </p:txBody>
        </p:sp>
        <p:sp>
          <p:nvSpPr>
            <p:cNvPr id="261143" name="Rectangle 23"/>
            <p:cNvSpPr>
              <a:spLocks noChangeArrowheads="1"/>
            </p:cNvSpPr>
            <p:nvPr/>
          </p:nvSpPr>
          <p:spPr bwMode="auto">
            <a:xfrm>
              <a:off x="1716"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60</a:t>
              </a:r>
              <a:endParaRPr lang="en-US" altLang="zh-CN" b="1"/>
            </a:p>
          </p:txBody>
        </p:sp>
        <p:sp>
          <p:nvSpPr>
            <p:cNvPr id="261144" name="Rectangle 24"/>
            <p:cNvSpPr>
              <a:spLocks noChangeArrowheads="1"/>
            </p:cNvSpPr>
            <p:nvPr/>
          </p:nvSpPr>
          <p:spPr bwMode="auto">
            <a:xfrm>
              <a:off x="768" y="183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100</a:t>
              </a:r>
              <a:endParaRPr lang="en-US" altLang="zh-CN" b="1"/>
            </a:p>
          </p:txBody>
        </p:sp>
      </p:grpSp>
      <p:sp>
        <p:nvSpPr>
          <p:cNvPr id="261146" name="AutoShape 26"/>
          <p:cNvSpPr/>
          <p:nvPr/>
        </p:nvSpPr>
        <p:spPr bwMode="auto">
          <a:xfrm>
            <a:off x="8382000" y="1447800"/>
            <a:ext cx="76200" cy="3048000"/>
          </a:xfrm>
          <a:prstGeom prst="rightBracket">
            <a:avLst>
              <a:gd name="adj" fmla="val 333333"/>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147" name="Text Box 27"/>
          <p:cNvSpPr txBox="1">
            <a:spLocks noChangeArrowheads="1"/>
          </p:cNvSpPr>
          <p:nvPr/>
        </p:nvSpPr>
        <p:spPr bwMode="auto">
          <a:xfrm>
            <a:off x="4572000" y="1362075"/>
            <a:ext cx="388620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10     </a:t>
            </a:r>
            <a:r>
              <a:rPr lang="en-US" altLang="zh-CN" sz="2400" b="1" dirty="0">
                <a:latin typeface="宋体" panose="02010600030101010101" pitchFamily="2" charset="-122"/>
              </a:rPr>
              <a:t>∞</a:t>
            </a:r>
            <a:r>
              <a:rPr lang="en-US" altLang="zh-CN" sz="2400" b="1" dirty="0"/>
              <a:t>     30   100</a:t>
            </a:r>
            <a:endParaRPr lang="en-US" altLang="zh-CN" sz="2400" b="1" dirty="0"/>
          </a:p>
          <a:p>
            <a:pPr>
              <a:spcBef>
                <a:spcPct val="50000"/>
              </a:spcBef>
            </a:pP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5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endParaRPr lang="en-US" altLang="zh-CN" sz="2400" b="1" dirty="0"/>
          </a:p>
          <a:p>
            <a:pPr>
              <a:spcBef>
                <a:spcPct val="50000"/>
              </a:spcBef>
            </a:pP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50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endParaRPr lang="en-US" altLang="zh-CN" sz="2400" b="1" dirty="0"/>
          </a:p>
          <a:p>
            <a:pPr>
              <a:spcBef>
                <a:spcPct val="50000"/>
              </a:spcBef>
            </a:pP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10</a:t>
            </a:r>
            <a:endParaRPr lang="en-US" altLang="zh-CN" sz="2400" b="1" dirty="0"/>
          </a:p>
          <a:p>
            <a:pPr>
              <a:spcBef>
                <a:spcPct val="50000"/>
              </a:spcBef>
            </a:pP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20     </a:t>
            </a:r>
            <a:r>
              <a:rPr lang="en-US" altLang="zh-CN" sz="2400" b="1" dirty="0">
                <a:latin typeface="宋体" panose="02010600030101010101" pitchFamily="2" charset="-122"/>
              </a:rPr>
              <a:t>∞</a:t>
            </a:r>
            <a:r>
              <a:rPr lang="en-US" altLang="zh-CN" sz="2400" b="1" dirty="0"/>
              <a:t>   60</a:t>
            </a:r>
            <a:endParaRPr lang="en-US" altLang="zh-CN" sz="2400" b="1" dirty="0"/>
          </a:p>
          <a:p>
            <a:pPr>
              <a:spcBef>
                <a:spcPct val="50000"/>
              </a:spcBef>
            </a:pP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r>
              <a:rPr lang="en-US" altLang="zh-CN" sz="2400" b="1" dirty="0">
                <a:latin typeface="宋体" panose="02010600030101010101" pitchFamily="2" charset="-122"/>
              </a:rPr>
              <a:t>∞</a:t>
            </a:r>
            <a:r>
              <a:rPr lang="en-US" altLang="zh-CN" sz="2400" b="1" dirty="0"/>
              <a:t>                                           </a:t>
            </a:r>
            <a:endParaRPr lang="en-US" altLang="zh-CN" sz="2400" b="1" dirty="0"/>
          </a:p>
        </p:txBody>
      </p:sp>
      <p:sp>
        <p:nvSpPr>
          <p:cNvPr id="261148" name="AutoShape 28"/>
          <p:cNvSpPr/>
          <p:nvPr/>
        </p:nvSpPr>
        <p:spPr bwMode="auto">
          <a:xfrm>
            <a:off x="4495800" y="1447800"/>
            <a:ext cx="152400" cy="3048000"/>
          </a:xfrm>
          <a:prstGeom prst="leftBracket">
            <a:avLst>
              <a:gd name="adj" fmla="val 166667"/>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1149" name="Text Box 29"/>
          <p:cNvSpPr txBox="1">
            <a:spLocks noChangeArrowheads="1"/>
          </p:cNvSpPr>
          <p:nvPr/>
        </p:nvSpPr>
        <p:spPr bwMode="auto">
          <a:xfrm>
            <a:off x="4942840" y="4953000"/>
            <a:ext cx="325247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b="1">
                <a:ea typeface="楷体_GB2312" pitchFamily="49" charset="-122"/>
                <a:sym typeface="+mn-ea"/>
              </a:rPr>
              <a:t>adjacency matrix</a:t>
            </a:r>
            <a:endParaRPr lang="zh-CN" altLang="en-US" sz="3200" b="1">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2"/>
          <p:cNvSpPr txBox="1">
            <a:spLocks noChangeArrowheads="1"/>
          </p:cNvSpPr>
          <p:nvPr/>
        </p:nvSpPr>
        <p:spPr bwMode="auto">
          <a:xfrm>
            <a:off x="152400" y="3048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aphicFrame>
        <p:nvGraphicFramePr>
          <p:cNvPr id="262150" name="Object 6"/>
          <p:cNvGraphicFramePr>
            <a:graphicFrameLocks noChangeAspect="1"/>
          </p:cNvGraphicFramePr>
          <p:nvPr/>
        </p:nvGraphicFramePr>
        <p:xfrm>
          <a:off x="385440" y="1924209"/>
          <a:ext cx="9680575" cy="4776470"/>
        </p:xfrm>
        <a:graphic>
          <a:graphicData uri="http://schemas.openxmlformats.org/presentationml/2006/ole">
            <mc:AlternateContent xmlns:mc="http://schemas.openxmlformats.org/markup-compatibility/2006">
              <mc:Choice xmlns:v="urn:schemas-microsoft-com:vml" Requires="v">
                <p:oleObj spid="_x0000_s2" name="Document" r:id="rId1" imgW="6172200" imgH="3043555" progId="Word.Document.8">
                  <p:embed/>
                </p:oleObj>
              </mc:Choice>
              <mc:Fallback>
                <p:oleObj name="Document" r:id="rId1" imgW="6172200" imgH="3043555" progId="Word.Document.8">
                  <p:embed/>
                  <p:pic>
                    <p:nvPicPr>
                      <p:cNvPr id="0" name="Object 6"/>
                      <p:cNvPicPr>
                        <a:picLocks noChangeAspect="1" noChangeArrowheads="1"/>
                      </p:cNvPicPr>
                      <p:nvPr/>
                    </p:nvPicPr>
                    <p:blipFill>
                      <a:blip r:embed="rId2"/>
                      <a:srcRect/>
                      <a:stretch>
                        <a:fillRect/>
                      </a:stretch>
                    </p:blipFill>
                    <p:spPr bwMode="auto">
                      <a:xfrm>
                        <a:off x="385440" y="1924209"/>
                        <a:ext cx="9680575" cy="4776470"/>
                      </a:xfrm>
                      <a:prstGeom prst="rect">
                        <a:avLst/>
                      </a:prstGeom>
                      <a:noFill/>
                      <a:ln>
                        <a:noFill/>
                      </a:ln>
                      <a:effectLst/>
                    </p:spPr>
                  </p:pic>
                </p:oleObj>
              </mc:Fallback>
            </mc:AlternateContent>
          </a:graphicData>
        </a:graphic>
      </p:graphicFrame>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2"/>
          <p:cNvSpPr txBox="1">
            <a:spLocks noChangeArrowheads="1"/>
          </p:cNvSpPr>
          <p:nvPr/>
        </p:nvSpPr>
        <p:spPr bwMode="auto">
          <a:xfrm>
            <a:off x="130810" y="404495"/>
            <a:ext cx="789241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a:solidFill>
                  <a:srgbClr val="FF0000"/>
                </a:solidFill>
                <a:latin typeface="Arial" panose="020B0604020202020204" pitchFamily="34" charset="0"/>
                <a:ea typeface="楷体_GB2312" pitchFamily="49" charset="-122"/>
                <a:cs typeface="Arial" panose="020B0604020202020204" pitchFamily="34" charset="0"/>
              </a:rPr>
              <a:t>2. Find the shortest path between each pair of vertices</a:t>
            </a:r>
            <a:endParaRPr lang="en-US" altLang="zh-CN" sz="3200" b="1">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187395" name="Rectangle 3"/>
          <p:cNvSpPr>
            <a:spLocks noChangeArrowheads="1"/>
          </p:cNvSpPr>
          <p:nvPr/>
        </p:nvSpPr>
        <p:spPr bwMode="auto">
          <a:xfrm>
            <a:off x="685800" y="1828800"/>
            <a:ext cx="8229600" cy="1999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0000FF"/>
                </a:solidFill>
                <a:latin typeface="Arial" panose="020B0604020202020204" pitchFamily="34" charset="0"/>
                <a:ea typeface="楷体_GB2312" pitchFamily="49" charset="-122"/>
                <a:cs typeface="Arial" panose="020B0604020202020204" pitchFamily="34" charset="0"/>
              </a:rPr>
              <a:t>Method 1:</a:t>
            </a:r>
            <a:endParaRPr lang="zh-CN" altLang="en-US" sz="4800" b="1" dirty="0">
              <a:solidFill>
                <a:srgbClr val="0000FF"/>
              </a:solidFill>
              <a:latin typeface="Arial" panose="020B0604020202020204" pitchFamily="34" charset="0"/>
              <a:ea typeface="楷体_GB2312" pitchFamily="49" charset="-122"/>
              <a:cs typeface="Arial" panose="020B0604020202020204" pitchFamily="34" charset="0"/>
            </a:endParaRPr>
          </a:p>
          <a:p>
            <a:r>
              <a:rPr lang="zh-CN" altLang="en-US" sz="2400" b="1" dirty="0">
                <a:latin typeface="Arial" panose="020B0604020202020204" pitchFamily="34" charset="0"/>
                <a:ea typeface="楷体_GB2312" pitchFamily="49" charset="-122"/>
                <a:cs typeface="Arial" panose="020B0604020202020204" pitchFamily="34" charset="0"/>
              </a:rPr>
              <a:t>The Dijkstra algorithm is executed n times, each time with a vertex as the source. This process enables the calculation of the shortest path between every pair of vertices.</a:t>
            </a:r>
            <a:endParaRPr lang="zh-CN" altLang="en-US" sz="2400" b="1" dirty="0">
              <a:latin typeface="Arial" panose="020B0604020202020204" pitchFamily="34" charset="0"/>
              <a:ea typeface="楷体_GB2312" pitchFamily="49" charset="-122"/>
              <a:cs typeface="Arial" panose="020B0604020202020204" pitchFamily="34" charset="0"/>
            </a:endParaRPr>
          </a:p>
        </p:txBody>
      </p:sp>
      <p:sp>
        <p:nvSpPr>
          <p:cNvPr id="187396" name="Rectangle 4"/>
          <p:cNvSpPr>
            <a:spLocks noChangeArrowheads="1"/>
          </p:cNvSpPr>
          <p:nvPr/>
        </p:nvSpPr>
        <p:spPr bwMode="auto">
          <a:xfrm>
            <a:off x="762000" y="4572000"/>
            <a:ext cx="5538788"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0000FF"/>
                </a:solidFill>
                <a:latin typeface="Arial" panose="020B0604020202020204" pitchFamily="34" charset="0"/>
                <a:ea typeface="楷体_GB2312" pitchFamily="49" charset="-122"/>
                <a:cs typeface="Arial" panose="020B0604020202020204" pitchFamily="34" charset="0"/>
              </a:rPr>
              <a:t>Method 2:</a:t>
            </a:r>
            <a:endParaRPr lang="zh-CN" altLang="en-US" sz="4800" b="1" dirty="0">
              <a:solidFill>
                <a:srgbClr val="0000FF"/>
              </a:solidFill>
              <a:latin typeface="Arial" panose="020B0604020202020204" pitchFamily="34" charset="0"/>
              <a:ea typeface="楷体_GB2312" pitchFamily="49" charset="-122"/>
              <a:cs typeface="Arial" panose="020B0604020202020204" pitchFamily="34" charset="0"/>
            </a:endParaRPr>
          </a:p>
          <a:p>
            <a:r>
              <a:rPr lang="zh-CN" altLang="en-US" sz="2400" b="1" dirty="0">
                <a:latin typeface="Arial" panose="020B0604020202020204" pitchFamily="34" charset="0"/>
                <a:ea typeface="楷体_GB2312" pitchFamily="49" charset="-122"/>
                <a:cs typeface="Arial" panose="020B0604020202020204" pitchFamily="34" charset="0"/>
              </a:rPr>
              <a:t>Freud algorithm</a:t>
            </a:r>
            <a:endParaRPr lang="zh-CN" altLang="en-US" sz="4400" b="1" dirty="0">
              <a:latin typeface="Arial" panose="020B0604020202020204" pitchFamily="34" charset="0"/>
              <a:ea typeface="楷体_GB2312" pitchFamily="49" charset="-122"/>
              <a:cs typeface="Arial" panose="020B0604020202020204" pitchFamily="34" charset="0"/>
            </a:endParaRPr>
          </a:p>
          <a:p>
            <a:endParaRPr lang="zh-CN" altLang="en-US" sz="4400" b="1" dirty="0">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7395"/>
                                        </p:tgtEl>
                                        <p:attrNameLst>
                                          <p:attrName>style.visibility</p:attrName>
                                        </p:attrNameLst>
                                      </p:cBhvr>
                                      <p:to>
                                        <p:strVal val="visible"/>
                                      </p:to>
                                    </p:set>
                                    <p:animEffect transition="in" filter="checkerboard(across)">
                                      <p:cBhvr>
                                        <p:cTn id="7" dur="500"/>
                                        <p:tgtEl>
                                          <p:spTgt spid="18739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7396"/>
                                        </p:tgtEl>
                                        <p:attrNameLst>
                                          <p:attrName>style.visibility</p:attrName>
                                        </p:attrNameLst>
                                      </p:cBhvr>
                                      <p:to>
                                        <p:strVal val="visible"/>
                                      </p:to>
                                    </p:set>
                                    <p:animEffect transition="in" filter="checkerboard(across)">
                                      <p:cBhvr>
                                        <p:cTn id="12" dur="500"/>
                                        <p:tgtEl>
                                          <p:spTgt spid="187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ldLvl="0" animBg="1"/>
      <p:bldP spid="187396" grpId="0" bldLvl="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35560" y="763905"/>
            <a:ext cx="897128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b="1">
                <a:solidFill>
                  <a:srgbClr val="0000FF"/>
                </a:solidFill>
                <a:latin typeface="Arial" panose="020B0604020202020204" pitchFamily="34" charset="0"/>
                <a:ea typeface="楷体_GB2312" pitchFamily="49" charset="-122"/>
                <a:cs typeface="Arial" panose="020B0604020202020204" pitchFamily="34" charset="0"/>
                <a:sym typeface="+mn-ea"/>
              </a:rPr>
              <a:t>The basic idea of the Freud algorithm is:</a:t>
            </a:r>
            <a:endParaRPr lang="zh-CN" altLang="en-US" sz="3600" b="1">
              <a:solidFill>
                <a:srgbClr val="0000FF"/>
              </a:solidFill>
              <a:latin typeface="Arial" panose="020B0604020202020204" pitchFamily="34" charset="0"/>
              <a:ea typeface="楷体_GB2312" pitchFamily="49" charset="-122"/>
              <a:cs typeface="Arial" panose="020B0604020202020204" pitchFamily="34" charset="0"/>
              <a:sym typeface="+mn-ea"/>
            </a:endParaRPr>
          </a:p>
        </p:txBody>
      </p:sp>
      <p:sp>
        <p:nvSpPr>
          <p:cNvPr id="188419" name="Text Box 3"/>
          <p:cNvSpPr txBox="1">
            <a:spLocks noChangeArrowheads="1"/>
          </p:cNvSpPr>
          <p:nvPr/>
        </p:nvSpPr>
        <p:spPr bwMode="auto">
          <a:xfrm>
            <a:off x="457200" y="1600200"/>
            <a:ext cx="4906888" cy="201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zh-CN" altLang="en-US" sz="3200" b="1" dirty="0">
                <a:latin typeface="Arial" panose="020B0604020202020204" pitchFamily="34" charset="0"/>
                <a:ea typeface="楷体_GB2312" pitchFamily="49" charset="-122"/>
                <a:cs typeface="Arial" panose="020B0604020202020204" pitchFamily="34" charset="0"/>
                <a:sym typeface="+mn-ea"/>
              </a:rPr>
              <a:t>Select the shortest path among all possible paths from v</a:t>
            </a:r>
            <a:r>
              <a:rPr lang="zh-CN" altLang="en-US" sz="3200" b="1" baseline="-25000" dirty="0">
                <a:latin typeface="Arial" panose="020B0604020202020204" pitchFamily="34" charset="0"/>
                <a:ea typeface="楷体_GB2312" pitchFamily="49" charset="-122"/>
                <a:cs typeface="Arial" panose="020B0604020202020204" pitchFamily="34" charset="0"/>
                <a:sym typeface="+mn-ea"/>
              </a:rPr>
              <a:t>i</a:t>
            </a:r>
            <a:r>
              <a:rPr lang="zh-CN" altLang="en-US" sz="3200" b="1" dirty="0">
                <a:latin typeface="Arial" panose="020B0604020202020204" pitchFamily="34" charset="0"/>
                <a:ea typeface="楷体_GB2312" pitchFamily="49" charset="-122"/>
                <a:cs typeface="Arial" panose="020B0604020202020204" pitchFamily="34" charset="0"/>
                <a:sym typeface="+mn-ea"/>
              </a:rPr>
              <a:t> to v</a:t>
            </a:r>
            <a:r>
              <a:rPr lang="zh-CN" altLang="en-US" sz="3200" b="1" baseline="-25000" dirty="0">
                <a:latin typeface="Arial" panose="020B0604020202020204" pitchFamily="34" charset="0"/>
                <a:ea typeface="楷体_GB2312" pitchFamily="49" charset="-122"/>
                <a:cs typeface="Arial" panose="020B0604020202020204" pitchFamily="34" charset="0"/>
                <a:sym typeface="+mn-ea"/>
              </a:rPr>
              <a:t>j</a:t>
            </a:r>
            <a:r>
              <a:rPr lang="zh-CN" altLang="en-US" sz="3200" b="1" dirty="0">
                <a:latin typeface="Arial" panose="020B0604020202020204" pitchFamily="34" charset="0"/>
                <a:ea typeface="楷体_GB2312" pitchFamily="49" charset="-122"/>
                <a:cs typeface="Arial" panose="020B0604020202020204" pitchFamily="34" charset="0"/>
                <a:sym typeface="+mn-ea"/>
              </a:rPr>
              <a:t>.</a:t>
            </a:r>
            <a:endParaRPr lang="zh-CN" altLang="en-US" sz="3200" b="1" dirty="0">
              <a:latin typeface="Arial" panose="020B0604020202020204" pitchFamily="34" charset="0"/>
              <a:ea typeface="楷体_GB2312" pitchFamily="49" charset="-122"/>
              <a:cs typeface="Arial" panose="020B0604020202020204" pitchFamily="34" charset="0"/>
              <a:sym typeface="+mn-ea"/>
            </a:endParaRPr>
          </a:p>
        </p:txBody>
      </p:sp>
      <p:grpSp>
        <p:nvGrpSpPr>
          <p:cNvPr id="188420" name="Group 4"/>
          <p:cNvGrpSpPr/>
          <p:nvPr/>
        </p:nvGrpSpPr>
        <p:grpSpPr bwMode="auto">
          <a:xfrm>
            <a:off x="5791398" y="2132856"/>
            <a:ext cx="2813050" cy="2971800"/>
            <a:chOff x="576" y="1776"/>
            <a:chExt cx="1772" cy="1872"/>
          </a:xfrm>
        </p:grpSpPr>
        <p:sp>
          <p:nvSpPr>
            <p:cNvPr id="188421" name="Oval 5"/>
            <p:cNvSpPr>
              <a:spLocks noChangeArrowheads="1"/>
            </p:cNvSpPr>
            <p:nvPr/>
          </p:nvSpPr>
          <p:spPr bwMode="auto">
            <a:xfrm>
              <a:off x="1248" y="1776"/>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5</a:t>
              </a:r>
              <a:endParaRPr lang="en-US" altLang="zh-CN" sz="1800" b="1"/>
            </a:p>
          </p:txBody>
        </p:sp>
        <p:sp>
          <p:nvSpPr>
            <p:cNvPr id="188422" name="Oval 6"/>
            <p:cNvSpPr>
              <a:spLocks noChangeArrowheads="1"/>
            </p:cNvSpPr>
            <p:nvPr/>
          </p:nvSpPr>
          <p:spPr bwMode="auto">
            <a:xfrm>
              <a:off x="576"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dirty="0">
                  <a:solidFill>
                    <a:srgbClr val="000099"/>
                  </a:solidFill>
                </a:rPr>
                <a:t>V</a:t>
              </a:r>
              <a:r>
                <a:rPr lang="en-US" altLang="zh-CN" b="1" baseline="-25000" dirty="0">
                  <a:solidFill>
                    <a:srgbClr val="000099"/>
                  </a:solidFill>
                </a:rPr>
                <a:t>0</a:t>
              </a:r>
              <a:endParaRPr lang="en-US" altLang="zh-CN" sz="1800" b="1" dirty="0"/>
            </a:p>
          </p:txBody>
        </p:sp>
        <p:sp>
          <p:nvSpPr>
            <p:cNvPr id="188423" name="Oval 7"/>
            <p:cNvSpPr>
              <a:spLocks noChangeArrowheads="1"/>
            </p:cNvSpPr>
            <p:nvPr/>
          </p:nvSpPr>
          <p:spPr bwMode="auto">
            <a:xfrm>
              <a:off x="576" y="288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1</a:t>
              </a:r>
              <a:endParaRPr lang="en-US" altLang="zh-CN" sz="1800" b="1"/>
            </a:p>
          </p:txBody>
        </p:sp>
        <p:sp>
          <p:nvSpPr>
            <p:cNvPr id="188424" name="Oval 8"/>
            <p:cNvSpPr>
              <a:spLocks noChangeArrowheads="1"/>
            </p:cNvSpPr>
            <p:nvPr/>
          </p:nvSpPr>
          <p:spPr bwMode="auto">
            <a:xfrm>
              <a:off x="1200" y="33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2</a:t>
              </a:r>
              <a:endParaRPr lang="en-US" altLang="zh-CN" sz="1800" b="1"/>
            </a:p>
          </p:txBody>
        </p:sp>
        <p:sp>
          <p:nvSpPr>
            <p:cNvPr id="188425" name="Oval 9"/>
            <p:cNvSpPr>
              <a:spLocks noChangeArrowheads="1"/>
            </p:cNvSpPr>
            <p:nvPr/>
          </p:nvSpPr>
          <p:spPr bwMode="auto">
            <a:xfrm>
              <a:off x="1872" y="2928"/>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3</a:t>
              </a:r>
              <a:endParaRPr lang="en-US" altLang="zh-CN" sz="1800" b="1"/>
            </a:p>
          </p:txBody>
        </p:sp>
        <p:sp>
          <p:nvSpPr>
            <p:cNvPr id="188426" name="Oval 10"/>
            <p:cNvSpPr>
              <a:spLocks noChangeArrowheads="1"/>
            </p:cNvSpPr>
            <p:nvPr/>
          </p:nvSpPr>
          <p:spPr bwMode="auto">
            <a:xfrm>
              <a:off x="1920" y="2160"/>
              <a:ext cx="288" cy="288"/>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V</a:t>
              </a:r>
              <a:r>
                <a:rPr lang="en-US" altLang="zh-CN" b="1" baseline="-25000">
                  <a:solidFill>
                    <a:srgbClr val="000099"/>
                  </a:solidFill>
                </a:rPr>
                <a:t>4</a:t>
              </a:r>
              <a:endParaRPr lang="en-US" altLang="zh-CN" sz="1800" b="1"/>
            </a:p>
          </p:txBody>
        </p:sp>
        <p:sp>
          <p:nvSpPr>
            <p:cNvPr id="188427" name="Line 11"/>
            <p:cNvSpPr>
              <a:spLocks noChangeShapeType="1"/>
            </p:cNvSpPr>
            <p:nvPr/>
          </p:nvSpPr>
          <p:spPr bwMode="auto">
            <a:xfrm flipV="1">
              <a:off x="816" y="19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28" name="Line 12"/>
            <p:cNvSpPr>
              <a:spLocks noChangeShapeType="1"/>
            </p:cNvSpPr>
            <p:nvPr/>
          </p:nvSpPr>
          <p:spPr bwMode="auto">
            <a:xfrm>
              <a:off x="864" y="2304"/>
              <a:ext cx="1056"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29" name="Line 13"/>
            <p:cNvSpPr>
              <a:spLocks noChangeShapeType="1"/>
            </p:cNvSpPr>
            <p:nvPr/>
          </p:nvSpPr>
          <p:spPr bwMode="auto">
            <a:xfrm>
              <a:off x="816" y="2400"/>
              <a:ext cx="480" cy="96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0" name="Line 14"/>
            <p:cNvSpPr>
              <a:spLocks noChangeShapeType="1"/>
            </p:cNvSpPr>
            <p:nvPr/>
          </p:nvSpPr>
          <p:spPr bwMode="auto">
            <a:xfrm>
              <a:off x="816" y="3120"/>
              <a:ext cx="384" cy="288"/>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1" name="Line 15"/>
            <p:cNvSpPr>
              <a:spLocks noChangeShapeType="1"/>
            </p:cNvSpPr>
            <p:nvPr/>
          </p:nvSpPr>
          <p:spPr bwMode="auto">
            <a:xfrm flipV="1">
              <a:off x="1488" y="3168"/>
              <a:ext cx="432"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2" name="Line 16"/>
            <p:cNvSpPr>
              <a:spLocks noChangeShapeType="1"/>
            </p:cNvSpPr>
            <p:nvPr/>
          </p:nvSpPr>
          <p:spPr bwMode="auto">
            <a:xfrm>
              <a:off x="2064" y="2448"/>
              <a:ext cx="0" cy="48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3" name="Line 17"/>
            <p:cNvSpPr>
              <a:spLocks noChangeShapeType="1"/>
            </p:cNvSpPr>
            <p:nvPr/>
          </p:nvSpPr>
          <p:spPr bwMode="auto">
            <a:xfrm flipH="1" flipV="1">
              <a:off x="1536" y="1968"/>
              <a:ext cx="384" cy="24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4" name="Line 18"/>
            <p:cNvSpPr>
              <a:spLocks noChangeShapeType="1"/>
            </p:cNvSpPr>
            <p:nvPr/>
          </p:nvSpPr>
          <p:spPr bwMode="auto">
            <a:xfrm flipH="1" flipV="1">
              <a:off x="1440" y="2064"/>
              <a:ext cx="432" cy="912"/>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8435" name="Rectangle 19"/>
            <p:cNvSpPr>
              <a:spLocks noChangeArrowheads="1"/>
            </p:cNvSpPr>
            <p:nvPr/>
          </p:nvSpPr>
          <p:spPr bwMode="auto">
            <a:xfrm>
              <a:off x="864" y="321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a:t>
              </a:r>
              <a:endParaRPr lang="en-US" altLang="zh-CN" b="1"/>
            </a:p>
          </p:txBody>
        </p:sp>
        <p:sp>
          <p:nvSpPr>
            <p:cNvPr id="188436" name="Rectangle 20"/>
            <p:cNvSpPr>
              <a:spLocks noChangeArrowheads="1"/>
            </p:cNvSpPr>
            <p:nvPr/>
          </p:nvSpPr>
          <p:spPr bwMode="auto">
            <a:xfrm>
              <a:off x="984" y="264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8437" name="Rectangle 21"/>
            <p:cNvSpPr>
              <a:spLocks noChangeArrowheads="1"/>
            </p:cNvSpPr>
            <p:nvPr/>
          </p:nvSpPr>
          <p:spPr bwMode="auto">
            <a:xfrm>
              <a:off x="1440" y="2496"/>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a:t>
              </a:r>
              <a:endParaRPr lang="en-US" altLang="zh-CN" b="1"/>
            </a:p>
          </p:txBody>
        </p:sp>
        <p:sp>
          <p:nvSpPr>
            <p:cNvPr id="188438" name="Rectangle 22"/>
            <p:cNvSpPr>
              <a:spLocks noChangeArrowheads="1"/>
            </p:cNvSpPr>
            <p:nvPr/>
          </p:nvSpPr>
          <p:spPr bwMode="auto">
            <a:xfrm>
              <a:off x="2040" y="254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20</a:t>
              </a:r>
              <a:endParaRPr lang="en-US" altLang="zh-CN" b="1"/>
            </a:p>
          </p:txBody>
        </p:sp>
        <p:sp>
          <p:nvSpPr>
            <p:cNvPr id="188439" name="Rectangle 23"/>
            <p:cNvSpPr>
              <a:spLocks noChangeArrowheads="1"/>
            </p:cNvSpPr>
            <p:nvPr/>
          </p:nvSpPr>
          <p:spPr bwMode="auto">
            <a:xfrm>
              <a:off x="1104" y="2064"/>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30</a:t>
              </a:r>
              <a:endParaRPr lang="en-US" altLang="zh-CN" b="1"/>
            </a:p>
          </p:txBody>
        </p:sp>
        <p:sp>
          <p:nvSpPr>
            <p:cNvPr id="188440" name="Rectangle 24"/>
            <p:cNvSpPr>
              <a:spLocks noChangeArrowheads="1"/>
            </p:cNvSpPr>
            <p:nvPr/>
          </p:nvSpPr>
          <p:spPr bwMode="auto">
            <a:xfrm>
              <a:off x="1468" y="3072"/>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50</a:t>
              </a:r>
              <a:endParaRPr lang="en-US" altLang="zh-CN" b="1"/>
            </a:p>
          </p:txBody>
        </p:sp>
        <p:sp>
          <p:nvSpPr>
            <p:cNvPr id="188441" name="Rectangle 25"/>
            <p:cNvSpPr>
              <a:spLocks noChangeArrowheads="1"/>
            </p:cNvSpPr>
            <p:nvPr/>
          </p:nvSpPr>
          <p:spPr bwMode="auto">
            <a:xfrm>
              <a:off x="1716" y="1908"/>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60</a:t>
              </a:r>
              <a:endParaRPr lang="en-US" altLang="zh-CN" b="1"/>
            </a:p>
          </p:txBody>
        </p:sp>
        <p:sp>
          <p:nvSpPr>
            <p:cNvPr id="188442" name="Rectangle 26"/>
            <p:cNvSpPr>
              <a:spLocks noChangeArrowheads="1"/>
            </p:cNvSpPr>
            <p:nvPr/>
          </p:nvSpPr>
          <p:spPr bwMode="auto">
            <a:xfrm>
              <a:off x="768" y="183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100</a:t>
              </a:r>
              <a:endParaRPr lang="en-US" altLang="zh-CN" b="1"/>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8418"/>
                                        </p:tgtEl>
                                        <p:attrNameLst>
                                          <p:attrName>style.visibility</p:attrName>
                                        </p:attrNameLst>
                                      </p:cBhvr>
                                      <p:to>
                                        <p:strVal val="visible"/>
                                      </p:to>
                                    </p:set>
                                    <p:anim calcmode="lin" valueType="num">
                                      <p:cBhvr additive="base">
                                        <p:cTn id="7" dur="500" fill="hold"/>
                                        <p:tgtEl>
                                          <p:spTgt spid="188418"/>
                                        </p:tgtEl>
                                        <p:attrNameLst>
                                          <p:attrName>ppt_x</p:attrName>
                                        </p:attrNameLst>
                                      </p:cBhvr>
                                      <p:tavLst>
                                        <p:tav tm="0">
                                          <p:val>
                                            <p:strVal val="0-#ppt_w/2"/>
                                          </p:val>
                                        </p:tav>
                                        <p:tav tm="100000">
                                          <p:val>
                                            <p:strVal val="#ppt_x"/>
                                          </p:val>
                                        </p:tav>
                                      </p:tavLst>
                                    </p:anim>
                                    <p:anim calcmode="lin" valueType="num">
                                      <p:cBhvr additive="base">
                                        <p:cTn id="8" dur="500" fill="hold"/>
                                        <p:tgtEl>
                                          <p:spTgt spid="1884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88419"/>
                                        </p:tgtEl>
                                        <p:attrNameLst>
                                          <p:attrName>style.visibility</p:attrName>
                                        </p:attrNameLst>
                                      </p:cBhvr>
                                      <p:to>
                                        <p:strVal val="visible"/>
                                      </p:to>
                                    </p:set>
                                    <p:animEffect transition="in" filter="blinds(vertical)">
                                      <p:cBhvr>
                                        <p:cTn id="13" dur="500"/>
                                        <p:tgtEl>
                                          <p:spTgt spid="188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bldLvl="0" animBg="1" autoUpdateAnimBg="0"/>
      <p:bldP spid="188419" grpId="0" bldLvl="0" animBg="1"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p:cNvSpPr txBox="1">
            <a:spLocks noChangeArrowheads="1"/>
          </p:cNvSpPr>
          <p:nvPr/>
        </p:nvSpPr>
        <p:spPr bwMode="auto">
          <a:xfrm>
            <a:off x="533400" y="304800"/>
            <a:ext cx="8305800" cy="444754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5400">
                <a:solidFill>
                  <a:srgbClr val="003366"/>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a:latin typeface="Arial" panose="020B0604020202020204" pitchFamily="34" charset="0"/>
                <a:ea typeface="楷体_GB2312" pitchFamily="49" charset="-122"/>
                <a:cs typeface="Arial" panose="020B0604020202020204" pitchFamily="34" charset="0"/>
              </a:rPr>
              <a:t>If </a:t>
            </a:r>
            <a:r>
              <a:rPr lang="en-US" altLang="zh-CN" b="1">
                <a:latin typeface="Arial" panose="020B0604020202020204" pitchFamily="34" charset="0"/>
                <a:ea typeface="楷体_GB2312" pitchFamily="49" charset="-122"/>
                <a:cs typeface="Arial" panose="020B0604020202020204" pitchFamily="34" charset="0"/>
                <a:sym typeface="+mn-ea"/>
              </a:rPr>
              <a:t>&lt;v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&gt;</a:t>
            </a:r>
            <a:r>
              <a:rPr lang="zh-CN" altLang="en-US" b="1">
                <a:latin typeface="Arial" panose="020B0604020202020204" pitchFamily="34" charset="0"/>
                <a:ea typeface="楷体_GB2312" pitchFamily="49" charset="-122"/>
                <a:cs typeface="Arial" panose="020B0604020202020204" pitchFamily="34" charset="0"/>
              </a:rPr>
              <a:t> exists, then the path </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a:t>
            </a:r>
            <a:r>
              <a:rPr lang="zh-CN" altLang="en-US" b="1">
                <a:latin typeface="Arial" panose="020B0604020202020204" pitchFamily="34" charset="0"/>
                <a:ea typeface="楷体_GB2312" pitchFamily="49" charset="-122"/>
                <a:cs typeface="Arial" panose="020B0604020202020204" pitchFamily="34" charset="0"/>
              </a:rPr>
              <a:t> exists</a:t>
            </a:r>
            <a:endParaRPr lang="en-US" altLang="zh-CN" sz="4800" b="1">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2400" b="1">
                <a:solidFill>
                  <a:srgbClr val="003300"/>
                </a:solidFill>
                <a:latin typeface="Arial" panose="020B0604020202020204" pitchFamily="34" charset="0"/>
                <a:ea typeface="楷体_GB2312" pitchFamily="49" charset="-122"/>
                <a:cs typeface="Arial" panose="020B0604020202020204" pitchFamily="34" charset="0"/>
              </a:rPr>
              <a:t>The path does not contain other vertices</a:t>
            </a:r>
            <a:endParaRPr lang="zh-CN" altLang="en-US" sz="4400" b="1">
              <a:solidFill>
                <a:srgbClr val="003300"/>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b="1">
                <a:latin typeface="Arial" panose="020B0604020202020204" pitchFamily="34" charset="0"/>
                <a:ea typeface="楷体_GB2312" pitchFamily="49" charset="-122"/>
                <a:cs typeface="Arial" panose="020B0604020202020204" pitchFamily="34" charset="0"/>
              </a:rPr>
              <a:t>If </a:t>
            </a:r>
            <a:r>
              <a:rPr lang="en-US" altLang="zh-CN" b="1">
                <a:latin typeface="Arial" panose="020B0604020202020204" pitchFamily="34" charset="0"/>
                <a:ea typeface="楷体_GB2312" pitchFamily="49" charset="-122"/>
                <a:cs typeface="Arial" panose="020B0604020202020204" pitchFamily="34" charset="0"/>
                <a:sym typeface="+mn-ea"/>
              </a:rPr>
              <a:t>&lt;v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1</a:t>
            </a:r>
            <a:r>
              <a:rPr lang="en-US" altLang="zh-CN" b="1">
                <a:latin typeface="Arial" panose="020B0604020202020204" pitchFamily="34" charset="0"/>
                <a:ea typeface="楷体_GB2312" pitchFamily="49" charset="-122"/>
                <a:cs typeface="Arial" panose="020B0604020202020204" pitchFamily="34" charset="0"/>
                <a:sym typeface="+mn-ea"/>
              </a:rPr>
              <a:t>&gt;</a:t>
            </a:r>
            <a:r>
              <a:rPr lang="zh-CN" altLang="en-US" b="1">
                <a:latin typeface="Arial" panose="020B0604020202020204" pitchFamily="34" charset="0"/>
                <a:ea typeface="楷体_GB2312" pitchFamily="49" charset="-122"/>
                <a:cs typeface="Arial" panose="020B0604020202020204" pitchFamily="34" charset="0"/>
              </a:rPr>
              <a:t> and</a:t>
            </a:r>
            <a:r>
              <a:rPr lang="en-US" altLang="zh-CN" b="1">
                <a:latin typeface="Arial" panose="020B0604020202020204" pitchFamily="34" charset="0"/>
                <a:ea typeface="楷体_GB2312" pitchFamily="49" charset="-122"/>
                <a:cs typeface="Arial" panose="020B0604020202020204" pitchFamily="34" charset="0"/>
              </a:rPr>
              <a:t> </a:t>
            </a:r>
            <a:r>
              <a:rPr lang="en-US" altLang="zh-CN" b="1">
                <a:latin typeface="Arial" panose="020B0604020202020204" pitchFamily="34" charset="0"/>
                <a:ea typeface="楷体_GB2312" pitchFamily="49" charset="-122"/>
                <a:cs typeface="Arial" panose="020B0604020202020204" pitchFamily="34" charset="0"/>
                <a:sym typeface="+mn-ea"/>
              </a:rPr>
              <a:t>&lt;v</a:t>
            </a:r>
            <a:r>
              <a:rPr lang="en-US" altLang="zh-CN" b="1" baseline="-25000">
                <a:latin typeface="Arial" panose="020B0604020202020204" pitchFamily="34" charset="0"/>
                <a:ea typeface="楷体_GB2312" pitchFamily="49" charset="-122"/>
                <a:cs typeface="Arial" panose="020B0604020202020204" pitchFamily="34" charset="0"/>
                <a:sym typeface="+mn-ea"/>
              </a:rPr>
              <a:t>1</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&gt;</a:t>
            </a:r>
            <a:r>
              <a:rPr lang="zh-CN" altLang="en-US" b="1">
                <a:latin typeface="Arial" panose="020B0604020202020204" pitchFamily="34" charset="0"/>
                <a:ea typeface="楷体_GB2312" pitchFamily="49" charset="-122"/>
                <a:cs typeface="Arial" panose="020B0604020202020204" pitchFamily="34" charset="0"/>
              </a:rPr>
              <a:t> exist, then the path </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1</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a:t>
            </a:r>
            <a:r>
              <a:rPr lang="zh-CN" altLang="en-US" b="1">
                <a:latin typeface="Arial" panose="020B0604020202020204" pitchFamily="34" charset="0"/>
                <a:ea typeface="楷体_GB2312" pitchFamily="49" charset="-122"/>
                <a:cs typeface="Arial" panose="020B0604020202020204" pitchFamily="34" charset="0"/>
              </a:rPr>
              <a:t> exists.</a:t>
            </a:r>
            <a:endParaRPr lang="en-US" altLang="zh-CN" sz="4800" b="1">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2400" b="1">
                <a:solidFill>
                  <a:srgbClr val="003300"/>
                </a:solidFill>
                <a:latin typeface="Arial" panose="020B0604020202020204" pitchFamily="34" charset="0"/>
                <a:ea typeface="楷体_GB2312" pitchFamily="49" charset="-122"/>
                <a:cs typeface="Arial" panose="020B0604020202020204" pitchFamily="34" charset="0"/>
              </a:rPr>
              <a:t>// The vertex numbers in the path are no more than 1</a:t>
            </a:r>
            <a:endParaRPr lang="en-US" altLang="zh-CN" sz="4400" b="1">
              <a:solidFill>
                <a:srgbClr val="003300"/>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b="1">
                <a:latin typeface="Arial" panose="020B0604020202020204" pitchFamily="34" charset="0"/>
                <a:ea typeface="楷体_GB2312" pitchFamily="49" charset="-122"/>
                <a:cs typeface="Arial" panose="020B0604020202020204" pitchFamily="34" charset="0"/>
              </a:rPr>
              <a:t>If </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2</a:t>
            </a:r>
            <a:r>
              <a:rPr lang="en-US" altLang="zh-CN" b="1">
                <a:latin typeface="Arial" panose="020B0604020202020204" pitchFamily="34" charset="0"/>
                <a:ea typeface="楷体_GB2312" pitchFamily="49" charset="-122"/>
                <a:cs typeface="Arial" panose="020B0604020202020204" pitchFamily="34" charset="0"/>
                <a:sym typeface="+mn-ea"/>
              </a:rPr>
              <a:t>}</a:t>
            </a:r>
            <a:r>
              <a:rPr lang="zh-CN" altLang="en-US" b="1">
                <a:latin typeface="Arial" panose="020B0604020202020204" pitchFamily="34" charset="0"/>
                <a:ea typeface="楷体_GB2312" pitchFamily="49" charset="-122"/>
                <a:cs typeface="Arial" panose="020B0604020202020204" pitchFamily="34" charset="0"/>
              </a:rPr>
              <a:t> and </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2</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a:t>
            </a:r>
            <a:r>
              <a:rPr lang="zh-CN" altLang="en-US" b="1">
                <a:latin typeface="Arial" panose="020B0604020202020204" pitchFamily="34" charset="0"/>
                <a:ea typeface="楷体_GB2312" pitchFamily="49" charset="-122"/>
                <a:cs typeface="Arial" panose="020B0604020202020204" pitchFamily="34" charset="0"/>
              </a:rPr>
              <a:t> exist,</a:t>
            </a:r>
            <a:endParaRPr lang="zh-CN" altLang="en-US" sz="4800" b="1">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b="1">
                <a:latin typeface="Arial" panose="020B0604020202020204" pitchFamily="34" charset="0"/>
                <a:ea typeface="楷体_GB2312" pitchFamily="49" charset="-122"/>
                <a:cs typeface="Arial" panose="020B0604020202020204" pitchFamily="34" charset="0"/>
              </a:rPr>
              <a:t>then there exists a path </a:t>
            </a:r>
            <a:r>
              <a:rPr lang="en-US" altLang="zh-CN" b="1">
                <a:latin typeface="Arial" panose="020B0604020202020204" pitchFamily="34" charset="0"/>
                <a:ea typeface="楷体_GB2312" pitchFamily="49" charset="-122"/>
                <a:cs typeface="Arial" panose="020B0604020202020204" pitchFamily="34" charset="0"/>
                <a:sym typeface="+mn-ea"/>
              </a:rPr>
              <a:t>{v</a:t>
            </a:r>
            <a:r>
              <a:rPr lang="en-US" altLang="zh-CN" b="1" baseline="-25000">
                <a:latin typeface="Arial" panose="020B0604020202020204" pitchFamily="34" charset="0"/>
                <a:ea typeface="楷体_GB2312" pitchFamily="49" charset="-122"/>
                <a:cs typeface="Arial" panose="020B0604020202020204" pitchFamily="34" charset="0"/>
                <a:sym typeface="+mn-ea"/>
              </a:rPr>
              <a:t>i</a:t>
            </a:r>
            <a:r>
              <a:rPr lang="en-US" altLang="zh-CN" b="1">
                <a:latin typeface="Arial" panose="020B0604020202020204" pitchFamily="34" charset="0"/>
                <a:ea typeface="楷体_GB2312" pitchFamily="49" charset="-122"/>
                <a:cs typeface="Arial" panose="020B0604020202020204" pitchFamily="34" charset="0"/>
                <a:sym typeface="+mn-ea"/>
              </a:rPr>
              <a:t>, …, v</a:t>
            </a:r>
            <a:r>
              <a:rPr lang="en-US" altLang="zh-CN" b="1" baseline="-25000">
                <a:latin typeface="Arial" panose="020B0604020202020204" pitchFamily="34" charset="0"/>
                <a:ea typeface="楷体_GB2312" pitchFamily="49" charset="-122"/>
                <a:cs typeface="Arial" panose="020B0604020202020204" pitchFamily="34" charset="0"/>
                <a:sym typeface="+mn-ea"/>
              </a:rPr>
              <a:t>2</a:t>
            </a:r>
            <a:r>
              <a:rPr lang="en-US" altLang="zh-CN" b="1">
                <a:latin typeface="Arial" panose="020B0604020202020204" pitchFamily="34" charset="0"/>
                <a:ea typeface="楷体_GB2312" pitchFamily="49" charset="-122"/>
                <a:cs typeface="Arial" panose="020B0604020202020204" pitchFamily="34" charset="0"/>
                <a:sym typeface="+mn-ea"/>
              </a:rPr>
              <a:t>, …v</a:t>
            </a:r>
            <a:r>
              <a:rPr lang="en-US" altLang="zh-CN" b="1" baseline="-25000">
                <a:latin typeface="Arial" panose="020B0604020202020204" pitchFamily="34" charset="0"/>
                <a:ea typeface="楷体_GB2312" pitchFamily="49" charset="-122"/>
                <a:cs typeface="Arial" panose="020B0604020202020204" pitchFamily="34" charset="0"/>
                <a:sym typeface="+mn-ea"/>
              </a:rPr>
              <a:t>j</a:t>
            </a:r>
            <a:r>
              <a:rPr lang="en-US" altLang="zh-CN" b="1">
                <a:latin typeface="Arial" panose="020B0604020202020204" pitchFamily="34" charset="0"/>
                <a:ea typeface="楷体_GB2312" pitchFamily="49" charset="-122"/>
                <a:cs typeface="Arial" panose="020B0604020202020204" pitchFamily="34" charset="0"/>
                <a:sym typeface="+mn-ea"/>
              </a:rPr>
              <a:t>}</a:t>
            </a:r>
            <a:endParaRPr lang="en-US" altLang="zh-CN" sz="4800" b="1">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2400" b="1">
                <a:solidFill>
                  <a:srgbClr val="003300"/>
                </a:solidFill>
                <a:latin typeface="Arial" panose="020B0604020202020204" pitchFamily="34" charset="0"/>
                <a:ea typeface="楷体_GB2312" pitchFamily="49" charset="-122"/>
                <a:cs typeface="Arial" panose="020B0604020202020204" pitchFamily="34" charset="0"/>
              </a:rPr>
              <a:t>// The vertex numbers in the path do not exceed 2</a:t>
            </a:r>
            <a:endParaRPr lang="en-US" altLang="zh-CN" sz="4400" b="1">
              <a:solidFill>
                <a:srgbClr val="003300"/>
              </a:solidFill>
              <a:latin typeface="Arial" panose="020B0604020202020204" pitchFamily="34" charset="0"/>
              <a:ea typeface="楷体_GB2312" pitchFamily="49" charset="-122"/>
              <a:cs typeface="Arial" panose="020B0604020202020204" pitchFamily="34" charset="0"/>
            </a:endParaRPr>
          </a:p>
          <a:p>
            <a:pPr>
              <a:lnSpc>
                <a:spcPct val="90000"/>
              </a:lnSpc>
            </a:pPr>
            <a:r>
              <a:rPr lang="en-US" altLang="zh-CN" sz="3200" b="1">
                <a:latin typeface="Arial" panose="020B0604020202020204" pitchFamily="34" charset="0"/>
                <a:ea typeface="楷体_GB2312" pitchFamily="49" charset="-122"/>
                <a:cs typeface="Arial" panose="020B0604020202020204" pitchFamily="34" charset="0"/>
              </a:rPr>
              <a:t>…</a:t>
            </a:r>
            <a:endParaRPr lang="en-US" altLang="zh-CN" sz="3200" b="1">
              <a:latin typeface="Arial" panose="020B0604020202020204" pitchFamily="34" charset="0"/>
              <a:ea typeface="楷体_GB2312" pitchFamily="49" charset="-122"/>
              <a:cs typeface="Arial" panose="020B0604020202020204" pitchFamily="34" charset="0"/>
            </a:endParaRPr>
          </a:p>
        </p:txBody>
      </p:sp>
      <p:sp>
        <p:nvSpPr>
          <p:cNvPr id="189443" name="Text Box 3"/>
          <p:cNvSpPr txBox="1">
            <a:spLocks noChangeArrowheads="1"/>
          </p:cNvSpPr>
          <p:nvPr/>
        </p:nvSpPr>
        <p:spPr bwMode="auto">
          <a:xfrm>
            <a:off x="533400" y="5105400"/>
            <a:ext cx="83058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000" b="1">
                <a:solidFill>
                  <a:srgbClr val="000099"/>
                </a:solidFill>
                <a:latin typeface="Arial" panose="020B0604020202020204" pitchFamily="34" charset="0"/>
                <a:ea typeface="楷体_GB2312" pitchFamily="49" charset="-122"/>
                <a:cs typeface="Arial" panose="020B0604020202020204" pitchFamily="34" charset="0"/>
              </a:rPr>
              <a:t>By extension, the shortest path from vi to vj should be the one with the minimum length among all possible paths.</a:t>
            </a:r>
            <a:endParaRPr lang="zh-CN" altLang="en-US" sz="2000" b="1">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slide(fromTop)">
                                      <p:cBhvr>
                                        <p:cTn id="7" dur="500"/>
                                        <p:tgtEl>
                                          <p:spTgt spid="18944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89443"/>
                                        </p:tgtEl>
                                        <p:attrNameLst>
                                          <p:attrName>style.visibility</p:attrName>
                                        </p:attrNameLst>
                                      </p:cBhvr>
                                      <p:to>
                                        <p:strVal val="visible"/>
                                      </p:to>
                                    </p:set>
                                    <p:animEffect transition="in" filter="slide(fromTop)">
                                      <p:cBhvr>
                                        <p:cTn id="12" dur="500"/>
                                        <p:tgtEl>
                                          <p:spTgt spid="189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bldLvl="0" animBg="1" autoUpdateAnimBg="0"/>
      <p:bldP spid="189443" grpId="0" bldLvl="0" animBg="1"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storage representations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traversal</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connectivity and spanning tree</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The shortest path between two vertices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en-US" altLang="zh-CN" dirty="0">
                <a:solidFill>
                  <a:srgbClr val="FF0000"/>
                </a:solidFill>
                <a:latin typeface="Times New Roman" panose="02020603050405020304" pitchFamily="18" charset="0"/>
                <a:cs typeface="Times New Roman" panose="02020603050405020304" pitchFamily="18" charset="0"/>
              </a:rPr>
              <a:t>T</a:t>
            </a:r>
            <a:r>
              <a:rPr lang="zh-CN" altLang="en-US" dirty="0">
                <a:solidFill>
                  <a:srgbClr val="FF0000"/>
                </a:solidFill>
                <a:latin typeface="Times New Roman" panose="02020603050405020304" pitchFamily="18" charset="0"/>
                <a:cs typeface="Times New Roman" panose="02020603050405020304" pitchFamily="18" charset="0"/>
              </a:rPr>
              <a:t>opological sorting</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ts val="4200"/>
              </a:lnSpc>
            </a:pPr>
            <a:r>
              <a:rPr lang="en-US" altLang="zh-CN" dirty="0">
                <a:latin typeface="Times New Roman" panose="02020603050405020304" pitchFamily="18" charset="0"/>
                <a:cs typeface="Times New Roman" panose="02020603050405020304" pitchFamily="18" charset="0"/>
              </a:rPr>
              <a:t>C</a:t>
            </a:r>
            <a:r>
              <a:rPr lang="zh-CN" altLang="en-US" dirty="0">
                <a:latin typeface="Times New Roman" panose="02020603050405020304" pitchFamily="18" charset="0"/>
                <a:cs typeface="Times New Roman" panose="02020603050405020304" pitchFamily="18" charset="0"/>
              </a:rPr>
              <a:t>ritical path</a:t>
            </a:r>
            <a:r>
              <a:rPr lang="en-US" altLang="zh-CN" dirty="0">
                <a:latin typeface="Times New Roman" panose="02020603050405020304" pitchFamily="18" charset="0"/>
                <a:cs typeface="Times New Roman" panose="02020603050405020304" pitchFamily="18" charset="0"/>
              </a:rPr>
              <a:t>s</a:t>
            </a:r>
            <a:endParaRPr lang="en-US" altLang="zh-CN" dirty="0">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ChangeArrowheads="1"/>
          </p:cNvSpPr>
          <p:nvPr/>
        </p:nvSpPr>
        <p:spPr bwMode="auto">
          <a:xfrm>
            <a:off x="395288" y="1052513"/>
            <a:ext cx="8305800" cy="429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50000"/>
              </a:spcBef>
            </a:pPr>
            <a:r>
              <a:rPr lang="en-US" altLang="zh-CN" sz="2400" b="1" dirty="0">
                <a:latin typeface="Arial" panose="020B0604020202020204" pitchFamily="34" charset="0"/>
                <a:ea typeface="楷体_GB2312" pitchFamily="49" charset="-122"/>
                <a:cs typeface="Arial" panose="020B0604020202020204" pitchFamily="34" charset="0"/>
              </a:rPr>
              <a:t>1. What is topological sorting</a:t>
            </a:r>
            <a:endParaRPr lang="zh-CN" altLang="en-US" sz="4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Given a directed graph G=(V,E), where the vertices in V are ordered linearly as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i1</a:t>
            </a:r>
            <a:r>
              <a:rPr lang="en-US" altLang="zh-CN" sz="2400" b="1" dirty="0">
                <a:latin typeface="Arial" panose="020B0604020202020204" pitchFamily="34" charset="0"/>
                <a:ea typeface="楷体_GB2312" pitchFamily="49" charset="-122"/>
                <a:cs typeface="Arial" panose="020B0604020202020204" pitchFamily="34" charset="0"/>
                <a:sym typeface="+mn-ea"/>
              </a:rPr>
              <a:t>, 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i2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in</a:t>
            </a:r>
            <a:r>
              <a:rPr lang="en-US" altLang="zh-CN" sz="2400" b="1" dirty="0">
                <a:latin typeface="Arial" panose="020B0604020202020204" pitchFamily="34" charset="0"/>
                <a:ea typeface="楷体_GB2312" pitchFamily="49" charset="-122"/>
                <a:cs typeface="Arial" panose="020B0604020202020204" pitchFamily="34" charset="0"/>
                <a:sym typeface="+mn-ea"/>
              </a:rPr>
              <a:t>)</a:t>
            </a:r>
            <a:r>
              <a:rPr lang="zh-CN" altLang="en-US" sz="2400" b="1" dirty="0">
                <a:latin typeface="Arial" panose="020B0604020202020204" pitchFamily="34" charset="0"/>
                <a:ea typeface="楷体_GB2312" pitchFamily="49" charset="-122"/>
                <a:cs typeface="Arial" panose="020B0604020202020204" pitchFamily="34" charset="0"/>
              </a:rPr>
              <a:t>, the following conditions must be satisfied:</a:t>
            </a:r>
            <a:endParaRPr lang="zh-CN" altLang="en-US" sz="4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In a directed graph G, if a path exists from vertex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a:t>
            </a:r>
            <a:r>
              <a:rPr lang="zh-CN" altLang="en-US" sz="2400" b="1" dirty="0">
                <a:latin typeface="Arial" panose="020B0604020202020204" pitchFamily="34" charset="0"/>
                <a:ea typeface="楷体_GB2312" pitchFamily="49" charset="-122"/>
                <a:cs typeface="Arial" panose="020B0604020202020204" pitchFamily="34" charset="0"/>
              </a:rPr>
              <a:t> to vertex </a:t>
            </a:r>
            <a:r>
              <a:rPr lang="en-US" altLang="zh-CN" sz="2400" b="1" dirty="0" err="1">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err="1">
                <a:latin typeface="Arial" panose="020B0604020202020204" pitchFamily="34" charset="0"/>
                <a:ea typeface="楷体_GB2312" pitchFamily="49" charset="-122"/>
                <a:cs typeface="Arial" panose="020B0604020202020204" pitchFamily="34" charset="0"/>
                <a:sym typeface="+mn-ea"/>
              </a:rPr>
              <a:t>j</a:t>
            </a:r>
            <a:r>
              <a:rPr lang="zh-CN" altLang="en-US" sz="2400" b="1" dirty="0">
                <a:latin typeface="Arial" panose="020B0604020202020204" pitchFamily="34" charset="0"/>
                <a:ea typeface="楷体_GB2312" pitchFamily="49" charset="-122"/>
                <a:cs typeface="Arial" panose="020B0604020202020204" pitchFamily="34" charset="0"/>
              </a:rPr>
              <a:t>, then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a:t>
            </a:r>
            <a:r>
              <a:rPr lang="zh-CN" altLang="en-US" sz="2400" b="1" dirty="0">
                <a:latin typeface="Arial" panose="020B0604020202020204" pitchFamily="34" charset="0"/>
                <a:ea typeface="楷体_GB2312" pitchFamily="49" charset="-122"/>
                <a:cs typeface="Arial" panose="020B0604020202020204" pitchFamily="34" charset="0"/>
              </a:rPr>
              <a:t> must precede </a:t>
            </a:r>
            <a:r>
              <a:rPr lang="en-US" altLang="zh-CN" sz="2400" b="1" dirty="0" err="1">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err="1">
                <a:latin typeface="Arial" panose="020B0604020202020204" pitchFamily="34" charset="0"/>
                <a:ea typeface="楷体_GB2312" pitchFamily="49" charset="-122"/>
                <a:cs typeface="Arial" panose="020B0604020202020204" pitchFamily="34" charset="0"/>
                <a:sym typeface="+mn-ea"/>
              </a:rPr>
              <a:t>j</a:t>
            </a:r>
            <a:r>
              <a:rPr lang="zh-CN" altLang="en-US" sz="2400" b="1" dirty="0">
                <a:latin typeface="Arial" panose="020B0604020202020204" pitchFamily="34" charset="0"/>
                <a:ea typeface="楷体_GB2312" pitchFamily="49" charset="-122"/>
                <a:cs typeface="Arial" panose="020B0604020202020204" pitchFamily="34" charset="0"/>
              </a:rPr>
              <a:t> in the sequence. The linear sequence of vertices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i1</a:t>
            </a:r>
            <a:r>
              <a:rPr lang="en-US" altLang="zh-CN" sz="2400" b="1" dirty="0">
                <a:latin typeface="Arial" panose="020B0604020202020204" pitchFamily="34" charset="0"/>
                <a:ea typeface="楷体_GB2312" pitchFamily="49" charset="-122"/>
                <a:cs typeface="Arial" panose="020B0604020202020204" pitchFamily="34" charset="0"/>
                <a:sym typeface="+mn-ea"/>
              </a:rPr>
              <a:t>, 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i2 </a:t>
            </a:r>
            <a:r>
              <a:rPr lang="en-US" altLang="zh-CN" sz="2400" b="1" dirty="0">
                <a:latin typeface="Arial" panose="020B0604020202020204" pitchFamily="34" charset="0"/>
                <a:ea typeface="楷体_GB2312" pitchFamily="49" charset="-122"/>
                <a:cs typeface="Arial" panose="020B0604020202020204" pitchFamily="34" charset="0"/>
                <a:sym typeface="+mn-ea"/>
              </a:rPr>
              <a:t>,…,V</a:t>
            </a:r>
            <a:r>
              <a:rPr lang="en-US" altLang="zh-CN" sz="2400" b="1" baseline="-10000" dirty="0">
                <a:latin typeface="Arial" panose="020B0604020202020204" pitchFamily="34" charset="0"/>
                <a:ea typeface="楷体_GB2312" pitchFamily="49" charset="-122"/>
                <a:cs typeface="Arial" panose="020B0604020202020204" pitchFamily="34" charset="0"/>
                <a:sym typeface="+mn-ea"/>
              </a:rPr>
              <a:t>in</a:t>
            </a:r>
            <a:r>
              <a:rPr lang="en-US" altLang="zh-CN" sz="2400" b="1" dirty="0">
                <a:latin typeface="Arial" panose="020B0604020202020204" pitchFamily="34" charset="0"/>
                <a:ea typeface="楷体_GB2312" pitchFamily="49" charset="-122"/>
                <a:cs typeface="Arial" panose="020B0604020202020204" pitchFamily="34" charset="0"/>
                <a:sym typeface="+mn-ea"/>
              </a:rPr>
              <a:t>)</a:t>
            </a:r>
            <a:r>
              <a:rPr lang="zh-CN" altLang="en-US" sz="2400" b="1" dirty="0">
                <a:latin typeface="Arial" panose="020B0604020202020204" pitchFamily="34" charset="0"/>
                <a:ea typeface="楷体_GB2312" pitchFamily="49" charset="-122"/>
                <a:cs typeface="Arial" panose="020B0604020202020204" pitchFamily="34" charset="0"/>
              </a:rPr>
              <a:t> is termed a topological sequence.</a:t>
            </a:r>
            <a:endParaRPr lang="zh-CN" altLang="en-US" sz="4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The process of finding the topological sequence of vertices in a directed graph is called topological sorting.</a:t>
            </a:r>
            <a:endParaRPr lang="zh-CN" altLang="en-US" sz="2400" b="1" dirty="0">
              <a:latin typeface="Arial" panose="020B0604020202020204" pitchFamily="34" charset="0"/>
              <a:ea typeface="楷体_GB2312" pitchFamily="49" charset="-122"/>
              <a:cs typeface="Arial" panose="020B0604020202020204" pitchFamily="34" charset="0"/>
            </a:endParaRPr>
          </a:p>
        </p:txBody>
      </p:sp>
      <p:sp>
        <p:nvSpPr>
          <p:cNvPr id="190467" name="Text Box 3"/>
          <p:cNvSpPr txBox="1">
            <a:spLocks noChangeArrowheads="1"/>
          </p:cNvSpPr>
          <p:nvPr/>
        </p:nvSpPr>
        <p:spPr bwMode="auto">
          <a:xfrm>
            <a:off x="1475740" y="116205"/>
            <a:ext cx="52197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800000"/>
                </a:solidFill>
                <a:latin typeface="Arial" panose="020B0604020202020204" pitchFamily="34" charset="0"/>
                <a:ea typeface="楷体_GB2312" pitchFamily="49" charset="-122"/>
                <a:cs typeface="Arial" panose="020B0604020202020204" pitchFamily="34" charset="0"/>
                <a:sym typeface="+mn-ea"/>
              </a:rPr>
              <a:t>Topological Sorting</a:t>
            </a:r>
            <a:endParaRPr lang="en-US" altLang="zh-CN" sz="3200" b="1" dirty="0">
              <a:solidFill>
                <a:srgbClr val="800000"/>
              </a:solidFill>
              <a:latin typeface="Arial" panose="020B0604020202020204" pitchFamily="34" charset="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slide(fromTop)">
                                      <p:cBhvr>
                                        <p:cTn id="7" dur="500"/>
                                        <p:tgtEl>
                                          <p:spTgt spid="19046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0466">
                                            <p:txEl>
                                              <p:pRg st="4294967295" end="4294967295"/>
                                            </p:txEl>
                                          </p:spTgt>
                                        </p:tgtEl>
                                        <p:attrNameLst>
                                          <p:attrName>style.visibility</p:attrName>
                                        </p:attrNameLst>
                                      </p:cBhvr>
                                      <p:to>
                                        <p:strVal val="visible"/>
                                      </p:to>
                                    </p:set>
                                    <p:anim calcmode="lin" valueType="num">
                                      <p:cBhvr additive="base">
                                        <p:cTn id="12" dur="500" fill="hold"/>
                                        <p:tgtEl>
                                          <p:spTgt spid="190466">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90466">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90466">
                                            <p:txEl>
                                              <p:pRg st="0" end="0"/>
                                            </p:txEl>
                                          </p:spTgt>
                                        </p:tgtEl>
                                        <p:attrNameLst>
                                          <p:attrName>style.visibility</p:attrName>
                                        </p:attrNameLst>
                                      </p:cBhvr>
                                      <p:to>
                                        <p:strVal val="visible"/>
                                      </p:to>
                                    </p:set>
                                    <p:anim calcmode="lin" valueType="num">
                                      <p:cBhvr additive="base">
                                        <p:cTn id="18" dur="500" fill="hold"/>
                                        <p:tgtEl>
                                          <p:spTgt spid="190466">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904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90466">
                                            <p:txEl>
                                              <p:pRg st="1" end="1"/>
                                            </p:txEl>
                                          </p:spTgt>
                                        </p:tgtEl>
                                        <p:attrNameLst>
                                          <p:attrName>style.visibility</p:attrName>
                                        </p:attrNameLst>
                                      </p:cBhvr>
                                      <p:to>
                                        <p:strVal val="visible"/>
                                      </p:to>
                                    </p:set>
                                    <p:anim calcmode="lin" valueType="num">
                                      <p:cBhvr additive="base">
                                        <p:cTn id="24" dur="500" fill="hold"/>
                                        <p:tgtEl>
                                          <p:spTgt spid="190466">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904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90466">
                                            <p:txEl>
                                              <p:pRg st="2" end="2"/>
                                            </p:txEl>
                                          </p:spTgt>
                                        </p:tgtEl>
                                        <p:attrNameLst>
                                          <p:attrName>style.visibility</p:attrName>
                                        </p:attrNameLst>
                                      </p:cBhvr>
                                      <p:to>
                                        <p:strVal val="visible"/>
                                      </p:to>
                                    </p:set>
                                    <p:anim calcmode="lin" valueType="num">
                                      <p:cBhvr additive="base">
                                        <p:cTn id="30" dur="500" fill="hold"/>
                                        <p:tgtEl>
                                          <p:spTgt spid="190466">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1904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90466">
                                            <p:txEl>
                                              <p:pRg st="3" end="3"/>
                                            </p:txEl>
                                          </p:spTgt>
                                        </p:tgtEl>
                                        <p:attrNameLst>
                                          <p:attrName>style.visibility</p:attrName>
                                        </p:attrNameLst>
                                      </p:cBhvr>
                                      <p:to>
                                        <p:strVal val="visible"/>
                                      </p:to>
                                    </p:set>
                                    <p:anim calcmode="lin" valueType="num">
                                      <p:cBhvr additive="base">
                                        <p:cTn id="36" dur="500" fill="hold"/>
                                        <p:tgtEl>
                                          <p:spTgt spid="190466">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9046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autoUpdateAnimBg="0" build="p"/>
      <p:bldP spid="190467" grpId="0" bldLvl="0" animBg="1"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ChangeArrowheads="1"/>
          </p:cNvSpPr>
          <p:nvPr/>
        </p:nvSpPr>
        <p:spPr bwMode="auto">
          <a:xfrm>
            <a:off x="107950" y="116205"/>
            <a:ext cx="7620000" cy="90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r>
              <a:rPr lang="zh-CN" altLang="en-US" b="1" dirty="0">
                <a:latin typeface="Arial" panose="020B0604020202020204" pitchFamily="34" charset="0"/>
                <a:ea typeface="楷体_GB2312" pitchFamily="49" charset="-122"/>
                <a:cs typeface="Arial" panose="020B0604020202020204" pitchFamily="34" charset="0"/>
              </a:rPr>
              <a:t>For example, software majors must take a series of basic courses</a:t>
            </a:r>
            <a:endParaRPr lang="zh-CN" altLang="en-US" b="1" dirty="0">
              <a:latin typeface="Arial" panose="020B0604020202020204" pitchFamily="34" charset="0"/>
              <a:ea typeface="楷体_GB2312" pitchFamily="49" charset="-122"/>
              <a:cs typeface="Arial" panose="020B0604020202020204" pitchFamily="34" charset="0"/>
            </a:endParaRPr>
          </a:p>
        </p:txBody>
      </p:sp>
      <p:graphicFrame>
        <p:nvGraphicFramePr>
          <p:cNvPr id="191491" name="Group 3"/>
          <p:cNvGraphicFramePr>
            <a:graphicFrameLocks noGrp="1"/>
          </p:cNvGraphicFramePr>
          <p:nvPr/>
        </p:nvGraphicFramePr>
        <p:xfrm>
          <a:off x="1475740" y="980440"/>
          <a:ext cx="6400800" cy="4886960"/>
        </p:xfrm>
        <a:graphic>
          <a:graphicData uri="http://schemas.openxmlformats.org/drawingml/2006/table">
            <a:tbl>
              <a:tblPr/>
              <a:tblGrid>
                <a:gridCol w="1878330"/>
                <a:gridCol w="2560320"/>
                <a:gridCol w="1962150"/>
              </a:tblGrid>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1" i="0" u="none" strike="noStrike" cap="none" normalizeH="0" baseline="0" dirty="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rPr>
                        <a:t>Course number</a:t>
                      </a:r>
                      <a:endParaRPr kumimoji="1" lang="zh-CN" altLang="en-US" sz="1600" b="1" i="0" u="none" strike="noStrike" cap="none" normalizeH="0" baseline="0" dirty="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1" i="0" u="none" strike="noStrike" cap="none" normalizeH="0" baseline="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rPr>
                        <a:t>course title</a:t>
                      </a:r>
                      <a:endParaRPr kumimoji="1" lang="zh-CN" altLang="en-US" sz="1600" b="1" i="0" u="none" strike="noStrike" cap="none" normalizeH="0" baseline="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1" i="0" u="none" strike="noStrike" cap="none" normalizeH="0" baseline="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rPr>
                        <a:t>prerequisite</a:t>
                      </a:r>
                      <a:endParaRPr kumimoji="1" lang="zh-CN" altLang="en-US" sz="1600" b="1" i="0" u="none" strike="noStrike" cap="none" normalizeH="0" baseline="0">
                        <a:ln>
                          <a:noFill/>
                        </a:ln>
                        <a:solidFill>
                          <a:srgbClr val="0000FF"/>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655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Programming Fundamentals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not have</a:t>
                      </a:r>
                      <a:endParaRPr kumimoji="1" lang="zh-CN" alt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2</a:t>
                      </a:r>
                      <a:endPar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discrete mathematics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a:t>
                      </a:r>
                      <a:endPar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3</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data structure</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  C 2</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655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4</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assembler language</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2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5</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Language Design and Analysis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3，  C 4</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46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6</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Computer Principles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11</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7</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fundamentals of compiling</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5 ， C 3</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92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8</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operating system</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3，  C 6</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655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9</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higher mathematics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not have</a:t>
                      </a:r>
                      <a:endParaRPr kumimoji="1"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2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10</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linear algebra</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9</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719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11</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general physics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9</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7528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12</a:t>
                      </a:r>
                      <a:endParaRPr kumimoji="1"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numerical analysis</a:t>
                      </a:r>
                      <a:endParaRPr kumimoji="1"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 9， C 10， C 1</a:t>
                      </a:r>
                      <a:endParaRPr kumimoji="1"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ChangeArrowheads="1"/>
          </p:cNvSpPr>
          <p:nvPr/>
        </p:nvSpPr>
        <p:spPr bwMode="auto">
          <a:xfrm>
            <a:off x="35560" y="260350"/>
            <a:ext cx="7750175" cy="90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r>
              <a:rPr lang="zh-CN" altLang="en-US" b="1">
                <a:latin typeface="Arial" panose="020B0604020202020204" pitchFamily="34" charset="0"/>
                <a:ea typeface="楷体_GB2312" pitchFamily="49" charset="-122"/>
                <a:cs typeface="Arial" panose="020B0604020202020204" pitchFamily="34" charset="0"/>
                <a:sym typeface="+mn-ea"/>
              </a:rPr>
              <a:t>The priority relationship between courses can be represented by a directed graph:</a:t>
            </a:r>
            <a:endParaRPr lang="zh-CN" altLang="en-US" b="1">
              <a:latin typeface="Arial" panose="020B0604020202020204" pitchFamily="34" charset="0"/>
              <a:ea typeface="楷体_GB2312" pitchFamily="49" charset="-122"/>
              <a:cs typeface="Arial" panose="020B0604020202020204" pitchFamily="34" charset="0"/>
              <a:sym typeface="+mn-ea"/>
            </a:endParaRPr>
          </a:p>
        </p:txBody>
      </p:sp>
      <p:sp>
        <p:nvSpPr>
          <p:cNvPr id="192515" name="Oval 3"/>
          <p:cNvSpPr>
            <a:spLocks noChangeArrowheads="1"/>
          </p:cNvSpPr>
          <p:nvPr/>
        </p:nvSpPr>
        <p:spPr bwMode="auto">
          <a:xfrm>
            <a:off x="1600200" y="29718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1</a:t>
            </a:r>
            <a:endParaRPr lang="en-US" altLang="zh-CN" sz="1800"/>
          </a:p>
        </p:txBody>
      </p:sp>
      <p:sp>
        <p:nvSpPr>
          <p:cNvPr id="192516" name="Oval 4"/>
          <p:cNvSpPr>
            <a:spLocks noChangeArrowheads="1"/>
          </p:cNvSpPr>
          <p:nvPr/>
        </p:nvSpPr>
        <p:spPr bwMode="auto">
          <a:xfrm>
            <a:off x="1600200" y="44196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9</a:t>
            </a:r>
            <a:endParaRPr lang="en-US" altLang="zh-CN" sz="1800"/>
          </a:p>
        </p:txBody>
      </p:sp>
      <p:sp>
        <p:nvSpPr>
          <p:cNvPr id="192517" name="Oval 5"/>
          <p:cNvSpPr>
            <a:spLocks noChangeArrowheads="1"/>
          </p:cNvSpPr>
          <p:nvPr/>
        </p:nvSpPr>
        <p:spPr bwMode="auto">
          <a:xfrm>
            <a:off x="2819400" y="15240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4</a:t>
            </a:r>
            <a:endParaRPr lang="en-US" altLang="zh-CN" sz="1800"/>
          </a:p>
        </p:txBody>
      </p:sp>
      <p:sp>
        <p:nvSpPr>
          <p:cNvPr id="192518" name="Oval 6"/>
          <p:cNvSpPr>
            <a:spLocks noChangeArrowheads="1"/>
          </p:cNvSpPr>
          <p:nvPr/>
        </p:nvSpPr>
        <p:spPr bwMode="auto">
          <a:xfrm>
            <a:off x="3657600" y="22860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2</a:t>
            </a:r>
            <a:endParaRPr lang="en-US" altLang="zh-CN" sz="1800"/>
          </a:p>
        </p:txBody>
      </p:sp>
      <p:sp>
        <p:nvSpPr>
          <p:cNvPr id="192519" name="Oval 7"/>
          <p:cNvSpPr>
            <a:spLocks noChangeArrowheads="1"/>
          </p:cNvSpPr>
          <p:nvPr/>
        </p:nvSpPr>
        <p:spPr bwMode="auto">
          <a:xfrm>
            <a:off x="4724400" y="2895600"/>
            <a:ext cx="457200" cy="457200"/>
          </a:xfrm>
          <a:prstGeom prst="ellipse">
            <a:avLst/>
          </a:prstGeom>
          <a:solidFill>
            <a:srgbClr val="CCFFFF"/>
          </a:solidFill>
          <a:ln w="2857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3</a:t>
            </a:r>
            <a:endParaRPr lang="en-US" altLang="zh-CN" sz="1800"/>
          </a:p>
        </p:txBody>
      </p:sp>
      <p:sp>
        <p:nvSpPr>
          <p:cNvPr id="192520" name="Oval 8"/>
          <p:cNvSpPr>
            <a:spLocks noChangeArrowheads="1"/>
          </p:cNvSpPr>
          <p:nvPr/>
        </p:nvSpPr>
        <p:spPr bwMode="auto">
          <a:xfrm>
            <a:off x="3962400" y="36576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12</a:t>
            </a:r>
            <a:endParaRPr lang="en-US" altLang="zh-CN" sz="1800"/>
          </a:p>
        </p:txBody>
      </p:sp>
      <p:sp>
        <p:nvSpPr>
          <p:cNvPr id="192521" name="Oval 9"/>
          <p:cNvSpPr>
            <a:spLocks noChangeArrowheads="1"/>
          </p:cNvSpPr>
          <p:nvPr/>
        </p:nvSpPr>
        <p:spPr bwMode="auto">
          <a:xfrm>
            <a:off x="2971800" y="44196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10</a:t>
            </a:r>
            <a:endParaRPr lang="en-US" altLang="zh-CN" sz="1800"/>
          </a:p>
        </p:txBody>
      </p:sp>
      <p:sp>
        <p:nvSpPr>
          <p:cNvPr id="192522" name="Oval 10"/>
          <p:cNvSpPr>
            <a:spLocks noChangeArrowheads="1"/>
          </p:cNvSpPr>
          <p:nvPr/>
        </p:nvSpPr>
        <p:spPr bwMode="auto">
          <a:xfrm>
            <a:off x="2819400" y="54102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11</a:t>
            </a:r>
            <a:endParaRPr lang="en-US" altLang="zh-CN" sz="1800"/>
          </a:p>
        </p:txBody>
      </p:sp>
      <p:sp>
        <p:nvSpPr>
          <p:cNvPr id="192523" name="Oval 11"/>
          <p:cNvSpPr>
            <a:spLocks noChangeArrowheads="1"/>
          </p:cNvSpPr>
          <p:nvPr/>
        </p:nvSpPr>
        <p:spPr bwMode="auto">
          <a:xfrm>
            <a:off x="6400800" y="15240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5</a:t>
            </a:r>
            <a:endParaRPr lang="en-US" altLang="zh-CN" sz="1800"/>
          </a:p>
        </p:txBody>
      </p:sp>
      <p:sp>
        <p:nvSpPr>
          <p:cNvPr id="192524" name="Oval 12"/>
          <p:cNvSpPr>
            <a:spLocks noChangeArrowheads="1"/>
          </p:cNvSpPr>
          <p:nvPr/>
        </p:nvSpPr>
        <p:spPr bwMode="auto">
          <a:xfrm>
            <a:off x="7391400" y="291465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7</a:t>
            </a:r>
            <a:endParaRPr lang="en-US" altLang="zh-CN" sz="1800"/>
          </a:p>
        </p:txBody>
      </p:sp>
      <p:sp>
        <p:nvSpPr>
          <p:cNvPr id="192525" name="Oval 13"/>
          <p:cNvSpPr>
            <a:spLocks noChangeArrowheads="1"/>
          </p:cNvSpPr>
          <p:nvPr/>
        </p:nvSpPr>
        <p:spPr bwMode="auto">
          <a:xfrm>
            <a:off x="5181600" y="49530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6</a:t>
            </a:r>
            <a:endParaRPr lang="en-US" altLang="zh-CN" sz="1800"/>
          </a:p>
        </p:txBody>
      </p:sp>
      <p:sp>
        <p:nvSpPr>
          <p:cNvPr id="192526" name="Oval 14"/>
          <p:cNvSpPr>
            <a:spLocks noChangeArrowheads="1"/>
          </p:cNvSpPr>
          <p:nvPr/>
        </p:nvSpPr>
        <p:spPr bwMode="auto">
          <a:xfrm>
            <a:off x="7315200" y="4267200"/>
            <a:ext cx="457200" cy="457200"/>
          </a:xfrm>
          <a:prstGeom prst="ellipse">
            <a:avLst/>
          </a:prstGeom>
          <a:solidFill>
            <a:srgbClr val="CCFFFF"/>
          </a:solidFill>
          <a:ln w="9525">
            <a:solidFill>
              <a:srgbClr val="003366"/>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r>
              <a:rPr lang="en-US" altLang="zh-CN" b="1" baseline="-25000">
                <a:solidFill>
                  <a:srgbClr val="000099"/>
                </a:solidFill>
              </a:rPr>
              <a:t>8</a:t>
            </a:r>
            <a:endParaRPr lang="en-US" altLang="zh-CN" sz="1800"/>
          </a:p>
        </p:txBody>
      </p:sp>
      <p:sp>
        <p:nvSpPr>
          <p:cNvPr id="192527" name="Line 15"/>
          <p:cNvSpPr>
            <a:spLocks noChangeShapeType="1"/>
          </p:cNvSpPr>
          <p:nvPr/>
        </p:nvSpPr>
        <p:spPr bwMode="auto">
          <a:xfrm>
            <a:off x="2057400" y="3200400"/>
            <a:ext cx="2667000"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28" name="Line 16"/>
          <p:cNvSpPr>
            <a:spLocks noChangeShapeType="1"/>
          </p:cNvSpPr>
          <p:nvPr/>
        </p:nvSpPr>
        <p:spPr bwMode="auto">
          <a:xfrm>
            <a:off x="5181600" y="3124200"/>
            <a:ext cx="2209800"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29" name="Line 17"/>
          <p:cNvSpPr>
            <a:spLocks noChangeShapeType="1"/>
          </p:cNvSpPr>
          <p:nvPr/>
        </p:nvSpPr>
        <p:spPr bwMode="auto">
          <a:xfrm flipV="1">
            <a:off x="1905000" y="1981200"/>
            <a:ext cx="990600" cy="9906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0" name="Line 18"/>
          <p:cNvSpPr>
            <a:spLocks noChangeShapeType="1"/>
          </p:cNvSpPr>
          <p:nvPr/>
        </p:nvSpPr>
        <p:spPr bwMode="auto">
          <a:xfrm flipV="1">
            <a:off x="1981200" y="2590800"/>
            <a:ext cx="1676400" cy="4572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1" name="Line 19"/>
          <p:cNvSpPr>
            <a:spLocks noChangeShapeType="1"/>
          </p:cNvSpPr>
          <p:nvPr/>
        </p:nvSpPr>
        <p:spPr bwMode="auto">
          <a:xfrm>
            <a:off x="4114800" y="2590800"/>
            <a:ext cx="685800" cy="3810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2" name="Line 20"/>
          <p:cNvSpPr>
            <a:spLocks noChangeShapeType="1"/>
          </p:cNvSpPr>
          <p:nvPr/>
        </p:nvSpPr>
        <p:spPr bwMode="auto">
          <a:xfrm>
            <a:off x="3276600" y="1752600"/>
            <a:ext cx="3124200"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3" name="Line 21"/>
          <p:cNvSpPr>
            <a:spLocks noChangeShapeType="1"/>
          </p:cNvSpPr>
          <p:nvPr/>
        </p:nvSpPr>
        <p:spPr bwMode="auto">
          <a:xfrm>
            <a:off x="6781800" y="1962150"/>
            <a:ext cx="685800" cy="9906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4" name="Line 22"/>
          <p:cNvSpPr>
            <a:spLocks noChangeShapeType="1"/>
          </p:cNvSpPr>
          <p:nvPr/>
        </p:nvSpPr>
        <p:spPr bwMode="auto">
          <a:xfrm>
            <a:off x="1981200" y="3352800"/>
            <a:ext cx="1981200" cy="4572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5" name="Line 23"/>
          <p:cNvSpPr>
            <a:spLocks noChangeShapeType="1"/>
          </p:cNvSpPr>
          <p:nvPr/>
        </p:nvSpPr>
        <p:spPr bwMode="auto">
          <a:xfrm>
            <a:off x="2057400" y="4648200"/>
            <a:ext cx="914400" cy="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6" name="Line 24"/>
          <p:cNvSpPr>
            <a:spLocks noChangeShapeType="1"/>
          </p:cNvSpPr>
          <p:nvPr/>
        </p:nvSpPr>
        <p:spPr bwMode="auto">
          <a:xfrm flipV="1">
            <a:off x="1981200" y="3962400"/>
            <a:ext cx="1981200" cy="5334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7" name="Line 25"/>
          <p:cNvSpPr>
            <a:spLocks noChangeShapeType="1"/>
          </p:cNvSpPr>
          <p:nvPr/>
        </p:nvSpPr>
        <p:spPr bwMode="auto">
          <a:xfrm>
            <a:off x="1981200" y="4876800"/>
            <a:ext cx="914400" cy="6096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8" name="Line 26"/>
          <p:cNvSpPr>
            <a:spLocks noChangeShapeType="1"/>
          </p:cNvSpPr>
          <p:nvPr/>
        </p:nvSpPr>
        <p:spPr bwMode="auto">
          <a:xfrm flipV="1">
            <a:off x="3429000" y="4114800"/>
            <a:ext cx="685800" cy="5334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39" name="Line 27"/>
          <p:cNvSpPr>
            <a:spLocks noChangeShapeType="1"/>
          </p:cNvSpPr>
          <p:nvPr/>
        </p:nvSpPr>
        <p:spPr bwMode="auto">
          <a:xfrm flipV="1">
            <a:off x="3276600" y="5257800"/>
            <a:ext cx="1905000" cy="3810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40" name="Line 28"/>
          <p:cNvSpPr>
            <a:spLocks noChangeShapeType="1"/>
          </p:cNvSpPr>
          <p:nvPr/>
        </p:nvSpPr>
        <p:spPr bwMode="auto">
          <a:xfrm flipV="1">
            <a:off x="5638800" y="4572000"/>
            <a:ext cx="1676400" cy="5334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41" name="Line 29"/>
          <p:cNvSpPr>
            <a:spLocks noChangeShapeType="1"/>
          </p:cNvSpPr>
          <p:nvPr/>
        </p:nvSpPr>
        <p:spPr bwMode="auto">
          <a:xfrm>
            <a:off x="5105400" y="3276600"/>
            <a:ext cx="2209800" cy="10668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2542" name="Line 30"/>
          <p:cNvSpPr>
            <a:spLocks noChangeShapeType="1"/>
          </p:cNvSpPr>
          <p:nvPr/>
        </p:nvSpPr>
        <p:spPr bwMode="auto">
          <a:xfrm flipV="1">
            <a:off x="5105400" y="1905000"/>
            <a:ext cx="1371600" cy="1066800"/>
          </a:xfrm>
          <a:prstGeom prst="line">
            <a:avLst/>
          </a:prstGeom>
          <a:noFill/>
          <a:ln w="28575"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92515"/>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92516"/>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92517"/>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2518"/>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92519"/>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9252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92521"/>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92522"/>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92523"/>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92524"/>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192525"/>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grpId="0" nodeType="afterEffect">
                                  <p:stCondLst>
                                    <p:cond delay="0"/>
                                  </p:stCondLst>
                                  <p:childTnLst>
                                    <p:set>
                                      <p:cBhvr>
                                        <p:cTn id="39" dur="1" fill="hold">
                                          <p:stCondLst>
                                            <p:cond delay="499"/>
                                          </p:stCondLst>
                                        </p:cTn>
                                        <p:tgtEl>
                                          <p:spTgt spid="192526"/>
                                        </p:tgtEl>
                                        <p:attrNameLst>
                                          <p:attrName>style.visibility</p:attrName>
                                        </p:attrNameLst>
                                      </p:cBhvr>
                                      <p:to>
                                        <p:strVal val="visible"/>
                                      </p:to>
                                    </p:set>
                                  </p:childTnLst>
                                </p:cTn>
                              </p:par>
                            </p:childTnLst>
                          </p:cTn>
                        </p:par>
                        <p:par>
                          <p:cTn id="40" fill="hold">
                            <p:stCondLst>
                              <p:cond delay="6000"/>
                            </p:stCondLst>
                            <p:childTnLst>
                              <p:par>
                                <p:cTn id="41" presetID="2" presetClass="entr" presetSubtype="8" fill="hold" grpId="0" nodeType="afterEffect">
                                  <p:stCondLst>
                                    <p:cond delay="0"/>
                                  </p:stCondLst>
                                  <p:childTnLst>
                                    <p:set>
                                      <p:cBhvr>
                                        <p:cTn id="42" dur="1" fill="hold">
                                          <p:stCondLst>
                                            <p:cond delay="0"/>
                                          </p:stCondLst>
                                        </p:cTn>
                                        <p:tgtEl>
                                          <p:spTgt spid="192527"/>
                                        </p:tgtEl>
                                        <p:attrNameLst>
                                          <p:attrName>style.visibility</p:attrName>
                                        </p:attrNameLst>
                                      </p:cBhvr>
                                      <p:to>
                                        <p:strVal val="visible"/>
                                      </p:to>
                                    </p:set>
                                    <p:anim calcmode="lin" valueType="num">
                                      <p:cBhvr additive="base">
                                        <p:cTn id="43" dur="500" fill="hold"/>
                                        <p:tgtEl>
                                          <p:spTgt spid="192527"/>
                                        </p:tgtEl>
                                        <p:attrNameLst>
                                          <p:attrName>ppt_x</p:attrName>
                                        </p:attrNameLst>
                                      </p:cBhvr>
                                      <p:tavLst>
                                        <p:tav tm="0">
                                          <p:val>
                                            <p:strVal val="0-#ppt_w/2"/>
                                          </p:val>
                                        </p:tav>
                                        <p:tav tm="100000">
                                          <p:val>
                                            <p:strVal val="#ppt_x"/>
                                          </p:val>
                                        </p:tav>
                                      </p:tavLst>
                                    </p:anim>
                                    <p:anim calcmode="lin" valueType="num">
                                      <p:cBhvr additive="base">
                                        <p:cTn id="44" dur="500" fill="hold"/>
                                        <p:tgtEl>
                                          <p:spTgt spid="192527"/>
                                        </p:tgtEl>
                                        <p:attrNameLst>
                                          <p:attrName>ppt_y</p:attrName>
                                        </p:attrNameLst>
                                      </p:cBhvr>
                                      <p:tavLst>
                                        <p:tav tm="0">
                                          <p:val>
                                            <p:strVal val="#ppt_y"/>
                                          </p:val>
                                        </p:tav>
                                        <p:tav tm="100000">
                                          <p:val>
                                            <p:strVal val="#ppt_y"/>
                                          </p:val>
                                        </p:tav>
                                      </p:tavLst>
                                    </p:anim>
                                  </p:childTnLst>
                                </p:cTn>
                              </p:par>
                            </p:childTnLst>
                          </p:cTn>
                        </p:par>
                        <p:par>
                          <p:cTn id="45" fill="hold">
                            <p:stCondLst>
                              <p:cond delay="6500"/>
                            </p:stCondLst>
                            <p:childTnLst>
                              <p:par>
                                <p:cTn id="46" presetID="2" presetClass="entr" presetSubtype="8" fill="hold" grpId="0" nodeType="afterEffect">
                                  <p:stCondLst>
                                    <p:cond delay="0"/>
                                  </p:stCondLst>
                                  <p:childTnLst>
                                    <p:set>
                                      <p:cBhvr>
                                        <p:cTn id="47" dur="1" fill="hold">
                                          <p:stCondLst>
                                            <p:cond delay="0"/>
                                          </p:stCondLst>
                                        </p:cTn>
                                        <p:tgtEl>
                                          <p:spTgt spid="192528"/>
                                        </p:tgtEl>
                                        <p:attrNameLst>
                                          <p:attrName>style.visibility</p:attrName>
                                        </p:attrNameLst>
                                      </p:cBhvr>
                                      <p:to>
                                        <p:strVal val="visible"/>
                                      </p:to>
                                    </p:set>
                                    <p:anim calcmode="lin" valueType="num">
                                      <p:cBhvr additive="base">
                                        <p:cTn id="48" dur="500" fill="hold"/>
                                        <p:tgtEl>
                                          <p:spTgt spid="192528"/>
                                        </p:tgtEl>
                                        <p:attrNameLst>
                                          <p:attrName>ppt_x</p:attrName>
                                        </p:attrNameLst>
                                      </p:cBhvr>
                                      <p:tavLst>
                                        <p:tav tm="0">
                                          <p:val>
                                            <p:strVal val="0-#ppt_w/2"/>
                                          </p:val>
                                        </p:tav>
                                        <p:tav tm="100000">
                                          <p:val>
                                            <p:strVal val="#ppt_x"/>
                                          </p:val>
                                        </p:tav>
                                      </p:tavLst>
                                    </p:anim>
                                    <p:anim calcmode="lin" valueType="num">
                                      <p:cBhvr additive="base">
                                        <p:cTn id="49" dur="500" fill="hold"/>
                                        <p:tgtEl>
                                          <p:spTgt spid="192528"/>
                                        </p:tgtEl>
                                        <p:attrNameLst>
                                          <p:attrName>ppt_y</p:attrName>
                                        </p:attrNameLst>
                                      </p:cBhvr>
                                      <p:tavLst>
                                        <p:tav tm="0">
                                          <p:val>
                                            <p:strVal val="#ppt_y"/>
                                          </p:val>
                                        </p:tav>
                                        <p:tav tm="100000">
                                          <p:val>
                                            <p:strVal val="#ppt_y"/>
                                          </p:val>
                                        </p:tav>
                                      </p:tavLst>
                                    </p:anim>
                                  </p:childTnLst>
                                </p:cTn>
                              </p:par>
                            </p:childTnLst>
                          </p:cTn>
                        </p:par>
                        <p:par>
                          <p:cTn id="50" fill="hold">
                            <p:stCondLst>
                              <p:cond delay="7000"/>
                            </p:stCondLst>
                            <p:childTnLst>
                              <p:par>
                                <p:cTn id="51" presetID="2" presetClass="entr" presetSubtype="8" fill="hold" grpId="0" nodeType="afterEffect">
                                  <p:stCondLst>
                                    <p:cond delay="0"/>
                                  </p:stCondLst>
                                  <p:childTnLst>
                                    <p:set>
                                      <p:cBhvr>
                                        <p:cTn id="52" dur="1" fill="hold">
                                          <p:stCondLst>
                                            <p:cond delay="0"/>
                                          </p:stCondLst>
                                        </p:cTn>
                                        <p:tgtEl>
                                          <p:spTgt spid="192529"/>
                                        </p:tgtEl>
                                        <p:attrNameLst>
                                          <p:attrName>style.visibility</p:attrName>
                                        </p:attrNameLst>
                                      </p:cBhvr>
                                      <p:to>
                                        <p:strVal val="visible"/>
                                      </p:to>
                                    </p:set>
                                    <p:anim calcmode="lin" valueType="num">
                                      <p:cBhvr additive="base">
                                        <p:cTn id="53" dur="500" fill="hold"/>
                                        <p:tgtEl>
                                          <p:spTgt spid="192529"/>
                                        </p:tgtEl>
                                        <p:attrNameLst>
                                          <p:attrName>ppt_x</p:attrName>
                                        </p:attrNameLst>
                                      </p:cBhvr>
                                      <p:tavLst>
                                        <p:tav tm="0">
                                          <p:val>
                                            <p:strVal val="0-#ppt_w/2"/>
                                          </p:val>
                                        </p:tav>
                                        <p:tav tm="100000">
                                          <p:val>
                                            <p:strVal val="#ppt_x"/>
                                          </p:val>
                                        </p:tav>
                                      </p:tavLst>
                                    </p:anim>
                                    <p:anim calcmode="lin" valueType="num">
                                      <p:cBhvr additive="base">
                                        <p:cTn id="54" dur="500" fill="hold"/>
                                        <p:tgtEl>
                                          <p:spTgt spid="192529"/>
                                        </p:tgtEl>
                                        <p:attrNameLst>
                                          <p:attrName>ppt_y</p:attrName>
                                        </p:attrNameLst>
                                      </p:cBhvr>
                                      <p:tavLst>
                                        <p:tav tm="0">
                                          <p:val>
                                            <p:strVal val="#ppt_y"/>
                                          </p:val>
                                        </p:tav>
                                        <p:tav tm="100000">
                                          <p:val>
                                            <p:strVal val="#ppt_y"/>
                                          </p:val>
                                        </p:tav>
                                      </p:tavLst>
                                    </p:anim>
                                  </p:childTnLst>
                                </p:cTn>
                              </p:par>
                            </p:childTnLst>
                          </p:cTn>
                        </p:par>
                        <p:par>
                          <p:cTn id="55" fill="hold">
                            <p:stCondLst>
                              <p:cond delay="7500"/>
                            </p:stCondLst>
                            <p:childTnLst>
                              <p:par>
                                <p:cTn id="56" presetID="2" presetClass="entr" presetSubtype="8" fill="hold" grpId="0" nodeType="afterEffect">
                                  <p:stCondLst>
                                    <p:cond delay="0"/>
                                  </p:stCondLst>
                                  <p:childTnLst>
                                    <p:set>
                                      <p:cBhvr>
                                        <p:cTn id="57" dur="1" fill="hold">
                                          <p:stCondLst>
                                            <p:cond delay="0"/>
                                          </p:stCondLst>
                                        </p:cTn>
                                        <p:tgtEl>
                                          <p:spTgt spid="192530"/>
                                        </p:tgtEl>
                                        <p:attrNameLst>
                                          <p:attrName>style.visibility</p:attrName>
                                        </p:attrNameLst>
                                      </p:cBhvr>
                                      <p:to>
                                        <p:strVal val="visible"/>
                                      </p:to>
                                    </p:set>
                                    <p:anim calcmode="lin" valueType="num">
                                      <p:cBhvr additive="base">
                                        <p:cTn id="58" dur="500" fill="hold"/>
                                        <p:tgtEl>
                                          <p:spTgt spid="192530"/>
                                        </p:tgtEl>
                                        <p:attrNameLst>
                                          <p:attrName>ppt_x</p:attrName>
                                        </p:attrNameLst>
                                      </p:cBhvr>
                                      <p:tavLst>
                                        <p:tav tm="0">
                                          <p:val>
                                            <p:strVal val="0-#ppt_w/2"/>
                                          </p:val>
                                        </p:tav>
                                        <p:tav tm="100000">
                                          <p:val>
                                            <p:strVal val="#ppt_x"/>
                                          </p:val>
                                        </p:tav>
                                      </p:tavLst>
                                    </p:anim>
                                    <p:anim calcmode="lin" valueType="num">
                                      <p:cBhvr additive="base">
                                        <p:cTn id="59" dur="500" fill="hold"/>
                                        <p:tgtEl>
                                          <p:spTgt spid="192530"/>
                                        </p:tgtEl>
                                        <p:attrNameLst>
                                          <p:attrName>ppt_y</p:attrName>
                                        </p:attrNameLst>
                                      </p:cBhvr>
                                      <p:tavLst>
                                        <p:tav tm="0">
                                          <p:val>
                                            <p:strVal val="#ppt_y"/>
                                          </p:val>
                                        </p:tav>
                                        <p:tav tm="100000">
                                          <p:val>
                                            <p:strVal val="#ppt_y"/>
                                          </p:val>
                                        </p:tav>
                                      </p:tavLst>
                                    </p:anim>
                                  </p:childTnLst>
                                </p:cTn>
                              </p:par>
                            </p:childTnLst>
                          </p:cTn>
                        </p:par>
                        <p:par>
                          <p:cTn id="60" fill="hold">
                            <p:stCondLst>
                              <p:cond delay="8000"/>
                            </p:stCondLst>
                            <p:childTnLst>
                              <p:par>
                                <p:cTn id="61" presetID="2" presetClass="entr" presetSubtype="8" fill="hold" grpId="0" nodeType="afterEffect">
                                  <p:stCondLst>
                                    <p:cond delay="0"/>
                                  </p:stCondLst>
                                  <p:childTnLst>
                                    <p:set>
                                      <p:cBhvr>
                                        <p:cTn id="62" dur="1" fill="hold">
                                          <p:stCondLst>
                                            <p:cond delay="0"/>
                                          </p:stCondLst>
                                        </p:cTn>
                                        <p:tgtEl>
                                          <p:spTgt spid="192531"/>
                                        </p:tgtEl>
                                        <p:attrNameLst>
                                          <p:attrName>style.visibility</p:attrName>
                                        </p:attrNameLst>
                                      </p:cBhvr>
                                      <p:to>
                                        <p:strVal val="visible"/>
                                      </p:to>
                                    </p:set>
                                    <p:anim calcmode="lin" valueType="num">
                                      <p:cBhvr additive="base">
                                        <p:cTn id="63" dur="500" fill="hold"/>
                                        <p:tgtEl>
                                          <p:spTgt spid="192531"/>
                                        </p:tgtEl>
                                        <p:attrNameLst>
                                          <p:attrName>ppt_x</p:attrName>
                                        </p:attrNameLst>
                                      </p:cBhvr>
                                      <p:tavLst>
                                        <p:tav tm="0">
                                          <p:val>
                                            <p:strVal val="0-#ppt_w/2"/>
                                          </p:val>
                                        </p:tav>
                                        <p:tav tm="100000">
                                          <p:val>
                                            <p:strVal val="#ppt_x"/>
                                          </p:val>
                                        </p:tav>
                                      </p:tavLst>
                                    </p:anim>
                                    <p:anim calcmode="lin" valueType="num">
                                      <p:cBhvr additive="base">
                                        <p:cTn id="64" dur="500" fill="hold"/>
                                        <p:tgtEl>
                                          <p:spTgt spid="192531"/>
                                        </p:tgtEl>
                                        <p:attrNameLst>
                                          <p:attrName>ppt_y</p:attrName>
                                        </p:attrNameLst>
                                      </p:cBhvr>
                                      <p:tavLst>
                                        <p:tav tm="0">
                                          <p:val>
                                            <p:strVal val="#ppt_y"/>
                                          </p:val>
                                        </p:tav>
                                        <p:tav tm="100000">
                                          <p:val>
                                            <p:strVal val="#ppt_y"/>
                                          </p:val>
                                        </p:tav>
                                      </p:tavLst>
                                    </p:anim>
                                  </p:childTnLst>
                                </p:cTn>
                              </p:par>
                            </p:childTnLst>
                          </p:cTn>
                        </p:par>
                        <p:par>
                          <p:cTn id="65" fill="hold">
                            <p:stCondLst>
                              <p:cond delay="8500"/>
                            </p:stCondLst>
                            <p:childTnLst>
                              <p:par>
                                <p:cTn id="66" presetID="2" presetClass="entr" presetSubtype="8" fill="hold" grpId="0" nodeType="afterEffect">
                                  <p:stCondLst>
                                    <p:cond delay="0"/>
                                  </p:stCondLst>
                                  <p:childTnLst>
                                    <p:set>
                                      <p:cBhvr>
                                        <p:cTn id="67" dur="1" fill="hold">
                                          <p:stCondLst>
                                            <p:cond delay="0"/>
                                          </p:stCondLst>
                                        </p:cTn>
                                        <p:tgtEl>
                                          <p:spTgt spid="192532"/>
                                        </p:tgtEl>
                                        <p:attrNameLst>
                                          <p:attrName>style.visibility</p:attrName>
                                        </p:attrNameLst>
                                      </p:cBhvr>
                                      <p:to>
                                        <p:strVal val="visible"/>
                                      </p:to>
                                    </p:set>
                                    <p:anim calcmode="lin" valueType="num">
                                      <p:cBhvr additive="base">
                                        <p:cTn id="68" dur="500" fill="hold"/>
                                        <p:tgtEl>
                                          <p:spTgt spid="192532"/>
                                        </p:tgtEl>
                                        <p:attrNameLst>
                                          <p:attrName>ppt_x</p:attrName>
                                        </p:attrNameLst>
                                      </p:cBhvr>
                                      <p:tavLst>
                                        <p:tav tm="0">
                                          <p:val>
                                            <p:strVal val="0-#ppt_w/2"/>
                                          </p:val>
                                        </p:tav>
                                        <p:tav tm="100000">
                                          <p:val>
                                            <p:strVal val="#ppt_x"/>
                                          </p:val>
                                        </p:tav>
                                      </p:tavLst>
                                    </p:anim>
                                    <p:anim calcmode="lin" valueType="num">
                                      <p:cBhvr additive="base">
                                        <p:cTn id="69" dur="500" fill="hold"/>
                                        <p:tgtEl>
                                          <p:spTgt spid="192532"/>
                                        </p:tgtEl>
                                        <p:attrNameLst>
                                          <p:attrName>ppt_y</p:attrName>
                                        </p:attrNameLst>
                                      </p:cBhvr>
                                      <p:tavLst>
                                        <p:tav tm="0">
                                          <p:val>
                                            <p:strVal val="#ppt_y"/>
                                          </p:val>
                                        </p:tav>
                                        <p:tav tm="100000">
                                          <p:val>
                                            <p:strVal val="#ppt_y"/>
                                          </p:val>
                                        </p:tav>
                                      </p:tavLst>
                                    </p:anim>
                                  </p:childTnLst>
                                </p:cTn>
                              </p:par>
                            </p:childTnLst>
                          </p:cTn>
                        </p:par>
                        <p:par>
                          <p:cTn id="70" fill="hold">
                            <p:stCondLst>
                              <p:cond delay="9000"/>
                            </p:stCondLst>
                            <p:childTnLst>
                              <p:par>
                                <p:cTn id="71" presetID="2" presetClass="entr" presetSubtype="8" fill="hold" grpId="0" nodeType="afterEffect">
                                  <p:stCondLst>
                                    <p:cond delay="0"/>
                                  </p:stCondLst>
                                  <p:childTnLst>
                                    <p:set>
                                      <p:cBhvr>
                                        <p:cTn id="72" dur="1" fill="hold">
                                          <p:stCondLst>
                                            <p:cond delay="0"/>
                                          </p:stCondLst>
                                        </p:cTn>
                                        <p:tgtEl>
                                          <p:spTgt spid="192533"/>
                                        </p:tgtEl>
                                        <p:attrNameLst>
                                          <p:attrName>style.visibility</p:attrName>
                                        </p:attrNameLst>
                                      </p:cBhvr>
                                      <p:to>
                                        <p:strVal val="visible"/>
                                      </p:to>
                                    </p:set>
                                    <p:anim calcmode="lin" valueType="num">
                                      <p:cBhvr additive="base">
                                        <p:cTn id="73" dur="500" fill="hold"/>
                                        <p:tgtEl>
                                          <p:spTgt spid="192533"/>
                                        </p:tgtEl>
                                        <p:attrNameLst>
                                          <p:attrName>ppt_x</p:attrName>
                                        </p:attrNameLst>
                                      </p:cBhvr>
                                      <p:tavLst>
                                        <p:tav tm="0">
                                          <p:val>
                                            <p:strVal val="0-#ppt_w/2"/>
                                          </p:val>
                                        </p:tav>
                                        <p:tav tm="100000">
                                          <p:val>
                                            <p:strVal val="#ppt_x"/>
                                          </p:val>
                                        </p:tav>
                                      </p:tavLst>
                                    </p:anim>
                                    <p:anim calcmode="lin" valueType="num">
                                      <p:cBhvr additive="base">
                                        <p:cTn id="74" dur="500" fill="hold"/>
                                        <p:tgtEl>
                                          <p:spTgt spid="192533"/>
                                        </p:tgtEl>
                                        <p:attrNameLst>
                                          <p:attrName>ppt_y</p:attrName>
                                        </p:attrNameLst>
                                      </p:cBhvr>
                                      <p:tavLst>
                                        <p:tav tm="0">
                                          <p:val>
                                            <p:strVal val="#ppt_y"/>
                                          </p:val>
                                        </p:tav>
                                        <p:tav tm="100000">
                                          <p:val>
                                            <p:strVal val="#ppt_y"/>
                                          </p:val>
                                        </p:tav>
                                      </p:tavLst>
                                    </p:anim>
                                  </p:childTnLst>
                                </p:cTn>
                              </p:par>
                            </p:childTnLst>
                          </p:cTn>
                        </p:par>
                        <p:par>
                          <p:cTn id="75" fill="hold">
                            <p:stCondLst>
                              <p:cond delay="9500"/>
                            </p:stCondLst>
                            <p:childTnLst>
                              <p:par>
                                <p:cTn id="76" presetID="2" presetClass="entr" presetSubtype="8" fill="hold" grpId="0" nodeType="afterEffect">
                                  <p:stCondLst>
                                    <p:cond delay="0"/>
                                  </p:stCondLst>
                                  <p:childTnLst>
                                    <p:set>
                                      <p:cBhvr>
                                        <p:cTn id="77" dur="1" fill="hold">
                                          <p:stCondLst>
                                            <p:cond delay="0"/>
                                          </p:stCondLst>
                                        </p:cTn>
                                        <p:tgtEl>
                                          <p:spTgt spid="192534"/>
                                        </p:tgtEl>
                                        <p:attrNameLst>
                                          <p:attrName>style.visibility</p:attrName>
                                        </p:attrNameLst>
                                      </p:cBhvr>
                                      <p:to>
                                        <p:strVal val="visible"/>
                                      </p:to>
                                    </p:set>
                                    <p:anim calcmode="lin" valueType="num">
                                      <p:cBhvr additive="base">
                                        <p:cTn id="78" dur="500" fill="hold"/>
                                        <p:tgtEl>
                                          <p:spTgt spid="192534"/>
                                        </p:tgtEl>
                                        <p:attrNameLst>
                                          <p:attrName>ppt_x</p:attrName>
                                        </p:attrNameLst>
                                      </p:cBhvr>
                                      <p:tavLst>
                                        <p:tav tm="0">
                                          <p:val>
                                            <p:strVal val="0-#ppt_w/2"/>
                                          </p:val>
                                        </p:tav>
                                        <p:tav tm="100000">
                                          <p:val>
                                            <p:strVal val="#ppt_x"/>
                                          </p:val>
                                        </p:tav>
                                      </p:tavLst>
                                    </p:anim>
                                    <p:anim calcmode="lin" valueType="num">
                                      <p:cBhvr additive="base">
                                        <p:cTn id="79" dur="500" fill="hold"/>
                                        <p:tgtEl>
                                          <p:spTgt spid="192534"/>
                                        </p:tgtEl>
                                        <p:attrNameLst>
                                          <p:attrName>ppt_y</p:attrName>
                                        </p:attrNameLst>
                                      </p:cBhvr>
                                      <p:tavLst>
                                        <p:tav tm="0">
                                          <p:val>
                                            <p:strVal val="#ppt_y"/>
                                          </p:val>
                                        </p:tav>
                                        <p:tav tm="100000">
                                          <p:val>
                                            <p:strVal val="#ppt_y"/>
                                          </p:val>
                                        </p:tav>
                                      </p:tavLst>
                                    </p:anim>
                                  </p:childTnLst>
                                </p:cTn>
                              </p:par>
                            </p:childTnLst>
                          </p:cTn>
                        </p:par>
                        <p:par>
                          <p:cTn id="80" fill="hold">
                            <p:stCondLst>
                              <p:cond delay="10000"/>
                            </p:stCondLst>
                            <p:childTnLst>
                              <p:par>
                                <p:cTn id="81" presetID="2" presetClass="entr" presetSubtype="8" fill="hold" grpId="0" nodeType="afterEffect">
                                  <p:stCondLst>
                                    <p:cond delay="0"/>
                                  </p:stCondLst>
                                  <p:childTnLst>
                                    <p:set>
                                      <p:cBhvr>
                                        <p:cTn id="82" dur="1" fill="hold">
                                          <p:stCondLst>
                                            <p:cond delay="0"/>
                                          </p:stCondLst>
                                        </p:cTn>
                                        <p:tgtEl>
                                          <p:spTgt spid="192535"/>
                                        </p:tgtEl>
                                        <p:attrNameLst>
                                          <p:attrName>style.visibility</p:attrName>
                                        </p:attrNameLst>
                                      </p:cBhvr>
                                      <p:to>
                                        <p:strVal val="visible"/>
                                      </p:to>
                                    </p:set>
                                    <p:anim calcmode="lin" valueType="num">
                                      <p:cBhvr additive="base">
                                        <p:cTn id="83" dur="500" fill="hold"/>
                                        <p:tgtEl>
                                          <p:spTgt spid="192535"/>
                                        </p:tgtEl>
                                        <p:attrNameLst>
                                          <p:attrName>ppt_x</p:attrName>
                                        </p:attrNameLst>
                                      </p:cBhvr>
                                      <p:tavLst>
                                        <p:tav tm="0">
                                          <p:val>
                                            <p:strVal val="0-#ppt_w/2"/>
                                          </p:val>
                                        </p:tav>
                                        <p:tav tm="100000">
                                          <p:val>
                                            <p:strVal val="#ppt_x"/>
                                          </p:val>
                                        </p:tav>
                                      </p:tavLst>
                                    </p:anim>
                                    <p:anim calcmode="lin" valueType="num">
                                      <p:cBhvr additive="base">
                                        <p:cTn id="84" dur="500" fill="hold"/>
                                        <p:tgtEl>
                                          <p:spTgt spid="192535"/>
                                        </p:tgtEl>
                                        <p:attrNameLst>
                                          <p:attrName>ppt_y</p:attrName>
                                        </p:attrNameLst>
                                      </p:cBhvr>
                                      <p:tavLst>
                                        <p:tav tm="0">
                                          <p:val>
                                            <p:strVal val="#ppt_y"/>
                                          </p:val>
                                        </p:tav>
                                        <p:tav tm="100000">
                                          <p:val>
                                            <p:strVal val="#ppt_y"/>
                                          </p:val>
                                        </p:tav>
                                      </p:tavLst>
                                    </p:anim>
                                  </p:childTnLst>
                                </p:cTn>
                              </p:par>
                            </p:childTnLst>
                          </p:cTn>
                        </p:par>
                        <p:par>
                          <p:cTn id="85" fill="hold">
                            <p:stCondLst>
                              <p:cond delay="10500"/>
                            </p:stCondLst>
                            <p:childTnLst>
                              <p:par>
                                <p:cTn id="86" presetID="2" presetClass="entr" presetSubtype="8" fill="hold" grpId="0" nodeType="afterEffect">
                                  <p:stCondLst>
                                    <p:cond delay="0"/>
                                  </p:stCondLst>
                                  <p:childTnLst>
                                    <p:set>
                                      <p:cBhvr>
                                        <p:cTn id="87" dur="1" fill="hold">
                                          <p:stCondLst>
                                            <p:cond delay="0"/>
                                          </p:stCondLst>
                                        </p:cTn>
                                        <p:tgtEl>
                                          <p:spTgt spid="192536"/>
                                        </p:tgtEl>
                                        <p:attrNameLst>
                                          <p:attrName>style.visibility</p:attrName>
                                        </p:attrNameLst>
                                      </p:cBhvr>
                                      <p:to>
                                        <p:strVal val="visible"/>
                                      </p:to>
                                    </p:set>
                                    <p:anim calcmode="lin" valueType="num">
                                      <p:cBhvr additive="base">
                                        <p:cTn id="88" dur="500" fill="hold"/>
                                        <p:tgtEl>
                                          <p:spTgt spid="192536"/>
                                        </p:tgtEl>
                                        <p:attrNameLst>
                                          <p:attrName>ppt_x</p:attrName>
                                        </p:attrNameLst>
                                      </p:cBhvr>
                                      <p:tavLst>
                                        <p:tav tm="0">
                                          <p:val>
                                            <p:strVal val="0-#ppt_w/2"/>
                                          </p:val>
                                        </p:tav>
                                        <p:tav tm="100000">
                                          <p:val>
                                            <p:strVal val="#ppt_x"/>
                                          </p:val>
                                        </p:tav>
                                      </p:tavLst>
                                    </p:anim>
                                    <p:anim calcmode="lin" valueType="num">
                                      <p:cBhvr additive="base">
                                        <p:cTn id="89" dur="500" fill="hold"/>
                                        <p:tgtEl>
                                          <p:spTgt spid="192536"/>
                                        </p:tgtEl>
                                        <p:attrNameLst>
                                          <p:attrName>ppt_y</p:attrName>
                                        </p:attrNameLst>
                                      </p:cBhvr>
                                      <p:tavLst>
                                        <p:tav tm="0">
                                          <p:val>
                                            <p:strVal val="#ppt_y"/>
                                          </p:val>
                                        </p:tav>
                                        <p:tav tm="100000">
                                          <p:val>
                                            <p:strVal val="#ppt_y"/>
                                          </p:val>
                                        </p:tav>
                                      </p:tavLst>
                                    </p:anim>
                                  </p:childTnLst>
                                </p:cTn>
                              </p:par>
                            </p:childTnLst>
                          </p:cTn>
                        </p:par>
                        <p:par>
                          <p:cTn id="90" fill="hold">
                            <p:stCondLst>
                              <p:cond delay="11000"/>
                            </p:stCondLst>
                            <p:childTnLst>
                              <p:par>
                                <p:cTn id="91" presetID="2" presetClass="entr" presetSubtype="8" fill="hold" grpId="0" nodeType="afterEffect">
                                  <p:stCondLst>
                                    <p:cond delay="0"/>
                                  </p:stCondLst>
                                  <p:childTnLst>
                                    <p:set>
                                      <p:cBhvr>
                                        <p:cTn id="92" dur="1" fill="hold">
                                          <p:stCondLst>
                                            <p:cond delay="0"/>
                                          </p:stCondLst>
                                        </p:cTn>
                                        <p:tgtEl>
                                          <p:spTgt spid="192537"/>
                                        </p:tgtEl>
                                        <p:attrNameLst>
                                          <p:attrName>style.visibility</p:attrName>
                                        </p:attrNameLst>
                                      </p:cBhvr>
                                      <p:to>
                                        <p:strVal val="visible"/>
                                      </p:to>
                                    </p:set>
                                    <p:anim calcmode="lin" valueType="num">
                                      <p:cBhvr additive="base">
                                        <p:cTn id="93" dur="500" fill="hold"/>
                                        <p:tgtEl>
                                          <p:spTgt spid="192537"/>
                                        </p:tgtEl>
                                        <p:attrNameLst>
                                          <p:attrName>ppt_x</p:attrName>
                                        </p:attrNameLst>
                                      </p:cBhvr>
                                      <p:tavLst>
                                        <p:tav tm="0">
                                          <p:val>
                                            <p:strVal val="0-#ppt_w/2"/>
                                          </p:val>
                                        </p:tav>
                                        <p:tav tm="100000">
                                          <p:val>
                                            <p:strVal val="#ppt_x"/>
                                          </p:val>
                                        </p:tav>
                                      </p:tavLst>
                                    </p:anim>
                                    <p:anim calcmode="lin" valueType="num">
                                      <p:cBhvr additive="base">
                                        <p:cTn id="94" dur="500" fill="hold"/>
                                        <p:tgtEl>
                                          <p:spTgt spid="192537"/>
                                        </p:tgtEl>
                                        <p:attrNameLst>
                                          <p:attrName>ppt_y</p:attrName>
                                        </p:attrNameLst>
                                      </p:cBhvr>
                                      <p:tavLst>
                                        <p:tav tm="0">
                                          <p:val>
                                            <p:strVal val="#ppt_y"/>
                                          </p:val>
                                        </p:tav>
                                        <p:tav tm="100000">
                                          <p:val>
                                            <p:strVal val="#ppt_y"/>
                                          </p:val>
                                        </p:tav>
                                      </p:tavLst>
                                    </p:anim>
                                  </p:childTnLst>
                                </p:cTn>
                              </p:par>
                            </p:childTnLst>
                          </p:cTn>
                        </p:par>
                        <p:par>
                          <p:cTn id="95" fill="hold">
                            <p:stCondLst>
                              <p:cond delay="11500"/>
                            </p:stCondLst>
                            <p:childTnLst>
                              <p:par>
                                <p:cTn id="96" presetID="2" presetClass="entr" presetSubtype="8" fill="hold" grpId="0" nodeType="afterEffect">
                                  <p:stCondLst>
                                    <p:cond delay="0"/>
                                  </p:stCondLst>
                                  <p:childTnLst>
                                    <p:set>
                                      <p:cBhvr>
                                        <p:cTn id="97" dur="1" fill="hold">
                                          <p:stCondLst>
                                            <p:cond delay="0"/>
                                          </p:stCondLst>
                                        </p:cTn>
                                        <p:tgtEl>
                                          <p:spTgt spid="192538"/>
                                        </p:tgtEl>
                                        <p:attrNameLst>
                                          <p:attrName>style.visibility</p:attrName>
                                        </p:attrNameLst>
                                      </p:cBhvr>
                                      <p:to>
                                        <p:strVal val="visible"/>
                                      </p:to>
                                    </p:set>
                                    <p:anim calcmode="lin" valueType="num">
                                      <p:cBhvr additive="base">
                                        <p:cTn id="98" dur="500" fill="hold"/>
                                        <p:tgtEl>
                                          <p:spTgt spid="192538"/>
                                        </p:tgtEl>
                                        <p:attrNameLst>
                                          <p:attrName>ppt_x</p:attrName>
                                        </p:attrNameLst>
                                      </p:cBhvr>
                                      <p:tavLst>
                                        <p:tav tm="0">
                                          <p:val>
                                            <p:strVal val="0-#ppt_w/2"/>
                                          </p:val>
                                        </p:tav>
                                        <p:tav tm="100000">
                                          <p:val>
                                            <p:strVal val="#ppt_x"/>
                                          </p:val>
                                        </p:tav>
                                      </p:tavLst>
                                    </p:anim>
                                    <p:anim calcmode="lin" valueType="num">
                                      <p:cBhvr additive="base">
                                        <p:cTn id="99" dur="500" fill="hold"/>
                                        <p:tgtEl>
                                          <p:spTgt spid="192538"/>
                                        </p:tgtEl>
                                        <p:attrNameLst>
                                          <p:attrName>ppt_y</p:attrName>
                                        </p:attrNameLst>
                                      </p:cBhvr>
                                      <p:tavLst>
                                        <p:tav tm="0">
                                          <p:val>
                                            <p:strVal val="#ppt_y"/>
                                          </p:val>
                                        </p:tav>
                                        <p:tav tm="100000">
                                          <p:val>
                                            <p:strVal val="#ppt_y"/>
                                          </p:val>
                                        </p:tav>
                                      </p:tavLst>
                                    </p:anim>
                                  </p:childTnLst>
                                </p:cTn>
                              </p:par>
                            </p:childTnLst>
                          </p:cTn>
                        </p:par>
                        <p:par>
                          <p:cTn id="100" fill="hold">
                            <p:stCondLst>
                              <p:cond delay="12000"/>
                            </p:stCondLst>
                            <p:childTnLst>
                              <p:par>
                                <p:cTn id="101" presetID="2" presetClass="entr" presetSubtype="8" fill="hold" grpId="0" nodeType="afterEffect">
                                  <p:stCondLst>
                                    <p:cond delay="0"/>
                                  </p:stCondLst>
                                  <p:childTnLst>
                                    <p:set>
                                      <p:cBhvr>
                                        <p:cTn id="102" dur="1" fill="hold">
                                          <p:stCondLst>
                                            <p:cond delay="0"/>
                                          </p:stCondLst>
                                        </p:cTn>
                                        <p:tgtEl>
                                          <p:spTgt spid="192539"/>
                                        </p:tgtEl>
                                        <p:attrNameLst>
                                          <p:attrName>style.visibility</p:attrName>
                                        </p:attrNameLst>
                                      </p:cBhvr>
                                      <p:to>
                                        <p:strVal val="visible"/>
                                      </p:to>
                                    </p:set>
                                    <p:anim calcmode="lin" valueType="num">
                                      <p:cBhvr additive="base">
                                        <p:cTn id="103" dur="500" fill="hold"/>
                                        <p:tgtEl>
                                          <p:spTgt spid="192539"/>
                                        </p:tgtEl>
                                        <p:attrNameLst>
                                          <p:attrName>ppt_x</p:attrName>
                                        </p:attrNameLst>
                                      </p:cBhvr>
                                      <p:tavLst>
                                        <p:tav tm="0">
                                          <p:val>
                                            <p:strVal val="0-#ppt_w/2"/>
                                          </p:val>
                                        </p:tav>
                                        <p:tav tm="100000">
                                          <p:val>
                                            <p:strVal val="#ppt_x"/>
                                          </p:val>
                                        </p:tav>
                                      </p:tavLst>
                                    </p:anim>
                                    <p:anim calcmode="lin" valueType="num">
                                      <p:cBhvr additive="base">
                                        <p:cTn id="104" dur="500" fill="hold"/>
                                        <p:tgtEl>
                                          <p:spTgt spid="192539"/>
                                        </p:tgtEl>
                                        <p:attrNameLst>
                                          <p:attrName>ppt_y</p:attrName>
                                        </p:attrNameLst>
                                      </p:cBhvr>
                                      <p:tavLst>
                                        <p:tav tm="0">
                                          <p:val>
                                            <p:strVal val="#ppt_y"/>
                                          </p:val>
                                        </p:tav>
                                        <p:tav tm="100000">
                                          <p:val>
                                            <p:strVal val="#ppt_y"/>
                                          </p:val>
                                        </p:tav>
                                      </p:tavLst>
                                    </p:anim>
                                  </p:childTnLst>
                                </p:cTn>
                              </p:par>
                            </p:childTnLst>
                          </p:cTn>
                        </p:par>
                        <p:par>
                          <p:cTn id="105" fill="hold">
                            <p:stCondLst>
                              <p:cond delay="12500"/>
                            </p:stCondLst>
                            <p:childTnLst>
                              <p:par>
                                <p:cTn id="106" presetID="2" presetClass="entr" presetSubtype="8" fill="hold" grpId="0" nodeType="afterEffect">
                                  <p:stCondLst>
                                    <p:cond delay="0"/>
                                  </p:stCondLst>
                                  <p:childTnLst>
                                    <p:set>
                                      <p:cBhvr>
                                        <p:cTn id="107" dur="1" fill="hold">
                                          <p:stCondLst>
                                            <p:cond delay="0"/>
                                          </p:stCondLst>
                                        </p:cTn>
                                        <p:tgtEl>
                                          <p:spTgt spid="192540"/>
                                        </p:tgtEl>
                                        <p:attrNameLst>
                                          <p:attrName>style.visibility</p:attrName>
                                        </p:attrNameLst>
                                      </p:cBhvr>
                                      <p:to>
                                        <p:strVal val="visible"/>
                                      </p:to>
                                    </p:set>
                                    <p:anim calcmode="lin" valueType="num">
                                      <p:cBhvr additive="base">
                                        <p:cTn id="108" dur="500" fill="hold"/>
                                        <p:tgtEl>
                                          <p:spTgt spid="192540"/>
                                        </p:tgtEl>
                                        <p:attrNameLst>
                                          <p:attrName>ppt_x</p:attrName>
                                        </p:attrNameLst>
                                      </p:cBhvr>
                                      <p:tavLst>
                                        <p:tav tm="0">
                                          <p:val>
                                            <p:strVal val="0-#ppt_w/2"/>
                                          </p:val>
                                        </p:tav>
                                        <p:tav tm="100000">
                                          <p:val>
                                            <p:strVal val="#ppt_x"/>
                                          </p:val>
                                        </p:tav>
                                      </p:tavLst>
                                    </p:anim>
                                    <p:anim calcmode="lin" valueType="num">
                                      <p:cBhvr additive="base">
                                        <p:cTn id="109" dur="500" fill="hold"/>
                                        <p:tgtEl>
                                          <p:spTgt spid="192540"/>
                                        </p:tgtEl>
                                        <p:attrNameLst>
                                          <p:attrName>ppt_y</p:attrName>
                                        </p:attrNameLst>
                                      </p:cBhvr>
                                      <p:tavLst>
                                        <p:tav tm="0">
                                          <p:val>
                                            <p:strVal val="#ppt_y"/>
                                          </p:val>
                                        </p:tav>
                                        <p:tav tm="100000">
                                          <p:val>
                                            <p:strVal val="#ppt_y"/>
                                          </p:val>
                                        </p:tav>
                                      </p:tavLst>
                                    </p:anim>
                                  </p:childTnLst>
                                </p:cTn>
                              </p:par>
                            </p:childTnLst>
                          </p:cTn>
                        </p:par>
                        <p:par>
                          <p:cTn id="110" fill="hold">
                            <p:stCondLst>
                              <p:cond delay="13000"/>
                            </p:stCondLst>
                            <p:childTnLst>
                              <p:par>
                                <p:cTn id="111" presetID="2" presetClass="entr" presetSubtype="8" fill="hold" grpId="0" nodeType="afterEffect">
                                  <p:stCondLst>
                                    <p:cond delay="0"/>
                                  </p:stCondLst>
                                  <p:childTnLst>
                                    <p:set>
                                      <p:cBhvr>
                                        <p:cTn id="112" dur="1" fill="hold">
                                          <p:stCondLst>
                                            <p:cond delay="0"/>
                                          </p:stCondLst>
                                        </p:cTn>
                                        <p:tgtEl>
                                          <p:spTgt spid="192541"/>
                                        </p:tgtEl>
                                        <p:attrNameLst>
                                          <p:attrName>style.visibility</p:attrName>
                                        </p:attrNameLst>
                                      </p:cBhvr>
                                      <p:to>
                                        <p:strVal val="visible"/>
                                      </p:to>
                                    </p:set>
                                    <p:anim calcmode="lin" valueType="num">
                                      <p:cBhvr additive="base">
                                        <p:cTn id="113" dur="500" fill="hold"/>
                                        <p:tgtEl>
                                          <p:spTgt spid="192541"/>
                                        </p:tgtEl>
                                        <p:attrNameLst>
                                          <p:attrName>ppt_x</p:attrName>
                                        </p:attrNameLst>
                                      </p:cBhvr>
                                      <p:tavLst>
                                        <p:tav tm="0">
                                          <p:val>
                                            <p:strVal val="0-#ppt_w/2"/>
                                          </p:val>
                                        </p:tav>
                                        <p:tav tm="100000">
                                          <p:val>
                                            <p:strVal val="#ppt_x"/>
                                          </p:val>
                                        </p:tav>
                                      </p:tavLst>
                                    </p:anim>
                                    <p:anim calcmode="lin" valueType="num">
                                      <p:cBhvr additive="base">
                                        <p:cTn id="114" dur="500" fill="hold"/>
                                        <p:tgtEl>
                                          <p:spTgt spid="192541"/>
                                        </p:tgtEl>
                                        <p:attrNameLst>
                                          <p:attrName>ppt_y</p:attrName>
                                        </p:attrNameLst>
                                      </p:cBhvr>
                                      <p:tavLst>
                                        <p:tav tm="0">
                                          <p:val>
                                            <p:strVal val="#ppt_y"/>
                                          </p:val>
                                        </p:tav>
                                        <p:tav tm="100000">
                                          <p:val>
                                            <p:strVal val="#ppt_y"/>
                                          </p:val>
                                        </p:tav>
                                      </p:tavLst>
                                    </p:anim>
                                  </p:childTnLst>
                                </p:cTn>
                              </p:par>
                            </p:childTnLst>
                          </p:cTn>
                        </p:par>
                        <p:par>
                          <p:cTn id="115" fill="hold">
                            <p:stCondLst>
                              <p:cond delay="13500"/>
                            </p:stCondLst>
                            <p:childTnLst>
                              <p:par>
                                <p:cTn id="116" presetID="2" presetClass="entr" presetSubtype="8" fill="hold" grpId="0" nodeType="afterEffect">
                                  <p:stCondLst>
                                    <p:cond delay="0"/>
                                  </p:stCondLst>
                                  <p:childTnLst>
                                    <p:set>
                                      <p:cBhvr>
                                        <p:cTn id="117" dur="1" fill="hold">
                                          <p:stCondLst>
                                            <p:cond delay="0"/>
                                          </p:stCondLst>
                                        </p:cTn>
                                        <p:tgtEl>
                                          <p:spTgt spid="192542"/>
                                        </p:tgtEl>
                                        <p:attrNameLst>
                                          <p:attrName>style.visibility</p:attrName>
                                        </p:attrNameLst>
                                      </p:cBhvr>
                                      <p:to>
                                        <p:strVal val="visible"/>
                                      </p:to>
                                    </p:set>
                                    <p:anim calcmode="lin" valueType="num">
                                      <p:cBhvr additive="base">
                                        <p:cTn id="118" dur="500" fill="hold"/>
                                        <p:tgtEl>
                                          <p:spTgt spid="192542"/>
                                        </p:tgtEl>
                                        <p:attrNameLst>
                                          <p:attrName>ppt_x</p:attrName>
                                        </p:attrNameLst>
                                      </p:cBhvr>
                                      <p:tavLst>
                                        <p:tav tm="0">
                                          <p:val>
                                            <p:strVal val="0-#ppt_w/2"/>
                                          </p:val>
                                        </p:tav>
                                        <p:tav tm="100000">
                                          <p:val>
                                            <p:strVal val="#ppt_x"/>
                                          </p:val>
                                        </p:tav>
                                      </p:tavLst>
                                    </p:anim>
                                    <p:anim calcmode="lin" valueType="num">
                                      <p:cBhvr additive="base">
                                        <p:cTn id="119" dur="500" fill="hold"/>
                                        <p:tgtEl>
                                          <p:spTgt spid="1925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animBg="1" autoUpdateAnimBg="0"/>
      <p:bldP spid="192516" grpId="0" animBg="1" autoUpdateAnimBg="0"/>
      <p:bldP spid="192517" grpId="0" animBg="1" autoUpdateAnimBg="0"/>
      <p:bldP spid="192518" grpId="0" animBg="1" autoUpdateAnimBg="0"/>
      <p:bldP spid="192519" grpId="0" animBg="1" autoUpdateAnimBg="0"/>
      <p:bldP spid="192520" grpId="0" animBg="1" autoUpdateAnimBg="0"/>
      <p:bldP spid="192521" grpId="0" animBg="1" autoUpdateAnimBg="0"/>
      <p:bldP spid="192522" grpId="0" animBg="1" autoUpdateAnimBg="0"/>
      <p:bldP spid="192523" grpId="0" animBg="1" autoUpdateAnimBg="0"/>
      <p:bldP spid="192524" grpId="0" animBg="1" autoUpdateAnimBg="0"/>
      <p:bldP spid="192525" grpId="0" animBg="1" autoUpdateAnimBg="0"/>
      <p:bldP spid="192526" grpId="0" animBg="1" autoUpdateAnimBg="0"/>
      <p:bldP spid="192527" grpId="0" animBg="1"/>
      <p:bldP spid="192528" grpId="0" animBg="1"/>
      <p:bldP spid="192529" grpId="0" animBg="1"/>
      <p:bldP spid="192530" grpId="0" animBg="1"/>
      <p:bldP spid="192531" grpId="0" animBg="1"/>
      <p:bldP spid="192532" grpId="0" animBg="1"/>
      <p:bldP spid="192533" grpId="0" animBg="1"/>
      <p:bldP spid="192534" grpId="0" animBg="1"/>
      <p:bldP spid="192535" grpId="0" animBg="1"/>
      <p:bldP spid="192536" grpId="0" animBg="1"/>
      <p:bldP spid="192537" grpId="0" animBg="1"/>
      <p:bldP spid="192538" grpId="0" animBg="1"/>
      <p:bldP spid="192539" grpId="0" animBg="1"/>
      <p:bldP spid="192540" grpId="0" animBg="1"/>
      <p:bldP spid="192541" grpId="0" animBg="1"/>
      <p:bldP spid="19254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2"/>
          <p:cNvSpPr txBox="1">
            <a:spLocks noChangeArrowheads="1"/>
          </p:cNvSpPr>
          <p:nvPr/>
        </p:nvSpPr>
        <p:spPr bwMode="auto">
          <a:xfrm>
            <a:off x="395536" y="743421"/>
            <a:ext cx="8153400" cy="4521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Directed graphs can represent </a:t>
            </a:r>
            <a:r>
              <a:rPr lang="zh-CN" altLang="en-US" sz="2400" b="1" dirty="0">
                <a:solidFill>
                  <a:srgbClr val="A50021"/>
                </a:solidFill>
                <a:latin typeface="Arial" panose="020B0604020202020204" pitchFamily="34" charset="0"/>
                <a:ea typeface="黑体" panose="02010609060101010101" charset="-122"/>
                <a:cs typeface="Arial" panose="020B0604020202020204" pitchFamily="34" charset="0"/>
              </a:rPr>
              <a:t>construction blueprints</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 </a:t>
            </a:r>
            <a:r>
              <a:rPr lang="zh-CN" altLang="en-US" sz="2400" b="1" dirty="0">
                <a:solidFill>
                  <a:srgbClr val="A50021"/>
                </a:solidFill>
                <a:latin typeface="Arial" panose="020B0604020202020204" pitchFamily="34" charset="0"/>
                <a:ea typeface="黑体" panose="02010609060101010101" charset="-122"/>
                <a:cs typeface="Arial" panose="020B0604020202020204" pitchFamily="34" charset="0"/>
              </a:rPr>
              <a:t>production flowcharts, or course schedules for students</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 </a:t>
            </a:r>
            <a:r>
              <a:rPr lang="zh-CN" altLang="en-US" sz="2400" b="1" dirty="0">
                <a:solidFill>
                  <a:srgbClr val="A50021"/>
                </a:solidFill>
                <a:latin typeface="Arial" panose="020B0604020202020204" pitchFamily="34" charset="0"/>
                <a:ea typeface="黑体" panose="02010609060101010101" charset="-122"/>
                <a:cs typeface="Arial" panose="020B0604020202020204" pitchFamily="34" charset="0"/>
              </a:rPr>
              <a:t>Each vertex in the graph corresponds to a sub-project or course</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 while directed edges </a:t>
            </a:r>
            <a:r>
              <a:rPr lang="en-US" altLang="zh-CN" sz="2400" b="1" dirty="0">
                <a:solidFill>
                  <a:srgbClr val="000099"/>
                </a:solidFill>
                <a:latin typeface="Arial" panose="020B0604020202020204" pitchFamily="34" charset="0"/>
                <a:ea typeface="黑体" panose="02010609060101010101" charset="-122"/>
                <a:cs typeface="Arial" panose="020B0604020202020204" pitchFamily="34" charset="0"/>
                <a:sym typeface="+mn-ea"/>
              </a:rPr>
              <a:t>&lt;Vi, </a:t>
            </a:r>
            <a:r>
              <a:rPr lang="en-US" altLang="zh-CN" sz="2400" b="1" dirty="0" err="1">
                <a:solidFill>
                  <a:srgbClr val="000099"/>
                </a:solidFill>
                <a:latin typeface="Arial" panose="020B0604020202020204" pitchFamily="34" charset="0"/>
                <a:ea typeface="黑体" panose="02010609060101010101" charset="-122"/>
                <a:cs typeface="Arial" panose="020B0604020202020204" pitchFamily="34" charset="0"/>
                <a:sym typeface="+mn-ea"/>
              </a:rPr>
              <a:t>Vj</a:t>
            </a:r>
            <a:r>
              <a:rPr lang="en-US" altLang="zh-CN" sz="2400" b="1" dirty="0">
                <a:solidFill>
                  <a:srgbClr val="000099"/>
                </a:solidFill>
                <a:latin typeface="Arial" panose="020B0604020202020204" pitchFamily="34" charset="0"/>
                <a:ea typeface="黑体" panose="02010609060101010101" charset="-122"/>
                <a:cs typeface="Arial" panose="020B0604020202020204" pitchFamily="34" charset="0"/>
                <a:sym typeface="+mn-ea"/>
              </a:rPr>
              <a:t>&gt;</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 indicate that sub-project Vi must be completed before </a:t>
            </a:r>
            <a:r>
              <a:rPr lang="en-US" altLang="zh-CN" sz="2400" b="1" dirty="0" err="1">
                <a:solidFill>
                  <a:srgbClr val="000099"/>
                </a:solidFill>
                <a:latin typeface="Arial" panose="020B0604020202020204" pitchFamily="34" charset="0"/>
                <a:ea typeface="黑体" panose="02010609060101010101" charset="-122"/>
                <a:cs typeface="Arial" panose="020B0604020202020204" pitchFamily="34" charset="0"/>
                <a:sym typeface="+mn-ea"/>
              </a:rPr>
              <a:t>Vj</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 The topological sorting of these vertices translates to establishing a </a:t>
            </a:r>
            <a:r>
              <a:rPr lang="zh-CN" altLang="en-US" sz="2400" b="1" dirty="0">
                <a:solidFill>
                  <a:srgbClr val="FF0000"/>
                </a:solidFill>
                <a:latin typeface="Arial" panose="020B0604020202020204" pitchFamily="34" charset="0"/>
                <a:ea typeface="黑体" panose="02010609060101010101" charset="-122"/>
                <a:cs typeface="Arial" panose="020B0604020202020204" pitchFamily="34" charset="0"/>
              </a:rPr>
              <a:t>linear sequence </a:t>
            </a:r>
            <a:r>
              <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rPr>
              <a:t>for sub-projects or courses in practical scenarios. When sequential execution is required by constraints, the topological order should be strictly followed in implementation.</a:t>
            </a:r>
            <a:endParaRPr lang="zh-CN" altLang="en-US" sz="2400" b="1" dirty="0">
              <a:solidFill>
                <a:srgbClr val="000099"/>
              </a:solidFill>
              <a:latin typeface="Arial" panose="020B0604020202020204" pitchFamily="34" charset="0"/>
              <a:ea typeface="黑体" panose="02010609060101010101"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ChangeArrowheads="1"/>
          </p:cNvSpPr>
          <p:nvPr/>
        </p:nvSpPr>
        <p:spPr bwMode="auto">
          <a:xfrm>
            <a:off x="416024" y="628638"/>
            <a:ext cx="6172200" cy="3246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There is one project with six sub-projects</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The first: unconditional;</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Item 2: After the completion of items 1 and 3;</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Item 3: after item 1;</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Item 4: after items 1 and 6;</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Item 5: after items 3, 4 and 6;</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Item 6: Unconditional;</a:t>
            </a:r>
            <a:endParaRPr lang="zh-CN" altLang="en-US" sz="4000" b="1" dirty="0">
              <a:latin typeface="Arial" panose="020B0604020202020204" pitchFamily="34" charset="0"/>
              <a:ea typeface="楷体_GB2312" pitchFamily="49" charset="-122"/>
              <a:cs typeface="Arial" panose="020B0604020202020204" pitchFamily="34" charset="0"/>
            </a:endParaRPr>
          </a:p>
          <a:p>
            <a:pPr>
              <a:spcBef>
                <a:spcPct val="20000"/>
              </a:spcBef>
            </a:pPr>
            <a:r>
              <a:rPr lang="zh-CN" altLang="en-US" sz="2000" b="1" dirty="0">
                <a:latin typeface="Arial" panose="020B0604020202020204" pitchFamily="34" charset="0"/>
                <a:ea typeface="楷体_GB2312" pitchFamily="49" charset="-122"/>
                <a:cs typeface="Arial" panose="020B0604020202020204" pitchFamily="34" charset="0"/>
              </a:rPr>
              <a:t>The sequential relationship of the project can be represented by a directed graph.</a:t>
            </a:r>
            <a:endParaRPr lang="zh-CN" altLang="en-US" sz="2000" b="1" dirty="0">
              <a:latin typeface="Arial" panose="020B0604020202020204" pitchFamily="34" charset="0"/>
              <a:ea typeface="楷体_GB2312" pitchFamily="49" charset="-122"/>
              <a:cs typeface="Arial" panose="020B0604020202020204" pitchFamily="34" charset="0"/>
            </a:endParaRPr>
          </a:p>
        </p:txBody>
      </p:sp>
      <p:sp>
        <p:nvSpPr>
          <p:cNvPr id="194563" name="Oval 3"/>
          <p:cNvSpPr>
            <a:spLocks noChangeArrowheads="1"/>
          </p:cNvSpPr>
          <p:nvPr/>
        </p:nvSpPr>
        <p:spPr bwMode="auto">
          <a:xfrm>
            <a:off x="7543800" y="1143000"/>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2</a:t>
            </a:r>
            <a:endParaRPr lang="en-US" altLang="zh-CN" sz="2800" b="1"/>
          </a:p>
        </p:txBody>
      </p:sp>
      <p:sp>
        <p:nvSpPr>
          <p:cNvPr id="194564" name="Oval 4"/>
          <p:cNvSpPr>
            <a:spLocks noChangeArrowheads="1"/>
          </p:cNvSpPr>
          <p:nvPr/>
        </p:nvSpPr>
        <p:spPr bwMode="auto">
          <a:xfrm>
            <a:off x="6858000" y="1928813"/>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1</a:t>
            </a:r>
            <a:endParaRPr lang="en-US" altLang="zh-CN" sz="2800" b="1"/>
          </a:p>
        </p:txBody>
      </p:sp>
      <p:sp>
        <p:nvSpPr>
          <p:cNvPr id="194565" name="Oval 5"/>
          <p:cNvSpPr>
            <a:spLocks noChangeArrowheads="1"/>
          </p:cNvSpPr>
          <p:nvPr/>
        </p:nvSpPr>
        <p:spPr bwMode="auto">
          <a:xfrm>
            <a:off x="8229600" y="1928813"/>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3</a:t>
            </a:r>
            <a:endParaRPr lang="en-US" altLang="zh-CN" sz="2800" b="1"/>
          </a:p>
        </p:txBody>
      </p:sp>
      <p:sp>
        <p:nvSpPr>
          <p:cNvPr id="194566" name="Oval 6"/>
          <p:cNvSpPr>
            <a:spLocks noChangeArrowheads="1"/>
          </p:cNvSpPr>
          <p:nvPr/>
        </p:nvSpPr>
        <p:spPr bwMode="auto">
          <a:xfrm>
            <a:off x="6858000" y="2919413"/>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4</a:t>
            </a:r>
            <a:endParaRPr lang="en-US" altLang="zh-CN" sz="2800" b="1"/>
          </a:p>
        </p:txBody>
      </p:sp>
      <p:sp>
        <p:nvSpPr>
          <p:cNvPr id="194567" name="Oval 7"/>
          <p:cNvSpPr>
            <a:spLocks noChangeArrowheads="1"/>
          </p:cNvSpPr>
          <p:nvPr/>
        </p:nvSpPr>
        <p:spPr bwMode="auto">
          <a:xfrm>
            <a:off x="8229600" y="2919413"/>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5</a:t>
            </a:r>
            <a:endParaRPr lang="en-US" altLang="zh-CN" sz="2800" b="1"/>
          </a:p>
        </p:txBody>
      </p:sp>
      <p:sp>
        <p:nvSpPr>
          <p:cNvPr id="194568" name="Oval 8"/>
          <p:cNvSpPr>
            <a:spLocks noChangeArrowheads="1"/>
          </p:cNvSpPr>
          <p:nvPr/>
        </p:nvSpPr>
        <p:spPr bwMode="auto">
          <a:xfrm>
            <a:off x="7620000" y="3657600"/>
            <a:ext cx="304800" cy="304800"/>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1400" b="1"/>
              <a:t>6</a:t>
            </a:r>
            <a:endParaRPr lang="en-US" altLang="zh-CN" sz="2800" b="1"/>
          </a:p>
        </p:txBody>
      </p:sp>
      <p:sp>
        <p:nvSpPr>
          <p:cNvPr id="194569" name="Line 9"/>
          <p:cNvSpPr>
            <a:spLocks noChangeShapeType="1"/>
          </p:cNvSpPr>
          <p:nvPr/>
        </p:nvSpPr>
        <p:spPr bwMode="auto">
          <a:xfrm flipV="1">
            <a:off x="7086600" y="1371600"/>
            <a:ext cx="457200" cy="5334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0" name="Line 10"/>
          <p:cNvSpPr>
            <a:spLocks noChangeShapeType="1"/>
          </p:cNvSpPr>
          <p:nvPr/>
        </p:nvSpPr>
        <p:spPr bwMode="auto">
          <a:xfrm flipV="1">
            <a:off x="7162800" y="2057400"/>
            <a:ext cx="1066800" cy="23813"/>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1" name="Line 11"/>
          <p:cNvSpPr>
            <a:spLocks noChangeShapeType="1"/>
          </p:cNvSpPr>
          <p:nvPr/>
        </p:nvSpPr>
        <p:spPr bwMode="auto">
          <a:xfrm flipH="1" flipV="1">
            <a:off x="7848600" y="1371600"/>
            <a:ext cx="533400" cy="53340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2" name="Line 12"/>
          <p:cNvSpPr>
            <a:spLocks noChangeShapeType="1"/>
          </p:cNvSpPr>
          <p:nvPr/>
        </p:nvSpPr>
        <p:spPr bwMode="auto">
          <a:xfrm>
            <a:off x="7010400" y="2286000"/>
            <a:ext cx="0" cy="633413"/>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3" name="Line 13"/>
          <p:cNvSpPr>
            <a:spLocks noChangeShapeType="1"/>
          </p:cNvSpPr>
          <p:nvPr/>
        </p:nvSpPr>
        <p:spPr bwMode="auto">
          <a:xfrm>
            <a:off x="8382000" y="2286000"/>
            <a:ext cx="0" cy="633413"/>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4" name="Line 14"/>
          <p:cNvSpPr>
            <a:spLocks noChangeShapeType="1"/>
          </p:cNvSpPr>
          <p:nvPr/>
        </p:nvSpPr>
        <p:spPr bwMode="auto">
          <a:xfrm flipV="1">
            <a:off x="7162800" y="3048000"/>
            <a:ext cx="1143000" cy="23813"/>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5" name="Line 15"/>
          <p:cNvSpPr>
            <a:spLocks noChangeShapeType="1"/>
          </p:cNvSpPr>
          <p:nvPr/>
        </p:nvSpPr>
        <p:spPr bwMode="auto">
          <a:xfrm flipH="1" flipV="1">
            <a:off x="7086600" y="3200400"/>
            <a:ext cx="533400" cy="59055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6" name="Line 16"/>
          <p:cNvSpPr>
            <a:spLocks noChangeShapeType="1"/>
          </p:cNvSpPr>
          <p:nvPr/>
        </p:nvSpPr>
        <p:spPr bwMode="auto">
          <a:xfrm flipV="1">
            <a:off x="7924800" y="3200400"/>
            <a:ext cx="457200" cy="528638"/>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194577" name="Rectangle 17"/>
          <p:cNvSpPr>
            <a:spLocks noChangeArrowheads="1"/>
          </p:cNvSpPr>
          <p:nvPr/>
        </p:nvSpPr>
        <p:spPr bwMode="auto">
          <a:xfrm>
            <a:off x="250825" y="5085080"/>
            <a:ext cx="336931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a:latin typeface="Arial" panose="020B0604020202020204" pitchFamily="34" charset="0"/>
                <a:ea typeface="楷体_GB2312" pitchFamily="49" charset="-122"/>
                <a:cs typeface="Arial" panose="020B0604020202020204" pitchFamily="34" charset="0"/>
              </a:rPr>
              <a:t>Topological sequence:</a:t>
            </a:r>
            <a:endParaRPr lang="zh-CN" altLang="en-US" sz="2000" b="1">
              <a:latin typeface="Arial" panose="020B0604020202020204" pitchFamily="34" charset="0"/>
              <a:ea typeface="楷体_GB2312" pitchFamily="49" charset="-122"/>
              <a:cs typeface="Arial" panose="020B0604020202020204" pitchFamily="34" charset="0"/>
            </a:endParaRPr>
          </a:p>
        </p:txBody>
      </p:sp>
      <p:sp>
        <p:nvSpPr>
          <p:cNvPr id="194578" name="Rectangle 18"/>
          <p:cNvSpPr>
            <a:spLocks noChangeArrowheads="1"/>
          </p:cNvSpPr>
          <p:nvPr/>
        </p:nvSpPr>
        <p:spPr bwMode="auto">
          <a:xfrm>
            <a:off x="3131503" y="5012794"/>
            <a:ext cx="3600450" cy="70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1800" b="1">
                <a:solidFill>
                  <a:srgbClr val="FF0000"/>
                </a:solidFill>
                <a:latin typeface="楷体_GB2312" pitchFamily="49" charset="-122"/>
                <a:ea typeface="楷体_GB2312" pitchFamily="49" charset="-122"/>
              </a:rPr>
              <a:t>6， 1， 4， 3， 2， 5</a:t>
            </a:r>
            <a:endParaRPr lang="en-US" altLang="zh-CN" sz="3600" b="1">
              <a:solidFill>
                <a:srgbClr val="FF0000"/>
              </a:solidFill>
              <a:latin typeface="楷体_GB2312" pitchFamily="49" charset="-122"/>
              <a:ea typeface="楷体_GB2312" pitchFamily="49" charset="-122"/>
            </a:endParaRPr>
          </a:p>
          <a:p>
            <a:pPr>
              <a:spcBef>
                <a:spcPct val="20000"/>
              </a:spcBef>
            </a:pPr>
            <a:r>
              <a:rPr lang="en-US" altLang="zh-CN" sz="1800" b="1">
                <a:solidFill>
                  <a:srgbClr val="FF0000"/>
                </a:solidFill>
                <a:latin typeface="楷体_GB2312" pitchFamily="49" charset="-122"/>
                <a:ea typeface="楷体_GB2312" pitchFamily="49" charset="-122"/>
              </a:rPr>
              <a:t>1， 3， 2， 6， 4， 5</a:t>
            </a:r>
            <a:endParaRPr lang="en-US" altLang="zh-CN" sz="1800" b="1">
              <a:solidFill>
                <a:srgbClr val="FF0000"/>
              </a:solidFill>
              <a:latin typeface="楷体_GB2312" pitchFamily="49" charset="-122"/>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0-#ppt_w/2"/>
                                          </p:val>
                                        </p:tav>
                                        <p:tav tm="100000">
                                          <p:val>
                                            <p:strVal val="#ppt_x"/>
                                          </p:val>
                                        </p:tav>
                                      </p:tavLst>
                                    </p:anim>
                                    <p:anim calcmode="lin" valueType="num">
                                      <p:cBhvr additive="base">
                                        <p:cTn id="8" dur="500" fill="hold"/>
                                        <p:tgtEl>
                                          <p:spTgt spid="1945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94564"/>
                                        </p:tgtEl>
                                        <p:attrNameLst>
                                          <p:attrName>style.visibility</p:attrName>
                                        </p:attrNameLst>
                                      </p:cBhvr>
                                      <p:to>
                                        <p:strVal val="visible"/>
                                      </p:to>
                                    </p:set>
                                    <p:anim calcmode="lin" valueType="num">
                                      <p:cBhvr additive="base">
                                        <p:cTn id="12" dur="500" fill="hold"/>
                                        <p:tgtEl>
                                          <p:spTgt spid="194564"/>
                                        </p:tgtEl>
                                        <p:attrNameLst>
                                          <p:attrName>ppt_x</p:attrName>
                                        </p:attrNameLst>
                                      </p:cBhvr>
                                      <p:tavLst>
                                        <p:tav tm="0">
                                          <p:val>
                                            <p:strVal val="0-#ppt_w/2"/>
                                          </p:val>
                                        </p:tav>
                                        <p:tav tm="100000">
                                          <p:val>
                                            <p:strVal val="#ppt_x"/>
                                          </p:val>
                                        </p:tav>
                                      </p:tavLst>
                                    </p:anim>
                                    <p:anim calcmode="lin" valueType="num">
                                      <p:cBhvr additive="base">
                                        <p:cTn id="13" dur="500" fill="hold"/>
                                        <p:tgtEl>
                                          <p:spTgt spid="19456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94565"/>
                                        </p:tgtEl>
                                        <p:attrNameLst>
                                          <p:attrName>style.visibility</p:attrName>
                                        </p:attrNameLst>
                                      </p:cBhvr>
                                      <p:to>
                                        <p:strVal val="visible"/>
                                      </p:to>
                                    </p:set>
                                    <p:anim calcmode="lin" valueType="num">
                                      <p:cBhvr additive="base">
                                        <p:cTn id="17" dur="500" fill="hold"/>
                                        <p:tgtEl>
                                          <p:spTgt spid="194565"/>
                                        </p:tgtEl>
                                        <p:attrNameLst>
                                          <p:attrName>ppt_x</p:attrName>
                                        </p:attrNameLst>
                                      </p:cBhvr>
                                      <p:tavLst>
                                        <p:tav tm="0">
                                          <p:val>
                                            <p:strVal val="0-#ppt_w/2"/>
                                          </p:val>
                                        </p:tav>
                                        <p:tav tm="100000">
                                          <p:val>
                                            <p:strVal val="#ppt_x"/>
                                          </p:val>
                                        </p:tav>
                                      </p:tavLst>
                                    </p:anim>
                                    <p:anim calcmode="lin" valueType="num">
                                      <p:cBhvr additive="base">
                                        <p:cTn id="18" dur="500" fill="hold"/>
                                        <p:tgtEl>
                                          <p:spTgt spid="194565"/>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94566"/>
                                        </p:tgtEl>
                                        <p:attrNameLst>
                                          <p:attrName>style.visibility</p:attrName>
                                        </p:attrNameLst>
                                      </p:cBhvr>
                                      <p:to>
                                        <p:strVal val="visible"/>
                                      </p:to>
                                    </p:set>
                                    <p:anim calcmode="lin" valueType="num">
                                      <p:cBhvr additive="base">
                                        <p:cTn id="22" dur="500" fill="hold"/>
                                        <p:tgtEl>
                                          <p:spTgt spid="194566"/>
                                        </p:tgtEl>
                                        <p:attrNameLst>
                                          <p:attrName>ppt_x</p:attrName>
                                        </p:attrNameLst>
                                      </p:cBhvr>
                                      <p:tavLst>
                                        <p:tav tm="0">
                                          <p:val>
                                            <p:strVal val="0-#ppt_w/2"/>
                                          </p:val>
                                        </p:tav>
                                        <p:tav tm="100000">
                                          <p:val>
                                            <p:strVal val="#ppt_x"/>
                                          </p:val>
                                        </p:tav>
                                      </p:tavLst>
                                    </p:anim>
                                    <p:anim calcmode="lin" valueType="num">
                                      <p:cBhvr additive="base">
                                        <p:cTn id="23" dur="500" fill="hold"/>
                                        <p:tgtEl>
                                          <p:spTgt spid="194566"/>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94567"/>
                                        </p:tgtEl>
                                        <p:attrNameLst>
                                          <p:attrName>style.visibility</p:attrName>
                                        </p:attrNameLst>
                                      </p:cBhvr>
                                      <p:to>
                                        <p:strVal val="visible"/>
                                      </p:to>
                                    </p:set>
                                    <p:anim calcmode="lin" valueType="num">
                                      <p:cBhvr additive="base">
                                        <p:cTn id="27" dur="500" fill="hold"/>
                                        <p:tgtEl>
                                          <p:spTgt spid="194567"/>
                                        </p:tgtEl>
                                        <p:attrNameLst>
                                          <p:attrName>ppt_x</p:attrName>
                                        </p:attrNameLst>
                                      </p:cBhvr>
                                      <p:tavLst>
                                        <p:tav tm="0">
                                          <p:val>
                                            <p:strVal val="0-#ppt_w/2"/>
                                          </p:val>
                                        </p:tav>
                                        <p:tav tm="100000">
                                          <p:val>
                                            <p:strVal val="#ppt_x"/>
                                          </p:val>
                                        </p:tav>
                                      </p:tavLst>
                                    </p:anim>
                                    <p:anim calcmode="lin" valueType="num">
                                      <p:cBhvr additive="base">
                                        <p:cTn id="28" dur="500" fill="hold"/>
                                        <p:tgtEl>
                                          <p:spTgt spid="194567"/>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94568"/>
                                        </p:tgtEl>
                                        <p:attrNameLst>
                                          <p:attrName>style.visibility</p:attrName>
                                        </p:attrNameLst>
                                      </p:cBhvr>
                                      <p:to>
                                        <p:strVal val="visible"/>
                                      </p:to>
                                    </p:set>
                                    <p:anim calcmode="lin" valueType="num">
                                      <p:cBhvr additive="base">
                                        <p:cTn id="32" dur="500" fill="hold"/>
                                        <p:tgtEl>
                                          <p:spTgt spid="194568"/>
                                        </p:tgtEl>
                                        <p:attrNameLst>
                                          <p:attrName>ppt_x</p:attrName>
                                        </p:attrNameLst>
                                      </p:cBhvr>
                                      <p:tavLst>
                                        <p:tav tm="0">
                                          <p:val>
                                            <p:strVal val="0-#ppt_w/2"/>
                                          </p:val>
                                        </p:tav>
                                        <p:tav tm="100000">
                                          <p:val>
                                            <p:strVal val="#ppt_x"/>
                                          </p:val>
                                        </p:tav>
                                      </p:tavLst>
                                    </p:anim>
                                    <p:anim calcmode="lin" valueType="num">
                                      <p:cBhvr additive="base">
                                        <p:cTn id="33" dur="500" fill="hold"/>
                                        <p:tgtEl>
                                          <p:spTgt spid="194568"/>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94569"/>
                                        </p:tgtEl>
                                        <p:attrNameLst>
                                          <p:attrName>style.visibility</p:attrName>
                                        </p:attrNameLst>
                                      </p:cBhvr>
                                      <p:to>
                                        <p:strVal val="visible"/>
                                      </p:to>
                                    </p:set>
                                    <p:anim calcmode="lin" valueType="num">
                                      <p:cBhvr additive="base">
                                        <p:cTn id="38" dur="500" fill="hold"/>
                                        <p:tgtEl>
                                          <p:spTgt spid="194569"/>
                                        </p:tgtEl>
                                        <p:attrNameLst>
                                          <p:attrName>ppt_x</p:attrName>
                                        </p:attrNameLst>
                                      </p:cBhvr>
                                      <p:tavLst>
                                        <p:tav tm="0">
                                          <p:val>
                                            <p:strVal val="0-#ppt_w/2"/>
                                          </p:val>
                                        </p:tav>
                                        <p:tav tm="100000">
                                          <p:val>
                                            <p:strVal val="#ppt_x"/>
                                          </p:val>
                                        </p:tav>
                                      </p:tavLst>
                                    </p:anim>
                                    <p:anim calcmode="lin" valueType="num">
                                      <p:cBhvr additive="base">
                                        <p:cTn id="39" dur="500" fill="hold"/>
                                        <p:tgtEl>
                                          <p:spTgt spid="194569"/>
                                        </p:tgtEl>
                                        <p:attrNameLst>
                                          <p:attrName>ppt_y</p:attrName>
                                        </p:attrNameLst>
                                      </p:cBhvr>
                                      <p:tavLst>
                                        <p:tav tm="0">
                                          <p:val>
                                            <p:strVal val="#ppt_y"/>
                                          </p:val>
                                        </p:tav>
                                        <p:tav tm="100000">
                                          <p:val>
                                            <p:strVal val="#ppt_y"/>
                                          </p:val>
                                        </p:tav>
                                      </p:tavLst>
                                    </p:anim>
                                  </p:childTnLst>
                                </p:cTn>
                              </p:par>
                            </p:childTnLst>
                          </p:cTn>
                        </p:par>
                        <p:par>
                          <p:cTn id="40" fill="hold">
                            <p:stCondLst>
                              <p:cond delay="500"/>
                            </p:stCondLst>
                            <p:childTnLst>
                              <p:par>
                                <p:cTn id="41" presetID="2" presetClass="entr" presetSubtype="8" fill="hold" grpId="0" nodeType="afterEffect">
                                  <p:stCondLst>
                                    <p:cond delay="0"/>
                                  </p:stCondLst>
                                  <p:childTnLst>
                                    <p:set>
                                      <p:cBhvr>
                                        <p:cTn id="42" dur="1" fill="hold">
                                          <p:stCondLst>
                                            <p:cond delay="0"/>
                                          </p:stCondLst>
                                        </p:cTn>
                                        <p:tgtEl>
                                          <p:spTgt spid="194571"/>
                                        </p:tgtEl>
                                        <p:attrNameLst>
                                          <p:attrName>style.visibility</p:attrName>
                                        </p:attrNameLst>
                                      </p:cBhvr>
                                      <p:to>
                                        <p:strVal val="visible"/>
                                      </p:to>
                                    </p:set>
                                    <p:anim calcmode="lin" valueType="num">
                                      <p:cBhvr additive="base">
                                        <p:cTn id="43" dur="500" fill="hold"/>
                                        <p:tgtEl>
                                          <p:spTgt spid="194571"/>
                                        </p:tgtEl>
                                        <p:attrNameLst>
                                          <p:attrName>ppt_x</p:attrName>
                                        </p:attrNameLst>
                                      </p:cBhvr>
                                      <p:tavLst>
                                        <p:tav tm="0">
                                          <p:val>
                                            <p:strVal val="0-#ppt_w/2"/>
                                          </p:val>
                                        </p:tav>
                                        <p:tav tm="100000">
                                          <p:val>
                                            <p:strVal val="#ppt_x"/>
                                          </p:val>
                                        </p:tav>
                                      </p:tavLst>
                                    </p:anim>
                                    <p:anim calcmode="lin" valueType="num">
                                      <p:cBhvr additive="base">
                                        <p:cTn id="44" dur="500" fill="hold"/>
                                        <p:tgtEl>
                                          <p:spTgt spid="19457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4570"/>
                                        </p:tgtEl>
                                        <p:attrNameLst>
                                          <p:attrName>style.visibility</p:attrName>
                                        </p:attrNameLst>
                                      </p:cBhvr>
                                      <p:to>
                                        <p:strVal val="visible"/>
                                      </p:to>
                                    </p:set>
                                    <p:anim calcmode="lin" valueType="num">
                                      <p:cBhvr additive="base">
                                        <p:cTn id="49" dur="500" fill="hold"/>
                                        <p:tgtEl>
                                          <p:spTgt spid="194570"/>
                                        </p:tgtEl>
                                        <p:attrNameLst>
                                          <p:attrName>ppt_x</p:attrName>
                                        </p:attrNameLst>
                                      </p:cBhvr>
                                      <p:tavLst>
                                        <p:tav tm="0">
                                          <p:val>
                                            <p:strVal val="0-#ppt_w/2"/>
                                          </p:val>
                                        </p:tav>
                                        <p:tav tm="100000">
                                          <p:val>
                                            <p:strVal val="#ppt_x"/>
                                          </p:val>
                                        </p:tav>
                                      </p:tavLst>
                                    </p:anim>
                                    <p:anim calcmode="lin" valueType="num">
                                      <p:cBhvr additive="base">
                                        <p:cTn id="50" dur="500" fill="hold"/>
                                        <p:tgtEl>
                                          <p:spTgt spid="19457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94572"/>
                                        </p:tgtEl>
                                        <p:attrNameLst>
                                          <p:attrName>style.visibility</p:attrName>
                                        </p:attrNameLst>
                                      </p:cBhvr>
                                      <p:to>
                                        <p:strVal val="visible"/>
                                      </p:to>
                                    </p:set>
                                    <p:anim calcmode="lin" valueType="num">
                                      <p:cBhvr additive="base">
                                        <p:cTn id="55" dur="500" fill="hold"/>
                                        <p:tgtEl>
                                          <p:spTgt spid="194572"/>
                                        </p:tgtEl>
                                        <p:attrNameLst>
                                          <p:attrName>ppt_x</p:attrName>
                                        </p:attrNameLst>
                                      </p:cBhvr>
                                      <p:tavLst>
                                        <p:tav tm="0">
                                          <p:val>
                                            <p:strVal val="0-#ppt_w/2"/>
                                          </p:val>
                                        </p:tav>
                                        <p:tav tm="100000">
                                          <p:val>
                                            <p:strVal val="#ppt_x"/>
                                          </p:val>
                                        </p:tav>
                                      </p:tavLst>
                                    </p:anim>
                                    <p:anim calcmode="lin" valueType="num">
                                      <p:cBhvr additive="base">
                                        <p:cTn id="56" dur="500" fill="hold"/>
                                        <p:tgtEl>
                                          <p:spTgt spid="194572"/>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2" presetClass="entr" presetSubtype="8" fill="hold" grpId="0" nodeType="afterEffect">
                                  <p:stCondLst>
                                    <p:cond delay="0"/>
                                  </p:stCondLst>
                                  <p:childTnLst>
                                    <p:set>
                                      <p:cBhvr>
                                        <p:cTn id="59" dur="1" fill="hold">
                                          <p:stCondLst>
                                            <p:cond delay="0"/>
                                          </p:stCondLst>
                                        </p:cTn>
                                        <p:tgtEl>
                                          <p:spTgt spid="194575"/>
                                        </p:tgtEl>
                                        <p:attrNameLst>
                                          <p:attrName>style.visibility</p:attrName>
                                        </p:attrNameLst>
                                      </p:cBhvr>
                                      <p:to>
                                        <p:strVal val="visible"/>
                                      </p:to>
                                    </p:set>
                                    <p:anim calcmode="lin" valueType="num">
                                      <p:cBhvr additive="base">
                                        <p:cTn id="60" dur="500" fill="hold"/>
                                        <p:tgtEl>
                                          <p:spTgt spid="194575"/>
                                        </p:tgtEl>
                                        <p:attrNameLst>
                                          <p:attrName>ppt_x</p:attrName>
                                        </p:attrNameLst>
                                      </p:cBhvr>
                                      <p:tavLst>
                                        <p:tav tm="0">
                                          <p:val>
                                            <p:strVal val="0-#ppt_w/2"/>
                                          </p:val>
                                        </p:tav>
                                        <p:tav tm="100000">
                                          <p:val>
                                            <p:strVal val="#ppt_x"/>
                                          </p:val>
                                        </p:tav>
                                      </p:tavLst>
                                    </p:anim>
                                    <p:anim calcmode="lin" valueType="num">
                                      <p:cBhvr additive="base">
                                        <p:cTn id="61" dur="500" fill="hold"/>
                                        <p:tgtEl>
                                          <p:spTgt spid="194575"/>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194573"/>
                                        </p:tgtEl>
                                        <p:attrNameLst>
                                          <p:attrName>style.visibility</p:attrName>
                                        </p:attrNameLst>
                                      </p:cBhvr>
                                      <p:to>
                                        <p:strVal val="visible"/>
                                      </p:to>
                                    </p:set>
                                    <p:anim calcmode="lin" valueType="num">
                                      <p:cBhvr additive="base">
                                        <p:cTn id="66" dur="500" fill="hold"/>
                                        <p:tgtEl>
                                          <p:spTgt spid="194573"/>
                                        </p:tgtEl>
                                        <p:attrNameLst>
                                          <p:attrName>ppt_x</p:attrName>
                                        </p:attrNameLst>
                                      </p:cBhvr>
                                      <p:tavLst>
                                        <p:tav tm="0">
                                          <p:val>
                                            <p:strVal val="0-#ppt_w/2"/>
                                          </p:val>
                                        </p:tav>
                                        <p:tav tm="100000">
                                          <p:val>
                                            <p:strVal val="#ppt_x"/>
                                          </p:val>
                                        </p:tav>
                                      </p:tavLst>
                                    </p:anim>
                                    <p:anim calcmode="lin" valueType="num">
                                      <p:cBhvr additive="base">
                                        <p:cTn id="67" dur="500" fill="hold"/>
                                        <p:tgtEl>
                                          <p:spTgt spid="194573"/>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 presetClass="entr" presetSubtype="8" fill="hold" grpId="0" nodeType="afterEffect">
                                  <p:stCondLst>
                                    <p:cond delay="0"/>
                                  </p:stCondLst>
                                  <p:childTnLst>
                                    <p:set>
                                      <p:cBhvr>
                                        <p:cTn id="70" dur="1" fill="hold">
                                          <p:stCondLst>
                                            <p:cond delay="0"/>
                                          </p:stCondLst>
                                        </p:cTn>
                                        <p:tgtEl>
                                          <p:spTgt spid="194574"/>
                                        </p:tgtEl>
                                        <p:attrNameLst>
                                          <p:attrName>style.visibility</p:attrName>
                                        </p:attrNameLst>
                                      </p:cBhvr>
                                      <p:to>
                                        <p:strVal val="visible"/>
                                      </p:to>
                                    </p:set>
                                    <p:anim calcmode="lin" valueType="num">
                                      <p:cBhvr additive="base">
                                        <p:cTn id="71" dur="500" fill="hold"/>
                                        <p:tgtEl>
                                          <p:spTgt spid="194574"/>
                                        </p:tgtEl>
                                        <p:attrNameLst>
                                          <p:attrName>ppt_x</p:attrName>
                                        </p:attrNameLst>
                                      </p:cBhvr>
                                      <p:tavLst>
                                        <p:tav tm="0">
                                          <p:val>
                                            <p:strVal val="0-#ppt_w/2"/>
                                          </p:val>
                                        </p:tav>
                                        <p:tav tm="100000">
                                          <p:val>
                                            <p:strVal val="#ppt_x"/>
                                          </p:val>
                                        </p:tav>
                                      </p:tavLst>
                                    </p:anim>
                                    <p:anim calcmode="lin" valueType="num">
                                      <p:cBhvr additive="base">
                                        <p:cTn id="72" dur="500" fill="hold"/>
                                        <p:tgtEl>
                                          <p:spTgt spid="194574"/>
                                        </p:tgtEl>
                                        <p:attrNameLst>
                                          <p:attrName>ppt_y</p:attrName>
                                        </p:attrNameLst>
                                      </p:cBhvr>
                                      <p:tavLst>
                                        <p:tav tm="0">
                                          <p:val>
                                            <p:strVal val="#ppt_y"/>
                                          </p:val>
                                        </p:tav>
                                        <p:tav tm="100000">
                                          <p:val>
                                            <p:strVal val="#ppt_y"/>
                                          </p:val>
                                        </p:tav>
                                      </p:tavLst>
                                    </p:anim>
                                  </p:childTnLst>
                                </p:cTn>
                              </p:par>
                            </p:childTnLst>
                          </p:cTn>
                        </p:par>
                        <p:par>
                          <p:cTn id="73" fill="hold">
                            <p:stCondLst>
                              <p:cond delay="1000"/>
                            </p:stCondLst>
                            <p:childTnLst>
                              <p:par>
                                <p:cTn id="74" presetID="2" presetClass="entr" presetSubtype="8" fill="hold" grpId="0" nodeType="afterEffect">
                                  <p:stCondLst>
                                    <p:cond delay="0"/>
                                  </p:stCondLst>
                                  <p:childTnLst>
                                    <p:set>
                                      <p:cBhvr>
                                        <p:cTn id="75" dur="1" fill="hold">
                                          <p:stCondLst>
                                            <p:cond delay="0"/>
                                          </p:stCondLst>
                                        </p:cTn>
                                        <p:tgtEl>
                                          <p:spTgt spid="194576"/>
                                        </p:tgtEl>
                                        <p:attrNameLst>
                                          <p:attrName>style.visibility</p:attrName>
                                        </p:attrNameLst>
                                      </p:cBhvr>
                                      <p:to>
                                        <p:strVal val="visible"/>
                                      </p:to>
                                    </p:set>
                                    <p:anim calcmode="lin" valueType="num">
                                      <p:cBhvr additive="base">
                                        <p:cTn id="76" dur="500" fill="hold"/>
                                        <p:tgtEl>
                                          <p:spTgt spid="194576"/>
                                        </p:tgtEl>
                                        <p:attrNameLst>
                                          <p:attrName>ppt_x</p:attrName>
                                        </p:attrNameLst>
                                      </p:cBhvr>
                                      <p:tavLst>
                                        <p:tav tm="0">
                                          <p:val>
                                            <p:strVal val="0-#ppt_w/2"/>
                                          </p:val>
                                        </p:tav>
                                        <p:tav tm="100000">
                                          <p:val>
                                            <p:strVal val="#ppt_x"/>
                                          </p:val>
                                        </p:tav>
                                      </p:tavLst>
                                    </p:anim>
                                    <p:anim calcmode="lin" valueType="num">
                                      <p:cBhvr additive="base">
                                        <p:cTn id="77" dur="500" fill="hold"/>
                                        <p:tgtEl>
                                          <p:spTgt spid="194576"/>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194577"/>
                                        </p:tgtEl>
                                        <p:attrNameLst>
                                          <p:attrName>style.visibility</p:attrName>
                                        </p:attrNameLst>
                                      </p:cBhvr>
                                      <p:to>
                                        <p:strVal val="visible"/>
                                      </p:to>
                                    </p:set>
                                    <p:anim calcmode="lin" valueType="num">
                                      <p:cBhvr additive="base">
                                        <p:cTn id="82" dur="500" fill="hold"/>
                                        <p:tgtEl>
                                          <p:spTgt spid="194577"/>
                                        </p:tgtEl>
                                        <p:attrNameLst>
                                          <p:attrName>ppt_x</p:attrName>
                                        </p:attrNameLst>
                                      </p:cBhvr>
                                      <p:tavLst>
                                        <p:tav tm="0">
                                          <p:val>
                                            <p:strVal val="0-#ppt_w/2"/>
                                          </p:val>
                                        </p:tav>
                                        <p:tav tm="100000">
                                          <p:val>
                                            <p:strVal val="#ppt_x"/>
                                          </p:val>
                                        </p:tav>
                                      </p:tavLst>
                                    </p:anim>
                                    <p:anim calcmode="lin" valueType="num">
                                      <p:cBhvr additive="base">
                                        <p:cTn id="83" dur="500" fill="hold"/>
                                        <p:tgtEl>
                                          <p:spTgt spid="194577"/>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8" fill="hold" grpId="0" nodeType="clickEffect">
                                  <p:stCondLst>
                                    <p:cond delay="0"/>
                                  </p:stCondLst>
                                  <p:childTnLst>
                                    <p:set>
                                      <p:cBhvr>
                                        <p:cTn id="87" dur="1" fill="hold">
                                          <p:stCondLst>
                                            <p:cond delay="0"/>
                                          </p:stCondLst>
                                        </p:cTn>
                                        <p:tgtEl>
                                          <p:spTgt spid="194578">
                                            <p:txEl>
                                              <p:pRg st="4294967295" end="4294967295"/>
                                            </p:txEl>
                                          </p:spTgt>
                                        </p:tgtEl>
                                        <p:attrNameLst>
                                          <p:attrName>style.visibility</p:attrName>
                                        </p:attrNameLst>
                                      </p:cBhvr>
                                      <p:to>
                                        <p:strVal val="visible"/>
                                      </p:to>
                                    </p:set>
                                    <p:anim calcmode="lin" valueType="num">
                                      <p:cBhvr additive="base">
                                        <p:cTn id="88" dur="500" fill="hold"/>
                                        <p:tgtEl>
                                          <p:spTgt spid="194578">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89" dur="500" fill="hold"/>
                                        <p:tgtEl>
                                          <p:spTgt spid="194578">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8" fill="hold" grpId="0" nodeType="clickEffect">
                                  <p:stCondLst>
                                    <p:cond delay="0"/>
                                  </p:stCondLst>
                                  <p:childTnLst>
                                    <p:set>
                                      <p:cBhvr>
                                        <p:cTn id="93" dur="1" fill="hold">
                                          <p:stCondLst>
                                            <p:cond delay="0"/>
                                          </p:stCondLst>
                                        </p:cTn>
                                        <p:tgtEl>
                                          <p:spTgt spid="194578">
                                            <p:txEl>
                                              <p:pRg st="0" end="0"/>
                                            </p:txEl>
                                          </p:spTgt>
                                        </p:tgtEl>
                                        <p:attrNameLst>
                                          <p:attrName>style.visibility</p:attrName>
                                        </p:attrNameLst>
                                      </p:cBhvr>
                                      <p:to>
                                        <p:strVal val="visible"/>
                                      </p:to>
                                    </p:set>
                                    <p:anim calcmode="lin" valueType="num">
                                      <p:cBhvr additive="base">
                                        <p:cTn id="94" dur="500" fill="hold"/>
                                        <p:tgtEl>
                                          <p:spTgt spid="194578">
                                            <p:txEl>
                                              <p:pRg st="0" end="0"/>
                                            </p:txEl>
                                          </p:spTgt>
                                        </p:tgtEl>
                                        <p:attrNameLst>
                                          <p:attrName>ppt_x</p:attrName>
                                        </p:attrNameLst>
                                      </p:cBhvr>
                                      <p:tavLst>
                                        <p:tav tm="0">
                                          <p:val>
                                            <p:strVal val="0-#ppt_w/2"/>
                                          </p:val>
                                        </p:tav>
                                        <p:tav tm="100000">
                                          <p:val>
                                            <p:strVal val="#ppt_x"/>
                                          </p:val>
                                        </p:tav>
                                      </p:tavLst>
                                    </p:anim>
                                    <p:anim calcmode="lin" valueType="num">
                                      <p:cBhvr additive="base">
                                        <p:cTn id="95" dur="500" fill="hold"/>
                                        <p:tgtEl>
                                          <p:spTgt spid="1945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8" fill="hold" grpId="0" nodeType="clickEffect">
                                  <p:stCondLst>
                                    <p:cond delay="0"/>
                                  </p:stCondLst>
                                  <p:childTnLst>
                                    <p:set>
                                      <p:cBhvr>
                                        <p:cTn id="99" dur="1" fill="hold">
                                          <p:stCondLst>
                                            <p:cond delay="0"/>
                                          </p:stCondLst>
                                        </p:cTn>
                                        <p:tgtEl>
                                          <p:spTgt spid="194578">
                                            <p:txEl>
                                              <p:pRg st="1" end="1"/>
                                            </p:txEl>
                                          </p:spTgt>
                                        </p:tgtEl>
                                        <p:attrNameLst>
                                          <p:attrName>style.visibility</p:attrName>
                                        </p:attrNameLst>
                                      </p:cBhvr>
                                      <p:to>
                                        <p:strVal val="visible"/>
                                      </p:to>
                                    </p:set>
                                    <p:anim calcmode="lin" valueType="num">
                                      <p:cBhvr additive="base">
                                        <p:cTn id="100" dur="500" fill="hold"/>
                                        <p:tgtEl>
                                          <p:spTgt spid="194578">
                                            <p:txEl>
                                              <p:pRg st="1" end="1"/>
                                            </p:txEl>
                                          </p:spTgt>
                                        </p:tgtEl>
                                        <p:attrNameLst>
                                          <p:attrName>ppt_x</p:attrName>
                                        </p:attrNameLst>
                                      </p:cBhvr>
                                      <p:tavLst>
                                        <p:tav tm="0">
                                          <p:val>
                                            <p:strVal val="0-#ppt_w/2"/>
                                          </p:val>
                                        </p:tav>
                                        <p:tav tm="100000">
                                          <p:val>
                                            <p:strVal val="#ppt_x"/>
                                          </p:val>
                                        </p:tav>
                                      </p:tavLst>
                                    </p:anim>
                                    <p:anim calcmode="lin" valueType="num">
                                      <p:cBhvr additive="base">
                                        <p:cTn id="101" dur="500" fill="hold"/>
                                        <p:tgtEl>
                                          <p:spTgt spid="19457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ldLvl="0" animBg="1" autoUpdateAnimBg="0"/>
      <p:bldP spid="194564" grpId="0" bldLvl="0" animBg="1" autoUpdateAnimBg="0"/>
      <p:bldP spid="194565" grpId="0" bldLvl="0" animBg="1" autoUpdateAnimBg="0"/>
      <p:bldP spid="194566" grpId="0" bldLvl="0" animBg="1" autoUpdateAnimBg="0"/>
      <p:bldP spid="194567" grpId="0" bldLvl="0" animBg="1" autoUpdateAnimBg="0"/>
      <p:bldP spid="194568" grpId="0" bldLvl="0" animBg="1" autoUpdateAnimBg="0"/>
      <p:bldP spid="194569" grpId="0" bldLvl="0" animBg="1"/>
      <p:bldP spid="194570" grpId="0" bldLvl="0" animBg="1"/>
      <p:bldP spid="194571" grpId="0" bldLvl="0" animBg="1"/>
      <p:bldP spid="194572" grpId="0" bldLvl="0" animBg="1"/>
      <p:bldP spid="194573" grpId="0" bldLvl="0" animBg="1"/>
      <p:bldP spid="194574" grpId="0" bldLvl="0" animBg="1"/>
      <p:bldP spid="194575" grpId="0" bldLvl="0" animBg="1"/>
      <p:bldP spid="194576" grpId="0" bldLvl="0" animBg="1"/>
      <p:bldP spid="194577" grpId="0" bldLvl="0" animBg="1" autoUpdateAnimBg="0"/>
      <p:bldP spid="194578" grpId="0" autoUpdateAnimBg="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468313" y="1772816"/>
            <a:ext cx="7848600" cy="4154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In an AOV network, there should be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no directed cycles</a:t>
            </a:r>
            <a:r>
              <a:rPr lang="zh-CN" altLang="en-US" sz="2400" b="1" dirty="0">
                <a:latin typeface="Arial" panose="020B0604020202020204" pitchFamily="34" charset="0"/>
                <a:ea typeface="楷体_GB2312" pitchFamily="49" charset="-122"/>
                <a:cs typeface="Arial" panose="020B0604020202020204" pitchFamily="34" charset="0"/>
              </a:rPr>
              <a:t>, because the existence of a cycle means that an activity should be a prerequisite for itself. Obviously, this is absurd.</a:t>
            </a:r>
            <a:endParaRPr lang="zh-CN" altLang="en-US" sz="2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Therefore, for a given AOV network, the first step is to determine whether it contains any cycles. The detection method is</a:t>
            </a:r>
            <a:endParaRPr lang="zh-CN" altLang="en-US" sz="2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For a directed graph,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if all vertices in the network are included in its topological order sequence, then the AOV network must contain no cycles.</a:t>
            </a:r>
            <a:endParaRPr lang="zh-CN" altLang="en-US" sz="2400" b="1"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195587" name="Rectangle 3"/>
          <p:cNvSpPr>
            <a:spLocks noChangeArrowheads="1"/>
          </p:cNvSpPr>
          <p:nvPr/>
        </p:nvSpPr>
        <p:spPr bwMode="auto">
          <a:xfrm>
            <a:off x="533400" y="548680"/>
            <a:ext cx="7422976" cy="1153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An AOV network is a directed graph where vertices represent activities and arcs represent their precedence relationships.</a:t>
            </a:r>
            <a:endParaRPr lang="zh-CN" altLang="en-US" sz="2400" b="1" dirty="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5586">
                                            <p:txEl>
                                              <p:pRg st="4294967295" end="4294967295"/>
                                            </p:txEl>
                                          </p:spTgt>
                                        </p:tgtEl>
                                        <p:attrNameLst>
                                          <p:attrName>style.visibility</p:attrName>
                                        </p:attrNameLst>
                                      </p:cBhvr>
                                      <p:to>
                                        <p:strVal val="visible"/>
                                      </p:to>
                                    </p:set>
                                    <p:animEffect transition="in" filter="slide(fromBottom)">
                                      <p:cBhvr>
                                        <p:cTn id="7" dur="500"/>
                                        <p:tgtEl>
                                          <p:spTgt spid="195586">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5586">
                                            <p:txEl>
                                              <p:pRg st="0" end="0"/>
                                            </p:txEl>
                                          </p:spTgt>
                                        </p:tgtEl>
                                        <p:attrNameLst>
                                          <p:attrName>style.visibility</p:attrName>
                                        </p:attrNameLst>
                                      </p:cBhvr>
                                      <p:to>
                                        <p:strVal val="visible"/>
                                      </p:to>
                                    </p:set>
                                    <p:animEffect transition="in" filter="slide(fromBottom)">
                                      <p:cBhvr>
                                        <p:cTn id="12" dur="500"/>
                                        <p:tgtEl>
                                          <p:spTgt spid="1955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5586">
                                            <p:txEl>
                                              <p:pRg st="1" end="1"/>
                                            </p:txEl>
                                          </p:spTgt>
                                        </p:tgtEl>
                                        <p:attrNameLst>
                                          <p:attrName>style.visibility</p:attrName>
                                        </p:attrNameLst>
                                      </p:cBhvr>
                                      <p:to>
                                        <p:strVal val="visible"/>
                                      </p:to>
                                    </p:set>
                                    <p:animEffect transition="in" filter="slide(fromBottom)">
                                      <p:cBhvr>
                                        <p:cTn id="17" dur="500"/>
                                        <p:tgtEl>
                                          <p:spTgt spid="19558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5586">
                                            <p:txEl>
                                              <p:pRg st="2" end="2"/>
                                            </p:txEl>
                                          </p:spTgt>
                                        </p:tgtEl>
                                        <p:attrNameLst>
                                          <p:attrName>style.visibility</p:attrName>
                                        </p:attrNameLst>
                                      </p:cBhvr>
                                      <p:to>
                                        <p:strVal val="visible"/>
                                      </p:to>
                                    </p:set>
                                    <p:animEffect transition="in" filter="slide(fromBottom)">
                                      <p:cBhvr>
                                        <p:cTn id="22" dur="500"/>
                                        <p:tgtEl>
                                          <p:spTgt spid="1955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a:spLocks noChangeArrowheads="1"/>
          </p:cNvSpPr>
          <p:nvPr/>
        </p:nvSpPr>
        <p:spPr bwMode="auto">
          <a:xfrm>
            <a:off x="609600" y="838200"/>
            <a:ext cx="822579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For example, for the following directed graph</a:t>
            </a:r>
            <a:endPar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96611" name="Oval 3"/>
          <p:cNvSpPr>
            <a:spLocks noChangeArrowheads="1"/>
          </p:cNvSpPr>
          <p:nvPr/>
        </p:nvSpPr>
        <p:spPr bwMode="auto">
          <a:xfrm>
            <a:off x="4267200" y="2054225"/>
            <a:ext cx="457200" cy="457200"/>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B</a:t>
            </a:r>
            <a:endParaRPr lang="en-US" altLang="zh-CN" sz="3200"/>
          </a:p>
        </p:txBody>
      </p:sp>
      <p:sp>
        <p:nvSpPr>
          <p:cNvPr id="196612" name="Oval 4"/>
          <p:cNvSpPr>
            <a:spLocks noChangeArrowheads="1"/>
          </p:cNvSpPr>
          <p:nvPr/>
        </p:nvSpPr>
        <p:spPr bwMode="auto">
          <a:xfrm>
            <a:off x="5562600" y="2651125"/>
            <a:ext cx="457200" cy="457200"/>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D</a:t>
            </a:r>
            <a:endParaRPr lang="en-US" altLang="zh-CN" sz="3200"/>
          </a:p>
        </p:txBody>
      </p:sp>
      <p:sp>
        <p:nvSpPr>
          <p:cNvPr id="196613" name="Oval 5"/>
          <p:cNvSpPr>
            <a:spLocks noChangeArrowheads="1"/>
          </p:cNvSpPr>
          <p:nvPr/>
        </p:nvSpPr>
        <p:spPr bwMode="auto">
          <a:xfrm>
            <a:off x="2971800" y="2651125"/>
            <a:ext cx="457200" cy="457200"/>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A</a:t>
            </a:r>
            <a:endParaRPr lang="en-US" altLang="zh-CN" sz="3200"/>
          </a:p>
        </p:txBody>
      </p:sp>
      <p:sp>
        <p:nvSpPr>
          <p:cNvPr id="196614" name="Oval 6"/>
          <p:cNvSpPr>
            <a:spLocks noChangeArrowheads="1"/>
          </p:cNvSpPr>
          <p:nvPr/>
        </p:nvSpPr>
        <p:spPr bwMode="auto">
          <a:xfrm>
            <a:off x="4267200" y="3184525"/>
            <a:ext cx="457200" cy="457200"/>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C</a:t>
            </a:r>
            <a:endParaRPr lang="en-US" altLang="zh-CN" sz="3200"/>
          </a:p>
        </p:txBody>
      </p:sp>
      <p:sp>
        <p:nvSpPr>
          <p:cNvPr id="196615" name="Line 7"/>
          <p:cNvSpPr>
            <a:spLocks noChangeShapeType="1"/>
          </p:cNvSpPr>
          <p:nvPr/>
        </p:nvSpPr>
        <p:spPr bwMode="auto">
          <a:xfrm flipV="1">
            <a:off x="3429000" y="2270125"/>
            <a:ext cx="838200" cy="45720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616" name="Line 8"/>
          <p:cNvSpPr>
            <a:spLocks noChangeShapeType="1"/>
          </p:cNvSpPr>
          <p:nvPr/>
        </p:nvSpPr>
        <p:spPr bwMode="auto">
          <a:xfrm>
            <a:off x="3352800" y="3032125"/>
            <a:ext cx="914400" cy="38100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617" name="Line 9"/>
          <p:cNvSpPr>
            <a:spLocks noChangeShapeType="1"/>
          </p:cNvSpPr>
          <p:nvPr/>
        </p:nvSpPr>
        <p:spPr bwMode="auto">
          <a:xfrm>
            <a:off x="4724400" y="2346325"/>
            <a:ext cx="914400" cy="38100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618" name="Line 10"/>
          <p:cNvSpPr>
            <a:spLocks noChangeShapeType="1"/>
          </p:cNvSpPr>
          <p:nvPr/>
        </p:nvSpPr>
        <p:spPr bwMode="auto">
          <a:xfrm flipV="1">
            <a:off x="4724400" y="3032125"/>
            <a:ext cx="914400" cy="38100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6619" name="Text Box 11"/>
          <p:cNvSpPr txBox="1">
            <a:spLocks noChangeArrowheads="1"/>
          </p:cNvSpPr>
          <p:nvPr/>
        </p:nvSpPr>
        <p:spPr bwMode="auto">
          <a:xfrm>
            <a:off x="762000" y="4098925"/>
            <a:ext cx="6858000" cy="163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solidFill>
                  <a:srgbClr val="000099"/>
                </a:solidFill>
                <a:latin typeface="Arial" panose="020B0604020202020204" pitchFamily="34" charset="0"/>
                <a:ea typeface="楷体_GB2312" pitchFamily="49" charset="-122"/>
                <a:cs typeface="Arial" panose="020B0604020202020204" pitchFamily="34" charset="0"/>
                <a:sym typeface="+mn-ea"/>
              </a:rPr>
              <a:t>The </a:t>
            </a:r>
            <a:r>
              <a:rPr lang="zh-CN" altLang="en-US" sz="2000">
                <a:solidFill>
                  <a:srgbClr val="800000"/>
                </a:solidFill>
                <a:latin typeface="Arial" panose="020B0604020202020204" pitchFamily="34" charset="0"/>
                <a:ea typeface="楷体_GB2312" pitchFamily="49" charset="-122"/>
                <a:cs typeface="Arial" panose="020B0604020202020204" pitchFamily="34" charset="0"/>
                <a:sym typeface="+mn-ea"/>
              </a:rPr>
              <a:t>topological ordered sequence</a:t>
            </a:r>
            <a:r>
              <a:rPr lang="zh-CN" altLang="en-US" sz="2000">
                <a:solidFill>
                  <a:srgbClr val="000099"/>
                </a:solidFill>
                <a:latin typeface="Arial" panose="020B0604020202020204" pitchFamily="34" charset="0"/>
                <a:ea typeface="楷体_GB2312" pitchFamily="49" charset="-122"/>
                <a:cs typeface="Arial" panose="020B0604020202020204" pitchFamily="34" charset="0"/>
                <a:sym typeface="+mn-ea"/>
              </a:rPr>
              <a:t> can be obtained</a:t>
            </a:r>
            <a:r>
              <a:rPr lang="zh-CN" altLang="en-US" sz="4000"/>
              <a:t>：</a:t>
            </a:r>
            <a:endParaRPr lang="zh-CN" altLang="en-US" sz="4000"/>
          </a:p>
          <a:p>
            <a:pPr>
              <a:spcBef>
                <a:spcPct val="50000"/>
              </a:spcBef>
            </a:pPr>
            <a:r>
              <a:rPr lang="zh-CN" altLang="en-US" sz="4000"/>
              <a:t>        </a:t>
            </a:r>
            <a:r>
              <a:rPr lang="en-US" altLang="zh-CN" sz="4000">
                <a:solidFill>
                  <a:srgbClr val="0000FF"/>
                </a:solidFill>
              </a:rPr>
              <a:t>A B C D</a:t>
            </a:r>
            <a:r>
              <a:rPr lang="en-US" altLang="zh-CN" sz="4000"/>
              <a:t>    </a:t>
            </a:r>
            <a:r>
              <a:rPr lang="en-US" altLang="zh-CN" sz="4000">
                <a:solidFill>
                  <a:srgbClr val="000099"/>
                </a:solidFill>
              </a:rPr>
              <a:t>or</a:t>
            </a:r>
            <a:r>
              <a:rPr lang="zh-CN" altLang="en-US" sz="4000"/>
              <a:t>    </a:t>
            </a:r>
            <a:r>
              <a:rPr lang="en-US" altLang="zh-CN" sz="4000">
                <a:solidFill>
                  <a:srgbClr val="0000FF"/>
                </a:solidFill>
              </a:rPr>
              <a:t>A C B D</a:t>
            </a:r>
            <a:endParaRPr lang="en-US" altLang="zh-CN" sz="400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66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66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66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66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966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966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966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6619">
                                            <p:txEl>
                                              <p:pRg st="4294967295" end="4294967295"/>
                                            </p:txEl>
                                          </p:spTgt>
                                        </p:tgtEl>
                                        <p:attrNameLst>
                                          <p:attrName>style.visibility</p:attrName>
                                        </p:attrNameLst>
                                      </p:cBhvr>
                                      <p:to>
                                        <p:strVal val="visible"/>
                                      </p:to>
                                    </p:set>
                                    <p:animEffect transition="in" filter="wipe(left)">
                                      <p:cBhvr>
                                        <p:cTn id="25" dur="500"/>
                                        <p:tgtEl>
                                          <p:spTgt spid="196619">
                                            <p:txEl>
                                              <p:pRg st="4294967295" end="429496729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96619">
                                            <p:txEl>
                                              <p:pRg st="0" end="0"/>
                                            </p:txEl>
                                          </p:spTgt>
                                        </p:tgtEl>
                                        <p:attrNameLst>
                                          <p:attrName>style.visibility</p:attrName>
                                        </p:attrNameLst>
                                      </p:cBhvr>
                                      <p:to>
                                        <p:strVal val="visible"/>
                                      </p:to>
                                    </p:set>
                                    <p:animEffect transition="in" filter="wipe(left)">
                                      <p:cBhvr>
                                        <p:cTn id="30" dur="500"/>
                                        <p:tgtEl>
                                          <p:spTgt spid="19661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6619">
                                            <p:txEl>
                                              <p:pRg st="1" end="1"/>
                                            </p:txEl>
                                          </p:spTgt>
                                        </p:tgtEl>
                                        <p:attrNameLst>
                                          <p:attrName>style.visibility</p:attrName>
                                        </p:attrNameLst>
                                      </p:cBhvr>
                                      <p:to>
                                        <p:strVal val="visible"/>
                                      </p:to>
                                    </p:set>
                                    <p:animEffect transition="in" filter="wipe(left)">
                                      <p:cBhvr>
                                        <p:cTn id="35" dur="500"/>
                                        <p:tgtEl>
                                          <p:spTgt spid="196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animBg="1" autoUpdateAnimBg="0"/>
      <p:bldP spid="196612" grpId="0" animBg="1" autoUpdateAnimBg="0"/>
      <p:bldP spid="196613" grpId="0" animBg="1" autoUpdateAnimBg="0"/>
      <p:bldP spid="196614" grpId="0" animBg="1" autoUpdateAnimBg="0"/>
      <p:bldP spid="196615" grpId="0" animBg="1"/>
      <p:bldP spid="196616" grpId="0" animBg="1"/>
      <p:bldP spid="196617" grpId="0" animBg="1"/>
      <p:bldP spid="196618" grpId="0" animBg="1"/>
      <p:bldP spid="196619" grpId="0" autoUpdateAnimBg="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Oval 2"/>
          <p:cNvSpPr>
            <a:spLocks noChangeArrowheads="1"/>
          </p:cNvSpPr>
          <p:nvPr/>
        </p:nvSpPr>
        <p:spPr bwMode="auto">
          <a:xfrm>
            <a:off x="4343400" y="1922463"/>
            <a:ext cx="457200" cy="457200"/>
          </a:xfrm>
          <a:prstGeom prst="ellipse">
            <a:avLst/>
          </a:prstGeom>
          <a:solidFill>
            <a:srgbClr val="CCFFCC">
              <a:alpha val="50000"/>
            </a:srgbClr>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B</a:t>
            </a:r>
            <a:endParaRPr lang="en-US" altLang="zh-CN"/>
          </a:p>
        </p:txBody>
      </p:sp>
      <p:sp>
        <p:nvSpPr>
          <p:cNvPr id="197635" name="Oval 3"/>
          <p:cNvSpPr>
            <a:spLocks noChangeArrowheads="1"/>
          </p:cNvSpPr>
          <p:nvPr/>
        </p:nvSpPr>
        <p:spPr bwMode="auto">
          <a:xfrm>
            <a:off x="5638800" y="2455863"/>
            <a:ext cx="457200" cy="457200"/>
          </a:xfrm>
          <a:prstGeom prst="ellipse">
            <a:avLst/>
          </a:prstGeom>
          <a:solidFill>
            <a:srgbClr val="CCFFCC">
              <a:alpha val="50000"/>
            </a:srgbClr>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D</a:t>
            </a:r>
            <a:endParaRPr lang="en-US" altLang="zh-CN"/>
          </a:p>
        </p:txBody>
      </p:sp>
      <p:sp>
        <p:nvSpPr>
          <p:cNvPr id="197636" name="Oval 4"/>
          <p:cNvSpPr>
            <a:spLocks noChangeArrowheads="1"/>
          </p:cNvSpPr>
          <p:nvPr/>
        </p:nvSpPr>
        <p:spPr bwMode="auto">
          <a:xfrm>
            <a:off x="3048000" y="2455863"/>
            <a:ext cx="457200" cy="457200"/>
          </a:xfrm>
          <a:prstGeom prst="ellipse">
            <a:avLst/>
          </a:prstGeom>
          <a:solidFill>
            <a:srgbClr val="CCFFCC">
              <a:alpha val="50000"/>
            </a:srgbClr>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A</a:t>
            </a:r>
            <a:endParaRPr lang="en-US" altLang="zh-CN" b="1">
              <a:solidFill>
                <a:srgbClr val="000099"/>
              </a:solidFill>
            </a:endParaRPr>
          </a:p>
        </p:txBody>
      </p:sp>
      <p:sp>
        <p:nvSpPr>
          <p:cNvPr id="197637" name="Oval 5"/>
          <p:cNvSpPr>
            <a:spLocks noChangeArrowheads="1"/>
          </p:cNvSpPr>
          <p:nvPr/>
        </p:nvSpPr>
        <p:spPr bwMode="auto">
          <a:xfrm>
            <a:off x="4343400" y="2989263"/>
            <a:ext cx="457200" cy="457200"/>
          </a:xfrm>
          <a:prstGeom prst="ellipse">
            <a:avLst/>
          </a:prstGeom>
          <a:solidFill>
            <a:srgbClr val="CCFFCC">
              <a:alpha val="50000"/>
            </a:srgbClr>
          </a:solidFill>
          <a:ln w="12700" cap="sq">
            <a:solidFill>
              <a:schemeClr val="tx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000099"/>
                </a:solidFill>
              </a:rPr>
              <a:t>C</a:t>
            </a:r>
            <a:endParaRPr lang="en-US" altLang="zh-CN"/>
          </a:p>
        </p:txBody>
      </p:sp>
      <p:sp>
        <p:nvSpPr>
          <p:cNvPr id="197638" name="Line 6"/>
          <p:cNvSpPr>
            <a:spLocks noChangeShapeType="1"/>
          </p:cNvSpPr>
          <p:nvPr/>
        </p:nvSpPr>
        <p:spPr bwMode="auto">
          <a:xfrm flipV="1">
            <a:off x="3505200" y="2227263"/>
            <a:ext cx="838200" cy="304800"/>
          </a:xfrm>
          <a:prstGeom prst="line">
            <a:avLst/>
          </a:prstGeom>
          <a:noFill/>
          <a:ln w="28575" cap="sq">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639" name="Line 7"/>
          <p:cNvSpPr>
            <a:spLocks noChangeShapeType="1"/>
          </p:cNvSpPr>
          <p:nvPr/>
        </p:nvSpPr>
        <p:spPr bwMode="auto">
          <a:xfrm>
            <a:off x="3429000" y="2836863"/>
            <a:ext cx="914400" cy="381000"/>
          </a:xfrm>
          <a:prstGeom prst="line">
            <a:avLst/>
          </a:prstGeom>
          <a:noFill/>
          <a:ln w="28575" cap="sq">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640" name="Line 8"/>
          <p:cNvSpPr>
            <a:spLocks noChangeShapeType="1"/>
          </p:cNvSpPr>
          <p:nvPr/>
        </p:nvSpPr>
        <p:spPr bwMode="auto">
          <a:xfrm flipV="1">
            <a:off x="4800600" y="2836863"/>
            <a:ext cx="914400" cy="381000"/>
          </a:xfrm>
          <a:prstGeom prst="line">
            <a:avLst/>
          </a:prstGeom>
          <a:noFill/>
          <a:ln w="28575" cap="sq">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641" name="Line 9"/>
          <p:cNvSpPr>
            <a:spLocks noChangeShapeType="1"/>
          </p:cNvSpPr>
          <p:nvPr/>
        </p:nvSpPr>
        <p:spPr bwMode="auto">
          <a:xfrm flipH="1" flipV="1">
            <a:off x="4800600" y="2151063"/>
            <a:ext cx="914400" cy="457200"/>
          </a:xfrm>
          <a:prstGeom prst="line">
            <a:avLst/>
          </a:prstGeom>
          <a:noFill/>
          <a:ln w="28575" cap="sq">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642" name="Line 10"/>
          <p:cNvSpPr>
            <a:spLocks noChangeShapeType="1"/>
          </p:cNvSpPr>
          <p:nvPr/>
        </p:nvSpPr>
        <p:spPr bwMode="auto">
          <a:xfrm>
            <a:off x="4572000" y="2379663"/>
            <a:ext cx="0" cy="609600"/>
          </a:xfrm>
          <a:prstGeom prst="line">
            <a:avLst/>
          </a:prstGeom>
          <a:noFill/>
          <a:ln w="28575" cap="sq">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7643" name="Text Box 11"/>
          <p:cNvSpPr txBox="1">
            <a:spLocks noChangeArrowheads="1"/>
          </p:cNvSpPr>
          <p:nvPr/>
        </p:nvSpPr>
        <p:spPr bwMode="auto">
          <a:xfrm>
            <a:off x="685800" y="855663"/>
            <a:ext cx="796925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Conversely, for the following directed graph</a:t>
            </a:r>
            <a:endPar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97644" name="Text Box 12"/>
          <p:cNvSpPr txBox="1">
            <a:spLocks noChangeArrowheads="1"/>
          </p:cNvSpPr>
          <p:nvPr/>
        </p:nvSpPr>
        <p:spPr bwMode="auto">
          <a:xfrm>
            <a:off x="685800" y="3827780"/>
            <a:ext cx="818451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The topological ordered sequence cannot be obtained.</a:t>
            </a:r>
            <a:endPar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197645" name="Text Box 13"/>
          <p:cNvSpPr txBox="1">
            <a:spLocks noChangeArrowheads="1"/>
          </p:cNvSpPr>
          <p:nvPr/>
        </p:nvSpPr>
        <p:spPr bwMode="auto">
          <a:xfrm>
            <a:off x="711200" y="4860925"/>
            <a:ext cx="765175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SzTx/>
              <a:buFontTx/>
            </a:pPr>
            <a:r>
              <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rPr>
              <a:t>Because there is a loop {B, C, D} in the diagram</a:t>
            </a:r>
            <a:endParaRPr lang="zh-CN" altLang="en-US" sz="320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97643"/>
                                        </p:tgtEl>
                                        <p:attrNameLst>
                                          <p:attrName>style.visibility</p:attrName>
                                        </p:attrNameLst>
                                      </p:cBhvr>
                                      <p:to>
                                        <p:strVal val="visible"/>
                                      </p:to>
                                    </p:set>
                                    <p:anim calcmode="lin" valueType="num">
                                      <p:cBhvr additive="base">
                                        <p:cTn id="7" dur="500" fill="hold"/>
                                        <p:tgtEl>
                                          <p:spTgt spid="197643"/>
                                        </p:tgtEl>
                                        <p:attrNameLst>
                                          <p:attrName>ppt_x</p:attrName>
                                        </p:attrNameLst>
                                      </p:cBhvr>
                                      <p:tavLst>
                                        <p:tav tm="0">
                                          <p:val>
                                            <p:strVal val="0-#ppt_w/2"/>
                                          </p:val>
                                        </p:tav>
                                        <p:tav tm="100000">
                                          <p:val>
                                            <p:strVal val="#ppt_x"/>
                                          </p:val>
                                        </p:tav>
                                      </p:tavLst>
                                    </p:anim>
                                    <p:anim calcmode="lin" valueType="num">
                                      <p:cBhvr additive="base">
                                        <p:cTn id="8" dur="500" fill="hold"/>
                                        <p:tgtEl>
                                          <p:spTgt spid="1976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97636"/>
                                        </p:tgtEl>
                                        <p:attrNameLst>
                                          <p:attrName>style.visibility</p:attrName>
                                        </p:attrNameLst>
                                      </p:cBhvr>
                                      <p:to>
                                        <p:strVal val="visible"/>
                                      </p:to>
                                    </p:set>
                                    <p:anim calcmode="lin" valueType="num">
                                      <p:cBhvr>
                                        <p:cTn id="13" dur="500" fill="hold"/>
                                        <p:tgtEl>
                                          <p:spTgt spid="197636"/>
                                        </p:tgtEl>
                                        <p:attrNameLst>
                                          <p:attrName>ppt_x</p:attrName>
                                        </p:attrNameLst>
                                      </p:cBhvr>
                                      <p:tavLst>
                                        <p:tav tm="0">
                                          <p:val>
                                            <p:strVal val="#ppt_x-#ppt_w/2"/>
                                          </p:val>
                                        </p:tav>
                                        <p:tav tm="100000">
                                          <p:val>
                                            <p:strVal val="#ppt_x"/>
                                          </p:val>
                                        </p:tav>
                                      </p:tavLst>
                                    </p:anim>
                                    <p:anim calcmode="lin" valueType="num">
                                      <p:cBhvr>
                                        <p:cTn id="14" dur="500" fill="hold"/>
                                        <p:tgtEl>
                                          <p:spTgt spid="197636"/>
                                        </p:tgtEl>
                                        <p:attrNameLst>
                                          <p:attrName>ppt_y</p:attrName>
                                        </p:attrNameLst>
                                      </p:cBhvr>
                                      <p:tavLst>
                                        <p:tav tm="0">
                                          <p:val>
                                            <p:strVal val="#ppt_y"/>
                                          </p:val>
                                        </p:tav>
                                        <p:tav tm="100000">
                                          <p:val>
                                            <p:strVal val="#ppt_y"/>
                                          </p:val>
                                        </p:tav>
                                      </p:tavLst>
                                    </p:anim>
                                    <p:anim calcmode="lin" valueType="num">
                                      <p:cBhvr>
                                        <p:cTn id="15" dur="500" fill="hold"/>
                                        <p:tgtEl>
                                          <p:spTgt spid="197636"/>
                                        </p:tgtEl>
                                        <p:attrNameLst>
                                          <p:attrName>ppt_w</p:attrName>
                                        </p:attrNameLst>
                                      </p:cBhvr>
                                      <p:tavLst>
                                        <p:tav tm="0">
                                          <p:val>
                                            <p:fltVal val="0"/>
                                          </p:val>
                                        </p:tav>
                                        <p:tav tm="100000">
                                          <p:val>
                                            <p:strVal val="#ppt_w"/>
                                          </p:val>
                                        </p:tav>
                                      </p:tavLst>
                                    </p:anim>
                                    <p:anim calcmode="lin" valueType="num">
                                      <p:cBhvr>
                                        <p:cTn id="16" dur="500" fill="hold"/>
                                        <p:tgtEl>
                                          <p:spTgt spid="197636"/>
                                        </p:tgtEl>
                                        <p:attrNameLst>
                                          <p:attrName>ppt_h</p:attrName>
                                        </p:attrNameLst>
                                      </p:cBhvr>
                                      <p:tavLst>
                                        <p:tav tm="0">
                                          <p:val>
                                            <p:strVal val="#ppt_h"/>
                                          </p:val>
                                        </p:tav>
                                        <p:tav tm="100000">
                                          <p:val>
                                            <p:strVal val="#ppt_h"/>
                                          </p:val>
                                        </p:tav>
                                      </p:tavLst>
                                    </p:anim>
                                  </p:childTnLst>
                                </p:cTn>
                              </p:par>
                              <p:par>
                                <p:cTn id="17" presetID="17" presetClass="entr" presetSubtype="8" fill="hold" grpId="0" nodeType="withEffect">
                                  <p:stCondLst>
                                    <p:cond delay="0"/>
                                  </p:stCondLst>
                                  <p:childTnLst>
                                    <p:set>
                                      <p:cBhvr>
                                        <p:cTn id="18" dur="1" fill="hold">
                                          <p:stCondLst>
                                            <p:cond delay="0"/>
                                          </p:stCondLst>
                                        </p:cTn>
                                        <p:tgtEl>
                                          <p:spTgt spid="197634"/>
                                        </p:tgtEl>
                                        <p:attrNameLst>
                                          <p:attrName>style.visibility</p:attrName>
                                        </p:attrNameLst>
                                      </p:cBhvr>
                                      <p:to>
                                        <p:strVal val="visible"/>
                                      </p:to>
                                    </p:set>
                                    <p:anim calcmode="lin" valueType="num">
                                      <p:cBhvr>
                                        <p:cTn id="19" dur="500" fill="hold"/>
                                        <p:tgtEl>
                                          <p:spTgt spid="197634"/>
                                        </p:tgtEl>
                                        <p:attrNameLst>
                                          <p:attrName>ppt_x</p:attrName>
                                        </p:attrNameLst>
                                      </p:cBhvr>
                                      <p:tavLst>
                                        <p:tav tm="0">
                                          <p:val>
                                            <p:strVal val="#ppt_x-#ppt_w/2"/>
                                          </p:val>
                                        </p:tav>
                                        <p:tav tm="100000">
                                          <p:val>
                                            <p:strVal val="#ppt_x"/>
                                          </p:val>
                                        </p:tav>
                                      </p:tavLst>
                                    </p:anim>
                                    <p:anim calcmode="lin" valueType="num">
                                      <p:cBhvr>
                                        <p:cTn id="20" dur="500" fill="hold"/>
                                        <p:tgtEl>
                                          <p:spTgt spid="197634"/>
                                        </p:tgtEl>
                                        <p:attrNameLst>
                                          <p:attrName>ppt_y</p:attrName>
                                        </p:attrNameLst>
                                      </p:cBhvr>
                                      <p:tavLst>
                                        <p:tav tm="0">
                                          <p:val>
                                            <p:strVal val="#ppt_y"/>
                                          </p:val>
                                        </p:tav>
                                        <p:tav tm="100000">
                                          <p:val>
                                            <p:strVal val="#ppt_y"/>
                                          </p:val>
                                        </p:tav>
                                      </p:tavLst>
                                    </p:anim>
                                    <p:anim calcmode="lin" valueType="num">
                                      <p:cBhvr>
                                        <p:cTn id="21" dur="500" fill="hold"/>
                                        <p:tgtEl>
                                          <p:spTgt spid="197634"/>
                                        </p:tgtEl>
                                        <p:attrNameLst>
                                          <p:attrName>ppt_w</p:attrName>
                                        </p:attrNameLst>
                                      </p:cBhvr>
                                      <p:tavLst>
                                        <p:tav tm="0">
                                          <p:val>
                                            <p:fltVal val="0"/>
                                          </p:val>
                                        </p:tav>
                                        <p:tav tm="100000">
                                          <p:val>
                                            <p:strVal val="#ppt_w"/>
                                          </p:val>
                                        </p:tav>
                                      </p:tavLst>
                                    </p:anim>
                                    <p:anim calcmode="lin" valueType="num">
                                      <p:cBhvr>
                                        <p:cTn id="22" dur="500" fill="hold"/>
                                        <p:tgtEl>
                                          <p:spTgt spid="197634"/>
                                        </p:tgtEl>
                                        <p:attrNameLst>
                                          <p:attrName>ppt_h</p:attrName>
                                        </p:attrNameLst>
                                      </p:cBhvr>
                                      <p:tavLst>
                                        <p:tav tm="0">
                                          <p:val>
                                            <p:strVal val="#ppt_h"/>
                                          </p:val>
                                        </p:tav>
                                        <p:tav tm="100000">
                                          <p:val>
                                            <p:strVal val="#ppt_h"/>
                                          </p:val>
                                        </p:tav>
                                      </p:tavLst>
                                    </p:anim>
                                  </p:childTnLst>
                                </p:cTn>
                              </p:par>
                              <p:par>
                                <p:cTn id="23" presetID="17" presetClass="entr" presetSubtype="8" fill="hold" grpId="0" nodeType="withEffect">
                                  <p:stCondLst>
                                    <p:cond delay="0"/>
                                  </p:stCondLst>
                                  <p:childTnLst>
                                    <p:set>
                                      <p:cBhvr>
                                        <p:cTn id="24" dur="1" fill="hold">
                                          <p:stCondLst>
                                            <p:cond delay="0"/>
                                          </p:stCondLst>
                                        </p:cTn>
                                        <p:tgtEl>
                                          <p:spTgt spid="197637"/>
                                        </p:tgtEl>
                                        <p:attrNameLst>
                                          <p:attrName>style.visibility</p:attrName>
                                        </p:attrNameLst>
                                      </p:cBhvr>
                                      <p:to>
                                        <p:strVal val="visible"/>
                                      </p:to>
                                    </p:set>
                                    <p:anim calcmode="lin" valueType="num">
                                      <p:cBhvr>
                                        <p:cTn id="25" dur="500" fill="hold"/>
                                        <p:tgtEl>
                                          <p:spTgt spid="197637"/>
                                        </p:tgtEl>
                                        <p:attrNameLst>
                                          <p:attrName>ppt_x</p:attrName>
                                        </p:attrNameLst>
                                      </p:cBhvr>
                                      <p:tavLst>
                                        <p:tav tm="0">
                                          <p:val>
                                            <p:strVal val="#ppt_x-#ppt_w/2"/>
                                          </p:val>
                                        </p:tav>
                                        <p:tav tm="100000">
                                          <p:val>
                                            <p:strVal val="#ppt_x"/>
                                          </p:val>
                                        </p:tav>
                                      </p:tavLst>
                                    </p:anim>
                                    <p:anim calcmode="lin" valueType="num">
                                      <p:cBhvr>
                                        <p:cTn id="26" dur="500" fill="hold"/>
                                        <p:tgtEl>
                                          <p:spTgt spid="197637"/>
                                        </p:tgtEl>
                                        <p:attrNameLst>
                                          <p:attrName>ppt_y</p:attrName>
                                        </p:attrNameLst>
                                      </p:cBhvr>
                                      <p:tavLst>
                                        <p:tav tm="0">
                                          <p:val>
                                            <p:strVal val="#ppt_y"/>
                                          </p:val>
                                        </p:tav>
                                        <p:tav tm="100000">
                                          <p:val>
                                            <p:strVal val="#ppt_y"/>
                                          </p:val>
                                        </p:tav>
                                      </p:tavLst>
                                    </p:anim>
                                    <p:anim calcmode="lin" valueType="num">
                                      <p:cBhvr>
                                        <p:cTn id="27" dur="500" fill="hold"/>
                                        <p:tgtEl>
                                          <p:spTgt spid="197637"/>
                                        </p:tgtEl>
                                        <p:attrNameLst>
                                          <p:attrName>ppt_w</p:attrName>
                                        </p:attrNameLst>
                                      </p:cBhvr>
                                      <p:tavLst>
                                        <p:tav tm="0">
                                          <p:val>
                                            <p:fltVal val="0"/>
                                          </p:val>
                                        </p:tav>
                                        <p:tav tm="100000">
                                          <p:val>
                                            <p:strVal val="#ppt_w"/>
                                          </p:val>
                                        </p:tav>
                                      </p:tavLst>
                                    </p:anim>
                                    <p:anim calcmode="lin" valueType="num">
                                      <p:cBhvr>
                                        <p:cTn id="28" dur="500" fill="hold"/>
                                        <p:tgtEl>
                                          <p:spTgt spid="197637"/>
                                        </p:tgtEl>
                                        <p:attrNameLst>
                                          <p:attrName>ppt_h</p:attrName>
                                        </p:attrNameLst>
                                      </p:cBhvr>
                                      <p:tavLst>
                                        <p:tav tm="0">
                                          <p:val>
                                            <p:strVal val="#ppt_h"/>
                                          </p:val>
                                        </p:tav>
                                        <p:tav tm="100000">
                                          <p:val>
                                            <p:strVal val="#ppt_h"/>
                                          </p:val>
                                        </p:tav>
                                      </p:tavLst>
                                    </p:anim>
                                  </p:childTnLst>
                                </p:cTn>
                              </p:par>
                              <p:par>
                                <p:cTn id="29" presetID="17" presetClass="entr" presetSubtype="8" fill="hold" grpId="0" nodeType="withEffect">
                                  <p:stCondLst>
                                    <p:cond delay="0"/>
                                  </p:stCondLst>
                                  <p:childTnLst>
                                    <p:set>
                                      <p:cBhvr>
                                        <p:cTn id="30" dur="1" fill="hold">
                                          <p:stCondLst>
                                            <p:cond delay="0"/>
                                          </p:stCondLst>
                                        </p:cTn>
                                        <p:tgtEl>
                                          <p:spTgt spid="197635"/>
                                        </p:tgtEl>
                                        <p:attrNameLst>
                                          <p:attrName>style.visibility</p:attrName>
                                        </p:attrNameLst>
                                      </p:cBhvr>
                                      <p:to>
                                        <p:strVal val="visible"/>
                                      </p:to>
                                    </p:set>
                                    <p:anim calcmode="lin" valueType="num">
                                      <p:cBhvr>
                                        <p:cTn id="31" dur="500" fill="hold"/>
                                        <p:tgtEl>
                                          <p:spTgt spid="197635"/>
                                        </p:tgtEl>
                                        <p:attrNameLst>
                                          <p:attrName>ppt_x</p:attrName>
                                        </p:attrNameLst>
                                      </p:cBhvr>
                                      <p:tavLst>
                                        <p:tav tm="0">
                                          <p:val>
                                            <p:strVal val="#ppt_x-#ppt_w/2"/>
                                          </p:val>
                                        </p:tav>
                                        <p:tav tm="100000">
                                          <p:val>
                                            <p:strVal val="#ppt_x"/>
                                          </p:val>
                                        </p:tav>
                                      </p:tavLst>
                                    </p:anim>
                                    <p:anim calcmode="lin" valueType="num">
                                      <p:cBhvr>
                                        <p:cTn id="32" dur="500" fill="hold"/>
                                        <p:tgtEl>
                                          <p:spTgt spid="197635"/>
                                        </p:tgtEl>
                                        <p:attrNameLst>
                                          <p:attrName>ppt_y</p:attrName>
                                        </p:attrNameLst>
                                      </p:cBhvr>
                                      <p:tavLst>
                                        <p:tav tm="0">
                                          <p:val>
                                            <p:strVal val="#ppt_y"/>
                                          </p:val>
                                        </p:tav>
                                        <p:tav tm="100000">
                                          <p:val>
                                            <p:strVal val="#ppt_y"/>
                                          </p:val>
                                        </p:tav>
                                      </p:tavLst>
                                    </p:anim>
                                    <p:anim calcmode="lin" valueType="num">
                                      <p:cBhvr>
                                        <p:cTn id="33" dur="500" fill="hold"/>
                                        <p:tgtEl>
                                          <p:spTgt spid="197635"/>
                                        </p:tgtEl>
                                        <p:attrNameLst>
                                          <p:attrName>ppt_w</p:attrName>
                                        </p:attrNameLst>
                                      </p:cBhvr>
                                      <p:tavLst>
                                        <p:tav tm="0">
                                          <p:val>
                                            <p:fltVal val="0"/>
                                          </p:val>
                                        </p:tav>
                                        <p:tav tm="100000">
                                          <p:val>
                                            <p:strVal val="#ppt_w"/>
                                          </p:val>
                                        </p:tav>
                                      </p:tavLst>
                                    </p:anim>
                                    <p:anim calcmode="lin" valueType="num">
                                      <p:cBhvr>
                                        <p:cTn id="34" dur="500" fill="hold"/>
                                        <p:tgtEl>
                                          <p:spTgt spid="197635"/>
                                        </p:tgtEl>
                                        <p:attrNameLst>
                                          <p:attrName>ppt_h</p:attrName>
                                        </p:attrNameLst>
                                      </p:cBhvr>
                                      <p:tavLst>
                                        <p:tav tm="0">
                                          <p:val>
                                            <p:strVal val="#ppt_h"/>
                                          </p:val>
                                        </p:tav>
                                        <p:tav tm="100000">
                                          <p:val>
                                            <p:strVal val="#ppt_h"/>
                                          </p:val>
                                        </p:tav>
                                      </p:tavLst>
                                    </p:anim>
                                  </p:childTnLst>
                                </p:cTn>
                              </p:par>
                              <p:par>
                                <p:cTn id="35" presetID="17" presetClass="entr" presetSubtype="8" fill="hold" grpId="0" nodeType="withEffect">
                                  <p:stCondLst>
                                    <p:cond delay="0"/>
                                  </p:stCondLst>
                                  <p:childTnLst>
                                    <p:set>
                                      <p:cBhvr>
                                        <p:cTn id="36" dur="1" fill="hold">
                                          <p:stCondLst>
                                            <p:cond delay="0"/>
                                          </p:stCondLst>
                                        </p:cTn>
                                        <p:tgtEl>
                                          <p:spTgt spid="197638"/>
                                        </p:tgtEl>
                                        <p:attrNameLst>
                                          <p:attrName>style.visibility</p:attrName>
                                        </p:attrNameLst>
                                      </p:cBhvr>
                                      <p:to>
                                        <p:strVal val="visible"/>
                                      </p:to>
                                    </p:set>
                                    <p:anim calcmode="lin" valueType="num">
                                      <p:cBhvr>
                                        <p:cTn id="37" dur="500" fill="hold"/>
                                        <p:tgtEl>
                                          <p:spTgt spid="197638"/>
                                        </p:tgtEl>
                                        <p:attrNameLst>
                                          <p:attrName>ppt_x</p:attrName>
                                        </p:attrNameLst>
                                      </p:cBhvr>
                                      <p:tavLst>
                                        <p:tav tm="0">
                                          <p:val>
                                            <p:strVal val="#ppt_x-#ppt_w/2"/>
                                          </p:val>
                                        </p:tav>
                                        <p:tav tm="100000">
                                          <p:val>
                                            <p:strVal val="#ppt_x"/>
                                          </p:val>
                                        </p:tav>
                                      </p:tavLst>
                                    </p:anim>
                                    <p:anim calcmode="lin" valueType="num">
                                      <p:cBhvr>
                                        <p:cTn id="38" dur="500" fill="hold"/>
                                        <p:tgtEl>
                                          <p:spTgt spid="197638"/>
                                        </p:tgtEl>
                                        <p:attrNameLst>
                                          <p:attrName>ppt_y</p:attrName>
                                        </p:attrNameLst>
                                      </p:cBhvr>
                                      <p:tavLst>
                                        <p:tav tm="0">
                                          <p:val>
                                            <p:strVal val="#ppt_y"/>
                                          </p:val>
                                        </p:tav>
                                        <p:tav tm="100000">
                                          <p:val>
                                            <p:strVal val="#ppt_y"/>
                                          </p:val>
                                        </p:tav>
                                      </p:tavLst>
                                    </p:anim>
                                    <p:anim calcmode="lin" valueType="num">
                                      <p:cBhvr>
                                        <p:cTn id="39" dur="500" fill="hold"/>
                                        <p:tgtEl>
                                          <p:spTgt spid="197638"/>
                                        </p:tgtEl>
                                        <p:attrNameLst>
                                          <p:attrName>ppt_w</p:attrName>
                                        </p:attrNameLst>
                                      </p:cBhvr>
                                      <p:tavLst>
                                        <p:tav tm="0">
                                          <p:val>
                                            <p:fltVal val="0"/>
                                          </p:val>
                                        </p:tav>
                                        <p:tav tm="100000">
                                          <p:val>
                                            <p:strVal val="#ppt_w"/>
                                          </p:val>
                                        </p:tav>
                                      </p:tavLst>
                                    </p:anim>
                                    <p:anim calcmode="lin" valueType="num">
                                      <p:cBhvr>
                                        <p:cTn id="40" dur="500" fill="hold"/>
                                        <p:tgtEl>
                                          <p:spTgt spid="197638"/>
                                        </p:tgtEl>
                                        <p:attrNameLst>
                                          <p:attrName>ppt_h</p:attrName>
                                        </p:attrNameLst>
                                      </p:cBhvr>
                                      <p:tavLst>
                                        <p:tav tm="0">
                                          <p:val>
                                            <p:strVal val="#ppt_h"/>
                                          </p:val>
                                        </p:tav>
                                        <p:tav tm="100000">
                                          <p:val>
                                            <p:strVal val="#ppt_h"/>
                                          </p:val>
                                        </p:tav>
                                      </p:tavLst>
                                    </p:anim>
                                  </p:childTnLst>
                                </p:cTn>
                              </p:par>
                              <p:par>
                                <p:cTn id="41" presetID="17" presetClass="entr" presetSubtype="8" fill="hold" grpId="0" nodeType="withEffect">
                                  <p:stCondLst>
                                    <p:cond delay="0"/>
                                  </p:stCondLst>
                                  <p:childTnLst>
                                    <p:set>
                                      <p:cBhvr>
                                        <p:cTn id="42" dur="1" fill="hold">
                                          <p:stCondLst>
                                            <p:cond delay="0"/>
                                          </p:stCondLst>
                                        </p:cTn>
                                        <p:tgtEl>
                                          <p:spTgt spid="197639"/>
                                        </p:tgtEl>
                                        <p:attrNameLst>
                                          <p:attrName>style.visibility</p:attrName>
                                        </p:attrNameLst>
                                      </p:cBhvr>
                                      <p:to>
                                        <p:strVal val="visible"/>
                                      </p:to>
                                    </p:set>
                                    <p:anim calcmode="lin" valueType="num">
                                      <p:cBhvr>
                                        <p:cTn id="43" dur="500" fill="hold"/>
                                        <p:tgtEl>
                                          <p:spTgt spid="197639"/>
                                        </p:tgtEl>
                                        <p:attrNameLst>
                                          <p:attrName>ppt_x</p:attrName>
                                        </p:attrNameLst>
                                      </p:cBhvr>
                                      <p:tavLst>
                                        <p:tav tm="0">
                                          <p:val>
                                            <p:strVal val="#ppt_x-#ppt_w/2"/>
                                          </p:val>
                                        </p:tav>
                                        <p:tav tm="100000">
                                          <p:val>
                                            <p:strVal val="#ppt_x"/>
                                          </p:val>
                                        </p:tav>
                                      </p:tavLst>
                                    </p:anim>
                                    <p:anim calcmode="lin" valueType="num">
                                      <p:cBhvr>
                                        <p:cTn id="44" dur="500" fill="hold"/>
                                        <p:tgtEl>
                                          <p:spTgt spid="197639"/>
                                        </p:tgtEl>
                                        <p:attrNameLst>
                                          <p:attrName>ppt_y</p:attrName>
                                        </p:attrNameLst>
                                      </p:cBhvr>
                                      <p:tavLst>
                                        <p:tav tm="0">
                                          <p:val>
                                            <p:strVal val="#ppt_y"/>
                                          </p:val>
                                        </p:tav>
                                        <p:tav tm="100000">
                                          <p:val>
                                            <p:strVal val="#ppt_y"/>
                                          </p:val>
                                        </p:tav>
                                      </p:tavLst>
                                    </p:anim>
                                    <p:anim calcmode="lin" valueType="num">
                                      <p:cBhvr>
                                        <p:cTn id="45" dur="500" fill="hold"/>
                                        <p:tgtEl>
                                          <p:spTgt spid="197639"/>
                                        </p:tgtEl>
                                        <p:attrNameLst>
                                          <p:attrName>ppt_w</p:attrName>
                                        </p:attrNameLst>
                                      </p:cBhvr>
                                      <p:tavLst>
                                        <p:tav tm="0">
                                          <p:val>
                                            <p:fltVal val="0"/>
                                          </p:val>
                                        </p:tav>
                                        <p:tav tm="100000">
                                          <p:val>
                                            <p:strVal val="#ppt_w"/>
                                          </p:val>
                                        </p:tav>
                                      </p:tavLst>
                                    </p:anim>
                                    <p:anim calcmode="lin" valueType="num">
                                      <p:cBhvr>
                                        <p:cTn id="46" dur="500" fill="hold"/>
                                        <p:tgtEl>
                                          <p:spTgt spid="197639"/>
                                        </p:tgtEl>
                                        <p:attrNameLst>
                                          <p:attrName>ppt_h</p:attrName>
                                        </p:attrNameLst>
                                      </p:cBhvr>
                                      <p:tavLst>
                                        <p:tav tm="0">
                                          <p:val>
                                            <p:strVal val="#ppt_h"/>
                                          </p:val>
                                        </p:tav>
                                        <p:tav tm="100000">
                                          <p:val>
                                            <p:strVal val="#ppt_h"/>
                                          </p:val>
                                        </p:tav>
                                      </p:tavLst>
                                    </p:anim>
                                  </p:childTnLst>
                                </p:cTn>
                              </p:par>
                              <p:par>
                                <p:cTn id="47" presetID="17" presetClass="entr" presetSubtype="8" fill="hold" grpId="0" nodeType="withEffect">
                                  <p:stCondLst>
                                    <p:cond delay="0"/>
                                  </p:stCondLst>
                                  <p:childTnLst>
                                    <p:set>
                                      <p:cBhvr>
                                        <p:cTn id="48" dur="1" fill="hold">
                                          <p:stCondLst>
                                            <p:cond delay="0"/>
                                          </p:stCondLst>
                                        </p:cTn>
                                        <p:tgtEl>
                                          <p:spTgt spid="197641"/>
                                        </p:tgtEl>
                                        <p:attrNameLst>
                                          <p:attrName>style.visibility</p:attrName>
                                        </p:attrNameLst>
                                      </p:cBhvr>
                                      <p:to>
                                        <p:strVal val="visible"/>
                                      </p:to>
                                    </p:set>
                                    <p:anim calcmode="lin" valueType="num">
                                      <p:cBhvr>
                                        <p:cTn id="49" dur="500" fill="hold"/>
                                        <p:tgtEl>
                                          <p:spTgt spid="197641"/>
                                        </p:tgtEl>
                                        <p:attrNameLst>
                                          <p:attrName>ppt_x</p:attrName>
                                        </p:attrNameLst>
                                      </p:cBhvr>
                                      <p:tavLst>
                                        <p:tav tm="0">
                                          <p:val>
                                            <p:strVal val="#ppt_x-#ppt_w/2"/>
                                          </p:val>
                                        </p:tav>
                                        <p:tav tm="100000">
                                          <p:val>
                                            <p:strVal val="#ppt_x"/>
                                          </p:val>
                                        </p:tav>
                                      </p:tavLst>
                                    </p:anim>
                                    <p:anim calcmode="lin" valueType="num">
                                      <p:cBhvr>
                                        <p:cTn id="50" dur="500" fill="hold"/>
                                        <p:tgtEl>
                                          <p:spTgt spid="197641"/>
                                        </p:tgtEl>
                                        <p:attrNameLst>
                                          <p:attrName>ppt_y</p:attrName>
                                        </p:attrNameLst>
                                      </p:cBhvr>
                                      <p:tavLst>
                                        <p:tav tm="0">
                                          <p:val>
                                            <p:strVal val="#ppt_y"/>
                                          </p:val>
                                        </p:tav>
                                        <p:tav tm="100000">
                                          <p:val>
                                            <p:strVal val="#ppt_y"/>
                                          </p:val>
                                        </p:tav>
                                      </p:tavLst>
                                    </p:anim>
                                    <p:anim calcmode="lin" valueType="num">
                                      <p:cBhvr>
                                        <p:cTn id="51" dur="500" fill="hold"/>
                                        <p:tgtEl>
                                          <p:spTgt spid="197641"/>
                                        </p:tgtEl>
                                        <p:attrNameLst>
                                          <p:attrName>ppt_w</p:attrName>
                                        </p:attrNameLst>
                                      </p:cBhvr>
                                      <p:tavLst>
                                        <p:tav tm="0">
                                          <p:val>
                                            <p:fltVal val="0"/>
                                          </p:val>
                                        </p:tav>
                                        <p:tav tm="100000">
                                          <p:val>
                                            <p:strVal val="#ppt_w"/>
                                          </p:val>
                                        </p:tav>
                                      </p:tavLst>
                                    </p:anim>
                                    <p:anim calcmode="lin" valueType="num">
                                      <p:cBhvr>
                                        <p:cTn id="52" dur="500" fill="hold"/>
                                        <p:tgtEl>
                                          <p:spTgt spid="197641"/>
                                        </p:tgtEl>
                                        <p:attrNameLst>
                                          <p:attrName>ppt_h</p:attrName>
                                        </p:attrNameLst>
                                      </p:cBhvr>
                                      <p:tavLst>
                                        <p:tav tm="0">
                                          <p:val>
                                            <p:strVal val="#ppt_h"/>
                                          </p:val>
                                        </p:tav>
                                        <p:tav tm="100000">
                                          <p:val>
                                            <p:strVal val="#ppt_h"/>
                                          </p:val>
                                        </p:tav>
                                      </p:tavLst>
                                    </p:anim>
                                  </p:childTnLst>
                                </p:cTn>
                              </p:par>
                              <p:par>
                                <p:cTn id="53" presetID="17" presetClass="entr" presetSubtype="8" fill="hold" grpId="0" nodeType="withEffect">
                                  <p:stCondLst>
                                    <p:cond delay="0"/>
                                  </p:stCondLst>
                                  <p:childTnLst>
                                    <p:set>
                                      <p:cBhvr>
                                        <p:cTn id="54" dur="1" fill="hold">
                                          <p:stCondLst>
                                            <p:cond delay="0"/>
                                          </p:stCondLst>
                                        </p:cTn>
                                        <p:tgtEl>
                                          <p:spTgt spid="197640"/>
                                        </p:tgtEl>
                                        <p:attrNameLst>
                                          <p:attrName>style.visibility</p:attrName>
                                        </p:attrNameLst>
                                      </p:cBhvr>
                                      <p:to>
                                        <p:strVal val="visible"/>
                                      </p:to>
                                    </p:set>
                                    <p:anim calcmode="lin" valueType="num">
                                      <p:cBhvr>
                                        <p:cTn id="55" dur="500" fill="hold"/>
                                        <p:tgtEl>
                                          <p:spTgt spid="197640"/>
                                        </p:tgtEl>
                                        <p:attrNameLst>
                                          <p:attrName>ppt_x</p:attrName>
                                        </p:attrNameLst>
                                      </p:cBhvr>
                                      <p:tavLst>
                                        <p:tav tm="0">
                                          <p:val>
                                            <p:strVal val="#ppt_x-#ppt_w/2"/>
                                          </p:val>
                                        </p:tav>
                                        <p:tav tm="100000">
                                          <p:val>
                                            <p:strVal val="#ppt_x"/>
                                          </p:val>
                                        </p:tav>
                                      </p:tavLst>
                                    </p:anim>
                                    <p:anim calcmode="lin" valueType="num">
                                      <p:cBhvr>
                                        <p:cTn id="56" dur="500" fill="hold"/>
                                        <p:tgtEl>
                                          <p:spTgt spid="197640"/>
                                        </p:tgtEl>
                                        <p:attrNameLst>
                                          <p:attrName>ppt_y</p:attrName>
                                        </p:attrNameLst>
                                      </p:cBhvr>
                                      <p:tavLst>
                                        <p:tav tm="0">
                                          <p:val>
                                            <p:strVal val="#ppt_y"/>
                                          </p:val>
                                        </p:tav>
                                        <p:tav tm="100000">
                                          <p:val>
                                            <p:strVal val="#ppt_y"/>
                                          </p:val>
                                        </p:tav>
                                      </p:tavLst>
                                    </p:anim>
                                    <p:anim calcmode="lin" valueType="num">
                                      <p:cBhvr>
                                        <p:cTn id="57" dur="500" fill="hold"/>
                                        <p:tgtEl>
                                          <p:spTgt spid="197640"/>
                                        </p:tgtEl>
                                        <p:attrNameLst>
                                          <p:attrName>ppt_w</p:attrName>
                                        </p:attrNameLst>
                                      </p:cBhvr>
                                      <p:tavLst>
                                        <p:tav tm="0">
                                          <p:val>
                                            <p:fltVal val="0"/>
                                          </p:val>
                                        </p:tav>
                                        <p:tav tm="100000">
                                          <p:val>
                                            <p:strVal val="#ppt_w"/>
                                          </p:val>
                                        </p:tav>
                                      </p:tavLst>
                                    </p:anim>
                                    <p:anim calcmode="lin" valueType="num">
                                      <p:cBhvr>
                                        <p:cTn id="58" dur="500" fill="hold"/>
                                        <p:tgtEl>
                                          <p:spTgt spid="197640"/>
                                        </p:tgtEl>
                                        <p:attrNameLst>
                                          <p:attrName>ppt_h</p:attrName>
                                        </p:attrNameLst>
                                      </p:cBhvr>
                                      <p:tavLst>
                                        <p:tav tm="0">
                                          <p:val>
                                            <p:strVal val="#ppt_h"/>
                                          </p:val>
                                        </p:tav>
                                        <p:tav tm="100000">
                                          <p:val>
                                            <p:strVal val="#ppt_h"/>
                                          </p:val>
                                        </p:tav>
                                      </p:tavLst>
                                    </p:anim>
                                  </p:childTnLst>
                                </p:cTn>
                              </p:par>
                              <p:par>
                                <p:cTn id="59" presetID="17" presetClass="entr" presetSubtype="1" fill="hold" grpId="0" nodeType="withEffect">
                                  <p:stCondLst>
                                    <p:cond delay="0"/>
                                  </p:stCondLst>
                                  <p:childTnLst>
                                    <p:set>
                                      <p:cBhvr>
                                        <p:cTn id="60" dur="1" fill="hold">
                                          <p:stCondLst>
                                            <p:cond delay="0"/>
                                          </p:stCondLst>
                                        </p:cTn>
                                        <p:tgtEl>
                                          <p:spTgt spid="197642"/>
                                        </p:tgtEl>
                                        <p:attrNameLst>
                                          <p:attrName>style.visibility</p:attrName>
                                        </p:attrNameLst>
                                      </p:cBhvr>
                                      <p:to>
                                        <p:strVal val="visible"/>
                                      </p:to>
                                    </p:set>
                                    <p:anim calcmode="lin" valueType="num">
                                      <p:cBhvr>
                                        <p:cTn id="61" dur="500" fill="hold"/>
                                        <p:tgtEl>
                                          <p:spTgt spid="197642"/>
                                        </p:tgtEl>
                                        <p:attrNameLst>
                                          <p:attrName>ppt_x</p:attrName>
                                        </p:attrNameLst>
                                      </p:cBhvr>
                                      <p:tavLst>
                                        <p:tav tm="0">
                                          <p:val>
                                            <p:strVal val="#ppt_x"/>
                                          </p:val>
                                        </p:tav>
                                        <p:tav tm="100000">
                                          <p:val>
                                            <p:strVal val="#ppt_x"/>
                                          </p:val>
                                        </p:tav>
                                      </p:tavLst>
                                    </p:anim>
                                    <p:anim calcmode="lin" valueType="num">
                                      <p:cBhvr>
                                        <p:cTn id="62" dur="500" fill="hold"/>
                                        <p:tgtEl>
                                          <p:spTgt spid="197642"/>
                                        </p:tgtEl>
                                        <p:attrNameLst>
                                          <p:attrName>ppt_y</p:attrName>
                                        </p:attrNameLst>
                                      </p:cBhvr>
                                      <p:tavLst>
                                        <p:tav tm="0">
                                          <p:val>
                                            <p:strVal val="#ppt_y-#ppt_h/2"/>
                                          </p:val>
                                        </p:tav>
                                        <p:tav tm="100000">
                                          <p:val>
                                            <p:strVal val="#ppt_y"/>
                                          </p:val>
                                        </p:tav>
                                      </p:tavLst>
                                    </p:anim>
                                    <p:anim calcmode="lin" valueType="num">
                                      <p:cBhvr>
                                        <p:cTn id="63" dur="500" fill="hold"/>
                                        <p:tgtEl>
                                          <p:spTgt spid="197642"/>
                                        </p:tgtEl>
                                        <p:attrNameLst>
                                          <p:attrName>ppt_w</p:attrName>
                                        </p:attrNameLst>
                                      </p:cBhvr>
                                      <p:tavLst>
                                        <p:tav tm="0">
                                          <p:val>
                                            <p:strVal val="#ppt_w"/>
                                          </p:val>
                                        </p:tav>
                                        <p:tav tm="100000">
                                          <p:val>
                                            <p:strVal val="#ppt_w"/>
                                          </p:val>
                                        </p:tav>
                                      </p:tavLst>
                                    </p:anim>
                                    <p:anim calcmode="lin" valueType="num">
                                      <p:cBhvr>
                                        <p:cTn id="64" dur="500" fill="hold"/>
                                        <p:tgtEl>
                                          <p:spTgt spid="197642"/>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97644"/>
                                        </p:tgtEl>
                                        <p:attrNameLst>
                                          <p:attrName>style.visibility</p:attrName>
                                        </p:attrNameLst>
                                      </p:cBhvr>
                                      <p:to>
                                        <p:strVal val="visible"/>
                                      </p:to>
                                    </p:set>
                                    <p:anim calcmode="lin" valueType="num">
                                      <p:cBhvr additive="base">
                                        <p:cTn id="69" dur="500" fill="hold"/>
                                        <p:tgtEl>
                                          <p:spTgt spid="197644"/>
                                        </p:tgtEl>
                                        <p:attrNameLst>
                                          <p:attrName>ppt_x</p:attrName>
                                        </p:attrNameLst>
                                      </p:cBhvr>
                                      <p:tavLst>
                                        <p:tav tm="0">
                                          <p:val>
                                            <p:strVal val="0-#ppt_w/2"/>
                                          </p:val>
                                        </p:tav>
                                        <p:tav tm="100000">
                                          <p:val>
                                            <p:strVal val="#ppt_x"/>
                                          </p:val>
                                        </p:tav>
                                      </p:tavLst>
                                    </p:anim>
                                    <p:anim calcmode="lin" valueType="num">
                                      <p:cBhvr additive="base">
                                        <p:cTn id="70" dur="500" fill="hold"/>
                                        <p:tgtEl>
                                          <p:spTgt spid="197644"/>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97645"/>
                                        </p:tgtEl>
                                        <p:attrNameLst>
                                          <p:attrName>style.visibility</p:attrName>
                                        </p:attrNameLst>
                                      </p:cBhvr>
                                      <p:to>
                                        <p:strVal val="visible"/>
                                      </p:to>
                                    </p:set>
                                    <p:animEffect transition="in" filter="wipe(left)">
                                      <p:cBhvr>
                                        <p:cTn id="75" dur="500"/>
                                        <p:tgtEl>
                                          <p:spTgt spid="197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animBg="1" autoUpdateAnimBg="0"/>
      <p:bldP spid="197635" grpId="0" animBg="1" autoUpdateAnimBg="0"/>
      <p:bldP spid="197636" grpId="0" animBg="1" autoUpdateAnimBg="0"/>
      <p:bldP spid="197637" grpId="0" animBg="1" autoUpdateAnimBg="0"/>
      <p:bldP spid="197638" grpId="0" animBg="1"/>
      <p:bldP spid="197639" grpId="0" animBg="1"/>
      <p:bldP spid="197640" grpId="0" animBg="1"/>
      <p:bldP spid="197641" grpId="0" animBg="1"/>
      <p:bldP spid="197642" grpId="0" animBg="1"/>
      <p:bldP spid="197643" grpId="0" bldLvl="0" animBg="1" autoUpdateAnimBg="0"/>
      <p:bldP spid="197644" grpId="0" bldLvl="0" animBg="1" autoUpdateAnimBg="0"/>
      <p:bldP spid="197645" grpId="0" bldLvl="0" animBg="1"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olidFill>
                  <a:srgbClr val="800000"/>
                </a:solidFill>
                <a:ea typeface="楷体_GB2312" pitchFamily="49" charset="-122"/>
                <a:sym typeface="+mn-ea"/>
              </a:rPr>
              <a:t>How to perform topological sorting?</a:t>
            </a:r>
            <a:endParaRPr lang="zh-CN" altLang="en-US" dirty="0"/>
          </a:p>
        </p:txBody>
      </p:sp>
      <p:sp>
        <p:nvSpPr>
          <p:cNvPr id="3" name="内容占位符 2"/>
          <p:cNvSpPr>
            <a:spLocks noGrp="1"/>
          </p:cNvSpPr>
          <p:nvPr>
            <p:ph idx="1"/>
          </p:nvPr>
        </p:nvSpPr>
        <p:spPr/>
        <p:txBody>
          <a:bodyPr/>
          <a:lstStyle/>
          <a:p>
            <a:pPr>
              <a:spcBef>
                <a:spcPts val="600"/>
              </a:spcBef>
            </a:pPr>
            <a:r>
              <a:rPr lang="zh-CN" altLang="en-US" sz="2000" b="1" dirty="0">
                <a:ea typeface="楷体_GB2312" pitchFamily="49" charset="-122"/>
                <a:cs typeface="Arial" panose="020B0604020202020204" pitchFamily="34" charset="0"/>
                <a:sym typeface="+mn-ea"/>
              </a:rPr>
              <a:t>Select a vertex with no predecessors (i.e., an in-degree of zero) from the graph and output it.</a:t>
            </a:r>
            <a:endParaRPr lang="zh-CN" altLang="en-US" sz="2000" b="1" dirty="0">
              <a:ea typeface="楷体_GB2312" pitchFamily="49" charset="-122"/>
              <a:cs typeface="Arial" panose="020B0604020202020204" pitchFamily="34" charset="0"/>
            </a:endParaRPr>
          </a:p>
          <a:p>
            <a:pPr>
              <a:spcBef>
                <a:spcPts val="600"/>
              </a:spcBef>
            </a:pPr>
            <a:r>
              <a:rPr lang="zh-CN" altLang="en-US" sz="2000" b="1" dirty="0">
                <a:ea typeface="楷体_GB2312" pitchFamily="49" charset="-122"/>
                <a:cs typeface="Arial" panose="020B0604020202020204" pitchFamily="34" charset="0"/>
                <a:sym typeface="+mn-ea"/>
              </a:rPr>
              <a:t>Delete this vertex and all edges from it from the graph.</a:t>
            </a:r>
            <a:endParaRPr lang="zh-CN" altLang="en-US" sz="2000" b="1" dirty="0">
              <a:ea typeface="楷体_GB2312" pitchFamily="49" charset="-122"/>
              <a:cs typeface="Arial" panose="020B0604020202020204" pitchFamily="34" charset="0"/>
            </a:endParaRPr>
          </a:p>
          <a:p>
            <a:pPr>
              <a:spcBef>
                <a:spcPts val="600"/>
              </a:spcBef>
            </a:pPr>
            <a:r>
              <a:rPr lang="zh-CN" altLang="en-US" sz="2000" b="1" dirty="0">
                <a:ea typeface="楷体_GB2312" pitchFamily="49" charset="-122"/>
                <a:cs typeface="Arial" panose="020B0604020202020204" pitchFamily="34" charset="0"/>
                <a:sym typeface="+mn-ea"/>
              </a:rPr>
              <a:t>Repeat steps ⑴ and ⑵ until all vertices are output and the topological sorting is complete, or until no vertices with in-degree zero remain in the graph, indicating a circular graph and the topological sorting cannot proceed.</a:t>
            </a:r>
            <a:endParaRPr lang="zh-CN" altLang="en-US" sz="2000" b="1" dirty="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grpSp>
        <p:nvGrpSpPr>
          <p:cNvPr id="6" name="Group 12"/>
          <p:cNvGrpSpPr/>
          <p:nvPr/>
        </p:nvGrpSpPr>
        <p:grpSpPr bwMode="auto">
          <a:xfrm>
            <a:off x="5724128" y="4653136"/>
            <a:ext cx="3048000" cy="1587500"/>
            <a:chOff x="1872" y="1294"/>
            <a:chExt cx="1920" cy="1000"/>
          </a:xfrm>
        </p:grpSpPr>
        <p:sp>
          <p:nvSpPr>
            <p:cNvPr id="7" name="Oval 4"/>
            <p:cNvSpPr>
              <a:spLocks noChangeArrowheads="1"/>
            </p:cNvSpPr>
            <p:nvPr/>
          </p:nvSpPr>
          <p:spPr bwMode="auto">
            <a:xfrm>
              <a:off x="2688" y="1294"/>
              <a:ext cx="288" cy="288"/>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dirty="0">
                  <a:solidFill>
                    <a:srgbClr val="000099"/>
                  </a:solidFill>
                </a:rPr>
                <a:t>B</a:t>
              </a:r>
              <a:endParaRPr lang="en-US" altLang="zh-CN" sz="3200" dirty="0"/>
            </a:p>
          </p:txBody>
        </p:sp>
        <p:sp>
          <p:nvSpPr>
            <p:cNvPr id="8" name="Oval 5"/>
            <p:cNvSpPr>
              <a:spLocks noChangeArrowheads="1"/>
            </p:cNvSpPr>
            <p:nvPr/>
          </p:nvSpPr>
          <p:spPr bwMode="auto">
            <a:xfrm>
              <a:off x="3504" y="1670"/>
              <a:ext cx="288" cy="288"/>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D</a:t>
              </a:r>
              <a:endParaRPr lang="en-US" altLang="zh-CN" sz="3200"/>
            </a:p>
          </p:txBody>
        </p:sp>
        <p:sp>
          <p:nvSpPr>
            <p:cNvPr id="9" name="Oval 6"/>
            <p:cNvSpPr>
              <a:spLocks noChangeArrowheads="1"/>
            </p:cNvSpPr>
            <p:nvPr/>
          </p:nvSpPr>
          <p:spPr bwMode="auto">
            <a:xfrm>
              <a:off x="1872" y="1670"/>
              <a:ext cx="288" cy="288"/>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A</a:t>
              </a:r>
              <a:endParaRPr lang="en-US" altLang="zh-CN" sz="3200"/>
            </a:p>
          </p:txBody>
        </p:sp>
        <p:sp>
          <p:nvSpPr>
            <p:cNvPr id="10" name="Oval 7"/>
            <p:cNvSpPr>
              <a:spLocks noChangeArrowheads="1"/>
            </p:cNvSpPr>
            <p:nvPr/>
          </p:nvSpPr>
          <p:spPr bwMode="auto">
            <a:xfrm>
              <a:off x="2688" y="2006"/>
              <a:ext cx="288" cy="288"/>
            </a:xfrm>
            <a:prstGeom prst="ellipse">
              <a:avLst/>
            </a:prstGeom>
            <a:noFill/>
            <a:ln w="12700" cap="sq">
              <a:solidFill>
                <a:srgbClr val="000099"/>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rgbClr val="000099"/>
                  </a:solidFill>
                </a:rPr>
                <a:t>C</a:t>
              </a:r>
              <a:endParaRPr lang="en-US" altLang="zh-CN" sz="3200"/>
            </a:p>
          </p:txBody>
        </p:sp>
        <p:sp>
          <p:nvSpPr>
            <p:cNvPr id="11" name="Line 8"/>
            <p:cNvSpPr>
              <a:spLocks noChangeShapeType="1"/>
            </p:cNvSpPr>
            <p:nvPr/>
          </p:nvSpPr>
          <p:spPr bwMode="auto">
            <a:xfrm flipV="1">
              <a:off x="2160" y="1430"/>
              <a:ext cx="528" cy="288"/>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a:off x="2112" y="1910"/>
              <a:ext cx="576" cy="24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a:off x="2976" y="1478"/>
              <a:ext cx="576" cy="24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V="1">
              <a:off x="2976" y="1910"/>
              <a:ext cx="576" cy="240"/>
            </a:xfrm>
            <a:prstGeom prst="line">
              <a:avLst/>
            </a:prstGeom>
            <a:noFill/>
            <a:ln w="25400" cap="sq">
              <a:solidFill>
                <a:srgbClr val="000099"/>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Oval 2"/>
          <p:cNvSpPr>
            <a:spLocks noChangeArrowheads="1"/>
          </p:cNvSpPr>
          <p:nvPr/>
        </p:nvSpPr>
        <p:spPr bwMode="auto">
          <a:xfrm>
            <a:off x="1447800" y="7620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a</a:t>
            </a:r>
            <a:endParaRPr lang="en-US" altLang="zh-CN" sz="3200"/>
          </a:p>
        </p:txBody>
      </p:sp>
      <p:sp>
        <p:nvSpPr>
          <p:cNvPr id="199683" name="Oval 3"/>
          <p:cNvSpPr>
            <a:spLocks noChangeArrowheads="1"/>
          </p:cNvSpPr>
          <p:nvPr/>
        </p:nvSpPr>
        <p:spPr bwMode="auto">
          <a:xfrm>
            <a:off x="1447800" y="21336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b</a:t>
            </a:r>
            <a:endParaRPr lang="en-US" altLang="zh-CN" sz="3200"/>
          </a:p>
        </p:txBody>
      </p:sp>
      <p:sp>
        <p:nvSpPr>
          <p:cNvPr id="199684" name="Oval 4"/>
          <p:cNvSpPr>
            <a:spLocks noChangeArrowheads="1"/>
          </p:cNvSpPr>
          <p:nvPr/>
        </p:nvSpPr>
        <p:spPr bwMode="auto">
          <a:xfrm>
            <a:off x="3048000" y="2286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c</a:t>
            </a:r>
            <a:endParaRPr lang="en-US" altLang="zh-CN" sz="3200"/>
          </a:p>
        </p:txBody>
      </p:sp>
      <p:sp>
        <p:nvSpPr>
          <p:cNvPr id="199685" name="Oval 5"/>
          <p:cNvSpPr>
            <a:spLocks noChangeArrowheads="1"/>
          </p:cNvSpPr>
          <p:nvPr/>
        </p:nvSpPr>
        <p:spPr bwMode="auto">
          <a:xfrm>
            <a:off x="3048000" y="14478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g</a:t>
            </a:r>
            <a:endParaRPr lang="en-US" altLang="zh-CN" sz="3200"/>
          </a:p>
        </p:txBody>
      </p:sp>
      <p:sp>
        <p:nvSpPr>
          <p:cNvPr id="199686" name="Oval 6"/>
          <p:cNvSpPr>
            <a:spLocks noChangeArrowheads="1"/>
          </p:cNvSpPr>
          <p:nvPr/>
        </p:nvSpPr>
        <p:spPr bwMode="auto">
          <a:xfrm>
            <a:off x="3048000" y="26670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h</a:t>
            </a:r>
            <a:endParaRPr lang="en-US" altLang="zh-CN" sz="3200"/>
          </a:p>
        </p:txBody>
      </p:sp>
      <p:sp>
        <p:nvSpPr>
          <p:cNvPr id="199687" name="Oval 7"/>
          <p:cNvSpPr>
            <a:spLocks noChangeArrowheads="1"/>
          </p:cNvSpPr>
          <p:nvPr/>
        </p:nvSpPr>
        <p:spPr bwMode="auto">
          <a:xfrm>
            <a:off x="4572000" y="7620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d</a:t>
            </a:r>
            <a:endParaRPr lang="en-US" altLang="zh-CN" sz="3200"/>
          </a:p>
        </p:txBody>
      </p:sp>
      <p:sp>
        <p:nvSpPr>
          <p:cNvPr id="199688" name="Oval 8"/>
          <p:cNvSpPr>
            <a:spLocks noChangeArrowheads="1"/>
          </p:cNvSpPr>
          <p:nvPr/>
        </p:nvSpPr>
        <p:spPr bwMode="auto">
          <a:xfrm>
            <a:off x="4572000" y="21336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f</a:t>
            </a:r>
            <a:endParaRPr lang="en-US" altLang="zh-CN" sz="3200"/>
          </a:p>
        </p:txBody>
      </p:sp>
      <p:sp>
        <p:nvSpPr>
          <p:cNvPr id="199689" name="Oval 9"/>
          <p:cNvSpPr>
            <a:spLocks noChangeArrowheads="1"/>
          </p:cNvSpPr>
          <p:nvPr/>
        </p:nvSpPr>
        <p:spPr bwMode="auto">
          <a:xfrm>
            <a:off x="6096000" y="1447800"/>
            <a:ext cx="609600" cy="533400"/>
          </a:xfrm>
          <a:prstGeom prst="ellipse">
            <a:avLst/>
          </a:prstGeom>
          <a:solidFill>
            <a:srgbClr val="CCFFCC"/>
          </a:solidFill>
          <a:ln>
            <a:noFill/>
          </a:ln>
          <a:effectLst/>
          <a:extLst>
            <a:ext uri="{91240B29-F687-4F45-9708-019B960494DF}">
              <a14:hiddenLine xmlns:a14="http://schemas.microsoft.com/office/drawing/2010/main" w="12700">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b="1">
                <a:solidFill>
                  <a:schemeClr val="tx2"/>
                </a:solidFill>
              </a:rPr>
              <a:t>e</a:t>
            </a:r>
            <a:endParaRPr lang="en-US" altLang="zh-CN" sz="3200"/>
          </a:p>
        </p:txBody>
      </p:sp>
      <p:sp>
        <p:nvSpPr>
          <p:cNvPr id="199690" name="Line 10"/>
          <p:cNvSpPr>
            <a:spLocks noChangeShapeType="1"/>
          </p:cNvSpPr>
          <p:nvPr/>
        </p:nvSpPr>
        <p:spPr bwMode="auto">
          <a:xfrm flipV="1">
            <a:off x="2057400" y="533400"/>
            <a:ext cx="990600" cy="3810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1" name="Line 11"/>
          <p:cNvSpPr>
            <a:spLocks noChangeShapeType="1"/>
          </p:cNvSpPr>
          <p:nvPr/>
        </p:nvSpPr>
        <p:spPr bwMode="auto">
          <a:xfrm>
            <a:off x="2057400" y="1143000"/>
            <a:ext cx="990600" cy="3810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2" name="Line 12"/>
          <p:cNvSpPr>
            <a:spLocks noChangeShapeType="1"/>
          </p:cNvSpPr>
          <p:nvPr/>
        </p:nvSpPr>
        <p:spPr bwMode="auto">
          <a:xfrm flipV="1">
            <a:off x="2057400" y="1828800"/>
            <a:ext cx="1066800" cy="4572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3" name="Line 13"/>
          <p:cNvSpPr>
            <a:spLocks noChangeShapeType="1"/>
          </p:cNvSpPr>
          <p:nvPr/>
        </p:nvSpPr>
        <p:spPr bwMode="auto">
          <a:xfrm>
            <a:off x="2057400" y="2514600"/>
            <a:ext cx="990600" cy="3810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4" name="Line 14"/>
          <p:cNvSpPr>
            <a:spLocks noChangeShapeType="1"/>
          </p:cNvSpPr>
          <p:nvPr/>
        </p:nvSpPr>
        <p:spPr bwMode="auto">
          <a:xfrm>
            <a:off x="3657600" y="457200"/>
            <a:ext cx="990600" cy="3810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5" name="Line 15"/>
          <p:cNvSpPr>
            <a:spLocks noChangeShapeType="1"/>
          </p:cNvSpPr>
          <p:nvPr/>
        </p:nvSpPr>
        <p:spPr bwMode="auto">
          <a:xfrm flipH="1">
            <a:off x="3657600" y="1143000"/>
            <a:ext cx="914400" cy="4572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6" name="Line 16"/>
          <p:cNvSpPr>
            <a:spLocks noChangeShapeType="1"/>
          </p:cNvSpPr>
          <p:nvPr/>
        </p:nvSpPr>
        <p:spPr bwMode="auto">
          <a:xfrm>
            <a:off x="3657600" y="1828800"/>
            <a:ext cx="990600" cy="4572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7" name="Line 17"/>
          <p:cNvSpPr>
            <a:spLocks noChangeShapeType="1"/>
          </p:cNvSpPr>
          <p:nvPr/>
        </p:nvSpPr>
        <p:spPr bwMode="auto">
          <a:xfrm flipV="1">
            <a:off x="3657600" y="2590800"/>
            <a:ext cx="990600" cy="3048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8" name="Line 18"/>
          <p:cNvSpPr>
            <a:spLocks noChangeShapeType="1"/>
          </p:cNvSpPr>
          <p:nvPr/>
        </p:nvSpPr>
        <p:spPr bwMode="auto">
          <a:xfrm>
            <a:off x="5181600" y="990600"/>
            <a:ext cx="914400" cy="5334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699" name="Line 19"/>
          <p:cNvSpPr>
            <a:spLocks noChangeShapeType="1"/>
          </p:cNvSpPr>
          <p:nvPr/>
        </p:nvSpPr>
        <p:spPr bwMode="auto">
          <a:xfrm flipV="1">
            <a:off x="5181600" y="1828800"/>
            <a:ext cx="914400" cy="533400"/>
          </a:xfrm>
          <a:prstGeom prst="line">
            <a:avLst/>
          </a:prstGeom>
          <a:noFill/>
          <a:ln w="19050" cap="sq">
            <a:solidFill>
              <a:srgbClr val="008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700" name="Text Box 20"/>
          <p:cNvSpPr txBox="1">
            <a:spLocks noChangeArrowheads="1"/>
          </p:cNvSpPr>
          <p:nvPr/>
        </p:nvSpPr>
        <p:spPr bwMode="auto">
          <a:xfrm>
            <a:off x="974725" y="34131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a</a:t>
            </a:r>
            <a:endParaRPr lang="en-US" altLang="zh-CN" sz="4000"/>
          </a:p>
        </p:txBody>
      </p:sp>
      <p:sp>
        <p:nvSpPr>
          <p:cNvPr id="199701" name="Text Box 21"/>
          <p:cNvSpPr txBox="1">
            <a:spLocks noChangeArrowheads="1"/>
          </p:cNvSpPr>
          <p:nvPr/>
        </p:nvSpPr>
        <p:spPr bwMode="auto">
          <a:xfrm>
            <a:off x="1752600" y="3413125"/>
            <a:ext cx="46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b</a:t>
            </a:r>
            <a:endParaRPr lang="en-US" altLang="zh-CN" sz="4000"/>
          </a:p>
        </p:txBody>
      </p:sp>
      <p:sp>
        <p:nvSpPr>
          <p:cNvPr id="199702" name="Text Box 22"/>
          <p:cNvSpPr txBox="1">
            <a:spLocks noChangeArrowheads="1"/>
          </p:cNvSpPr>
          <p:nvPr/>
        </p:nvSpPr>
        <p:spPr bwMode="auto">
          <a:xfrm>
            <a:off x="2533650" y="3413125"/>
            <a:ext cx="46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h</a:t>
            </a:r>
            <a:endParaRPr lang="en-US" altLang="zh-CN" sz="4000"/>
          </a:p>
        </p:txBody>
      </p:sp>
      <p:sp>
        <p:nvSpPr>
          <p:cNvPr id="199703" name="Text Box 23"/>
          <p:cNvSpPr txBox="1">
            <a:spLocks noChangeArrowheads="1"/>
          </p:cNvSpPr>
          <p:nvPr/>
        </p:nvSpPr>
        <p:spPr bwMode="auto">
          <a:xfrm>
            <a:off x="3276600" y="3413125"/>
            <a:ext cx="409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c</a:t>
            </a:r>
            <a:endParaRPr lang="en-US" altLang="zh-CN" sz="4000"/>
          </a:p>
        </p:txBody>
      </p:sp>
      <p:sp>
        <p:nvSpPr>
          <p:cNvPr id="199704" name="Text Box 24"/>
          <p:cNvSpPr txBox="1">
            <a:spLocks noChangeArrowheads="1"/>
          </p:cNvSpPr>
          <p:nvPr/>
        </p:nvSpPr>
        <p:spPr bwMode="auto">
          <a:xfrm>
            <a:off x="3962400" y="3413125"/>
            <a:ext cx="4667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d</a:t>
            </a:r>
            <a:endParaRPr lang="en-US" altLang="zh-CN" sz="4000"/>
          </a:p>
        </p:txBody>
      </p:sp>
      <p:sp>
        <p:nvSpPr>
          <p:cNvPr id="199705" name="Text Box 25"/>
          <p:cNvSpPr txBox="1">
            <a:spLocks noChangeArrowheads="1"/>
          </p:cNvSpPr>
          <p:nvPr/>
        </p:nvSpPr>
        <p:spPr bwMode="auto">
          <a:xfrm>
            <a:off x="4743450" y="3413125"/>
            <a:ext cx="43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g</a:t>
            </a:r>
            <a:endParaRPr lang="en-US" altLang="zh-CN" sz="4000"/>
          </a:p>
        </p:txBody>
      </p:sp>
      <p:sp>
        <p:nvSpPr>
          <p:cNvPr id="199706" name="Text Box 26"/>
          <p:cNvSpPr txBox="1">
            <a:spLocks noChangeArrowheads="1"/>
          </p:cNvSpPr>
          <p:nvPr/>
        </p:nvSpPr>
        <p:spPr bwMode="auto">
          <a:xfrm>
            <a:off x="5486400" y="3413125"/>
            <a:ext cx="354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f</a:t>
            </a:r>
            <a:endParaRPr lang="en-US" altLang="zh-CN" sz="4000"/>
          </a:p>
        </p:txBody>
      </p:sp>
      <p:sp>
        <p:nvSpPr>
          <p:cNvPr id="199707" name="Text Box 27"/>
          <p:cNvSpPr txBox="1">
            <a:spLocks noChangeArrowheads="1"/>
          </p:cNvSpPr>
          <p:nvPr/>
        </p:nvSpPr>
        <p:spPr bwMode="auto">
          <a:xfrm>
            <a:off x="6172200" y="3413125"/>
            <a:ext cx="4095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4000" b="1">
                <a:solidFill>
                  <a:srgbClr val="CC0000"/>
                </a:solidFill>
              </a:rPr>
              <a:t>e</a:t>
            </a:r>
            <a:endParaRPr lang="en-US" altLang="zh-CN" sz="4000"/>
          </a:p>
        </p:txBody>
      </p:sp>
      <p:sp useBgFill="1">
        <p:nvSpPr>
          <p:cNvPr id="199708" name="Rectangle 28"/>
          <p:cNvSpPr>
            <a:spLocks noChangeArrowheads="1"/>
          </p:cNvSpPr>
          <p:nvPr/>
        </p:nvSpPr>
        <p:spPr bwMode="auto">
          <a:xfrm>
            <a:off x="1371600" y="685800"/>
            <a:ext cx="7620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09" name="Rectangle 29"/>
          <p:cNvSpPr>
            <a:spLocks noChangeArrowheads="1"/>
          </p:cNvSpPr>
          <p:nvPr/>
        </p:nvSpPr>
        <p:spPr bwMode="auto">
          <a:xfrm>
            <a:off x="2133600" y="457200"/>
            <a:ext cx="914400" cy="4572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0" name="Rectangle 30"/>
          <p:cNvSpPr>
            <a:spLocks noChangeArrowheads="1"/>
          </p:cNvSpPr>
          <p:nvPr/>
        </p:nvSpPr>
        <p:spPr bwMode="auto">
          <a:xfrm>
            <a:off x="2133600" y="1143000"/>
            <a:ext cx="914400" cy="4572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1" name="Rectangle 31"/>
          <p:cNvSpPr>
            <a:spLocks noChangeArrowheads="1"/>
          </p:cNvSpPr>
          <p:nvPr/>
        </p:nvSpPr>
        <p:spPr bwMode="auto">
          <a:xfrm>
            <a:off x="1371600" y="2057400"/>
            <a:ext cx="7620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2" name="Rectangle 32"/>
          <p:cNvSpPr>
            <a:spLocks noChangeArrowheads="1"/>
          </p:cNvSpPr>
          <p:nvPr/>
        </p:nvSpPr>
        <p:spPr bwMode="auto">
          <a:xfrm>
            <a:off x="2133600" y="1828800"/>
            <a:ext cx="990600" cy="5334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3" name="Rectangle 33"/>
          <p:cNvSpPr>
            <a:spLocks noChangeArrowheads="1"/>
          </p:cNvSpPr>
          <p:nvPr/>
        </p:nvSpPr>
        <p:spPr bwMode="auto">
          <a:xfrm>
            <a:off x="2133600" y="2514600"/>
            <a:ext cx="914400" cy="4572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4" name="Rectangle 34"/>
          <p:cNvSpPr>
            <a:spLocks noChangeArrowheads="1"/>
          </p:cNvSpPr>
          <p:nvPr/>
        </p:nvSpPr>
        <p:spPr bwMode="auto">
          <a:xfrm>
            <a:off x="2971800" y="2590800"/>
            <a:ext cx="7620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5" name="Rectangle 35"/>
          <p:cNvSpPr>
            <a:spLocks noChangeArrowheads="1"/>
          </p:cNvSpPr>
          <p:nvPr/>
        </p:nvSpPr>
        <p:spPr bwMode="auto">
          <a:xfrm>
            <a:off x="3657600" y="2514600"/>
            <a:ext cx="990600" cy="3810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6" name="Rectangle 36"/>
          <p:cNvSpPr>
            <a:spLocks noChangeArrowheads="1"/>
          </p:cNvSpPr>
          <p:nvPr/>
        </p:nvSpPr>
        <p:spPr bwMode="auto">
          <a:xfrm>
            <a:off x="2971800" y="228600"/>
            <a:ext cx="762000" cy="6096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7" name="Rectangle 37"/>
          <p:cNvSpPr>
            <a:spLocks noChangeArrowheads="1"/>
          </p:cNvSpPr>
          <p:nvPr/>
        </p:nvSpPr>
        <p:spPr bwMode="auto">
          <a:xfrm>
            <a:off x="3733800" y="381000"/>
            <a:ext cx="914400" cy="5334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8" name="Rectangle 38"/>
          <p:cNvSpPr>
            <a:spLocks noChangeArrowheads="1"/>
          </p:cNvSpPr>
          <p:nvPr/>
        </p:nvSpPr>
        <p:spPr bwMode="auto">
          <a:xfrm>
            <a:off x="4495800" y="609600"/>
            <a:ext cx="762000" cy="7620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19" name="Rectangle 39"/>
          <p:cNvSpPr>
            <a:spLocks noChangeArrowheads="1"/>
          </p:cNvSpPr>
          <p:nvPr/>
        </p:nvSpPr>
        <p:spPr bwMode="auto">
          <a:xfrm>
            <a:off x="3657600" y="990600"/>
            <a:ext cx="914400" cy="6096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0" name="Rectangle 40"/>
          <p:cNvSpPr>
            <a:spLocks noChangeArrowheads="1"/>
          </p:cNvSpPr>
          <p:nvPr/>
        </p:nvSpPr>
        <p:spPr bwMode="auto">
          <a:xfrm>
            <a:off x="5181600" y="914400"/>
            <a:ext cx="9144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1" name="Rectangle 41"/>
          <p:cNvSpPr>
            <a:spLocks noChangeArrowheads="1"/>
          </p:cNvSpPr>
          <p:nvPr/>
        </p:nvSpPr>
        <p:spPr bwMode="auto">
          <a:xfrm>
            <a:off x="2971800" y="1371600"/>
            <a:ext cx="7620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2" name="Rectangle 42"/>
          <p:cNvSpPr>
            <a:spLocks noChangeArrowheads="1"/>
          </p:cNvSpPr>
          <p:nvPr/>
        </p:nvSpPr>
        <p:spPr bwMode="auto">
          <a:xfrm>
            <a:off x="3733800" y="1752600"/>
            <a:ext cx="838200" cy="5334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3" name="Rectangle 43"/>
          <p:cNvSpPr>
            <a:spLocks noChangeArrowheads="1"/>
          </p:cNvSpPr>
          <p:nvPr/>
        </p:nvSpPr>
        <p:spPr bwMode="auto">
          <a:xfrm>
            <a:off x="4495800" y="2057400"/>
            <a:ext cx="6858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4" name="Rectangle 44"/>
          <p:cNvSpPr>
            <a:spLocks noChangeArrowheads="1"/>
          </p:cNvSpPr>
          <p:nvPr/>
        </p:nvSpPr>
        <p:spPr bwMode="auto">
          <a:xfrm>
            <a:off x="5105400" y="1828800"/>
            <a:ext cx="990600" cy="6858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useBgFill="1">
        <p:nvSpPr>
          <p:cNvPr id="199725" name="Rectangle 45"/>
          <p:cNvSpPr>
            <a:spLocks noChangeArrowheads="1"/>
          </p:cNvSpPr>
          <p:nvPr/>
        </p:nvSpPr>
        <p:spPr bwMode="auto">
          <a:xfrm>
            <a:off x="5943600" y="1295400"/>
            <a:ext cx="914400" cy="762000"/>
          </a:xfrm>
          <a:prstGeom prst="rect">
            <a:avLst/>
          </a:prstGeom>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9726" name="Text Box 46"/>
          <p:cNvSpPr txBox="1">
            <a:spLocks noChangeArrowheads="1"/>
          </p:cNvSpPr>
          <p:nvPr/>
        </p:nvSpPr>
        <p:spPr bwMode="auto">
          <a:xfrm>
            <a:off x="263525" y="4319588"/>
            <a:ext cx="848518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rgbClr val="0000FF"/>
                </a:solidFill>
                <a:latin typeface="Arial" panose="020B0604020202020204" pitchFamily="34" charset="0"/>
                <a:ea typeface="楷体_GB2312" pitchFamily="49" charset="-122"/>
                <a:cs typeface="Arial" panose="020B0604020202020204" pitchFamily="34" charset="0"/>
                <a:sym typeface="+mn-ea"/>
              </a:rPr>
              <a:t>Quantitative descriptions should replace qualitative concepts in algorithms</a:t>
            </a:r>
            <a:endParaRPr lang="zh-CN" altLang="en-US" sz="2400" b="1" dirty="0">
              <a:solidFill>
                <a:srgbClr val="0000FF"/>
              </a:solidFill>
              <a:latin typeface="Arial" panose="020B0604020202020204" pitchFamily="34" charset="0"/>
              <a:ea typeface="楷体_GB2312" pitchFamily="49" charset="-122"/>
              <a:cs typeface="Arial" panose="020B0604020202020204" pitchFamily="34" charset="0"/>
              <a:sym typeface="+mn-ea"/>
            </a:endParaRPr>
          </a:p>
        </p:txBody>
      </p:sp>
      <p:sp>
        <p:nvSpPr>
          <p:cNvPr id="199727" name="Text Box 47"/>
          <p:cNvSpPr txBox="1">
            <a:spLocks noChangeArrowheads="1"/>
          </p:cNvSpPr>
          <p:nvPr/>
        </p:nvSpPr>
        <p:spPr bwMode="auto">
          <a:xfrm>
            <a:off x="0" y="5037455"/>
            <a:ext cx="8902700"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b="1">
                <a:solidFill>
                  <a:srgbClr val="800000"/>
                </a:solidFill>
                <a:latin typeface="Arial" panose="020B0604020202020204" pitchFamily="34" charset="0"/>
                <a:ea typeface="楷体_GB2312" pitchFamily="49" charset="-122"/>
                <a:cs typeface="Arial" panose="020B0604020202020204" pitchFamily="34" charset="0"/>
                <a:sym typeface="+mn-ea"/>
              </a:rPr>
              <a:t>Vertex without predecessor </a:t>
            </a:r>
            <a:r>
              <a:rPr lang="zh-CN" altLang="en-US" sz="2400" b="1">
                <a:solidFill>
                  <a:srgbClr val="80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en-US" altLang="zh-CN" sz="2400" b="1">
                <a:solidFill>
                  <a:srgbClr val="80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t>   </a:t>
            </a:r>
            <a:r>
              <a:rPr lang="zh-CN" altLang="en-US" sz="2400" b="1">
                <a:solidFill>
                  <a:srgbClr val="800000"/>
                </a:solidFill>
                <a:ea typeface="楷体_GB2312" pitchFamily="49" charset="-122"/>
                <a:sym typeface="+mn-ea"/>
              </a:rPr>
              <a:t>A vertex with zero in-degree</a:t>
            </a:r>
            <a:endParaRPr lang="zh-CN" altLang="en-US" sz="2400" b="1">
              <a:ea typeface="楷体_GB2312" pitchFamily="49" charset="-122"/>
            </a:endParaRPr>
          </a:p>
          <a:p>
            <a:pPr algn="l"/>
            <a:endParaRPr lang="zh-CN" altLang="en-US" sz="2400" b="1">
              <a:solidFill>
                <a:srgbClr val="800000"/>
              </a:solidFill>
              <a:latin typeface="Arial" panose="020B0604020202020204" pitchFamily="34" charset="0"/>
              <a:ea typeface="楷体_GB2312" pitchFamily="49" charset="-122"/>
              <a:cs typeface="Arial" panose="020B0604020202020204" pitchFamily="34" charset="0"/>
              <a:sym typeface="Symbol" panose="05050102010706020507" pitchFamily="18" charset="2"/>
            </a:endParaRPr>
          </a:p>
        </p:txBody>
      </p:sp>
      <p:sp>
        <p:nvSpPr>
          <p:cNvPr id="199728" name="Text Box 48"/>
          <p:cNvSpPr txBox="1">
            <a:spLocks noChangeArrowheads="1"/>
          </p:cNvSpPr>
          <p:nvPr/>
        </p:nvSpPr>
        <p:spPr bwMode="auto">
          <a:xfrm>
            <a:off x="-36195" y="5589270"/>
            <a:ext cx="906716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000" b="1">
                <a:solidFill>
                  <a:srgbClr val="800000"/>
                </a:solidFill>
                <a:latin typeface="Arial" panose="020B0604020202020204" pitchFamily="34" charset="0"/>
                <a:ea typeface="楷体_GB2312" pitchFamily="49" charset="-122"/>
                <a:cs typeface="Arial" panose="020B0604020202020204" pitchFamily="34" charset="0"/>
                <a:sym typeface="+mn-ea"/>
              </a:rPr>
              <a:t>Delete the vertex and its outgoing edges </a:t>
            </a:r>
            <a:r>
              <a:rPr lang="zh-CN" altLang="en-US" sz="2000" b="1">
                <a:solidFill>
                  <a:srgbClr val="800000"/>
                </a:solidFill>
                <a:latin typeface="Arial" panose="020B0604020202020204" pitchFamily="34" charset="0"/>
                <a:ea typeface="楷体_GB2312" pitchFamily="49" charset="-122"/>
                <a:cs typeface="Arial" panose="020B0604020202020204" pitchFamily="34" charset="0"/>
                <a:sym typeface="Symbol" panose="05050102010706020507" pitchFamily="18" charset="2"/>
              </a:rPr>
              <a:t></a:t>
            </a:r>
            <a:r>
              <a:rPr lang="zh-CN" altLang="en-US" sz="2000" b="1">
                <a:solidFill>
                  <a:srgbClr val="800000"/>
                </a:solidFill>
                <a:latin typeface="Arial" panose="020B0604020202020204" pitchFamily="34" charset="0"/>
                <a:ea typeface="楷体_GB2312" pitchFamily="49" charset="-122"/>
                <a:cs typeface="Arial" panose="020B0604020202020204" pitchFamily="34" charset="0"/>
                <a:sym typeface="+mn-ea"/>
              </a:rPr>
              <a:t>The in-degree of the vertex at the arc head is reduced by 1</a:t>
            </a:r>
            <a:endParaRPr lang="en-US" altLang="zh-CN" sz="2000" b="1">
              <a:solidFill>
                <a:srgbClr val="800000"/>
              </a:solidFill>
              <a:latin typeface="Arial" panose="020B0604020202020204" pitchFamily="34" charset="0"/>
              <a:ea typeface="楷体_GB2312" pitchFamily="49" charset="-122"/>
              <a:cs typeface="Arial" panose="020B0604020202020204" pitchFamily="34" charset="0"/>
            </a:endParaRPr>
          </a:p>
          <a:p>
            <a:pPr algn="l"/>
            <a:endParaRPr lang="en-US" altLang="zh-CN" sz="20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9968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9968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99684"/>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9685"/>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99686"/>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99687"/>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99688"/>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199689"/>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199690"/>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199691"/>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199692"/>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grpId="0" nodeType="afterEffect">
                                  <p:stCondLst>
                                    <p:cond delay="0"/>
                                  </p:stCondLst>
                                  <p:childTnLst>
                                    <p:set>
                                      <p:cBhvr>
                                        <p:cTn id="39" dur="1" fill="hold">
                                          <p:stCondLst>
                                            <p:cond delay="499"/>
                                          </p:stCondLst>
                                        </p:cTn>
                                        <p:tgtEl>
                                          <p:spTgt spid="199693"/>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grpId="0" nodeType="afterEffect">
                                  <p:stCondLst>
                                    <p:cond delay="0"/>
                                  </p:stCondLst>
                                  <p:childTnLst>
                                    <p:set>
                                      <p:cBhvr>
                                        <p:cTn id="42" dur="1" fill="hold">
                                          <p:stCondLst>
                                            <p:cond delay="499"/>
                                          </p:stCondLst>
                                        </p:cTn>
                                        <p:tgtEl>
                                          <p:spTgt spid="199694"/>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grpId="0" nodeType="afterEffect">
                                  <p:stCondLst>
                                    <p:cond delay="0"/>
                                  </p:stCondLst>
                                  <p:childTnLst>
                                    <p:set>
                                      <p:cBhvr>
                                        <p:cTn id="45" dur="1" fill="hold">
                                          <p:stCondLst>
                                            <p:cond delay="499"/>
                                          </p:stCondLst>
                                        </p:cTn>
                                        <p:tgtEl>
                                          <p:spTgt spid="199695"/>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grpId="0" nodeType="afterEffect">
                                  <p:stCondLst>
                                    <p:cond delay="0"/>
                                  </p:stCondLst>
                                  <p:childTnLst>
                                    <p:set>
                                      <p:cBhvr>
                                        <p:cTn id="48" dur="1" fill="hold">
                                          <p:stCondLst>
                                            <p:cond delay="499"/>
                                          </p:stCondLst>
                                        </p:cTn>
                                        <p:tgtEl>
                                          <p:spTgt spid="199696"/>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grpId="0" nodeType="afterEffect">
                                  <p:stCondLst>
                                    <p:cond delay="0"/>
                                  </p:stCondLst>
                                  <p:childTnLst>
                                    <p:set>
                                      <p:cBhvr>
                                        <p:cTn id="51" dur="1" fill="hold">
                                          <p:stCondLst>
                                            <p:cond delay="499"/>
                                          </p:stCondLst>
                                        </p:cTn>
                                        <p:tgtEl>
                                          <p:spTgt spid="199697"/>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grpId="0" nodeType="afterEffect">
                                  <p:stCondLst>
                                    <p:cond delay="0"/>
                                  </p:stCondLst>
                                  <p:childTnLst>
                                    <p:set>
                                      <p:cBhvr>
                                        <p:cTn id="54" dur="1" fill="hold">
                                          <p:stCondLst>
                                            <p:cond delay="499"/>
                                          </p:stCondLst>
                                        </p:cTn>
                                        <p:tgtEl>
                                          <p:spTgt spid="199698"/>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grpId="0" nodeType="afterEffect">
                                  <p:stCondLst>
                                    <p:cond delay="0"/>
                                  </p:stCondLst>
                                  <p:childTnLst>
                                    <p:set>
                                      <p:cBhvr>
                                        <p:cTn id="57" dur="1" fill="hold">
                                          <p:stCondLst>
                                            <p:cond delay="499"/>
                                          </p:stCondLst>
                                        </p:cTn>
                                        <p:tgtEl>
                                          <p:spTgt spid="19969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99700"/>
                                        </p:tgtEl>
                                        <p:attrNameLst>
                                          <p:attrName>style.visibility</p:attrName>
                                        </p:attrNameLst>
                                      </p:cBhvr>
                                      <p:to>
                                        <p:strVal val="visible"/>
                                      </p:to>
                                    </p:set>
                                    <p:animEffect transition="in" filter="wipe(left)">
                                      <p:cBhvr>
                                        <p:cTn id="62" dur="500"/>
                                        <p:tgtEl>
                                          <p:spTgt spid="19970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9708"/>
                                        </p:tgtEl>
                                        <p:attrNameLst>
                                          <p:attrName>style.visibility</p:attrName>
                                        </p:attrNameLst>
                                      </p:cBhvr>
                                      <p:to>
                                        <p:strVal val="visible"/>
                                      </p:to>
                                    </p:set>
                                    <p:animEffect transition="in" filter="wipe(left)">
                                      <p:cBhvr>
                                        <p:cTn id="67" dur="500"/>
                                        <p:tgtEl>
                                          <p:spTgt spid="199708"/>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199709"/>
                                        </p:tgtEl>
                                        <p:attrNameLst>
                                          <p:attrName>style.visibility</p:attrName>
                                        </p:attrNameLst>
                                      </p:cBhvr>
                                      <p:to>
                                        <p:strVal val="visible"/>
                                      </p:to>
                                    </p:set>
                                    <p:animEffect transition="in" filter="wipe(left)">
                                      <p:cBhvr>
                                        <p:cTn id="71" dur="500"/>
                                        <p:tgtEl>
                                          <p:spTgt spid="199709"/>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199710"/>
                                        </p:tgtEl>
                                        <p:attrNameLst>
                                          <p:attrName>style.visibility</p:attrName>
                                        </p:attrNameLst>
                                      </p:cBhvr>
                                      <p:to>
                                        <p:strVal val="visible"/>
                                      </p:to>
                                    </p:set>
                                    <p:animEffect transition="in" filter="wipe(left)">
                                      <p:cBhvr>
                                        <p:cTn id="75" dur="500"/>
                                        <p:tgtEl>
                                          <p:spTgt spid="19971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99701"/>
                                        </p:tgtEl>
                                        <p:attrNameLst>
                                          <p:attrName>style.visibility</p:attrName>
                                        </p:attrNameLst>
                                      </p:cBhvr>
                                      <p:to>
                                        <p:strVal val="visible"/>
                                      </p:to>
                                    </p:set>
                                    <p:animEffect transition="in" filter="wipe(left)">
                                      <p:cBhvr>
                                        <p:cTn id="80" dur="500"/>
                                        <p:tgtEl>
                                          <p:spTgt spid="19970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9711"/>
                                        </p:tgtEl>
                                        <p:attrNameLst>
                                          <p:attrName>style.visibility</p:attrName>
                                        </p:attrNameLst>
                                      </p:cBhvr>
                                      <p:to>
                                        <p:strVal val="visible"/>
                                      </p:to>
                                    </p:set>
                                    <p:animEffect transition="in" filter="wipe(left)">
                                      <p:cBhvr>
                                        <p:cTn id="85" dur="500"/>
                                        <p:tgtEl>
                                          <p:spTgt spid="199711"/>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99712"/>
                                        </p:tgtEl>
                                        <p:attrNameLst>
                                          <p:attrName>style.visibility</p:attrName>
                                        </p:attrNameLst>
                                      </p:cBhvr>
                                      <p:to>
                                        <p:strVal val="visible"/>
                                      </p:to>
                                    </p:set>
                                    <p:animEffect transition="in" filter="wipe(left)">
                                      <p:cBhvr>
                                        <p:cTn id="89" dur="500"/>
                                        <p:tgtEl>
                                          <p:spTgt spid="199712"/>
                                        </p:tgtEl>
                                      </p:cBhvr>
                                    </p:animEffect>
                                  </p:childTnLst>
                                </p:cTn>
                              </p:par>
                            </p:childTnLst>
                          </p:cTn>
                        </p:par>
                        <p:par>
                          <p:cTn id="90" fill="hold">
                            <p:stCondLst>
                              <p:cond delay="1000"/>
                            </p:stCondLst>
                            <p:childTnLst>
                              <p:par>
                                <p:cTn id="91" presetID="22" presetClass="entr" presetSubtype="8" fill="hold" grpId="0" nodeType="afterEffect">
                                  <p:stCondLst>
                                    <p:cond delay="0"/>
                                  </p:stCondLst>
                                  <p:childTnLst>
                                    <p:set>
                                      <p:cBhvr>
                                        <p:cTn id="92" dur="1" fill="hold">
                                          <p:stCondLst>
                                            <p:cond delay="0"/>
                                          </p:stCondLst>
                                        </p:cTn>
                                        <p:tgtEl>
                                          <p:spTgt spid="199713"/>
                                        </p:tgtEl>
                                        <p:attrNameLst>
                                          <p:attrName>style.visibility</p:attrName>
                                        </p:attrNameLst>
                                      </p:cBhvr>
                                      <p:to>
                                        <p:strVal val="visible"/>
                                      </p:to>
                                    </p:set>
                                    <p:animEffect transition="in" filter="wipe(left)">
                                      <p:cBhvr>
                                        <p:cTn id="93" dur="500"/>
                                        <p:tgtEl>
                                          <p:spTgt spid="19971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99702"/>
                                        </p:tgtEl>
                                        <p:attrNameLst>
                                          <p:attrName>style.visibility</p:attrName>
                                        </p:attrNameLst>
                                      </p:cBhvr>
                                      <p:to>
                                        <p:strVal val="visible"/>
                                      </p:to>
                                    </p:set>
                                    <p:animEffect transition="in" filter="wipe(left)">
                                      <p:cBhvr>
                                        <p:cTn id="98" dur="500"/>
                                        <p:tgtEl>
                                          <p:spTgt spid="19970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99714"/>
                                        </p:tgtEl>
                                        <p:attrNameLst>
                                          <p:attrName>style.visibility</p:attrName>
                                        </p:attrNameLst>
                                      </p:cBhvr>
                                      <p:to>
                                        <p:strVal val="visible"/>
                                      </p:to>
                                    </p:set>
                                    <p:animEffect transition="in" filter="wipe(left)">
                                      <p:cBhvr>
                                        <p:cTn id="103" dur="500"/>
                                        <p:tgtEl>
                                          <p:spTgt spid="199714"/>
                                        </p:tgtEl>
                                      </p:cBhvr>
                                    </p:animEffect>
                                  </p:childTnLst>
                                </p:cTn>
                              </p:par>
                            </p:childTnLst>
                          </p:cTn>
                        </p:par>
                        <p:par>
                          <p:cTn id="104" fill="hold">
                            <p:stCondLst>
                              <p:cond delay="500"/>
                            </p:stCondLst>
                            <p:childTnLst>
                              <p:par>
                                <p:cTn id="105" presetID="22" presetClass="entr" presetSubtype="8" fill="hold" grpId="0" nodeType="afterEffect">
                                  <p:stCondLst>
                                    <p:cond delay="0"/>
                                  </p:stCondLst>
                                  <p:childTnLst>
                                    <p:set>
                                      <p:cBhvr>
                                        <p:cTn id="106" dur="1" fill="hold">
                                          <p:stCondLst>
                                            <p:cond delay="0"/>
                                          </p:stCondLst>
                                        </p:cTn>
                                        <p:tgtEl>
                                          <p:spTgt spid="199715"/>
                                        </p:tgtEl>
                                        <p:attrNameLst>
                                          <p:attrName>style.visibility</p:attrName>
                                        </p:attrNameLst>
                                      </p:cBhvr>
                                      <p:to>
                                        <p:strVal val="visible"/>
                                      </p:to>
                                    </p:set>
                                    <p:animEffect transition="in" filter="wipe(left)">
                                      <p:cBhvr>
                                        <p:cTn id="107" dur="500"/>
                                        <p:tgtEl>
                                          <p:spTgt spid="19971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99703"/>
                                        </p:tgtEl>
                                        <p:attrNameLst>
                                          <p:attrName>style.visibility</p:attrName>
                                        </p:attrNameLst>
                                      </p:cBhvr>
                                      <p:to>
                                        <p:strVal val="visible"/>
                                      </p:to>
                                    </p:set>
                                    <p:animEffect transition="in" filter="wipe(left)">
                                      <p:cBhvr>
                                        <p:cTn id="112" dur="500"/>
                                        <p:tgtEl>
                                          <p:spTgt spid="19970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99716"/>
                                        </p:tgtEl>
                                        <p:attrNameLst>
                                          <p:attrName>style.visibility</p:attrName>
                                        </p:attrNameLst>
                                      </p:cBhvr>
                                      <p:to>
                                        <p:strVal val="visible"/>
                                      </p:to>
                                    </p:set>
                                    <p:animEffect transition="in" filter="wipe(left)">
                                      <p:cBhvr>
                                        <p:cTn id="117" dur="500"/>
                                        <p:tgtEl>
                                          <p:spTgt spid="199716"/>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199717"/>
                                        </p:tgtEl>
                                        <p:attrNameLst>
                                          <p:attrName>style.visibility</p:attrName>
                                        </p:attrNameLst>
                                      </p:cBhvr>
                                      <p:to>
                                        <p:strVal val="visible"/>
                                      </p:to>
                                    </p:set>
                                    <p:animEffect transition="in" filter="wipe(left)">
                                      <p:cBhvr>
                                        <p:cTn id="121" dur="500"/>
                                        <p:tgtEl>
                                          <p:spTgt spid="19971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99704"/>
                                        </p:tgtEl>
                                        <p:attrNameLst>
                                          <p:attrName>style.visibility</p:attrName>
                                        </p:attrNameLst>
                                      </p:cBhvr>
                                      <p:to>
                                        <p:strVal val="visible"/>
                                      </p:to>
                                    </p:set>
                                    <p:animEffect transition="in" filter="wipe(left)">
                                      <p:cBhvr>
                                        <p:cTn id="126" dur="500"/>
                                        <p:tgtEl>
                                          <p:spTgt spid="19970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99718"/>
                                        </p:tgtEl>
                                        <p:attrNameLst>
                                          <p:attrName>style.visibility</p:attrName>
                                        </p:attrNameLst>
                                      </p:cBhvr>
                                      <p:to>
                                        <p:strVal val="visible"/>
                                      </p:to>
                                    </p:set>
                                    <p:animEffect transition="in" filter="wipe(left)">
                                      <p:cBhvr>
                                        <p:cTn id="131" dur="500"/>
                                        <p:tgtEl>
                                          <p:spTgt spid="199718"/>
                                        </p:tgtEl>
                                      </p:cBhvr>
                                    </p:animEffect>
                                  </p:childTnLst>
                                </p:cTn>
                              </p:par>
                            </p:childTnLst>
                          </p:cTn>
                        </p:par>
                        <p:par>
                          <p:cTn id="132" fill="hold">
                            <p:stCondLst>
                              <p:cond delay="500"/>
                            </p:stCondLst>
                            <p:childTnLst>
                              <p:par>
                                <p:cTn id="133" presetID="22" presetClass="entr" presetSubtype="8" fill="hold" grpId="0" nodeType="afterEffect">
                                  <p:stCondLst>
                                    <p:cond delay="0"/>
                                  </p:stCondLst>
                                  <p:childTnLst>
                                    <p:set>
                                      <p:cBhvr>
                                        <p:cTn id="134" dur="1" fill="hold">
                                          <p:stCondLst>
                                            <p:cond delay="0"/>
                                          </p:stCondLst>
                                        </p:cTn>
                                        <p:tgtEl>
                                          <p:spTgt spid="199719"/>
                                        </p:tgtEl>
                                        <p:attrNameLst>
                                          <p:attrName>style.visibility</p:attrName>
                                        </p:attrNameLst>
                                      </p:cBhvr>
                                      <p:to>
                                        <p:strVal val="visible"/>
                                      </p:to>
                                    </p:set>
                                    <p:animEffect transition="in" filter="wipe(left)">
                                      <p:cBhvr>
                                        <p:cTn id="135" dur="500"/>
                                        <p:tgtEl>
                                          <p:spTgt spid="199719"/>
                                        </p:tgtEl>
                                      </p:cBhvr>
                                    </p:animEffect>
                                  </p:childTnLst>
                                </p:cTn>
                              </p:par>
                            </p:childTnLst>
                          </p:cTn>
                        </p:par>
                        <p:par>
                          <p:cTn id="136" fill="hold">
                            <p:stCondLst>
                              <p:cond delay="1000"/>
                            </p:stCondLst>
                            <p:childTnLst>
                              <p:par>
                                <p:cTn id="137" presetID="22" presetClass="entr" presetSubtype="8" fill="hold" grpId="0" nodeType="afterEffect">
                                  <p:stCondLst>
                                    <p:cond delay="0"/>
                                  </p:stCondLst>
                                  <p:childTnLst>
                                    <p:set>
                                      <p:cBhvr>
                                        <p:cTn id="138" dur="1" fill="hold">
                                          <p:stCondLst>
                                            <p:cond delay="0"/>
                                          </p:stCondLst>
                                        </p:cTn>
                                        <p:tgtEl>
                                          <p:spTgt spid="199720"/>
                                        </p:tgtEl>
                                        <p:attrNameLst>
                                          <p:attrName>style.visibility</p:attrName>
                                        </p:attrNameLst>
                                      </p:cBhvr>
                                      <p:to>
                                        <p:strVal val="visible"/>
                                      </p:to>
                                    </p:set>
                                    <p:animEffect transition="in" filter="wipe(left)">
                                      <p:cBhvr>
                                        <p:cTn id="139" dur="500"/>
                                        <p:tgtEl>
                                          <p:spTgt spid="199720"/>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199705"/>
                                        </p:tgtEl>
                                        <p:attrNameLst>
                                          <p:attrName>style.visibility</p:attrName>
                                        </p:attrNameLst>
                                      </p:cBhvr>
                                      <p:to>
                                        <p:strVal val="visible"/>
                                      </p:to>
                                    </p:set>
                                    <p:animEffect transition="in" filter="wipe(left)">
                                      <p:cBhvr>
                                        <p:cTn id="144" dur="500"/>
                                        <p:tgtEl>
                                          <p:spTgt spid="199705"/>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99721"/>
                                        </p:tgtEl>
                                        <p:attrNameLst>
                                          <p:attrName>style.visibility</p:attrName>
                                        </p:attrNameLst>
                                      </p:cBhvr>
                                      <p:to>
                                        <p:strVal val="visible"/>
                                      </p:to>
                                    </p:set>
                                    <p:animEffect transition="in" filter="wipe(left)">
                                      <p:cBhvr>
                                        <p:cTn id="149" dur="500"/>
                                        <p:tgtEl>
                                          <p:spTgt spid="199721"/>
                                        </p:tgtEl>
                                      </p:cBhvr>
                                    </p:animEffect>
                                  </p:childTnLst>
                                </p:cTn>
                              </p:par>
                            </p:childTnLst>
                          </p:cTn>
                        </p:par>
                        <p:par>
                          <p:cTn id="150" fill="hold">
                            <p:stCondLst>
                              <p:cond delay="500"/>
                            </p:stCondLst>
                            <p:childTnLst>
                              <p:par>
                                <p:cTn id="151" presetID="22" presetClass="entr" presetSubtype="8" fill="hold" grpId="0" nodeType="afterEffect">
                                  <p:stCondLst>
                                    <p:cond delay="0"/>
                                  </p:stCondLst>
                                  <p:childTnLst>
                                    <p:set>
                                      <p:cBhvr>
                                        <p:cTn id="152" dur="1" fill="hold">
                                          <p:stCondLst>
                                            <p:cond delay="0"/>
                                          </p:stCondLst>
                                        </p:cTn>
                                        <p:tgtEl>
                                          <p:spTgt spid="199722"/>
                                        </p:tgtEl>
                                        <p:attrNameLst>
                                          <p:attrName>style.visibility</p:attrName>
                                        </p:attrNameLst>
                                      </p:cBhvr>
                                      <p:to>
                                        <p:strVal val="visible"/>
                                      </p:to>
                                    </p:set>
                                    <p:animEffect transition="in" filter="wipe(left)">
                                      <p:cBhvr>
                                        <p:cTn id="153" dur="500"/>
                                        <p:tgtEl>
                                          <p:spTgt spid="199722"/>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199706"/>
                                        </p:tgtEl>
                                        <p:attrNameLst>
                                          <p:attrName>style.visibility</p:attrName>
                                        </p:attrNameLst>
                                      </p:cBhvr>
                                      <p:to>
                                        <p:strVal val="visible"/>
                                      </p:to>
                                    </p:set>
                                    <p:animEffect transition="in" filter="wipe(left)">
                                      <p:cBhvr>
                                        <p:cTn id="158" dur="500"/>
                                        <p:tgtEl>
                                          <p:spTgt spid="199706"/>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199723"/>
                                        </p:tgtEl>
                                        <p:attrNameLst>
                                          <p:attrName>style.visibility</p:attrName>
                                        </p:attrNameLst>
                                      </p:cBhvr>
                                      <p:to>
                                        <p:strVal val="visible"/>
                                      </p:to>
                                    </p:set>
                                    <p:animEffect transition="in" filter="wipe(left)">
                                      <p:cBhvr>
                                        <p:cTn id="163" dur="500"/>
                                        <p:tgtEl>
                                          <p:spTgt spid="199723"/>
                                        </p:tgtEl>
                                      </p:cBhvr>
                                    </p:animEffect>
                                  </p:childTnLst>
                                </p:cTn>
                              </p:par>
                            </p:childTnLst>
                          </p:cTn>
                        </p:par>
                        <p:par>
                          <p:cTn id="164" fill="hold">
                            <p:stCondLst>
                              <p:cond delay="500"/>
                            </p:stCondLst>
                            <p:childTnLst>
                              <p:par>
                                <p:cTn id="165" presetID="22" presetClass="entr" presetSubtype="8" fill="hold" grpId="0" nodeType="afterEffect">
                                  <p:stCondLst>
                                    <p:cond delay="0"/>
                                  </p:stCondLst>
                                  <p:childTnLst>
                                    <p:set>
                                      <p:cBhvr>
                                        <p:cTn id="166" dur="1" fill="hold">
                                          <p:stCondLst>
                                            <p:cond delay="0"/>
                                          </p:stCondLst>
                                        </p:cTn>
                                        <p:tgtEl>
                                          <p:spTgt spid="199724"/>
                                        </p:tgtEl>
                                        <p:attrNameLst>
                                          <p:attrName>style.visibility</p:attrName>
                                        </p:attrNameLst>
                                      </p:cBhvr>
                                      <p:to>
                                        <p:strVal val="visible"/>
                                      </p:to>
                                    </p:set>
                                    <p:animEffect transition="in" filter="wipe(left)">
                                      <p:cBhvr>
                                        <p:cTn id="167" dur="500"/>
                                        <p:tgtEl>
                                          <p:spTgt spid="199724"/>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199707"/>
                                        </p:tgtEl>
                                        <p:attrNameLst>
                                          <p:attrName>style.visibility</p:attrName>
                                        </p:attrNameLst>
                                      </p:cBhvr>
                                      <p:to>
                                        <p:strVal val="visible"/>
                                      </p:to>
                                    </p:set>
                                    <p:animEffect transition="in" filter="wipe(left)">
                                      <p:cBhvr>
                                        <p:cTn id="172" dur="500"/>
                                        <p:tgtEl>
                                          <p:spTgt spid="199707"/>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199725"/>
                                        </p:tgtEl>
                                        <p:attrNameLst>
                                          <p:attrName>style.visibility</p:attrName>
                                        </p:attrNameLst>
                                      </p:cBhvr>
                                      <p:to>
                                        <p:strVal val="visible"/>
                                      </p:to>
                                    </p:set>
                                    <p:animEffect transition="in" filter="wipe(left)">
                                      <p:cBhvr>
                                        <p:cTn id="177" dur="500"/>
                                        <p:tgtEl>
                                          <p:spTgt spid="199725"/>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199726"/>
                                        </p:tgtEl>
                                        <p:attrNameLst>
                                          <p:attrName>style.visibility</p:attrName>
                                        </p:attrNameLst>
                                      </p:cBhvr>
                                      <p:to>
                                        <p:strVal val="visible"/>
                                      </p:to>
                                    </p:set>
                                    <p:animEffect transition="in" filter="wipe(left)">
                                      <p:cBhvr>
                                        <p:cTn id="182" dur="500"/>
                                        <p:tgtEl>
                                          <p:spTgt spid="199726"/>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iterate type="wd">
                                    <p:tmPct val="100000"/>
                                  </p:iterate>
                                  <p:childTnLst>
                                    <p:set>
                                      <p:cBhvr>
                                        <p:cTn id="186" dur="1" fill="hold">
                                          <p:stCondLst>
                                            <p:cond delay="0"/>
                                          </p:stCondLst>
                                        </p:cTn>
                                        <p:tgtEl>
                                          <p:spTgt spid="199727"/>
                                        </p:tgtEl>
                                        <p:attrNameLst>
                                          <p:attrName>style.visibility</p:attrName>
                                        </p:attrNameLst>
                                      </p:cBhvr>
                                      <p:to>
                                        <p:strVal val="visible"/>
                                      </p:to>
                                    </p:set>
                                    <p:animEffect transition="in" filter="wipe(left)">
                                      <p:cBhvr>
                                        <p:cTn id="187" dur="300"/>
                                        <p:tgtEl>
                                          <p:spTgt spid="19972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iterate type="wd">
                                    <p:tmPct val="100000"/>
                                  </p:iterate>
                                  <p:childTnLst>
                                    <p:set>
                                      <p:cBhvr>
                                        <p:cTn id="191" dur="1" fill="hold">
                                          <p:stCondLst>
                                            <p:cond delay="0"/>
                                          </p:stCondLst>
                                        </p:cTn>
                                        <p:tgtEl>
                                          <p:spTgt spid="199728"/>
                                        </p:tgtEl>
                                        <p:attrNameLst>
                                          <p:attrName>style.visibility</p:attrName>
                                        </p:attrNameLst>
                                      </p:cBhvr>
                                      <p:to>
                                        <p:strVal val="visible"/>
                                      </p:to>
                                    </p:set>
                                    <p:animEffect transition="in" filter="wipe(left)">
                                      <p:cBhvr>
                                        <p:cTn id="192" dur="300"/>
                                        <p:tgtEl>
                                          <p:spTgt spid="199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animBg="1" autoUpdateAnimBg="0"/>
      <p:bldP spid="199683" grpId="0" animBg="1" autoUpdateAnimBg="0"/>
      <p:bldP spid="199684" grpId="0" animBg="1" autoUpdateAnimBg="0"/>
      <p:bldP spid="199685" grpId="0" animBg="1" autoUpdateAnimBg="0"/>
      <p:bldP spid="199686" grpId="0" animBg="1" autoUpdateAnimBg="0"/>
      <p:bldP spid="199687" grpId="0" animBg="1" autoUpdateAnimBg="0"/>
      <p:bldP spid="199688" grpId="0" animBg="1" autoUpdateAnimBg="0"/>
      <p:bldP spid="199689" grpId="0" animBg="1" autoUpdateAnimBg="0"/>
      <p:bldP spid="199690" grpId="0" animBg="1"/>
      <p:bldP spid="199691" grpId="0" animBg="1"/>
      <p:bldP spid="199692" grpId="0" animBg="1"/>
      <p:bldP spid="199693" grpId="0" animBg="1"/>
      <p:bldP spid="199694" grpId="0" animBg="1"/>
      <p:bldP spid="199695" grpId="0" animBg="1"/>
      <p:bldP spid="199696" grpId="0" animBg="1"/>
      <p:bldP spid="199697" grpId="0" animBg="1"/>
      <p:bldP spid="199698" grpId="0" animBg="1"/>
      <p:bldP spid="199699" grpId="0" animBg="1"/>
      <p:bldP spid="199700" grpId="0" autoUpdateAnimBg="0"/>
      <p:bldP spid="199701" grpId="0" autoUpdateAnimBg="0"/>
      <p:bldP spid="199702" grpId="0" autoUpdateAnimBg="0"/>
      <p:bldP spid="199703" grpId="0" autoUpdateAnimBg="0"/>
      <p:bldP spid="199704" grpId="0" autoUpdateAnimBg="0"/>
      <p:bldP spid="199705" grpId="0" autoUpdateAnimBg="0"/>
      <p:bldP spid="199706" grpId="0" autoUpdateAnimBg="0"/>
      <p:bldP spid="199707" grpId="0" autoUpdateAnimBg="0"/>
      <p:bldP spid="199708" grpId="0" animBg="1"/>
      <p:bldP spid="199709" grpId="0" animBg="1"/>
      <p:bldP spid="199710" grpId="0" animBg="1"/>
      <p:bldP spid="199711" grpId="0" animBg="1"/>
      <p:bldP spid="199712" grpId="0" animBg="1"/>
      <p:bldP spid="199713" grpId="0" animBg="1"/>
      <p:bldP spid="199714" grpId="0" animBg="1"/>
      <p:bldP spid="199715" grpId="0" animBg="1"/>
      <p:bldP spid="199716" grpId="0" animBg="1"/>
      <p:bldP spid="199717" grpId="0" animBg="1"/>
      <p:bldP spid="199718" grpId="0" animBg="1"/>
      <p:bldP spid="199719" grpId="0" animBg="1"/>
      <p:bldP spid="199720" grpId="0" animBg="1"/>
      <p:bldP spid="199721" grpId="0" animBg="1"/>
      <p:bldP spid="199722" grpId="0" animBg="1"/>
      <p:bldP spid="199723" grpId="0" animBg="1"/>
      <p:bldP spid="199724" grpId="0" animBg="1"/>
      <p:bldP spid="199725" grpId="0" animBg="1"/>
      <p:bldP spid="199726" grpId="0" bldLvl="0" animBg="1" autoUpdateAnimBg="0"/>
      <p:bldP spid="199727" grpId="0" bldLvl="0" animBg="1" autoUpdateAnimBg="0"/>
      <p:bldP spid="199728" grpId="0" bldLvl="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ChangeArrowheads="1"/>
          </p:cNvSpPr>
          <p:nvPr/>
        </p:nvSpPr>
        <p:spPr bwMode="auto">
          <a:xfrm>
            <a:off x="250825" y="1341438"/>
            <a:ext cx="54737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50000"/>
              </a:spcBef>
            </a:pPr>
            <a:r>
              <a:rPr lang="en-US" altLang="zh-CN" sz="2000" b="1">
                <a:latin typeface="Arial" panose="020B0604020202020204" pitchFamily="34" charset="0"/>
                <a:ea typeface="楷体_GB2312" pitchFamily="49" charset="-122"/>
                <a:cs typeface="Arial" panose="020B0604020202020204" pitchFamily="34" charset="0"/>
              </a:rPr>
              <a:t>⑴ Implementation on the </a:t>
            </a:r>
            <a:r>
              <a:rPr lang="zh-CN" altLang="en-US" sz="2000" b="1">
                <a:solidFill>
                  <a:srgbClr val="A50021"/>
                </a:solidFill>
                <a:latin typeface="Arial" panose="020B0604020202020204" pitchFamily="34" charset="0"/>
                <a:ea typeface="楷体_GB2312" pitchFamily="49" charset="-122"/>
                <a:cs typeface="Arial" panose="020B0604020202020204" pitchFamily="34" charset="0"/>
              </a:rPr>
              <a:t>adjacency matrix</a:t>
            </a:r>
            <a:endParaRPr lang="zh-CN" altLang="en-US" sz="2000" b="1">
              <a:latin typeface="Arial" panose="020B0604020202020204" pitchFamily="34" charset="0"/>
              <a:ea typeface="楷体_GB2312" pitchFamily="49" charset="-122"/>
              <a:cs typeface="Arial" panose="020B0604020202020204" pitchFamily="34" charset="0"/>
            </a:endParaRPr>
          </a:p>
          <a:p>
            <a:pPr lvl="1">
              <a:spcBef>
                <a:spcPct val="50000"/>
              </a:spcBef>
              <a:buFontTx/>
              <a:buChar char="•"/>
            </a:pPr>
            <a:r>
              <a:rPr lang="zh-CN" altLang="en-US" sz="2000" b="1">
                <a:latin typeface="Arial" panose="020B0604020202020204" pitchFamily="34" charset="0"/>
                <a:ea typeface="楷体_GB2312" pitchFamily="49" charset="-122"/>
                <a:cs typeface="Arial" panose="020B0604020202020204" pitchFamily="34" charset="0"/>
              </a:rPr>
              <a:t>Points with zero selection degree</a:t>
            </a:r>
            <a:endParaRPr lang="en-US" altLang="zh-CN" sz="2000" b="1">
              <a:latin typeface="Arial" panose="020B0604020202020204" pitchFamily="34" charset="0"/>
              <a:ea typeface="楷体_GB2312" pitchFamily="49" charset="-122"/>
              <a:cs typeface="Arial" panose="020B0604020202020204" pitchFamily="34" charset="0"/>
            </a:endParaRPr>
          </a:p>
          <a:p>
            <a:pPr lvl="1">
              <a:spcBef>
                <a:spcPct val="50000"/>
              </a:spcBef>
              <a:buFontTx/>
              <a:buChar char="•"/>
            </a:pPr>
            <a:r>
              <a:rPr lang="zh-CN" altLang="en-US" sz="2000" b="1">
                <a:latin typeface="Arial" panose="020B0604020202020204" pitchFamily="34" charset="0"/>
                <a:ea typeface="楷体_GB2312" pitchFamily="49" charset="-122"/>
                <a:cs typeface="Arial" panose="020B0604020202020204" pitchFamily="34" charset="0"/>
              </a:rPr>
              <a:t>Delete all outgoing edges from a vertex</a:t>
            </a:r>
            <a:endParaRPr lang="en-US" altLang="zh-CN" sz="2000" b="1">
              <a:latin typeface="Arial" panose="020B0604020202020204" pitchFamily="34" charset="0"/>
              <a:ea typeface="楷体_GB2312" pitchFamily="49" charset="-122"/>
              <a:cs typeface="Arial" panose="020B0604020202020204" pitchFamily="34" charset="0"/>
            </a:endParaRPr>
          </a:p>
        </p:txBody>
      </p:sp>
      <p:sp>
        <p:nvSpPr>
          <p:cNvPr id="200707" name="AutoShape 3"/>
          <p:cNvSpPr>
            <a:spLocks noChangeArrowheads="1"/>
          </p:cNvSpPr>
          <p:nvPr/>
        </p:nvSpPr>
        <p:spPr bwMode="auto">
          <a:xfrm>
            <a:off x="1295400" y="3581400"/>
            <a:ext cx="3048000" cy="2667000"/>
          </a:xfrm>
          <a:prstGeom prst="bracketPair">
            <a:avLst>
              <a:gd name="adj" fmla="val 16667"/>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0   1   1   1   0   0</a:t>
            </a:r>
            <a:endParaRPr lang="en-US" altLang="zh-CN" sz="4800" b="1"/>
          </a:p>
          <a:p>
            <a:pPr algn="ctr"/>
            <a:r>
              <a:rPr lang="en-US" altLang="zh-CN" b="1"/>
              <a:t>0   0   0   0   0   0</a:t>
            </a:r>
            <a:endParaRPr lang="en-US" altLang="zh-CN" sz="4800" b="1"/>
          </a:p>
          <a:p>
            <a:pPr algn="ctr"/>
            <a:r>
              <a:rPr lang="en-US" altLang="zh-CN" b="1"/>
              <a:t>0   1   0   0   1   0</a:t>
            </a:r>
            <a:endParaRPr lang="en-US" altLang="zh-CN" sz="4800" b="1"/>
          </a:p>
          <a:p>
            <a:pPr algn="ctr"/>
            <a:r>
              <a:rPr lang="en-US" altLang="zh-CN" b="1"/>
              <a:t>0   0   0   0   1   0</a:t>
            </a:r>
            <a:endParaRPr lang="en-US" altLang="zh-CN" sz="4800" b="1"/>
          </a:p>
          <a:p>
            <a:pPr algn="ctr"/>
            <a:r>
              <a:rPr lang="en-US" altLang="zh-CN" b="1"/>
              <a:t>0   0   0   0   0   0</a:t>
            </a:r>
            <a:endParaRPr lang="en-US" altLang="zh-CN" sz="4800" b="1"/>
          </a:p>
          <a:p>
            <a:pPr algn="ctr"/>
            <a:r>
              <a:rPr lang="en-US" altLang="zh-CN" b="1"/>
              <a:t>0   0   0   1   1   0</a:t>
            </a:r>
            <a:endParaRPr lang="en-US" altLang="zh-CN" b="1"/>
          </a:p>
        </p:txBody>
      </p:sp>
      <p:grpSp>
        <p:nvGrpSpPr>
          <p:cNvPr id="200708" name="Group 4"/>
          <p:cNvGrpSpPr/>
          <p:nvPr/>
        </p:nvGrpSpPr>
        <p:grpSpPr bwMode="auto">
          <a:xfrm>
            <a:off x="6172200" y="3429000"/>
            <a:ext cx="1676400" cy="2819400"/>
            <a:chOff x="3888" y="2160"/>
            <a:chExt cx="1056" cy="1776"/>
          </a:xfrm>
        </p:grpSpPr>
        <p:sp>
          <p:nvSpPr>
            <p:cNvPr id="200709" name="Oval 5"/>
            <p:cNvSpPr>
              <a:spLocks noChangeArrowheads="1"/>
            </p:cNvSpPr>
            <p:nvPr/>
          </p:nvSpPr>
          <p:spPr bwMode="auto">
            <a:xfrm>
              <a:off x="4320" y="2160"/>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2</a:t>
              </a:r>
              <a:endParaRPr lang="en-US" altLang="zh-CN" sz="2400" b="1"/>
            </a:p>
          </p:txBody>
        </p:sp>
        <p:sp>
          <p:nvSpPr>
            <p:cNvPr id="200710" name="Oval 6"/>
            <p:cNvSpPr>
              <a:spLocks noChangeArrowheads="1"/>
            </p:cNvSpPr>
            <p:nvPr/>
          </p:nvSpPr>
          <p:spPr bwMode="auto">
            <a:xfrm>
              <a:off x="3888" y="2655"/>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1</a:t>
              </a:r>
              <a:endParaRPr lang="en-US" altLang="zh-CN" sz="2400" b="1"/>
            </a:p>
          </p:txBody>
        </p:sp>
        <p:sp>
          <p:nvSpPr>
            <p:cNvPr id="200711" name="Oval 7"/>
            <p:cNvSpPr>
              <a:spLocks noChangeArrowheads="1"/>
            </p:cNvSpPr>
            <p:nvPr/>
          </p:nvSpPr>
          <p:spPr bwMode="auto">
            <a:xfrm>
              <a:off x="4752" y="2655"/>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3</a:t>
              </a:r>
              <a:endParaRPr lang="en-US" altLang="zh-CN" sz="2400" b="1"/>
            </a:p>
          </p:txBody>
        </p:sp>
        <p:sp>
          <p:nvSpPr>
            <p:cNvPr id="200712" name="Oval 8"/>
            <p:cNvSpPr>
              <a:spLocks noChangeArrowheads="1"/>
            </p:cNvSpPr>
            <p:nvPr/>
          </p:nvSpPr>
          <p:spPr bwMode="auto">
            <a:xfrm>
              <a:off x="3888" y="3279"/>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4</a:t>
              </a:r>
              <a:endParaRPr lang="en-US" altLang="zh-CN" sz="2400" b="1"/>
            </a:p>
          </p:txBody>
        </p:sp>
        <p:sp>
          <p:nvSpPr>
            <p:cNvPr id="200713" name="Oval 9"/>
            <p:cNvSpPr>
              <a:spLocks noChangeArrowheads="1"/>
            </p:cNvSpPr>
            <p:nvPr/>
          </p:nvSpPr>
          <p:spPr bwMode="auto">
            <a:xfrm>
              <a:off x="4752" y="3279"/>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5</a:t>
              </a:r>
              <a:endParaRPr lang="en-US" altLang="zh-CN" sz="2400" b="1"/>
            </a:p>
          </p:txBody>
        </p:sp>
        <p:sp>
          <p:nvSpPr>
            <p:cNvPr id="200714" name="Oval 10"/>
            <p:cNvSpPr>
              <a:spLocks noChangeArrowheads="1"/>
            </p:cNvSpPr>
            <p:nvPr/>
          </p:nvSpPr>
          <p:spPr bwMode="auto">
            <a:xfrm>
              <a:off x="4368" y="3744"/>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400" b="1"/>
                <a:t>6</a:t>
              </a:r>
              <a:endParaRPr lang="en-US" altLang="zh-CN" sz="2400" b="1"/>
            </a:p>
          </p:txBody>
        </p:sp>
        <p:sp>
          <p:nvSpPr>
            <p:cNvPr id="200715" name="Line 11"/>
            <p:cNvSpPr>
              <a:spLocks noChangeShapeType="1"/>
            </p:cNvSpPr>
            <p:nvPr/>
          </p:nvSpPr>
          <p:spPr bwMode="auto">
            <a:xfrm flipV="1">
              <a:off x="4032" y="2304"/>
              <a:ext cx="288" cy="33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16" name="Line 12"/>
            <p:cNvSpPr>
              <a:spLocks noChangeShapeType="1"/>
            </p:cNvSpPr>
            <p:nvPr/>
          </p:nvSpPr>
          <p:spPr bwMode="auto">
            <a:xfrm flipV="1">
              <a:off x="4080" y="2736"/>
              <a:ext cx="672" cy="15"/>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17" name="Line 13"/>
            <p:cNvSpPr>
              <a:spLocks noChangeShapeType="1"/>
            </p:cNvSpPr>
            <p:nvPr/>
          </p:nvSpPr>
          <p:spPr bwMode="auto">
            <a:xfrm flipH="1" flipV="1">
              <a:off x="4512" y="2304"/>
              <a:ext cx="336" cy="33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18" name="Line 14"/>
            <p:cNvSpPr>
              <a:spLocks noChangeShapeType="1"/>
            </p:cNvSpPr>
            <p:nvPr/>
          </p:nvSpPr>
          <p:spPr bwMode="auto">
            <a:xfrm>
              <a:off x="3984" y="2880"/>
              <a:ext cx="0" cy="399"/>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19" name="Line 15"/>
            <p:cNvSpPr>
              <a:spLocks noChangeShapeType="1"/>
            </p:cNvSpPr>
            <p:nvPr/>
          </p:nvSpPr>
          <p:spPr bwMode="auto">
            <a:xfrm>
              <a:off x="4848" y="2880"/>
              <a:ext cx="0" cy="399"/>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20" name="Line 16"/>
            <p:cNvSpPr>
              <a:spLocks noChangeShapeType="1"/>
            </p:cNvSpPr>
            <p:nvPr/>
          </p:nvSpPr>
          <p:spPr bwMode="auto">
            <a:xfrm flipV="1">
              <a:off x="4080" y="3360"/>
              <a:ext cx="720" cy="15"/>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21" name="Line 17"/>
            <p:cNvSpPr>
              <a:spLocks noChangeShapeType="1"/>
            </p:cNvSpPr>
            <p:nvPr/>
          </p:nvSpPr>
          <p:spPr bwMode="auto">
            <a:xfrm flipH="1" flipV="1">
              <a:off x="4032" y="3456"/>
              <a:ext cx="336" cy="372"/>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0722" name="Line 18"/>
            <p:cNvSpPr>
              <a:spLocks noChangeShapeType="1"/>
            </p:cNvSpPr>
            <p:nvPr/>
          </p:nvSpPr>
          <p:spPr bwMode="auto">
            <a:xfrm flipV="1">
              <a:off x="4560" y="3456"/>
              <a:ext cx="288" cy="333"/>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sp>
        <p:nvSpPr>
          <p:cNvPr id="200723" name="Rectangle 19"/>
          <p:cNvSpPr>
            <a:spLocks noChangeArrowheads="1"/>
          </p:cNvSpPr>
          <p:nvPr/>
        </p:nvSpPr>
        <p:spPr bwMode="auto">
          <a:xfrm>
            <a:off x="521970" y="188595"/>
            <a:ext cx="761174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3200" b="1">
                <a:solidFill>
                  <a:srgbClr val="800000"/>
                </a:solidFill>
                <a:latin typeface="Arial" panose="020B0604020202020204" pitchFamily="34" charset="0"/>
                <a:ea typeface="楷体_GB2312" pitchFamily="49" charset="-122"/>
                <a:cs typeface="Arial" panose="020B0604020202020204" pitchFamily="34" charset="0"/>
              </a:rPr>
              <a:t>Topological sorting implementation</a:t>
            </a:r>
            <a:endParaRPr lang="zh-CN" altLang="en-US" sz="32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00724" name="Rectangle 20"/>
          <p:cNvSpPr>
            <a:spLocks noChangeArrowheads="1"/>
          </p:cNvSpPr>
          <p:nvPr/>
        </p:nvSpPr>
        <p:spPr bwMode="auto">
          <a:xfrm>
            <a:off x="5436235" y="1281430"/>
            <a:ext cx="3707130" cy="1707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p>
            <a:pPr>
              <a:spcBef>
                <a:spcPct val="50000"/>
              </a:spcBef>
            </a:pPr>
            <a:endParaRPr lang="en-US" altLang="zh-CN" sz="3600" b="1">
              <a:latin typeface="Arial" panose="020B0604020202020204" pitchFamily="34" charset="0"/>
              <a:ea typeface="楷体_GB2312" pitchFamily="49" charset="-122"/>
              <a:cs typeface="Arial" panose="020B0604020202020204" pitchFamily="34" charset="0"/>
            </a:endParaRPr>
          </a:p>
          <a:p>
            <a:pPr lvl="1">
              <a:spcBef>
                <a:spcPct val="50000"/>
              </a:spcBef>
            </a:pPr>
            <a:r>
              <a:rPr lang="zh-CN" altLang="en-US" sz="1800" b="1">
                <a:solidFill>
                  <a:srgbClr val="A50021"/>
                </a:solidFill>
                <a:latin typeface="Arial" panose="020B0604020202020204" pitchFamily="34" charset="0"/>
                <a:ea typeface="楷体_GB2312" pitchFamily="49" charset="-122"/>
                <a:cs typeface="Arial" panose="020B0604020202020204" pitchFamily="34" charset="0"/>
              </a:rPr>
              <a:t>Find columns with all zeros;</a:t>
            </a:r>
            <a:endParaRPr lang="zh-CN" altLang="en-US" sz="3600" b="1">
              <a:latin typeface="Arial" panose="020B0604020202020204" pitchFamily="34" charset="0"/>
              <a:ea typeface="楷体_GB2312" pitchFamily="49" charset="-122"/>
              <a:cs typeface="Arial" panose="020B0604020202020204" pitchFamily="34" charset="0"/>
            </a:endParaRPr>
          </a:p>
          <a:p>
            <a:pPr lvl="1">
              <a:spcBef>
                <a:spcPct val="50000"/>
              </a:spcBef>
            </a:pPr>
            <a:r>
              <a:rPr lang="zh-CN" altLang="en-US" sz="1800" b="1">
                <a:solidFill>
                  <a:srgbClr val="A50021"/>
                </a:solidFill>
                <a:latin typeface="Arial" panose="020B0604020202020204" pitchFamily="34" charset="0"/>
                <a:ea typeface="楷体_GB2312" pitchFamily="49" charset="-122"/>
                <a:cs typeface="Arial" panose="020B0604020202020204" pitchFamily="34" charset="0"/>
              </a:rPr>
              <a:t>Set the corresponding row to all zeros;</a:t>
            </a:r>
            <a:endParaRPr lang="zh-CN" altLang="en-US" sz="1800" b="1">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0706">
                                            <p:txEl>
                                              <p:pRg st="4294967295" end="4294967295"/>
                                            </p:txEl>
                                          </p:spTgt>
                                        </p:tgtEl>
                                        <p:attrNameLst>
                                          <p:attrName>style.visibility</p:attrName>
                                        </p:attrNameLst>
                                      </p:cBhvr>
                                      <p:to>
                                        <p:strVal val="visible"/>
                                      </p:to>
                                    </p:set>
                                    <p:anim calcmode="lin" valueType="num">
                                      <p:cBhvr additive="base">
                                        <p:cTn id="7" dur="500" fill="hold"/>
                                        <p:tgtEl>
                                          <p:spTgt spid="200706">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0706">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0706">
                                            <p:txEl>
                                              <p:pRg st="0" end="0"/>
                                            </p:txEl>
                                          </p:spTgt>
                                        </p:tgtEl>
                                        <p:attrNameLst>
                                          <p:attrName>style.visibility</p:attrName>
                                        </p:attrNameLst>
                                      </p:cBhvr>
                                      <p:to>
                                        <p:strVal val="visible"/>
                                      </p:to>
                                    </p:set>
                                    <p:anim calcmode="lin" valueType="num">
                                      <p:cBhvr additive="base">
                                        <p:cTn id="13" dur="500" fill="hold"/>
                                        <p:tgtEl>
                                          <p:spTgt spid="200706">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0706">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00706">
                                            <p:txEl>
                                              <p:pRg st="1" end="1"/>
                                            </p:txEl>
                                          </p:spTgt>
                                        </p:tgtEl>
                                        <p:attrNameLst>
                                          <p:attrName>style.visibility</p:attrName>
                                        </p:attrNameLst>
                                      </p:cBhvr>
                                      <p:to>
                                        <p:strVal val="visible"/>
                                      </p:to>
                                    </p:set>
                                    <p:anim calcmode="lin" valueType="num">
                                      <p:cBhvr additive="base">
                                        <p:cTn id="17" dur="500" fill="hold"/>
                                        <p:tgtEl>
                                          <p:spTgt spid="200706">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00706">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00706">
                                            <p:txEl>
                                              <p:pRg st="2" end="2"/>
                                            </p:txEl>
                                          </p:spTgt>
                                        </p:tgtEl>
                                        <p:attrNameLst>
                                          <p:attrName>style.visibility</p:attrName>
                                        </p:attrNameLst>
                                      </p:cBhvr>
                                      <p:to>
                                        <p:strVal val="visible"/>
                                      </p:to>
                                    </p:set>
                                    <p:anim calcmode="lin" valueType="num">
                                      <p:cBhvr additive="base">
                                        <p:cTn id="21" dur="500" fill="hold"/>
                                        <p:tgtEl>
                                          <p:spTgt spid="200706">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0070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00708"/>
                                        </p:tgtEl>
                                        <p:attrNameLst>
                                          <p:attrName>style.visibility</p:attrName>
                                        </p:attrNameLst>
                                      </p:cBhvr>
                                      <p:to>
                                        <p:strVal val="visible"/>
                                      </p:to>
                                    </p:set>
                                    <p:anim calcmode="lin" valueType="num">
                                      <p:cBhvr additive="base">
                                        <p:cTn id="27" dur="500" fill="hold"/>
                                        <p:tgtEl>
                                          <p:spTgt spid="200708"/>
                                        </p:tgtEl>
                                        <p:attrNameLst>
                                          <p:attrName>ppt_x</p:attrName>
                                        </p:attrNameLst>
                                      </p:cBhvr>
                                      <p:tavLst>
                                        <p:tav tm="0">
                                          <p:val>
                                            <p:strVal val="1+#ppt_w/2"/>
                                          </p:val>
                                        </p:tav>
                                        <p:tav tm="100000">
                                          <p:val>
                                            <p:strVal val="#ppt_x"/>
                                          </p:val>
                                        </p:tav>
                                      </p:tavLst>
                                    </p:anim>
                                    <p:anim calcmode="lin" valueType="num">
                                      <p:cBhvr additive="base">
                                        <p:cTn id="28" dur="500" fill="hold"/>
                                        <p:tgtEl>
                                          <p:spTgt spid="20070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00707"/>
                                        </p:tgtEl>
                                        <p:attrNameLst>
                                          <p:attrName>style.visibility</p:attrName>
                                        </p:attrNameLst>
                                      </p:cBhvr>
                                      <p:to>
                                        <p:strVal val="visible"/>
                                      </p:to>
                                    </p:set>
                                    <p:anim calcmode="lin" valueType="num">
                                      <p:cBhvr additive="base">
                                        <p:cTn id="33" dur="500" fill="hold"/>
                                        <p:tgtEl>
                                          <p:spTgt spid="200707"/>
                                        </p:tgtEl>
                                        <p:attrNameLst>
                                          <p:attrName>ppt_x</p:attrName>
                                        </p:attrNameLst>
                                      </p:cBhvr>
                                      <p:tavLst>
                                        <p:tav tm="0">
                                          <p:val>
                                            <p:strVal val="0-#ppt_w/2"/>
                                          </p:val>
                                        </p:tav>
                                        <p:tav tm="100000">
                                          <p:val>
                                            <p:strVal val="#ppt_x"/>
                                          </p:val>
                                        </p:tav>
                                      </p:tavLst>
                                    </p:anim>
                                    <p:anim calcmode="lin" valueType="num">
                                      <p:cBhvr additive="base">
                                        <p:cTn id="34" dur="500" fill="hold"/>
                                        <p:tgtEl>
                                          <p:spTgt spid="20070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00724">
                                            <p:txEl>
                                              <p:pRg st="4294967295" end="4294967295"/>
                                            </p:txEl>
                                          </p:spTgt>
                                        </p:tgtEl>
                                        <p:attrNameLst>
                                          <p:attrName>style.visibility</p:attrName>
                                        </p:attrNameLst>
                                      </p:cBhvr>
                                      <p:to>
                                        <p:strVal val="visible"/>
                                      </p:to>
                                    </p:set>
                                    <p:anim calcmode="lin" valueType="num">
                                      <p:cBhvr additive="base">
                                        <p:cTn id="39" dur="500" fill="hold"/>
                                        <p:tgtEl>
                                          <p:spTgt spid="200724">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00724">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00724">
                                            <p:txEl>
                                              <p:pRg st="1" end="1"/>
                                            </p:txEl>
                                          </p:spTgt>
                                        </p:tgtEl>
                                        <p:attrNameLst>
                                          <p:attrName>style.visibility</p:attrName>
                                        </p:attrNameLst>
                                      </p:cBhvr>
                                      <p:to>
                                        <p:strVal val="visible"/>
                                      </p:to>
                                    </p:set>
                                    <p:anim calcmode="lin" valueType="num">
                                      <p:cBhvr additive="base">
                                        <p:cTn id="45" dur="500" fill="hold"/>
                                        <p:tgtEl>
                                          <p:spTgt spid="200724">
                                            <p:txEl>
                                              <p:pRg st="1" end="1"/>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00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00724">
                                            <p:txEl>
                                              <p:pRg st="2" end="2"/>
                                            </p:txEl>
                                          </p:spTgt>
                                        </p:tgtEl>
                                        <p:attrNameLst>
                                          <p:attrName>style.visibility</p:attrName>
                                        </p:attrNameLst>
                                      </p:cBhvr>
                                      <p:to>
                                        <p:strVal val="visible"/>
                                      </p:to>
                                    </p:set>
                                    <p:anim calcmode="lin" valueType="num">
                                      <p:cBhvr additive="base">
                                        <p:cTn id="51" dur="500" fill="hold"/>
                                        <p:tgtEl>
                                          <p:spTgt spid="200724">
                                            <p:txEl>
                                              <p:pRg st="2" end="2"/>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20072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6" grpId="0" autoUpdateAnimBg="0" build="p"/>
      <p:bldP spid="200707" grpId="0" bldLvl="0" animBg="1" autoUpdateAnimBg="0"/>
      <p:bldP spid="200724" grpId="0" bldLvl="2" autoUpdateAnimBg="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395288" y="260350"/>
            <a:ext cx="85344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a:latin typeface="楷体_GB2312" pitchFamily="49" charset="-122"/>
                <a:ea typeface="楷体_GB2312" pitchFamily="49" charset="-122"/>
                <a:sym typeface="+mn-ea"/>
              </a:rPr>
              <a:t>⑵ Implementation on </a:t>
            </a:r>
            <a:r>
              <a:rPr lang="zh-CN" altLang="en-US" b="1">
                <a:solidFill>
                  <a:srgbClr val="A50021"/>
                </a:solidFill>
                <a:latin typeface="楷体_GB2312" pitchFamily="49" charset="-122"/>
                <a:ea typeface="楷体_GB2312" pitchFamily="49" charset="-122"/>
                <a:sym typeface="+mn-ea"/>
              </a:rPr>
              <a:t>adjacency list</a:t>
            </a:r>
            <a:endParaRPr lang="zh-CN" altLang="en-US" sz="2800" b="1">
              <a:latin typeface="楷体_GB2312" pitchFamily="49" charset="-122"/>
              <a:ea typeface="楷体_GB2312" pitchFamily="49" charset="-122"/>
            </a:endParaRPr>
          </a:p>
        </p:txBody>
      </p:sp>
      <p:grpSp>
        <p:nvGrpSpPr>
          <p:cNvPr id="202755" name="Group 3"/>
          <p:cNvGrpSpPr/>
          <p:nvPr/>
        </p:nvGrpSpPr>
        <p:grpSpPr bwMode="auto">
          <a:xfrm>
            <a:off x="6705600" y="3548063"/>
            <a:ext cx="1447800" cy="2262187"/>
            <a:chOff x="4224" y="2352"/>
            <a:chExt cx="912" cy="1425"/>
          </a:xfrm>
        </p:grpSpPr>
        <p:sp>
          <p:nvSpPr>
            <p:cNvPr id="202756" name="Oval 4"/>
            <p:cNvSpPr>
              <a:spLocks noChangeArrowheads="1"/>
            </p:cNvSpPr>
            <p:nvPr/>
          </p:nvSpPr>
          <p:spPr bwMode="auto">
            <a:xfrm>
              <a:off x="4608" y="2352"/>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202757" name="Oval 5"/>
            <p:cNvSpPr>
              <a:spLocks noChangeArrowheads="1"/>
            </p:cNvSpPr>
            <p:nvPr/>
          </p:nvSpPr>
          <p:spPr bwMode="auto">
            <a:xfrm>
              <a:off x="4224" y="268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1</a:t>
              </a:r>
              <a:endParaRPr lang="en-US" altLang="zh-CN" b="1"/>
            </a:p>
          </p:txBody>
        </p:sp>
        <p:sp>
          <p:nvSpPr>
            <p:cNvPr id="202758" name="Oval 6"/>
            <p:cNvSpPr>
              <a:spLocks noChangeArrowheads="1"/>
            </p:cNvSpPr>
            <p:nvPr/>
          </p:nvSpPr>
          <p:spPr bwMode="auto">
            <a:xfrm>
              <a:off x="4944" y="2688"/>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202759" name="Oval 7"/>
            <p:cNvSpPr>
              <a:spLocks noChangeArrowheads="1"/>
            </p:cNvSpPr>
            <p:nvPr/>
          </p:nvSpPr>
          <p:spPr bwMode="auto">
            <a:xfrm>
              <a:off x="4224" y="321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202760" name="Oval 8"/>
            <p:cNvSpPr>
              <a:spLocks noChangeArrowheads="1"/>
            </p:cNvSpPr>
            <p:nvPr/>
          </p:nvSpPr>
          <p:spPr bwMode="auto">
            <a:xfrm>
              <a:off x="4944" y="3216"/>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202761" name="Oval 9"/>
            <p:cNvSpPr>
              <a:spLocks noChangeArrowheads="1"/>
            </p:cNvSpPr>
            <p:nvPr/>
          </p:nvSpPr>
          <p:spPr bwMode="auto">
            <a:xfrm>
              <a:off x="4608" y="3585"/>
              <a:ext cx="192" cy="192"/>
            </a:xfrm>
            <a:prstGeom prst="ellipse">
              <a:avLst/>
            </a:prstGeom>
            <a:solidFill>
              <a:schemeClr val="accent1"/>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6</a:t>
              </a:r>
              <a:endParaRPr lang="en-US" altLang="zh-CN" b="1"/>
            </a:p>
          </p:txBody>
        </p:sp>
        <p:sp>
          <p:nvSpPr>
            <p:cNvPr id="202762" name="Line 10"/>
            <p:cNvSpPr>
              <a:spLocks noChangeShapeType="1"/>
            </p:cNvSpPr>
            <p:nvPr/>
          </p:nvSpPr>
          <p:spPr bwMode="auto">
            <a:xfrm flipV="1">
              <a:off x="4368" y="2496"/>
              <a:ext cx="240" cy="192"/>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3" name="Line 11"/>
            <p:cNvSpPr>
              <a:spLocks noChangeShapeType="1"/>
            </p:cNvSpPr>
            <p:nvPr/>
          </p:nvSpPr>
          <p:spPr bwMode="auto">
            <a:xfrm>
              <a:off x="4416" y="2784"/>
              <a:ext cx="528"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4" name="Line 12"/>
            <p:cNvSpPr>
              <a:spLocks noChangeShapeType="1"/>
            </p:cNvSpPr>
            <p:nvPr/>
          </p:nvSpPr>
          <p:spPr bwMode="auto">
            <a:xfrm flipH="1" flipV="1">
              <a:off x="4800" y="2496"/>
              <a:ext cx="192" cy="192"/>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5" name="Line 13"/>
            <p:cNvSpPr>
              <a:spLocks noChangeShapeType="1"/>
            </p:cNvSpPr>
            <p:nvPr/>
          </p:nvSpPr>
          <p:spPr bwMode="auto">
            <a:xfrm>
              <a:off x="4320" y="2880"/>
              <a:ext cx="0" cy="33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6" name="Line 14"/>
            <p:cNvSpPr>
              <a:spLocks noChangeShapeType="1"/>
            </p:cNvSpPr>
            <p:nvPr/>
          </p:nvSpPr>
          <p:spPr bwMode="auto">
            <a:xfrm>
              <a:off x="5040" y="2880"/>
              <a:ext cx="0" cy="336"/>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7" name="Line 15"/>
            <p:cNvSpPr>
              <a:spLocks noChangeShapeType="1"/>
            </p:cNvSpPr>
            <p:nvPr/>
          </p:nvSpPr>
          <p:spPr bwMode="auto">
            <a:xfrm>
              <a:off x="4416" y="3312"/>
              <a:ext cx="528"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8" name="Line 16"/>
            <p:cNvSpPr>
              <a:spLocks noChangeShapeType="1"/>
            </p:cNvSpPr>
            <p:nvPr/>
          </p:nvSpPr>
          <p:spPr bwMode="auto">
            <a:xfrm flipH="1" flipV="1">
              <a:off x="4377" y="3381"/>
              <a:ext cx="240" cy="288"/>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69" name="Line 17"/>
            <p:cNvSpPr>
              <a:spLocks noChangeShapeType="1"/>
            </p:cNvSpPr>
            <p:nvPr/>
          </p:nvSpPr>
          <p:spPr bwMode="auto">
            <a:xfrm flipV="1">
              <a:off x="4809" y="3390"/>
              <a:ext cx="192" cy="24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grpSp>
      <p:grpSp>
        <p:nvGrpSpPr>
          <p:cNvPr id="202770" name="Group 18"/>
          <p:cNvGrpSpPr/>
          <p:nvPr/>
        </p:nvGrpSpPr>
        <p:grpSpPr bwMode="auto">
          <a:xfrm>
            <a:off x="838200" y="3429000"/>
            <a:ext cx="4872038" cy="2743200"/>
            <a:chOff x="528" y="2160"/>
            <a:chExt cx="3069" cy="1728"/>
          </a:xfrm>
        </p:grpSpPr>
        <p:sp>
          <p:nvSpPr>
            <p:cNvPr id="202771" name="Rectangle 19"/>
            <p:cNvSpPr>
              <a:spLocks noChangeArrowheads="1"/>
            </p:cNvSpPr>
            <p:nvPr/>
          </p:nvSpPr>
          <p:spPr bwMode="auto">
            <a:xfrm>
              <a:off x="1680" y="2474"/>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202772" name="Rectangle 20"/>
            <p:cNvSpPr>
              <a:spLocks noChangeArrowheads="1"/>
            </p:cNvSpPr>
            <p:nvPr/>
          </p:nvSpPr>
          <p:spPr bwMode="auto">
            <a:xfrm>
              <a:off x="1920" y="2474"/>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73" name="Rectangle 21"/>
            <p:cNvSpPr>
              <a:spLocks noChangeArrowheads="1"/>
            </p:cNvSpPr>
            <p:nvPr/>
          </p:nvSpPr>
          <p:spPr bwMode="auto">
            <a:xfrm>
              <a:off x="3117" y="2474"/>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202774" name="Rectangle 22"/>
            <p:cNvSpPr>
              <a:spLocks noChangeArrowheads="1"/>
            </p:cNvSpPr>
            <p:nvPr/>
          </p:nvSpPr>
          <p:spPr bwMode="auto">
            <a:xfrm>
              <a:off x="3357" y="2474"/>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775" name="Rectangle 23"/>
            <p:cNvSpPr>
              <a:spLocks noChangeArrowheads="1"/>
            </p:cNvSpPr>
            <p:nvPr/>
          </p:nvSpPr>
          <p:spPr bwMode="auto">
            <a:xfrm>
              <a:off x="1680" y="294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202776" name="Rectangle 24"/>
            <p:cNvSpPr>
              <a:spLocks noChangeArrowheads="1"/>
            </p:cNvSpPr>
            <p:nvPr/>
          </p:nvSpPr>
          <p:spPr bwMode="auto">
            <a:xfrm>
              <a:off x="1920" y="2948"/>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endParaRPr lang="zh-CN" altLang="zh-CN" sz="2800" b="1">
                <a:sym typeface="Symbol" panose="05050102010706020507" pitchFamily="18" charset="2"/>
              </a:endParaRPr>
            </a:p>
          </p:txBody>
        </p:sp>
        <p:sp>
          <p:nvSpPr>
            <p:cNvPr id="202777" name="Rectangle 25"/>
            <p:cNvSpPr>
              <a:spLocks noChangeArrowheads="1"/>
            </p:cNvSpPr>
            <p:nvPr/>
          </p:nvSpPr>
          <p:spPr bwMode="auto">
            <a:xfrm>
              <a:off x="1680" y="321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202778" name="Rectangle 26"/>
            <p:cNvSpPr>
              <a:spLocks noChangeArrowheads="1"/>
            </p:cNvSpPr>
            <p:nvPr/>
          </p:nvSpPr>
          <p:spPr bwMode="auto">
            <a:xfrm>
              <a:off x="1920" y="321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779" name="Rectangle 27"/>
            <p:cNvSpPr>
              <a:spLocks noChangeArrowheads="1"/>
            </p:cNvSpPr>
            <p:nvPr/>
          </p:nvSpPr>
          <p:spPr bwMode="auto">
            <a:xfrm>
              <a:off x="960" y="245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0</a:t>
              </a:r>
              <a:endParaRPr lang="en-US" altLang="zh-CN" sz="2000" b="1"/>
            </a:p>
          </p:txBody>
        </p:sp>
        <p:sp>
          <p:nvSpPr>
            <p:cNvPr id="202780" name="Rectangle 28"/>
            <p:cNvSpPr>
              <a:spLocks noChangeArrowheads="1"/>
            </p:cNvSpPr>
            <p:nvPr/>
          </p:nvSpPr>
          <p:spPr bwMode="auto">
            <a:xfrm>
              <a:off x="1200" y="245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81" name="Rectangle 29"/>
            <p:cNvSpPr>
              <a:spLocks noChangeArrowheads="1"/>
            </p:cNvSpPr>
            <p:nvPr/>
          </p:nvSpPr>
          <p:spPr bwMode="auto">
            <a:xfrm>
              <a:off x="960" y="269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2</a:t>
              </a:r>
              <a:endParaRPr lang="en-US" altLang="zh-CN" sz="2000" b="1"/>
            </a:p>
          </p:txBody>
        </p:sp>
        <p:sp>
          <p:nvSpPr>
            <p:cNvPr id="202782" name="Rectangle 30"/>
            <p:cNvSpPr>
              <a:spLocks noChangeArrowheads="1"/>
            </p:cNvSpPr>
            <p:nvPr/>
          </p:nvSpPr>
          <p:spPr bwMode="auto">
            <a:xfrm>
              <a:off x="1200" y="269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783" name="Rectangle 31"/>
            <p:cNvSpPr>
              <a:spLocks noChangeArrowheads="1"/>
            </p:cNvSpPr>
            <p:nvPr/>
          </p:nvSpPr>
          <p:spPr bwMode="auto">
            <a:xfrm>
              <a:off x="960" y="293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1</a:t>
              </a:r>
              <a:endParaRPr lang="en-US" altLang="zh-CN" sz="2000" b="1"/>
            </a:p>
          </p:txBody>
        </p:sp>
        <p:sp>
          <p:nvSpPr>
            <p:cNvPr id="202784" name="Rectangle 32"/>
            <p:cNvSpPr>
              <a:spLocks noChangeArrowheads="1"/>
            </p:cNvSpPr>
            <p:nvPr/>
          </p:nvSpPr>
          <p:spPr bwMode="auto">
            <a:xfrm>
              <a:off x="1200" y="293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85" name="Rectangle 33"/>
            <p:cNvSpPr>
              <a:spLocks noChangeArrowheads="1"/>
            </p:cNvSpPr>
            <p:nvPr/>
          </p:nvSpPr>
          <p:spPr bwMode="auto">
            <a:xfrm>
              <a:off x="960" y="317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2</a:t>
              </a:r>
              <a:endParaRPr lang="en-US" altLang="zh-CN" sz="2000" b="1"/>
            </a:p>
          </p:txBody>
        </p:sp>
        <p:sp>
          <p:nvSpPr>
            <p:cNvPr id="202786" name="Rectangle 34"/>
            <p:cNvSpPr>
              <a:spLocks noChangeArrowheads="1"/>
            </p:cNvSpPr>
            <p:nvPr/>
          </p:nvSpPr>
          <p:spPr bwMode="auto">
            <a:xfrm>
              <a:off x="1200" y="3170"/>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87" name="Text Box 35"/>
            <p:cNvSpPr txBox="1">
              <a:spLocks noChangeArrowheads="1"/>
            </p:cNvSpPr>
            <p:nvPr/>
          </p:nvSpPr>
          <p:spPr bwMode="auto">
            <a:xfrm>
              <a:off x="528" y="2450"/>
              <a:ext cx="480" cy="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en-US" altLang="zh-CN" b="1"/>
                <a:t>V1</a:t>
              </a:r>
              <a:endParaRPr lang="en-US" altLang="zh-CN" b="1"/>
            </a:p>
            <a:p>
              <a:r>
                <a:rPr lang="en-US" altLang="zh-CN" b="1"/>
                <a:t>V2</a:t>
              </a:r>
              <a:endParaRPr lang="en-US" altLang="zh-CN" b="1"/>
            </a:p>
            <a:p>
              <a:r>
                <a:rPr lang="en-US" altLang="zh-CN" b="1"/>
                <a:t>V3</a:t>
              </a:r>
              <a:endParaRPr lang="en-US" altLang="zh-CN" b="1"/>
            </a:p>
            <a:p>
              <a:r>
                <a:rPr lang="en-US" altLang="zh-CN" b="1"/>
                <a:t>V4</a:t>
              </a:r>
              <a:endParaRPr lang="en-US" altLang="zh-CN" b="1"/>
            </a:p>
            <a:p>
              <a:r>
                <a:rPr lang="en-US" altLang="zh-CN" b="1"/>
                <a:t>V5</a:t>
              </a:r>
              <a:endParaRPr lang="en-US" altLang="zh-CN" b="1"/>
            </a:p>
            <a:p>
              <a:r>
                <a:rPr lang="en-US" altLang="zh-CN" b="1"/>
                <a:t>V6</a:t>
              </a:r>
              <a:endParaRPr lang="en-US" altLang="zh-CN" b="1"/>
            </a:p>
          </p:txBody>
        </p:sp>
        <p:sp>
          <p:nvSpPr>
            <p:cNvPr id="202788" name="Line 36"/>
            <p:cNvSpPr>
              <a:spLocks noChangeShapeType="1"/>
            </p:cNvSpPr>
            <p:nvPr/>
          </p:nvSpPr>
          <p:spPr bwMode="auto">
            <a:xfrm>
              <a:off x="1344" y="2594"/>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89" name="Line 37"/>
            <p:cNvSpPr>
              <a:spLocks noChangeShapeType="1"/>
            </p:cNvSpPr>
            <p:nvPr/>
          </p:nvSpPr>
          <p:spPr bwMode="auto">
            <a:xfrm>
              <a:off x="1344" y="3074"/>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90" name="Line 38"/>
            <p:cNvSpPr>
              <a:spLocks noChangeShapeType="1"/>
            </p:cNvSpPr>
            <p:nvPr/>
          </p:nvSpPr>
          <p:spPr bwMode="auto">
            <a:xfrm>
              <a:off x="1344" y="3314"/>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91" name="Rectangle 39"/>
            <p:cNvSpPr>
              <a:spLocks noChangeArrowheads="1"/>
            </p:cNvSpPr>
            <p:nvPr/>
          </p:nvSpPr>
          <p:spPr bwMode="auto">
            <a:xfrm>
              <a:off x="960" y="3408"/>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3</a:t>
              </a:r>
              <a:endParaRPr lang="en-US" altLang="zh-CN" sz="2000" b="1"/>
            </a:p>
          </p:txBody>
        </p:sp>
        <p:sp>
          <p:nvSpPr>
            <p:cNvPr id="202792" name="Rectangle 40"/>
            <p:cNvSpPr>
              <a:spLocks noChangeArrowheads="1"/>
            </p:cNvSpPr>
            <p:nvPr/>
          </p:nvSpPr>
          <p:spPr bwMode="auto">
            <a:xfrm>
              <a:off x="1200" y="3408"/>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793" name="Rectangle 41"/>
            <p:cNvSpPr>
              <a:spLocks noChangeArrowheads="1"/>
            </p:cNvSpPr>
            <p:nvPr/>
          </p:nvSpPr>
          <p:spPr bwMode="auto">
            <a:xfrm>
              <a:off x="960" y="3648"/>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000" b="1"/>
                <a:t>0</a:t>
              </a:r>
              <a:endParaRPr lang="en-US" altLang="zh-CN" sz="2000" b="1"/>
            </a:p>
          </p:txBody>
        </p:sp>
        <p:sp>
          <p:nvSpPr>
            <p:cNvPr id="202794" name="Rectangle 42"/>
            <p:cNvSpPr>
              <a:spLocks noChangeArrowheads="1"/>
            </p:cNvSpPr>
            <p:nvPr/>
          </p:nvSpPr>
          <p:spPr bwMode="auto">
            <a:xfrm>
              <a:off x="1200" y="3648"/>
              <a:ext cx="240" cy="240"/>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95" name="Line 43"/>
            <p:cNvSpPr>
              <a:spLocks noChangeShapeType="1"/>
            </p:cNvSpPr>
            <p:nvPr/>
          </p:nvSpPr>
          <p:spPr bwMode="auto">
            <a:xfrm>
              <a:off x="1344" y="3792"/>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96" name="Rectangle 44"/>
            <p:cNvSpPr>
              <a:spLocks noChangeArrowheads="1"/>
            </p:cNvSpPr>
            <p:nvPr/>
          </p:nvSpPr>
          <p:spPr bwMode="auto">
            <a:xfrm>
              <a:off x="2400" y="2475"/>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3</a:t>
              </a:r>
              <a:endParaRPr lang="en-US" altLang="zh-CN" b="1"/>
            </a:p>
          </p:txBody>
        </p:sp>
        <p:sp>
          <p:nvSpPr>
            <p:cNvPr id="202797" name="Rectangle 45"/>
            <p:cNvSpPr>
              <a:spLocks noChangeArrowheads="1"/>
            </p:cNvSpPr>
            <p:nvPr/>
          </p:nvSpPr>
          <p:spPr bwMode="auto">
            <a:xfrm>
              <a:off x="2640" y="2475"/>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02798" name="Line 46"/>
            <p:cNvSpPr>
              <a:spLocks noChangeShapeType="1"/>
            </p:cNvSpPr>
            <p:nvPr/>
          </p:nvSpPr>
          <p:spPr bwMode="auto">
            <a:xfrm>
              <a:off x="2064" y="2595"/>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799" name="Line 47"/>
            <p:cNvSpPr>
              <a:spLocks noChangeShapeType="1"/>
            </p:cNvSpPr>
            <p:nvPr/>
          </p:nvSpPr>
          <p:spPr bwMode="auto">
            <a:xfrm>
              <a:off x="2781" y="2594"/>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800" name="Rectangle 48"/>
            <p:cNvSpPr>
              <a:spLocks noChangeArrowheads="1"/>
            </p:cNvSpPr>
            <p:nvPr/>
          </p:nvSpPr>
          <p:spPr bwMode="auto">
            <a:xfrm>
              <a:off x="2640" y="294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801" name="Rectangle 49"/>
            <p:cNvSpPr>
              <a:spLocks noChangeArrowheads="1"/>
            </p:cNvSpPr>
            <p:nvPr/>
          </p:nvSpPr>
          <p:spPr bwMode="auto">
            <a:xfrm>
              <a:off x="2400" y="2946"/>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2</a:t>
              </a:r>
              <a:endParaRPr lang="en-US" altLang="zh-CN" b="1"/>
            </a:p>
          </p:txBody>
        </p:sp>
        <p:sp>
          <p:nvSpPr>
            <p:cNvPr id="202802" name="Line 50"/>
            <p:cNvSpPr>
              <a:spLocks noChangeShapeType="1"/>
            </p:cNvSpPr>
            <p:nvPr/>
          </p:nvSpPr>
          <p:spPr bwMode="auto">
            <a:xfrm>
              <a:off x="2064" y="3066"/>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803" name="Rectangle 51"/>
            <p:cNvSpPr>
              <a:spLocks noChangeArrowheads="1"/>
            </p:cNvSpPr>
            <p:nvPr/>
          </p:nvSpPr>
          <p:spPr bwMode="auto">
            <a:xfrm>
              <a:off x="1680" y="365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5</a:t>
              </a:r>
              <a:endParaRPr lang="en-US" altLang="zh-CN" b="1"/>
            </a:p>
          </p:txBody>
        </p:sp>
        <p:sp>
          <p:nvSpPr>
            <p:cNvPr id="202804" name="Rectangle 52"/>
            <p:cNvSpPr>
              <a:spLocks noChangeArrowheads="1"/>
            </p:cNvSpPr>
            <p:nvPr/>
          </p:nvSpPr>
          <p:spPr bwMode="auto">
            <a:xfrm>
              <a:off x="1920" y="3657"/>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endParaRPr lang="zh-CN" altLang="zh-CN" sz="2800" b="1">
                <a:sym typeface="Symbol" panose="05050102010706020507" pitchFamily="18" charset="2"/>
              </a:endParaRPr>
            </a:p>
          </p:txBody>
        </p:sp>
        <p:sp>
          <p:nvSpPr>
            <p:cNvPr id="202805" name="Rectangle 53"/>
            <p:cNvSpPr>
              <a:spLocks noChangeArrowheads="1"/>
            </p:cNvSpPr>
            <p:nvPr/>
          </p:nvSpPr>
          <p:spPr bwMode="auto">
            <a:xfrm>
              <a:off x="2640" y="3655"/>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2806" name="Rectangle 54"/>
            <p:cNvSpPr>
              <a:spLocks noChangeArrowheads="1"/>
            </p:cNvSpPr>
            <p:nvPr/>
          </p:nvSpPr>
          <p:spPr bwMode="auto">
            <a:xfrm>
              <a:off x="2400" y="3655"/>
              <a:ext cx="240" cy="19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pPr algn="ctr"/>
              <a:r>
                <a:rPr lang="en-US" altLang="zh-CN" b="1"/>
                <a:t>4</a:t>
              </a:r>
              <a:endParaRPr lang="en-US" altLang="zh-CN" b="1"/>
            </a:p>
          </p:txBody>
        </p:sp>
        <p:sp>
          <p:nvSpPr>
            <p:cNvPr id="202807" name="Line 55"/>
            <p:cNvSpPr>
              <a:spLocks noChangeShapeType="1"/>
            </p:cNvSpPr>
            <p:nvPr/>
          </p:nvSpPr>
          <p:spPr bwMode="auto">
            <a:xfrm>
              <a:off x="2064" y="3775"/>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lstStyle/>
            <a:p>
              <a:endParaRPr lang="zh-CN" altLang="en-US"/>
            </a:p>
          </p:txBody>
        </p:sp>
        <p:sp>
          <p:nvSpPr>
            <p:cNvPr id="202808" name="Text Box 56"/>
            <p:cNvSpPr txBox="1">
              <a:spLocks noChangeArrowheads="1"/>
            </p:cNvSpPr>
            <p:nvPr/>
          </p:nvSpPr>
          <p:spPr bwMode="auto">
            <a:xfrm>
              <a:off x="690" y="2160"/>
              <a:ext cx="864"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Bef>
                  <a:spcPct val="50000"/>
                </a:spcBef>
              </a:pPr>
              <a:r>
                <a:rPr lang="en-US" altLang="zh-CN" b="1"/>
                <a:t>indegree</a:t>
              </a:r>
              <a:endParaRPr lang="en-US" altLang="zh-CN" b="1"/>
            </a:p>
          </p:txBody>
        </p:sp>
      </p:grpSp>
      <p:sp>
        <p:nvSpPr>
          <p:cNvPr id="202809" name="Rectangle 57"/>
          <p:cNvSpPr>
            <a:spLocks noChangeArrowheads="1"/>
          </p:cNvSpPr>
          <p:nvPr/>
        </p:nvSpPr>
        <p:spPr bwMode="auto">
          <a:xfrm>
            <a:off x="395288" y="908050"/>
            <a:ext cx="8534400" cy="189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r>
              <a:rPr lang="zh-CN" altLang="en-US" sz="2000" b="1">
                <a:latin typeface="Arial" panose="020B0604020202020204" pitchFamily="34" charset="0"/>
                <a:ea typeface="楷体_GB2312" pitchFamily="49" charset="-122"/>
                <a:cs typeface="Arial" panose="020B0604020202020204" pitchFamily="34" charset="0"/>
                <a:sym typeface="+mn-ea"/>
              </a:rPr>
              <a:t>Add a </a:t>
            </a:r>
            <a:r>
              <a:rPr lang="zh-CN" altLang="en-US" sz="2000" b="1">
                <a:solidFill>
                  <a:srgbClr val="A50021"/>
                </a:solidFill>
                <a:latin typeface="Arial" panose="020B0604020202020204" pitchFamily="34" charset="0"/>
                <a:ea typeface="楷体_GB2312" pitchFamily="49" charset="-122"/>
                <a:cs typeface="Arial" panose="020B0604020202020204" pitchFamily="34" charset="0"/>
                <a:sym typeface="+mn-ea"/>
              </a:rPr>
              <a:t>field to the header node to store the vertex in-degree</a:t>
            </a:r>
            <a:r>
              <a:rPr lang="zh-CN" altLang="en-US" sz="2000" b="1">
                <a:latin typeface="Arial" panose="020B0604020202020204" pitchFamily="34" charset="0"/>
                <a:ea typeface="楷体_GB2312" pitchFamily="49" charset="-122"/>
                <a:cs typeface="Arial" panose="020B0604020202020204" pitchFamily="34" charset="0"/>
                <a:sym typeface="+mn-ea"/>
              </a:rPr>
              <a:t>.</a:t>
            </a:r>
            <a:endParaRPr lang="zh-CN" altLang="en-US" sz="2000" b="1">
              <a:latin typeface="Arial" panose="020B0604020202020204" pitchFamily="34" charset="0"/>
              <a:ea typeface="楷体_GB2312" pitchFamily="49" charset="-122"/>
              <a:cs typeface="Arial" panose="020B0604020202020204" pitchFamily="34" charset="0"/>
            </a:endParaRPr>
          </a:p>
          <a:p>
            <a:r>
              <a:rPr lang="zh-CN" altLang="en-US" sz="2000" b="1">
                <a:latin typeface="Arial" panose="020B0604020202020204" pitchFamily="34" charset="0"/>
                <a:ea typeface="楷体_GB2312" pitchFamily="49" charset="-122"/>
                <a:cs typeface="Arial" panose="020B0604020202020204" pitchFamily="34" charset="0"/>
                <a:sym typeface="+mn-ea"/>
              </a:rPr>
              <a:t>During topological sorting, when a vertex has an in-degree of zero, it is output, and the in-degree of the vertices pointed to by the directed edges from this vertex is reduced by 1. To avoid repeated detection of vertices with in-degree zero,</a:t>
            </a:r>
            <a:endParaRPr lang="zh-CN" altLang="en-US" sz="2000" b="1">
              <a:latin typeface="Arial" panose="020B0604020202020204" pitchFamily="34" charset="0"/>
              <a:ea typeface="楷体_GB2312" pitchFamily="49" charset="-122"/>
              <a:cs typeface="Arial" panose="020B0604020202020204" pitchFamily="34" charset="0"/>
            </a:endParaRPr>
          </a:p>
          <a:p>
            <a:r>
              <a:rPr lang="zh-CN" altLang="en-US" sz="2000" b="1">
                <a:latin typeface="Arial" panose="020B0604020202020204" pitchFamily="34" charset="0"/>
                <a:ea typeface="楷体_GB2312" pitchFamily="49" charset="-122"/>
                <a:cs typeface="Arial" panose="020B0604020202020204" pitchFamily="34" charset="0"/>
                <a:sym typeface="+mn-ea"/>
              </a:rPr>
              <a:t>A separate stack is needed to store vertices of degree zero.</a:t>
            </a:r>
            <a:endParaRPr lang="zh-CN" altLang="en-US" sz="2000" b="1">
              <a:latin typeface="Arial" panose="020B0604020202020204" pitchFamily="34" charset="0"/>
              <a:ea typeface="楷体_GB2312" pitchFamily="49" charset="-122"/>
              <a:cs typeface="Arial" panose="020B0604020202020204" pitchFamily="34"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027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02809">
                                            <p:txEl>
                                              <p:pRg st="4294967295" end="4294967295"/>
                                            </p:txEl>
                                          </p:spTgt>
                                        </p:tgtEl>
                                        <p:attrNameLst>
                                          <p:attrName>style.visibility</p:attrName>
                                        </p:attrNameLst>
                                      </p:cBhvr>
                                      <p:to>
                                        <p:strVal val="visible"/>
                                      </p:to>
                                    </p:set>
                                    <p:animEffect transition="in" filter="checkerboard(across)">
                                      <p:cBhvr>
                                        <p:cTn id="11" dur="500"/>
                                        <p:tgtEl>
                                          <p:spTgt spid="202809">
                                            <p:txEl>
                                              <p:pRg st="4294967295" end="429496729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02809">
                                            <p:txEl>
                                              <p:pRg st="0" end="0"/>
                                            </p:txEl>
                                          </p:spTgt>
                                        </p:tgtEl>
                                        <p:attrNameLst>
                                          <p:attrName>style.visibility</p:attrName>
                                        </p:attrNameLst>
                                      </p:cBhvr>
                                      <p:to>
                                        <p:strVal val="visible"/>
                                      </p:to>
                                    </p:set>
                                    <p:animEffect transition="in" filter="checkerboard(across)">
                                      <p:cBhvr>
                                        <p:cTn id="16" dur="500"/>
                                        <p:tgtEl>
                                          <p:spTgt spid="20280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202809">
                                            <p:txEl>
                                              <p:pRg st="1" end="1"/>
                                            </p:txEl>
                                          </p:spTgt>
                                        </p:tgtEl>
                                        <p:attrNameLst>
                                          <p:attrName>style.visibility</p:attrName>
                                        </p:attrNameLst>
                                      </p:cBhvr>
                                      <p:to>
                                        <p:strVal val="visible"/>
                                      </p:to>
                                    </p:set>
                                    <p:animEffect transition="in" filter="checkerboard(across)">
                                      <p:cBhvr>
                                        <p:cTn id="21" dur="500"/>
                                        <p:tgtEl>
                                          <p:spTgt spid="20280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02809">
                                            <p:txEl>
                                              <p:pRg st="2" end="2"/>
                                            </p:txEl>
                                          </p:spTgt>
                                        </p:tgtEl>
                                        <p:attrNameLst>
                                          <p:attrName>style.visibility</p:attrName>
                                        </p:attrNameLst>
                                      </p:cBhvr>
                                      <p:to>
                                        <p:strVal val="visible"/>
                                      </p:to>
                                    </p:set>
                                    <p:animEffect transition="in" filter="checkerboard(across)">
                                      <p:cBhvr>
                                        <p:cTn id="26" dur="500"/>
                                        <p:tgtEl>
                                          <p:spTgt spid="2028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09"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250825" y="457200"/>
            <a:ext cx="8664575" cy="4624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Aft>
                <a:spcPct val="40000"/>
              </a:spcAft>
            </a:pPr>
            <a:r>
              <a:rPr lang="zh-CN" altLang="en-US" sz="2000" b="1">
                <a:latin typeface="Arial" panose="020B0604020202020204" pitchFamily="34" charset="0"/>
                <a:ea typeface="楷体_GB2312" pitchFamily="49" charset="-122"/>
                <a:cs typeface="Arial" panose="020B0604020202020204" pitchFamily="34" charset="0"/>
              </a:rPr>
              <a:t>Topological sort algorithm implemented on adjacency list:</a:t>
            </a:r>
            <a:endParaRPr lang="zh-CN" altLang="en-US" sz="4000" b="1">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1600" b="1">
                <a:solidFill>
                  <a:srgbClr val="FF0000"/>
                </a:solidFill>
                <a:latin typeface="Arial" panose="020B0604020202020204" pitchFamily="34" charset="0"/>
                <a:ea typeface="楷体_GB2312" pitchFamily="49" charset="-122"/>
                <a:cs typeface="Arial" panose="020B0604020202020204" pitchFamily="34" charset="0"/>
              </a:rPr>
              <a:t>⑴ </a:t>
            </a:r>
            <a:r>
              <a:rPr lang="zh-CN" altLang="en-US" sz="2000" b="1">
                <a:latin typeface="Arial" panose="020B0604020202020204" pitchFamily="34" charset="0"/>
                <a:ea typeface="楷体_GB2312" pitchFamily="49" charset="-122"/>
                <a:cs typeface="Arial" panose="020B0604020202020204" pitchFamily="34" charset="0"/>
              </a:rPr>
              <a:t>Input a directed edge sequence and build an adjacency list;</a:t>
            </a:r>
            <a:endParaRPr lang="zh-CN" altLang="en-US" sz="2000" b="1">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1600" b="1">
                <a:solidFill>
                  <a:srgbClr val="FF0000"/>
                </a:solidFill>
                <a:latin typeface="Arial" panose="020B0604020202020204" pitchFamily="34" charset="0"/>
                <a:ea typeface="楷体_GB2312" pitchFamily="49" charset="-122"/>
                <a:cs typeface="Arial" panose="020B0604020202020204" pitchFamily="34" charset="0"/>
              </a:rPr>
              <a:t>⑵ </a:t>
            </a:r>
            <a:r>
              <a:rPr lang="zh-CN" altLang="en-US" sz="2000" b="1">
                <a:latin typeface="Arial" panose="020B0604020202020204" pitchFamily="34" charset="0"/>
                <a:ea typeface="楷体_GB2312" pitchFamily="49" charset="-122"/>
                <a:cs typeface="Arial" panose="020B0604020202020204" pitchFamily="34" charset="0"/>
              </a:rPr>
              <a:t>Search the adjacency list for vertices with zero in-degree and push them into the stack;</a:t>
            </a:r>
            <a:endParaRPr lang="zh-CN" altLang="en-US" sz="3200" b="1">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1600" b="1">
                <a:solidFill>
                  <a:srgbClr val="FF0000"/>
                </a:solidFill>
                <a:latin typeface="Arial" panose="020B0604020202020204" pitchFamily="34" charset="0"/>
                <a:ea typeface="楷体_GB2312" pitchFamily="49" charset="-122"/>
                <a:cs typeface="Arial" panose="020B0604020202020204" pitchFamily="34" charset="0"/>
              </a:rPr>
              <a:t>⑶ </a:t>
            </a:r>
            <a:r>
              <a:rPr lang="zh-CN" altLang="en-US" sz="2000" b="1">
                <a:latin typeface="Arial" panose="020B0604020202020204" pitchFamily="34" charset="0"/>
                <a:ea typeface="楷体_GB2312" pitchFamily="49" charset="-122"/>
                <a:cs typeface="Arial" panose="020B0604020202020204" pitchFamily="34" charset="0"/>
              </a:rPr>
              <a:t>When the stack is not empty,</a:t>
            </a:r>
            <a:endParaRPr lang="zh-CN" altLang="en-US" sz="3200" b="1">
              <a:latin typeface="Arial" panose="020B0604020202020204" pitchFamily="34" charset="0"/>
              <a:ea typeface="楷体_GB2312" pitchFamily="49" charset="-122"/>
              <a:cs typeface="Arial" panose="020B0604020202020204" pitchFamily="34" charset="0"/>
            </a:endParaRPr>
          </a:p>
          <a:p>
            <a:pPr lvl="1">
              <a:lnSpc>
                <a:spcPct val="120000"/>
              </a:lnSpc>
            </a:pPr>
            <a:r>
              <a:rPr lang="en-US" altLang="zh-CN" sz="1600" b="1">
                <a:latin typeface="Arial" panose="020B0604020202020204" pitchFamily="34" charset="0"/>
                <a:ea typeface="楷体_GB2312" pitchFamily="49" charset="-122"/>
                <a:cs typeface="Arial" panose="020B0604020202020204" pitchFamily="34" charset="0"/>
              </a:rPr>
              <a:t>a.</a:t>
            </a:r>
            <a:r>
              <a:rPr lang="zh-CN" altLang="en-US" sz="1600" b="1">
                <a:latin typeface="Arial" panose="020B0604020202020204" pitchFamily="34" charset="0"/>
                <a:ea typeface="楷体_GB2312" pitchFamily="49" charset="-122"/>
                <a:cs typeface="Arial" panose="020B0604020202020204" pitchFamily="34" charset="0"/>
              </a:rPr>
              <a:t>Use the pop operation to retrieve the top element v from the stack and output v.</a:t>
            </a:r>
            <a:endParaRPr lang="en-US" altLang="zh-CN" sz="3200" b="1">
              <a:latin typeface="Arial" panose="020B0604020202020204" pitchFamily="34" charset="0"/>
              <a:ea typeface="楷体_GB2312" pitchFamily="49" charset="-122"/>
              <a:cs typeface="Arial" panose="020B0604020202020204" pitchFamily="34" charset="0"/>
            </a:endParaRPr>
          </a:p>
          <a:p>
            <a:pPr lvl="1">
              <a:lnSpc>
                <a:spcPct val="120000"/>
              </a:lnSpc>
            </a:pPr>
            <a:r>
              <a:rPr lang="en-US" altLang="zh-CN" sz="1600" b="1">
                <a:latin typeface="Arial" panose="020B0604020202020204" pitchFamily="34" charset="0"/>
                <a:ea typeface="楷体_GB2312" pitchFamily="49" charset="-122"/>
                <a:cs typeface="Arial" panose="020B0604020202020204" pitchFamily="34" charset="0"/>
              </a:rPr>
              <a:t>b.</a:t>
            </a:r>
            <a:r>
              <a:rPr lang="zh-CN" altLang="en-US" sz="1600" b="1">
                <a:latin typeface="Arial" panose="020B0604020202020204" pitchFamily="34" charset="0"/>
                <a:ea typeface="楷体_GB2312" pitchFamily="49" charset="-122"/>
                <a:cs typeface="Arial" panose="020B0604020202020204" pitchFamily="34" charset="0"/>
              </a:rPr>
              <a:t>In the adjacency list, identify all adjacent nodes w of vertex v. Decrease the in-degree of w by 1. If ws in-degree becomes zero, push it onto the stack and proceed to ⑶.</a:t>
            </a:r>
            <a:endParaRPr lang="zh-CN" altLang="en-US" sz="3200" b="1">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1600" b="1">
                <a:solidFill>
                  <a:srgbClr val="FF0000"/>
                </a:solidFill>
                <a:latin typeface="Arial" panose="020B0604020202020204" pitchFamily="34" charset="0"/>
                <a:ea typeface="楷体_GB2312" pitchFamily="49" charset="-122"/>
                <a:cs typeface="Arial" panose="020B0604020202020204" pitchFamily="34" charset="0"/>
              </a:rPr>
              <a:t>⑷ </a:t>
            </a:r>
            <a:r>
              <a:rPr lang="zh-CN" altLang="en-US" sz="2000" b="1">
                <a:latin typeface="Arial" panose="020B0604020202020204" pitchFamily="34" charset="0"/>
                <a:ea typeface="楷体_GB2312" pitchFamily="49" charset="-122"/>
                <a:cs typeface="Arial" panose="020B0604020202020204" pitchFamily="34" charset="0"/>
              </a:rPr>
              <a:t>When the stack is empty, if all vertices of the directed graph have been output, the topological sorting process ends normally; otherwise, it indicates that there is a directed loop in the directed graph.</a:t>
            </a:r>
            <a:endParaRPr lang="zh-CN" altLang="en-US" sz="2000" b="1">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3778">
                                            <p:txEl>
                                              <p:pRg st="4294967295" end="4294967295"/>
                                            </p:txEl>
                                          </p:spTgt>
                                        </p:tgtEl>
                                        <p:attrNameLst>
                                          <p:attrName>style.visibility</p:attrName>
                                        </p:attrNameLst>
                                      </p:cBhvr>
                                      <p:to>
                                        <p:strVal val="visible"/>
                                      </p:to>
                                    </p:set>
                                    <p:anim calcmode="lin" valueType="num">
                                      <p:cBhvr additive="base">
                                        <p:cTn id="7" dur="500" fill="hold"/>
                                        <p:tgtEl>
                                          <p:spTgt spid="203778">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3778">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3778">
                                            <p:txEl>
                                              <p:pRg st="0" end="0"/>
                                            </p:txEl>
                                          </p:spTgt>
                                        </p:tgtEl>
                                        <p:attrNameLst>
                                          <p:attrName>style.visibility</p:attrName>
                                        </p:attrNameLst>
                                      </p:cBhvr>
                                      <p:to>
                                        <p:strVal val="visible"/>
                                      </p:to>
                                    </p:set>
                                    <p:anim calcmode="lin" valueType="num">
                                      <p:cBhvr additive="base">
                                        <p:cTn id="13" dur="500" fill="hold"/>
                                        <p:tgtEl>
                                          <p:spTgt spid="20377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37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3778">
                                            <p:txEl>
                                              <p:pRg st="1" end="1"/>
                                            </p:txEl>
                                          </p:spTgt>
                                        </p:tgtEl>
                                        <p:attrNameLst>
                                          <p:attrName>style.visibility</p:attrName>
                                        </p:attrNameLst>
                                      </p:cBhvr>
                                      <p:to>
                                        <p:strVal val="visible"/>
                                      </p:to>
                                    </p:set>
                                    <p:anim calcmode="lin" valueType="num">
                                      <p:cBhvr additive="base">
                                        <p:cTn id="19" dur="500" fill="hold"/>
                                        <p:tgtEl>
                                          <p:spTgt spid="203778">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37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3778">
                                            <p:txEl>
                                              <p:pRg st="2" end="2"/>
                                            </p:txEl>
                                          </p:spTgt>
                                        </p:tgtEl>
                                        <p:attrNameLst>
                                          <p:attrName>style.visibility</p:attrName>
                                        </p:attrNameLst>
                                      </p:cBhvr>
                                      <p:to>
                                        <p:strVal val="visible"/>
                                      </p:to>
                                    </p:set>
                                    <p:anim calcmode="lin" valueType="num">
                                      <p:cBhvr additive="base">
                                        <p:cTn id="25" dur="500" fill="hold"/>
                                        <p:tgtEl>
                                          <p:spTgt spid="203778">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37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3778">
                                            <p:txEl>
                                              <p:pRg st="3" end="3"/>
                                            </p:txEl>
                                          </p:spTgt>
                                        </p:tgtEl>
                                        <p:attrNameLst>
                                          <p:attrName>style.visibility</p:attrName>
                                        </p:attrNameLst>
                                      </p:cBhvr>
                                      <p:to>
                                        <p:strVal val="visible"/>
                                      </p:to>
                                    </p:set>
                                    <p:anim calcmode="lin" valueType="num">
                                      <p:cBhvr additive="base">
                                        <p:cTn id="31" dur="500" fill="hold"/>
                                        <p:tgtEl>
                                          <p:spTgt spid="203778">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3778">
                                            <p:txEl>
                                              <p:pRg st="3" end="3"/>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03778">
                                            <p:txEl>
                                              <p:pRg st="4" end="4"/>
                                            </p:txEl>
                                          </p:spTgt>
                                        </p:tgtEl>
                                        <p:attrNameLst>
                                          <p:attrName>style.visibility</p:attrName>
                                        </p:attrNameLst>
                                      </p:cBhvr>
                                      <p:to>
                                        <p:strVal val="visible"/>
                                      </p:to>
                                    </p:set>
                                    <p:anim calcmode="lin" valueType="num">
                                      <p:cBhvr additive="base">
                                        <p:cTn id="35" dur="500" fill="hold"/>
                                        <p:tgtEl>
                                          <p:spTgt spid="203778">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03778">
                                            <p:txEl>
                                              <p:pRg st="4" end="4"/>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03778">
                                            <p:txEl>
                                              <p:pRg st="5" end="5"/>
                                            </p:txEl>
                                          </p:spTgt>
                                        </p:tgtEl>
                                        <p:attrNameLst>
                                          <p:attrName>style.visibility</p:attrName>
                                        </p:attrNameLst>
                                      </p:cBhvr>
                                      <p:to>
                                        <p:strVal val="visible"/>
                                      </p:to>
                                    </p:set>
                                    <p:anim calcmode="lin" valueType="num">
                                      <p:cBhvr additive="base">
                                        <p:cTn id="39" dur="500" fill="hold"/>
                                        <p:tgtEl>
                                          <p:spTgt spid="203778">
                                            <p:txEl>
                                              <p:pRg st="5" end="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0377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03778">
                                            <p:txEl>
                                              <p:pRg st="6" end="6"/>
                                            </p:txEl>
                                          </p:spTgt>
                                        </p:tgtEl>
                                        <p:attrNameLst>
                                          <p:attrName>style.visibility</p:attrName>
                                        </p:attrNameLst>
                                      </p:cBhvr>
                                      <p:to>
                                        <p:strVal val="visible"/>
                                      </p:to>
                                    </p:set>
                                    <p:anim calcmode="lin" valueType="num">
                                      <p:cBhvr additive="base">
                                        <p:cTn id="45" dur="500" fill="hold"/>
                                        <p:tgtEl>
                                          <p:spTgt spid="203778">
                                            <p:txEl>
                                              <p:pRg st="6" end="6"/>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0377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utoUpdateAnimBg="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Text Box 3"/>
          <p:cNvSpPr txBox="1">
            <a:spLocks noChangeArrowheads="1"/>
          </p:cNvSpPr>
          <p:nvPr/>
        </p:nvSpPr>
        <p:spPr bwMode="auto">
          <a:xfrm>
            <a:off x="755576" y="2492896"/>
            <a:ext cx="7858125" cy="4218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3200" dirty="0" err="1">
                <a:solidFill>
                  <a:srgbClr val="000099"/>
                </a:solidFill>
                <a:ea typeface="楷体_GB2312" pitchFamily="49" charset="-122"/>
              </a:rPr>
              <a:t>FindInDegree</a:t>
            </a:r>
            <a:r>
              <a:rPr lang="en-US" altLang="zh-CN" sz="3200" dirty="0">
                <a:solidFill>
                  <a:srgbClr val="000099"/>
                </a:solidFill>
                <a:ea typeface="楷体_GB2312" pitchFamily="49" charset="-122"/>
              </a:rPr>
              <a:t>(</a:t>
            </a:r>
            <a:r>
              <a:rPr lang="en-US" altLang="zh-CN" sz="3200" dirty="0" err="1">
                <a:solidFill>
                  <a:srgbClr val="000099"/>
                </a:solidFill>
                <a:ea typeface="楷体_GB2312" pitchFamily="49" charset="-122"/>
              </a:rPr>
              <a:t>G,indegree</a:t>
            </a:r>
            <a:r>
              <a:rPr lang="en-US" altLang="zh-CN" sz="3200" dirty="0">
                <a:solidFill>
                  <a:srgbClr val="000099"/>
                </a:solidFill>
                <a:ea typeface="楷体_GB2312" pitchFamily="49" charset="-122"/>
              </a:rPr>
              <a:t>);</a:t>
            </a:r>
            <a:endParaRPr lang="en-US" altLang="zh-CN" sz="3200" dirty="0">
              <a:solidFill>
                <a:srgbClr val="000099"/>
              </a:solidFill>
              <a:ea typeface="楷体_GB2312" pitchFamily="49" charset="-122"/>
            </a:endParaRPr>
          </a:p>
          <a:p>
            <a:pPr>
              <a:lnSpc>
                <a:spcPct val="110000"/>
              </a:lnSpc>
            </a:pPr>
            <a:r>
              <a:rPr lang="en-US" altLang="zh-CN" sz="3200" dirty="0">
                <a:solidFill>
                  <a:srgbClr val="0000FF"/>
                </a:solidFill>
                <a:ea typeface="楷体_GB2312" pitchFamily="49" charset="-122"/>
              </a:rPr>
              <a:t>            </a:t>
            </a:r>
            <a:r>
              <a:rPr lang="en-US" altLang="zh-CN" b="1" dirty="0">
                <a:solidFill>
                  <a:srgbClr val="008000"/>
                </a:solidFill>
                <a:ea typeface="楷体_GB2312" pitchFamily="49" charset="-122"/>
              </a:rPr>
              <a:t>// </a:t>
            </a:r>
            <a:r>
              <a:rPr lang="en-US" altLang="zh-CN" b="1" dirty="0">
                <a:solidFill>
                  <a:srgbClr val="008000"/>
                </a:solidFill>
                <a:ea typeface="楷体_GB2312" pitchFamily="49" charset="-122"/>
                <a:sym typeface="+mn-ea"/>
              </a:rPr>
              <a:t>Calculate the in-degree of each vertex and store it in the indegree array.</a:t>
            </a:r>
            <a:endParaRPr lang="zh-CN" altLang="en-US" b="1" dirty="0">
              <a:solidFill>
                <a:srgbClr val="008000"/>
              </a:solidFill>
              <a:ea typeface="楷体_GB2312" pitchFamily="49" charset="-122"/>
            </a:endParaRPr>
          </a:p>
          <a:p>
            <a:pPr>
              <a:lnSpc>
                <a:spcPct val="110000"/>
              </a:lnSpc>
            </a:pPr>
            <a:r>
              <a:rPr lang="en-US" altLang="zh-CN" sz="3200" dirty="0" err="1">
                <a:solidFill>
                  <a:srgbClr val="800000"/>
                </a:solidFill>
              </a:rPr>
              <a:t>InitStack</a:t>
            </a:r>
            <a:r>
              <a:rPr lang="en-US" altLang="zh-CN" sz="3200" dirty="0">
                <a:solidFill>
                  <a:srgbClr val="800000"/>
                </a:solidFill>
              </a:rPr>
              <a:t>(S);</a:t>
            </a:r>
            <a:endParaRPr lang="en-US" altLang="zh-CN" sz="3200" dirty="0">
              <a:solidFill>
                <a:srgbClr val="800000"/>
              </a:solidFill>
            </a:endParaRPr>
          </a:p>
          <a:p>
            <a:pPr>
              <a:lnSpc>
                <a:spcPct val="110000"/>
              </a:lnSpc>
            </a:pPr>
            <a:r>
              <a:rPr lang="en-US" altLang="zh-CN" sz="3200" b="1" dirty="0">
                <a:solidFill>
                  <a:srgbClr val="000099"/>
                </a:solidFill>
              </a:rPr>
              <a:t>for</a:t>
            </a:r>
            <a:r>
              <a:rPr lang="en-US" altLang="zh-CN" sz="3200" dirty="0">
                <a:solidFill>
                  <a:srgbClr val="000099"/>
                </a:solidFill>
              </a:rPr>
              <a:t> ( </a:t>
            </a:r>
            <a:r>
              <a:rPr lang="en-US" altLang="zh-CN" sz="3200" dirty="0" err="1">
                <a:solidFill>
                  <a:srgbClr val="000099"/>
                </a:solidFill>
              </a:rPr>
              <a:t>i</a:t>
            </a:r>
            <a:r>
              <a:rPr lang="en-US" altLang="zh-CN" sz="3200" dirty="0">
                <a:solidFill>
                  <a:srgbClr val="000099"/>
                </a:solidFill>
              </a:rPr>
              <a:t>=0; </a:t>
            </a:r>
            <a:r>
              <a:rPr lang="en-US" altLang="zh-CN" sz="3200" dirty="0" err="1">
                <a:solidFill>
                  <a:srgbClr val="000099"/>
                </a:solidFill>
              </a:rPr>
              <a:t>i</a:t>
            </a:r>
            <a:r>
              <a:rPr lang="en-US" altLang="zh-CN" sz="3200" dirty="0">
                <a:solidFill>
                  <a:srgbClr val="000099"/>
                </a:solidFill>
              </a:rPr>
              <a:t>&lt;</a:t>
            </a:r>
            <a:r>
              <a:rPr lang="en-US" altLang="zh-CN" sz="3200" dirty="0" err="1">
                <a:solidFill>
                  <a:srgbClr val="000099"/>
                </a:solidFill>
              </a:rPr>
              <a:t>G.vexnum</a:t>
            </a:r>
            <a:r>
              <a:rPr lang="en-US" altLang="zh-CN" sz="3200" dirty="0">
                <a:solidFill>
                  <a:srgbClr val="000099"/>
                </a:solidFill>
              </a:rPr>
              <a:t>; ++</a:t>
            </a:r>
            <a:r>
              <a:rPr lang="en-US" altLang="zh-CN" sz="3200" dirty="0" err="1">
                <a:solidFill>
                  <a:srgbClr val="000099"/>
                </a:solidFill>
              </a:rPr>
              <a:t>i</a:t>
            </a:r>
            <a:r>
              <a:rPr lang="en-US" altLang="zh-CN" sz="3200" dirty="0">
                <a:solidFill>
                  <a:srgbClr val="000099"/>
                </a:solidFill>
              </a:rPr>
              <a:t>)</a:t>
            </a:r>
            <a:endParaRPr lang="en-US" altLang="zh-CN" sz="3200" dirty="0">
              <a:solidFill>
                <a:srgbClr val="000099"/>
              </a:solidFill>
            </a:endParaRPr>
          </a:p>
          <a:p>
            <a:pPr>
              <a:lnSpc>
                <a:spcPct val="110000"/>
              </a:lnSpc>
            </a:pPr>
            <a:r>
              <a:rPr lang="en-US" altLang="zh-CN" sz="3200" dirty="0">
                <a:solidFill>
                  <a:srgbClr val="0000FF"/>
                </a:solidFill>
              </a:rPr>
              <a:t>    </a:t>
            </a:r>
            <a:r>
              <a:rPr lang="en-US" altLang="zh-CN" sz="3200" b="1" dirty="0">
                <a:solidFill>
                  <a:srgbClr val="800000"/>
                </a:solidFill>
              </a:rPr>
              <a:t>if </a:t>
            </a:r>
            <a:r>
              <a:rPr lang="en-US" altLang="zh-CN" sz="3200" dirty="0">
                <a:solidFill>
                  <a:srgbClr val="800000"/>
                </a:solidFill>
              </a:rPr>
              <a:t>(!</a:t>
            </a:r>
            <a:r>
              <a:rPr lang="en-US" altLang="zh-CN" sz="3200" dirty="0" err="1">
                <a:solidFill>
                  <a:srgbClr val="800000"/>
                </a:solidFill>
              </a:rPr>
              <a:t>indegree</a:t>
            </a:r>
            <a:r>
              <a:rPr lang="en-US" altLang="zh-CN" sz="3200" dirty="0">
                <a:solidFill>
                  <a:srgbClr val="800000"/>
                </a:solidFill>
              </a:rPr>
              <a:t>[</a:t>
            </a:r>
            <a:r>
              <a:rPr lang="en-US" altLang="zh-CN" sz="3200" dirty="0" err="1">
                <a:solidFill>
                  <a:srgbClr val="800000"/>
                </a:solidFill>
              </a:rPr>
              <a:t>i</a:t>
            </a:r>
            <a:r>
              <a:rPr lang="en-US" altLang="zh-CN" sz="3200" dirty="0">
                <a:solidFill>
                  <a:srgbClr val="800000"/>
                </a:solidFill>
              </a:rPr>
              <a:t>])  Push(S, </a:t>
            </a:r>
            <a:r>
              <a:rPr lang="en-US" altLang="zh-CN" sz="3200" dirty="0" err="1">
                <a:solidFill>
                  <a:srgbClr val="800000"/>
                </a:solidFill>
              </a:rPr>
              <a:t>i</a:t>
            </a:r>
            <a:r>
              <a:rPr lang="en-US" altLang="zh-CN" sz="3200" dirty="0">
                <a:solidFill>
                  <a:srgbClr val="800000"/>
                </a:solidFill>
              </a:rPr>
              <a:t>);</a:t>
            </a:r>
            <a:endParaRPr lang="en-US" altLang="zh-CN" sz="3200" dirty="0">
              <a:solidFill>
                <a:srgbClr val="0000FF"/>
              </a:solidFill>
            </a:endParaRPr>
          </a:p>
          <a:p>
            <a:pPr>
              <a:lnSpc>
                <a:spcPct val="110000"/>
              </a:lnSpc>
            </a:pPr>
            <a:r>
              <a:rPr lang="en-US" altLang="zh-CN" b="1" dirty="0">
                <a:solidFill>
                  <a:srgbClr val="008000"/>
                </a:solidFill>
                <a:ea typeface="楷体_GB2312" pitchFamily="49" charset="-122"/>
              </a:rPr>
              <a:t>// </a:t>
            </a:r>
            <a:r>
              <a:rPr lang="en-US" altLang="zh-CN" b="1" dirty="0">
                <a:solidFill>
                  <a:srgbClr val="008000"/>
                </a:solidFill>
                <a:ea typeface="楷体_GB2312" pitchFamily="49" charset="-122"/>
                <a:sym typeface="+mn-ea"/>
              </a:rPr>
              <a:t>Push vertex with zero degree into stack</a:t>
            </a:r>
            <a:endParaRPr lang="zh-CN" altLang="en-US" b="1" dirty="0">
              <a:solidFill>
                <a:srgbClr val="008000"/>
              </a:solidFill>
              <a:ea typeface="楷体_GB2312" pitchFamily="49" charset="-122"/>
            </a:endParaRPr>
          </a:p>
          <a:p>
            <a:pPr>
              <a:lnSpc>
                <a:spcPct val="110000"/>
              </a:lnSpc>
            </a:pPr>
            <a:endParaRPr lang="zh-CN" altLang="en-US" b="1" dirty="0">
              <a:solidFill>
                <a:srgbClr val="008000"/>
              </a:solidFill>
              <a:ea typeface="楷体_GB2312" pitchFamily="49" charset="-122"/>
            </a:endParaRPr>
          </a:p>
        </p:txBody>
      </p:sp>
      <p:sp>
        <p:nvSpPr>
          <p:cNvPr id="204804" name="Text Box 4"/>
          <p:cNvSpPr txBox="1">
            <a:spLocks noChangeArrowheads="1"/>
          </p:cNvSpPr>
          <p:nvPr/>
        </p:nvSpPr>
        <p:spPr bwMode="auto">
          <a:xfrm>
            <a:off x="457200" y="620713"/>
            <a:ext cx="8435280" cy="184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dirty="0" err="1">
                <a:solidFill>
                  <a:srgbClr val="000099"/>
                </a:solidFill>
                <a:ea typeface="楷体_GB2312" pitchFamily="49" charset="-122"/>
              </a:rPr>
              <a:t>TopologicalSort</a:t>
            </a:r>
            <a:r>
              <a:rPr lang="en-US" altLang="zh-CN" sz="3200" dirty="0">
                <a:solidFill>
                  <a:srgbClr val="000099"/>
                </a:solidFill>
                <a:ea typeface="楷体_GB2312" pitchFamily="49" charset="-122"/>
              </a:rPr>
              <a:t>(</a:t>
            </a:r>
            <a:r>
              <a:rPr lang="en-US" altLang="zh-CN" sz="3200" dirty="0" err="1">
                <a:solidFill>
                  <a:srgbClr val="000099"/>
                </a:solidFill>
                <a:ea typeface="楷体_GB2312" pitchFamily="49" charset="-122"/>
              </a:rPr>
              <a:t>ALGraph</a:t>
            </a:r>
            <a:r>
              <a:rPr lang="en-US" altLang="zh-CN" sz="3200" dirty="0">
                <a:solidFill>
                  <a:srgbClr val="000099"/>
                </a:solidFill>
                <a:ea typeface="楷体_GB2312" pitchFamily="49" charset="-122"/>
              </a:rPr>
              <a:t> G) {</a:t>
            </a:r>
            <a:endParaRPr lang="en-US" altLang="zh-CN" sz="3200" dirty="0">
              <a:solidFill>
                <a:srgbClr val="000099"/>
              </a:solidFill>
              <a:ea typeface="楷体_GB2312" pitchFamily="49" charset="-122"/>
            </a:endParaRPr>
          </a:p>
          <a:p>
            <a:pPr>
              <a:spcBef>
                <a:spcPct val="50000"/>
              </a:spcBef>
            </a:pPr>
            <a:r>
              <a:rPr lang="en-US" altLang="zh-CN" sz="2400" dirty="0">
                <a:solidFill>
                  <a:srgbClr val="000099"/>
                </a:solidFill>
                <a:ea typeface="楷体_GB2312" pitchFamily="49" charset="-122"/>
              </a:rPr>
              <a:t>    </a:t>
            </a:r>
            <a:r>
              <a:rPr lang="en-US" altLang="zh-CN" b="1" dirty="0">
                <a:solidFill>
                  <a:srgbClr val="008000"/>
                </a:solidFill>
                <a:ea typeface="楷体_GB2312" pitchFamily="49" charset="-122"/>
              </a:rPr>
              <a:t>//</a:t>
            </a:r>
            <a:r>
              <a:rPr lang="en-US" altLang="zh-CN" sz="2000" b="1" dirty="0">
                <a:solidFill>
                  <a:srgbClr val="008000"/>
                </a:solidFill>
                <a:ea typeface="楷体_GB2312" pitchFamily="49" charset="-122"/>
                <a:cs typeface="Times New Roman" panose="02020603050405020304" pitchFamily="18" charset="0"/>
                <a:sym typeface="+mn-ea"/>
              </a:rPr>
              <a:t>The directed graph uses an adjacency list storage structure. If G has no cycles, it outputs a topological sequence of Gs vertices and returns OK; otherwise, it returns ERROR.</a:t>
            </a:r>
            <a:endParaRPr lang="en-US" altLang="zh-CN" sz="2000" b="1" dirty="0">
              <a:solidFill>
                <a:srgbClr val="008000"/>
              </a:solidFill>
              <a:ea typeface="楷体_GB2312" pitchFamily="49" charset="-122"/>
              <a:cs typeface="Times New Roman" panose="02020603050405020304" pitchFamily="18" charset="0"/>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152400" y="0"/>
            <a:ext cx="8763000" cy="5536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a:solidFill>
                  <a:srgbClr val="000099"/>
                </a:solidFill>
              </a:rPr>
              <a:t>count=0;             </a:t>
            </a:r>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Count the output vertices</a:t>
            </a:r>
            <a:endParaRPr lang="zh-CN" altLang="en-US" sz="2400" b="1">
              <a:solidFill>
                <a:srgbClr val="003300"/>
              </a:solidFill>
              <a:ea typeface="楷体_GB2312" pitchFamily="49" charset="-122"/>
            </a:endParaRPr>
          </a:p>
          <a:p>
            <a:pPr>
              <a:lnSpc>
                <a:spcPct val="110000"/>
              </a:lnSpc>
            </a:pPr>
            <a:r>
              <a:rPr lang="en-US" altLang="zh-CN" b="1">
                <a:solidFill>
                  <a:srgbClr val="000099"/>
                </a:solidFill>
                <a:ea typeface="楷体_GB2312" pitchFamily="49" charset="-122"/>
              </a:rPr>
              <a:t>while</a:t>
            </a:r>
            <a:r>
              <a:rPr lang="en-US" altLang="zh-CN">
                <a:solidFill>
                  <a:srgbClr val="000099"/>
                </a:solidFill>
                <a:ea typeface="楷体_GB2312" pitchFamily="49" charset="-122"/>
              </a:rPr>
              <a:t> (!EmptyStack(S)) {</a:t>
            </a:r>
            <a:endParaRPr lang="en-US" altLang="zh-CN">
              <a:solidFill>
                <a:srgbClr val="000099"/>
              </a:solidFill>
              <a:ea typeface="楷体_GB2312" pitchFamily="49" charset="-122"/>
            </a:endParaRPr>
          </a:p>
          <a:p>
            <a:pPr>
              <a:lnSpc>
                <a:spcPct val="110000"/>
              </a:lnSpc>
            </a:pPr>
            <a:r>
              <a:rPr lang="en-US" altLang="zh-CN">
                <a:solidFill>
                  <a:srgbClr val="000099"/>
                </a:solidFill>
                <a:ea typeface="楷体_GB2312" pitchFamily="49" charset="-122"/>
              </a:rPr>
              <a:t>    </a:t>
            </a:r>
            <a:r>
              <a:rPr lang="en-US" altLang="zh-CN">
                <a:solidFill>
                  <a:srgbClr val="800000"/>
                </a:solidFill>
                <a:ea typeface="楷体_GB2312" pitchFamily="49" charset="-122"/>
              </a:rPr>
              <a:t>Pop(S, v);</a:t>
            </a:r>
            <a:r>
              <a:rPr lang="en-US" altLang="zh-CN">
                <a:solidFill>
                  <a:srgbClr val="000099"/>
                </a:solidFill>
                <a:ea typeface="楷体_GB2312" pitchFamily="49" charset="-122"/>
              </a:rPr>
              <a:t>  ++count;  </a:t>
            </a:r>
            <a:r>
              <a:rPr lang="en-US" altLang="zh-CN" b="1">
                <a:solidFill>
                  <a:srgbClr val="000099"/>
                </a:solidFill>
                <a:ea typeface="楷体_GB2312" pitchFamily="49" charset="-122"/>
              </a:rPr>
              <a:t>printf</a:t>
            </a:r>
            <a:r>
              <a:rPr lang="en-US" altLang="zh-CN">
                <a:solidFill>
                  <a:srgbClr val="000099"/>
                </a:solidFill>
                <a:ea typeface="楷体_GB2312" pitchFamily="49" charset="-122"/>
              </a:rPr>
              <a:t>(v);</a:t>
            </a:r>
            <a:endParaRPr lang="en-US" altLang="zh-CN">
              <a:solidFill>
                <a:srgbClr val="000099"/>
              </a:solidFill>
              <a:ea typeface="楷体_GB2312" pitchFamily="49" charset="-122"/>
            </a:endParaRPr>
          </a:p>
          <a:p>
            <a:pPr>
              <a:lnSpc>
                <a:spcPct val="110000"/>
              </a:lnSpc>
            </a:pPr>
            <a:r>
              <a:rPr lang="en-US" altLang="zh-CN">
                <a:solidFill>
                  <a:srgbClr val="000099"/>
                </a:solidFill>
                <a:ea typeface="楷体_GB2312" pitchFamily="49" charset="-122"/>
              </a:rPr>
              <a:t>    </a:t>
            </a:r>
            <a:r>
              <a:rPr lang="en-US" altLang="zh-CN" b="1">
                <a:solidFill>
                  <a:srgbClr val="000099"/>
                </a:solidFill>
                <a:ea typeface="楷体_GB2312" pitchFamily="49" charset="-122"/>
              </a:rPr>
              <a:t>for</a:t>
            </a:r>
            <a:r>
              <a:rPr lang="en-US" altLang="zh-CN">
                <a:solidFill>
                  <a:srgbClr val="000099"/>
                </a:solidFill>
                <a:ea typeface="楷体_GB2312" pitchFamily="49" charset="-122"/>
              </a:rPr>
              <a:t> (w=FirstAdj(G,v); w!=0; w=NextAdj(G,v,w))</a:t>
            </a:r>
            <a:endParaRPr lang="en-US" altLang="zh-CN">
              <a:solidFill>
                <a:srgbClr val="000099"/>
              </a:solidFill>
              <a:ea typeface="楷体_GB2312" pitchFamily="49" charset="-122"/>
            </a:endParaRPr>
          </a:p>
          <a:p>
            <a:pPr>
              <a:lnSpc>
                <a:spcPct val="110000"/>
              </a:lnSpc>
            </a:pPr>
            <a:r>
              <a:rPr lang="en-US" altLang="zh-CN">
                <a:solidFill>
                  <a:srgbClr val="000099"/>
                </a:solidFill>
                <a:ea typeface="楷体_GB2312" pitchFamily="49" charset="-122"/>
              </a:rPr>
              <a:t>       { </a:t>
            </a:r>
            <a:r>
              <a:rPr lang="en-US" altLang="zh-CN">
                <a:solidFill>
                  <a:srgbClr val="800000"/>
                </a:solidFill>
                <a:ea typeface="楷体_GB2312" pitchFamily="49" charset="-122"/>
              </a:rPr>
              <a:t>--indegree[w];</a:t>
            </a:r>
            <a:r>
              <a:rPr lang="en-US" altLang="zh-CN">
                <a:solidFill>
                  <a:srgbClr val="000099"/>
                </a:solidFill>
                <a:ea typeface="楷体_GB2312" pitchFamily="49" charset="-122"/>
              </a:rPr>
              <a:t>  </a:t>
            </a:r>
            <a:r>
              <a:rPr lang="en-US" altLang="zh-CN" sz="2400" b="1">
                <a:solidFill>
                  <a:srgbClr val="003300"/>
                </a:solidFill>
                <a:ea typeface="楷体_GB2312" pitchFamily="49" charset="-122"/>
              </a:rPr>
              <a:t>// </a:t>
            </a:r>
            <a:r>
              <a:rPr lang="en-US" altLang="zh-CN" sz="1800">
                <a:solidFill>
                  <a:srgbClr val="000099"/>
                </a:solidFill>
                <a:ea typeface="楷体_GB2312" pitchFamily="49" charset="-122"/>
                <a:sym typeface="+mn-ea"/>
              </a:rPr>
              <a:t>Decrease the in-degree of the arc vertex by 1</a:t>
            </a:r>
            <a:endParaRPr lang="en-US" altLang="zh-CN" sz="2400" b="1">
              <a:solidFill>
                <a:srgbClr val="003300"/>
              </a:solidFill>
              <a:ea typeface="楷体_GB2312" pitchFamily="49" charset="-122"/>
            </a:endParaRPr>
          </a:p>
          <a:p>
            <a:pPr>
              <a:lnSpc>
                <a:spcPct val="110000"/>
              </a:lnSpc>
            </a:pPr>
            <a:r>
              <a:rPr lang="en-US" altLang="zh-CN">
                <a:solidFill>
                  <a:srgbClr val="000099"/>
                </a:solidFill>
                <a:ea typeface="楷体_GB2312" pitchFamily="49" charset="-122"/>
              </a:rPr>
              <a:t>   </a:t>
            </a:r>
            <a:r>
              <a:rPr lang="en-US" altLang="zh-CN" b="1">
                <a:solidFill>
                  <a:srgbClr val="000099"/>
                </a:solidFill>
                <a:ea typeface="楷体_GB2312" pitchFamily="49" charset="-122"/>
              </a:rPr>
              <a:t>       </a:t>
            </a:r>
            <a:r>
              <a:rPr lang="en-US" altLang="zh-CN" b="1">
                <a:solidFill>
                  <a:srgbClr val="800000"/>
                </a:solidFill>
              </a:rPr>
              <a:t>if</a:t>
            </a:r>
            <a:r>
              <a:rPr lang="en-US" altLang="zh-CN">
                <a:solidFill>
                  <a:srgbClr val="800000"/>
                </a:solidFill>
              </a:rPr>
              <a:t> (!indegree[w])  Push(S, w);</a:t>
            </a:r>
            <a:r>
              <a:rPr lang="en-US" altLang="zh-CN">
                <a:solidFill>
                  <a:srgbClr val="000099"/>
                </a:solidFill>
                <a:ea typeface="楷体_GB2312" pitchFamily="49" charset="-122"/>
              </a:rPr>
              <a:t>  </a:t>
            </a:r>
            <a:endParaRPr lang="en-US" altLang="zh-CN">
              <a:solidFill>
                <a:srgbClr val="000099"/>
              </a:solidFill>
              <a:ea typeface="楷体_GB2312" pitchFamily="49" charset="-122"/>
            </a:endParaRPr>
          </a:p>
          <a:p>
            <a:pPr>
              <a:lnSpc>
                <a:spcPct val="110000"/>
              </a:lnSpc>
            </a:pPr>
            <a:r>
              <a:rPr lang="en-US" altLang="zh-CN" sz="2400" b="1">
                <a:solidFill>
                  <a:srgbClr val="003300"/>
                </a:solidFill>
                <a:ea typeface="楷体_GB2312" pitchFamily="49" charset="-122"/>
              </a:rPr>
              <a:t>// </a:t>
            </a:r>
            <a:r>
              <a:rPr lang="en-US" altLang="zh-CN" sz="2400" b="1">
                <a:solidFill>
                  <a:srgbClr val="003300"/>
                </a:solidFill>
                <a:ea typeface="楷体_GB2312" pitchFamily="49" charset="-122"/>
                <a:sym typeface="+mn-ea"/>
              </a:rPr>
              <a:t>Push vertices with zero incoming degree into the stack</a:t>
            </a:r>
            <a:endParaRPr lang="zh-CN" altLang="en-US" sz="2400" b="1">
              <a:solidFill>
                <a:srgbClr val="003300"/>
              </a:solidFill>
              <a:ea typeface="楷体_GB2312" pitchFamily="49" charset="-122"/>
            </a:endParaRPr>
          </a:p>
          <a:p>
            <a:pPr>
              <a:lnSpc>
                <a:spcPct val="90000"/>
              </a:lnSpc>
            </a:pPr>
            <a:r>
              <a:rPr lang="zh-CN" altLang="en-US">
                <a:solidFill>
                  <a:srgbClr val="000099"/>
                </a:solidFill>
                <a:ea typeface="楷体_GB2312" pitchFamily="49" charset="-122"/>
              </a:rPr>
              <a:t>       </a:t>
            </a:r>
            <a:r>
              <a:rPr lang="en-US" altLang="zh-CN">
                <a:solidFill>
                  <a:srgbClr val="000099"/>
                </a:solidFill>
                <a:ea typeface="楷体_GB2312" pitchFamily="49" charset="-122"/>
              </a:rPr>
              <a:t>}</a:t>
            </a:r>
            <a:endParaRPr lang="en-US" altLang="zh-CN">
              <a:solidFill>
                <a:srgbClr val="000099"/>
              </a:solidFill>
              <a:ea typeface="楷体_GB2312" pitchFamily="49" charset="-122"/>
            </a:endParaRPr>
          </a:p>
          <a:p>
            <a:pPr>
              <a:lnSpc>
                <a:spcPct val="90000"/>
              </a:lnSpc>
            </a:pPr>
            <a:r>
              <a:rPr lang="en-US" altLang="zh-CN">
                <a:solidFill>
                  <a:srgbClr val="000099"/>
                </a:solidFill>
                <a:ea typeface="楷体_GB2312" pitchFamily="49" charset="-122"/>
              </a:rPr>
              <a:t>   }</a:t>
            </a:r>
            <a:endParaRPr lang="en-US" altLang="zh-CN">
              <a:solidFill>
                <a:srgbClr val="000099"/>
              </a:solidFill>
              <a:ea typeface="楷体_GB2312" pitchFamily="49" charset="-122"/>
            </a:endParaRPr>
          </a:p>
          <a:p>
            <a:pPr>
              <a:lnSpc>
                <a:spcPct val="110000"/>
              </a:lnSpc>
            </a:pPr>
            <a:r>
              <a:rPr lang="en-US" altLang="zh-CN" b="1">
                <a:solidFill>
                  <a:srgbClr val="000099"/>
                </a:solidFill>
                <a:ea typeface="楷体_GB2312" pitchFamily="49" charset="-122"/>
              </a:rPr>
              <a:t>if</a:t>
            </a:r>
            <a:r>
              <a:rPr lang="en-US" altLang="zh-CN">
                <a:solidFill>
                  <a:srgbClr val="000099"/>
                </a:solidFill>
                <a:ea typeface="楷体_GB2312" pitchFamily="49" charset="-122"/>
              </a:rPr>
              <a:t> (count&lt;G.vexnum) </a:t>
            </a:r>
            <a:r>
              <a:rPr lang="en-US" altLang="zh-CN" b="1">
                <a:solidFill>
                  <a:srgbClr val="000099"/>
                </a:solidFill>
                <a:ea typeface="楷体_GB2312" pitchFamily="49" charset="-122"/>
              </a:rPr>
              <a:t>printf</a:t>
            </a:r>
            <a:r>
              <a:rPr lang="en-US" altLang="zh-CN">
                <a:solidFill>
                  <a:srgbClr val="000099"/>
                </a:solidFill>
                <a:ea typeface="楷体_GB2312" pitchFamily="49" charset="-122"/>
              </a:rPr>
              <a:t>(“</a:t>
            </a:r>
            <a:r>
              <a:rPr lang="en-US" altLang="zh-CN" b="1">
                <a:solidFill>
                  <a:srgbClr val="000099"/>
                </a:solidFill>
                <a:ea typeface="楷体_GB2312" pitchFamily="49" charset="-122"/>
                <a:sym typeface="+mn-ea"/>
              </a:rPr>
              <a:t>ERROR: Loop detected in the graph</a:t>
            </a:r>
            <a:r>
              <a:rPr lang="en-US" altLang="zh-CN">
                <a:solidFill>
                  <a:srgbClr val="000099"/>
                </a:solidFill>
                <a:ea typeface="楷体_GB2312" pitchFamily="49" charset="-122"/>
              </a:rPr>
              <a:t>”)</a:t>
            </a:r>
            <a:endParaRPr lang="en-US" altLang="zh-CN">
              <a:solidFill>
                <a:srgbClr val="000099"/>
              </a:solidFill>
              <a:ea typeface="楷体_GB2312" pitchFamily="49" charset="-122"/>
            </a:endParaRPr>
          </a:p>
          <a:p>
            <a:pPr>
              <a:lnSpc>
                <a:spcPct val="110000"/>
              </a:lnSpc>
            </a:pPr>
            <a:r>
              <a:rPr lang="en-US" altLang="zh-CN" b="1">
                <a:solidFill>
                  <a:srgbClr val="000099"/>
                </a:solidFill>
                <a:ea typeface="楷体_GB2312" pitchFamily="49" charset="-122"/>
              </a:rPr>
              <a:t>else</a:t>
            </a:r>
            <a:r>
              <a:rPr lang="en-US" altLang="zh-CN">
                <a:solidFill>
                  <a:srgbClr val="000099"/>
                </a:solidFill>
                <a:ea typeface="楷体_GB2312" pitchFamily="49" charset="-122"/>
              </a:rPr>
              <a:t> return OK;</a:t>
            </a:r>
            <a:endParaRPr lang="en-US" altLang="zh-CN">
              <a:solidFill>
                <a:srgbClr val="000099"/>
              </a:solidFill>
              <a:ea typeface="楷体_GB2312" pitchFamily="49" charset="-122"/>
            </a:endParaRPr>
          </a:p>
        </p:txBody>
      </p:sp>
      <p:sp>
        <p:nvSpPr>
          <p:cNvPr id="205827" name="Rectangle 3"/>
          <p:cNvSpPr>
            <a:spLocks noChangeArrowheads="1"/>
          </p:cNvSpPr>
          <p:nvPr/>
        </p:nvSpPr>
        <p:spPr bwMode="auto">
          <a:xfrm>
            <a:off x="152400" y="5695950"/>
            <a:ext cx="292036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en-US" altLang="zh-CN">
                <a:solidFill>
                  <a:srgbClr val="000099"/>
                </a:solidFill>
                <a:ea typeface="楷体_GB2312" pitchFamily="49" charset="-122"/>
              </a:rPr>
              <a:t>}// TopologicalSort</a:t>
            </a:r>
            <a:endParaRPr lang="en-US" altLang="zh-CN">
              <a:solidFill>
                <a:srgbClr val="000099"/>
              </a:solidFill>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strips(upLeft)">
                                      <p:cBhvr>
                                        <p:cTn id="7" dur="500"/>
                                        <p:tgtEl>
                                          <p:spTgt spid="205826"/>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05827"/>
                                        </p:tgtEl>
                                        <p:attrNameLst>
                                          <p:attrName>style.visibility</p:attrName>
                                        </p:attrNameLst>
                                      </p:cBhvr>
                                      <p:to>
                                        <p:strVal val="visible"/>
                                      </p:to>
                                    </p:set>
                                    <p:anim calcmode="lin" valueType="num">
                                      <p:cBhvr additive="base">
                                        <p:cTn id="11" dur="500" fill="hold"/>
                                        <p:tgtEl>
                                          <p:spTgt spid="205827"/>
                                        </p:tgtEl>
                                        <p:attrNameLst>
                                          <p:attrName>ppt_x</p:attrName>
                                        </p:attrNameLst>
                                      </p:cBhvr>
                                      <p:tavLst>
                                        <p:tav tm="0">
                                          <p:val>
                                            <p:strVal val="0-#ppt_w/2"/>
                                          </p:val>
                                        </p:tav>
                                        <p:tav tm="100000">
                                          <p:val>
                                            <p:strVal val="#ppt_x"/>
                                          </p:val>
                                        </p:tav>
                                      </p:tavLst>
                                    </p:anim>
                                    <p:anim calcmode="lin" valueType="num">
                                      <p:cBhvr additive="base">
                                        <p:cTn id="12" dur="500" fill="hold"/>
                                        <p:tgtEl>
                                          <p:spTgt spid="2058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bldLvl="0" animBg="1" autoUpdateAnimBg="0"/>
      <p:bldP spid="205827" grpId="0" bldLvl="0" animBg="1"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Topological sorting requirements</a:t>
            </a:r>
            <a:endParaRPr lang="zh-CN" altLang="en-US" dirty="0"/>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sz="4400">
                <a:solidFill>
                  <a:srgbClr val="FF0000"/>
                </a:solidFill>
                <a:latin typeface="Times New Roman" panose="02020603050405020304" pitchFamily="18" charset="0"/>
                <a:cs typeface="Times New Roman" panose="02020603050405020304" pitchFamily="18" charset="0"/>
                <a:sym typeface="+mn-ea"/>
              </a:rPr>
              <a:t>Main content</a:t>
            </a:r>
            <a:endParaRPr lang="zh-CN" altLang="en-US" sz="4400"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内容占位符 2"/>
          <p:cNvSpPr>
            <a:spLocks noGrp="1"/>
          </p:cNvSpPr>
          <p:nvPr>
            <p:ph idx="1"/>
          </p:nvPr>
        </p:nvSpPr>
        <p:spPr/>
        <p:txBody>
          <a:bodyPr/>
          <a:lstStyle/>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Basic concepts of graph theory</a:t>
            </a:r>
            <a:endParaRPr lang="zh-CN" altLang="en-US" dirty="0">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storage representations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traversal</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Graph connectivity and spanning tree</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The shortest path between two vertices</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808080"/>
                </a:solidFill>
                <a:latin typeface="Times New Roman" panose="02020603050405020304" pitchFamily="18" charset="0"/>
                <a:cs typeface="Times New Roman" panose="02020603050405020304" pitchFamily="18" charset="0"/>
              </a:rPr>
              <a:t>Topological sorting</a:t>
            </a:r>
            <a:endParaRPr lang="zh-CN" altLang="en-US" dirty="0">
              <a:solidFill>
                <a:srgbClr val="808080"/>
              </a:solidFill>
              <a:latin typeface="Times New Roman" panose="02020603050405020304" pitchFamily="18" charset="0"/>
              <a:cs typeface="Times New Roman" panose="02020603050405020304" pitchFamily="18" charset="0"/>
            </a:endParaRPr>
          </a:p>
          <a:p>
            <a:pPr>
              <a:lnSpc>
                <a:spcPts val="4200"/>
              </a:lnSpc>
            </a:pPr>
            <a:r>
              <a:rPr lang="zh-CN" altLang="en-US" dirty="0">
                <a:solidFill>
                  <a:srgbClr val="FF0000"/>
                </a:solidFill>
                <a:latin typeface="Times New Roman" panose="02020603050405020304" pitchFamily="18" charset="0"/>
                <a:cs typeface="Times New Roman" panose="02020603050405020304" pitchFamily="18" charset="0"/>
              </a:rPr>
              <a:t>Critical paths</a:t>
            </a:r>
            <a:endParaRPr lang="zh-CN" altLang="en-US" dirty="0">
              <a:solidFill>
                <a:srgbClr val="FF0000"/>
              </a:solidFill>
              <a:latin typeface="Times New Roman" panose="02020603050405020304" pitchFamily="18" charset="0"/>
              <a:cs typeface="Times New Roman" panose="02020603050405020304" pitchFamily="18" charset="0"/>
            </a:endParaRPr>
          </a:p>
        </p:txBody>
      </p:sp>
      <p:sp>
        <p:nvSpPr>
          <p:cNvPr id="6" name="页脚占位符 5"/>
          <p:cNvSpPr>
            <a:spLocks noGrp="1"/>
          </p:cNvSpPr>
          <p:nvPr>
            <p:ph type="ftr" sz="quarter" idx="10"/>
          </p:nvPr>
        </p:nvSpPr>
        <p:spPr/>
        <p:txBody>
          <a:bodyPr/>
          <a:lstStyle/>
          <a:p>
            <a:pPr>
              <a:defRPr/>
            </a:pPr>
            <a:r>
              <a:rPr lang="en-US" altLang="zh-CN"/>
              <a:t>©Haiyang Liu, 2025</a:t>
            </a:r>
            <a:endParaRPr lang="en-US" altLang="zh-CN" dirty="0"/>
          </a:p>
        </p:txBody>
      </p:sp>
      <p:sp>
        <p:nvSpPr>
          <p:cNvPr id="7" name="灯片编号占位符 6"/>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2"/>
          <p:cNvSpPr txBox="1">
            <a:spLocks noChangeArrowheads="1"/>
          </p:cNvSpPr>
          <p:nvPr/>
        </p:nvSpPr>
        <p:spPr bwMode="auto">
          <a:xfrm>
            <a:off x="2482850" y="609600"/>
            <a:ext cx="5041900" cy="70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4000" b="1">
                <a:solidFill>
                  <a:srgbClr val="800000"/>
                </a:solidFill>
                <a:latin typeface="Arial" panose="020B0604020202020204" pitchFamily="34" charset="0"/>
                <a:ea typeface="楷体_GB2312" pitchFamily="49" charset="-122"/>
                <a:cs typeface="Arial" panose="020B0604020202020204" pitchFamily="34" charset="0"/>
              </a:rPr>
              <a:t>7.7 Critical Path</a:t>
            </a:r>
            <a:endParaRPr lang="en-US" altLang="zh-CN" sz="40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06851" name="Rectangle 3"/>
          <p:cNvSpPr>
            <a:spLocks noChangeArrowheads="1"/>
          </p:cNvSpPr>
          <p:nvPr/>
        </p:nvSpPr>
        <p:spPr bwMode="auto">
          <a:xfrm>
            <a:off x="533400" y="1905000"/>
            <a:ext cx="8610600" cy="344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p>
            <a:pPr>
              <a:spcAft>
                <a:spcPct val="40000"/>
              </a:spcAft>
            </a:pPr>
            <a:r>
              <a:rPr lang="en-US" altLang="zh-CN" b="1" dirty="0">
                <a:latin typeface="Arial" panose="020B0604020202020204" pitchFamily="34" charset="0"/>
                <a:ea typeface="楷体_GB2312" pitchFamily="49" charset="-122"/>
                <a:cs typeface="Arial" panose="020B0604020202020204" pitchFamily="34" charset="0"/>
              </a:rPr>
              <a:t>AOE-Net (Active On Edge):</a:t>
            </a:r>
            <a:endParaRPr lang="zh-CN" altLang="en-US" b="1" dirty="0">
              <a:latin typeface="Arial" panose="020B0604020202020204" pitchFamily="34" charset="0"/>
              <a:ea typeface="楷体_GB2312" pitchFamily="49" charset="-122"/>
              <a:cs typeface="Arial" panose="020B0604020202020204" pitchFamily="34" charset="0"/>
            </a:endParaRPr>
          </a:p>
          <a:p>
            <a:pPr>
              <a:spcAft>
                <a:spcPct val="40000"/>
              </a:spcAft>
            </a:pPr>
            <a:r>
              <a:rPr lang="zh-CN" altLang="en-US" b="1" dirty="0">
                <a:latin typeface="Arial" panose="020B0604020202020204" pitchFamily="34" charset="0"/>
                <a:ea typeface="楷体_GB2312" pitchFamily="49" charset="-122"/>
                <a:cs typeface="Arial" panose="020B0604020202020204" pitchFamily="34" charset="0"/>
              </a:rPr>
              <a:t>A weighted directed acyclic graph (WDDAG) is defined as an AOE-network, where </a:t>
            </a:r>
            <a:r>
              <a:rPr lang="zh-CN" altLang="en-US" b="1" dirty="0">
                <a:solidFill>
                  <a:srgbClr val="A50021"/>
                </a:solidFill>
                <a:latin typeface="Arial" panose="020B0604020202020204" pitchFamily="34" charset="0"/>
                <a:ea typeface="楷体_GB2312" pitchFamily="49" charset="-122"/>
                <a:cs typeface="Arial" panose="020B0604020202020204" pitchFamily="34" charset="0"/>
              </a:rPr>
              <a:t>vertices represent events, arcs represent activities, and the weights on arcs indicate activity durations</a:t>
            </a:r>
            <a:r>
              <a:rPr lang="zh-CN" altLang="en-US" b="1" dirty="0">
                <a:latin typeface="Arial" panose="020B0604020202020204" pitchFamily="34" charset="0"/>
                <a:ea typeface="楷体_GB2312" pitchFamily="49" charset="-122"/>
                <a:cs typeface="Arial" panose="020B0604020202020204" pitchFamily="34" charset="0"/>
              </a:rPr>
              <a:t>.</a:t>
            </a:r>
            <a:endParaRPr lang="zh-CN" altLang="en-US" b="1" dirty="0">
              <a:solidFill>
                <a:srgbClr val="A50021"/>
              </a:solidFill>
              <a:latin typeface="Arial" panose="020B0604020202020204" pitchFamily="34" charset="0"/>
              <a:ea typeface="楷体_GB2312" pitchFamily="49" charset="-122"/>
              <a:cs typeface="Arial" panose="020B0604020202020204" pitchFamily="34" charset="0"/>
            </a:endParaRPr>
          </a:p>
          <a:p>
            <a:pPr>
              <a:spcAft>
                <a:spcPct val="40000"/>
              </a:spcAft>
            </a:pPr>
            <a:r>
              <a:rPr lang="en-US" altLang="zh-CN" b="1" dirty="0">
                <a:latin typeface="Arial" panose="020B0604020202020204" pitchFamily="34" charset="0"/>
                <a:ea typeface="楷体_GB2312" pitchFamily="49" charset="-122"/>
                <a:cs typeface="Arial" panose="020B0604020202020204" pitchFamily="34" charset="0"/>
              </a:rPr>
              <a:t>AOE-Net can be used to estimate the completion time of the project.</a:t>
            </a:r>
            <a:endParaRPr lang="zh-CN" altLang="en-US" b="1" dirty="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slide(fromTop)">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06851">
                                            <p:txEl>
                                              <p:pRg st="4294967295" end="4294967295"/>
                                            </p:txEl>
                                          </p:spTgt>
                                        </p:tgtEl>
                                        <p:attrNameLst>
                                          <p:attrName>style.visibility</p:attrName>
                                        </p:attrNameLst>
                                      </p:cBhvr>
                                      <p:to>
                                        <p:strVal val="visible"/>
                                      </p:to>
                                    </p:set>
                                    <p:anim calcmode="lin" valueType="num">
                                      <p:cBhvr additive="base">
                                        <p:cTn id="12" dur="500" fill="hold"/>
                                        <p:tgtEl>
                                          <p:spTgt spid="206851">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06851">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06851">
                                            <p:txEl>
                                              <p:pRg st="0" end="0"/>
                                            </p:txEl>
                                          </p:spTgt>
                                        </p:tgtEl>
                                        <p:attrNameLst>
                                          <p:attrName>style.visibility</p:attrName>
                                        </p:attrNameLst>
                                      </p:cBhvr>
                                      <p:to>
                                        <p:strVal val="visible"/>
                                      </p:to>
                                    </p:set>
                                    <p:anim calcmode="lin" valueType="num">
                                      <p:cBhvr additive="base">
                                        <p:cTn id="18" dur="500" fill="hold"/>
                                        <p:tgtEl>
                                          <p:spTgt spid="206851">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068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06851">
                                            <p:txEl>
                                              <p:pRg st="1" end="1"/>
                                            </p:txEl>
                                          </p:spTgt>
                                        </p:tgtEl>
                                        <p:attrNameLst>
                                          <p:attrName>style.visibility</p:attrName>
                                        </p:attrNameLst>
                                      </p:cBhvr>
                                      <p:to>
                                        <p:strVal val="visible"/>
                                      </p:to>
                                    </p:set>
                                    <p:anim calcmode="lin" valueType="num">
                                      <p:cBhvr additive="base">
                                        <p:cTn id="24" dur="500" fill="hold"/>
                                        <p:tgtEl>
                                          <p:spTgt spid="206851">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2068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06851">
                                            <p:txEl>
                                              <p:pRg st="2" end="2"/>
                                            </p:txEl>
                                          </p:spTgt>
                                        </p:tgtEl>
                                        <p:attrNameLst>
                                          <p:attrName>style.visibility</p:attrName>
                                        </p:attrNameLst>
                                      </p:cBhvr>
                                      <p:to>
                                        <p:strVal val="visible"/>
                                      </p:to>
                                    </p:set>
                                    <p:anim calcmode="lin" valueType="num">
                                      <p:cBhvr additive="base">
                                        <p:cTn id="30" dur="500" fill="hold"/>
                                        <p:tgtEl>
                                          <p:spTgt spid="206851">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0685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bldLvl="0" animBg="1" autoUpdateAnimBg="0"/>
      <p:bldP spid="206851" grpId="0" autoUpdateAnimBg="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Oval 2"/>
          <p:cNvSpPr>
            <a:spLocks noChangeArrowheads="1"/>
          </p:cNvSpPr>
          <p:nvPr/>
        </p:nvSpPr>
        <p:spPr bwMode="auto">
          <a:xfrm>
            <a:off x="1447800" y="21336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a</a:t>
            </a:r>
            <a:endParaRPr lang="en-US" altLang="zh-CN" sz="3200"/>
          </a:p>
        </p:txBody>
      </p:sp>
      <p:sp>
        <p:nvSpPr>
          <p:cNvPr id="207875" name="Oval 3"/>
          <p:cNvSpPr>
            <a:spLocks noChangeArrowheads="1"/>
          </p:cNvSpPr>
          <p:nvPr/>
        </p:nvSpPr>
        <p:spPr bwMode="auto">
          <a:xfrm>
            <a:off x="2971800" y="1295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b</a:t>
            </a:r>
            <a:endParaRPr lang="en-US" altLang="zh-CN" sz="3200"/>
          </a:p>
        </p:txBody>
      </p:sp>
      <p:sp>
        <p:nvSpPr>
          <p:cNvPr id="207876" name="Oval 4"/>
          <p:cNvSpPr>
            <a:spLocks noChangeArrowheads="1"/>
          </p:cNvSpPr>
          <p:nvPr/>
        </p:nvSpPr>
        <p:spPr bwMode="auto">
          <a:xfrm>
            <a:off x="2971800" y="31242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c</a:t>
            </a:r>
            <a:endParaRPr lang="en-US" altLang="zh-CN" sz="3200"/>
          </a:p>
        </p:txBody>
      </p:sp>
      <p:sp>
        <p:nvSpPr>
          <p:cNvPr id="207877" name="Oval 5"/>
          <p:cNvSpPr>
            <a:spLocks noChangeArrowheads="1"/>
          </p:cNvSpPr>
          <p:nvPr/>
        </p:nvSpPr>
        <p:spPr bwMode="auto">
          <a:xfrm>
            <a:off x="2057400" y="4038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d</a:t>
            </a:r>
            <a:endParaRPr lang="en-US" altLang="zh-CN" sz="3200"/>
          </a:p>
        </p:txBody>
      </p:sp>
      <p:sp>
        <p:nvSpPr>
          <p:cNvPr id="207878" name="Oval 6"/>
          <p:cNvSpPr>
            <a:spLocks noChangeArrowheads="1"/>
          </p:cNvSpPr>
          <p:nvPr/>
        </p:nvSpPr>
        <p:spPr bwMode="auto">
          <a:xfrm>
            <a:off x="4495800" y="22098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e</a:t>
            </a:r>
            <a:endParaRPr lang="en-US" altLang="zh-CN" sz="3200"/>
          </a:p>
        </p:txBody>
      </p:sp>
      <p:sp>
        <p:nvSpPr>
          <p:cNvPr id="207879" name="Oval 7"/>
          <p:cNvSpPr>
            <a:spLocks noChangeArrowheads="1"/>
          </p:cNvSpPr>
          <p:nvPr/>
        </p:nvSpPr>
        <p:spPr bwMode="auto">
          <a:xfrm>
            <a:off x="4953000" y="4038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f</a:t>
            </a:r>
            <a:endParaRPr lang="en-US" altLang="zh-CN" sz="3200"/>
          </a:p>
        </p:txBody>
      </p:sp>
      <p:sp>
        <p:nvSpPr>
          <p:cNvPr id="207880" name="Oval 8"/>
          <p:cNvSpPr>
            <a:spLocks noChangeArrowheads="1"/>
          </p:cNvSpPr>
          <p:nvPr/>
        </p:nvSpPr>
        <p:spPr bwMode="auto">
          <a:xfrm>
            <a:off x="6019800" y="1295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g</a:t>
            </a:r>
            <a:endParaRPr lang="en-US" altLang="zh-CN" sz="3200"/>
          </a:p>
        </p:txBody>
      </p:sp>
      <p:sp>
        <p:nvSpPr>
          <p:cNvPr id="207881" name="Oval 9"/>
          <p:cNvSpPr>
            <a:spLocks noChangeArrowheads="1"/>
          </p:cNvSpPr>
          <p:nvPr/>
        </p:nvSpPr>
        <p:spPr bwMode="auto">
          <a:xfrm>
            <a:off x="6019800" y="31242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h</a:t>
            </a:r>
            <a:endParaRPr lang="en-US" altLang="zh-CN" sz="3200"/>
          </a:p>
        </p:txBody>
      </p:sp>
      <p:sp>
        <p:nvSpPr>
          <p:cNvPr id="207882" name="Oval 10"/>
          <p:cNvSpPr>
            <a:spLocks noChangeArrowheads="1"/>
          </p:cNvSpPr>
          <p:nvPr/>
        </p:nvSpPr>
        <p:spPr bwMode="auto">
          <a:xfrm>
            <a:off x="7543800" y="22098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k</a:t>
            </a:r>
            <a:endParaRPr lang="en-US" altLang="zh-CN" sz="3200"/>
          </a:p>
        </p:txBody>
      </p:sp>
      <p:sp>
        <p:nvSpPr>
          <p:cNvPr id="207883" name="Line 11"/>
          <p:cNvSpPr>
            <a:spLocks noChangeShapeType="1"/>
          </p:cNvSpPr>
          <p:nvPr/>
        </p:nvSpPr>
        <p:spPr bwMode="auto">
          <a:xfrm flipV="1">
            <a:off x="1828800" y="15240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4" name="Line 12"/>
          <p:cNvSpPr>
            <a:spLocks noChangeShapeType="1"/>
          </p:cNvSpPr>
          <p:nvPr/>
        </p:nvSpPr>
        <p:spPr bwMode="auto">
          <a:xfrm>
            <a:off x="1905000" y="2362200"/>
            <a:ext cx="1066800" cy="8382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5" name="Line 13"/>
          <p:cNvSpPr>
            <a:spLocks noChangeShapeType="1"/>
          </p:cNvSpPr>
          <p:nvPr/>
        </p:nvSpPr>
        <p:spPr bwMode="auto">
          <a:xfrm flipV="1">
            <a:off x="3429000" y="25146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6" name="Line 14"/>
          <p:cNvSpPr>
            <a:spLocks noChangeShapeType="1"/>
          </p:cNvSpPr>
          <p:nvPr/>
        </p:nvSpPr>
        <p:spPr bwMode="auto">
          <a:xfrm>
            <a:off x="3429000" y="15240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7" name="Line 15"/>
          <p:cNvSpPr>
            <a:spLocks noChangeShapeType="1"/>
          </p:cNvSpPr>
          <p:nvPr/>
        </p:nvSpPr>
        <p:spPr bwMode="auto">
          <a:xfrm flipV="1">
            <a:off x="4876800" y="15240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8" name="Line 16"/>
          <p:cNvSpPr>
            <a:spLocks noChangeShapeType="1"/>
          </p:cNvSpPr>
          <p:nvPr/>
        </p:nvSpPr>
        <p:spPr bwMode="auto">
          <a:xfrm>
            <a:off x="6477000" y="15240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89" name="Line 17"/>
          <p:cNvSpPr>
            <a:spLocks noChangeShapeType="1"/>
          </p:cNvSpPr>
          <p:nvPr/>
        </p:nvSpPr>
        <p:spPr bwMode="auto">
          <a:xfrm flipV="1">
            <a:off x="6477000" y="25908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0" name="Line 18"/>
          <p:cNvSpPr>
            <a:spLocks noChangeShapeType="1"/>
          </p:cNvSpPr>
          <p:nvPr/>
        </p:nvSpPr>
        <p:spPr bwMode="auto">
          <a:xfrm>
            <a:off x="4953000" y="2514600"/>
            <a:ext cx="10668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1" name="Line 19"/>
          <p:cNvSpPr>
            <a:spLocks noChangeShapeType="1"/>
          </p:cNvSpPr>
          <p:nvPr/>
        </p:nvSpPr>
        <p:spPr bwMode="auto">
          <a:xfrm>
            <a:off x="1676400" y="2590800"/>
            <a:ext cx="609600" cy="1447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2" name="Line 20"/>
          <p:cNvSpPr>
            <a:spLocks noChangeShapeType="1"/>
          </p:cNvSpPr>
          <p:nvPr/>
        </p:nvSpPr>
        <p:spPr bwMode="auto">
          <a:xfrm>
            <a:off x="2514600" y="4267200"/>
            <a:ext cx="2438400" cy="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3" name="Line 21"/>
          <p:cNvSpPr>
            <a:spLocks noChangeShapeType="1"/>
          </p:cNvSpPr>
          <p:nvPr/>
        </p:nvSpPr>
        <p:spPr bwMode="auto">
          <a:xfrm flipV="1">
            <a:off x="5410200" y="3505200"/>
            <a:ext cx="6858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94" name="Text Box 22"/>
          <p:cNvSpPr txBox="1">
            <a:spLocks noChangeArrowheads="1"/>
          </p:cNvSpPr>
          <p:nvPr/>
        </p:nvSpPr>
        <p:spPr bwMode="auto">
          <a:xfrm>
            <a:off x="2051050" y="1401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6</a:t>
            </a:r>
            <a:endParaRPr lang="en-US" altLang="zh-CN" sz="3200"/>
          </a:p>
        </p:txBody>
      </p:sp>
      <p:sp>
        <p:nvSpPr>
          <p:cNvPr id="207895" name="Text Box 23"/>
          <p:cNvSpPr txBox="1">
            <a:spLocks noChangeArrowheads="1"/>
          </p:cNvSpPr>
          <p:nvPr/>
        </p:nvSpPr>
        <p:spPr bwMode="auto">
          <a:xfrm>
            <a:off x="2286000" y="23161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07896" name="Text Box 24"/>
          <p:cNvSpPr txBox="1">
            <a:spLocks noChangeArrowheads="1"/>
          </p:cNvSpPr>
          <p:nvPr/>
        </p:nvSpPr>
        <p:spPr bwMode="auto">
          <a:xfrm>
            <a:off x="1974850" y="29908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5</a:t>
            </a:r>
            <a:endParaRPr lang="en-US" altLang="zh-CN" sz="3200"/>
          </a:p>
        </p:txBody>
      </p:sp>
      <p:sp>
        <p:nvSpPr>
          <p:cNvPr id="207897" name="Text Box 25"/>
          <p:cNvSpPr txBox="1">
            <a:spLocks noChangeArrowheads="1"/>
          </p:cNvSpPr>
          <p:nvPr/>
        </p:nvSpPr>
        <p:spPr bwMode="auto">
          <a:xfrm>
            <a:off x="3498850" y="3763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p>
        </p:txBody>
      </p:sp>
      <p:sp>
        <p:nvSpPr>
          <p:cNvPr id="207898" name="Text Box 26"/>
          <p:cNvSpPr txBox="1">
            <a:spLocks noChangeArrowheads="1"/>
          </p:cNvSpPr>
          <p:nvPr/>
        </p:nvSpPr>
        <p:spPr bwMode="auto">
          <a:xfrm>
            <a:off x="3810000" y="1401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07899" name="Text Box 27"/>
          <p:cNvSpPr txBox="1">
            <a:spLocks noChangeArrowheads="1"/>
          </p:cNvSpPr>
          <p:nvPr/>
        </p:nvSpPr>
        <p:spPr bwMode="auto">
          <a:xfrm>
            <a:off x="3717925" y="24574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07900" name="Text Box 28"/>
          <p:cNvSpPr txBox="1">
            <a:spLocks noChangeArrowheads="1"/>
          </p:cNvSpPr>
          <p:nvPr/>
        </p:nvSpPr>
        <p:spPr bwMode="auto">
          <a:xfrm>
            <a:off x="5175250" y="14478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8</a:t>
            </a:r>
            <a:endParaRPr lang="en-US" altLang="zh-CN" sz="3200"/>
          </a:p>
        </p:txBody>
      </p:sp>
      <p:sp>
        <p:nvSpPr>
          <p:cNvPr id="207901" name="Text Box 29"/>
          <p:cNvSpPr txBox="1">
            <a:spLocks noChangeArrowheads="1"/>
          </p:cNvSpPr>
          <p:nvPr/>
        </p:nvSpPr>
        <p:spPr bwMode="auto">
          <a:xfrm>
            <a:off x="5334000" y="24384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7</a:t>
            </a:r>
            <a:endParaRPr lang="en-US" altLang="zh-CN" sz="3200"/>
          </a:p>
        </p:txBody>
      </p:sp>
      <p:sp>
        <p:nvSpPr>
          <p:cNvPr id="207902" name="Text Box 30"/>
          <p:cNvSpPr txBox="1">
            <a:spLocks noChangeArrowheads="1"/>
          </p:cNvSpPr>
          <p:nvPr/>
        </p:nvSpPr>
        <p:spPr bwMode="auto">
          <a:xfrm>
            <a:off x="6927850" y="13255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solidFill>
                <a:srgbClr val="0000FF"/>
              </a:solidFill>
            </a:endParaRPr>
          </a:p>
        </p:txBody>
      </p:sp>
      <p:sp>
        <p:nvSpPr>
          <p:cNvPr id="207903" name="Text Box 31"/>
          <p:cNvSpPr txBox="1">
            <a:spLocks noChangeArrowheads="1"/>
          </p:cNvSpPr>
          <p:nvPr/>
        </p:nvSpPr>
        <p:spPr bwMode="auto">
          <a:xfrm>
            <a:off x="6537325" y="2544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07904" name="Text Box 32"/>
          <p:cNvSpPr txBox="1">
            <a:spLocks noChangeArrowheads="1"/>
          </p:cNvSpPr>
          <p:nvPr/>
        </p:nvSpPr>
        <p:spPr bwMode="auto">
          <a:xfrm>
            <a:off x="5318125" y="35353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07905" name="AutoShape 33"/>
          <p:cNvSpPr>
            <a:spLocks noChangeArrowheads="1"/>
          </p:cNvSpPr>
          <p:nvPr/>
        </p:nvSpPr>
        <p:spPr bwMode="auto">
          <a:xfrm>
            <a:off x="457200" y="2743200"/>
            <a:ext cx="914400" cy="457200"/>
          </a:xfrm>
          <a:prstGeom prst="wedgeRoundRectCallout">
            <a:avLst>
              <a:gd name="adj1" fmla="val 62847"/>
              <a:gd name="adj2" fmla="val -113194"/>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solidFill>
                  <a:srgbClr val="0000FF"/>
                </a:solidFill>
                <a:ea typeface="楷体_GB2312" pitchFamily="49" charset="-122"/>
                <a:sym typeface="+mn-ea"/>
              </a:rPr>
              <a:t>source point</a:t>
            </a:r>
            <a:endParaRPr lang="zh-CN" altLang="en-US" sz="2400">
              <a:solidFill>
                <a:srgbClr val="0000FF"/>
              </a:solidFill>
              <a:ea typeface="楷体_GB2312" pitchFamily="49" charset="-122"/>
              <a:sym typeface="+mn-ea"/>
            </a:endParaRPr>
          </a:p>
        </p:txBody>
      </p:sp>
      <p:sp>
        <p:nvSpPr>
          <p:cNvPr id="207906" name="AutoShape 34"/>
          <p:cNvSpPr>
            <a:spLocks noChangeArrowheads="1"/>
          </p:cNvSpPr>
          <p:nvPr/>
        </p:nvSpPr>
        <p:spPr bwMode="auto">
          <a:xfrm>
            <a:off x="7924800" y="1143000"/>
            <a:ext cx="914400" cy="457200"/>
          </a:xfrm>
          <a:prstGeom prst="wedgeRoundRectCallout">
            <a:avLst>
              <a:gd name="adj1" fmla="val -55731"/>
              <a:gd name="adj2" fmla="val 188542"/>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 </a:t>
            </a:r>
            <a:r>
              <a:rPr lang="zh-CN" altLang="en-US" sz="2400">
                <a:solidFill>
                  <a:srgbClr val="0000FF"/>
                </a:solidFill>
                <a:ea typeface="楷体_GB2312" pitchFamily="49" charset="-122"/>
              </a:rPr>
              <a:t>sink node</a:t>
            </a:r>
            <a:endParaRPr lang="zh-CN" altLang="en-US" sz="2400">
              <a:solidFill>
                <a:srgbClr val="0000FF"/>
              </a:solidFill>
              <a:ea typeface="楷体_GB2312" pitchFamily="49" charset="-122"/>
            </a:endParaRPr>
          </a:p>
        </p:txBody>
      </p:sp>
      <p:sp>
        <p:nvSpPr>
          <p:cNvPr id="207907" name="Text Box 35"/>
          <p:cNvSpPr txBox="1">
            <a:spLocks noChangeArrowheads="1"/>
          </p:cNvSpPr>
          <p:nvPr/>
        </p:nvSpPr>
        <p:spPr bwMode="auto">
          <a:xfrm>
            <a:off x="457200" y="501650"/>
            <a:ext cx="34290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a:latin typeface="楷体_GB2312" pitchFamily="49" charset="-122"/>
                <a:ea typeface="楷体_GB2312" pitchFamily="49" charset="-122"/>
                <a:sym typeface="+mn-ea"/>
              </a:rPr>
              <a:t>for instance</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p:txBody>
      </p:sp>
      <p:sp>
        <p:nvSpPr>
          <p:cNvPr id="207908" name="Text Box 36"/>
          <p:cNvSpPr txBox="1">
            <a:spLocks noChangeArrowheads="1"/>
          </p:cNvSpPr>
          <p:nvPr/>
        </p:nvSpPr>
        <p:spPr bwMode="auto">
          <a:xfrm>
            <a:off x="533400" y="4800600"/>
            <a:ext cx="8382000" cy="132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latin typeface="Arial" panose="020B0604020202020204" pitchFamily="34" charset="0"/>
                <a:ea typeface="楷体_GB2312" pitchFamily="49" charset="-122"/>
                <a:cs typeface="Arial" panose="020B0604020202020204" pitchFamily="34" charset="0"/>
              </a:rPr>
              <a:t>There are 11 activities (arcs), and the weight on each arc represents the time required to complete that activity. There are 9 events (vertices). Each event indicates that the activities before it have been completed, and the activities after it can start.</a:t>
            </a:r>
            <a:endParaRPr lang="en-US" altLang="zh-CN" sz="2000" b="1">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905"/>
                                        </p:tgtEl>
                                        <p:attrNameLst>
                                          <p:attrName>style.visibility</p:attrName>
                                        </p:attrNameLst>
                                      </p:cBhvr>
                                      <p:to>
                                        <p:strVal val="visible"/>
                                      </p:to>
                                    </p:set>
                                    <p:anim calcmode="lin" valueType="num">
                                      <p:cBhvr additive="base">
                                        <p:cTn id="7" dur="500" fill="hold"/>
                                        <p:tgtEl>
                                          <p:spTgt spid="207905"/>
                                        </p:tgtEl>
                                        <p:attrNameLst>
                                          <p:attrName>ppt_x</p:attrName>
                                        </p:attrNameLst>
                                      </p:cBhvr>
                                      <p:tavLst>
                                        <p:tav tm="0">
                                          <p:val>
                                            <p:strVal val="0-#ppt_w/2"/>
                                          </p:val>
                                        </p:tav>
                                        <p:tav tm="100000">
                                          <p:val>
                                            <p:strVal val="#ppt_x"/>
                                          </p:val>
                                        </p:tav>
                                      </p:tavLst>
                                    </p:anim>
                                    <p:anim calcmode="lin" valueType="num">
                                      <p:cBhvr additive="base">
                                        <p:cTn id="8" dur="500" fill="hold"/>
                                        <p:tgtEl>
                                          <p:spTgt spid="2079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7906"/>
                                        </p:tgtEl>
                                        <p:attrNameLst>
                                          <p:attrName>style.visibility</p:attrName>
                                        </p:attrNameLst>
                                      </p:cBhvr>
                                      <p:to>
                                        <p:strVal val="visible"/>
                                      </p:to>
                                    </p:set>
                                    <p:anim calcmode="lin" valueType="num">
                                      <p:cBhvr additive="base">
                                        <p:cTn id="13" dur="500" fill="hold"/>
                                        <p:tgtEl>
                                          <p:spTgt spid="207906"/>
                                        </p:tgtEl>
                                        <p:attrNameLst>
                                          <p:attrName>ppt_x</p:attrName>
                                        </p:attrNameLst>
                                      </p:cBhvr>
                                      <p:tavLst>
                                        <p:tav tm="0">
                                          <p:val>
                                            <p:strVal val="1+#ppt_w/2"/>
                                          </p:val>
                                        </p:tav>
                                        <p:tav tm="100000">
                                          <p:val>
                                            <p:strVal val="#ppt_x"/>
                                          </p:val>
                                        </p:tav>
                                      </p:tavLst>
                                    </p:anim>
                                    <p:anim calcmode="lin" valueType="num">
                                      <p:cBhvr additive="base">
                                        <p:cTn id="14" dur="500" fill="hold"/>
                                        <p:tgtEl>
                                          <p:spTgt spid="20790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7908"/>
                                        </p:tgtEl>
                                        <p:attrNameLst>
                                          <p:attrName>style.visibility</p:attrName>
                                        </p:attrNameLst>
                                      </p:cBhvr>
                                      <p:to>
                                        <p:strVal val="visible"/>
                                      </p:to>
                                    </p:set>
                                    <p:anim calcmode="lin" valueType="num">
                                      <p:cBhvr additive="base">
                                        <p:cTn id="19" dur="500" fill="hold"/>
                                        <p:tgtEl>
                                          <p:spTgt spid="207908"/>
                                        </p:tgtEl>
                                        <p:attrNameLst>
                                          <p:attrName>ppt_x</p:attrName>
                                        </p:attrNameLst>
                                      </p:cBhvr>
                                      <p:tavLst>
                                        <p:tav tm="0">
                                          <p:val>
                                            <p:strVal val="0-#ppt_w/2"/>
                                          </p:val>
                                        </p:tav>
                                        <p:tav tm="100000">
                                          <p:val>
                                            <p:strVal val="#ppt_x"/>
                                          </p:val>
                                        </p:tav>
                                      </p:tavLst>
                                    </p:anim>
                                    <p:anim calcmode="lin" valueType="num">
                                      <p:cBhvr additive="base">
                                        <p:cTn id="20" dur="500" fill="hold"/>
                                        <p:tgtEl>
                                          <p:spTgt spid="2079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05" grpId="0" animBg="1" autoUpdateAnimBg="0"/>
      <p:bldP spid="207906" grpId="0" animBg="1" autoUpdateAnimBg="0"/>
      <p:bldP spid="207908" grpId="0" bldLvl="0" animBg="1"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381000" y="3048000"/>
            <a:ext cx="239776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0000FF"/>
                </a:solidFill>
                <a:latin typeface="Arial" panose="020B0604020202020204" pitchFamily="34" charset="0"/>
                <a:ea typeface="楷体_GB2312" pitchFamily="49" charset="-122"/>
                <a:cs typeface="Arial" panose="020B0604020202020204" pitchFamily="34" charset="0"/>
              </a:rPr>
              <a:t>question ：</a:t>
            </a:r>
            <a:endParaRPr lang="zh-CN" altLang="en-US" sz="3200" b="1">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08899" name="Text Box 3"/>
          <p:cNvSpPr txBox="1">
            <a:spLocks noChangeArrowheads="1"/>
          </p:cNvSpPr>
          <p:nvPr/>
        </p:nvSpPr>
        <p:spPr bwMode="auto">
          <a:xfrm>
            <a:off x="381000" y="3914775"/>
            <a:ext cx="8763000" cy="2213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en-US" altLang="zh-CN" sz="2400" b="1">
                <a:solidFill>
                  <a:srgbClr val="000099"/>
                </a:solidFill>
                <a:latin typeface="Arial" panose="020B0604020202020204" pitchFamily="34" charset="0"/>
                <a:ea typeface="楷体_GB2312" pitchFamily="49" charset="-122"/>
                <a:cs typeface="Arial" panose="020B0604020202020204" pitchFamily="34" charset="0"/>
              </a:rPr>
              <a:t>① How long will it take to complete the project?</a:t>
            </a:r>
            <a:endParaRPr lang="zh-CN" altLang="en-US" sz="2400" b="1">
              <a:solidFill>
                <a:srgbClr val="000099"/>
              </a:solidFill>
              <a:latin typeface="Arial" panose="020B0604020202020204" pitchFamily="34" charset="0"/>
              <a:ea typeface="楷体_GB2312" pitchFamily="49" charset="-122"/>
              <a:cs typeface="Arial" panose="020B0604020202020204" pitchFamily="34" charset="0"/>
            </a:endParaRPr>
          </a:p>
          <a:p>
            <a:pPr>
              <a:lnSpc>
                <a:spcPct val="115000"/>
              </a:lnSpc>
            </a:pPr>
            <a:r>
              <a:rPr lang="zh-CN" altLang="en-US" sz="2400" b="1">
                <a:solidFill>
                  <a:srgbClr val="000099"/>
                </a:solidFill>
                <a:latin typeface="Arial" panose="020B0604020202020204" pitchFamily="34" charset="0"/>
                <a:ea typeface="楷体_GB2312" pitchFamily="49" charset="-122"/>
                <a:cs typeface="Arial" panose="020B0604020202020204" pitchFamily="34" charset="0"/>
              </a:rPr>
              <a:t>② What are the key activities that affect the project schedule?</a:t>
            </a:r>
            <a:endParaRPr lang="zh-CN" altLang="en-US" sz="2400" b="1">
              <a:solidFill>
                <a:srgbClr val="000099"/>
              </a:solidFill>
              <a:latin typeface="Arial" panose="020B0604020202020204" pitchFamily="34" charset="0"/>
              <a:ea typeface="楷体_GB2312" pitchFamily="49" charset="-122"/>
              <a:cs typeface="Arial" panose="020B0604020202020204" pitchFamily="34" charset="0"/>
            </a:endParaRPr>
          </a:p>
          <a:p>
            <a:pPr>
              <a:lnSpc>
                <a:spcPct val="115000"/>
              </a:lnSpc>
            </a:pPr>
            <a:r>
              <a:rPr lang="zh-CN" altLang="en-US" sz="2400" b="1">
                <a:solidFill>
                  <a:srgbClr val="000099"/>
                </a:solidFill>
                <a:latin typeface="Arial" panose="020B0604020202020204" pitchFamily="34" charset="0"/>
                <a:ea typeface="楷体_GB2312" pitchFamily="49" charset="-122"/>
                <a:cs typeface="Arial" panose="020B0604020202020204" pitchFamily="34" charset="0"/>
              </a:rPr>
              <a:t>That is, which sub-project items will affect the completion of the entire project.</a:t>
            </a:r>
            <a:endParaRPr lang="zh-CN" altLang="en-US" sz="2400" b="1">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08900" name="Text Box 4"/>
          <p:cNvSpPr txBox="1">
            <a:spLocks noChangeArrowheads="1"/>
          </p:cNvSpPr>
          <p:nvPr/>
        </p:nvSpPr>
        <p:spPr bwMode="auto">
          <a:xfrm>
            <a:off x="381000" y="533400"/>
            <a:ext cx="8458200" cy="2213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pPr>
            <a:r>
              <a:rPr lang="zh-CN" altLang="en-US" sz="2400" b="1">
                <a:solidFill>
                  <a:srgbClr val="000099"/>
                </a:solidFill>
                <a:latin typeface="Arial" panose="020B0604020202020204" pitchFamily="34" charset="0"/>
                <a:ea typeface="楷体_GB2312" pitchFamily="49" charset="-122"/>
                <a:cs typeface="Arial" panose="020B0604020202020204" pitchFamily="34" charset="0"/>
              </a:rPr>
              <a:t>Since the whole project has only one starting point and one finishing point, under normal conditions (no ring), there is </a:t>
            </a:r>
            <a:r>
              <a:rPr lang="zh-CN" altLang="en-US" sz="2400" b="1">
                <a:solidFill>
                  <a:srgbClr val="A50021"/>
                </a:solidFill>
                <a:latin typeface="Arial" panose="020B0604020202020204" pitchFamily="34" charset="0"/>
                <a:ea typeface="楷体_GB2312" pitchFamily="49" charset="-122"/>
                <a:cs typeface="Arial" panose="020B0604020202020204" pitchFamily="34" charset="0"/>
              </a:rPr>
              <a:t>only one point with zero in degree (called source point) and one point with zero out degree (called sink point) in the network.</a:t>
            </a:r>
            <a:endParaRPr lang="zh-CN" altLang="en-US" sz="2400" b="1">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 calcmode="lin" valueType="num">
                                      <p:cBhvr additive="base">
                                        <p:cTn id="7" dur="500" fill="hold"/>
                                        <p:tgtEl>
                                          <p:spTgt spid="208898"/>
                                        </p:tgtEl>
                                        <p:attrNameLst>
                                          <p:attrName>ppt_x</p:attrName>
                                        </p:attrNameLst>
                                      </p:cBhvr>
                                      <p:tavLst>
                                        <p:tav tm="0">
                                          <p:val>
                                            <p:strVal val="0-#ppt_w/2"/>
                                          </p:val>
                                        </p:tav>
                                        <p:tav tm="100000">
                                          <p:val>
                                            <p:strVal val="#ppt_x"/>
                                          </p:val>
                                        </p:tav>
                                      </p:tavLst>
                                    </p:anim>
                                    <p:anim calcmode="lin" valueType="num">
                                      <p:cBhvr additive="base">
                                        <p:cTn id="8" dur="500" fill="hold"/>
                                        <p:tgtEl>
                                          <p:spTgt spid="2088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208899"/>
                                        </p:tgtEl>
                                        <p:attrNameLst>
                                          <p:attrName>style.visibility</p:attrName>
                                        </p:attrNameLst>
                                      </p:cBhvr>
                                      <p:to>
                                        <p:strVal val="visible"/>
                                      </p:to>
                                    </p:set>
                                    <p:animEffect transition="in" filter="box(out)">
                                      <p:cBhvr>
                                        <p:cTn id="13" dur="500"/>
                                        <p:tgtEl>
                                          <p:spTgt spid="208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bldLvl="0" animBg="1" autoUpdateAnimBg="0"/>
      <p:bldP spid="208899" grpId="0" bldLvl="0" animBg="1"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a:spLocks noChangeArrowheads="1"/>
          </p:cNvSpPr>
          <p:nvPr/>
        </p:nvSpPr>
        <p:spPr bwMode="auto">
          <a:xfrm>
            <a:off x="457200" y="76200"/>
            <a:ext cx="8213090" cy="230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b="1" u="sng">
                <a:solidFill>
                  <a:srgbClr val="800000"/>
                </a:solidFill>
                <a:latin typeface="Arial" panose="020B0604020202020204" pitchFamily="34" charset="0"/>
                <a:ea typeface="楷体_GB2312" pitchFamily="49" charset="-122"/>
                <a:cs typeface="Arial" panose="020B0604020202020204" pitchFamily="34" charset="0"/>
              </a:rPr>
              <a:t>Minimum time to complete the project:</a:t>
            </a:r>
            <a:endParaRPr lang="zh-CN" altLang="en-US" sz="4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000099"/>
                </a:solidFill>
                <a:latin typeface="Arial" panose="020B0604020202020204" pitchFamily="34" charset="0"/>
                <a:ea typeface="楷体_GB2312" pitchFamily="49" charset="-122"/>
                <a:cs typeface="Arial" panose="020B0604020202020204" pitchFamily="34" charset="0"/>
              </a:rPr>
              <a:t>The length of the longest path from the source to the sink in a directed graph.</a:t>
            </a:r>
            <a:endParaRPr lang="zh-CN" altLang="en-US" sz="4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000099"/>
                </a:solidFill>
                <a:latin typeface="Arial" panose="020B0604020202020204" pitchFamily="34" charset="0"/>
                <a:ea typeface="楷体_GB2312" pitchFamily="49" charset="-122"/>
                <a:cs typeface="Arial" panose="020B0604020202020204" pitchFamily="34" charset="0"/>
              </a:rPr>
              <a:t>(The sum of the durations of activities on the path, not the number of arcs on the path.)</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09923" name="Rectangle 3"/>
          <p:cNvSpPr>
            <a:spLocks noChangeArrowheads="1"/>
          </p:cNvSpPr>
          <p:nvPr/>
        </p:nvSpPr>
        <p:spPr bwMode="auto">
          <a:xfrm>
            <a:off x="419100" y="2438400"/>
            <a:ext cx="8229600"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b="1" u="sng">
                <a:solidFill>
                  <a:srgbClr val="800000"/>
                </a:solidFill>
                <a:latin typeface="Arial" panose="020B0604020202020204" pitchFamily="34" charset="0"/>
                <a:ea typeface="楷体_GB2312" pitchFamily="49" charset="-122"/>
                <a:cs typeface="Arial" panose="020B0604020202020204" pitchFamily="34" charset="0"/>
              </a:rPr>
              <a:t>critical patch ：</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A50021"/>
                </a:solidFill>
                <a:latin typeface="Arial" panose="020B0604020202020204" pitchFamily="34" charset="0"/>
                <a:ea typeface="楷体_GB2312" pitchFamily="49" charset="-122"/>
                <a:cs typeface="Arial" panose="020B0604020202020204" pitchFamily="34" charset="0"/>
              </a:rPr>
              <a:t>The longest path is </a:t>
            </a:r>
            <a:r>
              <a:rPr lang="zh-CN" altLang="en-US" sz="2400">
                <a:solidFill>
                  <a:srgbClr val="000099"/>
                </a:solidFill>
                <a:latin typeface="Arial" panose="020B0604020202020204" pitchFamily="34" charset="0"/>
                <a:ea typeface="楷体_GB2312" pitchFamily="49" charset="-122"/>
                <a:cs typeface="Arial" panose="020B0604020202020204" pitchFamily="34" charset="0"/>
              </a:rPr>
              <a:t>called the critical path</a:t>
            </a:r>
            <a:r>
              <a:rPr lang="zh-CN" altLang="en-US" sz="2400">
                <a:solidFill>
                  <a:srgbClr val="A50021"/>
                </a:solidFill>
                <a:latin typeface="Arial" panose="020B0604020202020204" pitchFamily="34" charset="0"/>
                <a:ea typeface="楷体_GB2312" pitchFamily="49" charset="-122"/>
                <a:cs typeface="Arial" panose="020B0604020202020204" pitchFamily="34" charset="0"/>
              </a:rPr>
              <a:t>.</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09924" name="Rectangle 4"/>
          <p:cNvSpPr>
            <a:spLocks noChangeArrowheads="1"/>
          </p:cNvSpPr>
          <p:nvPr/>
        </p:nvSpPr>
        <p:spPr bwMode="auto">
          <a:xfrm>
            <a:off x="381000" y="3581400"/>
            <a:ext cx="8305800"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b="1" u="sng">
                <a:solidFill>
                  <a:srgbClr val="800000"/>
                </a:solidFill>
                <a:latin typeface="Arial" panose="020B0604020202020204" pitchFamily="34" charset="0"/>
                <a:ea typeface="楷体_GB2312" pitchFamily="49" charset="-122"/>
                <a:cs typeface="Arial" panose="020B0604020202020204" pitchFamily="34" charset="0"/>
              </a:rPr>
              <a:t>Key activities:</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a:solidFill>
                  <a:srgbClr val="A50021"/>
                </a:solidFill>
                <a:latin typeface="Arial" panose="020B0604020202020204" pitchFamily="34" charset="0"/>
                <a:ea typeface="楷体_GB2312" pitchFamily="49" charset="-122"/>
                <a:cs typeface="Arial" panose="020B0604020202020204" pitchFamily="34" charset="0"/>
              </a:rPr>
              <a:t>An activity on the critical path is </a:t>
            </a:r>
            <a:r>
              <a:rPr lang="zh-CN" altLang="en-US" sz="2400">
                <a:solidFill>
                  <a:srgbClr val="000099"/>
                </a:solidFill>
                <a:latin typeface="Arial" panose="020B0604020202020204" pitchFamily="34" charset="0"/>
                <a:ea typeface="楷体_GB2312" pitchFamily="49" charset="-122"/>
                <a:cs typeface="Arial" panose="020B0604020202020204" pitchFamily="34" charset="0"/>
              </a:rPr>
              <a:t>a critical activity. (Increasing the weight on this arc will increase the length of the longest path in the directed graph.)</a:t>
            </a:r>
            <a:endParaRPr lang="zh-CN" altLang="en-US" sz="240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09922">
                                            <p:txEl>
                                              <p:pRg st="4294967295" end="4294967295"/>
                                            </p:txEl>
                                          </p:spTgt>
                                        </p:tgtEl>
                                        <p:attrNameLst>
                                          <p:attrName>style.visibility</p:attrName>
                                        </p:attrNameLst>
                                      </p:cBhvr>
                                      <p:to>
                                        <p:strVal val="visible"/>
                                      </p:to>
                                    </p:set>
                                    <p:animEffect transition="in" filter="slide(fromLeft)">
                                      <p:cBhvr>
                                        <p:cTn id="7" dur="500"/>
                                        <p:tgtEl>
                                          <p:spTgt spid="209922">
                                            <p:txEl>
                                              <p:pRg st="4294967295" end="4294967295"/>
                                            </p:txEl>
                                          </p:spTgt>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209922">
                                            <p:txEl>
                                              <p:pRg st="0" end="0"/>
                                            </p:txEl>
                                          </p:spTgt>
                                        </p:tgtEl>
                                        <p:attrNameLst>
                                          <p:attrName>style.visibility</p:attrName>
                                        </p:attrNameLst>
                                      </p:cBhvr>
                                      <p:to>
                                        <p:strVal val="visible"/>
                                      </p:to>
                                    </p:set>
                                    <p:animEffect transition="in" filter="slide(fromLeft)">
                                      <p:cBhvr>
                                        <p:cTn id="10" dur="500"/>
                                        <p:tgtEl>
                                          <p:spTgt spid="209922">
                                            <p:txEl>
                                              <p:pRg st="0" end="0"/>
                                            </p:txEl>
                                          </p:spTgt>
                                        </p:tgtEl>
                                      </p:cBhvr>
                                    </p:animEffect>
                                  </p:childTnLst>
                                </p:cTn>
                              </p:par>
                              <p:par>
                                <p:cTn id="11" presetID="12" presetClass="entr" presetSubtype="8" fill="hold" grpId="0" nodeType="withEffect">
                                  <p:stCondLst>
                                    <p:cond delay="0"/>
                                  </p:stCondLst>
                                  <p:childTnLst>
                                    <p:set>
                                      <p:cBhvr>
                                        <p:cTn id="12" dur="1" fill="hold">
                                          <p:stCondLst>
                                            <p:cond delay="0"/>
                                          </p:stCondLst>
                                        </p:cTn>
                                        <p:tgtEl>
                                          <p:spTgt spid="209922">
                                            <p:txEl>
                                              <p:pRg st="1" end="1"/>
                                            </p:txEl>
                                          </p:spTgt>
                                        </p:tgtEl>
                                        <p:attrNameLst>
                                          <p:attrName>style.visibility</p:attrName>
                                        </p:attrNameLst>
                                      </p:cBhvr>
                                      <p:to>
                                        <p:strVal val="visible"/>
                                      </p:to>
                                    </p:set>
                                    <p:animEffect transition="in" filter="slide(fromLeft)">
                                      <p:cBhvr>
                                        <p:cTn id="13" dur="500"/>
                                        <p:tgtEl>
                                          <p:spTgt spid="209922">
                                            <p:txEl>
                                              <p:pRg st="1" end="1"/>
                                            </p:txEl>
                                          </p:spTgt>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209922">
                                            <p:txEl>
                                              <p:pRg st="2" end="2"/>
                                            </p:txEl>
                                          </p:spTgt>
                                        </p:tgtEl>
                                        <p:attrNameLst>
                                          <p:attrName>style.visibility</p:attrName>
                                        </p:attrNameLst>
                                      </p:cBhvr>
                                      <p:to>
                                        <p:strVal val="visible"/>
                                      </p:to>
                                    </p:set>
                                    <p:animEffect transition="in" filter="slide(fromLeft)">
                                      <p:cBhvr>
                                        <p:cTn id="16" dur="500"/>
                                        <p:tgtEl>
                                          <p:spTgt spid="20992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09923">
                                            <p:txEl>
                                              <p:pRg st="4294967295" end="4294967295"/>
                                            </p:txEl>
                                          </p:spTgt>
                                        </p:tgtEl>
                                        <p:attrNameLst>
                                          <p:attrName>style.visibility</p:attrName>
                                        </p:attrNameLst>
                                      </p:cBhvr>
                                      <p:to>
                                        <p:strVal val="visible"/>
                                      </p:to>
                                    </p:set>
                                    <p:anim calcmode="lin" valueType="num">
                                      <p:cBhvr additive="base">
                                        <p:cTn id="21" dur="500" fill="hold"/>
                                        <p:tgtEl>
                                          <p:spTgt spid="209923">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09923">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09923">
                                            <p:txEl>
                                              <p:pRg st="0" end="0"/>
                                            </p:txEl>
                                          </p:spTgt>
                                        </p:tgtEl>
                                        <p:attrNameLst>
                                          <p:attrName>style.visibility</p:attrName>
                                        </p:attrNameLst>
                                      </p:cBhvr>
                                      <p:to>
                                        <p:strVal val="visible"/>
                                      </p:to>
                                    </p:set>
                                    <p:anim calcmode="lin" valueType="num">
                                      <p:cBhvr additive="base">
                                        <p:cTn id="27" dur="500" fill="hold"/>
                                        <p:tgtEl>
                                          <p:spTgt spid="209923">
                                            <p:txEl>
                                              <p:pRg st="0" end="0"/>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09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09923">
                                            <p:txEl>
                                              <p:pRg st="1" end="1"/>
                                            </p:txEl>
                                          </p:spTgt>
                                        </p:tgtEl>
                                        <p:attrNameLst>
                                          <p:attrName>style.visibility</p:attrName>
                                        </p:attrNameLst>
                                      </p:cBhvr>
                                      <p:to>
                                        <p:strVal val="visible"/>
                                      </p:to>
                                    </p:set>
                                    <p:anim calcmode="lin" valueType="num">
                                      <p:cBhvr additive="base">
                                        <p:cTn id="33" dur="500" fill="hold"/>
                                        <p:tgtEl>
                                          <p:spTgt spid="209923">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09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09924">
                                            <p:txEl>
                                              <p:pRg st="4294967295" end="4294967295"/>
                                            </p:txEl>
                                          </p:spTgt>
                                        </p:tgtEl>
                                        <p:attrNameLst>
                                          <p:attrName>style.visibility</p:attrName>
                                        </p:attrNameLst>
                                      </p:cBhvr>
                                      <p:to>
                                        <p:strVal val="visible"/>
                                      </p:to>
                                    </p:set>
                                    <p:anim calcmode="lin" valueType="num">
                                      <p:cBhvr additive="base">
                                        <p:cTn id="39" dur="500" fill="hold"/>
                                        <p:tgtEl>
                                          <p:spTgt spid="209924">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09924">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09924">
                                            <p:txEl>
                                              <p:pRg st="0" end="0"/>
                                            </p:txEl>
                                          </p:spTgt>
                                        </p:tgtEl>
                                        <p:attrNameLst>
                                          <p:attrName>style.visibility</p:attrName>
                                        </p:attrNameLst>
                                      </p:cBhvr>
                                      <p:to>
                                        <p:strVal val="visible"/>
                                      </p:to>
                                    </p:set>
                                    <p:anim calcmode="lin" valueType="num">
                                      <p:cBhvr additive="base">
                                        <p:cTn id="45" dur="500" fill="hold"/>
                                        <p:tgtEl>
                                          <p:spTgt spid="209924">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099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09924">
                                            <p:txEl>
                                              <p:pRg st="1" end="1"/>
                                            </p:txEl>
                                          </p:spTgt>
                                        </p:tgtEl>
                                        <p:attrNameLst>
                                          <p:attrName>style.visibility</p:attrName>
                                        </p:attrNameLst>
                                      </p:cBhvr>
                                      <p:to>
                                        <p:strVal val="visible"/>
                                      </p:to>
                                    </p:set>
                                    <p:anim calcmode="lin" valueType="num">
                                      <p:cBhvr additive="base">
                                        <p:cTn id="51" dur="500" fill="hold"/>
                                        <p:tgtEl>
                                          <p:spTgt spid="209924">
                                            <p:txEl>
                                              <p:pRg st="1" end="1"/>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20992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autoUpdateAnimBg="0" build="p"/>
      <p:bldP spid="209923" grpId="0" autoUpdateAnimBg="0" build="p"/>
      <p:bldP spid="209924" grpId="0" autoUpdateAnimBg="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81" name="Text Box 37"/>
          <p:cNvSpPr txBox="1">
            <a:spLocks noChangeArrowheads="1"/>
          </p:cNvSpPr>
          <p:nvPr/>
        </p:nvSpPr>
        <p:spPr bwMode="auto">
          <a:xfrm>
            <a:off x="644525" y="838200"/>
            <a:ext cx="363855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b="1">
                <a:solidFill>
                  <a:srgbClr val="800000"/>
                </a:solidFill>
                <a:latin typeface="隶书" panose="02010509060101010101" pitchFamily="49" charset="-122"/>
                <a:ea typeface="隶书" panose="02010509060101010101" pitchFamily="49" charset="-122"/>
                <a:sym typeface="+mn-ea"/>
              </a:rPr>
              <a:t>for instance ：</a:t>
            </a:r>
            <a:endParaRPr lang="en-US" altLang="zh-CN" sz="3200"/>
          </a:p>
        </p:txBody>
      </p:sp>
      <p:sp>
        <p:nvSpPr>
          <p:cNvPr id="210982" name="AutoShape 38"/>
          <p:cNvSpPr>
            <a:spLocks noChangeArrowheads="1"/>
          </p:cNvSpPr>
          <p:nvPr/>
        </p:nvSpPr>
        <p:spPr bwMode="auto">
          <a:xfrm>
            <a:off x="609600" y="3200400"/>
            <a:ext cx="914400" cy="457200"/>
          </a:xfrm>
          <a:prstGeom prst="wedgeRoundRectCallout">
            <a:avLst>
              <a:gd name="adj1" fmla="val 62847"/>
              <a:gd name="adj2" fmla="val -113194"/>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000FF"/>
                </a:solidFill>
                <a:ea typeface="楷体_GB2312" pitchFamily="49" charset="-122"/>
                <a:sym typeface="+mn-ea"/>
              </a:rPr>
              <a:t>source point</a:t>
            </a:r>
            <a:endParaRPr lang="zh-CN" altLang="en-US" sz="2000">
              <a:solidFill>
                <a:srgbClr val="0000FF"/>
              </a:solidFill>
              <a:ea typeface="楷体_GB2312" pitchFamily="49" charset="-122"/>
              <a:sym typeface="+mn-ea"/>
            </a:endParaRPr>
          </a:p>
        </p:txBody>
      </p:sp>
      <p:sp>
        <p:nvSpPr>
          <p:cNvPr id="210983" name="AutoShape 39"/>
          <p:cNvSpPr>
            <a:spLocks noChangeArrowheads="1"/>
          </p:cNvSpPr>
          <p:nvPr/>
        </p:nvSpPr>
        <p:spPr bwMode="auto">
          <a:xfrm>
            <a:off x="8077200" y="1600200"/>
            <a:ext cx="914400" cy="457200"/>
          </a:xfrm>
          <a:prstGeom prst="wedgeRoundRectCallout">
            <a:avLst>
              <a:gd name="adj1" fmla="val -55731"/>
              <a:gd name="adj2" fmla="val 188542"/>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ym typeface="+mn-ea"/>
              </a:rPr>
              <a:t> </a:t>
            </a:r>
            <a:r>
              <a:rPr lang="zh-CN" altLang="en-US" sz="2000">
                <a:solidFill>
                  <a:srgbClr val="0000FF"/>
                </a:solidFill>
                <a:ea typeface="楷体_GB2312" pitchFamily="49" charset="-122"/>
                <a:sym typeface="+mn-ea"/>
              </a:rPr>
              <a:t>sink node</a:t>
            </a:r>
            <a:endParaRPr lang="zh-CN" altLang="en-US" sz="2000">
              <a:solidFill>
                <a:srgbClr val="0000FF"/>
              </a:solidFill>
              <a:ea typeface="楷体_GB2312" pitchFamily="49" charset="-122"/>
              <a:sym typeface="+mn-ea"/>
            </a:endParaRPr>
          </a:p>
        </p:txBody>
      </p:sp>
      <p:sp>
        <p:nvSpPr>
          <p:cNvPr id="210988" name="Oval 44"/>
          <p:cNvSpPr>
            <a:spLocks noChangeArrowheads="1"/>
          </p:cNvSpPr>
          <p:nvPr/>
        </p:nvSpPr>
        <p:spPr bwMode="auto">
          <a:xfrm>
            <a:off x="1600200" y="25908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a</a:t>
            </a:r>
            <a:endParaRPr lang="en-US" altLang="zh-CN" sz="3200"/>
          </a:p>
        </p:txBody>
      </p:sp>
      <p:sp>
        <p:nvSpPr>
          <p:cNvPr id="210989" name="Oval 45"/>
          <p:cNvSpPr>
            <a:spLocks noChangeArrowheads="1"/>
          </p:cNvSpPr>
          <p:nvPr/>
        </p:nvSpPr>
        <p:spPr bwMode="auto">
          <a:xfrm>
            <a:off x="3124200" y="1752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b</a:t>
            </a:r>
            <a:endParaRPr lang="en-US" altLang="zh-CN" sz="3200"/>
          </a:p>
        </p:txBody>
      </p:sp>
      <p:sp>
        <p:nvSpPr>
          <p:cNvPr id="210990" name="Oval 46"/>
          <p:cNvSpPr>
            <a:spLocks noChangeArrowheads="1"/>
          </p:cNvSpPr>
          <p:nvPr/>
        </p:nvSpPr>
        <p:spPr bwMode="auto">
          <a:xfrm>
            <a:off x="3124200" y="3581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c</a:t>
            </a:r>
            <a:endParaRPr lang="en-US" altLang="zh-CN" sz="3200"/>
          </a:p>
        </p:txBody>
      </p:sp>
      <p:sp>
        <p:nvSpPr>
          <p:cNvPr id="210991" name="Oval 47"/>
          <p:cNvSpPr>
            <a:spLocks noChangeArrowheads="1"/>
          </p:cNvSpPr>
          <p:nvPr/>
        </p:nvSpPr>
        <p:spPr bwMode="auto">
          <a:xfrm>
            <a:off x="2209800" y="44958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d</a:t>
            </a:r>
            <a:endParaRPr lang="en-US" altLang="zh-CN" sz="3200"/>
          </a:p>
        </p:txBody>
      </p:sp>
      <p:sp>
        <p:nvSpPr>
          <p:cNvPr id="210992" name="Oval 48"/>
          <p:cNvSpPr>
            <a:spLocks noChangeArrowheads="1"/>
          </p:cNvSpPr>
          <p:nvPr/>
        </p:nvSpPr>
        <p:spPr bwMode="auto">
          <a:xfrm>
            <a:off x="4648200" y="26670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e</a:t>
            </a:r>
            <a:endParaRPr lang="en-US" altLang="zh-CN" sz="3200"/>
          </a:p>
        </p:txBody>
      </p:sp>
      <p:sp>
        <p:nvSpPr>
          <p:cNvPr id="210993" name="Oval 49"/>
          <p:cNvSpPr>
            <a:spLocks noChangeArrowheads="1"/>
          </p:cNvSpPr>
          <p:nvPr/>
        </p:nvSpPr>
        <p:spPr bwMode="auto">
          <a:xfrm>
            <a:off x="5105400" y="44958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f</a:t>
            </a:r>
            <a:endParaRPr lang="en-US" altLang="zh-CN" sz="3200"/>
          </a:p>
        </p:txBody>
      </p:sp>
      <p:sp>
        <p:nvSpPr>
          <p:cNvPr id="210994" name="Oval 50"/>
          <p:cNvSpPr>
            <a:spLocks noChangeArrowheads="1"/>
          </p:cNvSpPr>
          <p:nvPr/>
        </p:nvSpPr>
        <p:spPr bwMode="auto">
          <a:xfrm>
            <a:off x="6172200" y="1752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g</a:t>
            </a:r>
            <a:endParaRPr lang="en-US" altLang="zh-CN" sz="3200"/>
          </a:p>
        </p:txBody>
      </p:sp>
      <p:sp>
        <p:nvSpPr>
          <p:cNvPr id="210995" name="Oval 51"/>
          <p:cNvSpPr>
            <a:spLocks noChangeArrowheads="1"/>
          </p:cNvSpPr>
          <p:nvPr/>
        </p:nvSpPr>
        <p:spPr bwMode="auto">
          <a:xfrm>
            <a:off x="6172200" y="3581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h</a:t>
            </a:r>
            <a:endParaRPr lang="en-US" altLang="zh-CN" sz="3200"/>
          </a:p>
        </p:txBody>
      </p:sp>
      <p:sp>
        <p:nvSpPr>
          <p:cNvPr id="210996" name="Oval 52"/>
          <p:cNvSpPr>
            <a:spLocks noChangeArrowheads="1"/>
          </p:cNvSpPr>
          <p:nvPr/>
        </p:nvSpPr>
        <p:spPr bwMode="auto">
          <a:xfrm>
            <a:off x="7696200" y="26670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k</a:t>
            </a:r>
            <a:endParaRPr lang="en-US" altLang="zh-CN" sz="3200"/>
          </a:p>
        </p:txBody>
      </p:sp>
      <p:sp>
        <p:nvSpPr>
          <p:cNvPr id="210997" name="Line 53"/>
          <p:cNvSpPr>
            <a:spLocks noChangeShapeType="1"/>
          </p:cNvSpPr>
          <p:nvPr/>
        </p:nvSpPr>
        <p:spPr bwMode="auto">
          <a:xfrm flipV="1">
            <a:off x="1981200" y="19812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98" name="Line 54"/>
          <p:cNvSpPr>
            <a:spLocks noChangeShapeType="1"/>
          </p:cNvSpPr>
          <p:nvPr/>
        </p:nvSpPr>
        <p:spPr bwMode="auto">
          <a:xfrm>
            <a:off x="2057400" y="2819400"/>
            <a:ext cx="1066800" cy="8382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99" name="Line 55"/>
          <p:cNvSpPr>
            <a:spLocks noChangeShapeType="1"/>
          </p:cNvSpPr>
          <p:nvPr/>
        </p:nvSpPr>
        <p:spPr bwMode="auto">
          <a:xfrm flipV="1">
            <a:off x="3581400" y="29718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0" name="Line 56"/>
          <p:cNvSpPr>
            <a:spLocks noChangeShapeType="1"/>
          </p:cNvSpPr>
          <p:nvPr/>
        </p:nvSpPr>
        <p:spPr bwMode="auto">
          <a:xfrm>
            <a:off x="3581400" y="1981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1" name="Line 57"/>
          <p:cNvSpPr>
            <a:spLocks noChangeShapeType="1"/>
          </p:cNvSpPr>
          <p:nvPr/>
        </p:nvSpPr>
        <p:spPr bwMode="auto">
          <a:xfrm flipV="1">
            <a:off x="5029200" y="1981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2" name="Line 58"/>
          <p:cNvSpPr>
            <a:spLocks noChangeShapeType="1"/>
          </p:cNvSpPr>
          <p:nvPr/>
        </p:nvSpPr>
        <p:spPr bwMode="auto">
          <a:xfrm>
            <a:off x="6629400" y="1981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3" name="Line 59"/>
          <p:cNvSpPr>
            <a:spLocks noChangeShapeType="1"/>
          </p:cNvSpPr>
          <p:nvPr/>
        </p:nvSpPr>
        <p:spPr bwMode="auto">
          <a:xfrm flipV="1">
            <a:off x="6629400" y="30480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4" name="Line 60"/>
          <p:cNvSpPr>
            <a:spLocks noChangeShapeType="1"/>
          </p:cNvSpPr>
          <p:nvPr/>
        </p:nvSpPr>
        <p:spPr bwMode="auto">
          <a:xfrm>
            <a:off x="5105400" y="2971800"/>
            <a:ext cx="10668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5" name="Line 61"/>
          <p:cNvSpPr>
            <a:spLocks noChangeShapeType="1"/>
          </p:cNvSpPr>
          <p:nvPr/>
        </p:nvSpPr>
        <p:spPr bwMode="auto">
          <a:xfrm>
            <a:off x="1828800" y="3048000"/>
            <a:ext cx="609600" cy="1447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6" name="Line 62"/>
          <p:cNvSpPr>
            <a:spLocks noChangeShapeType="1"/>
          </p:cNvSpPr>
          <p:nvPr/>
        </p:nvSpPr>
        <p:spPr bwMode="auto">
          <a:xfrm>
            <a:off x="2667000" y="4724400"/>
            <a:ext cx="2438400" cy="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7" name="Line 63"/>
          <p:cNvSpPr>
            <a:spLocks noChangeShapeType="1"/>
          </p:cNvSpPr>
          <p:nvPr/>
        </p:nvSpPr>
        <p:spPr bwMode="auto">
          <a:xfrm flipV="1">
            <a:off x="5562600" y="3962400"/>
            <a:ext cx="6858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08" name="Text Box 64"/>
          <p:cNvSpPr txBox="1">
            <a:spLocks noChangeArrowheads="1"/>
          </p:cNvSpPr>
          <p:nvPr/>
        </p:nvSpPr>
        <p:spPr bwMode="auto">
          <a:xfrm>
            <a:off x="2203450" y="1858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6</a:t>
            </a:r>
            <a:endParaRPr lang="en-US" altLang="zh-CN" sz="3200"/>
          </a:p>
        </p:txBody>
      </p:sp>
      <p:sp>
        <p:nvSpPr>
          <p:cNvPr id="211009" name="Text Box 65"/>
          <p:cNvSpPr txBox="1">
            <a:spLocks noChangeArrowheads="1"/>
          </p:cNvSpPr>
          <p:nvPr/>
        </p:nvSpPr>
        <p:spPr bwMode="auto">
          <a:xfrm>
            <a:off x="2438400" y="27733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11010" name="Text Box 66"/>
          <p:cNvSpPr txBox="1">
            <a:spLocks noChangeArrowheads="1"/>
          </p:cNvSpPr>
          <p:nvPr/>
        </p:nvSpPr>
        <p:spPr bwMode="auto">
          <a:xfrm>
            <a:off x="2127250" y="34480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5</a:t>
            </a:r>
            <a:endParaRPr lang="en-US" altLang="zh-CN" sz="3200"/>
          </a:p>
        </p:txBody>
      </p:sp>
      <p:sp>
        <p:nvSpPr>
          <p:cNvPr id="211011" name="Text Box 67"/>
          <p:cNvSpPr txBox="1">
            <a:spLocks noChangeArrowheads="1"/>
          </p:cNvSpPr>
          <p:nvPr/>
        </p:nvSpPr>
        <p:spPr bwMode="auto">
          <a:xfrm>
            <a:off x="3651250" y="42211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p>
        </p:txBody>
      </p:sp>
      <p:sp>
        <p:nvSpPr>
          <p:cNvPr id="211012" name="Text Box 68"/>
          <p:cNvSpPr txBox="1">
            <a:spLocks noChangeArrowheads="1"/>
          </p:cNvSpPr>
          <p:nvPr/>
        </p:nvSpPr>
        <p:spPr bwMode="auto">
          <a:xfrm>
            <a:off x="3962400" y="1858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11013" name="Text Box 69"/>
          <p:cNvSpPr txBox="1">
            <a:spLocks noChangeArrowheads="1"/>
          </p:cNvSpPr>
          <p:nvPr/>
        </p:nvSpPr>
        <p:spPr bwMode="auto">
          <a:xfrm>
            <a:off x="3870325" y="29146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11014" name="Text Box 70"/>
          <p:cNvSpPr txBox="1">
            <a:spLocks noChangeArrowheads="1"/>
          </p:cNvSpPr>
          <p:nvPr/>
        </p:nvSpPr>
        <p:spPr bwMode="auto">
          <a:xfrm>
            <a:off x="5327650" y="19050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8</a:t>
            </a:r>
            <a:endParaRPr lang="en-US" altLang="zh-CN" sz="3200"/>
          </a:p>
        </p:txBody>
      </p:sp>
      <p:sp>
        <p:nvSpPr>
          <p:cNvPr id="211015" name="Text Box 71"/>
          <p:cNvSpPr txBox="1">
            <a:spLocks noChangeArrowheads="1"/>
          </p:cNvSpPr>
          <p:nvPr/>
        </p:nvSpPr>
        <p:spPr bwMode="auto">
          <a:xfrm>
            <a:off x="5486400" y="28956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7</a:t>
            </a:r>
            <a:endParaRPr lang="en-US" altLang="zh-CN" sz="3200"/>
          </a:p>
        </p:txBody>
      </p:sp>
      <p:sp>
        <p:nvSpPr>
          <p:cNvPr id="211016" name="Text Box 72"/>
          <p:cNvSpPr txBox="1">
            <a:spLocks noChangeArrowheads="1"/>
          </p:cNvSpPr>
          <p:nvPr/>
        </p:nvSpPr>
        <p:spPr bwMode="auto">
          <a:xfrm>
            <a:off x="7080250" y="1782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solidFill>
                <a:srgbClr val="0000FF"/>
              </a:solidFill>
            </a:endParaRPr>
          </a:p>
        </p:txBody>
      </p:sp>
      <p:sp>
        <p:nvSpPr>
          <p:cNvPr id="211017" name="Text Box 73"/>
          <p:cNvSpPr txBox="1">
            <a:spLocks noChangeArrowheads="1"/>
          </p:cNvSpPr>
          <p:nvPr/>
        </p:nvSpPr>
        <p:spPr bwMode="auto">
          <a:xfrm>
            <a:off x="6689725" y="3001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11018" name="Text Box 74"/>
          <p:cNvSpPr txBox="1">
            <a:spLocks noChangeArrowheads="1"/>
          </p:cNvSpPr>
          <p:nvPr/>
        </p:nvSpPr>
        <p:spPr bwMode="auto">
          <a:xfrm>
            <a:off x="5470525" y="39925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11019" name="Line 75"/>
          <p:cNvSpPr>
            <a:spLocks noChangeShapeType="1"/>
          </p:cNvSpPr>
          <p:nvPr/>
        </p:nvSpPr>
        <p:spPr bwMode="auto">
          <a:xfrm flipV="1">
            <a:off x="1981200" y="1981200"/>
            <a:ext cx="1143000" cy="6858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20" name="Line 76"/>
          <p:cNvSpPr>
            <a:spLocks noChangeShapeType="1"/>
          </p:cNvSpPr>
          <p:nvPr/>
        </p:nvSpPr>
        <p:spPr bwMode="auto">
          <a:xfrm>
            <a:off x="3581400" y="1981200"/>
            <a:ext cx="1143000" cy="7620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21" name="Line 77"/>
          <p:cNvSpPr>
            <a:spLocks noChangeShapeType="1"/>
          </p:cNvSpPr>
          <p:nvPr/>
        </p:nvSpPr>
        <p:spPr bwMode="auto">
          <a:xfrm>
            <a:off x="5105400" y="2971800"/>
            <a:ext cx="1066800" cy="7620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22" name="Line 78"/>
          <p:cNvSpPr>
            <a:spLocks noChangeShapeType="1"/>
          </p:cNvSpPr>
          <p:nvPr/>
        </p:nvSpPr>
        <p:spPr bwMode="auto">
          <a:xfrm flipV="1">
            <a:off x="6629400" y="3048000"/>
            <a:ext cx="1143000" cy="6858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23" name="Text Box 79"/>
          <p:cNvSpPr txBox="1">
            <a:spLocks noChangeArrowheads="1"/>
          </p:cNvSpPr>
          <p:nvPr/>
        </p:nvSpPr>
        <p:spPr bwMode="auto">
          <a:xfrm>
            <a:off x="2203450" y="1858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6</a:t>
            </a:r>
            <a:endParaRPr lang="en-US" altLang="zh-CN" sz="3200"/>
          </a:p>
        </p:txBody>
      </p:sp>
      <p:sp>
        <p:nvSpPr>
          <p:cNvPr id="211024" name="Text Box 80"/>
          <p:cNvSpPr txBox="1">
            <a:spLocks noChangeArrowheads="1"/>
          </p:cNvSpPr>
          <p:nvPr/>
        </p:nvSpPr>
        <p:spPr bwMode="auto">
          <a:xfrm>
            <a:off x="3962400" y="1858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1</a:t>
            </a:r>
            <a:endParaRPr lang="en-US" altLang="zh-CN" sz="3200"/>
          </a:p>
        </p:txBody>
      </p:sp>
      <p:sp>
        <p:nvSpPr>
          <p:cNvPr id="211025" name="Text Box 81"/>
          <p:cNvSpPr txBox="1">
            <a:spLocks noChangeArrowheads="1"/>
          </p:cNvSpPr>
          <p:nvPr/>
        </p:nvSpPr>
        <p:spPr bwMode="auto">
          <a:xfrm>
            <a:off x="5486400" y="28956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7</a:t>
            </a:r>
            <a:endParaRPr lang="en-US" altLang="zh-CN" sz="3200"/>
          </a:p>
        </p:txBody>
      </p:sp>
      <p:sp>
        <p:nvSpPr>
          <p:cNvPr id="211026" name="Text Box 82"/>
          <p:cNvSpPr txBox="1">
            <a:spLocks noChangeArrowheads="1"/>
          </p:cNvSpPr>
          <p:nvPr/>
        </p:nvSpPr>
        <p:spPr bwMode="auto">
          <a:xfrm>
            <a:off x="6699250" y="3001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4</a:t>
            </a:r>
            <a:endParaRPr lang="en-US" altLang="zh-CN" sz="3200"/>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1019"/>
                                        </p:tgtEl>
                                        <p:attrNameLst>
                                          <p:attrName>style.visibility</p:attrName>
                                        </p:attrNameLst>
                                      </p:cBhvr>
                                      <p:to>
                                        <p:strVal val="visible"/>
                                      </p:to>
                                    </p:set>
                                    <p:animEffect transition="in" filter="wipe(left)">
                                      <p:cBhvr>
                                        <p:cTn id="7" dur="500"/>
                                        <p:tgtEl>
                                          <p:spTgt spid="2110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11020"/>
                                        </p:tgtEl>
                                        <p:attrNameLst>
                                          <p:attrName>style.visibility</p:attrName>
                                        </p:attrNameLst>
                                      </p:cBhvr>
                                      <p:to>
                                        <p:strVal val="visible"/>
                                      </p:to>
                                    </p:set>
                                    <p:animEffect transition="in" filter="wipe(left)">
                                      <p:cBhvr>
                                        <p:cTn id="11" dur="500"/>
                                        <p:tgtEl>
                                          <p:spTgt spid="21102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11021"/>
                                        </p:tgtEl>
                                        <p:attrNameLst>
                                          <p:attrName>style.visibility</p:attrName>
                                        </p:attrNameLst>
                                      </p:cBhvr>
                                      <p:to>
                                        <p:strVal val="visible"/>
                                      </p:to>
                                    </p:set>
                                    <p:animEffect transition="in" filter="wipe(left)">
                                      <p:cBhvr>
                                        <p:cTn id="15" dur="500"/>
                                        <p:tgtEl>
                                          <p:spTgt spid="21102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11022"/>
                                        </p:tgtEl>
                                        <p:attrNameLst>
                                          <p:attrName>style.visibility</p:attrName>
                                        </p:attrNameLst>
                                      </p:cBhvr>
                                      <p:to>
                                        <p:strVal val="visible"/>
                                      </p:to>
                                    </p:set>
                                    <p:animEffect transition="in" filter="wipe(left)">
                                      <p:cBhvr>
                                        <p:cTn id="19" dur="500"/>
                                        <p:tgtEl>
                                          <p:spTgt spid="211022"/>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11023"/>
                                        </p:tgtEl>
                                        <p:attrNameLst>
                                          <p:attrName>style.visibility</p:attrName>
                                        </p:attrNameLst>
                                      </p:cBhvr>
                                      <p:to>
                                        <p:strVal val="visible"/>
                                      </p:to>
                                    </p:set>
                                    <p:animEffect transition="in" filter="wipe(up)">
                                      <p:cBhvr>
                                        <p:cTn id="23" dur="500"/>
                                        <p:tgtEl>
                                          <p:spTgt spid="211023"/>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11024"/>
                                        </p:tgtEl>
                                        <p:attrNameLst>
                                          <p:attrName>style.visibility</p:attrName>
                                        </p:attrNameLst>
                                      </p:cBhvr>
                                      <p:to>
                                        <p:strVal val="visible"/>
                                      </p:to>
                                    </p:set>
                                    <p:animEffect transition="in" filter="wipe(up)">
                                      <p:cBhvr>
                                        <p:cTn id="27" dur="500"/>
                                        <p:tgtEl>
                                          <p:spTgt spid="211024"/>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11025"/>
                                        </p:tgtEl>
                                        <p:attrNameLst>
                                          <p:attrName>style.visibility</p:attrName>
                                        </p:attrNameLst>
                                      </p:cBhvr>
                                      <p:to>
                                        <p:strVal val="visible"/>
                                      </p:to>
                                    </p:set>
                                    <p:animEffect transition="in" filter="wipe(up)">
                                      <p:cBhvr>
                                        <p:cTn id="31" dur="500"/>
                                        <p:tgtEl>
                                          <p:spTgt spid="211025"/>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11026"/>
                                        </p:tgtEl>
                                        <p:attrNameLst>
                                          <p:attrName>style.visibility</p:attrName>
                                        </p:attrNameLst>
                                      </p:cBhvr>
                                      <p:to>
                                        <p:strVal val="visible"/>
                                      </p:to>
                                    </p:set>
                                    <p:animEffect transition="in" filter="wipe(up)">
                                      <p:cBhvr>
                                        <p:cTn id="35" dur="500"/>
                                        <p:tgtEl>
                                          <p:spTgt spid="21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019" grpId="0" animBg="1"/>
      <p:bldP spid="211020" grpId="0" animBg="1"/>
      <p:bldP spid="211021" grpId="0" animBg="1"/>
      <p:bldP spid="211022" grpId="0" animBg="1"/>
      <p:bldP spid="211023" grpId="0" autoUpdateAnimBg="0"/>
      <p:bldP spid="211024" grpId="0" autoUpdateAnimBg="0"/>
      <p:bldP spid="211025" grpId="0" autoUpdateAnimBg="0"/>
      <p:bldP spid="211026" grpId="0" autoUpdateAnimBg="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0" y="0"/>
            <a:ext cx="59543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a:solidFill>
                  <a:srgbClr val="800000"/>
                </a:solidFill>
                <a:latin typeface="Arial" panose="020B0604020202020204" pitchFamily="34" charset="0"/>
                <a:ea typeface="楷体_GB2312" pitchFamily="49" charset="-122"/>
                <a:cs typeface="Arial" panose="020B0604020202020204" pitchFamily="34" charset="0"/>
              </a:rPr>
              <a:t>How to find critical activities?</a:t>
            </a:r>
            <a:endParaRPr lang="zh-CN" altLang="en-US"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11971" name="Text Box 3"/>
          <p:cNvSpPr txBox="1">
            <a:spLocks noChangeArrowheads="1"/>
          </p:cNvSpPr>
          <p:nvPr/>
        </p:nvSpPr>
        <p:spPr bwMode="auto">
          <a:xfrm>
            <a:off x="179388" y="765175"/>
            <a:ext cx="7345362" cy="110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buFontTx/>
              <a:buChar char="•"/>
            </a:pPr>
            <a:r>
              <a:rPr lang="en-US" altLang="zh-CN" sz="2000" b="1">
                <a:solidFill>
                  <a:srgbClr val="000099"/>
                </a:solidFill>
                <a:latin typeface="Arial" panose="020B0604020202020204" pitchFamily="34" charset="0"/>
                <a:ea typeface="楷体_GB2312" pitchFamily="49" charset="-122"/>
                <a:cs typeface="Arial" panose="020B0604020202020204" pitchFamily="34" charset="0"/>
              </a:rPr>
              <a:t>The earliest occurrence time ve(j) of the event (vertex)</a:t>
            </a:r>
            <a:endParaRPr lang="en-US" altLang="zh-CN" sz="2000" b="1">
              <a:solidFill>
                <a:srgbClr val="800000"/>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800000"/>
                </a:solidFill>
                <a:latin typeface="Arial" panose="020B0604020202020204" pitchFamily="34" charset="0"/>
                <a:ea typeface="楷体_GB2312" pitchFamily="49" charset="-122"/>
                <a:cs typeface="Arial" panose="020B0604020202020204" pitchFamily="34" charset="0"/>
              </a:rPr>
              <a:t>Ve(j) denotes </a:t>
            </a:r>
            <a:r>
              <a:rPr lang="zh-CN" altLang="en-US" sz="2000" b="1">
                <a:solidFill>
                  <a:srgbClr val="0000FF"/>
                </a:solidFill>
                <a:latin typeface="Arial" panose="020B0604020202020204" pitchFamily="34" charset="0"/>
                <a:ea typeface="楷体_GB2312" pitchFamily="49" charset="-122"/>
                <a:cs typeface="Arial" panose="020B0604020202020204" pitchFamily="34" charset="0"/>
              </a:rPr>
              <a:t>the maximum path length from the source node to vertex j</a:t>
            </a:r>
            <a:r>
              <a:rPr lang="en-US" altLang="zh-CN" sz="2000" b="1">
                <a:solidFill>
                  <a:srgbClr val="800000"/>
                </a:solidFill>
                <a:latin typeface="Arial" panose="020B0604020202020204" pitchFamily="34" charset="0"/>
                <a:ea typeface="楷体_GB2312" pitchFamily="49" charset="-122"/>
                <a:cs typeface="Arial" panose="020B0604020202020204" pitchFamily="34" charset="0"/>
              </a:rPr>
              <a:t>.</a:t>
            </a:r>
            <a:endParaRPr lang="en-US" altLang="zh-CN" sz="20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11972" name="Text Box 4"/>
          <p:cNvSpPr txBox="1">
            <a:spLocks noChangeArrowheads="1"/>
          </p:cNvSpPr>
          <p:nvPr/>
        </p:nvSpPr>
        <p:spPr bwMode="auto">
          <a:xfrm>
            <a:off x="0" y="2997200"/>
            <a:ext cx="7358063" cy="1106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buFontTx/>
              <a:buChar char="•"/>
            </a:pPr>
            <a:r>
              <a:rPr lang="en-US" altLang="zh-CN" sz="2000" b="1">
                <a:solidFill>
                  <a:srgbClr val="000099"/>
                </a:solidFill>
                <a:latin typeface="Arial" panose="020B0604020202020204" pitchFamily="34" charset="0"/>
                <a:ea typeface="楷体_GB2312" pitchFamily="49" charset="-122"/>
                <a:cs typeface="Arial" panose="020B0604020202020204" pitchFamily="34" charset="0"/>
              </a:rPr>
              <a:t>The latest occurrence time (vertex) of the event vl (k)</a:t>
            </a:r>
            <a:endParaRPr lang="en-US" altLang="zh-CN" sz="2000" b="1">
              <a:solidFill>
                <a:srgbClr val="000099"/>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800000"/>
                </a:solidFill>
                <a:latin typeface="Arial" panose="020B0604020202020204" pitchFamily="34" charset="0"/>
                <a:ea typeface="楷体_GB2312" pitchFamily="49" charset="-122"/>
                <a:cs typeface="Arial" panose="020B0604020202020204" pitchFamily="34" charset="0"/>
              </a:rPr>
              <a:t>vl(k) denotes </a:t>
            </a:r>
            <a:r>
              <a:rPr lang="zh-CN" altLang="en-US" sz="2000" b="1">
                <a:solidFill>
                  <a:srgbClr val="0000FF"/>
                </a:solidFill>
                <a:latin typeface="Arial" panose="020B0604020202020204" pitchFamily="34" charset="0"/>
                <a:ea typeface="楷体_GB2312" pitchFamily="49" charset="-122"/>
                <a:cs typeface="Arial" panose="020B0604020202020204" pitchFamily="34" charset="0"/>
              </a:rPr>
              <a:t>the shortest path length from vertex k to the sink.</a:t>
            </a:r>
            <a:endParaRPr lang="zh-CN" altLang="en-US" sz="2000" b="1">
              <a:solidFill>
                <a:srgbClr val="0000FF"/>
              </a:solidFill>
              <a:latin typeface="Arial" panose="020B0604020202020204" pitchFamily="34" charset="0"/>
              <a:ea typeface="楷体_GB2312" pitchFamily="49" charset="-122"/>
              <a:cs typeface="Arial" panose="020B0604020202020204" pitchFamily="34" charset="0"/>
            </a:endParaRPr>
          </a:p>
        </p:txBody>
      </p:sp>
      <p:sp>
        <p:nvSpPr>
          <p:cNvPr id="211973" name="Text Box 5"/>
          <p:cNvSpPr txBox="1">
            <a:spLocks noChangeArrowheads="1"/>
          </p:cNvSpPr>
          <p:nvPr/>
        </p:nvSpPr>
        <p:spPr bwMode="auto">
          <a:xfrm>
            <a:off x="323850" y="1773238"/>
            <a:ext cx="8064500"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a:solidFill>
                  <a:srgbClr val="000099"/>
                </a:solidFill>
                <a:latin typeface="Arial" panose="020B0604020202020204" pitchFamily="34" charset="0"/>
                <a:ea typeface="楷体_GB2312" pitchFamily="49" charset="-122"/>
                <a:cs typeface="Arial" panose="020B0604020202020204" pitchFamily="34" charset="0"/>
              </a:rPr>
              <a:t>This time determines the earliest start time of all activities represented by arcs ending in j.</a:t>
            </a:r>
            <a:endParaRPr lang="zh-CN" altLang="en-US" sz="200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11974" name="Text Box 6"/>
          <p:cNvSpPr txBox="1">
            <a:spLocks noChangeArrowheads="1"/>
          </p:cNvSpPr>
          <p:nvPr/>
        </p:nvSpPr>
        <p:spPr bwMode="auto">
          <a:xfrm>
            <a:off x="179388" y="4221163"/>
            <a:ext cx="4392612" cy="144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a:solidFill>
                  <a:srgbClr val="000099"/>
                </a:solidFill>
                <a:latin typeface="Arial" panose="020B0604020202020204" pitchFamily="34" charset="0"/>
                <a:ea typeface="楷体_GB2312" pitchFamily="49" charset="-122"/>
                <a:cs typeface="Arial" panose="020B0604020202020204" pitchFamily="34" charset="0"/>
              </a:rPr>
              <a:t>That is, the latest start time of all activities represented by arcs ending in k without delaying the completion of the whole project.</a:t>
            </a:r>
            <a:endParaRPr lang="zh-CN" altLang="en-US" sz="2000">
              <a:solidFill>
                <a:srgbClr val="000099"/>
              </a:solidFill>
              <a:latin typeface="Arial" panose="020B0604020202020204" pitchFamily="34" charset="0"/>
              <a:ea typeface="楷体_GB2312" pitchFamily="49" charset="-122"/>
              <a:cs typeface="Arial" panose="020B0604020202020204" pitchFamily="34" charset="0"/>
            </a:endParaRPr>
          </a:p>
        </p:txBody>
      </p:sp>
      <p:grpSp>
        <p:nvGrpSpPr>
          <p:cNvPr id="212037" name="Group 69"/>
          <p:cNvGrpSpPr/>
          <p:nvPr/>
        </p:nvGrpSpPr>
        <p:grpSpPr bwMode="auto">
          <a:xfrm>
            <a:off x="4562475" y="4149080"/>
            <a:ext cx="4581525" cy="2444749"/>
            <a:chOff x="2874" y="2821"/>
            <a:chExt cx="2886" cy="1540"/>
          </a:xfrm>
        </p:grpSpPr>
        <p:sp>
          <p:nvSpPr>
            <p:cNvPr id="211999" name="Text Box 31"/>
            <p:cNvSpPr txBox="1">
              <a:spLocks noChangeArrowheads="1"/>
            </p:cNvSpPr>
            <p:nvPr/>
          </p:nvSpPr>
          <p:spPr bwMode="auto">
            <a:xfrm>
              <a:off x="3793" y="3955"/>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2</a:t>
              </a:r>
              <a:endParaRPr lang="en-US" altLang="zh-CN" sz="3600">
                <a:solidFill>
                  <a:srgbClr val="800000"/>
                </a:solidFill>
              </a:endParaRPr>
            </a:p>
          </p:txBody>
        </p:sp>
        <p:sp>
          <p:nvSpPr>
            <p:cNvPr id="212007" name="Oval 39"/>
            <p:cNvSpPr>
              <a:spLocks noChangeArrowheads="1"/>
            </p:cNvSpPr>
            <p:nvPr/>
          </p:nvSpPr>
          <p:spPr bwMode="auto">
            <a:xfrm>
              <a:off x="2874" y="3246"/>
              <a:ext cx="288" cy="288"/>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a</a:t>
              </a:r>
              <a:endParaRPr lang="en-US" altLang="zh-CN" sz="3600">
                <a:solidFill>
                  <a:srgbClr val="800000"/>
                </a:solidFill>
              </a:endParaRPr>
            </a:p>
          </p:txBody>
        </p:sp>
        <p:sp>
          <p:nvSpPr>
            <p:cNvPr id="212008" name="Oval 40"/>
            <p:cNvSpPr>
              <a:spLocks noChangeArrowheads="1"/>
            </p:cNvSpPr>
            <p:nvPr/>
          </p:nvSpPr>
          <p:spPr bwMode="auto">
            <a:xfrm>
              <a:off x="3521" y="295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b</a:t>
              </a:r>
              <a:endParaRPr lang="en-US" altLang="zh-CN" sz="3600">
                <a:solidFill>
                  <a:srgbClr val="800000"/>
                </a:solidFill>
              </a:endParaRPr>
            </a:p>
          </p:txBody>
        </p:sp>
        <p:sp>
          <p:nvSpPr>
            <p:cNvPr id="212009" name="Oval 41"/>
            <p:cNvSpPr>
              <a:spLocks noChangeArrowheads="1"/>
            </p:cNvSpPr>
            <p:nvPr/>
          </p:nvSpPr>
          <p:spPr bwMode="auto">
            <a:xfrm>
              <a:off x="3521" y="3456"/>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c</a:t>
              </a:r>
              <a:endParaRPr lang="en-US" altLang="zh-CN" sz="3600">
                <a:solidFill>
                  <a:srgbClr val="800000"/>
                </a:solidFill>
              </a:endParaRPr>
            </a:p>
          </p:txBody>
        </p:sp>
        <p:sp>
          <p:nvSpPr>
            <p:cNvPr id="212010" name="Oval 42"/>
            <p:cNvSpPr>
              <a:spLocks noChangeArrowheads="1"/>
            </p:cNvSpPr>
            <p:nvPr/>
          </p:nvSpPr>
          <p:spPr bwMode="auto">
            <a:xfrm>
              <a:off x="3385" y="3819"/>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d</a:t>
              </a:r>
              <a:endParaRPr lang="en-US" altLang="zh-CN" sz="3600">
                <a:solidFill>
                  <a:srgbClr val="800000"/>
                </a:solidFill>
              </a:endParaRPr>
            </a:p>
          </p:txBody>
        </p:sp>
        <p:sp>
          <p:nvSpPr>
            <p:cNvPr id="212011" name="Oval 43"/>
            <p:cNvSpPr>
              <a:spLocks noChangeArrowheads="1"/>
            </p:cNvSpPr>
            <p:nvPr/>
          </p:nvSpPr>
          <p:spPr bwMode="auto">
            <a:xfrm>
              <a:off x="4066" y="3275"/>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e</a:t>
              </a:r>
              <a:endParaRPr lang="en-US" altLang="zh-CN" sz="3600">
                <a:solidFill>
                  <a:srgbClr val="800000"/>
                </a:solidFill>
              </a:endParaRPr>
            </a:p>
          </p:txBody>
        </p:sp>
        <p:sp>
          <p:nvSpPr>
            <p:cNvPr id="212012" name="Oval 44"/>
            <p:cNvSpPr>
              <a:spLocks noChangeArrowheads="1"/>
            </p:cNvSpPr>
            <p:nvPr/>
          </p:nvSpPr>
          <p:spPr bwMode="auto">
            <a:xfrm>
              <a:off x="4156" y="3865"/>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f</a:t>
              </a:r>
              <a:endParaRPr lang="en-US" altLang="zh-CN" sz="3600">
                <a:solidFill>
                  <a:srgbClr val="800000"/>
                </a:solidFill>
              </a:endParaRPr>
            </a:p>
          </p:txBody>
        </p:sp>
        <p:sp>
          <p:nvSpPr>
            <p:cNvPr id="212013" name="Oval 45"/>
            <p:cNvSpPr>
              <a:spLocks noChangeArrowheads="1"/>
            </p:cNvSpPr>
            <p:nvPr/>
          </p:nvSpPr>
          <p:spPr bwMode="auto">
            <a:xfrm>
              <a:off x="4837" y="295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g</a:t>
              </a:r>
              <a:endParaRPr lang="en-US" altLang="zh-CN" sz="3600">
                <a:solidFill>
                  <a:srgbClr val="800000"/>
                </a:solidFill>
              </a:endParaRPr>
            </a:p>
          </p:txBody>
        </p:sp>
        <p:sp>
          <p:nvSpPr>
            <p:cNvPr id="212014" name="Oval 46"/>
            <p:cNvSpPr>
              <a:spLocks noChangeArrowheads="1"/>
            </p:cNvSpPr>
            <p:nvPr/>
          </p:nvSpPr>
          <p:spPr bwMode="auto">
            <a:xfrm>
              <a:off x="4791" y="3593"/>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h</a:t>
              </a:r>
              <a:endParaRPr lang="en-US" altLang="zh-CN" sz="3600">
                <a:solidFill>
                  <a:srgbClr val="800000"/>
                </a:solidFill>
              </a:endParaRPr>
            </a:p>
          </p:txBody>
        </p:sp>
        <p:sp>
          <p:nvSpPr>
            <p:cNvPr id="212015" name="Oval 47"/>
            <p:cNvSpPr>
              <a:spLocks noChangeArrowheads="1"/>
            </p:cNvSpPr>
            <p:nvPr/>
          </p:nvSpPr>
          <p:spPr bwMode="auto">
            <a:xfrm>
              <a:off x="5472" y="3230"/>
              <a:ext cx="288" cy="288"/>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a:solidFill>
                    <a:srgbClr val="800000"/>
                  </a:solidFill>
                </a:rPr>
                <a:t>k</a:t>
              </a:r>
              <a:endParaRPr lang="en-US" altLang="zh-CN" sz="3600">
                <a:solidFill>
                  <a:srgbClr val="800000"/>
                </a:solidFill>
              </a:endParaRPr>
            </a:p>
          </p:txBody>
        </p:sp>
        <p:sp>
          <p:nvSpPr>
            <p:cNvPr id="212016" name="Line 48"/>
            <p:cNvSpPr>
              <a:spLocks noChangeShapeType="1"/>
            </p:cNvSpPr>
            <p:nvPr/>
          </p:nvSpPr>
          <p:spPr bwMode="auto">
            <a:xfrm flipV="1">
              <a:off x="3114" y="3139"/>
              <a:ext cx="407" cy="155"/>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17" name="Line 49"/>
            <p:cNvSpPr>
              <a:spLocks noChangeShapeType="1"/>
            </p:cNvSpPr>
            <p:nvPr/>
          </p:nvSpPr>
          <p:spPr bwMode="auto">
            <a:xfrm>
              <a:off x="3162" y="3390"/>
              <a:ext cx="359" cy="157"/>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18" name="Line 50"/>
            <p:cNvSpPr>
              <a:spLocks noChangeShapeType="1"/>
            </p:cNvSpPr>
            <p:nvPr/>
          </p:nvSpPr>
          <p:spPr bwMode="auto">
            <a:xfrm flipV="1">
              <a:off x="3839" y="3411"/>
              <a:ext cx="227" cy="163"/>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19" name="Line 51"/>
            <p:cNvSpPr>
              <a:spLocks noChangeShapeType="1"/>
            </p:cNvSpPr>
            <p:nvPr/>
          </p:nvSpPr>
          <p:spPr bwMode="auto">
            <a:xfrm>
              <a:off x="3787" y="3113"/>
              <a:ext cx="318" cy="226"/>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0" name="Line 52"/>
            <p:cNvSpPr>
              <a:spLocks noChangeShapeType="1"/>
            </p:cNvSpPr>
            <p:nvPr/>
          </p:nvSpPr>
          <p:spPr bwMode="auto">
            <a:xfrm flipV="1">
              <a:off x="4338" y="3094"/>
              <a:ext cx="499" cy="253"/>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1" name="Line 53"/>
            <p:cNvSpPr>
              <a:spLocks noChangeShapeType="1"/>
            </p:cNvSpPr>
            <p:nvPr/>
          </p:nvSpPr>
          <p:spPr bwMode="auto">
            <a:xfrm>
              <a:off x="5154" y="3094"/>
              <a:ext cx="318" cy="226"/>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2" name="Line 54"/>
            <p:cNvSpPr>
              <a:spLocks noChangeShapeType="1"/>
            </p:cNvSpPr>
            <p:nvPr/>
          </p:nvSpPr>
          <p:spPr bwMode="auto">
            <a:xfrm flipV="1">
              <a:off x="5064" y="3411"/>
              <a:ext cx="408" cy="296"/>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3" name="Line 55"/>
            <p:cNvSpPr>
              <a:spLocks noChangeShapeType="1"/>
            </p:cNvSpPr>
            <p:nvPr/>
          </p:nvSpPr>
          <p:spPr bwMode="auto">
            <a:xfrm>
              <a:off x="4338" y="3456"/>
              <a:ext cx="453" cy="273"/>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4" name="Line 56"/>
            <p:cNvSpPr>
              <a:spLocks noChangeShapeType="1"/>
            </p:cNvSpPr>
            <p:nvPr/>
          </p:nvSpPr>
          <p:spPr bwMode="auto">
            <a:xfrm>
              <a:off x="3018" y="3534"/>
              <a:ext cx="367" cy="421"/>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5" name="Line 57"/>
            <p:cNvSpPr>
              <a:spLocks noChangeShapeType="1"/>
            </p:cNvSpPr>
            <p:nvPr/>
          </p:nvSpPr>
          <p:spPr bwMode="auto">
            <a:xfrm>
              <a:off x="3703" y="4001"/>
              <a:ext cx="453" cy="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6" name="Line 58"/>
            <p:cNvSpPr>
              <a:spLocks noChangeShapeType="1"/>
            </p:cNvSpPr>
            <p:nvPr/>
          </p:nvSpPr>
          <p:spPr bwMode="auto">
            <a:xfrm flipV="1">
              <a:off x="4428" y="3774"/>
              <a:ext cx="363" cy="208"/>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27" name="Text Box 59"/>
            <p:cNvSpPr txBox="1">
              <a:spLocks noChangeArrowheads="1"/>
            </p:cNvSpPr>
            <p:nvPr/>
          </p:nvSpPr>
          <p:spPr bwMode="auto">
            <a:xfrm>
              <a:off x="3113" y="2821"/>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3333FF"/>
                  </a:solidFill>
                </a:rPr>
                <a:t>6</a:t>
              </a:r>
              <a:endParaRPr lang="en-US" altLang="zh-CN" sz="3600">
                <a:solidFill>
                  <a:srgbClr val="3333FF"/>
                </a:solidFill>
              </a:endParaRPr>
            </a:p>
          </p:txBody>
        </p:sp>
        <p:sp>
          <p:nvSpPr>
            <p:cNvPr id="212028" name="Text Box 60"/>
            <p:cNvSpPr txBox="1">
              <a:spLocks noChangeArrowheads="1"/>
            </p:cNvSpPr>
            <p:nvPr/>
          </p:nvSpPr>
          <p:spPr bwMode="auto">
            <a:xfrm>
              <a:off x="3158" y="3366"/>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4</a:t>
              </a:r>
              <a:endParaRPr lang="en-US" altLang="zh-CN" sz="3600">
                <a:solidFill>
                  <a:srgbClr val="800000"/>
                </a:solidFill>
              </a:endParaRPr>
            </a:p>
          </p:txBody>
        </p:sp>
        <p:sp>
          <p:nvSpPr>
            <p:cNvPr id="212029" name="Text Box 61"/>
            <p:cNvSpPr txBox="1">
              <a:spLocks noChangeArrowheads="1"/>
            </p:cNvSpPr>
            <p:nvPr/>
          </p:nvSpPr>
          <p:spPr bwMode="auto">
            <a:xfrm>
              <a:off x="2886" y="3683"/>
              <a:ext cx="244"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600">
                  <a:solidFill>
                    <a:srgbClr val="800000"/>
                  </a:solidFill>
                </a:rPr>
                <a:t>5</a:t>
              </a:r>
              <a:endParaRPr lang="en-US" altLang="zh-CN" sz="3600">
                <a:solidFill>
                  <a:srgbClr val="800000"/>
                </a:solidFill>
              </a:endParaRPr>
            </a:p>
          </p:txBody>
        </p:sp>
        <p:sp>
          <p:nvSpPr>
            <p:cNvPr id="212030" name="Text Box 62"/>
            <p:cNvSpPr txBox="1">
              <a:spLocks noChangeArrowheads="1"/>
            </p:cNvSpPr>
            <p:nvPr/>
          </p:nvSpPr>
          <p:spPr bwMode="auto">
            <a:xfrm>
              <a:off x="3923" y="2886"/>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3333FF"/>
                  </a:solidFill>
                </a:rPr>
                <a:t>1</a:t>
              </a:r>
              <a:endParaRPr lang="en-US" altLang="zh-CN" sz="3600">
                <a:solidFill>
                  <a:srgbClr val="3333FF"/>
                </a:solidFill>
              </a:endParaRPr>
            </a:p>
          </p:txBody>
        </p:sp>
        <p:sp>
          <p:nvSpPr>
            <p:cNvPr id="212031" name="Text Box 63"/>
            <p:cNvSpPr txBox="1">
              <a:spLocks noChangeArrowheads="1"/>
            </p:cNvSpPr>
            <p:nvPr/>
          </p:nvSpPr>
          <p:spPr bwMode="auto">
            <a:xfrm>
              <a:off x="3884" y="3456"/>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1</a:t>
              </a:r>
              <a:endParaRPr lang="en-US" altLang="zh-CN" sz="3600">
                <a:solidFill>
                  <a:srgbClr val="800000"/>
                </a:solidFill>
              </a:endParaRPr>
            </a:p>
          </p:txBody>
        </p:sp>
        <p:sp>
          <p:nvSpPr>
            <p:cNvPr id="212032" name="Text Box 64"/>
            <p:cNvSpPr txBox="1">
              <a:spLocks noChangeArrowheads="1"/>
            </p:cNvSpPr>
            <p:nvPr/>
          </p:nvSpPr>
          <p:spPr bwMode="auto">
            <a:xfrm>
              <a:off x="4519" y="2912"/>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8</a:t>
              </a:r>
              <a:endParaRPr lang="en-US" altLang="zh-CN" sz="3600">
                <a:solidFill>
                  <a:srgbClr val="800000"/>
                </a:solidFill>
              </a:endParaRPr>
            </a:p>
          </p:txBody>
        </p:sp>
        <p:sp>
          <p:nvSpPr>
            <p:cNvPr id="212033" name="Text Box 65"/>
            <p:cNvSpPr txBox="1">
              <a:spLocks noChangeArrowheads="1"/>
            </p:cNvSpPr>
            <p:nvPr/>
          </p:nvSpPr>
          <p:spPr bwMode="auto">
            <a:xfrm>
              <a:off x="4519" y="3320"/>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3333FF"/>
                  </a:solidFill>
                </a:rPr>
                <a:t>7</a:t>
              </a:r>
              <a:endParaRPr lang="en-US" altLang="zh-CN" sz="3600">
                <a:solidFill>
                  <a:srgbClr val="3333FF"/>
                </a:solidFill>
              </a:endParaRPr>
            </a:p>
          </p:txBody>
        </p:sp>
        <p:sp>
          <p:nvSpPr>
            <p:cNvPr id="212034" name="Text Box 66"/>
            <p:cNvSpPr txBox="1">
              <a:spLocks noChangeArrowheads="1"/>
            </p:cNvSpPr>
            <p:nvPr/>
          </p:nvSpPr>
          <p:spPr bwMode="auto">
            <a:xfrm>
              <a:off x="5245" y="2912"/>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2</a:t>
              </a:r>
              <a:endParaRPr lang="en-US" altLang="zh-CN" sz="3600">
                <a:solidFill>
                  <a:srgbClr val="800000"/>
                </a:solidFill>
              </a:endParaRPr>
            </a:p>
          </p:txBody>
        </p:sp>
        <p:sp>
          <p:nvSpPr>
            <p:cNvPr id="212035" name="Text Box 67"/>
            <p:cNvSpPr txBox="1">
              <a:spLocks noChangeArrowheads="1"/>
            </p:cNvSpPr>
            <p:nvPr/>
          </p:nvSpPr>
          <p:spPr bwMode="auto">
            <a:xfrm>
              <a:off x="5200" y="3456"/>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3333FF"/>
                  </a:solidFill>
                </a:rPr>
                <a:t>4</a:t>
              </a:r>
              <a:endParaRPr lang="en-US" altLang="zh-CN" sz="3600">
                <a:solidFill>
                  <a:srgbClr val="3333FF"/>
                </a:solidFill>
              </a:endParaRPr>
            </a:p>
          </p:txBody>
        </p:sp>
        <p:sp>
          <p:nvSpPr>
            <p:cNvPr id="212036" name="Text Box 68"/>
            <p:cNvSpPr txBox="1">
              <a:spLocks noChangeArrowheads="1"/>
            </p:cNvSpPr>
            <p:nvPr/>
          </p:nvSpPr>
          <p:spPr bwMode="auto">
            <a:xfrm>
              <a:off x="4519" y="3819"/>
              <a:ext cx="259"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800000"/>
                  </a:solidFill>
                </a:rPr>
                <a:t>4</a:t>
              </a:r>
              <a:endParaRPr lang="en-US" altLang="zh-CN" sz="3600">
                <a:solidFill>
                  <a:srgbClr val="800000"/>
                </a:solidFill>
              </a:endParaRPr>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11970"/>
                                        </p:tgtEl>
                                        <p:attrNameLst>
                                          <p:attrName>style.visibility</p:attrName>
                                        </p:attrNameLst>
                                      </p:cBhvr>
                                      <p:to>
                                        <p:strVal val="visible"/>
                                      </p:to>
                                    </p:set>
                                    <p:animEffect transition="in" filter="slide(fromTop)">
                                      <p:cBhvr>
                                        <p:cTn id="7" dur="500"/>
                                        <p:tgtEl>
                                          <p:spTgt spid="21197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11971"/>
                                        </p:tgtEl>
                                        <p:attrNameLst>
                                          <p:attrName>style.visibility</p:attrName>
                                        </p:attrNameLst>
                                      </p:cBhvr>
                                      <p:to>
                                        <p:strVal val="visible"/>
                                      </p:to>
                                    </p:set>
                                    <p:animEffect transition="in" filter="barn(outVertical)">
                                      <p:cBhvr>
                                        <p:cTn id="12" dur="500"/>
                                        <p:tgtEl>
                                          <p:spTgt spid="2119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11973"/>
                                        </p:tgtEl>
                                        <p:attrNameLst>
                                          <p:attrName>style.visibility</p:attrName>
                                        </p:attrNameLst>
                                      </p:cBhvr>
                                      <p:to>
                                        <p:strVal val="visible"/>
                                      </p:to>
                                    </p:set>
                                    <p:animEffect transition="in" filter="barn(outVertical)">
                                      <p:cBhvr>
                                        <p:cTn id="17" dur="500"/>
                                        <p:tgtEl>
                                          <p:spTgt spid="21197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11972"/>
                                        </p:tgtEl>
                                        <p:attrNameLst>
                                          <p:attrName>style.visibility</p:attrName>
                                        </p:attrNameLst>
                                      </p:cBhvr>
                                      <p:to>
                                        <p:strVal val="visible"/>
                                      </p:to>
                                    </p:set>
                                    <p:animEffect transition="in" filter="box(out)">
                                      <p:cBhvr>
                                        <p:cTn id="22" dur="500"/>
                                        <p:tgtEl>
                                          <p:spTgt spid="21197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11974"/>
                                        </p:tgtEl>
                                        <p:attrNameLst>
                                          <p:attrName>style.visibility</p:attrName>
                                        </p:attrNameLst>
                                      </p:cBhvr>
                                      <p:to>
                                        <p:strVal val="visible"/>
                                      </p:to>
                                    </p:set>
                                    <p:animEffect transition="in" filter="barn(outVertical)">
                                      <p:cBhvr>
                                        <p:cTn id="27" dur="500"/>
                                        <p:tgtEl>
                                          <p:spTgt spid="211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bldLvl="0" animBg="1" autoUpdateAnimBg="0"/>
      <p:bldP spid="211971" grpId="0" bldLvl="0" animBg="1" autoUpdateAnimBg="0"/>
      <p:bldP spid="211972" grpId="0" bldLvl="0" animBg="1" autoUpdateAnimBg="0"/>
      <p:bldP spid="211973" grpId="0" bldLvl="0" animBg="1" autoUpdateAnimBg="0"/>
      <p:bldP spid="211974" grpId="0" bldLvl="0" animBg="1"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685800" y="2362200"/>
            <a:ext cx="7696200" cy="2982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b="1">
                <a:solidFill>
                  <a:srgbClr val="800000"/>
                </a:solidFill>
                <a:latin typeface="Arial" panose="020B0604020202020204" pitchFamily="34" charset="0"/>
                <a:ea typeface="楷体_GB2312" pitchFamily="49" charset="-122"/>
                <a:cs typeface="Arial" panose="020B0604020202020204" pitchFamily="34" charset="0"/>
              </a:rPr>
              <a:t>The formula for calculating the event time:</a:t>
            </a:r>
            <a:endParaRPr lang="zh-CN" altLang="en-US" sz="4400">
              <a:solidFill>
                <a:srgbClr val="000099"/>
              </a:solidFill>
              <a:latin typeface="Arial" panose="020B0604020202020204" pitchFamily="34" charset="0"/>
              <a:ea typeface="楷体_GB2312" pitchFamily="49" charset="-122"/>
              <a:cs typeface="Arial" panose="020B0604020202020204" pitchFamily="34" charset="0"/>
            </a:endParaRPr>
          </a:p>
          <a:p>
            <a:pPr>
              <a:lnSpc>
                <a:spcPct val="140000"/>
              </a:lnSpc>
            </a:pPr>
            <a:r>
              <a:rPr lang="zh-CN" altLang="en-US" sz="2000" b="1">
                <a:solidFill>
                  <a:srgbClr val="3333FF"/>
                </a:solidFill>
                <a:latin typeface="Arial" panose="020B0604020202020204" pitchFamily="34" charset="0"/>
                <a:ea typeface="楷体_GB2312" pitchFamily="49" charset="-122"/>
                <a:cs typeface="Arial" panose="020B0604020202020204" pitchFamily="34" charset="0"/>
              </a:rPr>
              <a:t>The earliest occurrence time ve(k) of the event (vertex):</a:t>
            </a:r>
            <a:endParaRPr lang="en-US" altLang="zh-CN" sz="4000" b="1">
              <a:solidFill>
                <a:srgbClr val="3333FF"/>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400" b="1">
                <a:solidFill>
                  <a:srgbClr val="800000"/>
                </a:solidFill>
                <a:latin typeface="Arial" panose="020B0604020202020204" pitchFamily="34" charset="0"/>
                <a:ea typeface="楷体_GB2312" pitchFamily="49" charset="-122"/>
                <a:cs typeface="Arial" panose="020B0604020202020204" pitchFamily="34" charset="0"/>
              </a:rPr>
              <a:t>ve (source) = 0;</a:t>
            </a:r>
            <a:endParaRPr lang="zh-CN" altLang="en-US" sz="4400" b="1">
              <a:solidFill>
                <a:srgbClr val="800000"/>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400" b="1">
                <a:solidFill>
                  <a:srgbClr val="800000"/>
                </a:solidFill>
                <a:latin typeface="Arial" panose="020B0604020202020204" pitchFamily="34" charset="0"/>
                <a:ea typeface="楷体_GB2312" pitchFamily="49" charset="-122"/>
                <a:cs typeface="Arial" panose="020B0604020202020204" pitchFamily="34" charset="0"/>
              </a:rPr>
              <a:t>ve(k) = Max{ve(j) + dut(&lt;j, k&gt;)}</a:t>
            </a:r>
            <a:endParaRPr lang="en-US" altLang="zh-CN" sz="4400" b="1">
              <a:solidFill>
                <a:srgbClr val="800000"/>
              </a:solidFill>
              <a:latin typeface="Arial" panose="020B0604020202020204" pitchFamily="34" charset="0"/>
              <a:ea typeface="楷体_GB2312" pitchFamily="49" charset="-122"/>
              <a:cs typeface="Arial" panose="020B0604020202020204" pitchFamily="34" charset="0"/>
            </a:endParaRPr>
          </a:p>
          <a:p>
            <a:pPr>
              <a:lnSpc>
                <a:spcPct val="140000"/>
              </a:lnSpc>
            </a:pPr>
            <a:r>
              <a:rPr lang="en-US" altLang="zh-CN" sz="2000" b="1">
                <a:solidFill>
                  <a:srgbClr val="3333FF"/>
                </a:solidFill>
                <a:latin typeface="Arial" panose="020B0604020202020204" pitchFamily="34" charset="0"/>
                <a:ea typeface="楷体_GB2312" pitchFamily="49" charset="-122"/>
                <a:cs typeface="Arial" panose="020B0604020202020204" pitchFamily="34" charset="0"/>
              </a:rPr>
              <a:t>The latest occurrence time (vertex) of the event vl(j):</a:t>
            </a:r>
            <a:endParaRPr lang="en-US" altLang="zh-CN" sz="4000" b="1">
              <a:solidFill>
                <a:srgbClr val="000099"/>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400" b="1">
                <a:solidFill>
                  <a:srgbClr val="800000"/>
                </a:solidFill>
                <a:latin typeface="Arial" panose="020B0604020202020204" pitchFamily="34" charset="0"/>
                <a:ea typeface="楷体_GB2312" pitchFamily="49" charset="-122"/>
                <a:cs typeface="Arial" panose="020B0604020202020204" pitchFamily="34" charset="0"/>
              </a:rPr>
              <a:t>vl (sink) = ve (sink);</a:t>
            </a:r>
            <a:endParaRPr lang="zh-CN" altLang="en-US" sz="4400" b="1">
              <a:solidFill>
                <a:srgbClr val="800000"/>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400" b="1">
                <a:solidFill>
                  <a:srgbClr val="800000"/>
                </a:solidFill>
                <a:latin typeface="Arial" panose="020B0604020202020204" pitchFamily="34" charset="0"/>
                <a:ea typeface="楷体_GB2312" pitchFamily="49" charset="-122"/>
                <a:cs typeface="Arial" panose="020B0604020202020204" pitchFamily="34" charset="0"/>
              </a:rPr>
              <a:t>vl(j) = Min{vl(k) – dut(&lt;j, k&gt;)}</a:t>
            </a:r>
            <a:endParaRPr lang="en-US" altLang="zh-CN" sz="24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19139" name="Rectangle 3"/>
          <p:cNvSpPr>
            <a:spLocks noChangeArrowheads="1"/>
          </p:cNvSpPr>
          <p:nvPr/>
        </p:nvSpPr>
        <p:spPr bwMode="auto">
          <a:xfrm>
            <a:off x="790575" y="609600"/>
            <a:ext cx="485584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latin typeface="Arial" panose="020B0604020202020204" pitchFamily="34" charset="0"/>
                <a:ea typeface="楷体_GB2312" pitchFamily="49" charset="-122"/>
                <a:cs typeface="Arial" panose="020B0604020202020204" pitchFamily="34" charset="0"/>
              </a:rPr>
              <a:t>Assume that the i-th arc is &lt;j, k&gt;</a:t>
            </a:r>
            <a:endParaRPr lang="zh-CN" altLang="en-US" sz="2400" b="1">
              <a:latin typeface="Arial" panose="020B0604020202020204" pitchFamily="34" charset="0"/>
              <a:ea typeface="楷体_GB2312" pitchFamily="49" charset="-122"/>
              <a:cs typeface="Arial" panose="020B0604020202020204" pitchFamily="34" charset="0"/>
            </a:endParaRPr>
          </a:p>
        </p:txBody>
      </p:sp>
      <p:grpSp>
        <p:nvGrpSpPr>
          <p:cNvPr id="219140" name="Group 4"/>
          <p:cNvGrpSpPr/>
          <p:nvPr/>
        </p:nvGrpSpPr>
        <p:grpSpPr bwMode="auto">
          <a:xfrm>
            <a:off x="2514600" y="1295400"/>
            <a:ext cx="3352800" cy="714375"/>
            <a:chOff x="1584" y="816"/>
            <a:chExt cx="2112" cy="450"/>
          </a:xfrm>
        </p:grpSpPr>
        <p:sp>
          <p:nvSpPr>
            <p:cNvPr id="219141" name="Oval 5"/>
            <p:cNvSpPr>
              <a:spLocks noChangeArrowheads="1"/>
            </p:cNvSpPr>
            <p:nvPr/>
          </p:nvSpPr>
          <p:spPr bwMode="auto">
            <a:xfrm>
              <a:off x="1584" y="97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Arial" panose="020B0604020202020204" pitchFamily="34" charset="0"/>
                  <a:cs typeface="Arial" panose="020B0604020202020204" pitchFamily="34" charset="0"/>
                </a:rPr>
                <a:t>j</a:t>
              </a:r>
              <a:endParaRPr lang="en-US" altLang="zh-CN" sz="2400">
                <a:latin typeface="Arial" panose="020B0604020202020204" pitchFamily="34" charset="0"/>
                <a:cs typeface="Arial" panose="020B0604020202020204" pitchFamily="34" charset="0"/>
              </a:endParaRPr>
            </a:p>
          </p:txBody>
        </p:sp>
        <p:sp>
          <p:nvSpPr>
            <p:cNvPr id="219142" name="Oval 6"/>
            <p:cNvSpPr>
              <a:spLocks noChangeArrowheads="1"/>
            </p:cNvSpPr>
            <p:nvPr/>
          </p:nvSpPr>
          <p:spPr bwMode="auto">
            <a:xfrm>
              <a:off x="3408" y="97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Arial" panose="020B0604020202020204" pitchFamily="34" charset="0"/>
                  <a:cs typeface="Arial" panose="020B0604020202020204" pitchFamily="34" charset="0"/>
                </a:rPr>
                <a:t>k</a:t>
              </a:r>
              <a:endParaRPr lang="en-US" altLang="zh-CN" sz="2400">
                <a:latin typeface="Arial" panose="020B0604020202020204" pitchFamily="34" charset="0"/>
                <a:cs typeface="Arial" panose="020B0604020202020204" pitchFamily="34" charset="0"/>
              </a:endParaRPr>
            </a:p>
          </p:txBody>
        </p:sp>
        <p:sp>
          <p:nvSpPr>
            <p:cNvPr id="219143" name="Line 7"/>
            <p:cNvSpPr>
              <a:spLocks noChangeShapeType="1"/>
            </p:cNvSpPr>
            <p:nvPr/>
          </p:nvSpPr>
          <p:spPr bwMode="auto">
            <a:xfrm>
              <a:off x="1872" y="1122"/>
              <a:ext cx="1536" cy="0"/>
            </a:xfrm>
            <a:prstGeom prst="line">
              <a:avLst/>
            </a:prstGeom>
            <a:noFill/>
            <a:ln w="38100" cap="sq">
              <a:solidFill>
                <a:srgbClr val="00009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44" name="Rectangle 8"/>
            <p:cNvSpPr>
              <a:spLocks noChangeArrowheads="1"/>
            </p:cNvSpPr>
            <p:nvPr/>
          </p:nvSpPr>
          <p:spPr bwMode="auto">
            <a:xfrm>
              <a:off x="2016" y="816"/>
              <a:ext cx="879"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latin typeface="Arial" panose="020B0604020202020204" pitchFamily="34" charset="0"/>
                  <a:ea typeface="楷体_GB2312" pitchFamily="49" charset="-122"/>
                  <a:cs typeface="Arial" panose="020B0604020202020204" pitchFamily="34" charset="0"/>
                </a:rPr>
                <a:t>dut(&lt;j, k&gt;)</a:t>
              </a:r>
              <a:endParaRPr lang="en-US" altLang="zh-CN" sz="2000" b="1">
                <a:latin typeface="Arial" panose="020B0604020202020204" pitchFamily="34" charset="0"/>
                <a:ea typeface="楷体_GB2312" pitchFamily="49" charset="-122"/>
                <a:cs typeface="Arial" panose="020B0604020202020204" pitchFamily="34" charset="0"/>
              </a:endParaRPr>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19138">
                                            <p:txEl>
                                              <p:pRg st="4294967295" end="4294967295"/>
                                            </p:txEl>
                                          </p:spTgt>
                                        </p:tgtEl>
                                        <p:attrNameLst>
                                          <p:attrName>style.visibility</p:attrName>
                                        </p:attrNameLst>
                                      </p:cBhvr>
                                      <p:to>
                                        <p:strVal val="visible"/>
                                      </p:to>
                                    </p:set>
                                    <p:animEffect transition="in" filter="slide(fromLeft)">
                                      <p:cBhvr>
                                        <p:cTn id="7" dur="500"/>
                                        <p:tgtEl>
                                          <p:spTgt spid="219138">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19138">
                                            <p:txEl>
                                              <p:pRg st="0" end="0"/>
                                            </p:txEl>
                                          </p:spTgt>
                                        </p:tgtEl>
                                        <p:attrNameLst>
                                          <p:attrName>style.visibility</p:attrName>
                                        </p:attrNameLst>
                                      </p:cBhvr>
                                      <p:to>
                                        <p:strVal val="visible"/>
                                      </p:to>
                                    </p:set>
                                    <p:animEffect transition="in" filter="slide(fromLeft)">
                                      <p:cBhvr>
                                        <p:cTn id="12" dur="500"/>
                                        <p:tgtEl>
                                          <p:spTgt spid="2191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19138">
                                            <p:txEl>
                                              <p:pRg st="1" end="1"/>
                                            </p:txEl>
                                          </p:spTgt>
                                        </p:tgtEl>
                                        <p:attrNameLst>
                                          <p:attrName>style.visibility</p:attrName>
                                        </p:attrNameLst>
                                      </p:cBhvr>
                                      <p:to>
                                        <p:strVal val="visible"/>
                                      </p:to>
                                    </p:set>
                                    <p:animEffect transition="in" filter="slide(fromLeft)">
                                      <p:cBhvr>
                                        <p:cTn id="17" dur="500"/>
                                        <p:tgtEl>
                                          <p:spTgt spid="21913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219138">
                                            <p:txEl>
                                              <p:pRg st="2" end="2"/>
                                            </p:txEl>
                                          </p:spTgt>
                                        </p:tgtEl>
                                        <p:attrNameLst>
                                          <p:attrName>style.visibility</p:attrName>
                                        </p:attrNameLst>
                                      </p:cBhvr>
                                      <p:to>
                                        <p:strVal val="visible"/>
                                      </p:to>
                                    </p:set>
                                    <p:animEffect transition="in" filter="slide(fromLeft)">
                                      <p:cBhvr>
                                        <p:cTn id="22" dur="500"/>
                                        <p:tgtEl>
                                          <p:spTgt spid="21913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19138">
                                            <p:txEl>
                                              <p:pRg st="3" end="3"/>
                                            </p:txEl>
                                          </p:spTgt>
                                        </p:tgtEl>
                                        <p:attrNameLst>
                                          <p:attrName>style.visibility</p:attrName>
                                        </p:attrNameLst>
                                      </p:cBhvr>
                                      <p:to>
                                        <p:strVal val="visible"/>
                                      </p:to>
                                    </p:set>
                                    <p:animEffect transition="in" filter="slide(fromLeft)">
                                      <p:cBhvr>
                                        <p:cTn id="27" dur="500"/>
                                        <p:tgtEl>
                                          <p:spTgt spid="21913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219138">
                                            <p:txEl>
                                              <p:pRg st="4" end="4"/>
                                            </p:txEl>
                                          </p:spTgt>
                                        </p:tgtEl>
                                        <p:attrNameLst>
                                          <p:attrName>style.visibility</p:attrName>
                                        </p:attrNameLst>
                                      </p:cBhvr>
                                      <p:to>
                                        <p:strVal val="visible"/>
                                      </p:to>
                                    </p:set>
                                    <p:animEffect transition="in" filter="slide(fromLeft)">
                                      <p:cBhvr>
                                        <p:cTn id="32" dur="500"/>
                                        <p:tgtEl>
                                          <p:spTgt spid="21913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219138">
                                            <p:txEl>
                                              <p:pRg st="5" end="5"/>
                                            </p:txEl>
                                          </p:spTgt>
                                        </p:tgtEl>
                                        <p:attrNameLst>
                                          <p:attrName>style.visibility</p:attrName>
                                        </p:attrNameLst>
                                      </p:cBhvr>
                                      <p:to>
                                        <p:strVal val="visible"/>
                                      </p:to>
                                    </p:set>
                                    <p:animEffect transition="in" filter="slide(fromLeft)">
                                      <p:cBhvr>
                                        <p:cTn id="37" dur="500"/>
                                        <p:tgtEl>
                                          <p:spTgt spid="21913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219138">
                                            <p:txEl>
                                              <p:pRg st="6" end="6"/>
                                            </p:txEl>
                                          </p:spTgt>
                                        </p:tgtEl>
                                        <p:attrNameLst>
                                          <p:attrName>style.visibility</p:attrName>
                                        </p:attrNameLst>
                                      </p:cBhvr>
                                      <p:to>
                                        <p:strVal val="visible"/>
                                      </p:to>
                                    </p:set>
                                    <p:animEffect transition="in" filter="slide(fromLeft)">
                                      <p:cBhvr>
                                        <p:cTn id="42" dur="500"/>
                                        <p:tgtEl>
                                          <p:spTgt spid="2191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autoUpdateAnimBg="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ext Box 2"/>
          <p:cNvSpPr txBox="1">
            <a:spLocks noChangeArrowheads="1"/>
          </p:cNvSpPr>
          <p:nvPr/>
        </p:nvSpPr>
        <p:spPr bwMode="auto">
          <a:xfrm>
            <a:off x="0" y="0"/>
            <a:ext cx="8915400"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b="1">
                <a:latin typeface="Arial" panose="020B0604020202020204" pitchFamily="34" charset="0"/>
                <a:ea typeface="楷体_GB2312" pitchFamily="49" charset="-122"/>
                <a:cs typeface="Arial" panose="020B0604020202020204" pitchFamily="34" charset="0"/>
              </a:rPr>
              <a:t>Assuming arc i is &lt;j, k&gt;, then for the i-th activity,</a:t>
            </a:r>
            <a:endParaRPr lang="zh-CN" altLang="en-US" sz="4000" b="1">
              <a:latin typeface="Arial" panose="020B0604020202020204" pitchFamily="34" charset="0"/>
              <a:ea typeface="楷体_GB2312" pitchFamily="49" charset="-122"/>
              <a:cs typeface="Arial" panose="020B0604020202020204" pitchFamily="34" charset="0"/>
            </a:endParaRPr>
          </a:p>
          <a:p>
            <a:pPr>
              <a:lnSpc>
                <a:spcPct val="110000"/>
              </a:lnSpc>
            </a:pPr>
            <a:r>
              <a:rPr lang="zh-CN" altLang="en-US" sz="2000" b="1">
                <a:solidFill>
                  <a:srgbClr val="3333FF"/>
                </a:solidFill>
                <a:latin typeface="Arial" panose="020B0604020202020204" pitchFamily="34" charset="0"/>
                <a:ea typeface="楷体_GB2312" pitchFamily="49" charset="-122"/>
                <a:cs typeface="Arial" panose="020B0604020202020204" pitchFamily="34" charset="0"/>
              </a:rPr>
              <a:t>The earliest start time e(i) for the activity (arc)</a:t>
            </a:r>
            <a:endParaRPr lang="en-US" altLang="zh-CN" sz="4000">
              <a:solidFill>
                <a:srgbClr val="3333FF"/>
              </a:solidFill>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800000"/>
                </a:solidFill>
                <a:latin typeface="Arial" panose="020B0604020202020204" pitchFamily="34" charset="0"/>
                <a:ea typeface="楷体_GB2312" pitchFamily="49" charset="-122"/>
                <a:cs typeface="Arial" panose="020B0604020202020204" pitchFamily="34" charset="0"/>
              </a:rPr>
              <a:t>e(i) = ve(j)；</a:t>
            </a:r>
            <a:endParaRPr lang="zh-CN" altLang="en-US" sz="4000" b="1">
              <a:solidFill>
                <a:srgbClr val="800000"/>
              </a:solidFill>
              <a:latin typeface="Arial" panose="020B0604020202020204" pitchFamily="34" charset="0"/>
              <a:ea typeface="楷体_GB2312" pitchFamily="49" charset="-122"/>
              <a:cs typeface="Arial" panose="020B0604020202020204" pitchFamily="34" charset="0"/>
            </a:endParaRPr>
          </a:p>
          <a:p>
            <a:pPr>
              <a:lnSpc>
                <a:spcPct val="110000"/>
              </a:lnSpc>
            </a:pPr>
            <a:endParaRPr lang="zh-CN" altLang="en-US" sz="900">
              <a:solidFill>
                <a:srgbClr val="000099"/>
              </a:solidFill>
              <a:latin typeface="Arial" panose="020B0604020202020204" pitchFamily="34" charset="0"/>
              <a:ea typeface="楷体_GB2312" pitchFamily="49" charset="-122"/>
              <a:cs typeface="Arial" panose="020B0604020202020204" pitchFamily="34" charset="0"/>
            </a:endParaRPr>
          </a:p>
          <a:p>
            <a:pPr>
              <a:lnSpc>
                <a:spcPct val="110000"/>
              </a:lnSpc>
            </a:pPr>
            <a:r>
              <a:rPr lang="zh-CN" altLang="en-US" sz="2000" b="1">
                <a:solidFill>
                  <a:srgbClr val="3333FF"/>
                </a:solidFill>
                <a:latin typeface="Arial" panose="020B0604020202020204" pitchFamily="34" charset="0"/>
                <a:ea typeface="楷体_GB2312" pitchFamily="49" charset="-122"/>
                <a:cs typeface="Arial" panose="020B0604020202020204" pitchFamily="34" charset="0"/>
              </a:rPr>
              <a:t>The latest start time for the activity (arc) l (i)</a:t>
            </a:r>
            <a:endParaRPr lang="en-US" altLang="zh-CN" sz="4000">
              <a:solidFill>
                <a:srgbClr val="3333FF"/>
              </a:solidFill>
              <a:latin typeface="Arial" panose="020B0604020202020204" pitchFamily="34" charset="0"/>
              <a:ea typeface="楷体_GB2312" pitchFamily="49" charset="-122"/>
              <a:cs typeface="Arial" panose="020B0604020202020204" pitchFamily="34" charset="0"/>
            </a:endParaRPr>
          </a:p>
          <a:p>
            <a:pPr>
              <a:lnSpc>
                <a:spcPct val="110000"/>
              </a:lnSpc>
            </a:pPr>
            <a:r>
              <a:rPr lang="zh-CN" altLang="en-US" sz="2000" b="1">
                <a:latin typeface="Arial" panose="020B0604020202020204" pitchFamily="34" charset="0"/>
                <a:ea typeface="楷体_GB2312" pitchFamily="49" charset="-122"/>
                <a:cs typeface="Arial" panose="020B0604020202020204" pitchFamily="34" charset="0"/>
              </a:rPr>
              <a:t>In other words, the latest start time for activity i without delaying the entire project completion.</a:t>
            </a:r>
            <a:endParaRPr lang="zh-CN" altLang="en-US" sz="4000" b="1">
              <a:latin typeface="Arial" panose="020B0604020202020204" pitchFamily="34" charset="0"/>
              <a:ea typeface="楷体_GB2312" pitchFamily="49" charset="-122"/>
              <a:cs typeface="Arial" panose="020B0604020202020204" pitchFamily="34" charset="0"/>
            </a:endParaRPr>
          </a:p>
          <a:p>
            <a:pPr>
              <a:lnSpc>
                <a:spcPct val="110000"/>
              </a:lnSpc>
            </a:pPr>
            <a:r>
              <a:rPr lang="en-US" altLang="zh-CN" sz="2000" b="1">
                <a:solidFill>
                  <a:srgbClr val="800000"/>
                </a:solidFill>
                <a:latin typeface="Arial" panose="020B0604020202020204" pitchFamily="34" charset="0"/>
                <a:ea typeface="楷体_GB2312" pitchFamily="49" charset="-122"/>
                <a:cs typeface="Arial" panose="020B0604020202020204" pitchFamily="34" charset="0"/>
              </a:rPr>
              <a:t>l(i) = vl(k) – dut(&lt;j,k&gt;)；</a:t>
            </a:r>
            <a:endParaRPr lang="en-US" altLang="zh-CN" sz="20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20163" name="Oval 3"/>
          <p:cNvSpPr>
            <a:spLocks noChangeArrowheads="1"/>
          </p:cNvSpPr>
          <p:nvPr/>
        </p:nvSpPr>
        <p:spPr bwMode="auto">
          <a:xfrm>
            <a:off x="6445250" y="218186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latin typeface="Arial" panose="020B0604020202020204" pitchFamily="34" charset="0"/>
                <a:cs typeface="Arial" panose="020B0604020202020204" pitchFamily="34" charset="0"/>
              </a:rPr>
              <a:t>j</a:t>
            </a:r>
            <a:endParaRPr lang="en-US" altLang="zh-CN">
              <a:latin typeface="Arial" panose="020B0604020202020204" pitchFamily="34" charset="0"/>
              <a:cs typeface="Arial" panose="020B0604020202020204" pitchFamily="34" charset="0"/>
            </a:endParaRPr>
          </a:p>
        </p:txBody>
      </p:sp>
      <p:sp>
        <p:nvSpPr>
          <p:cNvPr id="220164" name="Oval 4"/>
          <p:cNvSpPr>
            <a:spLocks noChangeArrowheads="1"/>
          </p:cNvSpPr>
          <p:nvPr/>
        </p:nvSpPr>
        <p:spPr bwMode="auto">
          <a:xfrm>
            <a:off x="7664450" y="218186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latin typeface="Arial" panose="020B0604020202020204" pitchFamily="34" charset="0"/>
                <a:cs typeface="Arial" panose="020B0604020202020204" pitchFamily="34" charset="0"/>
              </a:rPr>
              <a:t>k</a:t>
            </a:r>
            <a:endParaRPr lang="en-US" altLang="zh-CN">
              <a:latin typeface="Arial" panose="020B0604020202020204" pitchFamily="34" charset="0"/>
              <a:cs typeface="Arial" panose="020B0604020202020204" pitchFamily="34" charset="0"/>
            </a:endParaRPr>
          </a:p>
        </p:txBody>
      </p:sp>
      <p:sp>
        <p:nvSpPr>
          <p:cNvPr id="220165" name="Line 5"/>
          <p:cNvSpPr>
            <a:spLocks noChangeShapeType="1"/>
          </p:cNvSpPr>
          <p:nvPr/>
        </p:nvSpPr>
        <p:spPr bwMode="auto">
          <a:xfrm>
            <a:off x="6902450" y="2410460"/>
            <a:ext cx="7620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0166" name="Rectangle 6"/>
          <p:cNvSpPr>
            <a:spLocks noChangeArrowheads="1"/>
          </p:cNvSpPr>
          <p:nvPr/>
        </p:nvSpPr>
        <p:spPr bwMode="auto">
          <a:xfrm>
            <a:off x="7167563" y="1913573"/>
            <a:ext cx="2819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latin typeface="Arial" panose="020B0604020202020204" pitchFamily="34" charset="0"/>
                <a:ea typeface="楷体_GB2312" pitchFamily="49" charset="-122"/>
                <a:cs typeface="Arial" panose="020B0604020202020204" pitchFamily="34" charset="0"/>
              </a:rPr>
              <a:t>i</a:t>
            </a:r>
            <a:endParaRPr lang="en-US" altLang="zh-CN" b="1">
              <a:latin typeface="Arial" panose="020B0604020202020204" pitchFamily="34" charset="0"/>
              <a:ea typeface="楷体_GB2312" pitchFamily="49" charset="-122"/>
              <a:cs typeface="Arial" panose="020B0604020202020204" pitchFamily="34" charset="0"/>
            </a:endParaRPr>
          </a:p>
        </p:txBody>
      </p:sp>
      <p:grpSp>
        <p:nvGrpSpPr>
          <p:cNvPr id="220167" name="Group 7"/>
          <p:cNvGrpSpPr/>
          <p:nvPr/>
        </p:nvGrpSpPr>
        <p:grpSpPr bwMode="auto">
          <a:xfrm>
            <a:off x="4562475" y="3068638"/>
            <a:ext cx="4581525" cy="2322512"/>
            <a:chOff x="2874" y="2821"/>
            <a:chExt cx="2886" cy="1463"/>
          </a:xfrm>
        </p:grpSpPr>
        <p:sp>
          <p:nvSpPr>
            <p:cNvPr id="220168" name="Text Box 8"/>
            <p:cNvSpPr txBox="1">
              <a:spLocks noChangeArrowheads="1"/>
            </p:cNvSpPr>
            <p:nvPr/>
          </p:nvSpPr>
          <p:spPr bwMode="auto">
            <a:xfrm>
              <a:off x="3793" y="3955"/>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2</a:t>
              </a:r>
              <a:endParaRPr lang="en-US" altLang="zh-CN">
                <a:solidFill>
                  <a:srgbClr val="800000"/>
                </a:solidFill>
                <a:latin typeface="Arial" panose="020B0604020202020204" pitchFamily="34" charset="0"/>
                <a:cs typeface="Arial" panose="020B0604020202020204" pitchFamily="34" charset="0"/>
              </a:endParaRPr>
            </a:p>
          </p:txBody>
        </p:sp>
        <p:sp>
          <p:nvSpPr>
            <p:cNvPr id="220169" name="Oval 9"/>
            <p:cNvSpPr>
              <a:spLocks noChangeArrowheads="1"/>
            </p:cNvSpPr>
            <p:nvPr/>
          </p:nvSpPr>
          <p:spPr bwMode="auto">
            <a:xfrm>
              <a:off x="2874" y="3246"/>
              <a:ext cx="288" cy="288"/>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a</a:t>
              </a:r>
              <a:endParaRPr lang="en-US" altLang="zh-CN">
                <a:solidFill>
                  <a:srgbClr val="800000"/>
                </a:solidFill>
                <a:latin typeface="Arial" panose="020B0604020202020204" pitchFamily="34" charset="0"/>
                <a:cs typeface="Arial" panose="020B0604020202020204" pitchFamily="34" charset="0"/>
              </a:endParaRPr>
            </a:p>
          </p:txBody>
        </p:sp>
        <p:sp>
          <p:nvSpPr>
            <p:cNvPr id="220170" name="Oval 10"/>
            <p:cNvSpPr>
              <a:spLocks noChangeArrowheads="1"/>
            </p:cNvSpPr>
            <p:nvPr/>
          </p:nvSpPr>
          <p:spPr bwMode="auto">
            <a:xfrm>
              <a:off x="3521" y="295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b</a:t>
              </a:r>
              <a:endParaRPr lang="en-US" altLang="zh-CN">
                <a:solidFill>
                  <a:srgbClr val="800000"/>
                </a:solidFill>
                <a:latin typeface="Arial" panose="020B0604020202020204" pitchFamily="34" charset="0"/>
                <a:cs typeface="Arial" panose="020B0604020202020204" pitchFamily="34" charset="0"/>
              </a:endParaRPr>
            </a:p>
          </p:txBody>
        </p:sp>
        <p:sp>
          <p:nvSpPr>
            <p:cNvPr id="220171" name="Oval 11"/>
            <p:cNvSpPr>
              <a:spLocks noChangeArrowheads="1"/>
            </p:cNvSpPr>
            <p:nvPr/>
          </p:nvSpPr>
          <p:spPr bwMode="auto">
            <a:xfrm>
              <a:off x="3521" y="3456"/>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c</a:t>
              </a:r>
              <a:endParaRPr lang="en-US" altLang="zh-CN">
                <a:solidFill>
                  <a:srgbClr val="800000"/>
                </a:solidFill>
                <a:latin typeface="Arial" panose="020B0604020202020204" pitchFamily="34" charset="0"/>
                <a:cs typeface="Arial" panose="020B0604020202020204" pitchFamily="34" charset="0"/>
              </a:endParaRPr>
            </a:p>
          </p:txBody>
        </p:sp>
        <p:sp>
          <p:nvSpPr>
            <p:cNvPr id="220172" name="Oval 12"/>
            <p:cNvSpPr>
              <a:spLocks noChangeArrowheads="1"/>
            </p:cNvSpPr>
            <p:nvPr/>
          </p:nvSpPr>
          <p:spPr bwMode="auto">
            <a:xfrm>
              <a:off x="3385" y="3819"/>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d</a:t>
              </a:r>
              <a:endParaRPr lang="en-US" altLang="zh-CN">
                <a:solidFill>
                  <a:srgbClr val="800000"/>
                </a:solidFill>
                <a:latin typeface="Arial" panose="020B0604020202020204" pitchFamily="34" charset="0"/>
                <a:cs typeface="Arial" panose="020B0604020202020204" pitchFamily="34" charset="0"/>
              </a:endParaRPr>
            </a:p>
          </p:txBody>
        </p:sp>
        <p:sp>
          <p:nvSpPr>
            <p:cNvPr id="220173" name="Oval 13"/>
            <p:cNvSpPr>
              <a:spLocks noChangeArrowheads="1"/>
            </p:cNvSpPr>
            <p:nvPr/>
          </p:nvSpPr>
          <p:spPr bwMode="auto">
            <a:xfrm>
              <a:off x="4066" y="3275"/>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e</a:t>
              </a:r>
              <a:endParaRPr lang="en-US" altLang="zh-CN">
                <a:solidFill>
                  <a:srgbClr val="800000"/>
                </a:solidFill>
                <a:latin typeface="Arial" panose="020B0604020202020204" pitchFamily="34" charset="0"/>
                <a:cs typeface="Arial" panose="020B0604020202020204" pitchFamily="34" charset="0"/>
              </a:endParaRPr>
            </a:p>
          </p:txBody>
        </p:sp>
        <p:sp>
          <p:nvSpPr>
            <p:cNvPr id="220174" name="Oval 14"/>
            <p:cNvSpPr>
              <a:spLocks noChangeArrowheads="1"/>
            </p:cNvSpPr>
            <p:nvPr/>
          </p:nvSpPr>
          <p:spPr bwMode="auto">
            <a:xfrm>
              <a:off x="4156" y="3865"/>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f</a:t>
              </a:r>
              <a:endParaRPr lang="en-US" altLang="zh-CN">
                <a:solidFill>
                  <a:srgbClr val="800000"/>
                </a:solidFill>
                <a:latin typeface="Arial" panose="020B0604020202020204" pitchFamily="34" charset="0"/>
                <a:cs typeface="Arial" panose="020B0604020202020204" pitchFamily="34" charset="0"/>
              </a:endParaRPr>
            </a:p>
          </p:txBody>
        </p:sp>
        <p:sp>
          <p:nvSpPr>
            <p:cNvPr id="220175" name="Oval 15"/>
            <p:cNvSpPr>
              <a:spLocks noChangeArrowheads="1"/>
            </p:cNvSpPr>
            <p:nvPr/>
          </p:nvSpPr>
          <p:spPr bwMode="auto">
            <a:xfrm>
              <a:off x="4837" y="2958"/>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g</a:t>
              </a:r>
              <a:endParaRPr lang="en-US" altLang="zh-CN">
                <a:solidFill>
                  <a:srgbClr val="800000"/>
                </a:solidFill>
                <a:latin typeface="Arial" panose="020B0604020202020204" pitchFamily="34" charset="0"/>
                <a:cs typeface="Arial" panose="020B0604020202020204" pitchFamily="34" charset="0"/>
              </a:endParaRPr>
            </a:p>
          </p:txBody>
        </p:sp>
        <p:sp>
          <p:nvSpPr>
            <p:cNvPr id="220176" name="Oval 16"/>
            <p:cNvSpPr>
              <a:spLocks noChangeArrowheads="1"/>
            </p:cNvSpPr>
            <p:nvPr/>
          </p:nvSpPr>
          <p:spPr bwMode="auto">
            <a:xfrm>
              <a:off x="4791" y="3593"/>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h</a:t>
              </a:r>
              <a:endParaRPr lang="en-US" altLang="zh-CN">
                <a:solidFill>
                  <a:srgbClr val="800000"/>
                </a:solidFill>
                <a:latin typeface="Arial" panose="020B0604020202020204" pitchFamily="34" charset="0"/>
                <a:cs typeface="Arial" panose="020B0604020202020204" pitchFamily="34" charset="0"/>
              </a:endParaRPr>
            </a:p>
          </p:txBody>
        </p:sp>
        <p:sp>
          <p:nvSpPr>
            <p:cNvPr id="220177" name="Oval 17"/>
            <p:cNvSpPr>
              <a:spLocks noChangeArrowheads="1"/>
            </p:cNvSpPr>
            <p:nvPr/>
          </p:nvSpPr>
          <p:spPr bwMode="auto">
            <a:xfrm>
              <a:off x="5472" y="3230"/>
              <a:ext cx="288" cy="288"/>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800000"/>
                  </a:solidFill>
                  <a:latin typeface="Arial" panose="020B0604020202020204" pitchFamily="34" charset="0"/>
                  <a:cs typeface="Arial" panose="020B0604020202020204" pitchFamily="34" charset="0"/>
                </a:rPr>
                <a:t>k</a:t>
              </a:r>
              <a:endParaRPr lang="en-US" altLang="zh-CN">
                <a:solidFill>
                  <a:srgbClr val="800000"/>
                </a:solidFill>
                <a:latin typeface="Arial" panose="020B0604020202020204" pitchFamily="34" charset="0"/>
                <a:cs typeface="Arial" panose="020B0604020202020204" pitchFamily="34" charset="0"/>
              </a:endParaRPr>
            </a:p>
          </p:txBody>
        </p:sp>
        <p:sp>
          <p:nvSpPr>
            <p:cNvPr id="220178" name="Line 18"/>
            <p:cNvSpPr>
              <a:spLocks noChangeShapeType="1"/>
            </p:cNvSpPr>
            <p:nvPr/>
          </p:nvSpPr>
          <p:spPr bwMode="auto">
            <a:xfrm flipV="1">
              <a:off x="3114" y="3139"/>
              <a:ext cx="407" cy="155"/>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9" name="Line 19"/>
            <p:cNvSpPr>
              <a:spLocks noChangeShapeType="1"/>
            </p:cNvSpPr>
            <p:nvPr/>
          </p:nvSpPr>
          <p:spPr bwMode="auto">
            <a:xfrm>
              <a:off x="3162" y="3390"/>
              <a:ext cx="359" cy="157"/>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0" name="Line 20"/>
            <p:cNvSpPr>
              <a:spLocks noChangeShapeType="1"/>
            </p:cNvSpPr>
            <p:nvPr/>
          </p:nvSpPr>
          <p:spPr bwMode="auto">
            <a:xfrm flipV="1">
              <a:off x="3839" y="3411"/>
              <a:ext cx="227" cy="163"/>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1" name="Line 21"/>
            <p:cNvSpPr>
              <a:spLocks noChangeShapeType="1"/>
            </p:cNvSpPr>
            <p:nvPr/>
          </p:nvSpPr>
          <p:spPr bwMode="auto">
            <a:xfrm>
              <a:off x="3787" y="3113"/>
              <a:ext cx="318" cy="226"/>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2" name="Line 22"/>
            <p:cNvSpPr>
              <a:spLocks noChangeShapeType="1"/>
            </p:cNvSpPr>
            <p:nvPr/>
          </p:nvSpPr>
          <p:spPr bwMode="auto">
            <a:xfrm flipV="1">
              <a:off x="4338" y="3094"/>
              <a:ext cx="499" cy="253"/>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3" name="Line 23"/>
            <p:cNvSpPr>
              <a:spLocks noChangeShapeType="1"/>
            </p:cNvSpPr>
            <p:nvPr/>
          </p:nvSpPr>
          <p:spPr bwMode="auto">
            <a:xfrm>
              <a:off x="5154" y="3094"/>
              <a:ext cx="318" cy="226"/>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4" name="Line 24"/>
            <p:cNvSpPr>
              <a:spLocks noChangeShapeType="1"/>
            </p:cNvSpPr>
            <p:nvPr/>
          </p:nvSpPr>
          <p:spPr bwMode="auto">
            <a:xfrm flipV="1">
              <a:off x="5064" y="3411"/>
              <a:ext cx="408" cy="296"/>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5" name="Line 25"/>
            <p:cNvSpPr>
              <a:spLocks noChangeShapeType="1"/>
            </p:cNvSpPr>
            <p:nvPr/>
          </p:nvSpPr>
          <p:spPr bwMode="auto">
            <a:xfrm>
              <a:off x="4338" y="3456"/>
              <a:ext cx="453" cy="273"/>
            </a:xfrm>
            <a:prstGeom prst="line">
              <a:avLst/>
            </a:prstGeom>
            <a:noFill/>
            <a:ln w="25400" cap="sq">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6" name="Line 26"/>
            <p:cNvSpPr>
              <a:spLocks noChangeShapeType="1"/>
            </p:cNvSpPr>
            <p:nvPr/>
          </p:nvSpPr>
          <p:spPr bwMode="auto">
            <a:xfrm>
              <a:off x="3018" y="3534"/>
              <a:ext cx="367" cy="421"/>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7" name="Line 27"/>
            <p:cNvSpPr>
              <a:spLocks noChangeShapeType="1"/>
            </p:cNvSpPr>
            <p:nvPr/>
          </p:nvSpPr>
          <p:spPr bwMode="auto">
            <a:xfrm>
              <a:off x="3703" y="4001"/>
              <a:ext cx="453" cy="0"/>
            </a:xfrm>
            <a:prstGeom prst="line">
              <a:avLst/>
            </a:prstGeom>
            <a:noFill/>
            <a:ln w="25400" cap="sq">
              <a:solidFill>
                <a:srgbClr val="FF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8" name="Line 28"/>
            <p:cNvSpPr>
              <a:spLocks noChangeShapeType="1"/>
            </p:cNvSpPr>
            <p:nvPr/>
          </p:nvSpPr>
          <p:spPr bwMode="auto">
            <a:xfrm flipV="1">
              <a:off x="4428" y="3774"/>
              <a:ext cx="363" cy="208"/>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89" name="Text Box 29"/>
            <p:cNvSpPr txBox="1">
              <a:spLocks noChangeArrowheads="1"/>
            </p:cNvSpPr>
            <p:nvPr/>
          </p:nvSpPr>
          <p:spPr bwMode="auto">
            <a:xfrm>
              <a:off x="3113" y="2821"/>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3333FF"/>
                  </a:solidFill>
                  <a:latin typeface="Arial" panose="020B0604020202020204" pitchFamily="34" charset="0"/>
                  <a:cs typeface="Arial" panose="020B0604020202020204" pitchFamily="34" charset="0"/>
                </a:rPr>
                <a:t>6</a:t>
              </a:r>
              <a:endParaRPr lang="en-US" altLang="zh-CN">
                <a:solidFill>
                  <a:srgbClr val="3333FF"/>
                </a:solidFill>
                <a:latin typeface="Arial" panose="020B0604020202020204" pitchFamily="34" charset="0"/>
                <a:cs typeface="Arial" panose="020B0604020202020204" pitchFamily="34" charset="0"/>
              </a:endParaRPr>
            </a:p>
          </p:txBody>
        </p:sp>
        <p:sp>
          <p:nvSpPr>
            <p:cNvPr id="220190" name="Text Box 30"/>
            <p:cNvSpPr txBox="1">
              <a:spLocks noChangeArrowheads="1"/>
            </p:cNvSpPr>
            <p:nvPr/>
          </p:nvSpPr>
          <p:spPr bwMode="auto">
            <a:xfrm>
              <a:off x="3158" y="3366"/>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4</a:t>
              </a:r>
              <a:endParaRPr lang="en-US" altLang="zh-CN">
                <a:solidFill>
                  <a:srgbClr val="800000"/>
                </a:solidFill>
                <a:latin typeface="Arial" panose="020B0604020202020204" pitchFamily="34" charset="0"/>
                <a:cs typeface="Arial" panose="020B0604020202020204" pitchFamily="34" charset="0"/>
              </a:endParaRPr>
            </a:p>
          </p:txBody>
        </p:sp>
        <p:sp>
          <p:nvSpPr>
            <p:cNvPr id="220191" name="Text Box 31"/>
            <p:cNvSpPr txBox="1">
              <a:spLocks noChangeArrowheads="1"/>
            </p:cNvSpPr>
            <p:nvPr/>
          </p:nvSpPr>
          <p:spPr bwMode="auto">
            <a:xfrm>
              <a:off x="2886" y="3683"/>
              <a:ext cx="244"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solidFill>
                    <a:srgbClr val="800000"/>
                  </a:solidFill>
                  <a:latin typeface="Arial" panose="020B0604020202020204" pitchFamily="34" charset="0"/>
                  <a:cs typeface="Arial" panose="020B0604020202020204" pitchFamily="34" charset="0"/>
                </a:rPr>
                <a:t>5</a:t>
              </a:r>
              <a:endParaRPr lang="en-US" altLang="zh-CN">
                <a:solidFill>
                  <a:srgbClr val="800000"/>
                </a:solidFill>
                <a:latin typeface="Arial" panose="020B0604020202020204" pitchFamily="34" charset="0"/>
                <a:cs typeface="Arial" panose="020B0604020202020204" pitchFamily="34" charset="0"/>
              </a:endParaRPr>
            </a:p>
          </p:txBody>
        </p:sp>
        <p:sp>
          <p:nvSpPr>
            <p:cNvPr id="220192" name="Text Box 32"/>
            <p:cNvSpPr txBox="1">
              <a:spLocks noChangeArrowheads="1"/>
            </p:cNvSpPr>
            <p:nvPr/>
          </p:nvSpPr>
          <p:spPr bwMode="auto">
            <a:xfrm>
              <a:off x="3923" y="2886"/>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3333FF"/>
                  </a:solidFill>
                  <a:latin typeface="Arial" panose="020B0604020202020204" pitchFamily="34" charset="0"/>
                  <a:cs typeface="Arial" panose="020B0604020202020204" pitchFamily="34" charset="0"/>
                </a:rPr>
                <a:t>1</a:t>
              </a:r>
              <a:endParaRPr lang="en-US" altLang="zh-CN">
                <a:solidFill>
                  <a:srgbClr val="3333FF"/>
                </a:solidFill>
                <a:latin typeface="Arial" panose="020B0604020202020204" pitchFamily="34" charset="0"/>
                <a:cs typeface="Arial" panose="020B0604020202020204" pitchFamily="34" charset="0"/>
              </a:endParaRPr>
            </a:p>
          </p:txBody>
        </p:sp>
        <p:sp>
          <p:nvSpPr>
            <p:cNvPr id="220193" name="Text Box 33"/>
            <p:cNvSpPr txBox="1">
              <a:spLocks noChangeArrowheads="1"/>
            </p:cNvSpPr>
            <p:nvPr/>
          </p:nvSpPr>
          <p:spPr bwMode="auto">
            <a:xfrm>
              <a:off x="3884" y="3456"/>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1</a:t>
              </a:r>
              <a:endParaRPr lang="en-US" altLang="zh-CN">
                <a:solidFill>
                  <a:srgbClr val="800000"/>
                </a:solidFill>
                <a:latin typeface="Arial" panose="020B0604020202020204" pitchFamily="34" charset="0"/>
                <a:cs typeface="Arial" panose="020B0604020202020204" pitchFamily="34" charset="0"/>
              </a:endParaRPr>
            </a:p>
          </p:txBody>
        </p:sp>
        <p:sp>
          <p:nvSpPr>
            <p:cNvPr id="220194" name="Text Box 34"/>
            <p:cNvSpPr txBox="1">
              <a:spLocks noChangeArrowheads="1"/>
            </p:cNvSpPr>
            <p:nvPr/>
          </p:nvSpPr>
          <p:spPr bwMode="auto">
            <a:xfrm>
              <a:off x="4519" y="2912"/>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8</a:t>
              </a:r>
              <a:endParaRPr lang="en-US" altLang="zh-CN">
                <a:solidFill>
                  <a:srgbClr val="800000"/>
                </a:solidFill>
                <a:latin typeface="Arial" panose="020B0604020202020204" pitchFamily="34" charset="0"/>
                <a:cs typeface="Arial" panose="020B0604020202020204" pitchFamily="34" charset="0"/>
              </a:endParaRPr>
            </a:p>
          </p:txBody>
        </p:sp>
        <p:sp>
          <p:nvSpPr>
            <p:cNvPr id="220195" name="Text Box 35"/>
            <p:cNvSpPr txBox="1">
              <a:spLocks noChangeArrowheads="1"/>
            </p:cNvSpPr>
            <p:nvPr/>
          </p:nvSpPr>
          <p:spPr bwMode="auto">
            <a:xfrm>
              <a:off x="4519" y="3320"/>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3333FF"/>
                  </a:solidFill>
                  <a:latin typeface="Arial" panose="020B0604020202020204" pitchFamily="34" charset="0"/>
                  <a:cs typeface="Arial" panose="020B0604020202020204" pitchFamily="34" charset="0"/>
                </a:rPr>
                <a:t>7</a:t>
              </a:r>
              <a:endParaRPr lang="en-US" altLang="zh-CN">
                <a:solidFill>
                  <a:srgbClr val="3333FF"/>
                </a:solidFill>
                <a:latin typeface="Arial" panose="020B0604020202020204" pitchFamily="34" charset="0"/>
                <a:cs typeface="Arial" panose="020B0604020202020204" pitchFamily="34" charset="0"/>
              </a:endParaRPr>
            </a:p>
          </p:txBody>
        </p:sp>
        <p:sp>
          <p:nvSpPr>
            <p:cNvPr id="220196" name="Text Box 36"/>
            <p:cNvSpPr txBox="1">
              <a:spLocks noChangeArrowheads="1"/>
            </p:cNvSpPr>
            <p:nvPr/>
          </p:nvSpPr>
          <p:spPr bwMode="auto">
            <a:xfrm>
              <a:off x="5245" y="2912"/>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2</a:t>
              </a:r>
              <a:endParaRPr lang="en-US" altLang="zh-CN">
                <a:solidFill>
                  <a:srgbClr val="800000"/>
                </a:solidFill>
                <a:latin typeface="Arial" panose="020B0604020202020204" pitchFamily="34" charset="0"/>
                <a:cs typeface="Arial" panose="020B0604020202020204" pitchFamily="34" charset="0"/>
              </a:endParaRPr>
            </a:p>
          </p:txBody>
        </p:sp>
        <p:sp>
          <p:nvSpPr>
            <p:cNvPr id="220197" name="Text Box 37"/>
            <p:cNvSpPr txBox="1">
              <a:spLocks noChangeArrowheads="1"/>
            </p:cNvSpPr>
            <p:nvPr/>
          </p:nvSpPr>
          <p:spPr bwMode="auto">
            <a:xfrm>
              <a:off x="5200" y="3456"/>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3333FF"/>
                  </a:solidFill>
                  <a:latin typeface="Arial" panose="020B0604020202020204" pitchFamily="34" charset="0"/>
                  <a:cs typeface="Arial" panose="020B0604020202020204" pitchFamily="34" charset="0"/>
                </a:rPr>
                <a:t>4</a:t>
              </a:r>
              <a:endParaRPr lang="en-US" altLang="zh-CN">
                <a:solidFill>
                  <a:srgbClr val="3333FF"/>
                </a:solidFill>
                <a:latin typeface="Arial" panose="020B0604020202020204" pitchFamily="34" charset="0"/>
                <a:cs typeface="Arial" panose="020B0604020202020204" pitchFamily="34" charset="0"/>
              </a:endParaRPr>
            </a:p>
          </p:txBody>
        </p:sp>
        <p:sp>
          <p:nvSpPr>
            <p:cNvPr id="220198" name="Text Box 38"/>
            <p:cNvSpPr txBox="1">
              <a:spLocks noChangeArrowheads="1"/>
            </p:cNvSpPr>
            <p:nvPr/>
          </p:nvSpPr>
          <p:spPr bwMode="auto">
            <a:xfrm>
              <a:off x="4519" y="3819"/>
              <a:ext cx="24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800000"/>
                  </a:solidFill>
                  <a:latin typeface="Arial" panose="020B0604020202020204" pitchFamily="34" charset="0"/>
                  <a:cs typeface="Arial" panose="020B0604020202020204" pitchFamily="34" charset="0"/>
                </a:rPr>
                <a:t>4</a:t>
              </a:r>
              <a:endParaRPr lang="en-US" altLang="zh-CN">
                <a:solidFill>
                  <a:srgbClr val="800000"/>
                </a:solidFill>
                <a:latin typeface="Arial" panose="020B0604020202020204" pitchFamily="34" charset="0"/>
                <a:cs typeface="Arial" panose="020B0604020202020204" pitchFamily="34" charset="0"/>
              </a:endParaRPr>
            </a:p>
          </p:txBody>
        </p:sp>
      </p:grpSp>
      <p:sp>
        <p:nvSpPr>
          <p:cNvPr id="220199" name="Rectangle 39"/>
          <p:cNvSpPr>
            <a:spLocks noChangeArrowheads="1"/>
          </p:cNvSpPr>
          <p:nvPr/>
        </p:nvSpPr>
        <p:spPr bwMode="auto">
          <a:xfrm>
            <a:off x="179388" y="5373688"/>
            <a:ext cx="882015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800" b="1">
                <a:latin typeface="Arial" panose="020B0604020202020204" pitchFamily="34" charset="0"/>
                <a:ea typeface="楷体_GB2312" pitchFamily="49" charset="-122"/>
                <a:cs typeface="Arial" panose="020B0604020202020204" pitchFamily="34" charset="0"/>
              </a:rPr>
              <a:t>The difference between l(i) and e(i) represents the time buffer for completing activity i. Activities where l(i) equals e(i) are termed critical activities.</a:t>
            </a:r>
            <a:endParaRPr lang="zh-CN" altLang="en-US" sz="1800" b="1">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20162">
                                            <p:txEl>
                                              <p:pRg st="4294967295" end="4294967295"/>
                                            </p:txEl>
                                          </p:spTgt>
                                        </p:tgtEl>
                                        <p:attrNameLst>
                                          <p:attrName>style.visibility</p:attrName>
                                        </p:attrNameLst>
                                      </p:cBhvr>
                                      <p:to>
                                        <p:strVal val="visible"/>
                                      </p:to>
                                    </p:set>
                                    <p:animEffect transition="in" filter="barn(outVertical)">
                                      <p:cBhvr>
                                        <p:cTn id="7" dur="500"/>
                                        <p:tgtEl>
                                          <p:spTgt spid="220162">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20162">
                                            <p:txEl>
                                              <p:pRg st="0" end="0"/>
                                            </p:txEl>
                                          </p:spTgt>
                                        </p:tgtEl>
                                        <p:attrNameLst>
                                          <p:attrName>style.visibility</p:attrName>
                                        </p:attrNameLst>
                                      </p:cBhvr>
                                      <p:to>
                                        <p:strVal val="visible"/>
                                      </p:to>
                                    </p:set>
                                    <p:animEffect transition="in" filter="barn(outVertical)">
                                      <p:cBhvr>
                                        <p:cTn id="12" dur="500"/>
                                        <p:tgtEl>
                                          <p:spTgt spid="2201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220162">
                                            <p:txEl>
                                              <p:pRg st="1" end="1"/>
                                            </p:txEl>
                                          </p:spTgt>
                                        </p:tgtEl>
                                        <p:attrNameLst>
                                          <p:attrName>style.visibility</p:attrName>
                                        </p:attrNameLst>
                                      </p:cBhvr>
                                      <p:to>
                                        <p:strVal val="visible"/>
                                      </p:to>
                                    </p:set>
                                    <p:animEffect transition="in" filter="barn(outVertical)">
                                      <p:cBhvr>
                                        <p:cTn id="17" dur="500"/>
                                        <p:tgtEl>
                                          <p:spTgt spid="2201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220162">
                                            <p:txEl>
                                              <p:pRg st="2" end="2"/>
                                            </p:txEl>
                                          </p:spTgt>
                                        </p:tgtEl>
                                        <p:attrNameLst>
                                          <p:attrName>style.visibility</p:attrName>
                                        </p:attrNameLst>
                                      </p:cBhvr>
                                      <p:to>
                                        <p:strVal val="visible"/>
                                      </p:to>
                                    </p:set>
                                    <p:animEffect transition="in" filter="barn(outVertical)">
                                      <p:cBhvr>
                                        <p:cTn id="22" dur="500"/>
                                        <p:tgtEl>
                                          <p:spTgt spid="22016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20162">
                                            <p:txEl>
                                              <p:pRg st="4" end="4"/>
                                            </p:txEl>
                                          </p:spTgt>
                                        </p:tgtEl>
                                        <p:attrNameLst>
                                          <p:attrName>style.visibility</p:attrName>
                                        </p:attrNameLst>
                                      </p:cBhvr>
                                      <p:to>
                                        <p:strVal val="visible"/>
                                      </p:to>
                                    </p:set>
                                    <p:animEffect transition="in" filter="barn(outVertical)">
                                      <p:cBhvr>
                                        <p:cTn id="27" dur="500"/>
                                        <p:tgtEl>
                                          <p:spTgt spid="22016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220162">
                                            <p:txEl>
                                              <p:pRg st="5" end="5"/>
                                            </p:txEl>
                                          </p:spTgt>
                                        </p:tgtEl>
                                        <p:attrNameLst>
                                          <p:attrName>style.visibility</p:attrName>
                                        </p:attrNameLst>
                                      </p:cBhvr>
                                      <p:to>
                                        <p:strVal val="visible"/>
                                      </p:to>
                                    </p:set>
                                    <p:animEffect transition="in" filter="barn(outVertical)">
                                      <p:cBhvr>
                                        <p:cTn id="32" dur="500"/>
                                        <p:tgtEl>
                                          <p:spTgt spid="22016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20162">
                                            <p:txEl>
                                              <p:pRg st="6" end="6"/>
                                            </p:txEl>
                                          </p:spTgt>
                                        </p:tgtEl>
                                        <p:attrNameLst>
                                          <p:attrName>style.visibility</p:attrName>
                                        </p:attrNameLst>
                                      </p:cBhvr>
                                      <p:to>
                                        <p:strVal val="visible"/>
                                      </p:to>
                                    </p:set>
                                    <p:animEffect transition="in" filter="barn(outVertical)">
                                      <p:cBhvr>
                                        <p:cTn id="37" dur="500"/>
                                        <p:tgtEl>
                                          <p:spTgt spid="22016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20167"/>
                                        </p:tgtEl>
                                        <p:attrNameLst>
                                          <p:attrName>style.visibility</p:attrName>
                                        </p:attrNameLst>
                                      </p:cBhvr>
                                      <p:to>
                                        <p:strVal val="visible"/>
                                      </p:to>
                                    </p:set>
                                    <p:anim calcmode="lin" valueType="num">
                                      <p:cBhvr additive="base">
                                        <p:cTn id="42" dur="500" fill="hold"/>
                                        <p:tgtEl>
                                          <p:spTgt spid="220167"/>
                                        </p:tgtEl>
                                        <p:attrNameLst>
                                          <p:attrName>ppt_x</p:attrName>
                                        </p:attrNameLst>
                                      </p:cBhvr>
                                      <p:tavLst>
                                        <p:tav tm="0">
                                          <p:val>
                                            <p:strVal val="#ppt_x"/>
                                          </p:val>
                                        </p:tav>
                                        <p:tav tm="100000">
                                          <p:val>
                                            <p:strVal val="#ppt_x"/>
                                          </p:val>
                                        </p:tav>
                                      </p:tavLst>
                                    </p:anim>
                                    <p:anim calcmode="lin" valueType="num">
                                      <p:cBhvr additive="base">
                                        <p:cTn id="43" dur="500" fill="hold"/>
                                        <p:tgtEl>
                                          <p:spTgt spid="22016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220199"/>
                                        </p:tgtEl>
                                        <p:attrNameLst>
                                          <p:attrName>style.visibility</p:attrName>
                                        </p:attrNameLst>
                                      </p:cBhvr>
                                      <p:to>
                                        <p:strVal val="visible"/>
                                      </p:to>
                                    </p:set>
                                    <p:anim calcmode="lin" valueType="num">
                                      <p:cBhvr>
                                        <p:cTn id="48" dur="1000" fill="hold"/>
                                        <p:tgtEl>
                                          <p:spTgt spid="220199"/>
                                        </p:tgtEl>
                                        <p:attrNameLst>
                                          <p:attrName>ppt_w</p:attrName>
                                        </p:attrNameLst>
                                      </p:cBhvr>
                                      <p:tavLst>
                                        <p:tav tm="0">
                                          <p:val>
                                            <p:strVal val="#ppt_w*0.70"/>
                                          </p:val>
                                        </p:tav>
                                        <p:tav tm="100000">
                                          <p:val>
                                            <p:strVal val="#ppt_w"/>
                                          </p:val>
                                        </p:tav>
                                      </p:tavLst>
                                    </p:anim>
                                    <p:anim calcmode="lin" valueType="num">
                                      <p:cBhvr>
                                        <p:cTn id="49" dur="1000" fill="hold"/>
                                        <p:tgtEl>
                                          <p:spTgt spid="220199"/>
                                        </p:tgtEl>
                                        <p:attrNameLst>
                                          <p:attrName>ppt_h</p:attrName>
                                        </p:attrNameLst>
                                      </p:cBhvr>
                                      <p:tavLst>
                                        <p:tav tm="0">
                                          <p:val>
                                            <p:strVal val="#ppt_h"/>
                                          </p:val>
                                        </p:tav>
                                        <p:tav tm="100000">
                                          <p:val>
                                            <p:strVal val="#ppt_h"/>
                                          </p:val>
                                        </p:tav>
                                      </p:tavLst>
                                    </p:anim>
                                    <p:animEffect transition="in" filter="fade">
                                      <p:cBhvr>
                                        <p:cTn id="50" dur="1000"/>
                                        <p:tgtEl>
                                          <p:spTgt spid="220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autoUpdateAnimBg="0" build="p"/>
      <p:bldP spid="220199" grpId="0" bldLvl="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Oval 2"/>
          <p:cNvSpPr>
            <a:spLocks noChangeArrowheads="1"/>
          </p:cNvSpPr>
          <p:nvPr/>
        </p:nvSpPr>
        <p:spPr bwMode="auto">
          <a:xfrm>
            <a:off x="1295400" y="10668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a</a:t>
            </a:r>
            <a:endParaRPr lang="en-US" altLang="zh-CN" sz="3200"/>
          </a:p>
        </p:txBody>
      </p:sp>
      <p:sp>
        <p:nvSpPr>
          <p:cNvPr id="221187" name="Oval 3"/>
          <p:cNvSpPr>
            <a:spLocks noChangeArrowheads="1"/>
          </p:cNvSpPr>
          <p:nvPr/>
        </p:nvSpPr>
        <p:spPr bwMode="auto">
          <a:xfrm>
            <a:off x="2819400" y="228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b</a:t>
            </a:r>
            <a:endParaRPr lang="en-US" altLang="zh-CN" sz="3200"/>
          </a:p>
        </p:txBody>
      </p:sp>
      <p:sp>
        <p:nvSpPr>
          <p:cNvPr id="221188" name="Oval 4"/>
          <p:cNvSpPr>
            <a:spLocks noChangeArrowheads="1"/>
          </p:cNvSpPr>
          <p:nvPr/>
        </p:nvSpPr>
        <p:spPr bwMode="auto">
          <a:xfrm>
            <a:off x="2819400" y="2057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c</a:t>
            </a:r>
            <a:endParaRPr lang="en-US" altLang="zh-CN" sz="3200"/>
          </a:p>
        </p:txBody>
      </p:sp>
      <p:sp>
        <p:nvSpPr>
          <p:cNvPr id="221189" name="Oval 5"/>
          <p:cNvSpPr>
            <a:spLocks noChangeArrowheads="1"/>
          </p:cNvSpPr>
          <p:nvPr/>
        </p:nvSpPr>
        <p:spPr bwMode="auto">
          <a:xfrm>
            <a:off x="1981200" y="2819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d</a:t>
            </a:r>
            <a:endParaRPr lang="en-US" altLang="zh-CN" sz="3200"/>
          </a:p>
        </p:txBody>
      </p:sp>
      <p:sp>
        <p:nvSpPr>
          <p:cNvPr id="221190" name="Oval 6"/>
          <p:cNvSpPr>
            <a:spLocks noChangeArrowheads="1"/>
          </p:cNvSpPr>
          <p:nvPr/>
        </p:nvSpPr>
        <p:spPr bwMode="auto">
          <a:xfrm>
            <a:off x="4343400" y="11430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e</a:t>
            </a:r>
            <a:endParaRPr lang="en-US" altLang="zh-CN" sz="3200"/>
          </a:p>
        </p:txBody>
      </p:sp>
      <p:sp>
        <p:nvSpPr>
          <p:cNvPr id="221191" name="Oval 7"/>
          <p:cNvSpPr>
            <a:spLocks noChangeArrowheads="1"/>
          </p:cNvSpPr>
          <p:nvPr/>
        </p:nvSpPr>
        <p:spPr bwMode="auto">
          <a:xfrm>
            <a:off x="4800600" y="2819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f</a:t>
            </a:r>
            <a:endParaRPr lang="en-US" altLang="zh-CN" sz="3200"/>
          </a:p>
        </p:txBody>
      </p:sp>
      <p:sp>
        <p:nvSpPr>
          <p:cNvPr id="221192" name="Oval 8"/>
          <p:cNvSpPr>
            <a:spLocks noChangeArrowheads="1"/>
          </p:cNvSpPr>
          <p:nvPr/>
        </p:nvSpPr>
        <p:spPr bwMode="auto">
          <a:xfrm>
            <a:off x="5867400" y="2286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g</a:t>
            </a:r>
            <a:endParaRPr lang="en-US" altLang="zh-CN" sz="3200"/>
          </a:p>
        </p:txBody>
      </p:sp>
      <p:sp>
        <p:nvSpPr>
          <p:cNvPr id="221193" name="Oval 9"/>
          <p:cNvSpPr>
            <a:spLocks noChangeArrowheads="1"/>
          </p:cNvSpPr>
          <p:nvPr/>
        </p:nvSpPr>
        <p:spPr bwMode="auto">
          <a:xfrm>
            <a:off x="5867400" y="2057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h</a:t>
            </a:r>
            <a:endParaRPr lang="en-US" altLang="zh-CN" sz="3200"/>
          </a:p>
        </p:txBody>
      </p:sp>
      <p:sp>
        <p:nvSpPr>
          <p:cNvPr id="221194" name="Oval 10"/>
          <p:cNvSpPr>
            <a:spLocks noChangeArrowheads="1"/>
          </p:cNvSpPr>
          <p:nvPr/>
        </p:nvSpPr>
        <p:spPr bwMode="auto">
          <a:xfrm>
            <a:off x="7391400" y="11430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k</a:t>
            </a:r>
            <a:endParaRPr lang="en-US" altLang="zh-CN" sz="3200"/>
          </a:p>
        </p:txBody>
      </p:sp>
      <p:sp>
        <p:nvSpPr>
          <p:cNvPr id="221195" name="Line 11"/>
          <p:cNvSpPr>
            <a:spLocks noChangeShapeType="1"/>
          </p:cNvSpPr>
          <p:nvPr/>
        </p:nvSpPr>
        <p:spPr bwMode="auto">
          <a:xfrm flipV="1">
            <a:off x="1676400" y="4572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196" name="Line 12"/>
          <p:cNvSpPr>
            <a:spLocks noChangeShapeType="1"/>
          </p:cNvSpPr>
          <p:nvPr/>
        </p:nvSpPr>
        <p:spPr bwMode="auto">
          <a:xfrm>
            <a:off x="1752600" y="1295400"/>
            <a:ext cx="1143000" cy="9144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197" name="Line 13"/>
          <p:cNvSpPr>
            <a:spLocks noChangeShapeType="1"/>
          </p:cNvSpPr>
          <p:nvPr/>
        </p:nvSpPr>
        <p:spPr bwMode="auto">
          <a:xfrm flipV="1">
            <a:off x="3276600" y="14478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198" name="Line 14"/>
          <p:cNvSpPr>
            <a:spLocks noChangeShapeType="1"/>
          </p:cNvSpPr>
          <p:nvPr/>
        </p:nvSpPr>
        <p:spPr bwMode="auto">
          <a:xfrm>
            <a:off x="3276600" y="457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199" name="Line 15"/>
          <p:cNvSpPr>
            <a:spLocks noChangeShapeType="1"/>
          </p:cNvSpPr>
          <p:nvPr/>
        </p:nvSpPr>
        <p:spPr bwMode="auto">
          <a:xfrm flipV="1">
            <a:off x="4724400" y="457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0" name="Line 16"/>
          <p:cNvSpPr>
            <a:spLocks noChangeShapeType="1"/>
          </p:cNvSpPr>
          <p:nvPr/>
        </p:nvSpPr>
        <p:spPr bwMode="auto">
          <a:xfrm>
            <a:off x="6324600" y="457200"/>
            <a:ext cx="11430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1" name="Line 17"/>
          <p:cNvSpPr>
            <a:spLocks noChangeShapeType="1"/>
          </p:cNvSpPr>
          <p:nvPr/>
        </p:nvSpPr>
        <p:spPr bwMode="auto">
          <a:xfrm flipV="1">
            <a:off x="6324600" y="1524000"/>
            <a:ext cx="1143000" cy="6858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2" name="Line 18"/>
          <p:cNvSpPr>
            <a:spLocks noChangeShapeType="1"/>
          </p:cNvSpPr>
          <p:nvPr/>
        </p:nvSpPr>
        <p:spPr bwMode="auto">
          <a:xfrm>
            <a:off x="4800600" y="1447800"/>
            <a:ext cx="1066800" cy="7620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3" name="Line 19"/>
          <p:cNvSpPr>
            <a:spLocks noChangeShapeType="1"/>
          </p:cNvSpPr>
          <p:nvPr/>
        </p:nvSpPr>
        <p:spPr bwMode="auto">
          <a:xfrm>
            <a:off x="1524000" y="1524000"/>
            <a:ext cx="609600" cy="12954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4" name="Line 20"/>
          <p:cNvSpPr>
            <a:spLocks noChangeShapeType="1"/>
          </p:cNvSpPr>
          <p:nvPr/>
        </p:nvSpPr>
        <p:spPr bwMode="auto">
          <a:xfrm>
            <a:off x="2438400" y="3036888"/>
            <a:ext cx="2438400" cy="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5" name="Line 21"/>
          <p:cNvSpPr>
            <a:spLocks noChangeShapeType="1"/>
          </p:cNvSpPr>
          <p:nvPr/>
        </p:nvSpPr>
        <p:spPr bwMode="auto">
          <a:xfrm flipV="1">
            <a:off x="5257800" y="2438400"/>
            <a:ext cx="685800" cy="533400"/>
          </a:xfrm>
          <a:prstGeom prst="line">
            <a:avLst/>
          </a:prstGeom>
          <a:noFill/>
          <a:ln w="25400" cap="sq">
            <a:solidFill>
              <a:srgbClr val="8000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06" name="Text Box 22"/>
          <p:cNvSpPr txBox="1">
            <a:spLocks noChangeArrowheads="1"/>
          </p:cNvSpPr>
          <p:nvPr/>
        </p:nvSpPr>
        <p:spPr bwMode="auto">
          <a:xfrm>
            <a:off x="1898650" y="334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6</a:t>
            </a:r>
            <a:endParaRPr lang="en-US" altLang="zh-CN" sz="3200"/>
          </a:p>
        </p:txBody>
      </p:sp>
      <p:sp>
        <p:nvSpPr>
          <p:cNvPr id="221207" name="Text Box 23"/>
          <p:cNvSpPr txBox="1">
            <a:spLocks noChangeArrowheads="1"/>
          </p:cNvSpPr>
          <p:nvPr/>
        </p:nvSpPr>
        <p:spPr bwMode="auto">
          <a:xfrm>
            <a:off x="2133600" y="12493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21208" name="Text Box 24"/>
          <p:cNvSpPr txBox="1">
            <a:spLocks noChangeArrowheads="1"/>
          </p:cNvSpPr>
          <p:nvPr/>
        </p:nvSpPr>
        <p:spPr bwMode="auto">
          <a:xfrm>
            <a:off x="1822450" y="19240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5</a:t>
            </a:r>
            <a:endParaRPr lang="en-US" altLang="zh-CN" sz="3200"/>
          </a:p>
        </p:txBody>
      </p:sp>
      <p:sp>
        <p:nvSpPr>
          <p:cNvPr id="221209" name="Text Box 25"/>
          <p:cNvSpPr txBox="1">
            <a:spLocks noChangeArrowheads="1"/>
          </p:cNvSpPr>
          <p:nvPr/>
        </p:nvSpPr>
        <p:spPr bwMode="auto">
          <a:xfrm>
            <a:off x="3365500" y="25336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p>
        </p:txBody>
      </p:sp>
      <p:sp>
        <p:nvSpPr>
          <p:cNvPr id="221210" name="Text Box 26"/>
          <p:cNvSpPr txBox="1">
            <a:spLocks noChangeArrowheads="1"/>
          </p:cNvSpPr>
          <p:nvPr/>
        </p:nvSpPr>
        <p:spPr bwMode="auto">
          <a:xfrm>
            <a:off x="3657600" y="334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21211" name="Text Box 27"/>
          <p:cNvSpPr txBox="1">
            <a:spLocks noChangeArrowheads="1"/>
          </p:cNvSpPr>
          <p:nvPr/>
        </p:nvSpPr>
        <p:spPr bwMode="auto">
          <a:xfrm>
            <a:off x="3565525" y="139065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1</a:t>
            </a:r>
            <a:endParaRPr lang="en-US" altLang="zh-CN" sz="3200"/>
          </a:p>
        </p:txBody>
      </p:sp>
      <p:sp>
        <p:nvSpPr>
          <p:cNvPr id="221212" name="Text Box 28"/>
          <p:cNvSpPr txBox="1">
            <a:spLocks noChangeArrowheads="1"/>
          </p:cNvSpPr>
          <p:nvPr/>
        </p:nvSpPr>
        <p:spPr bwMode="auto">
          <a:xfrm>
            <a:off x="5022850" y="3810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8</a:t>
            </a:r>
            <a:endParaRPr lang="en-US" altLang="zh-CN" sz="3200"/>
          </a:p>
        </p:txBody>
      </p:sp>
      <p:sp>
        <p:nvSpPr>
          <p:cNvPr id="221213" name="Text Box 29"/>
          <p:cNvSpPr txBox="1">
            <a:spLocks noChangeArrowheads="1"/>
          </p:cNvSpPr>
          <p:nvPr/>
        </p:nvSpPr>
        <p:spPr bwMode="auto">
          <a:xfrm>
            <a:off x="5181600" y="13716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7</a:t>
            </a:r>
            <a:endParaRPr lang="en-US" altLang="zh-CN" sz="3200"/>
          </a:p>
        </p:txBody>
      </p:sp>
      <p:sp>
        <p:nvSpPr>
          <p:cNvPr id="221214" name="Text Box 30"/>
          <p:cNvSpPr txBox="1">
            <a:spLocks noChangeArrowheads="1"/>
          </p:cNvSpPr>
          <p:nvPr/>
        </p:nvSpPr>
        <p:spPr bwMode="auto">
          <a:xfrm>
            <a:off x="6775450" y="258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2</a:t>
            </a:r>
            <a:endParaRPr lang="en-US" altLang="zh-CN" sz="3200">
              <a:solidFill>
                <a:srgbClr val="0000FF"/>
              </a:solidFill>
            </a:endParaRPr>
          </a:p>
        </p:txBody>
      </p:sp>
      <p:sp>
        <p:nvSpPr>
          <p:cNvPr id="221215" name="Text Box 31"/>
          <p:cNvSpPr txBox="1">
            <a:spLocks noChangeArrowheads="1"/>
          </p:cNvSpPr>
          <p:nvPr/>
        </p:nvSpPr>
        <p:spPr bwMode="auto">
          <a:xfrm>
            <a:off x="6384925" y="14779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21216" name="Text Box 32"/>
          <p:cNvSpPr txBox="1">
            <a:spLocks noChangeArrowheads="1"/>
          </p:cNvSpPr>
          <p:nvPr/>
        </p:nvSpPr>
        <p:spPr bwMode="auto">
          <a:xfrm>
            <a:off x="5251450" y="22860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solidFill>
                  <a:srgbClr val="800000"/>
                </a:solidFill>
              </a:rPr>
              <a:t>4</a:t>
            </a:r>
            <a:endParaRPr lang="en-US" altLang="zh-CN" sz="3200"/>
          </a:p>
        </p:txBody>
      </p:sp>
      <p:sp>
        <p:nvSpPr>
          <p:cNvPr id="221217" name="Line 33"/>
          <p:cNvSpPr>
            <a:spLocks noChangeShapeType="1"/>
          </p:cNvSpPr>
          <p:nvPr/>
        </p:nvSpPr>
        <p:spPr bwMode="auto">
          <a:xfrm>
            <a:off x="685800" y="5715000"/>
            <a:ext cx="7696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1218" name="Line 34"/>
          <p:cNvSpPr>
            <a:spLocks noChangeShapeType="1"/>
          </p:cNvSpPr>
          <p:nvPr/>
        </p:nvSpPr>
        <p:spPr bwMode="auto">
          <a:xfrm>
            <a:off x="8382000" y="3581400"/>
            <a:ext cx="0" cy="2133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1219" name="Object 35"/>
          <p:cNvGraphicFramePr>
            <a:graphicFrameLocks noChangeAspect="1"/>
          </p:cNvGraphicFramePr>
          <p:nvPr/>
        </p:nvGraphicFramePr>
        <p:xfrm>
          <a:off x="762000" y="3594100"/>
          <a:ext cx="7613650" cy="2273300"/>
        </p:xfrm>
        <a:graphic>
          <a:graphicData uri="http://schemas.openxmlformats.org/presentationml/2006/ole">
            <mc:AlternateContent xmlns:mc="http://schemas.openxmlformats.org/markup-compatibility/2006">
              <mc:Choice xmlns:v="urn:schemas-microsoft-com:vml" Requires="v">
                <p:oleObj spid="_x0000_s2" name="文档" r:id="rId1" imgW="7609840" imgH="2275840" progId="Word.Document.8">
                  <p:embed/>
                </p:oleObj>
              </mc:Choice>
              <mc:Fallback>
                <p:oleObj name="文档" r:id="rId1" imgW="7609840" imgH="2275840" progId="Word.Document.8">
                  <p:embed/>
                  <p:pic>
                    <p:nvPicPr>
                      <p:cNvPr id="0" name="Object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594100"/>
                        <a:ext cx="761365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1220" name="Text Box 36"/>
          <p:cNvSpPr txBox="1">
            <a:spLocks noChangeArrowheads="1"/>
          </p:cNvSpPr>
          <p:nvPr/>
        </p:nvSpPr>
        <p:spPr bwMode="auto">
          <a:xfrm>
            <a:off x="1676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1" name="Text Box 37"/>
          <p:cNvSpPr txBox="1">
            <a:spLocks noChangeArrowheads="1"/>
          </p:cNvSpPr>
          <p:nvPr/>
        </p:nvSpPr>
        <p:spPr bwMode="auto">
          <a:xfrm>
            <a:off x="2438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2" name="Text Box 38"/>
          <p:cNvSpPr txBox="1">
            <a:spLocks noChangeArrowheads="1"/>
          </p:cNvSpPr>
          <p:nvPr/>
        </p:nvSpPr>
        <p:spPr bwMode="auto">
          <a:xfrm>
            <a:off x="3200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3" name="Text Box 39"/>
          <p:cNvSpPr txBox="1">
            <a:spLocks noChangeArrowheads="1"/>
          </p:cNvSpPr>
          <p:nvPr/>
        </p:nvSpPr>
        <p:spPr bwMode="auto">
          <a:xfrm>
            <a:off x="3962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4" name="Text Box 40"/>
          <p:cNvSpPr txBox="1">
            <a:spLocks noChangeArrowheads="1"/>
          </p:cNvSpPr>
          <p:nvPr/>
        </p:nvSpPr>
        <p:spPr bwMode="auto">
          <a:xfrm>
            <a:off x="4724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5" name="Text Box 41"/>
          <p:cNvSpPr txBox="1">
            <a:spLocks noChangeArrowheads="1"/>
          </p:cNvSpPr>
          <p:nvPr/>
        </p:nvSpPr>
        <p:spPr bwMode="auto">
          <a:xfrm>
            <a:off x="5486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6" name="Text Box 42"/>
          <p:cNvSpPr txBox="1">
            <a:spLocks noChangeArrowheads="1"/>
          </p:cNvSpPr>
          <p:nvPr/>
        </p:nvSpPr>
        <p:spPr bwMode="auto">
          <a:xfrm>
            <a:off x="6248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7" name="Text Box 43"/>
          <p:cNvSpPr txBox="1">
            <a:spLocks noChangeArrowheads="1"/>
          </p:cNvSpPr>
          <p:nvPr/>
        </p:nvSpPr>
        <p:spPr bwMode="auto">
          <a:xfrm>
            <a:off x="7010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8" name="Text Box 44"/>
          <p:cNvSpPr txBox="1">
            <a:spLocks noChangeArrowheads="1"/>
          </p:cNvSpPr>
          <p:nvPr/>
        </p:nvSpPr>
        <p:spPr bwMode="auto">
          <a:xfrm>
            <a:off x="781685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0</a:t>
            </a:r>
            <a:endParaRPr lang="en-US" altLang="zh-CN" sz="3600"/>
          </a:p>
        </p:txBody>
      </p:sp>
      <p:sp>
        <p:nvSpPr>
          <p:cNvPr id="221229" name="Text Box 45"/>
          <p:cNvSpPr txBox="1">
            <a:spLocks noChangeArrowheads="1"/>
          </p:cNvSpPr>
          <p:nvPr/>
        </p:nvSpPr>
        <p:spPr bwMode="auto">
          <a:xfrm>
            <a:off x="233045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6</a:t>
            </a:r>
            <a:endParaRPr lang="en-US" altLang="zh-CN" sz="3600"/>
          </a:p>
        </p:txBody>
      </p:sp>
      <p:sp>
        <p:nvSpPr>
          <p:cNvPr id="221230" name="Text Box 46"/>
          <p:cNvSpPr txBox="1">
            <a:spLocks noChangeArrowheads="1"/>
          </p:cNvSpPr>
          <p:nvPr/>
        </p:nvSpPr>
        <p:spPr bwMode="auto">
          <a:xfrm>
            <a:off x="312420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4</a:t>
            </a:r>
            <a:endParaRPr lang="en-US" altLang="zh-CN" sz="3600"/>
          </a:p>
        </p:txBody>
      </p:sp>
      <p:sp>
        <p:nvSpPr>
          <p:cNvPr id="221231" name="Text Box 47"/>
          <p:cNvSpPr txBox="1">
            <a:spLocks noChangeArrowheads="1"/>
          </p:cNvSpPr>
          <p:nvPr/>
        </p:nvSpPr>
        <p:spPr bwMode="auto">
          <a:xfrm>
            <a:off x="385445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5</a:t>
            </a:r>
            <a:endParaRPr lang="en-US" altLang="zh-CN" sz="3600"/>
          </a:p>
        </p:txBody>
      </p:sp>
      <p:sp>
        <p:nvSpPr>
          <p:cNvPr id="221232" name="Text Box 48"/>
          <p:cNvSpPr txBox="1">
            <a:spLocks noChangeArrowheads="1"/>
          </p:cNvSpPr>
          <p:nvPr/>
        </p:nvSpPr>
        <p:spPr bwMode="auto">
          <a:xfrm>
            <a:off x="541020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7</a:t>
            </a:r>
            <a:endParaRPr lang="en-US" altLang="zh-CN" sz="3600"/>
          </a:p>
        </p:txBody>
      </p:sp>
      <p:sp>
        <p:nvSpPr>
          <p:cNvPr id="221233" name="Text Box 49"/>
          <p:cNvSpPr txBox="1">
            <a:spLocks noChangeArrowheads="1"/>
          </p:cNvSpPr>
          <p:nvPr/>
        </p:nvSpPr>
        <p:spPr bwMode="auto">
          <a:xfrm>
            <a:off x="693420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11</a:t>
            </a:r>
            <a:endParaRPr lang="en-US" altLang="zh-CN" sz="3600"/>
          </a:p>
        </p:txBody>
      </p:sp>
      <p:sp>
        <p:nvSpPr>
          <p:cNvPr id="221234" name="Text Box 50"/>
          <p:cNvSpPr txBox="1">
            <a:spLocks noChangeArrowheads="1"/>
          </p:cNvSpPr>
          <p:nvPr/>
        </p:nvSpPr>
        <p:spPr bwMode="auto">
          <a:xfrm>
            <a:off x="461645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5</a:t>
            </a:r>
            <a:endParaRPr lang="en-US" altLang="zh-CN" sz="3600"/>
          </a:p>
        </p:txBody>
      </p:sp>
      <p:sp>
        <p:nvSpPr>
          <p:cNvPr id="221235" name="Text Box 51"/>
          <p:cNvSpPr txBox="1">
            <a:spLocks noChangeArrowheads="1"/>
          </p:cNvSpPr>
          <p:nvPr/>
        </p:nvSpPr>
        <p:spPr bwMode="auto">
          <a:xfrm>
            <a:off x="4648200" y="4343400"/>
            <a:ext cx="641350" cy="641350"/>
          </a:xfrm>
          <a:prstGeom prst="rect">
            <a:avLst/>
          </a:prstGeom>
          <a:solidFill>
            <a:srgbClr val="C673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7</a:t>
            </a:r>
            <a:endParaRPr lang="en-US" altLang="zh-CN" sz="3600"/>
          </a:p>
        </p:txBody>
      </p:sp>
      <p:sp>
        <p:nvSpPr>
          <p:cNvPr id="221236" name="Text Box 52"/>
          <p:cNvSpPr txBox="1">
            <a:spLocks noChangeArrowheads="1"/>
          </p:cNvSpPr>
          <p:nvPr/>
        </p:nvSpPr>
        <p:spPr bwMode="auto">
          <a:xfrm>
            <a:off x="617220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15</a:t>
            </a:r>
            <a:endParaRPr lang="en-US" altLang="zh-CN" sz="3600"/>
          </a:p>
        </p:txBody>
      </p:sp>
      <p:sp>
        <p:nvSpPr>
          <p:cNvPr id="221237" name="Text Box 53"/>
          <p:cNvSpPr txBox="1">
            <a:spLocks noChangeArrowheads="1"/>
          </p:cNvSpPr>
          <p:nvPr/>
        </p:nvSpPr>
        <p:spPr bwMode="auto">
          <a:xfrm>
            <a:off x="6934200" y="4343400"/>
            <a:ext cx="641350" cy="641350"/>
          </a:xfrm>
          <a:prstGeom prst="rect">
            <a:avLst/>
          </a:prstGeom>
          <a:solidFill>
            <a:srgbClr val="C673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14</a:t>
            </a:r>
            <a:endParaRPr lang="en-US" altLang="zh-CN" sz="3600"/>
          </a:p>
        </p:txBody>
      </p:sp>
      <p:sp>
        <p:nvSpPr>
          <p:cNvPr id="221238" name="Text Box 54"/>
          <p:cNvSpPr txBox="1">
            <a:spLocks noChangeArrowheads="1"/>
          </p:cNvSpPr>
          <p:nvPr/>
        </p:nvSpPr>
        <p:spPr bwMode="auto">
          <a:xfrm>
            <a:off x="7696200" y="43434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18</a:t>
            </a:r>
            <a:endParaRPr lang="en-US" altLang="zh-CN" sz="3600"/>
          </a:p>
        </p:txBody>
      </p:sp>
      <p:sp>
        <p:nvSpPr>
          <p:cNvPr id="221239" name="Text Box 55"/>
          <p:cNvSpPr txBox="1">
            <a:spLocks noChangeArrowheads="1"/>
          </p:cNvSpPr>
          <p:nvPr/>
        </p:nvSpPr>
        <p:spPr bwMode="auto">
          <a:xfrm>
            <a:off x="7664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0" name="Text Box 56"/>
          <p:cNvSpPr txBox="1">
            <a:spLocks noChangeArrowheads="1"/>
          </p:cNvSpPr>
          <p:nvPr/>
        </p:nvSpPr>
        <p:spPr bwMode="auto">
          <a:xfrm>
            <a:off x="6902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1" name="Text Box 57"/>
          <p:cNvSpPr txBox="1">
            <a:spLocks noChangeArrowheads="1"/>
          </p:cNvSpPr>
          <p:nvPr/>
        </p:nvSpPr>
        <p:spPr bwMode="auto">
          <a:xfrm>
            <a:off x="6140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2" name="Text Box 58"/>
          <p:cNvSpPr txBox="1">
            <a:spLocks noChangeArrowheads="1"/>
          </p:cNvSpPr>
          <p:nvPr/>
        </p:nvSpPr>
        <p:spPr bwMode="auto">
          <a:xfrm>
            <a:off x="5378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3" name="Text Box 59"/>
          <p:cNvSpPr txBox="1">
            <a:spLocks noChangeArrowheads="1"/>
          </p:cNvSpPr>
          <p:nvPr/>
        </p:nvSpPr>
        <p:spPr bwMode="auto">
          <a:xfrm>
            <a:off x="464820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4" name="Text Box 60"/>
          <p:cNvSpPr txBox="1">
            <a:spLocks noChangeArrowheads="1"/>
          </p:cNvSpPr>
          <p:nvPr/>
        </p:nvSpPr>
        <p:spPr bwMode="auto">
          <a:xfrm>
            <a:off x="3854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5" name="Text Box 61"/>
          <p:cNvSpPr txBox="1">
            <a:spLocks noChangeArrowheads="1"/>
          </p:cNvSpPr>
          <p:nvPr/>
        </p:nvSpPr>
        <p:spPr bwMode="auto">
          <a:xfrm>
            <a:off x="312420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6" name="Text Box 62"/>
          <p:cNvSpPr txBox="1">
            <a:spLocks noChangeArrowheads="1"/>
          </p:cNvSpPr>
          <p:nvPr/>
        </p:nvSpPr>
        <p:spPr bwMode="auto">
          <a:xfrm>
            <a:off x="2330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7" name="Text Box 63"/>
          <p:cNvSpPr txBox="1">
            <a:spLocks noChangeArrowheads="1"/>
          </p:cNvSpPr>
          <p:nvPr/>
        </p:nvSpPr>
        <p:spPr bwMode="auto">
          <a:xfrm>
            <a:off x="1568450" y="50292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a:solidFill>
                  <a:srgbClr val="9900FF"/>
                </a:solidFill>
              </a:rPr>
              <a:t>18</a:t>
            </a:r>
            <a:endParaRPr lang="en-US" altLang="zh-CN" sz="3600"/>
          </a:p>
        </p:txBody>
      </p:sp>
      <p:sp>
        <p:nvSpPr>
          <p:cNvPr id="221248" name="Text Box 64"/>
          <p:cNvSpPr txBox="1">
            <a:spLocks noChangeArrowheads="1"/>
          </p:cNvSpPr>
          <p:nvPr/>
        </p:nvSpPr>
        <p:spPr bwMode="auto">
          <a:xfrm>
            <a:off x="6140450" y="50292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16</a:t>
            </a:r>
            <a:endParaRPr lang="en-US" altLang="zh-CN" sz="3600" b="1">
              <a:solidFill>
                <a:srgbClr val="580094"/>
              </a:solidFill>
            </a:endParaRPr>
          </a:p>
        </p:txBody>
      </p:sp>
      <p:sp>
        <p:nvSpPr>
          <p:cNvPr id="221249" name="Text Box 65"/>
          <p:cNvSpPr txBox="1">
            <a:spLocks noChangeArrowheads="1"/>
          </p:cNvSpPr>
          <p:nvPr/>
        </p:nvSpPr>
        <p:spPr bwMode="auto">
          <a:xfrm>
            <a:off x="6934200" y="50292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14</a:t>
            </a:r>
            <a:endParaRPr lang="en-US" altLang="zh-CN" sz="3600" b="1">
              <a:solidFill>
                <a:srgbClr val="580094"/>
              </a:solidFill>
            </a:endParaRPr>
          </a:p>
        </p:txBody>
      </p:sp>
      <p:sp>
        <p:nvSpPr>
          <p:cNvPr id="221250" name="Text Box 66"/>
          <p:cNvSpPr txBox="1">
            <a:spLocks noChangeArrowheads="1"/>
          </p:cNvSpPr>
          <p:nvPr/>
        </p:nvSpPr>
        <p:spPr bwMode="auto">
          <a:xfrm>
            <a:off x="4648200" y="5029200"/>
            <a:ext cx="60960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8</a:t>
            </a:r>
            <a:endParaRPr lang="en-US" altLang="zh-CN" sz="3600" b="1">
              <a:solidFill>
                <a:srgbClr val="580094"/>
              </a:solidFill>
            </a:endParaRPr>
          </a:p>
        </p:txBody>
      </p:sp>
      <p:sp>
        <p:nvSpPr>
          <p:cNvPr id="221251" name="Text Box 67"/>
          <p:cNvSpPr txBox="1">
            <a:spLocks noChangeArrowheads="1"/>
          </p:cNvSpPr>
          <p:nvPr/>
        </p:nvSpPr>
        <p:spPr bwMode="auto">
          <a:xfrm>
            <a:off x="2362200" y="5029200"/>
            <a:ext cx="60960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6</a:t>
            </a:r>
            <a:endParaRPr lang="en-US" altLang="zh-CN" sz="3600" b="1">
              <a:solidFill>
                <a:srgbClr val="580094"/>
              </a:solidFill>
            </a:endParaRPr>
          </a:p>
        </p:txBody>
      </p:sp>
      <p:sp>
        <p:nvSpPr>
          <p:cNvPr id="221252" name="Text Box 68"/>
          <p:cNvSpPr txBox="1">
            <a:spLocks noChangeArrowheads="1"/>
          </p:cNvSpPr>
          <p:nvPr/>
        </p:nvSpPr>
        <p:spPr bwMode="auto">
          <a:xfrm>
            <a:off x="3124200" y="5029200"/>
            <a:ext cx="60960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6</a:t>
            </a:r>
            <a:endParaRPr lang="en-US" altLang="zh-CN" sz="3600" b="1">
              <a:solidFill>
                <a:srgbClr val="580094"/>
              </a:solidFill>
            </a:endParaRPr>
          </a:p>
        </p:txBody>
      </p:sp>
      <p:sp>
        <p:nvSpPr>
          <p:cNvPr id="221253" name="Text Box 69"/>
          <p:cNvSpPr txBox="1">
            <a:spLocks noChangeArrowheads="1"/>
          </p:cNvSpPr>
          <p:nvPr/>
        </p:nvSpPr>
        <p:spPr bwMode="auto">
          <a:xfrm>
            <a:off x="5410200" y="5029200"/>
            <a:ext cx="64135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10</a:t>
            </a:r>
            <a:endParaRPr lang="en-US" altLang="zh-CN" sz="3600" b="1">
              <a:solidFill>
                <a:srgbClr val="580094"/>
              </a:solidFill>
            </a:endParaRPr>
          </a:p>
        </p:txBody>
      </p:sp>
      <p:sp>
        <p:nvSpPr>
          <p:cNvPr id="221254" name="Text Box 70"/>
          <p:cNvSpPr txBox="1">
            <a:spLocks noChangeArrowheads="1"/>
          </p:cNvSpPr>
          <p:nvPr/>
        </p:nvSpPr>
        <p:spPr bwMode="auto">
          <a:xfrm>
            <a:off x="3886200" y="5029200"/>
            <a:ext cx="60960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8</a:t>
            </a:r>
            <a:endParaRPr lang="en-US" altLang="zh-CN" sz="3600" b="1">
              <a:solidFill>
                <a:srgbClr val="580094"/>
              </a:solidFill>
            </a:endParaRPr>
          </a:p>
        </p:txBody>
      </p:sp>
      <p:sp>
        <p:nvSpPr>
          <p:cNvPr id="221255" name="Text Box 71"/>
          <p:cNvSpPr txBox="1">
            <a:spLocks noChangeArrowheads="1"/>
          </p:cNvSpPr>
          <p:nvPr/>
        </p:nvSpPr>
        <p:spPr bwMode="auto">
          <a:xfrm>
            <a:off x="1600200" y="5029200"/>
            <a:ext cx="609600" cy="641350"/>
          </a:xfrm>
          <a:prstGeom prst="rect">
            <a:avLst/>
          </a:prstGeom>
          <a:solidFill>
            <a:srgbClr val="DFAF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0</a:t>
            </a:r>
            <a:endParaRPr lang="en-US" altLang="zh-CN" sz="3600" b="1">
              <a:solidFill>
                <a:srgbClr val="580094"/>
              </a:solidFill>
            </a:endParaRPr>
          </a:p>
        </p:txBody>
      </p:sp>
      <p:sp>
        <p:nvSpPr>
          <p:cNvPr id="221256" name="Text Box 72"/>
          <p:cNvSpPr txBox="1">
            <a:spLocks noChangeArrowheads="1"/>
          </p:cNvSpPr>
          <p:nvPr/>
        </p:nvSpPr>
        <p:spPr bwMode="auto">
          <a:xfrm>
            <a:off x="4648200" y="5073650"/>
            <a:ext cx="641350" cy="641350"/>
          </a:xfrm>
          <a:prstGeom prst="rect">
            <a:avLst/>
          </a:prstGeom>
          <a:solidFill>
            <a:srgbClr val="C673FF"/>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7</a:t>
            </a:r>
            <a:endParaRPr lang="en-US" altLang="zh-CN" sz="3600"/>
          </a:p>
        </p:txBody>
      </p:sp>
      <p:sp>
        <p:nvSpPr>
          <p:cNvPr id="221257" name="Text Box 73"/>
          <p:cNvSpPr txBox="1">
            <a:spLocks noChangeArrowheads="1"/>
          </p:cNvSpPr>
          <p:nvPr/>
        </p:nvSpPr>
        <p:spPr bwMode="auto">
          <a:xfrm>
            <a:off x="739775" y="5943600"/>
            <a:ext cx="815340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a:solidFill>
                  <a:srgbClr val="0000FF"/>
                </a:solidFill>
                <a:latin typeface="楷体_GB2312" pitchFamily="49" charset="-122"/>
                <a:ea typeface="楷体_GB2312" pitchFamily="49" charset="-122"/>
                <a:sym typeface="+mn-ea"/>
              </a:rPr>
              <a:t>Topological ordered sequence</a:t>
            </a:r>
            <a:r>
              <a:rPr lang="en-US" altLang="zh-CN" sz="2000" b="1">
                <a:solidFill>
                  <a:srgbClr val="0000FF"/>
                </a:solidFill>
                <a:latin typeface="楷体_GB2312" pitchFamily="49" charset="-122"/>
                <a:ea typeface="楷体_GB2312" pitchFamily="49" charset="-122"/>
              </a:rPr>
              <a:t>:</a:t>
            </a:r>
            <a:r>
              <a:rPr lang="en-US" altLang="zh-CN" sz="2000" b="1">
                <a:solidFill>
                  <a:srgbClr val="0000FF"/>
                </a:solidFill>
                <a:ea typeface="隶书" panose="02010509060101010101" pitchFamily="49" charset="-122"/>
              </a:rPr>
              <a:t>  </a:t>
            </a:r>
            <a:r>
              <a:rPr lang="en-US" altLang="zh-CN" sz="2000" b="1">
                <a:solidFill>
                  <a:srgbClr val="CC0000"/>
                </a:solidFill>
                <a:ea typeface="隶书" panose="02010509060101010101" pitchFamily="49" charset="-122"/>
              </a:rPr>
              <a:t>a - d - f - c - b - e - h - g - k</a:t>
            </a:r>
            <a:endParaRPr lang="en-US" altLang="zh-CN" sz="2000" b="1">
              <a:solidFill>
                <a:srgbClr val="CC0000"/>
              </a:solidFill>
              <a:ea typeface="隶书" panose="02010509060101010101"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118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2118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21188"/>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21189"/>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21190"/>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221191"/>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221192"/>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grpId="0" nodeType="afterEffect">
                                  <p:stCondLst>
                                    <p:cond delay="0"/>
                                  </p:stCondLst>
                                  <p:childTnLst>
                                    <p:set>
                                      <p:cBhvr>
                                        <p:cTn id="27" dur="1" fill="hold">
                                          <p:stCondLst>
                                            <p:cond delay="499"/>
                                          </p:stCondLst>
                                        </p:cTn>
                                        <p:tgtEl>
                                          <p:spTgt spid="221193"/>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grpId="0" nodeType="afterEffect">
                                  <p:stCondLst>
                                    <p:cond delay="0"/>
                                  </p:stCondLst>
                                  <p:childTnLst>
                                    <p:set>
                                      <p:cBhvr>
                                        <p:cTn id="30" dur="1" fill="hold">
                                          <p:stCondLst>
                                            <p:cond delay="499"/>
                                          </p:stCondLst>
                                        </p:cTn>
                                        <p:tgtEl>
                                          <p:spTgt spid="221194"/>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grpId="0" nodeType="afterEffect">
                                  <p:stCondLst>
                                    <p:cond delay="0"/>
                                  </p:stCondLst>
                                  <p:childTnLst>
                                    <p:set>
                                      <p:cBhvr>
                                        <p:cTn id="33" dur="1" fill="hold">
                                          <p:stCondLst>
                                            <p:cond delay="499"/>
                                          </p:stCondLst>
                                        </p:cTn>
                                        <p:tgtEl>
                                          <p:spTgt spid="221195"/>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grpId="0" nodeType="afterEffect">
                                  <p:stCondLst>
                                    <p:cond delay="0"/>
                                  </p:stCondLst>
                                  <p:childTnLst>
                                    <p:set>
                                      <p:cBhvr>
                                        <p:cTn id="36" dur="1" fill="hold">
                                          <p:stCondLst>
                                            <p:cond delay="499"/>
                                          </p:stCondLst>
                                        </p:cTn>
                                        <p:tgtEl>
                                          <p:spTgt spid="221196"/>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grpId="0" nodeType="afterEffect">
                                  <p:stCondLst>
                                    <p:cond delay="0"/>
                                  </p:stCondLst>
                                  <p:childTnLst>
                                    <p:set>
                                      <p:cBhvr>
                                        <p:cTn id="39" dur="1" fill="hold">
                                          <p:stCondLst>
                                            <p:cond delay="499"/>
                                          </p:stCondLst>
                                        </p:cTn>
                                        <p:tgtEl>
                                          <p:spTgt spid="221197"/>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grpId="0" nodeType="afterEffect">
                                  <p:stCondLst>
                                    <p:cond delay="0"/>
                                  </p:stCondLst>
                                  <p:childTnLst>
                                    <p:set>
                                      <p:cBhvr>
                                        <p:cTn id="42" dur="1" fill="hold">
                                          <p:stCondLst>
                                            <p:cond delay="499"/>
                                          </p:stCondLst>
                                        </p:cTn>
                                        <p:tgtEl>
                                          <p:spTgt spid="221198"/>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grpId="0" nodeType="afterEffect">
                                  <p:stCondLst>
                                    <p:cond delay="0"/>
                                  </p:stCondLst>
                                  <p:childTnLst>
                                    <p:set>
                                      <p:cBhvr>
                                        <p:cTn id="45" dur="1" fill="hold">
                                          <p:stCondLst>
                                            <p:cond delay="499"/>
                                          </p:stCondLst>
                                        </p:cTn>
                                        <p:tgtEl>
                                          <p:spTgt spid="221199"/>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grpId="0" nodeType="afterEffect">
                                  <p:stCondLst>
                                    <p:cond delay="0"/>
                                  </p:stCondLst>
                                  <p:childTnLst>
                                    <p:set>
                                      <p:cBhvr>
                                        <p:cTn id="48" dur="1" fill="hold">
                                          <p:stCondLst>
                                            <p:cond delay="499"/>
                                          </p:stCondLst>
                                        </p:cTn>
                                        <p:tgtEl>
                                          <p:spTgt spid="221200"/>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grpId="0" nodeType="afterEffect">
                                  <p:stCondLst>
                                    <p:cond delay="0"/>
                                  </p:stCondLst>
                                  <p:childTnLst>
                                    <p:set>
                                      <p:cBhvr>
                                        <p:cTn id="51" dur="1" fill="hold">
                                          <p:stCondLst>
                                            <p:cond delay="499"/>
                                          </p:stCondLst>
                                        </p:cTn>
                                        <p:tgtEl>
                                          <p:spTgt spid="221201"/>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grpId="0" nodeType="afterEffect">
                                  <p:stCondLst>
                                    <p:cond delay="0"/>
                                  </p:stCondLst>
                                  <p:childTnLst>
                                    <p:set>
                                      <p:cBhvr>
                                        <p:cTn id="54" dur="1" fill="hold">
                                          <p:stCondLst>
                                            <p:cond delay="499"/>
                                          </p:stCondLst>
                                        </p:cTn>
                                        <p:tgtEl>
                                          <p:spTgt spid="221202"/>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grpId="0" nodeType="afterEffect">
                                  <p:stCondLst>
                                    <p:cond delay="0"/>
                                  </p:stCondLst>
                                  <p:childTnLst>
                                    <p:set>
                                      <p:cBhvr>
                                        <p:cTn id="57" dur="1" fill="hold">
                                          <p:stCondLst>
                                            <p:cond delay="499"/>
                                          </p:stCondLst>
                                        </p:cTn>
                                        <p:tgtEl>
                                          <p:spTgt spid="221203"/>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grpId="0" nodeType="afterEffect">
                                  <p:stCondLst>
                                    <p:cond delay="0"/>
                                  </p:stCondLst>
                                  <p:childTnLst>
                                    <p:set>
                                      <p:cBhvr>
                                        <p:cTn id="60" dur="1" fill="hold">
                                          <p:stCondLst>
                                            <p:cond delay="499"/>
                                          </p:stCondLst>
                                        </p:cTn>
                                        <p:tgtEl>
                                          <p:spTgt spid="221204"/>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grpId="0" nodeType="afterEffect">
                                  <p:stCondLst>
                                    <p:cond delay="0"/>
                                  </p:stCondLst>
                                  <p:childTnLst>
                                    <p:set>
                                      <p:cBhvr>
                                        <p:cTn id="63" dur="1" fill="hold">
                                          <p:stCondLst>
                                            <p:cond delay="499"/>
                                          </p:stCondLst>
                                        </p:cTn>
                                        <p:tgtEl>
                                          <p:spTgt spid="221205"/>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grpId="0" nodeType="afterEffect">
                                  <p:stCondLst>
                                    <p:cond delay="0"/>
                                  </p:stCondLst>
                                  <p:childTnLst>
                                    <p:set>
                                      <p:cBhvr>
                                        <p:cTn id="66" dur="1" fill="hold">
                                          <p:stCondLst>
                                            <p:cond delay="499"/>
                                          </p:stCondLst>
                                        </p:cTn>
                                        <p:tgtEl>
                                          <p:spTgt spid="221206"/>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grpId="0" nodeType="afterEffect">
                                  <p:stCondLst>
                                    <p:cond delay="0"/>
                                  </p:stCondLst>
                                  <p:childTnLst>
                                    <p:set>
                                      <p:cBhvr>
                                        <p:cTn id="69" dur="1" fill="hold">
                                          <p:stCondLst>
                                            <p:cond delay="499"/>
                                          </p:stCondLst>
                                        </p:cTn>
                                        <p:tgtEl>
                                          <p:spTgt spid="221207"/>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grpId="0" nodeType="afterEffect">
                                  <p:stCondLst>
                                    <p:cond delay="0"/>
                                  </p:stCondLst>
                                  <p:childTnLst>
                                    <p:set>
                                      <p:cBhvr>
                                        <p:cTn id="72" dur="1" fill="hold">
                                          <p:stCondLst>
                                            <p:cond delay="499"/>
                                          </p:stCondLst>
                                        </p:cTn>
                                        <p:tgtEl>
                                          <p:spTgt spid="221208"/>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grpId="0" nodeType="afterEffect">
                                  <p:stCondLst>
                                    <p:cond delay="0"/>
                                  </p:stCondLst>
                                  <p:childTnLst>
                                    <p:set>
                                      <p:cBhvr>
                                        <p:cTn id="75" dur="1" fill="hold">
                                          <p:stCondLst>
                                            <p:cond delay="499"/>
                                          </p:stCondLst>
                                        </p:cTn>
                                        <p:tgtEl>
                                          <p:spTgt spid="221209"/>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grpId="0" nodeType="afterEffect">
                                  <p:stCondLst>
                                    <p:cond delay="0"/>
                                  </p:stCondLst>
                                  <p:childTnLst>
                                    <p:set>
                                      <p:cBhvr>
                                        <p:cTn id="78" dur="1" fill="hold">
                                          <p:stCondLst>
                                            <p:cond delay="499"/>
                                          </p:stCondLst>
                                        </p:cTn>
                                        <p:tgtEl>
                                          <p:spTgt spid="221210"/>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grpId="0" nodeType="afterEffect">
                                  <p:stCondLst>
                                    <p:cond delay="0"/>
                                  </p:stCondLst>
                                  <p:childTnLst>
                                    <p:set>
                                      <p:cBhvr>
                                        <p:cTn id="81" dur="1" fill="hold">
                                          <p:stCondLst>
                                            <p:cond delay="499"/>
                                          </p:stCondLst>
                                        </p:cTn>
                                        <p:tgtEl>
                                          <p:spTgt spid="221211"/>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grpId="0" nodeType="afterEffect">
                                  <p:stCondLst>
                                    <p:cond delay="0"/>
                                  </p:stCondLst>
                                  <p:childTnLst>
                                    <p:set>
                                      <p:cBhvr>
                                        <p:cTn id="84" dur="1" fill="hold">
                                          <p:stCondLst>
                                            <p:cond delay="499"/>
                                          </p:stCondLst>
                                        </p:cTn>
                                        <p:tgtEl>
                                          <p:spTgt spid="221212"/>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grpId="0" nodeType="afterEffect">
                                  <p:stCondLst>
                                    <p:cond delay="0"/>
                                  </p:stCondLst>
                                  <p:childTnLst>
                                    <p:set>
                                      <p:cBhvr>
                                        <p:cTn id="87" dur="1" fill="hold">
                                          <p:stCondLst>
                                            <p:cond delay="499"/>
                                          </p:stCondLst>
                                        </p:cTn>
                                        <p:tgtEl>
                                          <p:spTgt spid="221213"/>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grpId="0" nodeType="afterEffect">
                                  <p:stCondLst>
                                    <p:cond delay="0"/>
                                  </p:stCondLst>
                                  <p:childTnLst>
                                    <p:set>
                                      <p:cBhvr>
                                        <p:cTn id="90" dur="1" fill="hold">
                                          <p:stCondLst>
                                            <p:cond delay="499"/>
                                          </p:stCondLst>
                                        </p:cTn>
                                        <p:tgtEl>
                                          <p:spTgt spid="221214"/>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grpId="0" nodeType="afterEffect">
                                  <p:stCondLst>
                                    <p:cond delay="0"/>
                                  </p:stCondLst>
                                  <p:childTnLst>
                                    <p:set>
                                      <p:cBhvr>
                                        <p:cTn id="93" dur="1" fill="hold">
                                          <p:stCondLst>
                                            <p:cond delay="499"/>
                                          </p:stCondLst>
                                        </p:cTn>
                                        <p:tgtEl>
                                          <p:spTgt spid="221215"/>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grpId="0" nodeType="afterEffect">
                                  <p:stCondLst>
                                    <p:cond delay="0"/>
                                  </p:stCondLst>
                                  <p:childTnLst>
                                    <p:set>
                                      <p:cBhvr>
                                        <p:cTn id="96" dur="1" fill="hold">
                                          <p:stCondLst>
                                            <p:cond delay="499"/>
                                          </p:stCondLst>
                                        </p:cTn>
                                        <p:tgtEl>
                                          <p:spTgt spid="22121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221219"/>
                                        </p:tgtEl>
                                        <p:attrNameLst>
                                          <p:attrName>style.visibility</p:attrName>
                                        </p:attrNameLst>
                                      </p:cBhvr>
                                      <p:to>
                                        <p:strVal val="visible"/>
                                      </p:to>
                                    </p:set>
                                    <p:animEffect transition="in" filter="dissolve">
                                      <p:cBhvr>
                                        <p:cTn id="101" dur="500"/>
                                        <p:tgtEl>
                                          <p:spTgt spid="221219"/>
                                        </p:tgtEl>
                                      </p:cBhvr>
                                    </p:animEffect>
                                  </p:childTnLst>
                                </p:cTn>
                              </p:par>
                            </p:childTnLst>
                          </p:cTn>
                        </p:par>
                        <p:par>
                          <p:cTn id="102" fill="hold">
                            <p:stCondLst>
                              <p:cond delay="500"/>
                            </p:stCondLst>
                            <p:childTnLst>
                              <p:par>
                                <p:cTn id="103" presetID="17" presetClass="entr" presetSubtype="8" fill="hold" grpId="0" nodeType="afterEffect">
                                  <p:stCondLst>
                                    <p:cond delay="0"/>
                                  </p:stCondLst>
                                  <p:childTnLst>
                                    <p:set>
                                      <p:cBhvr>
                                        <p:cTn id="104" dur="1" fill="hold">
                                          <p:stCondLst>
                                            <p:cond delay="0"/>
                                          </p:stCondLst>
                                        </p:cTn>
                                        <p:tgtEl>
                                          <p:spTgt spid="221217"/>
                                        </p:tgtEl>
                                        <p:attrNameLst>
                                          <p:attrName>style.visibility</p:attrName>
                                        </p:attrNameLst>
                                      </p:cBhvr>
                                      <p:to>
                                        <p:strVal val="visible"/>
                                      </p:to>
                                    </p:set>
                                    <p:anim calcmode="lin" valueType="num">
                                      <p:cBhvr>
                                        <p:cTn id="105" dur="500" fill="hold"/>
                                        <p:tgtEl>
                                          <p:spTgt spid="221217"/>
                                        </p:tgtEl>
                                        <p:attrNameLst>
                                          <p:attrName>ppt_x</p:attrName>
                                        </p:attrNameLst>
                                      </p:cBhvr>
                                      <p:tavLst>
                                        <p:tav tm="0">
                                          <p:val>
                                            <p:strVal val="#ppt_x-#ppt_w/2"/>
                                          </p:val>
                                        </p:tav>
                                        <p:tav tm="100000">
                                          <p:val>
                                            <p:strVal val="#ppt_x"/>
                                          </p:val>
                                        </p:tav>
                                      </p:tavLst>
                                    </p:anim>
                                    <p:anim calcmode="lin" valueType="num">
                                      <p:cBhvr>
                                        <p:cTn id="106" dur="500" fill="hold"/>
                                        <p:tgtEl>
                                          <p:spTgt spid="221217"/>
                                        </p:tgtEl>
                                        <p:attrNameLst>
                                          <p:attrName>ppt_y</p:attrName>
                                        </p:attrNameLst>
                                      </p:cBhvr>
                                      <p:tavLst>
                                        <p:tav tm="0">
                                          <p:val>
                                            <p:strVal val="#ppt_y"/>
                                          </p:val>
                                        </p:tav>
                                        <p:tav tm="100000">
                                          <p:val>
                                            <p:strVal val="#ppt_y"/>
                                          </p:val>
                                        </p:tav>
                                      </p:tavLst>
                                    </p:anim>
                                    <p:anim calcmode="lin" valueType="num">
                                      <p:cBhvr>
                                        <p:cTn id="107" dur="500" fill="hold"/>
                                        <p:tgtEl>
                                          <p:spTgt spid="221217"/>
                                        </p:tgtEl>
                                        <p:attrNameLst>
                                          <p:attrName>ppt_w</p:attrName>
                                        </p:attrNameLst>
                                      </p:cBhvr>
                                      <p:tavLst>
                                        <p:tav tm="0">
                                          <p:val>
                                            <p:fltVal val="0"/>
                                          </p:val>
                                        </p:tav>
                                        <p:tav tm="100000">
                                          <p:val>
                                            <p:strVal val="#ppt_w"/>
                                          </p:val>
                                        </p:tav>
                                      </p:tavLst>
                                    </p:anim>
                                    <p:anim calcmode="lin" valueType="num">
                                      <p:cBhvr>
                                        <p:cTn id="108" dur="500" fill="hold"/>
                                        <p:tgtEl>
                                          <p:spTgt spid="221217"/>
                                        </p:tgtEl>
                                        <p:attrNameLst>
                                          <p:attrName>ppt_h</p:attrName>
                                        </p:attrNameLst>
                                      </p:cBhvr>
                                      <p:tavLst>
                                        <p:tav tm="0">
                                          <p:val>
                                            <p:strVal val="#ppt_h"/>
                                          </p:val>
                                        </p:tav>
                                        <p:tav tm="100000">
                                          <p:val>
                                            <p:strVal val="#ppt_h"/>
                                          </p:val>
                                        </p:tav>
                                      </p:tavLst>
                                    </p:anim>
                                  </p:childTnLst>
                                </p:cTn>
                              </p:par>
                            </p:childTnLst>
                          </p:cTn>
                        </p:par>
                        <p:par>
                          <p:cTn id="109" fill="hold">
                            <p:stCondLst>
                              <p:cond delay="1000"/>
                            </p:stCondLst>
                            <p:childTnLst>
                              <p:par>
                                <p:cTn id="110" presetID="17" presetClass="entr" presetSubtype="4" fill="hold" grpId="0" nodeType="afterEffect">
                                  <p:stCondLst>
                                    <p:cond delay="0"/>
                                  </p:stCondLst>
                                  <p:childTnLst>
                                    <p:set>
                                      <p:cBhvr>
                                        <p:cTn id="111" dur="1" fill="hold">
                                          <p:stCondLst>
                                            <p:cond delay="0"/>
                                          </p:stCondLst>
                                        </p:cTn>
                                        <p:tgtEl>
                                          <p:spTgt spid="221218"/>
                                        </p:tgtEl>
                                        <p:attrNameLst>
                                          <p:attrName>style.visibility</p:attrName>
                                        </p:attrNameLst>
                                      </p:cBhvr>
                                      <p:to>
                                        <p:strVal val="visible"/>
                                      </p:to>
                                    </p:set>
                                    <p:anim calcmode="lin" valueType="num">
                                      <p:cBhvr>
                                        <p:cTn id="112" dur="500" fill="hold"/>
                                        <p:tgtEl>
                                          <p:spTgt spid="221218"/>
                                        </p:tgtEl>
                                        <p:attrNameLst>
                                          <p:attrName>ppt_x</p:attrName>
                                        </p:attrNameLst>
                                      </p:cBhvr>
                                      <p:tavLst>
                                        <p:tav tm="0">
                                          <p:val>
                                            <p:strVal val="#ppt_x"/>
                                          </p:val>
                                        </p:tav>
                                        <p:tav tm="100000">
                                          <p:val>
                                            <p:strVal val="#ppt_x"/>
                                          </p:val>
                                        </p:tav>
                                      </p:tavLst>
                                    </p:anim>
                                    <p:anim calcmode="lin" valueType="num">
                                      <p:cBhvr>
                                        <p:cTn id="113" dur="500" fill="hold"/>
                                        <p:tgtEl>
                                          <p:spTgt spid="221218"/>
                                        </p:tgtEl>
                                        <p:attrNameLst>
                                          <p:attrName>ppt_y</p:attrName>
                                        </p:attrNameLst>
                                      </p:cBhvr>
                                      <p:tavLst>
                                        <p:tav tm="0">
                                          <p:val>
                                            <p:strVal val="#ppt_y+#ppt_h/2"/>
                                          </p:val>
                                        </p:tav>
                                        <p:tav tm="100000">
                                          <p:val>
                                            <p:strVal val="#ppt_y"/>
                                          </p:val>
                                        </p:tav>
                                      </p:tavLst>
                                    </p:anim>
                                    <p:anim calcmode="lin" valueType="num">
                                      <p:cBhvr>
                                        <p:cTn id="114" dur="500" fill="hold"/>
                                        <p:tgtEl>
                                          <p:spTgt spid="221218"/>
                                        </p:tgtEl>
                                        <p:attrNameLst>
                                          <p:attrName>ppt_w</p:attrName>
                                        </p:attrNameLst>
                                      </p:cBhvr>
                                      <p:tavLst>
                                        <p:tav tm="0">
                                          <p:val>
                                            <p:strVal val="#ppt_w"/>
                                          </p:val>
                                        </p:tav>
                                        <p:tav tm="100000">
                                          <p:val>
                                            <p:strVal val="#ppt_w"/>
                                          </p:val>
                                        </p:tav>
                                      </p:tavLst>
                                    </p:anim>
                                    <p:anim calcmode="lin" valueType="num">
                                      <p:cBhvr>
                                        <p:cTn id="115" dur="500" fill="hold"/>
                                        <p:tgtEl>
                                          <p:spTgt spid="221218"/>
                                        </p:tgtEl>
                                        <p:attrNameLst>
                                          <p:attrName>ppt_h</p:attrName>
                                        </p:attrNameLst>
                                      </p:cBhvr>
                                      <p:tavLst>
                                        <p:tav tm="0">
                                          <p:val>
                                            <p:flt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21220"/>
                                        </p:tgtEl>
                                        <p:attrNameLst>
                                          <p:attrName>style.visibility</p:attrName>
                                        </p:attrNameLst>
                                      </p:cBhvr>
                                      <p:to>
                                        <p:strVal val="visible"/>
                                      </p:to>
                                    </p:set>
                                    <p:animEffect transition="in" filter="wipe(left)">
                                      <p:cBhvr>
                                        <p:cTn id="120" dur="500"/>
                                        <p:tgtEl>
                                          <p:spTgt spid="221220"/>
                                        </p:tgtEl>
                                      </p:cBhvr>
                                    </p:animEffect>
                                  </p:childTnLst>
                                </p:cTn>
                              </p:par>
                            </p:childTnLst>
                          </p:cTn>
                        </p:par>
                        <p:par>
                          <p:cTn id="121" fill="hold">
                            <p:stCondLst>
                              <p:cond delay="500"/>
                            </p:stCondLst>
                            <p:childTnLst>
                              <p:par>
                                <p:cTn id="122" presetID="22" presetClass="entr" presetSubtype="8" fill="hold" grpId="0" nodeType="afterEffect">
                                  <p:stCondLst>
                                    <p:cond delay="0"/>
                                  </p:stCondLst>
                                  <p:childTnLst>
                                    <p:set>
                                      <p:cBhvr>
                                        <p:cTn id="123" dur="1" fill="hold">
                                          <p:stCondLst>
                                            <p:cond delay="0"/>
                                          </p:stCondLst>
                                        </p:cTn>
                                        <p:tgtEl>
                                          <p:spTgt spid="221221"/>
                                        </p:tgtEl>
                                        <p:attrNameLst>
                                          <p:attrName>style.visibility</p:attrName>
                                        </p:attrNameLst>
                                      </p:cBhvr>
                                      <p:to>
                                        <p:strVal val="visible"/>
                                      </p:to>
                                    </p:set>
                                    <p:animEffect transition="in" filter="wipe(left)">
                                      <p:cBhvr>
                                        <p:cTn id="124" dur="500"/>
                                        <p:tgtEl>
                                          <p:spTgt spid="221221"/>
                                        </p:tgtEl>
                                      </p:cBhvr>
                                    </p:animEffect>
                                  </p:childTnLst>
                                </p:cTn>
                              </p:par>
                            </p:childTnLst>
                          </p:cTn>
                        </p:par>
                        <p:par>
                          <p:cTn id="125" fill="hold">
                            <p:stCondLst>
                              <p:cond delay="1000"/>
                            </p:stCondLst>
                            <p:childTnLst>
                              <p:par>
                                <p:cTn id="126" presetID="22" presetClass="entr" presetSubtype="8" fill="hold" grpId="0" nodeType="afterEffect">
                                  <p:stCondLst>
                                    <p:cond delay="0"/>
                                  </p:stCondLst>
                                  <p:childTnLst>
                                    <p:set>
                                      <p:cBhvr>
                                        <p:cTn id="127" dur="1" fill="hold">
                                          <p:stCondLst>
                                            <p:cond delay="0"/>
                                          </p:stCondLst>
                                        </p:cTn>
                                        <p:tgtEl>
                                          <p:spTgt spid="221222"/>
                                        </p:tgtEl>
                                        <p:attrNameLst>
                                          <p:attrName>style.visibility</p:attrName>
                                        </p:attrNameLst>
                                      </p:cBhvr>
                                      <p:to>
                                        <p:strVal val="visible"/>
                                      </p:to>
                                    </p:set>
                                    <p:animEffect transition="in" filter="wipe(left)">
                                      <p:cBhvr>
                                        <p:cTn id="128" dur="500"/>
                                        <p:tgtEl>
                                          <p:spTgt spid="221222"/>
                                        </p:tgtEl>
                                      </p:cBhvr>
                                    </p:animEffect>
                                  </p:childTnLst>
                                </p:cTn>
                              </p:par>
                            </p:childTnLst>
                          </p:cTn>
                        </p:par>
                        <p:par>
                          <p:cTn id="129" fill="hold">
                            <p:stCondLst>
                              <p:cond delay="1500"/>
                            </p:stCondLst>
                            <p:childTnLst>
                              <p:par>
                                <p:cTn id="130" presetID="22" presetClass="entr" presetSubtype="8" fill="hold" grpId="0" nodeType="afterEffect">
                                  <p:stCondLst>
                                    <p:cond delay="0"/>
                                  </p:stCondLst>
                                  <p:childTnLst>
                                    <p:set>
                                      <p:cBhvr>
                                        <p:cTn id="131" dur="1" fill="hold">
                                          <p:stCondLst>
                                            <p:cond delay="0"/>
                                          </p:stCondLst>
                                        </p:cTn>
                                        <p:tgtEl>
                                          <p:spTgt spid="221223"/>
                                        </p:tgtEl>
                                        <p:attrNameLst>
                                          <p:attrName>style.visibility</p:attrName>
                                        </p:attrNameLst>
                                      </p:cBhvr>
                                      <p:to>
                                        <p:strVal val="visible"/>
                                      </p:to>
                                    </p:set>
                                    <p:animEffect transition="in" filter="wipe(left)">
                                      <p:cBhvr>
                                        <p:cTn id="132" dur="500"/>
                                        <p:tgtEl>
                                          <p:spTgt spid="221223"/>
                                        </p:tgtEl>
                                      </p:cBhvr>
                                    </p:animEffect>
                                  </p:childTnLst>
                                </p:cTn>
                              </p:par>
                            </p:childTnLst>
                          </p:cTn>
                        </p:par>
                        <p:par>
                          <p:cTn id="133" fill="hold">
                            <p:stCondLst>
                              <p:cond delay="2000"/>
                            </p:stCondLst>
                            <p:childTnLst>
                              <p:par>
                                <p:cTn id="134" presetID="22" presetClass="entr" presetSubtype="8" fill="hold" grpId="0" nodeType="afterEffect">
                                  <p:stCondLst>
                                    <p:cond delay="0"/>
                                  </p:stCondLst>
                                  <p:childTnLst>
                                    <p:set>
                                      <p:cBhvr>
                                        <p:cTn id="135" dur="1" fill="hold">
                                          <p:stCondLst>
                                            <p:cond delay="0"/>
                                          </p:stCondLst>
                                        </p:cTn>
                                        <p:tgtEl>
                                          <p:spTgt spid="221224"/>
                                        </p:tgtEl>
                                        <p:attrNameLst>
                                          <p:attrName>style.visibility</p:attrName>
                                        </p:attrNameLst>
                                      </p:cBhvr>
                                      <p:to>
                                        <p:strVal val="visible"/>
                                      </p:to>
                                    </p:set>
                                    <p:animEffect transition="in" filter="wipe(left)">
                                      <p:cBhvr>
                                        <p:cTn id="136" dur="500"/>
                                        <p:tgtEl>
                                          <p:spTgt spid="221224"/>
                                        </p:tgtEl>
                                      </p:cBhvr>
                                    </p:animEffect>
                                  </p:childTnLst>
                                </p:cTn>
                              </p:par>
                            </p:childTnLst>
                          </p:cTn>
                        </p:par>
                        <p:par>
                          <p:cTn id="137" fill="hold">
                            <p:stCondLst>
                              <p:cond delay="2500"/>
                            </p:stCondLst>
                            <p:childTnLst>
                              <p:par>
                                <p:cTn id="138" presetID="22" presetClass="entr" presetSubtype="8" fill="hold" grpId="0" nodeType="afterEffect">
                                  <p:stCondLst>
                                    <p:cond delay="0"/>
                                  </p:stCondLst>
                                  <p:childTnLst>
                                    <p:set>
                                      <p:cBhvr>
                                        <p:cTn id="139" dur="1" fill="hold">
                                          <p:stCondLst>
                                            <p:cond delay="0"/>
                                          </p:stCondLst>
                                        </p:cTn>
                                        <p:tgtEl>
                                          <p:spTgt spid="221225"/>
                                        </p:tgtEl>
                                        <p:attrNameLst>
                                          <p:attrName>style.visibility</p:attrName>
                                        </p:attrNameLst>
                                      </p:cBhvr>
                                      <p:to>
                                        <p:strVal val="visible"/>
                                      </p:to>
                                    </p:set>
                                    <p:animEffect transition="in" filter="wipe(left)">
                                      <p:cBhvr>
                                        <p:cTn id="140" dur="500"/>
                                        <p:tgtEl>
                                          <p:spTgt spid="221225"/>
                                        </p:tgtEl>
                                      </p:cBhvr>
                                    </p:animEffect>
                                  </p:childTnLst>
                                </p:cTn>
                              </p:par>
                            </p:childTnLst>
                          </p:cTn>
                        </p:par>
                        <p:par>
                          <p:cTn id="141" fill="hold">
                            <p:stCondLst>
                              <p:cond delay="3000"/>
                            </p:stCondLst>
                            <p:childTnLst>
                              <p:par>
                                <p:cTn id="142" presetID="22" presetClass="entr" presetSubtype="8" fill="hold" grpId="0" nodeType="afterEffect">
                                  <p:stCondLst>
                                    <p:cond delay="0"/>
                                  </p:stCondLst>
                                  <p:childTnLst>
                                    <p:set>
                                      <p:cBhvr>
                                        <p:cTn id="143" dur="1" fill="hold">
                                          <p:stCondLst>
                                            <p:cond delay="0"/>
                                          </p:stCondLst>
                                        </p:cTn>
                                        <p:tgtEl>
                                          <p:spTgt spid="221226"/>
                                        </p:tgtEl>
                                        <p:attrNameLst>
                                          <p:attrName>style.visibility</p:attrName>
                                        </p:attrNameLst>
                                      </p:cBhvr>
                                      <p:to>
                                        <p:strVal val="visible"/>
                                      </p:to>
                                    </p:set>
                                    <p:animEffect transition="in" filter="wipe(left)">
                                      <p:cBhvr>
                                        <p:cTn id="144" dur="500"/>
                                        <p:tgtEl>
                                          <p:spTgt spid="221226"/>
                                        </p:tgtEl>
                                      </p:cBhvr>
                                    </p:animEffect>
                                  </p:childTnLst>
                                </p:cTn>
                              </p:par>
                            </p:childTnLst>
                          </p:cTn>
                        </p:par>
                        <p:par>
                          <p:cTn id="145" fill="hold">
                            <p:stCondLst>
                              <p:cond delay="3500"/>
                            </p:stCondLst>
                            <p:childTnLst>
                              <p:par>
                                <p:cTn id="146" presetID="22" presetClass="entr" presetSubtype="8" fill="hold" grpId="0" nodeType="afterEffect">
                                  <p:stCondLst>
                                    <p:cond delay="0"/>
                                  </p:stCondLst>
                                  <p:childTnLst>
                                    <p:set>
                                      <p:cBhvr>
                                        <p:cTn id="147" dur="1" fill="hold">
                                          <p:stCondLst>
                                            <p:cond delay="0"/>
                                          </p:stCondLst>
                                        </p:cTn>
                                        <p:tgtEl>
                                          <p:spTgt spid="221227"/>
                                        </p:tgtEl>
                                        <p:attrNameLst>
                                          <p:attrName>style.visibility</p:attrName>
                                        </p:attrNameLst>
                                      </p:cBhvr>
                                      <p:to>
                                        <p:strVal val="visible"/>
                                      </p:to>
                                    </p:set>
                                    <p:animEffect transition="in" filter="wipe(left)">
                                      <p:cBhvr>
                                        <p:cTn id="148" dur="500"/>
                                        <p:tgtEl>
                                          <p:spTgt spid="221227"/>
                                        </p:tgtEl>
                                      </p:cBhvr>
                                    </p:animEffect>
                                  </p:childTnLst>
                                </p:cTn>
                              </p:par>
                            </p:childTnLst>
                          </p:cTn>
                        </p:par>
                        <p:par>
                          <p:cTn id="149" fill="hold">
                            <p:stCondLst>
                              <p:cond delay="4000"/>
                            </p:stCondLst>
                            <p:childTnLst>
                              <p:par>
                                <p:cTn id="150" presetID="22" presetClass="entr" presetSubtype="8" fill="hold" grpId="0" nodeType="afterEffect">
                                  <p:stCondLst>
                                    <p:cond delay="0"/>
                                  </p:stCondLst>
                                  <p:childTnLst>
                                    <p:set>
                                      <p:cBhvr>
                                        <p:cTn id="151" dur="1" fill="hold">
                                          <p:stCondLst>
                                            <p:cond delay="0"/>
                                          </p:stCondLst>
                                        </p:cTn>
                                        <p:tgtEl>
                                          <p:spTgt spid="221228"/>
                                        </p:tgtEl>
                                        <p:attrNameLst>
                                          <p:attrName>style.visibility</p:attrName>
                                        </p:attrNameLst>
                                      </p:cBhvr>
                                      <p:to>
                                        <p:strVal val="visible"/>
                                      </p:to>
                                    </p:set>
                                    <p:animEffect transition="in" filter="wipe(left)">
                                      <p:cBhvr>
                                        <p:cTn id="152" dur="500"/>
                                        <p:tgtEl>
                                          <p:spTgt spid="221228"/>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221229"/>
                                        </p:tgtEl>
                                        <p:attrNameLst>
                                          <p:attrName>style.visibility</p:attrName>
                                        </p:attrNameLst>
                                      </p:cBhvr>
                                      <p:to>
                                        <p:strVal val="visible"/>
                                      </p:to>
                                    </p:set>
                                    <p:animEffect transition="in" filter="wipe(left)">
                                      <p:cBhvr>
                                        <p:cTn id="157" dur="500"/>
                                        <p:tgtEl>
                                          <p:spTgt spid="221229"/>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221230"/>
                                        </p:tgtEl>
                                        <p:attrNameLst>
                                          <p:attrName>style.visibility</p:attrName>
                                        </p:attrNameLst>
                                      </p:cBhvr>
                                      <p:to>
                                        <p:strVal val="visible"/>
                                      </p:to>
                                    </p:set>
                                    <p:animEffect transition="in" filter="wipe(left)">
                                      <p:cBhvr>
                                        <p:cTn id="162" dur="500"/>
                                        <p:tgtEl>
                                          <p:spTgt spid="221230"/>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21231"/>
                                        </p:tgtEl>
                                        <p:attrNameLst>
                                          <p:attrName>style.visibility</p:attrName>
                                        </p:attrNameLst>
                                      </p:cBhvr>
                                      <p:to>
                                        <p:strVal val="visible"/>
                                      </p:to>
                                    </p:set>
                                    <p:animEffect transition="in" filter="wipe(left)">
                                      <p:cBhvr>
                                        <p:cTn id="167" dur="500"/>
                                        <p:tgtEl>
                                          <p:spTgt spid="221231"/>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221232"/>
                                        </p:tgtEl>
                                        <p:attrNameLst>
                                          <p:attrName>style.visibility</p:attrName>
                                        </p:attrNameLst>
                                      </p:cBhvr>
                                      <p:to>
                                        <p:strVal val="visible"/>
                                      </p:to>
                                    </p:set>
                                    <p:animEffect transition="in" filter="wipe(left)">
                                      <p:cBhvr>
                                        <p:cTn id="172" dur="500"/>
                                        <p:tgtEl>
                                          <p:spTgt spid="221232"/>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221233"/>
                                        </p:tgtEl>
                                        <p:attrNameLst>
                                          <p:attrName>style.visibility</p:attrName>
                                        </p:attrNameLst>
                                      </p:cBhvr>
                                      <p:to>
                                        <p:strVal val="visible"/>
                                      </p:to>
                                    </p:set>
                                    <p:animEffect transition="in" filter="wipe(left)">
                                      <p:cBhvr>
                                        <p:cTn id="177" dur="500"/>
                                        <p:tgtEl>
                                          <p:spTgt spid="221233"/>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0" nodeType="clickEffect">
                                  <p:stCondLst>
                                    <p:cond delay="0"/>
                                  </p:stCondLst>
                                  <p:childTnLst>
                                    <p:set>
                                      <p:cBhvr>
                                        <p:cTn id="181" dur="1" fill="hold">
                                          <p:stCondLst>
                                            <p:cond delay="0"/>
                                          </p:stCondLst>
                                        </p:cTn>
                                        <p:tgtEl>
                                          <p:spTgt spid="221234"/>
                                        </p:tgtEl>
                                        <p:attrNameLst>
                                          <p:attrName>style.visibility</p:attrName>
                                        </p:attrNameLst>
                                      </p:cBhvr>
                                      <p:to>
                                        <p:strVal val="visible"/>
                                      </p:to>
                                    </p:set>
                                    <p:animEffect transition="in" filter="wipe(left)">
                                      <p:cBhvr>
                                        <p:cTn id="182" dur="500"/>
                                        <p:tgtEl>
                                          <p:spTgt spid="221234"/>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221235"/>
                                        </p:tgtEl>
                                        <p:attrNameLst>
                                          <p:attrName>style.visibility</p:attrName>
                                        </p:attrNameLst>
                                      </p:cBhvr>
                                      <p:to>
                                        <p:strVal val="visible"/>
                                      </p:to>
                                    </p:set>
                                    <p:animEffect transition="in" filter="wipe(left)">
                                      <p:cBhvr>
                                        <p:cTn id="187" dur="500"/>
                                        <p:tgtEl>
                                          <p:spTgt spid="221235"/>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childTnLst>
                                    <p:set>
                                      <p:cBhvr>
                                        <p:cTn id="191" dur="1" fill="hold">
                                          <p:stCondLst>
                                            <p:cond delay="0"/>
                                          </p:stCondLst>
                                        </p:cTn>
                                        <p:tgtEl>
                                          <p:spTgt spid="221236"/>
                                        </p:tgtEl>
                                        <p:attrNameLst>
                                          <p:attrName>style.visibility</p:attrName>
                                        </p:attrNameLst>
                                      </p:cBhvr>
                                      <p:to>
                                        <p:strVal val="visible"/>
                                      </p:to>
                                    </p:set>
                                    <p:animEffect transition="in" filter="wipe(left)">
                                      <p:cBhvr>
                                        <p:cTn id="192" dur="500"/>
                                        <p:tgtEl>
                                          <p:spTgt spid="221236"/>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221237"/>
                                        </p:tgtEl>
                                        <p:attrNameLst>
                                          <p:attrName>style.visibility</p:attrName>
                                        </p:attrNameLst>
                                      </p:cBhvr>
                                      <p:to>
                                        <p:strVal val="visible"/>
                                      </p:to>
                                    </p:set>
                                    <p:animEffect transition="in" filter="wipe(left)">
                                      <p:cBhvr>
                                        <p:cTn id="197" dur="500"/>
                                        <p:tgtEl>
                                          <p:spTgt spid="221237"/>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8" fill="hold" grpId="0" nodeType="clickEffect">
                                  <p:stCondLst>
                                    <p:cond delay="0"/>
                                  </p:stCondLst>
                                  <p:childTnLst>
                                    <p:set>
                                      <p:cBhvr>
                                        <p:cTn id="201" dur="1" fill="hold">
                                          <p:stCondLst>
                                            <p:cond delay="0"/>
                                          </p:stCondLst>
                                        </p:cTn>
                                        <p:tgtEl>
                                          <p:spTgt spid="221238"/>
                                        </p:tgtEl>
                                        <p:attrNameLst>
                                          <p:attrName>style.visibility</p:attrName>
                                        </p:attrNameLst>
                                      </p:cBhvr>
                                      <p:to>
                                        <p:strVal val="visible"/>
                                      </p:to>
                                    </p:set>
                                    <p:animEffect transition="in" filter="wipe(left)">
                                      <p:cBhvr>
                                        <p:cTn id="202" dur="500"/>
                                        <p:tgtEl>
                                          <p:spTgt spid="221238"/>
                                        </p:tgtEl>
                                      </p:cBhvr>
                                    </p:animEffect>
                                  </p:childTnLst>
                                </p:cTn>
                              </p:par>
                            </p:childTnLst>
                          </p:cTn>
                        </p:par>
                      </p:childTnLst>
                    </p:cTn>
                  </p:par>
                  <p:par>
                    <p:cTn id="203" fill="hold">
                      <p:stCondLst>
                        <p:cond delay="indefinite"/>
                      </p:stCondLst>
                      <p:childTnLst>
                        <p:par>
                          <p:cTn id="204" fill="hold">
                            <p:stCondLst>
                              <p:cond delay="0"/>
                            </p:stCondLst>
                            <p:childTnLst>
                              <p:par>
                                <p:cTn id="205" presetID="2" presetClass="entr" presetSubtype="4" fill="hold" grpId="0" nodeType="clickEffect">
                                  <p:stCondLst>
                                    <p:cond delay="0"/>
                                  </p:stCondLst>
                                  <p:childTnLst>
                                    <p:set>
                                      <p:cBhvr>
                                        <p:cTn id="206" dur="1" fill="hold">
                                          <p:stCondLst>
                                            <p:cond delay="0"/>
                                          </p:stCondLst>
                                        </p:cTn>
                                        <p:tgtEl>
                                          <p:spTgt spid="221257"/>
                                        </p:tgtEl>
                                        <p:attrNameLst>
                                          <p:attrName>style.visibility</p:attrName>
                                        </p:attrNameLst>
                                      </p:cBhvr>
                                      <p:to>
                                        <p:strVal val="visible"/>
                                      </p:to>
                                    </p:set>
                                    <p:anim calcmode="lin" valueType="num">
                                      <p:cBhvr additive="base">
                                        <p:cTn id="207" dur="500" fill="hold"/>
                                        <p:tgtEl>
                                          <p:spTgt spid="221257"/>
                                        </p:tgtEl>
                                        <p:attrNameLst>
                                          <p:attrName>ppt_x</p:attrName>
                                        </p:attrNameLst>
                                      </p:cBhvr>
                                      <p:tavLst>
                                        <p:tav tm="0">
                                          <p:val>
                                            <p:strVal val="#ppt_x"/>
                                          </p:val>
                                        </p:tav>
                                        <p:tav tm="100000">
                                          <p:val>
                                            <p:strVal val="#ppt_x"/>
                                          </p:val>
                                        </p:tav>
                                      </p:tavLst>
                                    </p:anim>
                                    <p:anim calcmode="lin" valueType="num">
                                      <p:cBhvr additive="base">
                                        <p:cTn id="208" dur="500" fill="hold"/>
                                        <p:tgtEl>
                                          <p:spTgt spid="221257"/>
                                        </p:tgtEl>
                                        <p:attrNameLst>
                                          <p:attrName>ppt_y</p:attrName>
                                        </p:attrNameLst>
                                      </p:cBhvr>
                                      <p:tavLst>
                                        <p:tav tm="0">
                                          <p:val>
                                            <p:strVal val="1+#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2" presetClass="entr" presetSubtype="2" fill="hold" grpId="0" nodeType="clickEffect">
                                  <p:stCondLst>
                                    <p:cond delay="0"/>
                                  </p:stCondLst>
                                  <p:childTnLst>
                                    <p:set>
                                      <p:cBhvr>
                                        <p:cTn id="212" dur="1" fill="hold">
                                          <p:stCondLst>
                                            <p:cond delay="0"/>
                                          </p:stCondLst>
                                        </p:cTn>
                                        <p:tgtEl>
                                          <p:spTgt spid="221239"/>
                                        </p:tgtEl>
                                        <p:attrNameLst>
                                          <p:attrName>style.visibility</p:attrName>
                                        </p:attrNameLst>
                                      </p:cBhvr>
                                      <p:to>
                                        <p:strVal val="visible"/>
                                      </p:to>
                                    </p:set>
                                    <p:animEffect transition="in" filter="wipe(right)">
                                      <p:cBhvr>
                                        <p:cTn id="213" dur="500"/>
                                        <p:tgtEl>
                                          <p:spTgt spid="221239"/>
                                        </p:tgtEl>
                                      </p:cBhvr>
                                    </p:animEffect>
                                  </p:childTnLst>
                                </p:cTn>
                              </p:par>
                            </p:childTnLst>
                          </p:cTn>
                        </p:par>
                        <p:par>
                          <p:cTn id="214" fill="hold">
                            <p:stCondLst>
                              <p:cond delay="500"/>
                            </p:stCondLst>
                            <p:childTnLst>
                              <p:par>
                                <p:cTn id="215" presetID="22" presetClass="entr" presetSubtype="2" fill="hold" grpId="0" nodeType="afterEffect">
                                  <p:stCondLst>
                                    <p:cond delay="0"/>
                                  </p:stCondLst>
                                  <p:childTnLst>
                                    <p:set>
                                      <p:cBhvr>
                                        <p:cTn id="216" dur="1" fill="hold">
                                          <p:stCondLst>
                                            <p:cond delay="0"/>
                                          </p:stCondLst>
                                        </p:cTn>
                                        <p:tgtEl>
                                          <p:spTgt spid="221240"/>
                                        </p:tgtEl>
                                        <p:attrNameLst>
                                          <p:attrName>style.visibility</p:attrName>
                                        </p:attrNameLst>
                                      </p:cBhvr>
                                      <p:to>
                                        <p:strVal val="visible"/>
                                      </p:to>
                                    </p:set>
                                    <p:animEffect transition="in" filter="wipe(right)">
                                      <p:cBhvr>
                                        <p:cTn id="217" dur="500"/>
                                        <p:tgtEl>
                                          <p:spTgt spid="221240"/>
                                        </p:tgtEl>
                                      </p:cBhvr>
                                    </p:animEffect>
                                  </p:childTnLst>
                                </p:cTn>
                              </p:par>
                            </p:childTnLst>
                          </p:cTn>
                        </p:par>
                        <p:par>
                          <p:cTn id="218" fill="hold">
                            <p:stCondLst>
                              <p:cond delay="1000"/>
                            </p:stCondLst>
                            <p:childTnLst>
                              <p:par>
                                <p:cTn id="219" presetID="22" presetClass="entr" presetSubtype="2" fill="hold" grpId="0" nodeType="afterEffect">
                                  <p:stCondLst>
                                    <p:cond delay="0"/>
                                  </p:stCondLst>
                                  <p:childTnLst>
                                    <p:set>
                                      <p:cBhvr>
                                        <p:cTn id="220" dur="1" fill="hold">
                                          <p:stCondLst>
                                            <p:cond delay="0"/>
                                          </p:stCondLst>
                                        </p:cTn>
                                        <p:tgtEl>
                                          <p:spTgt spid="221241"/>
                                        </p:tgtEl>
                                        <p:attrNameLst>
                                          <p:attrName>style.visibility</p:attrName>
                                        </p:attrNameLst>
                                      </p:cBhvr>
                                      <p:to>
                                        <p:strVal val="visible"/>
                                      </p:to>
                                    </p:set>
                                    <p:animEffect transition="in" filter="wipe(right)">
                                      <p:cBhvr>
                                        <p:cTn id="221" dur="500"/>
                                        <p:tgtEl>
                                          <p:spTgt spid="221241"/>
                                        </p:tgtEl>
                                      </p:cBhvr>
                                    </p:animEffect>
                                  </p:childTnLst>
                                </p:cTn>
                              </p:par>
                            </p:childTnLst>
                          </p:cTn>
                        </p:par>
                        <p:par>
                          <p:cTn id="222" fill="hold">
                            <p:stCondLst>
                              <p:cond delay="1500"/>
                            </p:stCondLst>
                            <p:childTnLst>
                              <p:par>
                                <p:cTn id="223" presetID="22" presetClass="entr" presetSubtype="2" fill="hold" grpId="0" nodeType="afterEffect">
                                  <p:stCondLst>
                                    <p:cond delay="0"/>
                                  </p:stCondLst>
                                  <p:childTnLst>
                                    <p:set>
                                      <p:cBhvr>
                                        <p:cTn id="224" dur="1" fill="hold">
                                          <p:stCondLst>
                                            <p:cond delay="0"/>
                                          </p:stCondLst>
                                        </p:cTn>
                                        <p:tgtEl>
                                          <p:spTgt spid="221242"/>
                                        </p:tgtEl>
                                        <p:attrNameLst>
                                          <p:attrName>style.visibility</p:attrName>
                                        </p:attrNameLst>
                                      </p:cBhvr>
                                      <p:to>
                                        <p:strVal val="visible"/>
                                      </p:to>
                                    </p:set>
                                    <p:animEffect transition="in" filter="wipe(right)">
                                      <p:cBhvr>
                                        <p:cTn id="225" dur="500"/>
                                        <p:tgtEl>
                                          <p:spTgt spid="221242"/>
                                        </p:tgtEl>
                                      </p:cBhvr>
                                    </p:animEffect>
                                  </p:childTnLst>
                                </p:cTn>
                              </p:par>
                            </p:childTnLst>
                          </p:cTn>
                        </p:par>
                        <p:par>
                          <p:cTn id="226" fill="hold">
                            <p:stCondLst>
                              <p:cond delay="2000"/>
                            </p:stCondLst>
                            <p:childTnLst>
                              <p:par>
                                <p:cTn id="227" presetID="22" presetClass="entr" presetSubtype="2" fill="hold" grpId="0" nodeType="afterEffect">
                                  <p:stCondLst>
                                    <p:cond delay="0"/>
                                  </p:stCondLst>
                                  <p:childTnLst>
                                    <p:set>
                                      <p:cBhvr>
                                        <p:cTn id="228" dur="1" fill="hold">
                                          <p:stCondLst>
                                            <p:cond delay="0"/>
                                          </p:stCondLst>
                                        </p:cTn>
                                        <p:tgtEl>
                                          <p:spTgt spid="221243"/>
                                        </p:tgtEl>
                                        <p:attrNameLst>
                                          <p:attrName>style.visibility</p:attrName>
                                        </p:attrNameLst>
                                      </p:cBhvr>
                                      <p:to>
                                        <p:strVal val="visible"/>
                                      </p:to>
                                    </p:set>
                                    <p:animEffect transition="in" filter="wipe(right)">
                                      <p:cBhvr>
                                        <p:cTn id="229" dur="500"/>
                                        <p:tgtEl>
                                          <p:spTgt spid="221243"/>
                                        </p:tgtEl>
                                      </p:cBhvr>
                                    </p:animEffect>
                                  </p:childTnLst>
                                </p:cTn>
                              </p:par>
                            </p:childTnLst>
                          </p:cTn>
                        </p:par>
                        <p:par>
                          <p:cTn id="230" fill="hold">
                            <p:stCondLst>
                              <p:cond delay="2500"/>
                            </p:stCondLst>
                            <p:childTnLst>
                              <p:par>
                                <p:cTn id="231" presetID="22" presetClass="entr" presetSubtype="2" fill="hold" grpId="0" nodeType="afterEffect">
                                  <p:stCondLst>
                                    <p:cond delay="0"/>
                                  </p:stCondLst>
                                  <p:childTnLst>
                                    <p:set>
                                      <p:cBhvr>
                                        <p:cTn id="232" dur="1" fill="hold">
                                          <p:stCondLst>
                                            <p:cond delay="0"/>
                                          </p:stCondLst>
                                        </p:cTn>
                                        <p:tgtEl>
                                          <p:spTgt spid="221244"/>
                                        </p:tgtEl>
                                        <p:attrNameLst>
                                          <p:attrName>style.visibility</p:attrName>
                                        </p:attrNameLst>
                                      </p:cBhvr>
                                      <p:to>
                                        <p:strVal val="visible"/>
                                      </p:to>
                                    </p:set>
                                    <p:animEffect transition="in" filter="wipe(right)">
                                      <p:cBhvr>
                                        <p:cTn id="233" dur="500"/>
                                        <p:tgtEl>
                                          <p:spTgt spid="221244"/>
                                        </p:tgtEl>
                                      </p:cBhvr>
                                    </p:animEffect>
                                  </p:childTnLst>
                                </p:cTn>
                              </p:par>
                            </p:childTnLst>
                          </p:cTn>
                        </p:par>
                        <p:par>
                          <p:cTn id="234" fill="hold">
                            <p:stCondLst>
                              <p:cond delay="3000"/>
                            </p:stCondLst>
                            <p:childTnLst>
                              <p:par>
                                <p:cTn id="235" presetID="22" presetClass="entr" presetSubtype="2" fill="hold" grpId="0" nodeType="afterEffect">
                                  <p:stCondLst>
                                    <p:cond delay="0"/>
                                  </p:stCondLst>
                                  <p:childTnLst>
                                    <p:set>
                                      <p:cBhvr>
                                        <p:cTn id="236" dur="1" fill="hold">
                                          <p:stCondLst>
                                            <p:cond delay="0"/>
                                          </p:stCondLst>
                                        </p:cTn>
                                        <p:tgtEl>
                                          <p:spTgt spid="221245"/>
                                        </p:tgtEl>
                                        <p:attrNameLst>
                                          <p:attrName>style.visibility</p:attrName>
                                        </p:attrNameLst>
                                      </p:cBhvr>
                                      <p:to>
                                        <p:strVal val="visible"/>
                                      </p:to>
                                    </p:set>
                                    <p:animEffect transition="in" filter="wipe(right)">
                                      <p:cBhvr>
                                        <p:cTn id="237" dur="500"/>
                                        <p:tgtEl>
                                          <p:spTgt spid="221245"/>
                                        </p:tgtEl>
                                      </p:cBhvr>
                                    </p:animEffect>
                                  </p:childTnLst>
                                </p:cTn>
                              </p:par>
                            </p:childTnLst>
                          </p:cTn>
                        </p:par>
                        <p:par>
                          <p:cTn id="238" fill="hold">
                            <p:stCondLst>
                              <p:cond delay="3500"/>
                            </p:stCondLst>
                            <p:childTnLst>
                              <p:par>
                                <p:cTn id="239" presetID="22" presetClass="entr" presetSubtype="2" fill="hold" grpId="0" nodeType="afterEffect">
                                  <p:stCondLst>
                                    <p:cond delay="0"/>
                                  </p:stCondLst>
                                  <p:childTnLst>
                                    <p:set>
                                      <p:cBhvr>
                                        <p:cTn id="240" dur="1" fill="hold">
                                          <p:stCondLst>
                                            <p:cond delay="0"/>
                                          </p:stCondLst>
                                        </p:cTn>
                                        <p:tgtEl>
                                          <p:spTgt spid="221246"/>
                                        </p:tgtEl>
                                        <p:attrNameLst>
                                          <p:attrName>style.visibility</p:attrName>
                                        </p:attrNameLst>
                                      </p:cBhvr>
                                      <p:to>
                                        <p:strVal val="visible"/>
                                      </p:to>
                                    </p:set>
                                    <p:animEffect transition="in" filter="wipe(right)">
                                      <p:cBhvr>
                                        <p:cTn id="241" dur="500"/>
                                        <p:tgtEl>
                                          <p:spTgt spid="221246"/>
                                        </p:tgtEl>
                                      </p:cBhvr>
                                    </p:animEffect>
                                  </p:childTnLst>
                                </p:cTn>
                              </p:par>
                            </p:childTnLst>
                          </p:cTn>
                        </p:par>
                        <p:par>
                          <p:cTn id="242" fill="hold">
                            <p:stCondLst>
                              <p:cond delay="4000"/>
                            </p:stCondLst>
                            <p:childTnLst>
                              <p:par>
                                <p:cTn id="243" presetID="22" presetClass="entr" presetSubtype="2" fill="hold" grpId="0" nodeType="afterEffect">
                                  <p:stCondLst>
                                    <p:cond delay="0"/>
                                  </p:stCondLst>
                                  <p:childTnLst>
                                    <p:set>
                                      <p:cBhvr>
                                        <p:cTn id="244" dur="1" fill="hold">
                                          <p:stCondLst>
                                            <p:cond delay="0"/>
                                          </p:stCondLst>
                                        </p:cTn>
                                        <p:tgtEl>
                                          <p:spTgt spid="221247"/>
                                        </p:tgtEl>
                                        <p:attrNameLst>
                                          <p:attrName>style.visibility</p:attrName>
                                        </p:attrNameLst>
                                      </p:cBhvr>
                                      <p:to>
                                        <p:strVal val="visible"/>
                                      </p:to>
                                    </p:set>
                                    <p:animEffect transition="in" filter="wipe(right)">
                                      <p:cBhvr>
                                        <p:cTn id="245" dur="500"/>
                                        <p:tgtEl>
                                          <p:spTgt spid="221247"/>
                                        </p:tgtEl>
                                      </p:cBhvr>
                                    </p:animEffect>
                                  </p:childTnLst>
                                </p:cTn>
                              </p:par>
                            </p:childTnLst>
                          </p:cTn>
                        </p:par>
                      </p:childTnLst>
                    </p:cTn>
                  </p:par>
                  <p:par>
                    <p:cTn id="246" fill="hold">
                      <p:stCondLst>
                        <p:cond delay="indefinite"/>
                      </p:stCondLst>
                      <p:childTnLst>
                        <p:par>
                          <p:cTn id="247" fill="hold">
                            <p:stCondLst>
                              <p:cond delay="0"/>
                            </p:stCondLst>
                            <p:childTnLst>
                              <p:par>
                                <p:cTn id="248" presetID="22" presetClass="entr" presetSubtype="2" fill="hold" grpId="0" nodeType="clickEffect">
                                  <p:stCondLst>
                                    <p:cond delay="0"/>
                                  </p:stCondLst>
                                  <p:childTnLst>
                                    <p:set>
                                      <p:cBhvr>
                                        <p:cTn id="249" dur="1" fill="hold">
                                          <p:stCondLst>
                                            <p:cond delay="0"/>
                                          </p:stCondLst>
                                        </p:cTn>
                                        <p:tgtEl>
                                          <p:spTgt spid="221248"/>
                                        </p:tgtEl>
                                        <p:attrNameLst>
                                          <p:attrName>style.visibility</p:attrName>
                                        </p:attrNameLst>
                                      </p:cBhvr>
                                      <p:to>
                                        <p:strVal val="visible"/>
                                      </p:to>
                                    </p:set>
                                    <p:animEffect transition="in" filter="wipe(right)">
                                      <p:cBhvr>
                                        <p:cTn id="250" dur="500"/>
                                        <p:tgtEl>
                                          <p:spTgt spid="221248"/>
                                        </p:tgtEl>
                                      </p:cBhvr>
                                    </p:animEffect>
                                  </p:childTnLst>
                                </p:cTn>
                              </p:par>
                            </p:childTnLst>
                          </p:cTn>
                        </p:par>
                      </p:childTnLst>
                    </p:cTn>
                  </p:par>
                  <p:par>
                    <p:cTn id="251" fill="hold">
                      <p:stCondLst>
                        <p:cond delay="indefinite"/>
                      </p:stCondLst>
                      <p:childTnLst>
                        <p:par>
                          <p:cTn id="252" fill="hold">
                            <p:stCondLst>
                              <p:cond delay="0"/>
                            </p:stCondLst>
                            <p:childTnLst>
                              <p:par>
                                <p:cTn id="253" presetID="22" presetClass="entr" presetSubtype="2" fill="hold" grpId="0" nodeType="clickEffect">
                                  <p:stCondLst>
                                    <p:cond delay="0"/>
                                  </p:stCondLst>
                                  <p:childTnLst>
                                    <p:set>
                                      <p:cBhvr>
                                        <p:cTn id="254" dur="1" fill="hold">
                                          <p:stCondLst>
                                            <p:cond delay="0"/>
                                          </p:stCondLst>
                                        </p:cTn>
                                        <p:tgtEl>
                                          <p:spTgt spid="221249"/>
                                        </p:tgtEl>
                                        <p:attrNameLst>
                                          <p:attrName>style.visibility</p:attrName>
                                        </p:attrNameLst>
                                      </p:cBhvr>
                                      <p:to>
                                        <p:strVal val="visible"/>
                                      </p:to>
                                    </p:set>
                                    <p:animEffect transition="in" filter="wipe(right)">
                                      <p:cBhvr>
                                        <p:cTn id="255" dur="500"/>
                                        <p:tgtEl>
                                          <p:spTgt spid="221249"/>
                                        </p:tgtEl>
                                      </p:cBhvr>
                                    </p:animEffect>
                                  </p:childTnLst>
                                </p:cTn>
                              </p:par>
                            </p:childTnLst>
                          </p:cTn>
                        </p:par>
                      </p:childTnLst>
                    </p:cTn>
                  </p:par>
                  <p:par>
                    <p:cTn id="256" fill="hold">
                      <p:stCondLst>
                        <p:cond delay="indefinite"/>
                      </p:stCondLst>
                      <p:childTnLst>
                        <p:par>
                          <p:cTn id="257" fill="hold">
                            <p:stCondLst>
                              <p:cond delay="0"/>
                            </p:stCondLst>
                            <p:childTnLst>
                              <p:par>
                                <p:cTn id="258" presetID="22" presetClass="entr" presetSubtype="2" fill="hold" grpId="0" nodeType="clickEffect">
                                  <p:stCondLst>
                                    <p:cond delay="0"/>
                                  </p:stCondLst>
                                  <p:childTnLst>
                                    <p:set>
                                      <p:cBhvr>
                                        <p:cTn id="259" dur="1" fill="hold">
                                          <p:stCondLst>
                                            <p:cond delay="0"/>
                                          </p:stCondLst>
                                        </p:cTn>
                                        <p:tgtEl>
                                          <p:spTgt spid="221250"/>
                                        </p:tgtEl>
                                        <p:attrNameLst>
                                          <p:attrName>style.visibility</p:attrName>
                                        </p:attrNameLst>
                                      </p:cBhvr>
                                      <p:to>
                                        <p:strVal val="visible"/>
                                      </p:to>
                                    </p:set>
                                    <p:animEffect transition="in" filter="wipe(right)">
                                      <p:cBhvr>
                                        <p:cTn id="260" dur="500"/>
                                        <p:tgtEl>
                                          <p:spTgt spid="221250"/>
                                        </p:tgtEl>
                                      </p:cBhvr>
                                    </p:animEffect>
                                  </p:childTnLst>
                                </p:cTn>
                              </p:par>
                            </p:childTnLst>
                          </p:cTn>
                        </p:par>
                      </p:childTnLst>
                    </p:cTn>
                  </p:par>
                  <p:par>
                    <p:cTn id="261" fill="hold">
                      <p:stCondLst>
                        <p:cond delay="indefinite"/>
                      </p:stCondLst>
                      <p:childTnLst>
                        <p:par>
                          <p:cTn id="262" fill="hold">
                            <p:stCondLst>
                              <p:cond delay="0"/>
                            </p:stCondLst>
                            <p:childTnLst>
                              <p:par>
                                <p:cTn id="263" presetID="22" presetClass="entr" presetSubtype="2" fill="hold" grpId="0" nodeType="clickEffect">
                                  <p:stCondLst>
                                    <p:cond delay="0"/>
                                  </p:stCondLst>
                                  <p:childTnLst>
                                    <p:set>
                                      <p:cBhvr>
                                        <p:cTn id="264" dur="1" fill="hold">
                                          <p:stCondLst>
                                            <p:cond delay="0"/>
                                          </p:stCondLst>
                                        </p:cTn>
                                        <p:tgtEl>
                                          <p:spTgt spid="221256"/>
                                        </p:tgtEl>
                                        <p:attrNameLst>
                                          <p:attrName>style.visibility</p:attrName>
                                        </p:attrNameLst>
                                      </p:cBhvr>
                                      <p:to>
                                        <p:strVal val="visible"/>
                                      </p:to>
                                    </p:set>
                                    <p:animEffect transition="in" filter="wipe(right)">
                                      <p:cBhvr>
                                        <p:cTn id="265" dur="500"/>
                                        <p:tgtEl>
                                          <p:spTgt spid="221256"/>
                                        </p:tgtEl>
                                      </p:cBhvr>
                                    </p:animEffect>
                                  </p:childTnLst>
                                </p:cTn>
                              </p:par>
                            </p:childTnLst>
                          </p:cTn>
                        </p:par>
                      </p:childTnLst>
                    </p:cTn>
                  </p:par>
                  <p:par>
                    <p:cTn id="266" fill="hold">
                      <p:stCondLst>
                        <p:cond delay="indefinite"/>
                      </p:stCondLst>
                      <p:childTnLst>
                        <p:par>
                          <p:cTn id="267" fill="hold">
                            <p:stCondLst>
                              <p:cond delay="0"/>
                            </p:stCondLst>
                            <p:childTnLst>
                              <p:par>
                                <p:cTn id="268" presetID="22" presetClass="entr" presetSubtype="2" fill="hold" grpId="0" nodeType="clickEffect">
                                  <p:stCondLst>
                                    <p:cond delay="0"/>
                                  </p:stCondLst>
                                  <p:childTnLst>
                                    <p:set>
                                      <p:cBhvr>
                                        <p:cTn id="269" dur="1" fill="hold">
                                          <p:stCondLst>
                                            <p:cond delay="0"/>
                                          </p:stCondLst>
                                        </p:cTn>
                                        <p:tgtEl>
                                          <p:spTgt spid="221251"/>
                                        </p:tgtEl>
                                        <p:attrNameLst>
                                          <p:attrName>style.visibility</p:attrName>
                                        </p:attrNameLst>
                                      </p:cBhvr>
                                      <p:to>
                                        <p:strVal val="visible"/>
                                      </p:to>
                                    </p:set>
                                    <p:animEffect transition="in" filter="wipe(right)">
                                      <p:cBhvr>
                                        <p:cTn id="270" dur="500"/>
                                        <p:tgtEl>
                                          <p:spTgt spid="221251"/>
                                        </p:tgtEl>
                                      </p:cBhvr>
                                    </p:animEffect>
                                  </p:childTnLst>
                                </p:cTn>
                              </p:par>
                            </p:childTnLst>
                          </p:cTn>
                        </p:par>
                      </p:childTnLst>
                    </p:cTn>
                  </p:par>
                  <p:par>
                    <p:cTn id="271" fill="hold">
                      <p:stCondLst>
                        <p:cond delay="indefinite"/>
                      </p:stCondLst>
                      <p:childTnLst>
                        <p:par>
                          <p:cTn id="272" fill="hold">
                            <p:stCondLst>
                              <p:cond delay="0"/>
                            </p:stCondLst>
                            <p:childTnLst>
                              <p:par>
                                <p:cTn id="273" presetID="22" presetClass="entr" presetSubtype="2" fill="hold" grpId="0" nodeType="clickEffect">
                                  <p:stCondLst>
                                    <p:cond delay="0"/>
                                  </p:stCondLst>
                                  <p:childTnLst>
                                    <p:set>
                                      <p:cBhvr>
                                        <p:cTn id="274" dur="1" fill="hold">
                                          <p:stCondLst>
                                            <p:cond delay="0"/>
                                          </p:stCondLst>
                                        </p:cTn>
                                        <p:tgtEl>
                                          <p:spTgt spid="221252"/>
                                        </p:tgtEl>
                                        <p:attrNameLst>
                                          <p:attrName>style.visibility</p:attrName>
                                        </p:attrNameLst>
                                      </p:cBhvr>
                                      <p:to>
                                        <p:strVal val="visible"/>
                                      </p:to>
                                    </p:set>
                                    <p:animEffect transition="in" filter="wipe(right)">
                                      <p:cBhvr>
                                        <p:cTn id="275" dur="500"/>
                                        <p:tgtEl>
                                          <p:spTgt spid="221252"/>
                                        </p:tgtEl>
                                      </p:cBhvr>
                                    </p:animEffect>
                                  </p:childTnLst>
                                </p:cTn>
                              </p:par>
                            </p:childTnLst>
                          </p:cTn>
                        </p:par>
                      </p:childTnLst>
                    </p:cTn>
                  </p:par>
                  <p:par>
                    <p:cTn id="276" fill="hold">
                      <p:stCondLst>
                        <p:cond delay="indefinite"/>
                      </p:stCondLst>
                      <p:childTnLst>
                        <p:par>
                          <p:cTn id="277" fill="hold">
                            <p:stCondLst>
                              <p:cond delay="0"/>
                            </p:stCondLst>
                            <p:childTnLst>
                              <p:par>
                                <p:cTn id="278" presetID="22" presetClass="entr" presetSubtype="2" fill="hold" grpId="0" nodeType="clickEffect">
                                  <p:stCondLst>
                                    <p:cond delay="0"/>
                                  </p:stCondLst>
                                  <p:childTnLst>
                                    <p:set>
                                      <p:cBhvr>
                                        <p:cTn id="279" dur="1" fill="hold">
                                          <p:stCondLst>
                                            <p:cond delay="0"/>
                                          </p:stCondLst>
                                        </p:cTn>
                                        <p:tgtEl>
                                          <p:spTgt spid="221253"/>
                                        </p:tgtEl>
                                        <p:attrNameLst>
                                          <p:attrName>style.visibility</p:attrName>
                                        </p:attrNameLst>
                                      </p:cBhvr>
                                      <p:to>
                                        <p:strVal val="visible"/>
                                      </p:to>
                                    </p:set>
                                    <p:animEffect transition="in" filter="wipe(right)">
                                      <p:cBhvr>
                                        <p:cTn id="280" dur="500"/>
                                        <p:tgtEl>
                                          <p:spTgt spid="221253"/>
                                        </p:tgtEl>
                                      </p:cBhvr>
                                    </p:animEffect>
                                  </p:childTnLst>
                                </p:cTn>
                              </p:par>
                            </p:childTnLst>
                          </p:cTn>
                        </p:par>
                      </p:childTnLst>
                    </p:cTn>
                  </p:par>
                  <p:par>
                    <p:cTn id="281" fill="hold">
                      <p:stCondLst>
                        <p:cond delay="indefinite"/>
                      </p:stCondLst>
                      <p:childTnLst>
                        <p:par>
                          <p:cTn id="282" fill="hold">
                            <p:stCondLst>
                              <p:cond delay="0"/>
                            </p:stCondLst>
                            <p:childTnLst>
                              <p:par>
                                <p:cTn id="283" presetID="22" presetClass="entr" presetSubtype="2" fill="hold" grpId="0" nodeType="clickEffect">
                                  <p:stCondLst>
                                    <p:cond delay="0"/>
                                  </p:stCondLst>
                                  <p:childTnLst>
                                    <p:set>
                                      <p:cBhvr>
                                        <p:cTn id="284" dur="1" fill="hold">
                                          <p:stCondLst>
                                            <p:cond delay="0"/>
                                          </p:stCondLst>
                                        </p:cTn>
                                        <p:tgtEl>
                                          <p:spTgt spid="221254"/>
                                        </p:tgtEl>
                                        <p:attrNameLst>
                                          <p:attrName>style.visibility</p:attrName>
                                        </p:attrNameLst>
                                      </p:cBhvr>
                                      <p:to>
                                        <p:strVal val="visible"/>
                                      </p:to>
                                    </p:set>
                                    <p:animEffect transition="in" filter="wipe(right)">
                                      <p:cBhvr>
                                        <p:cTn id="285" dur="500"/>
                                        <p:tgtEl>
                                          <p:spTgt spid="221254"/>
                                        </p:tgtEl>
                                      </p:cBhvr>
                                    </p:animEffect>
                                  </p:childTnLst>
                                </p:cTn>
                              </p:par>
                            </p:childTnLst>
                          </p:cTn>
                        </p:par>
                      </p:childTnLst>
                    </p:cTn>
                  </p:par>
                  <p:par>
                    <p:cTn id="286" fill="hold">
                      <p:stCondLst>
                        <p:cond delay="indefinite"/>
                      </p:stCondLst>
                      <p:childTnLst>
                        <p:par>
                          <p:cTn id="287" fill="hold">
                            <p:stCondLst>
                              <p:cond delay="0"/>
                            </p:stCondLst>
                            <p:childTnLst>
                              <p:par>
                                <p:cTn id="288" presetID="22" presetClass="entr" presetSubtype="2" fill="hold" grpId="0" nodeType="clickEffect">
                                  <p:stCondLst>
                                    <p:cond delay="0"/>
                                  </p:stCondLst>
                                  <p:childTnLst>
                                    <p:set>
                                      <p:cBhvr>
                                        <p:cTn id="289" dur="1" fill="hold">
                                          <p:stCondLst>
                                            <p:cond delay="0"/>
                                          </p:stCondLst>
                                        </p:cTn>
                                        <p:tgtEl>
                                          <p:spTgt spid="221255"/>
                                        </p:tgtEl>
                                        <p:attrNameLst>
                                          <p:attrName>style.visibility</p:attrName>
                                        </p:attrNameLst>
                                      </p:cBhvr>
                                      <p:to>
                                        <p:strVal val="visible"/>
                                      </p:to>
                                    </p:set>
                                    <p:animEffect transition="in" filter="wipe(right)">
                                      <p:cBhvr>
                                        <p:cTn id="290" dur="500"/>
                                        <p:tgtEl>
                                          <p:spTgt spid="221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nimBg="1" autoUpdateAnimBg="0"/>
      <p:bldP spid="221187" grpId="0" animBg="1" autoUpdateAnimBg="0"/>
      <p:bldP spid="221188" grpId="0" animBg="1" autoUpdateAnimBg="0"/>
      <p:bldP spid="221189" grpId="0" animBg="1" autoUpdateAnimBg="0"/>
      <p:bldP spid="221190" grpId="0" animBg="1" autoUpdateAnimBg="0"/>
      <p:bldP spid="221191" grpId="0" animBg="1" autoUpdateAnimBg="0"/>
      <p:bldP spid="221192" grpId="0" animBg="1" autoUpdateAnimBg="0"/>
      <p:bldP spid="221193" grpId="0" animBg="1" autoUpdateAnimBg="0"/>
      <p:bldP spid="221194" grpId="0" animBg="1" autoUpdateAnimBg="0"/>
      <p:bldP spid="221195" grpId="0" animBg="1"/>
      <p:bldP spid="221196" grpId="0" animBg="1"/>
      <p:bldP spid="221197" grpId="0" animBg="1"/>
      <p:bldP spid="221198" grpId="0" animBg="1"/>
      <p:bldP spid="221199" grpId="0" animBg="1"/>
      <p:bldP spid="221200" grpId="0" animBg="1"/>
      <p:bldP spid="221201" grpId="0" animBg="1"/>
      <p:bldP spid="221202" grpId="0" animBg="1"/>
      <p:bldP spid="221203" grpId="0" animBg="1"/>
      <p:bldP spid="221204" grpId="0" animBg="1"/>
      <p:bldP spid="221205" grpId="0" animBg="1"/>
      <p:bldP spid="221206" grpId="0" autoUpdateAnimBg="0"/>
      <p:bldP spid="221207" grpId="0" autoUpdateAnimBg="0"/>
      <p:bldP spid="221208" grpId="0" autoUpdateAnimBg="0"/>
      <p:bldP spid="221209" grpId="0" autoUpdateAnimBg="0"/>
      <p:bldP spid="221210" grpId="0" autoUpdateAnimBg="0"/>
      <p:bldP spid="221211" grpId="0" autoUpdateAnimBg="0"/>
      <p:bldP spid="221212" grpId="0" autoUpdateAnimBg="0"/>
      <p:bldP spid="221213" grpId="0" autoUpdateAnimBg="0"/>
      <p:bldP spid="221214" grpId="0" autoUpdateAnimBg="0"/>
      <p:bldP spid="221215" grpId="0" autoUpdateAnimBg="0"/>
      <p:bldP spid="221216" grpId="0" autoUpdateAnimBg="0"/>
      <p:bldP spid="221217" grpId="0" animBg="1"/>
      <p:bldP spid="221218" grpId="0" animBg="1"/>
      <p:bldP spid="221220" grpId="0" autoUpdateAnimBg="0"/>
      <p:bldP spid="221221" grpId="0" autoUpdateAnimBg="0"/>
      <p:bldP spid="221222" grpId="0" autoUpdateAnimBg="0"/>
      <p:bldP spid="221223" grpId="0" autoUpdateAnimBg="0"/>
      <p:bldP spid="221224" grpId="0" autoUpdateAnimBg="0"/>
      <p:bldP spid="221225" grpId="0" autoUpdateAnimBg="0"/>
      <p:bldP spid="221226" grpId="0" autoUpdateAnimBg="0"/>
      <p:bldP spid="221227" grpId="0" autoUpdateAnimBg="0"/>
      <p:bldP spid="221228" grpId="0" autoUpdateAnimBg="0"/>
      <p:bldP spid="221229" grpId="0" animBg="1" autoUpdateAnimBg="0"/>
      <p:bldP spid="221230" grpId="0" animBg="1" autoUpdateAnimBg="0"/>
      <p:bldP spid="221231" grpId="0" animBg="1" autoUpdateAnimBg="0"/>
      <p:bldP spid="221232" grpId="0" animBg="1" autoUpdateAnimBg="0"/>
      <p:bldP spid="221233" grpId="0" animBg="1" autoUpdateAnimBg="0"/>
      <p:bldP spid="221234" grpId="0" animBg="1" autoUpdateAnimBg="0"/>
      <p:bldP spid="221235" grpId="0" animBg="1" autoUpdateAnimBg="0"/>
      <p:bldP spid="221236" grpId="0" animBg="1" autoUpdateAnimBg="0"/>
      <p:bldP spid="221237" grpId="0" animBg="1" autoUpdateAnimBg="0"/>
      <p:bldP spid="221238" grpId="0" animBg="1" autoUpdateAnimBg="0"/>
      <p:bldP spid="221239" grpId="0" autoUpdateAnimBg="0"/>
      <p:bldP spid="221240" grpId="0" autoUpdateAnimBg="0"/>
      <p:bldP spid="221241" grpId="0" autoUpdateAnimBg="0"/>
      <p:bldP spid="221242" grpId="0" autoUpdateAnimBg="0"/>
      <p:bldP spid="221243" grpId="0" autoUpdateAnimBg="0"/>
      <p:bldP spid="221244" grpId="0" autoUpdateAnimBg="0"/>
      <p:bldP spid="221245" grpId="0" autoUpdateAnimBg="0"/>
      <p:bldP spid="221246" grpId="0" autoUpdateAnimBg="0"/>
      <p:bldP spid="221247" grpId="0" autoUpdateAnimBg="0"/>
      <p:bldP spid="221248" grpId="0" animBg="1" autoUpdateAnimBg="0"/>
      <p:bldP spid="221249" grpId="0" animBg="1" autoUpdateAnimBg="0"/>
      <p:bldP spid="221250" grpId="0" animBg="1" autoUpdateAnimBg="0"/>
      <p:bldP spid="221251" grpId="0" animBg="1" autoUpdateAnimBg="0"/>
      <p:bldP spid="221252" grpId="0" animBg="1" autoUpdateAnimBg="0"/>
      <p:bldP spid="221253" grpId="0" animBg="1" autoUpdateAnimBg="0"/>
      <p:bldP spid="221254" grpId="0" animBg="1" autoUpdateAnimBg="0"/>
      <p:bldP spid="221255" grpId="0" animBg="1" autoUpdateAnimBg="0"/>
      <p:bldP spid="221256" grpId="0" animBg="1" autoUpdateAnimBg="0"/>
      <p:bldP spid="221257" grpId="0" bldLvl="0" animBg="1"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Line 2"/>
          <p:cNvSpPr>
            <a:spLocks noChangeShapeType="1"/>
          </p:cNvSpPr>
          <p:nvPr/>
        </p:nvSpPr>
        <p:spPr bwMode="auto">
          <a:xfrm>
            <a:off x="685800" y="2501900"/>
            <a:ext cx="76962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11" name="Line 3"/>
          <p:cNvSpPr>
            <a:spLocks noChangeShapeType="1"/>
          </p:cNvSpPr>
          <p:nvPr/>
        </p:nvSpPr>
        <p:spPr bwMode="auto">
          <a:xfrm>
            <a:off x="8382000" y="368300"/>
            <a:ext cx="0" cy="2133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22212" name="Object 4"/>
          <p:cNvGraphicFramePr>
            <a:graphicFrameLocks noChangeAspect="1"/>
          </p:cNvGraphicFramePr>
          <p:nvPr/>
        </p:nvGraphicFramePr>
        <p:xfrm>
          <a:off x="768350" y="381000"/>
          <a:ext cx="7613650" cy="2273300"/>
        </p:xfrm>
        <a:graphic>
          <a:graphicData uri="http://schemas.openxmlformats.org/presentationml/2006/ole">
            <mc:AlternateContent xmlns:mc="http://schemas.openxmlformats.org/markup-compatibility/2006">
              <mc:Choice xmlns:v="urn:schemas-microsoft-com:vml" Requires="v">
                <p:oleObj spid="_x0000_s2" name="文档" r:id="rId1" imgW="7609840" imgH="2275840" progId="Word.Document.8">
                  <p:embed/>
                </p:oleObj>
              </mc:Choice>
              <mc:Fallback>
                <p:oleObj name="文档" r:id="rId1" imgW="7609840" imgH="2275840"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381000"/>
                        <a:ext cx="761365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2213" name="Text Box 5"/>
          <p:cNvSpPr txBox="1">
            <a:spLocks noChangeArrowheads="1"/>
          </p:cNvSpPr>
          <p:nvPr/>
        </p:nvSpPr>
        <p:spPr bwMode="auto">
          <a:xfrm>
            <a:off x="1676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0</a:t>
            </a:r>
            <a:endParaRPr lang="en-US" altLang="zh-CN" sz="3600"/>
          </a:p>
        </p:txBody>
      </p:sp>
      <p:sp>
        <p:nvSpPr>
          <p:cNvPr id="222214" name="Text Box 6"/>
          <p:cNvSpPr txBox="1">
            <a:spLocks noChangeArrowheads="1"/>
          </p:cNvSpPr>
          <p:nvPr/>
        </p:nvSpPr>
        <p:spPr bwMode="auto">
          <a:xfrm>
            <a:off x="2438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6</a:t>
            </a:r>
            <a:endParaRPr lang="en-US" altLang="zh-CN" sz="3600"/>
          </a:p>
        </p:txBody>
      </p:sp>
      <p:sp>
        <p:nvSpPr>
          <p:cNvPr id="222215" name="Text Box 7"/>
          <p:cNvSpPr txBox="1">
            <a:spLocks noChangeArrowheads="1"/>
          </p:cNvSpPr>
          <p:nvPr/>
        </p:nvSpPr>
        <p:spPr bwMode="auto">
          <a:xfrm>
            <a:off x="3200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4</a:t>
            </a:r>
            <a:endParaRPr lang="en-US" altLang="zh-CN" sz="3600"/>
          </a:p>
        </p:txBody>
      </p:sp>
      <p:sp>
        <p:nvSpPr>
          <p:cNvPr id="222216" name="Text Box 8"/>
          <p:cNvSpPr txBox="1">
            <a:spLocks noChangeArrowheads="1"/>
          </p:cNvSpPr>
          <p:nvPr/>
        </p:nvSpPr>
        <p:spPr bwMode="auto">
          <a:xfrm>
            <a:off x="3962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5</a:t>
            </a:r>
            <a:endParaRPr lang="en-US" altLang="zh-CN" sz="3600"/>
          </a:p>
        </p:txBody>
      </p:sp>
      <p:sp>
        <p:nvSpPr>
          <p:cNvPr id="222217" name="Text Box 9"/>
          <p:cNvSpPr txBox="1">
            <a:spLocks noChangeArrowheads="1"/>
          </p:cNvSpPr>
          <p:nvPr/>
        </p:nvSpPr>
        <p:spPr bwMode="auto">
          <a:xfrm>
            <a:off x="4724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7</a:t>
            </a:r>
            <a:endParaRPr lang="en-US" altLang="zh-CN" sz="3600"/>
          </a:p>
        </p:txBody>
      </p:sp>
      <p:sp>
        <p:nvSpPr>
          <p:cNvPr id="222218" name="Text Box 10"/>
          <p:cNvSpPr txBox="1">
            <a:spLocks noChangeArrowheads="1"/>
          </p:cNvSpPr>
          <p:nvPr/>
        </p:nvSpPr>
        <p:spPr bwMode="auto">
          <a:xfrm>
            <a:off x="5486400" y="11303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7</a:t>
            </a:r>
            <a:endParaRPr lang="en-US" altLang="zh-CN" sz="3600"/>
          </a:p>
        </p:txBody>
      </p:sp>
      <p:sp>
        <p:nvSpPr>
          <p:cNvPr id="222219" name="Text Box 11"/>
          <p:cNvSpPr txBox="1">
            <a:spLocks noChangeArrowheads="1"/>
          </p:cNvSpPr>
          <p:nvPr/>
        </p:nvSpPr>
        <p:spPr bwMode="auto">
          <a:xfrm>
            <a:off x="6172200" y="11303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15</a:t>
            </a:r>
            <a:endParaRPr lang="en-US" altLang="zh-CN" sz="3600"/>
          </a:p>
        </p:txBody>
      </p:sp>
      <p:sp>
        <p:nvSpPr>
          <p:cNvPr id="222220" name="Text Box 12"/>
          <p:cNvSpPr txBox="1">
            <a:spLocks noChangeArrowheads="1"/>
          </p:cNvSpPr>
          <p:nvPr/>
        </p:nvSpPr>
        <p:spPr bwMode="auto">
          <a:xfrm>
            <a:off x="6902450" y="11303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14</a:t>
            </a:r>
            <a:endParaRPr lang="en-US" altLang="zh-CN" sz="3600"/>
          </a:p>
        </p:txBody>
      </p:sp>
      <p:sp>
        <p:nvSpPr>
          <p:cNvPr id="222221" name="Text Box 13"/>
          <p:cNvSpPr txBox="1">
            <a:spLocks noChangeArrowheads="1"/>
          </p:cNvSpPr>
          <p:nvPr/>
        </p:nvSpPr>
        <p:spPr bwMode="auto">
          <a:xfrm>
            <a:off x="7696200" y="11303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0000FF"/>
                </a:solidFill>
              </a:rPr>
              <a:t>18</a:t>
            </a:r>
            <a:endParaRPr lang="en-US" altLang="zh-CN" sz="3600"/>
          </a:p>
        </p:txBody>
      </p:sp>
      <p:sp>
        <p:nvSpPr>
          <p:cNvPr id="222222" name="Text Box 14"/>
          <p:cNvSpPr txBox="1">
            <a:spLocks noChangeArrowheads="1"/>
          </p:cNvSpPr>
          <p:nvPr/>
        </p:nvSpPr>
        <p:spPr bwMode="auto">
          <a:xfrm>
            <a:off x="7664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18</a:t>
            </a:r>
            <a:endParaRPr lang="en-US" altLang="zh-CN" sz="3600" b="1">
              <a:solidFill>
                <a:srgbClr val="580094"/>
              </a:solidFill>
            </a:endParaRPr>
          </a:p>
        </p:txBody>
      </p:sp>
      <p:sp>
        <p:nvSpPr>
          <p:cNvPr id="222223" name="Text Box 15"/>
          <p:cNvSpPr txBox="1">
            <a:spLocks noChangeArrowheads="1"/>
          </p:cNvSpPr>
          <p:nvPr/>
        </p:nvSpPr>
        <p:spPr bwMode="auto">
          <a:xfrm>
            <a:off x="6902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14</a:t>
            </a:r>
            <a:endParaRPr lang="en-US" altLang="zh-CN" sz="3600"/>
          </a:p>
        </p:txBody>
      </p:sp>
      <p:sp>
        <p:nvSpPr>
          <p:cNvPr id="222224" name="Text Box 16"/>
          <p:cNvSpPr txBox="1">
            <a:spLocks noChangeArrowheads="1"/>
          </p:cNvSpPr>
          <p:nvPr/>
        </p:nvSpPr>
        <p:spPr bwMode="auto">
          <a:xfrm>
            <a:off x="6140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16</a:t>
            </a:r>
            <a:endParaRPr lang="en-US" altLang="zh-CN" sz="3600"/>
          </a:p>
        </p:txBody>
      </p:sp>
      <p:sp>
        <p:nvSpPr>
          <p:cNvPr id="222225" name="Text Box 17"/>
          <p:cNvSpPr txBox="1">
            <a:spLocks noChangeArrowheads="1"/>
          </p:cNvSpPr>
          <p:nvPr/>
        </p:nvSpPr>
        <p:spPr bwMode="auto">
          <a:xfrm>
            <a:off x="5378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580094"/>
                </a:solidFill>
              </a:rPr>
              <a:t>10</a:t>
            </a:r>
            <a:endParaRPr lang="en-US" altLang="zh-CN" sz="3600"/>
          </a:p>
        </p:txBody>
      </p:sp>
      <p:sp>
        <p:nvSpPr>
          <p:cNvPr id="222226" name="Text Box 18"/>
          <p:cNvSpPr txBox="1">
            <a:spLocks noChangeArrowheads="1"/>
          </p:cNvSpPr>
          <p:nvPr/>
        </p:nvSpPr>
        <p:spPr bwMode="auto">
          <a:xfrm>
            <a:off x="4648200" y="1816100"/>
            <a:ext cx="609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7</a:t>
            </a:r>
            <a:endParaRPr lang="en-US" altLang="zh-CN" sz="3600" b="1">
              <a:solidFill>
                <a:srgbClr val="580094"/>
              </a:solidFill>
            </a:endParaRPr>
          </a:p>
        </p:txBody>
      </p:sp>
      <p:sp>
        <p:nvSpPr>
          <p:cNvPr id="222227" name="Text Box 19"/>
          <p:cNvSpPr txBox="1">
            <a:spLocks noChangeArrowheads="1"/>
          </p:cNvSpPr>
          <p:nvPr/>
        </p:nvSpPr>
        <p:spPr bwMode="auto">
          <a:xfrm>
            <a:off x="3854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8</a:t>
            </a:r>
            <a:endParaRPr lang="en-US" altLang="zh-CN" sz="3600" b="1">
              <a:solidFill>
                <a:srgbClr val="580094"/>
              </a:solidFill>
            </a:endParaRPr>
          </a:p>
        </p:txBody>
      </p:sp>
      <p:sp>
        <p:nvSpPr>
          <p:cNvPr id="222228" name="Text Box 20"/>
          <p:cNvSpPr txBox="1">
            <a:spLocks noChangeArrowheads="1"/>
          </p:cNvSpPr>
          <p:nvPr/>
        </p:nvSpPr>
        <p:spPr bwMode="auto">
          <a:xfrm>
            <a:off x="3124200" y="1816100"/>
            <a:ext cx="533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6</a:t>
            </a:r>
            <a:endParaRPr lang="en-US" altLang="zh-CN" sz="3600"/>
          </a:p>
        </p:txBody>
      </p:sp>
      <p:sp>
        <p:nvSpPr>
          <p:cNvPr id="222229" name="Text Box 21"/>
          <p:cNvSpPr txBox="1">
            <a:spLocks noChangeArrowheads="1"/>
          </p:cNvSpPr>
          <p:nvPr/>
        </p:nvSpPr>
        <p:spPr bwMode="auto">
          <a:xfrm>
            <a:off x="2330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6</a:t>
            </a:r>
            <a:endParaRPr lang="en-US" altLang="zh-CN" sz="3600"/>
          </a:p>
        </p:txBody>
      </p:sp>
      <p:sp>
        <p:nvSpPr>
          <p:cNvPr id="222230" name="Text Box 22"/>
          <p:cNvSpPr txBox="1">
            <a:spLocks noChangeArrowheads="1"/>
          </p:cNvSpPr>
          <p:nvPr/>
        </p:nvSpPr>
        <p:spPr bwMode="auto">
          <a:xfrm>
            <a:off x="1568450" y="18161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a:solidFill>
                  <a:srgbClr val="580094"/>
                </a:solidFill>
              </a:rPr>
              <a:t>0</a:t>
            </a:r>
            <a:endParaRPr lang="en-US" altLang="zh-CN" sz="3600"/>
          </a:p>
        </p:txBody>
      </p:sp>
      <p:graphicFrame>
        <p:nvGraphicFramePr>
          <p:cNvPr id="222231" name="Object 23"/>
          <p:cNvGraphicFramePr>
            <a:graphicFrameLocks noChangeAspect="1"/>
          </p:cNvGraphicFramePr>
          <p:nvPr/>
        </p:nvGraphicFramePr>
        <p:xfrm>
          <a:off x="289560" y="3074353"/>
          <a:ext cx="8488680" cy="3433445"/>
        </p:xfrm>
        <a:graphic>
          <a:graphicData uri="http://schemas.openxmlformats.org/presentationml/2006/ole">
            <mc:AlternateContent xmlns:mc="http://schemas.openxmlformats.org/markup-compatibility/2006">
              <mc:Choice xmlns:v="urn:schemas-microsoft-com:vml" Requires="v">
                <p:oleObj spid="_x0000_s3" name="Document" r:id="rId3" imgW="8677275" imgH="3571875" progId="Word.Document.8">
                  <p:embed/>
                </p:oleObj>
              </mc:Choice>
              <mc:Fallback>
                <p:oleObj name="Document" r:id="rId3" imgW="8677275" imgH="3571875" progId="Word.Document.8">
                  <p:embed/>
                  <p:pic>
                    <p:nvPicPr>
                      <p:cNvPr id="0" name="Object 23"/>
                      <p:cNvPicPr>
                        <a:picLocks noChangeAspect="1" noChangeArrowheads="1"/>
                      </p:cNvPicPr>
                      <p:nvPr/>
                    </p:nvPicPr>
                    <p:blipFill>
                      <a:blip r:embed="rId4"/>
                      <a:srcRect/>
                      <a:stretch>
                        <a:fillRect/>
                      </a:stretch>
                    </p:blipFill>
                    <p:spPr bwMode="auto">
                      <a:xfrm>
                        <a:off x="289560" y="3074353"/>
                        <a:ext cx="8488680" cy="3433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2232" name="Line 24"/>
          <p:cNvSpPr>
            <a:spLocks noChangeShapeType="1"/>
          </p:cNvSpPr>
          <p:nvPr/>
        </p:nvSpPr>
        <p:spPr bwMode="auto">
          <a:xfrm>
            <a:off x="457200" y="6324600"/>
            <a:ext cx="8153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3" name="Line 25"/>
          <p:cNvSpPr>
            <a:spLocks noChangeShapeType="1"/>
          </p:cNvSpPr>
          <p:nvPr/>
        </p:nvSpPr>
        <p:spPr bwMode="auto">
          <a:xfrm>
            <a:off x="8610600" y="3048000"/>
            <a:ext cx="0" cy="32766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2234" name="Text Box 26"/>
          <p:cNvSpPr txBox="1">
            <a:spLocks noChangeArrowheads="1"/>
          </p:cNvSpPr>
          <p:nvPr/>
        </p:nvSpPr>
        <p:spPr bwMode="auto">
          <a:xfrm>
            <a:off x="11430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0</a:t>
            </a:r>
            <a:endParaRPr lang="en-US" altLang="zh-CN" sz="3200"/>
          </a:p>
        </p:txBody>
      </p:sp>
      <p:sp>
        <p:nvSpPr>
          <p:cNvPr id="222235" name="Text Box 27"/>
          <p:cNvSpPr txBox="1">
            <a:spLocks noChangeArrowheads="1"/>
          </p:cNvSpPr>
          <p:nvPr/>
        </p:nvSpPr>
        <p:spPr bwMode="auto">
          <a:xfrm>
            <a:off x="187325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0</a:t>
            </a:r>
            <a:endParaRPr lang="en-US" altLang="zh-CN" sz="3200"/>
          </a:p>
        </p:txBody>
      </p:sp>
      <p:sp>
        <p:nvSpPr>
          <p:cNvPr id="222236" name="Text Box 28"/>
          <p:cNvSpPr txBox="1">
            <a:spLocks noChangeArrowheads="1"/>
          </p:cNvSpPr>
          <p:nvPr/>
        </p:nvSpPr>
        <p:spPr bwMode="auto">
          <a:xfrm>
            <a:off x="255905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0</a:t>
            </a:r>
            <a:endParaRPr lang="en-US" altLang="zh-CN" sz="3200"/>
          </a:p>
        </p:txBody>
      </p:sp>
      <p:sp>
        <p:nvSpPr>
          <p:cNvPr id="222237" name="Text Box 29"/>
          <p:cNvSpPr txBox="1">
            <a:spLocks noChangeArrowheads="1"/>
          </p:cNvSpPr>
          <p:nvPr/>
        </p:nvSpPr>
        <p:spPr bwMode="auto">
          <a:xfrm>
            <a:off x="32004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6</a:t>
            </a:r>
            <a:endParaRPr lang="en-US" altLang="zh-CN" sz="3200"/>
          </a:p>
        </p:txBody>
      </p:sp>
      <p:sp>
        <p:nvSpPr>
          <p:cNvPr id="222238" name="Text Box 30"/>
          <p:cNvSpPr txBox="1">
            <a:spLocks noChangeArrowheads="1"/>
          </p:cNvSpPr>
          <p:nvPr/>
        </p:nvSpPr>
        <p:spPr bwMode="auto">
          <a:xfrm>
            <a:off x="38862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4</a:t>
            </a:r>
            <a:endParaRPr lang="en-US" altLang="zh-CN" sz="3200"/>
          </a:p>
        </p:txBody>
      </p:sp>
      <p:sp>
        <p:nvSpPr>
          <p:cNvPr id="222239" name="Text Box 31"/>
          <p:cNvSpPr txBox="1">
            <a:spLocks noChangeArrowheads="1"/>
          </p:cNvSpPr>
          <p:nvPr/>
        </p:nvSpPr>
        <p:spPr bwMode="auto">
          <a:xfrm>
            <a:off x="45720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5</a:t>
            </a:r>
            <a:endParaRPr lang="en-US" altLang="zh-CN" sz="3200"/>
          </a:p>
        </p:txBody>
      </p:sp>
      <p:sp>
        <p:nvSpPr>
          <p:cNvPr id="222240" name="Text Box 32"/>
          <p:cNvSpPr txBox="1">
            <a:spLocks noChangeArrowheads="1"/>
          </p:cNvSpPr>
          <p:nvPr/>
        </p:nvSpPr>
        <p:spPr bwMode="auto">
          <a:xfrm>
            <a:off x="52578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7</a:t>
            </a:r>
            <a:endParaRPr lang="en-US" altLang="zh-CN" sz="3200"/>
          </a:p>
        </p:txBody>
      </p:sp>
      <p:sp>
        <p:nvSpPr>
          <p:cNvPr id="222241" name="Text Box 33"/>
          <p:cNvSpPr txBox="1">
            <a:spLocks noChangeArrowheads="1"/>
          </p:cNvSpPr>
          <p:nvPr/>
        </p:nvSpPr>
        <p:spPr bwMode="auto">
          <a:xfrm>
            <a:off x="594360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7</a:t>
            </a:r>
            <a:endParaRPr lang="en-US" altLang="zh-CN" sz="3200"/>
          </a:p>
        </p:txBody>
      </p:sp>
      <p:sp>
        <p:nvSpPr>
          <p:cNvPr id="222242" name="Text Box 34"/>
          <p:cNvSpPr txBox="1">
            <a:spLocks noChangeArrowheads="1"/>
          </p:cNvSpPr>
          <p:nvPr/>
        </p:nvSpPr>
        <p:spPr bwMode="auto">
          <a:xfrm>
            <a:off x="6661150" y="434340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7</a:t>
            </a:r>
            <a:endParaRPr lang="en-US" altLang="zh-CN" sz="3200"/>
          </a:p>
        </p:txBody>
      </p:sp>
      <p:sp>
        <p:nvSpPr>
          <p:cNvPr id="222243" name="Text Box 35"/>
          <p:cNvSpPr txBox="1">
            <a:spLocks noChangeArrowheads="1"/>
          </p:cNvSpPr>
          <p:nvPr/>
        </p:nvSpPr>
        <p:spPr bwMode="auto">
          <a:xfrm>
            <a:off x="7239000" y="43434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15</a:t>
            </a:r>
            <a:endParaRPr lang="en-US" altLang="zh-CN" sz="3200"/>
          </a:p>
        </p:txBody>
      </p:sp>
      <p:sp>
        <p:nvSpPr>
          <p:cNvPr id="222244" name="Text Box 36"/>
          <p:cNvSpPr txBox="1">
            <a:spLocks noChangeArrowheads="1"/>
          </p:cNvSpPr>
          <p:nvPr/>
        </p:nvSpPr>
        <p:spPr bwMode="auto">
          <a:xfrm>
            <a:off x="7956550" y="434340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9900FF"/>
                </a:solidFill>
              </a:rPr>
              <a:t>14</a:t>
            </a:r>
            <a:endParaRPr lang="en-US" altLang="zh-CN" sz="3200"/>
          </a:p>
        </p:txBody>
      </p:sp>
      <p:sp>
        <p:nvSpPr>
          <p:cNvPr id="222245" name="Text Box 37"/>
          <p:cNvSpPr txBox="1">
            <a:spLocks noChangeArrowheads="1"/>
          </p:cNvSpPr>
          <p:nvPr/>
        </p:nvSpPr>
        <p:spPr bwMode="auto">
          <a:xfrm>
            <a:off x="7956550" y="50736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14</a:t>
            </a:r>
            <a:endParaRPr lang="en-US" altLang="zh-CN" sz="3200"/>
          </a:p>
        </p:txBody>
      </p:sp>
      <p:sp>
        <p:nvSpPr>
          <p:cNvPr id="222246" name="Text Box 38"/>
          <p:cNvSpPr txBox="1">
            <a:spLocks noChangeArrowheads="1"/>
          </p:cNvSpPr>
          <p:nvPr/>
        </p:nvSpPr>
        <p:spPr bwMode="auto">
          <a:xfrm>
            <a:off x="7270750" y="50736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16</a:t>
            </a:r>
            <a:endParaRPr lang="en-US" altLang="zh-CN" sz="3200"/>
          </a:p>
        </p:txBody>
      </p:sp>
      <p:sp>
        <p:nvSpPr>
          <p:cNvPr id="222247" name="Text Box 39"/>
          <p:cNvSpPr txBox="1">
            <a:spLocks noChangeArrowheads="1"/>
          </p:cNvSpPr>
          <p:nvPr/>
        </p:nvSpPr>
        <p:spPr bwMode="auto">
          <a:xfrm>
            <a:off x="11430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0</a:t>
            </a:r>
            <a:endParaRPr lang="en-US" altLang="zh-CN" sz="3200"/>
          </a:p>
        </p:txBody>
      </p:sp>
      <p:sp>
        <p:nvSpPr>
          <p:cNvPr id="222248" name="Text Box 40"/>
          <p:cNvSpPr txBox="1">
            <a:spLocks noChangeArrowheads="1"/>
          </p:cNvSpPr>
          <p:nvPr/>
        </p:nvSpPr>
        <p:spPr bwMode="auto">
          <a:xfrm>
            <a:off x="187325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2</a:t>
            </a:r>
            <a:endParaRPr lang="en-US" altLang="zh-CN" sz="3200"/>
          </a:p>
        </p:txBody>
      </p:sp>
      <p:sp>
        <p:nvSpPr>
          <p:cNvPr id="222249" name="Text Box 41"/>
          <p:cNvSpPr txBox="1">
            <a:spLocks noChangeArrowheads="1"/>
          </p:cNvSpPr>
          <p:nvPr/>
        </p:nvSpPr>
        <p:spPr bwMode="auto">
          <a:xfrm>
            <a:off x="255905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3</a:t>
            </a:r>
            <a:endParaRPr lang="en-US" altLang="zh-CN" sz="3200"/>
          </a:p>
        </p:txBody>
      </p:sp>
      <p:sp>
        <p:nvSpPr>
          <p:cNvPr id="222250" name="Text Box 42"/>
          <p:cNvSpPr txBox="1">
            <a:spLocks noChangeArrowheads="1"/>
          </p:cNvSpPr>
          <p:nvPr/>
        </p:nvSpPr>
        <p:spPr bwMode="auto">
          <a:xfrm>
            <a:off x="32004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6</a:t>
            </a:r>
            <a:endParaRPr lang="en-US" altLang="zh-CN" sz="3200"/>
          </a:p>
        </p:txBody>
      </p:sp>
      <p:sp>
        <p:nvSpPr>
          <p:cNvPr id="222251" name="Text Box 43"/>
          <p:cNvSpPr txBox="1">
            <a:spLocks noChangeArrowheads="1"/>
          </p:cNvSpPr>
          <p:nvPr/>
        </p:nvSpPr>
        <p:spPr bwMode="auto">
          <a:xfrm>
            <a:off x="38862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6</a:t>
            </a:r>
            <a:endParaRPr lang="en-US" altLang="zh-CN" sz="3200"/>
          </a:p>
        </p:txBody>
      </p:sp>
      <p:sp>
        <p:nvSpPr>
          <p:cNvPr id="222252" name="Text Box 44"/>
          <p:cNvSpPr txBox="1">
            <a:spLocks noChangeArrowheads="1"/>
          </p:cNvSpPr>
          <p:nvPr/>
        </p:nvSpPr>
        <p:spPr bwMode="auto">
          <a:xfrm>
            <a:off x="45720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8</a:t>
            </a:r>
            <a:endParaRPr lang="en-US" altLang="zh-CN" sz="3200"/>
          </a:p>
        </p:txBody>
      </p:sp>
      <p:sp>
        <p:nvSpPr>
          <p:cNvPr id="222253" name="Text Box 45"/>
          <p:cNvSpPr txBox="1">
            <a:spLocks noChangeArrowheads="1"/>
          </p:cNvSpPr>
          <p:nvPr/>
        </p:nvSpPr>
        <p:spPr bwMode="auto">
          <a:xfrm>
            <a:off x="52578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8</a:t>
            </a:r>
            <a:endParaRPr lang="en-US" altLang="zh-CN" sz="3200"/>
          </a:p>
        </p:txBody>
      </p:sp>
      <p:sp>
        <p:nvSpPr>
          <p:cNvPr id="222254" name="Text Box 46"/>
          <p:cNvSpPr txBox="1">
            <a:spLocks noChangeArrowheads="1"/>
          </p:cNvSpPr>
          <p:nvPr/>
        </p:nvSpPr>
        <p:spPr bwMode="auto">
          <a:xfrm>
            <a:off x="5943600" y="5073650"/>
            <a:ext cx="41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7</a:t>
            </a:r>
            <a:endParaRPr lang="en-US" altLang="zh-CN" sz="3200"/>
          </a:p>
        </p:txBody>
      </p:sp>
      <p:sp>
        <p:nvSpPr>
          <p:cNvPr id="222255" name="Text Box 47"/>
          <p:cNvSpPr txBox="1">
            <a:spLocks noChangeArrowheads="1"/>
          </p:cNvSpPr>
          <p:nvPr/>
        </p:nvSpPr>
        <p:spPr bwMode="auto">
          <a:xfrm>
            <a:off x="6553200" y="50736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solidFill>
                  <a:srgbClr val="CC0000"/>
                </a:solidFill>
              </a:rPr>
              <a:t>10</a:t>
            </a:r>
            <a:endParaRPr lang="en-US" altLang="zh-CN" sz="3200"/>
          </a:p>
        </p:txBody>
      </p:sp>
      <p:graphicFrame>
        <p:nvGraphicFramePr>
          <p:cNvPr id="222256" name="Object 48"/>
          <p:cNvGraphicFramePr>
            <a:graphicFrameLocks noChangeAspect="1"/>
          </p:cNvGraphicFramePr>
          <p:nvPr/>
        </p:nvGraphicFramePr>
        <p:xfrm>
          <a:off x="3124200" y="5753100"/>
          <a:ext cx="609600" cy="517525"/>
        </p:xfrm>
        <a:graphic>
          <a:graphicData uri="http://schemas.openxmlformats.org/presentationml/2006/ole">
            <mc:AlternateContent xmlns:mc="http://schemas.openxmlformats.org/markup-compatibility/2006">
              <mc:Choice xmlns:v="urn:schemas-microsoft-com:vml" Requires="v">
                <p:oleObj spid="_x0000_s4" name="剪辑" r:id="rId5" imgW="622300" imgH="520700" progId="MS_ClipArt_Gallery.2">
                  <p:embed/>
                </p:oleObj>
              </mc:Choice>
              <mc:Fallback>
                <p:oleObj name="剪辑" r:id="rId5" imgW="622300" imgH="520700" progId="MS_ClipArt_Gallery.2">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5753100"/>
                        <a:ext cx="609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57" name="Object 49"/>
          <p:cNvGraphicFramePr>
            <a:graphicFrameLocks noChangeAspect="1"/>
          </p:cNvGraphicFramePr>
          <p:nvPr/>
        </p:nvGraphicFramePr>
        <p:xfrm>
          <a:off x="1066800" y="5753100"/>
          <a:ext cx="609600" cy="517525"/>
        </p:xfrm>
        <a:graphic>
          <a:graphicData uri="http://schemas.openxmlformats.org/presentationml/2006/ole">
            <mc:AlternateContent xmlns:mc="http://schemas.openxmlformats.org/markup-compatibility/2006">
              <mc:Choice xmlns:v="urn:schemas-microsoft-com:vml" Requires="v">
                <p:oleObj spid="_x0000_s5" name="剪辑" r:id="rId7" imgW="622300" imgH="520700" progId="MS_ClipArt_Gallery.2">
                  <p:embed/>
                </p:oleObj>
              </mc:Choice>
              <mc:Fallback>
                <p:oleObj name="剪辑" r:id="rId7" imgW="622300" imgH="520700" progId="MS_ClipArt_Gallery.2">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753100"/>
                        <a:ext cx="609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58" name="Object 50"/>
          <p:cNvGraphicFramePr>
            <a:graphicFrameLocks noChangeAspect="1"/>
          </p:cNvGraphicFramePr>
          <p:nvPr/>
        </p:nvGraphicFramePr>
        <p:xfrm>
          <a:off x="5886450" y="5753100"/>
          <a:ext cx="609600" cy="517525"/>
        </p:xfrm>
        <a:graphic>
          <a:graphicData uri="http://schemas.openxmlformats.org/presentationml/2006/ole">
            <mc:AlternateContent xmlns:mc="http://schemas.openxmlformats.org/markup-compatibility/2006">
              <mc:Choice xmlns:v="urn:schemas-microsoft-com:vml" Requires="v">
                <p:oleObj spid="_x0000_s6" name="剪辑" r:id="rId9" imgW="622300" imgH="520700" progId="MS_ClipArt_Gallery.2">
                  <p:embed/>
                </p:oleObj>
              </mc:Choice>
              <mc:Fallback>
                <p:oleObj name="剪辑" r:id="rId9" imgW="622300" imgH="520700" progId="MS_ClipArt_Gallery.2">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6450" y="5753100"/>
                        <a:ext cx="609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59" name="Object 51"/>
          <p:cNvGraphicFramePr>
            <a:graphicFrameLocks noChangeAspect="1"/>
          </p:cNvGraphicFramePr>
          <p:nvPr/>
        </p:nvGraphicFramePr>
        <p:xfrm>
          <a:off x="8001000" y="5753100"/>
          <a:ext cx="609600" cy="517525"/>
        </p:xfrm>
        <a:graphic>
          <a:graphicData uri="http://schemas.openxmlformats.org/presentationml/2006/ole">
            <mc:AlternateContent xmlns:mc="http://schemas.openxmlformats.org/markup-compatibility/2006">
              <mc:Choice xmlns:v="urn:schemas-microsoft-com:vml" Requires="v">
                <p:oleObj spid="_x0000_s7" name="剪辑" r:id="rId11" imgW="622300" imgH="520700" progId="MS_ClipArt_Gallery.2">
                  <p:embed/>
                </p:oleObj>
              </mc:Choice>
              <mc:Fallback>
                <p:oleObj name="剪辑" r:id="rId11" imgW="622300" imgH="520700" progId="MS_ClipArt_Gallery.2">
                  <p:embed/>
                  <p:pic>
                    <p:nvPicPr>
                      <p:cNvPr id="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1000" y="5753100"/>
                        <a:ext cx="609600"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页脚占位符 7"/>
          <p:cNvSpPr>
            <a:spLocks noGrp="1"/>
          </p:cNvSpPr>
          <p:nvPr>
            <p:ph type="ftr" sz="quarter" idx="10"/>
          </p:nvPr>
        </p:nvSpPr>
        <p:spPr/>
        <p:txBody>
          <a:bodyPr/>
          <a:lstStyle/>
          <a:p>
            <a:pPr>
              <a:defRPr/>
            </a:pPr>
            <a:r>
              <a:rPr lang="en-US" altLang="zh-CN"/>
              <a:t>©Haiyang Liu, 2025</a:t>
            </a:r>
            <a:endParaRPr lang="en-US" altLang="zh-CN" dirty="0"/>
          </a:p>
        </p:txBody>
      </p:sp>
      <p:sp>
        <p:nvSpPr>
          <p:cNvPr id="9" name="灯片编号占位符 8"/>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22212"/>
                                        </p:tgtEl>
                                        <p:attrNameLst>
                                          <p:attrName>style.visibility</p:attrName>
                                        </p:attrNameLst>
                                      </p:cBhvr>
                                      <p:to>
                                        <p:strVal val="visible"/>
                                      </p:to>
                                    </p:set>
                                    <p:animEffect transition="in" filter="dissolve">
                                      <p:cBhvr>
                                        <p:cTn id="7" dur="500"/>
                                        <p:tgtEl>
                                          <p:spTgt spid="222212"/>
                                        </p:tgtEl>
                                      </p:cBhvr>
                                    </p:animEffect>
                                  </p:childTnLst>
                                </p:cTn>
                              </p:par>
                            </p:childTnLst>
                          </p:cTn>
                        </p:par>
                        <p:par>
                          <p:cTn id="8" fill="hold">
                            <p:stCondLst>
                              <p:cond delay="500"/>
                            </p:stCondLst>
                            <p:childTnLst>
                              <p:par>
                                <p:cTn id="9" presetID="17" presetClass="entr" presetSubtype="8" fill="hold" grpId="0" nodeType="afterEffect">
                                  <p:stCondLst>
                                    <p:cond delay="0"/>
                                  </p:stCondLst>
                                  <p:childTnLst>
                                    <p:set>
                                      <p:cBhvr>
                                        <p:cTn id="10" dur="1" fill="hold">
                                          <p:stCondLst>
                                            <p:cond delay="0"/>
                                          </p:stCondLst>
                                        </p:cTn>
                                        <p:tgtEl>
                                          <p:spTgt spid="222210"/>
                                        </p:tgtEl>
                                        <p:attrNameLst>
                                          <p:attrName>style.visibility</p:attrName>
                                        </p:attrNameLst>
                                      </p:cBhvr>
                                      <p:to>
                                        <p:strVal val="visible"/>
                                      </p:to>
                                    </p:set>
                                    <p:anim calcmode="lin" valueType="num">
                                      <p:cBhvr>
                                        <p:cTn id="11" dur="500" fill="hold"/>
                                        <p:tgtEl>
                                          <p:spTgt spid="222210"/>
                                        </p:tgtEl>
                                        <p:attrNameLst>
                                          <p:attrName>ppt_x</p:attrName>
                                        </p:attrNameLst>
                                      </p:cBhvr>
                                      <p:tavLst>
                                        <p:tav tm="0">
                                          <p:val>
                                            <p:strVal val="#ppt_x-#ppt_w/2"/>
                                          </p:val>
                                        </p:tav>
                                        <p:tav tm="100000">
                                          <p:val>
                                            <p:strVal val="#ppt_x"/>
                                          </p:val>
                                        </p:tav>
                                      </p:tavLst>
                                    </p:anim>
                                    <p:anim calcmode="lin" valueType="num">
                                      <p:cBhvr>
                                        <p:cTn id="12" dur="500" fill="hold"/>
                                        <p:tgtEl>
                                          <p:spTgt spid="222210"/>
                                        </p:tgtEl>
                                        <p:attrNameLst>
                                          <p:attrName>ppt_y</p:attrName>
                                        </p:attrNameLst>
                                      </p:cBhvr>
                                      <p:tavLst>
                                        <p:tav tm="0">
                                          <p:val>
                                            <p:strVal val="#ppt_y"/>
                                          </p:val>
                                        </p:tav>
                                        <p:tav tm="100000">
                                          <p:val>
                                            <p:strVal val="#ppt_y"/>
                                          </p:val>
                                        </p:tav>
                                      </p:tavLst>
                                    </p:anim>
                                    <p:anim calcmode="lin" valueType="num">
                                      <p:cBhvr>
                                        <p:cTn id="13" dur="500" fill="hold"/>
                                        <p:tgtEl>
                                          <p:spTgt spid="222210"/>
                                        </p:tgtEl>
                                        <p:attrNameLst>
                                          <p:attrName>ppt_w</p:attrName>
                                        </p:attrNameLst>
                                      </p:cBhvr>
                                      <p:tavLst>
                                        <p:tav tm="0">
                                          <p:val>
                                            <p:fltVal val="0"/>
                                          </p:val>
                                        </p:tav>
                                        <p:tav tm="100000">
                                          <p:val>
                                            <p:strVal val="#ppt_w"/>
                                          </p:val>
                                        </p:tav>
                                      </p:tavLst>
                                    </p:anim>
                                    <p:anim calcmode="lin" valueType="num">
                                      <p:cBhvr>
                                        <p:cTn id="14" dur="500" fill="hold"/>
                                        <p:tgtEl>
                                          <p:spTgt spid="222210"/>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17" presetClass="entr" presetSubtype="4" fill="hold" grpId="0" nodeType="afterEffect">
                                  <p:stCondLst>
                                    <p:cond delay="0"/>
                                  </p:stCondLst>
                                  <p:childTnLst>
                                    <p:set>
                                      <p:cBhvr>
                                        <p:cTn id="17" dur="1" fill="hold">
                                          <p:stCondLst>
                                            <p:cond delay="0"/>
                                          </p:stCondLst>
                                        </p:cTn>
                                        <p:tgtEl>
                                          <p:spTgt spid="222211"/>
                                        </p:tgtEl>
                                        <p:attrNameLst>
                                          <p:attrName>style.visibility</p:attrName>
                                        </p:attrNameLst>
                                      </p:cBhvr>
                                      <p:to>
                                        <p:strVal val="visible"/>
                                      </p:to>
                                    </p:set>
                                    <p:anim calcmode="lin" valueType="num">
                                      <p:cBhvr>
                                        <p:cTn id="18" dur="500" fill="hold"/>
                                        <p:tgtEl>
                                          <p:spTgt spid="222211"/>
                                        </p:tgtEl>
                                        <p:attrNameLst>
                                          <p:attrName>ppt_x</p:attrName>
                                        </p:attrNameLst>
                                      </p:cBhvr>
                                      <p:tavLst>
                                        <p:tav tm="0">
                                          <p:val>
                                            <p:strVal val="#ppt_x"/>
                                          </p:val>
                                        </p:tav>
                                        <p:tav tm="100000">
                                          <p:val>
                                            <p:strVal val="#ppt_x"/>
                                          </p:val>
                                        </p:tav>
                                      </p:tavLst>
                                    </p:anim>
                                    <p:anim calcmode="lin" valueType="num">
                                      <p:cBhvr>
                                        <p:cTn id="19" dur="500" fill="hold"/>
                                        <p:tgtEl>
                                          <p:spTgt spid="222211"/>
                                        </p:tgtEl>
                                        <p:attrNameLst>
                                          <p:attrName>ppt_y</p:attrName>
                                        </p:attrNameLst>
                                      </p:cBhvr>
                                      <p:tavLst>
                                        <p:tav tm="0">
                                          <p:val>
                                            <p:strVal val="#ppt_y+#ppt_h/2"/>
                                          </p:val>
                                        </p:tav>
                                        <p:tav tm="100000">
                                          <p:val>
                                            <p:strVal val="#ppt_y"/>
                                          </p:val>
                                        </p:tav>
                                      </p:tavLst>
                                    </p:anim>
                                    <p:anim calcmode="lin" valueType="num">
                                      <p:cBhvr>
                                        <p:cTn id="20" dur="500" fill="hold"/>
                                        <p:tgtEl>
                                          <p:spTgt spid="222211"/>
                                        </p:tgtEl>
                                        <p:attrNameLst>
                                          <p:attrName>ppt_w</p:attrName>
                                        </p:attrNameLst>
                                      </p:cBhvr>
                                      <p:tavLst>
                                        <p:tav tm="0">
                                          <p:val>
                                            <p:strVal val="#ppt_w"/>
                                          </p:val>
                                        </p:tav>
                                        <p:tav tm="100000">
                                          <p:val>
                                            <p:strVal val="#ppt_w"/>
                                          </p:val>
                                        </p:tav>
                                      </p:tavLst>
                                    </p:anim>
                                    <p:anim calcmode="lin" valueType="num">
                                      <p:cBhvr>
                                        <p:cTn id="21" dur="500" fill="hold"/>
                                        <p:tgtEl>
                                          <p:spTgt spid="222211"/>
                                        </p:tgtEl>
                                        <p:attrNameLst>
                                          <p:attrName>ppt_h</p:attrName>
                                        </p:attrNameLst>
                                      </p:cBhvr>
                                      <p:tavLst>
                                        <p:tav tm="0">
                                          <p:val>
                                            <p:fltVal val="0"/>
                                          </p:val>
                                        </p:tav>
                                        <p:tav tm="100000">
                                          <p:val>
                                            <p:strVal val="#ppt_h"/>
                                          </p:val>
                                        </p:tav>
                                      </p:tavLst>
                                    </p:anim>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222213"/>
                                        </p:tgtEl>
                                        <p:attrNameLst>
                                          <p:attrName>style.visibility</p:attrName>
                                        </p:attrNameLst>
                                      </p:cBhvr>
                                      <p:to>
                                        <p:strVal val="visible"/>
                                      </p:to>
                                    </p:set>
                                    <p:animEffect transition="in" filter="wipe(left)">
                                      <p:cBhvr>
                                        <p:cTn id="25" dur="500"/>
                                        <p:tgtEl>
                                          <p:spTgt spid="222213"/>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222214"/>
                                        </p:tgtEl>
                                        <p:attrNameLst>
                                          <p:attrName>style.visibility</p:attrName>
                                        </p:attrNameLst>
                                      </p:cBhvr>
                                      <p:to>
                                        <p:strVal val="visible"/>
                                      </p:to>
                                    </p:set>
                                    <p:animEffect transition="in" filter="wipe(left)">
                                      <p:cBhvr>
                                        <p:cTn id="29" dur="500"/>
                                        <p:tgtEl>
                                          <p:spTgt spid="222214"/>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222215"/>
                                        </p:tgtEl>
                                        <p:attrNameLst>
                                          <p:attrName>style.visibility</p:attrName>
                                        </p:attrNameLst>
                                      </p:cBhvr>
                                      <p:to>
                                        <p:strVal val="visible"/>
                                      </p:to>
                                    </p:set>
                                    <p:animEffect transition="in" filter="wipe(left)">
                                      <p:cBhvr>
                                        <p:cTn id="33" dur="500"/>
                                        <p:tgtEl>
                                          <p:spTgt spid="222215"/>
                                        </p:tgtEl>
                                      </p:cBhvr>
                                    </p:animEffect>
                                  </p:childTnLst>
                                </p:cTn>
                              </p:par>
                            </p:childTnLst>
                          </p:cTn>
                        </p:par>
                        <p:par>
                          <p:cTn id="34" fill="hold">
                            <p:stCondLst>
                              <p:cond delay="3000"/>
                            </p:stCondLst>
                            <p:childTnLst>
                              <p:par>
                                <p:cTn id="35" presetID="22" presetClass="entr" presetSubtype="8" fill="hold" grpId="0" nodeType="afterEffect">
                                  <p:stCondLst>
                                    <p:cond delay="0"/>
                                  </p:stCondLst>
                                  <p:childTnLst>
                                    <p:set>
                                      <p:cBhvr>
                                        <p:cTn id="36" dur="1" fill="hold">
                                          <p:stCondLst>
                                            <p:cond delay="0"/>
                                          </p:stCondLst>
                                        </p:cTn>
                                        <p:tgtEl>
                                          <p:spTgt spid="222216"/>
                                        </p:tgtEl>
                                        <p:attrNameLst>
                                          <p:attrName>style.visibility</p:attrName>
                                        </p:attrNameLst>
                                      </p:cBhvr>
                                      <p:to>
                                        <p:strVal val="visible"/>
                                      </p:to>
                                    </p:set>
                                    <p:animEffect transition="in" filter="wipe(left)">
                                      <p:cBhvr>
                                        <p:cTn id="37" dur="500"/>
                                        <p:tgtEl>
                                          <p:spTgt spid="222216"/>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222217"/>
                                        </p:tgtEl>
                                        <p:attrNameLst>
                                          <p:attrName>style.visibility</p:attrName>
                                        </p:attrNameLst>
                                      </p:cBhvr>
                                      <p:to>
                                        <p:strVal val="visible"/>
                                      </p:to>
                                    </p:set>
                                    <p:animEffect transition="in" filter="wipe(left)">
                                      <p:cBhvr>
                                        <p:cTn id="41" dur="500"/>
                                        <p:tgtEl>
                                          <p:spTgt spid="222217"/>
                                        </p:tgtEl>
                                      </p:cBhvr>
                                    </p:animEffect>
                                  </p:childTnLst>
                                </p:cTn>
                              </p:par>
                            </p:childTnLst>
                          </p:cTn>
                        </p:par>
                        <p:par>
                          <p:cTn id="42" fill="hold">
                            <p:stCondLst>
                              <p:cond delay="4000"/>
                            </p:stCondLst>
                            <p:childTnLst>
                              <p:par>
                                <p:cTn id="43" presetID="22" presetClass="entr" presetSubtype="8" fill="hold" grpId="0" nodeType="afterEffect">
                                  <p:stCondLst>
                                    <p:cond delay="0"/>
                                  </p:stCondLst>
                                  <p:childTnLst>
                                    <p:set>
                                      <p:cBhvr>
                                        <p:cTn id="44" dur="1" fill="hold">
                                          <p:stCondLst>
                                            <p:cond delay="0"/>
                                          </p:stCondLst>
                                        </p:cTn>
                                        <p:tgtEl>
                                          <p:spTgt spid="222218"/>
                                        </p:tgtEl>
                                        <p:attrNameLst>
                                          <p:attrName>style.visibility</p:attrName>
                                        </p:attrNameLst>
                                      </p:cBhvr>
                                      <p:to>
                                        <p:strVal val="visible"/>
                                      </p:to>
                                    </p:set>
                                    <p:animEffect transition="in" filter="wipe(left)">
                                      <p:cBhvr>
                                        <p:cTn id="45" dur="500"/>
                                        <p:tgtEl>
                                          <p:spTgt spid="222218"/>
                                        </p:tgtEl>
                                      </p:cBhvr>
                                    </p:animEffect>
                                  </p:childTnLst>
                                </p:cTn>
                              </p:par>
                            </p:childTnLst>
                          </p:cTn>
                        </p:par>
                        <p:par>
                          <p:cTn id="46" fill="hold">
                            <p:stCondLst>
                              <p:cond delay="4500"/>
                            </p:stCondLst>
                            <p:childTnLst>
                              <p:par>
                                <p:cTn id="47" presetID="22" presetClass="entr" presetSubtype="8" fill="hold" grpId="0" nodeType="afterEffect">
                                  <p:stCondLst>
                                    <p:cond delay="0"/>
                                  </p:stCondLst>
                                  <p:childTnLst>
                                    <p:set>
                                      <p:cBhvr>
                                        <p:cTn id="48" dur="1" fill="hold">
                                          <p:stCondLst>
                                            <p:cond delay="0"/>
                                          </p:stCondLst>
                                        </p:cTn>
                                        <p:tgtEl>
                                          <p:spTgt spid="222219"/>
                                        </p:tgtEl>
                                        <p:attrNameLst>
                                          <p:attrName>style.visibility</p:attrName>
                                        </p:attrNameLst>
                                      </p:cBhvr>
                                      <p:to>
                                        <p:strVal val="visible"/>
                                      </p:to>
                                    </p:set>
                                    <p:animEffect transition="in" filter="wipe(left)">
                                      <p:cBhvr>
                                        <p:cTn id="49" dur="500"/>
                                        <p:tgtEl>
                                          <p:spTgt spid="222219"/>
                                        </p:tgtEl>
                                      </p:cBhvr>
                                    </p:animEffect>
                                  </p:childTnLst>
                                </p:cTn>
                              </p:par>
                            </p:childTnLst>
                          </p:cTn>
                        </p:par>
                        <p:par>
                          <p:cTn id="50" fill="hold">
                            <p:stCondLst>
                              <p:cond delay="5000"/>
                            </p:stCondLst>
                            <p:childTnLst>
                              <p:par>
                                <p:cTn id="51" presetID="22" presetClass="entr" presetSubtype="8" fill="hold" grpId="0" nodeType="afterEffect">
                                  <p:stCondLst>
                                    <p:cond delay="0"/>
                                  </p:stCondLst>
                                  <p:childTnLst>
                                    <p:set>
                                      <p:cBhvr>
                                        <p:cTn id="52" dur="1" fill="hold">
                                          <p:stCondLst>
                                            <p:cond delay="0"/>
                                          </p:stCondLst>
                                        </p:cTn>
                                        <p:tgtEl>
                                          <p:spTgt spid="222220"/>
                                        </p:tgtEl>
                                        <p:attrNameLst>
                                          <p:attrName>style.visibility</p:attrName>
                                        </p:attrNameLst>
                                      </p:cBhvr>
                                      <p:to>
                                        <p:strVal val="visible"/>
                                      </p:to>
                                    </p:set>
                                    <p:animEffect transition="in" filter="wipe(left)">
                                      <p:cBhvr>
                                        <p:cTn id="53" dur="500"/>
                                        <p:tgtEl>
                                          <p:spTgt spid="222220"/>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222221"/>
                                        </p:tgtEl>
                                        <p:attrNameLst>
                                          <p:attrName>style.visibility</p:attrName>
                                        </p:attrNameLst>
                                      </p:cBhvr>
                                      <p:to>
                                        <p:strVal val="visible"/>
                                      </p:to>
                                    </p:set>
                                    <p:animEffect transition="in" filter="wipe(left)">
                                      <p:cBhvr>
                                        <p:cTn id="57" dur="500"/>
                                        <p:tgtEl>
                                          <p:spTgt spid="222221"/>
                                        </p:tgtEl>
                                      </p:cBhvr>
                                    </p:animEffect>
                                  </p:childTnLst>
                                </p:cTn>
                              </p:par>
                            </p:childTnLst>
                          </p:cTn>
                        </p:par>
                        <p:par>
                          <p:cTn id="58" fill="hold">
                            <p:stCondLst>
                              <p:cond delay="6000"/>
                            </p:stCondLst>
                            <p:childTnLst>
                              <p:par>
                                <p:cTn id="59" presetID="22" presetClass="entr" presetSubtype="2" fill="hold" grpId="0" nodeType="afterEffect">
                                  <p:stCondLst>
                                    <p:cond delay="0"/>
                                  </p:stCondLst>
                                  <p:childTnLst>
                                    <p:set>
                                      <p:cBhvr>
                                        <p:cTn id="60" dur="1" fill="hold">
                                          <p:stCondLst>
                                            <p:cond delay="0"/>
                                          </p:stCondLst>
                                        </p:cTn>
                                        <p:tgtEl>
                                          <p:spTgt spid="222222"/>
                                        </p:tgtEl>
                                        <p:attrNameLst>
                                          <p:attrName>style.visibility</p:attrName>
                                        </p:attrNameLst>
                                      </p:cBhvr>
                                      <p:to>
                                        <p:strVal val="visible"/>
                                      </p:to>
                                    </p:set>
                                    <p:animEffect transition="in" filter="wipe(right)">
                                      <p:cBhvr>
                                        <p:cTn id="61" dur="500"/>
                                        <p:tgtEl>
                                          <p:spTgt spid="222222"/>
                                        </p:tgtEl>
                                      </p:cBhvr>
                                    </p:animEffect>
                                  </p:childTnLst>
                                </p:cTn>
                              </p:par>
                            </p:childTnLst>
                          </p:cTn>
                        </p:par>
                        <p:par>
                          <p:cTn id="62" fill="hold">
                            <p:stCondLst>
                              <p:cond delay="6500"/>
                            </p:stCondLst>
                            <p:childTnLst>
                              <p:par>
                                <p:cTn id="63" presetID="22" presetClass="entr" presetSubtype="2" fill="hold" grpId="0" nodeType="afterEffect">
                                  <p:stCondLst>
                                    <p:cond delay="0"/>
                                  </p:stCondLst>
                                  <p:childTnLst>
                                    <p:set>
                                      <p:cBhvr>
                                        <p:cTn id="64" dur="1" fill="hold">
                                          <p:stCondLst>
                                            <p:cond delay="0"/>
                                          </p:stCondLst>
                                        </p:cTn>
                                        <p:tgtEl>
                                          <p:spTgt spid="222223"/>
                                        </p:tgtEl>
                                        <p:attrNameLst>
                                          <p:attrName>style.visibility</p:attrName>
                                        </p:attrNameLst>
                                      </p:cBhvr>
                                      <p:to>
                                        <p:strVal val="visible"/>
                                      </p:to>
                                    </p:set>
                                    <p:animEffect transition="in" filter="wipe(right)">
                                      <p:cBhvr>
                                        <p:cTn id="65" dur="500"/>
                                        <p:tgtEl>
                                          <p:spTgt spid="222223"/>
                                        </p:tgtEl>
                                      </p:cBhvr>
                                    </p:animEffect>
                                  </p:childTnLst>
                                </p:cTn>
                              </p:par>
                            </p:childTnLst>
                          </p:cTn>
                        </p:par>
                        <p:par>
                          <p:cTn id="66" fill="hold">
                            <p:stCondLst>
                              <p:cond delay="7000"/>
                            </p:stCondLst>
                            <p:childTnLst>
                              <p:par>
                                <p:cTn id="67" presetID="22" presetClass="entr" presetSubtype="2" fill="hold" grpId="0" nodeType="afterEffect">
                                  <p:stCondLst>
                                    <p:cond delay="0"/>
                                  </p:stCondLst>
                                  <p:childTnLst>
                                    <p:set>
                                      <p:cBhvr>
                                        <p:cTn id="68" dur="1" fill="hold">
                                          <p:stCondLst>
                                            <p:cond delay="0"/>
                                          </p:stCondLst>
                                        </p:cTn>
                                        <p:tgtEl>
                                          <p:spTgt spid="222224"/>
                                        </p:tgtEl>
                                        <p:attrNameLst>
                                          <p:attrName>style.visibility</p:attrName>
                                        </p:attrNameLst>
                                      </p:cBhvr>
                                      <p:to>
                                        <p:strVal val="visible"/>
                                      </p:to>
                                    </p:set>
                                    <p:animEffect transition="in" filter="wipe(right)">
                                      <p:cBhvr>
                                        <p:cTn id="69" dur="500"/>
                                        <p:tgtEl>
                                          <p:spTgt spid="222224"/>
                                        </p:tgtEl>
                                      </p:cBhvr>
                                    </p:animEffect>
                                  </p:childTnLst>
                                </p:cTn>
                              </p:par>
                            </p:childTnLst>
                          </p:cTn>
                        </p:par>
                        <p:par>
                          <p:cTn id="70" fill="hold">
                            <p:stCondLst>
                              <p:cond delay="7500"/>
                            </p:stCondLst>
                            <p:childTnLst>
                              <p:par>
                                <p:cTn id="71" presetID="22" presetClass="entr" presetSubtype="2" fill="hold" grpId="0" nodeType="afterEffect">
                                  <p:stCondLst>
                                    <p:cond delay="0"/>
                                  </p:stCondLst>
                                  <p:childTnLst>
                                    <p:set>
                                      <p:cBhvr>
                                        <p:cTn id="72" dur="1" fill="hold">
                                          <p:stCondLst>
                                            <p:cond delay="0"/>
                                          </p:stCondLst>
                                        </p:cTn>
                                        <p:tgtEl>
                                          <p:spTgt spid="222225"/>
                                        </p:tgtEl>
                                        <p:attrNameLst>
                                          <p:attrName>style.visibility</p:attrName>
                                        </p:attrNameLst>
                                      </p:cBhvr>
                                      <p:to>
                                        <p:strVal val="visible"/>
                                      </p:to>
                                    </p:set>
                                    <p:animEffect transition="in" filter="wipe(right)">
                                      <p:cBhvr>
                                        <p:cTn id="73" dur="500"/>
                                        <p:tgtEl>
                                          <p:spTgt spid="222225"/>
                                        </p:tgtEl>
                                      </p:cBhvr>
                                    </p:animEffect>
                                  </p:childTnLst>
                                </p:cTn>
                              </p:par>
                            </p:childTnLst>
                          </p:cTn>
                        </p:par>
                        <p:par>
                          <p:cTn id="74" fill="hold">
                            <p:stCondLst>
                              <p:cond delay="8000"/>
                            </p:stCondLst>
                            <p:childTnLst>
                              <p:par>
                                <p:cTn id="75" presetID="22" presetClass="entr" presetSubtype="2" fill="hold" grpId="0" nodeType="afterEffect">
                                  <p:stCondLst>
                                    <p:cond delay="0"/>
                                  </p:stCondLst>
                                  <p:childTnLst>
                                    <p:set>
                                      <p:cBhvr>
                                        <p:cTn id="76" dur="1" fill="hold">
                                          <p:stCondLst>
                                            <p:cond delay="0"/>
                                          </p:stCondLst>
                                        </p:cTn>
                                        <p:tgtEl>
                                          <p:spTgt spid="222226"/>
                                        </p:tgtEl>
                                        <p:attrNameLst>
                                          <p:attrName>style.visibility</p:attrName>
                                        </p:attrNameLst>
                                      </p:cBhvr>
                                      <p:to>
                                        <p:strVal val="visible"/>
                                      </p:to>
                                    </p:set>
                                    <p:animEffect transition="in" filter="wipe(right)">
                                      <p:cBhvr>
                                        <p:cTn id="77" dur="500"/>
                                        <p:tgtEl>
                                          <p:spTgt spid="222226"/>
                                        </p:tgtEl>
                                      </p:cBhvr>
                                    </p:animEffect>
                                  </p:childTnLst>
                                </p:cTn>
                              </p:par>
                            </p:childTnLst>
                          </p:cTn>
                        </p:par>
                        <p:par>
                          <p:cTn id="78" fill="hold">
                            <p:stCondLst>
                              <p:cond delay="8500"/>
                            </p:stCondLst>
                            <p:childTnLst>
                              <p:par>
                                <p:cTn id="79" presetID="22" presetClass="entr" presetSubtype="2" fill="hold" grpId="0" nodeType="afterEffect">
                                  <p:stCondLst>
                                    <p:cond delay="0"/>
                                  </p:stCondLst>
                                  <p:childTnLst>
                                    <p:set>
                                      <p:cBhvr>
                                        <p:cTn id="80" dur="1" fill="hold">
                                          <p:stCondLst>
                                            <p:cond delay="0"/>
                                          </p:stCondLst>
                                        </p:cTn>
                                        <p:tgtEl>
                                          <p:spTgt spid="222227"/>
                                        </p:tgtEl>
                                        <p:attrNameLst>
                                          <p:attrName>style.visibility</p:attrName>
                                        </p:attrNameLst>
                                      </p:cBhvr>
                                      <p:to>
                                        <p:strVal val="visible"/>
                                      </p:to>
                                    </p:set>
                                    <p:animEffect transition="in" filter="wipe(right)">
                                      <p:cBhvr>
                                        <p:cTn id="81" dur="500"/>
                                        <p:tgtEl>
                                          <p:spTgt spid="222227"/>
                                        </p:tgtEl>
                                      </p:cBhvr>
                                    </p:animEffect>
                                  </p:childTnLst>
                                </p:cTn>
                              </p:par>
                            </p:childTnLst>
                          </p:cTn>
                        </p:par>
                        <p:par>
                          <p:cTn id="82" fill="hold">
                            <p:stCondLst>
                              <p:cond delay="9000"/>
                            </p:stCondLst>
                            <p:childTnLst>
                              <p:par>
                                <p:cTn id="83" presetID="22" presetClass="entr" presetSubtype="2" fill="hold" grpId="0" nodeType="afterEffect">
                                  <p:stCondLst>
                                    <p:cond delay="0"/>
                                  </p:stCondLst>
                                  <p:childTnLst>
                                    <p:set>
                                      <p:cBhvr>
                                        <p:cTn id="84" dur="1" fill="hold">
                                          <p:stCondLst>
                                            <p:cond delay="0"/>
                                          </p:stCondLst>
                                        </p:cTn>
                                        <p:tgtEl>
                                          <p:spTgt spid="222228"/>
                                        </p:tgtEl>
                                        <p:attrNameLst>
                                          <p:attrName>style.visibility</p:attrName>
                                        </p:attrNameLst>
                                      </p:cBhvr>
                                      <p:to>
                                        <p:strVal val="visible"/>
                                      </p:to>
                                    </p:set>
                                    <p:animEffect transition="in" filter="wipe(right)">
                                      <p:cBhvr>
                                        <p:cTn id="85" dur="500"/>
                                        <p:tgtEl>
                                          <p:spTgt spid="222228"/>
                                        </p:tgtEl>
                                      </p:cBhvr>
                                    </p:animEffect>
                                  </p:childTnLst>
                                </p:cTn>
                              </p:par>
                            </p:childTnLst>
                          </p:cTn>
                        </p:par>
                        <p:par>
                          <p:cTn id="86" fill="hold">
                            <p:stCondLst>
                              <p:cond delay="9500"/>
                            </p:stCondLst>
                            <p:childTnLst>
                              <p:par>
                                <p:cTn id="87" presetID="22" presetClass="entr" presetSubtype="2" fill="hold" grpId="0" nodeType="afterEffect">
                                  <p:stCondLst>
                                    <p:cond delay="0"/>
                                  </p:stCondLst>
                                  <p:childTnLst>
                                    <p:set>
                                      <p:cBhvr>
                                        <p:cTn id="88" dur="1" fill="hold">
                                          <p:stCondLst>
                                            <p:cond delay="0"/>
                                          </p:stCondLst>
                                        </p:cTn>
                                        <p:tgtEl>
                                          <p:spTgt spid="222229"/>
                                        </p:tgtEl>
                                        <p:attrNameLst>
                                          <p:attrName>style.visibility</p:attrName>
                                        </p:attrNameLst>
                                      </p:cBhvr>
                                      <p:to>
                                        <p:strVal val="visible"/>
                                      </p:to>
                                    </p:set>
                                    <p:animEffect transition="in" filter="wipe(right)">
                                      <p:cBhvr>
                                        <p:cTn id="89" dur="500"/>
                                        <p:tgtEl>
                                          <p:spTgt spid="222229"/>
                                        </p:tgtEl>
                                      </p:cBhvr>
                                    </p:animEffect>
                                  </p:childTnLst>
                                </p:cTn>
                              </p:par>
                            </p:childTnLst>
                          </p:cTn>
                        </p:par>
                        <p:par>
                          <p:cTn id="90" fill="hold">
                            <p:stCondLst>
                              <p:cond delay="10000"/>
                            </p:stCondLst>
                            <p:childTnLst>
                              <p:par>
                                <p:cTn id="91" presetID="22" presetClass="entr" presetSubtype="2" fill="hold" grpId="0" nodeType="afterEffect">
                                  <p:stCondLst>
                                    <p:cond delay="0"/>
                                  </p:stCondLst>
                                  <p:childTnLst>
                                    <p:set>
                                      <p:cBhvr>
                                        <p:cTn id="92" dur="1" fill="hold">
                                          <p:stCondLst>
                                            <p:cond delay="0"/>
                                          </p:stCondLst>
                                        </p:cTn>
                                        <p:tgtEl>
                                          <p:spTgt spid="222230"/>
                                        </p:tgtEl>
                                        <p:attrNameLst>
                                          <p:attrName>style.visibility</p:attrName>
                                        </p:attrNameLst>
                                      </p:cBhvr>
                                      <p:to>
                                        <p:strVal val="visible"/>
                                      </p:to>
                                    </p:set>
                                    <p:animEffect transition="in" filter="wipe(right)">
                                      <p:cBhvr>
                                        <p:cTn id="93" dur="500"/>
                                        <p:tgtEl>
                                          <p:spTgt spid="222230"/>
                                        </p:tgtEl>
                                      </p:cBhvr>
                                    </p:animEffect>
                                  </p:childTnLst>
                                </p:cTn>
                              </p:par>
                            </p:childTnLst>
                          </p:cTn>
                        </p:par>
                      </p:childTnLst>
                    </p:cTn>
                  </p:par>
                  <p:par>
                    <p:cTn id="94" fill="hold">
                      <p:stCondLst>
                        <p:cond delay="indefinite"/>
                      </p:stCondLst>
                      <p:childTnLst>
                        <p:par>
                          <p:cTn id="95" fill="hold">
                            <p:stCondLst>
                              <p:cond delay="0"/>
                            </p:stCondLst>
                            <p:childTnLst>
                              <p:par>
                                <p:cTn id="96" presetID="5" presetClass="entr" presetSubtype="10" fill="hold" nodeType="clickEffect">
                                  <p:stCondLst>
                                    <p:cond delay="0"/>
                                  </p:stCondLst>
                                  <p:childTnLst>
                                    <p:set>
                                      <p:cBhvr>
                                        <p:cTn id="97" dur="1" fill="hold">
                                          <p:stCondLst>
                                            <p:cond delay="0"/>
                                          </p:stCondLst>
                                        </p:cTn>
                                        <p:tgtEl>
                                          <p:spTgt spid="222231"/>
                                        </p:tgtEl>
                                        <p:attrNameLst>
                                          <p:attrName>style.visibility</p:attrName>
                                        </p:attrNameLst>
                                      </p:cBhvr>
                                      <p:to>
                                        <p:strVal val="visible"/>
                                      </p:to>
                                    </p:set>
                                    <p:animEffect transition="in" filter="checkerboard(across)">
                                      <p:cBhvr>
                                        <p:cTn id="98" dur="500"/>
                                        <p:tgtEl>
                                          <p:spTgt spid="222231"/>
                                        </p:tgtEl>
                                      </p:cBhvr>
                                    </p:animEffect>
                                  </p:childTnLst>
                                </p:cTn>
                              </p:par>
                            </p:childTnLst>
                          </p:cTn>
                        </p:par>
                        <p:par>
                          <p:cTn id="99" fill="hold">
                            <p:stCondLst>
                              <p:cond delay="500"/>
                            </p:stCondLst>
                            <p:childTnLst>
                              <p:par>
                                <p:cTn id="100" presetID="22" presetClass="entr" presetSubtype="8" fill="hold" grpId="0" nodeType="afterEffect">
                                  <p:stCondLst>
                                    <p:cond delay="0"/>
                                  </p:stCondLst>
                                  <p:childTnLst>
                                    <p:set>
                                      <p:cBhvr>
                                        <p:cTn id="101" dur="1" fill="hold">
                                          <p:stCondLst>
                                            <p:cond delay="0"/>
                                          </p:stCondLst>
                                        </p:cTn>
                                        <p:tgtEl>
                                          <p:spTgt spid="222232"/>
                                        </p:tgtEl>
                                        <p:attrNameLst>
                                          <p:attrName>style.visibility</p:attrName>
                                        </p:attrNameLst>
                                      </p:cBhvr>
                                      <p:to>
                                        <p:strVal val="visible"/>
                                      </p:to>
                                    </p:set>
                                    <p:animEffect transition="in" filter="wipe(left)">
                                      <p:cBhvr>
                                        <p:cTn id="102" dur="500"/>
                                        <p:tgtEl>
                                          <p:spTgt spid="222232"/>
                                        </p:tgtEl>
                                      </p:cBhvr>
                                    </p:animEffect>
                                  </p:childTnLst>
                                </p:cTn>
                              </p:par>
                            </p:childTnLst>
                          </p:cTn>
                        </p:par>
                        <p:par>
                          <p:cTn id="103" fill="hold">
                            <p:stCondLst>
                              <p:cond delay="1000"/>
                            </p:stCondLst>
                            <p:childTnLst>
                              <p:par>
                                <p:cTn id="104" presetID="22" presetClass="entr" presetSubtype="4" fill="hold" grpId="0" nodeType="afterEffect">
                                  <p:stCondLst>
                                    <p:cond delay="0"/>
                                  </p:stCondLst>
                                  <p:childTnLst>
                                    <p:set>
                                      <p:cBhvr>
                                        <p:cTn id="105" dur="1" fill="hold">
                                          <p:stCondLst>
                                            <p:cond delay="0"/>
                                          </p:stCondLst>
                                        </p:cTn>
                                        <p:tgtEl>
                                          <p:spTgt spid="222233"/>
                                        </p:tgtEl>
                                        <p:attrNameLst>
                                          <p:attrName>style.visibility</p:attrName>
                                        </p:attrNameLst>
                                      </p:cBhvr>
                                      <p:to>
                                        <p:strVal val="visible"/>
                                      </p:to>
                                    </p:set>
                                    <p:animEffect transition="in" filter="wipe(down)">
                                      <p:cBhvr>
                                        <p:cTn id="106" dur="500"/>
                                        <p:tgtEl>
                                          <p:spTgt spid="22223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22234"/>
                                        </p:tgtEl>
                                        <p:attrNameLst>
                                          <p:attrName>style.visibility</p:attrName>
                                        </p:attrNameLst>
                                      </p:cBhvr>
                                      <p:to>
                                        <p:strVal val="visible"/>
                                      </p:to>
                                    </p:set>
                                    <p:animEffect transition="in" filter="wipe(left)">
                                      <p:cBhvr>
                                        <p:cTn id="111" dur="500"/>
                                        <p:tgtEl>
                                          <p:spTgt spid="22223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22235"/>
                                        </p:tgtEl>
                                        <p:attrNameLst>
                                          <p:attrName>style.visibility</p:attrName>
                                        </p:attrNameLst>
                                      </p:cBhvr>
                                      <p:to>
                                        <p:strVal val="visible"/>
                                      </p:to>
                                    </p:set>
                                    <p:animEffect transition="in" filter="wipe(left)">
                                      <p:cBhvr>
                                        <p:cTn id="116" dur="500"/>
                                        <p:tgtEl>
                                          <p:spTgt spid="222235"/>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222236"/>
                                        </p:tgtEl>
                                        <p:attrNameLst>
                                          <p:attrName>style.visibility</p:attrName>
                                        </p:attrNameLst>
                                      </p:cBhvr>
                                      <p:to>
                                        <p:strVal val="visible"/>
                                      </p:to>
                                    </p:set>
                                    <p:animEffect transition="in" filter="wipe(left)">
                                      <p:cBhvr>
                                        <p:cTn id="121" dur="500"/>
                                        <p:tgtEl>
                                          <p:spTgt spid="222236"/>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22237"/>
                                        </p:tgtEl>
                                        <p:attrNameLst>
                                          <p:attrName>style.visibility</p:attrName>
                                        </p:attrNameLst>
                                      </p:cBhvr>
                                      <p:to>
                                        <p:strVal val="visible"/>
                                      </p:to>
                                    </p:set>
                                    <p:animEffect transition="in" filter="wipe(left)">
                                      <p:cBhvr>
                                        <p:cTn id="126" dur="500"/>
                                        <p:tgtEl>
                                          <p:spTgt spid="222237"/>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22238"/>
                                        </p:tgtEl>
                                        <p:attrNameLst>
                                          <p:attrName>style.visibility</p:attrName>
                                        </p:attrNameLst>
                                      </p:cBhvr>
                                      <p:to>
                                        <p:strVal val="visible"/>
                                      </p:to>
                                    </p:set>
                                    <p:animEffect transition="in" filter="wipe(left)">
                                      <p:cBhvr>
                                        <p:cTn id="131" dur="500"/>
                                        <p:tgtEl>
                                          <p:spTgt spid="222238"/>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22239"/>
                                        </p:tgtEl>
                                        <p:attrNameLst>
                                          <p:attrName>style.visibility</p:attrName>
                                        </p:attrNameLst>
                                      </p:cBhvr>
                                      <p:to>
                                        <p:strVal val="visible"/>
                                      </p:to>
                                    </p:set>
                                    <p:animEffect transition="in" filter="wipe(left)">
                                      <p:cBhvr>
                                        <p:cTn id="136" dur="500"/>
                                        <p:tgtEl>
                                          <p:spTgt spid="222239"/>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22240"/>
                                        </p:tgtEl>
                                        <p:attrNameLst>
                                          <p:attrName>style.visibility</p:attrName>
                                        </p:attrNameLst>
                                      </p:cBhvr>
                                      <p:to>
                                        <p:strVal val="visible"/>
                                      </p:to>
                                    </p:set>
                                    <p:animEffect transition="in" filter="wipe(left)">
                                      <p:cBhvr>
                                        <p:cTn id="141" dur="500"/>
                                        <p:tgtEl>
                                          <p:spTgt spid="222240"/>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222241"/>
                                        </p:tgtEl>
                                        <p:attrNameLst>
                                          <p:attrName>style.visibility</p:attrName>
                                        </p:attrNameLst>
                                      </p:cBhvr>
                                      <p:to>
                                        <p:strVal val="visible"/>
                                      </p:to>
                                    </p:set>
                                    <p:animEffect transition="in" filter="wipe(left)">
                                      <p:cBhvr>
                                        <p:cTn id="146" dur="500"/>
                                        <p:tgtEl>
                                          <p:spTgt spid="222241"/>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222242"/>
                                        </p:tgtEl>
                                        <p:attrNameLst>
                                          <p:attrName>style.visibility</p:attrName>
                                        </p:attrNameLst>
                                      </p:cBhvr>
                                      <p:to>
                                        <p:strVal val="visible"/>
                                      </p:to>
                                    </p:set>
                                    <p:animEffect transition="in" filter="wipe(left)">
                                      <p:cBhvr>
                                        <p:cTn id="151" dur="500"/>
                                        <p:tgtEl>
                                          <p:spTgt spid="222242"/>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222243"/>
                                        </p:tgtEl>
                                        <p:attrNameLst>
                                          <p:attrName>style.visibility</p:attrName>
                                        </p:attrNameLst>
                                      </p:cBhvr>
                                      <p:to>
                                        <p:strVal val="visible"/>
                                      </p:to>
                                    </p:set>
                                    <p:animEffect transition="in" filter="wipe(left)">
                                      <p:cBhvr>
                                        <p:cTn id="156" dur="500"/>
                                        <p:tgtEl>
                                          <p:spTgt spid="222243"/>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222244"/>
                                        </p:tgtEl>
                                        <p:attrNameLst>
                                          <p:attrName>style.visibility</p:attrName>
                                        </p:attrNameLst>
                                      </p:cBhvr>
                                      <p:to>
                                        <p:strVal val="visible"/>
                                      </p:to>
                                    </p:set>
                                    <p:animEffect transition="in" filter="wipe(left)">
                                      <p:cBhvr>
                                        <p:cTn id="161" dur="500"/>
                                        <p:tgtEl>
                                          <p:spTgt spid="222244"/>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222247"/>
                                        </p:tgtEl>
                                        <p:attrNameLst>
                                          <p:attrName>style.visibility</p:attrName>
                                        </p:attrNameLst>
                                      </p:cBhvr>
                                      <p:to>
                                        <p:strVal val="visible"/>
                                      </p:to>
                                    </p:set>
                                    <p:animEffect transition="in" filter="wipe(left)">
                                      <p:cBhvr>
                                        <p:cTn id="166" dur="500"/>
                                        <p:tgtEl>
                                          <p:spTgt spid="222247"/>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222248"/>
                                        </p:tgtEl>
                                        <p:attrNameLst>
                                          <p:attrName>style.visibility</p:attrName>
                                        </p:attrNameLst>
                                      </p:cBhvr>
                                      <p:to>
                                        <p:strVal val="visible"/>
                                      </p:to>
                                    </p:set>
                                    <p:animEffect transition="in" filter="wipe(left)">
                                      <p:cBhvr>
                                        <p:cTn id="171" dur="500"/>
                                        <p:tgtEl>
                                          <p:spTgt spid="222248"/>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222249"/>
                                        </p:tgtEl>
                                        <p:attrNameLst>
                                          <p:attrName>style.visibility</p:attrName>
                                        </p:attrNameLst>
                                      </p:cBhvr>
                                      <p:to>
                                        <p:strVal val="visible"/>
                                      </p:to>
                                    </p:set>
                                    <p:animEffect transition="in" filter="wipe(left)">
                                      <p:cBhvr>
                                        <p:cTn id="176" dur="500"/>
                                        <p:tgtEl>
                                          <p:spTgt spid="222249"/>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222250"/>
                                        </p:tgtEl>
                                        <p:attrNameLst>
                                          <p:attrName>style.visibility</p:attrName>
                                        </p:attrNameLst>
                                      </p:cBhvr>
                                      <p:to>
                                        <p:strVal val="visible"/>
                                      </p:to>
                                    </p:set>
                                    <p:animEffect transition="in" filter="wipe(left)">
                                      <p:cBhvr>
                                        <p:cTn id="181" dur="500"/>
                                        <p:tgtEl>
                                          <p:spTgt spid="222250"/>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222251"/>
                                        </p:tgtEl>
                                        <p:attrNameLst>
                                          <p:attrName>style.visibility</p:attrName>
                                        </p:attrNameLst>
                                      </p:cBhvr>
                                      <p:to>
                                        <p:strVal val="visible"/>
                                      </p:to>
                                    </p:set>
                                    <p:animEffect transition="in" filter="wipe(left)">
                                      <p:cBhvr>
                                        <p:cTn id="186" dur="500"/>
                                        <p:tgtEl>
                                          <p:spTgt spid="222251"/>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8" fill="hold" grpId="0" nodeType="clickEffect">
                                  <p:stCondLst>
                                    <p:cond delay="0"/>
                                  </p:stCondLst>
                                  <p:childTnLst>
                                    <p:set>
                                      <p:cBhvr>
                                        <p:cTn id="190" dur="1" fill="hold">
                                          <p:stCondLst>
                                            <p:cond delay="0"/>
                                          </p:stCondLst>
                                        </p:cTn>
                                        <p:tgtEl>
                                          <p:spTgt spid="222252"/>
                                        </p:tgtEl>
                                        <p:attrNameLst>
                                          <p:attrName>style.visibility</p:attrName>
                                        </p:attrNameLst>
                                      </p:cBhvr>
                                      <p:to>
                                        <p:strVal val="visible"/>
                                      </p:to>
                                    </p:set>
                                    <p:animEffect transition="in" filter="wipe(left)">
                                      <p:cBhvr>
                                        <p:cTn id="191" dur="500"/>
                                        <p:tgtEl>
                                          <p:spTgt spid="222252"/>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8" fill="hold" grpId="0" nodeType="clickEffect">
                                  <p:stCondLst>
                                    <p:cond delay="0"/>
                                  </p:stCondLst>
                                  <p:childTnLst>
                                    <p:set>
                                      <p:cBhvr>
                                        <p:cTn id="195" dur="1" fill="hold">
                                          <p:stCondLst>
                                            <p:cond delay="0"/>
                                          </p:stCondLst>
                                        </p:cTn>
                                        <p:tgtEl>
                                          <p:spTgt spid="222253"/>
                                        </p:tgtEl>
                                        <p:attrNameLst>
                                          <p:attrName>style.visibility</p:attrName>
                                        </p:attrNameLst>
                                      </p:cBhvr>
                                      <p:to>
                                        <p:strVal val="visible"/>
                                      </p:to>
                                    </p:set>
                                    <p:animEffect transition="in" filter="wipe(left)">
                                      <p:cBhvr>
                                        <p:cTn id="196" dur="500"/>
                                        <p:tgtEl>
                                          <p:spTgt spid="222253"/>
                                        </p:tgtEl>
                                      </p:cBhvr>
                                    </p:animEffect>
                                  </p:childTnLst>
                                </p:cTn>
                              </p:par>
                            </p:childTnLst>
                          </p:cTn>
                        </p:par>
                      </p:childTnLst>
                    </p:cTn>
                  </p:par>
                  <p:par>
                    <p:cTn id="197" fill="hold">
                      <p:stCondLst>
                        <p:cond delay="indefinite"/>
                      </p:stCondLst>
                      <p:childTnLst>
                        <p:par>
                          <p:cTn id="198" fill="hold">
                            <p:stCondLst>
                              <p:cond delay="0"/>
                            </p:stCondLst>
                            <p:childTnLst>
                              <p:par>
                                <p:cTn id="199" presetID="22" presetClass="entr" presetSubtype="8" fill="hold" grpId="0" nodeType="clickEffect">
                                  <p:stCondLst>
                                    <p:cond delay="0"/>
                                  </p:stCondLst>
                                  <p:childTnLst>
                                    <p:set>
                                      <p:cBhvr>
                                        <p:cTn id="200" dur="1" fill="hold">
                                          <p:stCondLst>
                                            <p:cond delay="0"/>
                                          </p:stCondLst>
                                        </p:cTn>
                                        <p:tgtEl>
                                          <p:spTgt spid="222254"/>
                                        </p:tgtEl>
                                        <p:attrNameLst>
                                          <p:attrName>style.visibility</p:attrName>
                                        </p:attrNameLst>
                                      </p:cBhvr>
                                      <p:to>
                                        <p:strVal val="visible"/>
                                      </p:to>
                                    </p:set>
                                    <p:animEffect transition="in" filter="wipe(left)">
                                      <p:cBhvr>
                                        <p:cTn id="201" dur="500"/>
                                        <p:tgtEl>
                                          <p:spTgt spid="222254"/>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8" fill="hold" grpId="0" nodeType="clickEffect">
                                  <p:stCondLst>
                                    <p:cond delay="0"/>
                                  </p:stCondLst>
                                  <p:childTnLst>
                                    <p:set>
                                      <p:cBhvr>
                                        <p:cTn id="205" dur="1" fill="hold">
                                          <p:stCondLst>
                                            <p:cond delay="0"/>
                                          </p:stCondLst>
                                        </p:cTn>
                                        <p:tgtEl>
                                          <p:spTgt spid="222255"/>
                                        </p:tgtEl>
                                        <p:attrNameLst>
                                          <p:attrName>style.visibility</p:attrName>
                                        </p:attrNameLst>
                                      </p:cBhvr>
                                      <p:to>
                                        <p:strVal val="visible"/>
                                      </p:to>
                                    </p:set>
                                    <p:animEffect transition="in" filter="wipe(left)">
                                      <p:cBhvr>
                                        <p:cTn id="206" dur="500"/>
                                        <p:tgtEl>
                                          <p:spTgt spid="222255"/>
                                        </p:tgtEl>
                                      </p:cBhvr>
                                    </p:animEffect>
                                  </p:childTnLst>
                                </p:cTn>
                              </p:par>
                            </p:childTnLst>
                          </p:cTn>
                        </p:par>
                      </p:childTnLst>
                    </p:cTn>
                  </p:par>
                  <p:par>
                    <p:cTn id="207" fill="hold">
                      <p:stCondLst>
                        <p:cond delay="indefinite"/>
                      </p:stCondLst>
                      <p:childTnLst>
                        <p:par>
                          <p:cTn id="208" fill="hold">
                            <p:stCondLst>
                              <p:cond delay="0"/>
                            </p:stCondLst>
                            <p:childTnLst>
                              <p:par>
                                <p:cTn id="209" presetID="22" presetClass="entr" presetSubtype="8" fill="hold" grpId="0" nodeType="clickEffect">
                                  <p:stCondLst>
                                    <p:cond delay="0"/>
                                  </p:stCondLst>
                                  <p:childTnLst>
                                    <p:set>
                                      <p:cBhvr>
                                        <p:cTn id="210" dur="1" fill="hold">
                                          <p:stCondLst>
                                            <p:cond delay="0"/>
                                          </p:stCondLst>
                                        </p:cTn>
                                        <p:tgtEl>
                                          <p:spTgt spid="222246"/>
                                        </p:tgtEl>
                                        <p:attrNameLst>
                                          <p:attrName>style.visibility</p:attrName>
                                        </p:attrNameLst>
                                      </p:cBhvr>
                                      <p:to>
                                        <p:strVal val="visible"/>
                                      </p:to>
                                    </p:set>
                                    <p:animEffect transition="in" filter="wipe(left)">
                                      <p:cBhvr>
                                        <p:cTn id="211" dur="500"/>
                                        <p:tgtEl>
                                          <p:spTgt spid="222246"/>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grpId="0" nodeType="clickEffect">
                                  <p:stCondLst>
                                    <p:cond delay="0"/>
                                  </p:stCondLst>
                                  <p:childTnLst>
                                    <p:set>
                                      <p:cBhvr>
                                        <p:cTn id="215" dur="1" fill="hold">
                                          <p:stCondLst>
                                            <p:cond delay="0"/>
                                          </p:stCondLst>
                                        </p:cTn>
                                        <p:tgtEl>
                                          <p:spTgt spid="222245"/>
                                        </p:tgtEl>
                                        <p:attrNameLst>
                                          <p:attrName>style.visibility</p:attrName>
                                        </p:attrNameLst>
                                      </p:cBhvr>
                                      <p:to>
                                        <p:strVal val="visible"/>
                                      </p:to>
                                    </p:set>
                                    <p:animEffect transition="in" filter="wipe(left)">
                                      <p:cBhvr>
                                        <p:cTn id="216" dur="500"/>
                                        <p:tgtEl>
                                          <p:spTgt spid="222245"/>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ntr" presetSubtype="8" fill="hold" nodeType="clickEffect">
                                  <p:stCondLst>
                                    <p:cond delay="0"/>
                                  </p:stCondLst>
                                  <p:childTnLst>
                                    <p:set>
                                      <p:cBhvr>
                                        <p:cTn id="220" dur="1" fill="hold">
                                          <p:stCondLst>
                                            <p:cond delay="0"/>
                                          </p:stCondLst>
                                        </p:cTn>
                                        <p:tgtEl>
                                          <p:spTgt spid="222257"/>
                                        </p:tgtEl>
                                        <p:attrNameLst>
                                          <p:attrName>style.visibility</p:attrName>
                                        </p:attrNameLst>
                                      </p:cBhvr>
                                      <p:to>
                                        <p:strVal val="visible"/>
                                      </p:to>
                                    </p:set>
                                    <p:animEffect transition="in" filter="wipe(left)">
                                      <p:cBhvr>
                                        <p:cTn id="221" dur="500"/>
                                        <p:tgtEl>
                                          <p:spTgt spid="222257"/>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8" fill="hold" nodeType="clickEffect">
                                  <p:stCondLst>
                                    <p:cond delay="0"/>
                                  </p:stCondLst>
                                  <p:childTnLst>
                                    <p:set>
                                      <p:cBhvr>
                                        <p:cTn id="225" dur="1" fill="hold">
                                          <p:stCondLst>
                                            <p:cond delay="0"/>
                                          </p:stCondLst>
                                        </p:cTn>
                                        <p:tgtEl>
                                          <p:spTgt spid="222256"/>
                                        </p:tgtEl>
                                        <p:attrNameLst>
                                          <p:attrName>style.visibility</p:attrName>
                                        </p:attrNameLst>
                                      </p:cBhvr>
                                      <p:to>
                                        <p:strVal val="visible"/>
                                      </p:to>
                                    </p:set>
                                    <p:animEffect transition="in" filter="wipe(left)">
                                      <p:cBhvr>
                                        <p:cTn id="226" dur="500"/>
                                        <p:tgtEl>
                                          <p:spTgt spid="222256"/>
                                        </p:tgtEl>
                                      </p:cBhvr>
                                    </p:animEffect>
                                  </p:childTnLst>
                                </p:cTn>
                              </p:par>
                            </p:childTnLst>
                          </p:cTn>
                        </p:par>
                      </p:childTnLst>
                    </p:cTn>
                  </p:par>
                  <p:par>
                    <p:cTn id="227" fill="hold">
                      <p:stCondLst>
                        <p:cond delay="indefinite"/>
                      </p:stCondLst>
                      <p:childTnLst>
                        <p:par>
                          <p:cTn id="228" fill="hold">
                            <p:stCondLst>
                              <p:cond delay="0"/>
                            </p:stCondLst>
                            <p:childTnLst>
                              <p:par>
                                <p:cTn id="229" presetID="22" presetClass="entr" presetSubtype="8" fill="hold" nodeType="clickEffect">
                                  <p:stCondLst>
                                    <p:cond delay="0"/>
                                  </p:stCondLst>
                                  <p:childTnLst>
                                    <p:set>
                                      <p:cBhvr>
                                        <p:cTn id="230" dur="1" fill="hold">
                                          <p:stCondLst>
                                            <p:cond delay="0"/>
                                          </p:stCondLst>
                                        </p:cTn>
                                        <p:tgtEl>
                                          <p:spTgt spid="222258"/>
                                        </p:tgtEl>
                                        <p:attrNameLst>
                                          <p:attrName>style.visibility</p:attrName>
                                        </p:attrNameLst>
                                      </p:cBhvr>
                                      <p:to>
                                        <p:strVal val="visible"/>
                                      </p:to>
                                    </p:set>
                                    <p:animEffect transition="in" filter="wipe(left)">
                                      <p:cBhvr>
                                        <p:cTn id="231" dur="500"/>
                                        <p:tgtEl>
                                          <p:spTgt spid="222258"/>
                                        </p:tgtEl>
                                      </p:cBhvr>
                                    </p:animEffect>
                                  </p:childTnLst>
                                </p:cTn>
                              </p:par>
                            </p:childTnLst>
                          </p:cTn>
                        </p:par>
                      </p:childTnLst>
                    </p:cTn>
                  </p:par>
                  <p:par>
                    <p:cTn id="232" fill="hold">
                      <p:stCondLst>
                        <p:cond delay="indefinite"/>
                      </p:stCondLst>
                      <p:childTnLst>
                        <p:par>
                          <p:cTn id="233" fill="hold">
                            <p:stCondLst>
                              <p:cond delay="0"/>
                            </p:stCondLst>
                            <p:childTnLst>
                              <p:par>
                                <p:cTn id="234" presetID="22" presetClass="entr" presetSubtype="8" fill="hold" nodeType="clickEffect">
                                  <p:stCondLst>
                                    <p:cond delay="0"/>
                                  </p:stCondLst>
                                  <p:childTnLst>
                                    <p:set>
                                      <p:cBhvr>
                                        <p:cTn id="235" dur="1" fill="hold">
                                          <p:stCondLst>
                                            <p:cond delay="0"/>
                                          </p:stCondLst>
                                        </p:cTn>
                                        <p:tgtEl>
                                          <p:spTgt spid="222259"/>
                                        </p:tgtEl>
                                        <p:attrNameLst>
                                          <p:attrName>style.visibility</p:attrName>
                                        </p:attrNameLst>
                                      </p:cBhvr>
                                      <p:to>
                                        <p:strVal val="visible"/>
                                      </p:to>
                                    </p:set>
                                    <p:animEffect transition="in" filter="wipe(left)">
                                      <p:cBhvr>
                                        <p:cTn id="236" dur="500"/>
                                        <p:tgtEl>
                                          <p:spTgt spid="222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animBg="1"/>
      <p:bldP spid="222211" grpId="0" animBg="1"/>
      <p:bldP spid="222213" grpId="0" autoUpdateAnimBg="0"/>
      <p:bldP spid="222214" grpId="0" autoUpdateAnimBg="0"/>
      <p:bldP spid="222215" grpId="0" autoUpdateAnimBg="0"/>
      <p:bldP spid="222216" grpId="0" autoUpdateAnimBg="0"/>
      <p:bldP spid="222217" grpId="0" autoUpdateAnimBg="0"/>
      <p:bldP spid="222218" grpId="0" autoUpdateAnimBg="0"/>
      <p:bldP spid="222219" grpId="0" autoUpdateAnimBg="0"/>
      <p:bldP spid="222220" grpId="0" autoUpdateAnimBg="0"/>
      <p:bldP spid="222221" grpId="0" autoUpdateAnimBg="0"/>
      <p:bldP spid="222222" grpId="0" autoUpdateAnimBg="0"/>
      <p:bldP spid="222223" grpId="0" autoUpdateAnimBg="0"/>
      <p:bldP spid="222224" grpId="0" autoUpdateAnimBg="0"/>
      <p:bldP spid="222225" grpId="0" autoUpdateAnimBg="0"/>
      <p:bldP spid="222226" grpId="0" autoUpdateAnimBg="0"/>
      <p:bldP spid="222227" grpId="0" autoUpdateAnimBg="0"/>
      <p:bldP spid="222228" grpId="0" autoUpdateAnimBg="0"/>
      <p:bldP spid="222229" grpId="0" autoUpdateAnimBg="0"/>
      <p:bldP spid="222230" grpId="0" autoUpdateAnimBg="0"/>
      <p:bldP spid="222232" grpId="0" animBg="1"/>
      <p:bldP spid="222233" grpId="0" animBg="1"/>
      <p:bldP spid="222234" grpId="0" autoUpdateAnimBg="0"/>
      <p:bldP spid="222235" grpId="0" autoUpdateAnimBg="0"/>
      <p:bldP spid="222236" grpId="0" autoUpdateAnimBg="0"/>
      <p:bldP spid="222237" grpId="0" autoUpdateAnimBg="0"/>
      <p:bldP spid="222238" grpId="0" autoUpdateAnimBg="0"/>
      <p:bldP spid="222239" grpId="0" autoUpdateAnimBg="0"/>
      <p:bldP spid="222240" grpId="0" autoUpdateAnimBg="0"/>
      <p:bldP spid="222241" grpId="0" autoUpdateAnimBg="0"/>
      <p:bldP spid="222242" grpId="0" autoUpdateAnimBg="0"/>
      <p:bldP spid="222243" grpId="0" autoUpdateAnimBg="0"/>
      <p:bldP spid="222244" grpId="0" autoUpdateAnimBg="0"/>
      <p:bldP spid="222245" grpId="0" autoUpdateAnimBg="0"/>
      <p:bldP spid="222246" grpId="0" autoUpdateAnimBg="0"/>
      <p:bldP spid="222247" grpId="0" autoUpdateAnimBg="0"/>
      <p:bldP spid="222248" grpId="0" autoUpdateAnimBg="0"/>
      <p:bldP spid="222249" grpId="0" autoUpdateAnimBg="0"/>
      <p:bldP spid="222250" grpId="0" autoUpdateAnimBg="0"/>
      <p:bldP spid="222251" grpId="0" autoUpdateAnimBg="0"/>
      <p:bldP spid="222252" grpId="0" autoUpdateAnimBg="0"/>
      <p:bldP spid="222253" grpId="0" autoUpdateAnimBg="0"/>
      <p:bldP spid="222254" grpId="0" autoUpdateAnimBg="0"/>
      <p:bldP spid="222255" grpId="0"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Oval 2"/>
          <p:cNvSpPr>
            <a:spLocks noChangeArrowheads="1"/>
          </p:cNvSpPr>
          <p:nvPr/>
        </p:nvSpPr>
        <p:spPr bwMode="auto">
          <a:xfrm>
            <a:off x="1447800" y="21336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a</a:t>
            </a:r>
            <a:endParaRPr lang="en-US" altLang="zh-CN" sz="3200"/>
          </a:p>
        </p:txBody>
      </p:sp>
      <p:sp>
        <p:nvSpPr>
          <p:cNvPr id="223235" name="Oval 3"/>
          <p:cNvSpPr>
            <a:spLocks noChangeArrowheads="1"/>
          </p:cNvSpPr>
          <p:nvPr/>
        </p:nvSpPr>
        <p:spPr bwMode="auto">
          <a:xfrm>
            <a:off x="2971800" y="12954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b</a:t>
            </a:r>
            <a:endParaRPr lang="en-US" altLang="zh-CN" sz="3200"/>
          </a:p>
        </p:txBody>
      </p:sp>
      <p:sp>
        <p:nvSpPr>
          <p:cNvPr id="223236" name="Oval 4"/>
          <p:cNvSpPr>
            <a:spLocks noChangeArrowheads="1"/>
          </p:cNvSpPr>
          <p:nvPr/>
        </p:nvSpPr>
        <p:spPr bwMode="auto">
          <a:xfrm>
            <a:off x="4495800" y="22098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e</a:t>
            </a:r>
            <a:endParaRPr lang="en-US" altLang="zh-CN" sz="3200"/>
          </a:p>
        </p:txBody>
      </p:sp>
      <p:sp>
        <p:nvSpPr>
          <p:cNvPr id="223237" name="Oval 5"/>
          <p:cNvSpPr>
            <a:spLocks noChangeArrowheads="1"/>
          </p:cNvSpPr>
          <p:nvPr/>
        </p:nvSpPr>
        <p:spPr bwMode="auto">
          <a:xfrm>
            <a:off x="6019800" y="3124200"/>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h</a:t>
            </a:r>
            <a:endParaRPr lang="en-US" altLang="zh-CN" sz="3200"/>
          </a:p>
        </p:txBody>
      </p:sp>
      <p:sp>
        <p:nvSpPr>
          <p:cNvPr id="223238" name="Oval 6"/>
          <p:cNvSpPr>
            <a:spLocks noChangeArrowheads="1"/>
          </p:cNvSpPr>
          <p:nvPr/>
        </p:nvSpPr>
        <p:spPr bwMode="auto">
          <a:xfrm>
            <a:off x="7543800" y="2209800"/>
            <a:ext cx="457200" cy="457200"/>
          </a:xfrm>
          <a:prstGeom prst="ellipse">
            <a:avLst/>
          </a:prstGeom>
          <a:solidFill>
            <a:srgbClr val="99CCFF"/>
          </a:solidFill>
          <a:ln w="25400" cap="sq">
            <a:solidFill>
              <a:srgbClr val="00008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solidFill>
                  <a:srgbClr val="800000"/>
                </a:solidFill>
              </a:rPr>
              <a:t>k</a:t>
            </a:r>
            <a:endParaRPr lang="en-US" altLang="zh-CN" sz="3200"/>
          </a:p>
        </p:txBody>
      </p:sp>
      <p:sp>
        <p:nvSpPr>
          <p:cNvPr id="223239" name="Line 7"/>
          <p:cNvSpPr>
            <a:spLocks noChangeShapeType="1"/>
          </p:cNvSpPr>
          <p:nvPr/>
        </p:nvSpPr>
        <p:spPr bwMode="auto">
          <a:xfrm flipV="1">
            <a:off x="1828800" y="1524000"/>
            <a:ext cx="1143000" cy="6858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240" name="Line 8"/>
          <p:cNvSpPr>
            <a:spLocks noChangeShapeType="1"/>
          </p:cNvSpPr>
          <p:nvPr/>
        </p:nvSpPr>
        <p:spPr bwMode="auto">
          <a:xfrm>
            <a:off x="3429000" y="1524000"/>
            <a:ext cx="1143000" cy="7620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241" name="Line 9"/>
          <p:cNvSpPr>
            <a:spLocks noChangeShapeType="1"/>
          </p:cNvSpPr>
          <p:nvPr/>
        </p:nvSpPr>
        <p:spPr bwMode="auto">
          <a:xfrm>
            <a:off x="4953000" y="2514600"/>
            <a:ext cx="1066800" cy="7620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242" name="Line 10"/>
          <p:cNvSpPr>
            <a:spLocks noChangeShapeType="1"/>
          </p:cNvSpPr>
          <p:nvPr/>
        </p:nvSpPr>
        <p:spPr bwMode="auto">
          <a:xfrm flipV="1">
            <a:off x="6477000" y="2590800"/>
            <a:ext cx="1143000" cy="685800"/>
          </a:xfrm>
          <a:prstGeom prst="line">
            <a:avLst/>
          </a:prstGeom>
          <a:noFill/>
          <a:ln w="57150" cap="sq">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3243" name="AutoShape 11"/>
          <p:cNvSpPr>
            <a:spLocks noChangeArrowheads="1"/>
          </p:cNvSpPr>
          <p:nvPr/>
        </p:nvSpPr>
        <p:spPr bwMode="auto">
          <a:xfrm>
            <a:off x="457200" y="2743200"/>
            <a:ext cx="914400" cy="457200"/>
          </a:xfrm>
          <a:prstGeom prst="wedgeRoundRectCallout">
            <a:avLst>
              <a:gd name="adj1" fmla="val 62847"/>
              <a:gd name="adj2" fmla="val -113194"/>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0000FF"/>
                </a:solidFill>
                <a:ea typeface="楷体_GB2312" pitchFamily="49" charset="-122"/>
                <a:sym typeface="+mn-ea"/>
              </a:rPr>
              <a:t>source point</a:t>
            </a:r>
            <a:endParaRPr lang="zh-CN" altLang="en-US" sz="2000">
              <a:solidFill>
                <a:srgbClr val="0000FF"/>
              </a:solidFill>
              <a:ea typeface="楷体_GB2312" pitchFamily="49" charset="-122"/>
              <a:sym typeface="+mn-ea"/>
            </a:endParaRPr>
          </a:p>
        </p:txBody>
      </p:sp>
      <p:sp>
        <p:nvSpPr>
          <p:cNvPr id="223244" name="AutoShape 12"/>
          <p:cNvSpPr>
            <a:spLocks noChangeArrowheads="1"/>
          </p:cNvSpPr>
          <p:nvPr/>
        </p:nvSpPr>
        <p:spPr bwMode="auto">
          <a:xfrm>
            <a:off x="7924800" y="1143000"/>
            <a:ext cx="914400" cy="457200"/>
          </a:xfrm>
          <a:prstGeom prst="wedgeRoundRectCallout">
            <a:avLst>
              <a:gd name="adj1" fmla="val -55731"/>
              <a:gd name="adj2" fmla="val 188542"/>
              <a:gd name="adj3" fmla="val 16667"/>
            </a:avLst>
          </a:prstGeom>
          <a:solidFill>
            <a:srgbClr val="CCFFFF">
              <a:alpha val="50000"/>
            </a:srgbClr>
          </a:solidFill>
          <a:ln w="12700" cap="sq">
            <a:solidFill>
              <a:srgbClr val="00008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ym typeface="+mn-ea"/>
              </a:rPr>
              <a:t> </a:t>
            </a:r>
            <a:r>
              <a:rPr lang="zh-CN" altLang="en-US" sz="2000">
                <a:solidFill>
                  <a:srgbClr val="0000FF"/>
                </a:solidFill>
                <a:ea typeface="楷体_GB2312" pitchFamily="49" charset="-122"/>
                <a:sym typeface="+mn-ea"/>
              </a:rPr>
              <a:t>sink node</a:t>
            </a:r>
            <a:endParaRPr lang="zh-CN" altLang="en-US" sz="2000">
              <a:solidFill>
                <a:srgbClr val="0000FF"/>
              </a:solidFill>
              <a:ea typeface="楷体_GB2312" pitchFamily="49" charset="-122"/>
              <a:sym typeface="+mn-ea"/>
            </a:endParaRPr>
          </a:p>
        </p:txBody>
      </p:sp>
      <p:sp>
        <p:nvSpPr>
          <p:cNvPr id="223245" name="Text Box 13"/>
          <p:cNvSpPr txBox="1">
            <a:spLocks noChangeArrowheads="1"/>
          </p:cNvSpPr>
          <p:nvPr/>
        </p:nvSpPr>
        <p:spPr bwMode="auto">
          <a:xfrm>
            <a:off x="2051050" y="1401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6</a:t>
            </a:r>
            <a:endParaRPr lang="en-US" altLang="zh-CN" sz="3200"/>
          </a:p>
        </p:txBody>
      </p:sp>
      <p:sp>
        <p:nvSpPr>
          <p:cNvPr id="223246" name="Text Box 14"/>
          <p:cNvSpPr txBox="1">
            <a:spLocks noChangeArrowheads="1"/>
          </p:cNvSpPr>
          <p:nvPr/>
        </p:nvSpPr>
        <p:spPr bwMode="auto">
          <a:xfrm>
            <a:off x="3810000" y="1401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1</a:t>
            </a:r>
            <a:endParaRPr lang="en-US" altLang="zh-CN" sz="3200"/>
          </a:p>
        </p:txBody>
      </p:sp>
      <p:sp>
        <p:nvSpPr>
          <p:cNvPr id="223247" name="Text Box 15"/>
          <p:cNvSpPr txBox="1">
            <a:spLocks noChangeArrowheads="1"/>
          </p:cNvSpPr>
          <p:nvPr/>
        </p:nvSpPr>
        <p:spPr bwMode="auto">
          <a:xfrm>
            <a:off x="5334000" y="2438400"/>
            <a:ext cx="387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7</a:t>
            </a:r>
            <a:endParaRPr lang="en-US" altLang="zh-CN" sz="3200"/>
          </a:p>
        </p:txBody>
      </p:sp>
      <p:sp>
        <p:nvSpPr>
          <p:cNvPr id="223248" name="Text Box 16"/>
          <p:cNvSpPr txBox="1">
            <a:spLocks noChangeArrowheads="1"/>
          </p:cNvSpPr>
          <p:nvPr/>
        </p:nvSpPr>
        <p:spPr bwMode="auto">
          <a:xfrm>
            <a:off x="6546850" y="2544763"/>
            <a:ext cx="38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rgbClr val="0000FF"/>
                </a:solidFill>
              </a:rPr>
              <a:t>4</a:t>
            </a:r>
            <a:endParaRPr lang="en-US" altLang="zh-CN" sz="3200"/>
          </a:p>
        </p:txBody>
      </p:sp>
      <p:sp>
        <p:nvSpPr>
          <p:cNvPr id="223249" name="Rectangle 17"/>
          <p:cNvSpPr>
            <a:spLocks noChangeArrowheads="1"/>
          </p:cNvSpPr>
          <p:nvPr/>
        </p:nvSpPr>
        <p:spPr bwMode="auto">
          <a:xfrm>
            <a:off x="685800" y="4029075"/>
            <a:ext cx="7771765" cy="134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45000"/>
              </a:lnSpc>
            </a:pPr>
            <a:r>
              <a:rPr lang="zh-CN" altLang="en-US" b="1">
                <a:latin typeface="Arial" panose="020B0604020202020204" pitchFamily="34" charset="0"/>
                <a:ea typeface="楷体_GB2312" pitchFamily="49" charset="-122"/>
                <a:cs typeface="Arial" panose="020B0604020202020204" pitchFamily="34" charset="0"/>
                <a:sym typeface="+mn-ea"/>
              </a:rPr>
              <a:t>The key activities are</a:t>
            </a:r>
            <a:r>
              <a:rPr lang="en-US" altLang="zh-CN" b="1">
                <a:latin typeface="Arial" panose="020B0604020202020204" pitchFamily="34" charset="0"/>
                <a:ea typeface="楷体_GB2312" pitchFamily="49" charset="-122"/>
                <a:cs typeface="Arial" panose="020B0604020202020204" pitchFamily="34" charset="0"/>
              </a:rPr>
              <a:t>&lt;a,b&gt; &lt;b,e&gt; &lt;e,h&gt; &lt;h,k&gt;</a:t>
            </a:r>
            <a:endParaRPr lang="en-US" altLang="zh-CN" b="1">
              <a:latin typeface="Arial" panose="020B0604020202020204" pitchFamily="34" charset="0"/>
              <a:ea typeface="楷体_GB2312" pitchFamily="49" charset="-122"/>
              <a:cs typeface="Arial" panose="020B0604020202020204" pitchFamily="34" charset="0"/>
            </a:endParaRPr>
          </a:p>
          <a:p>
            <a:pPr algn="l">
              <a:lnSpc>
                <a:spcPct val="145000"/>
              </a:lnSpc>
            </a:pPr>
            <a:r>
              <a:rPr lang="zh-CN" altLang="en-US" b="1">
                <a:latin typeface="Arial" panose="020B0604020202020204" pitchFamily="34" charset="0"/>
                <a:ea typeface="楷体_GB2312" pitchFamily="49" charset="-122"/>
                <a:cs typeface="Arial" panose="020B0604020202020204" pitchFamily="34" charset="0"/>
                <a:sym typeface="+mn-ea"/>
              </a:rPr>
              <a:t>The critical path i</a:t>
            </a:r>
            <a:r>
              <a:rPr lang="en-US" altLang="zh-CN" b="1">
                <a:latin typeface="Arial" panose="020B0604020202020204" pitchFamily="34" charset="0"/>
                <a:ea typeface="楷体_GB2312" pitchFamily="49" charset="-122"/>
                <a:cs typeface="Arial" panose="020B0604020202020204" pitchFamily="34" charset="0"/>
              </a:rPr>
              <a:t>(a,b,e,h,k)</a:t>
            </a:r>
            <a:endParaRPr lang="en-US" altLang="zh-CN" b="1">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323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2323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23236"/>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223237"/>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223238"/>
                                        </p:tgtEl>
                                        <p:attrNameLst>
                                          <p:attrName>style.visibility</p:attrName>
                                        </p:attrNameLst>
                                      </p:cBhvr>
                                      <p:to>
                                        <p:strVal val="visible"/>
                                      </p:to>
                                    </p:set>
                                  </p:childTnLst>
                                </p:cTn>
                              </p:par>
                            </p:childTnLst>
                          </p:cTn>
                        </p:par>
                        <p:par>
                          <p:cTn id="19" fill="hold">
                            <p:stCondLst>
                              <p:cond delay="2500"/>
                            </p:stCondLst>
                            <p:childTnLst>
                              <p:par>
                                <p:cTn id="20" presetID="2" presetClass="entr" presetSubtype="8" fill="hold" grpId="0" nodeType="afterEffect">
                                  <p:stCondLst>
                                    <p:cond delay="0"/>
                                  </p:stCondLst>
                                  <p:childTnLst>
                                    <p:set>
                                      <p:cBhvr>
                                        <p:cTn id="21" dur="1" fill="hold">
                                          <p:stCondLst>
                                            <p:cond delay="0"/>
                                          </p:stCondLst>
                                        </p:cTn>
                                        <p:tgtEl>
                                          <p:spTgt spid="223243"/>
                                        </p:tgtEl>
                                        <p:attrNameLst>
                                          <p:attrName>style.visibility</p:attrName>
                                        </p:attrNameLst>
                                      </p:cBhvr>
                                      <p:to>
                                        <p:strVal val="visible"/>
                                      </p:to>
                                    </p:set>
                                    <p:anim calcmode="lin" valueType="num">
                                      <p:cBhvr additive="base">
                                        <p:cTn id="22" dur="500" fill="hold"/>
                                        <p:tgtEl>
                                          <p:spTgt spid="223243"/>
                                        </p:tgtEl>
                                        <p:attrNameLst>
                                          <p:attrName>ppt_x</p:attrName>
                                        </p:attrNameLst>
                                      </p:cBhvr>
                                      <p:tavLst>
                                        <p:tav tm="0">
                                          <p:val>
                                            <p:strVal val="0-#ppt_w/2"/>
                                          </p:val>
                                        </p:tav>
                                        <p:tav tm="100000">
                                          <p:val>
                                            <p:strVal val="#ppt_x"/>
                                          </p:val>
                                        </p:tav>
                                      </p:tavLst>
                                    </p:anim>
                                    <p:anim calcmode="lin" valueType="num">
                                      <p:cBhvr additive="base">
                                        <p:cTn id="23" dur="500" fill="hold"/>
                                        <p:tgtEl>
                                          <p:spTgt spid="223243"/>
                                        </p:tgtEl>
                                        <p:attrNameLst>
                                          <p:attrName>ppt_y</p:attrName>
                                        </p:attrNameLst>
                                      </p:cBhvr>
                                      <p:tavLst>
                                        <p:tav tm="0">
                                          <p:val>
                                            <p:strVal val="#ppt_y"/>
                                          </p:val>
                                        </p:tav>
                                        <p:tav tm="100000">
                                          <p:val>
                                            <p:strVal val="#ppt_y"/>
                                          </p:val>
                                        </p:tav>
                                      </p:tavLst>
                                    </p:anim>
                                  </p:childTnLst>
                                </p:cTn>
                              </p:par>
                            </p:childTnLst>
                          </p:cTn>
                        </p:par>
                        <p:par>
                          <p:cTn id="24" fill="hold">
                            <p:stCondLst>
                              <p:cond delay="3000"/>
                            </p:stCondLst>
                            <p:childTnLst>
                              <p:par>
                                <p:cTn id="25" presetID="2" presetClass="entr" presetSubtype="2" fill="hold" grpId="0" nodeType="afterEffect">
                                  <p:stCondLst>
                                    <p:cond delay="0"/>
                                  </p:stCondLst>
                                  <p:childTnLst>
                                    <p:set>
                                      <p:cBhvr>
                                        <p:cTn id="26" dur="1" fill="hold">
                                          <p:stCondLst>
                                            <p:cond delay="0"/>
                                          </p:stCondLst>
                                        </p:cTn>
                                        <p:tgtEl>
                                          <p:spTgt spid="223244"/>
                                        </p:tgtEl>
                                        <p:attrNameLst>
                                          <p:attrName>style.visibility</p:attrName>
                                        </p:attrNameLst>
                                      </p:cBhvr>
                                      <p:to>
                                        <p:strVal val="visible"/>
                                      </p:to>
                                    </p:set>
                                    <p:anim calcmode="lin" valueType="num">
                                      <p:cBhvr additive="base">
                                        <p:cTn id="27" dur="500" fill="hold"/>
                                        <p:tgtEl>
                                          <p:spTgt spid="223244"/>
                                        </p:tgtEl>
                                        <p:attrNameLst>
                                          <p:attrName>ppt_x</p:attrName>
                                        </p:attrNameLst>
                                      </p:cBhvr>
                                      <p:tavLst>
                                        <p:tav tm="0">
                                          <p:val>
                                            <p:strVal val="1+#ppt_w/2"/>
                                          </p:val>
                                        </p:tav>
                                        <p:tav tm="100000">
                                          <p:val>
                                            <p:strVal val="#ppt_x"/>
                                          </p:val>
                                        </p:tav>
                                      </p:tavLst>
                                    </p:anim>
                                    <p:anim calcmode="lin" valueType="num">
                                      <p:cBhvr additive="base">
                                        <p:cTn id="28" dur="500" fill="hold"/>
                                        <p:tgtEl>
                                          <p:spTgt spid="223244"/>
                                        </p:tgtEl>
                                        <p:attrNameLst>
                                          <p:attrName>ppt_y</p:attrName>
                                        </p:attrNameLst>
                                      </p:cBhvr>
                                      <p:tavLst>
                                        <p:tav tm="0">
                                          <p:val>
                                            <p:strVal val="#ppt_y"/>
                                          </p:val>
                                        </p:tav>
                                        <p:tav tm="100000">
                                          <p:val>
                                            <p:strVal val="#ppt_y"/>
                                          </p:val>
                                        </p:tav>
                                      </p:tavLst>
                                    </p:anim>
                                  </p:childTnLst>
                                </p:cTn>
                              </p:par>
                            </p:childTnLst>
                          </p:cTn>
                        </p:par>
                        <p:par>
                          <p:cTn id="29" fill="hold">
                            <p:stCondLst>
                              <p:cond delay="3500"/>
                            </p:stCondLst>
                            <p:childTnLst>
                              <p:par>
                                <p:cTn id="30" presetID="22" presetClass="entr" presetSubtype="8" fill="hold" grpId="0" nodeType="afterEffect">
                                  <p:stCondLst>
                                    <p:cond delay="0"/>
                                  </p:stCondLst>
                                  <p:childTnLst>
                                    <p:set>
                                      <p:cBhvr>
                                        <p:cTn id="31" dur="1" fill="hold">
                                          <p:stCondLst>
                                            <p:cond delay="0"/>
                                          </p:stCondLst>
                                        </p:cTn>
                                        <p:tgtEl>
                                          <p:spTgt spid="223239"/>
                                        </p:tgtEl>
                                        <p:attrNameLst>
                                          <p:attrName>style.visibility</p:attrName>
                                        </p:attrNameLst>
                                      </p:cBhvr>
                                      <p:to>
                                        <p:strVal val="visible"/>
                                      </p:to>
                                    </p:set>
                                    <p:animEffect transition="in" filter="wipe(left)">
                                      <p:cBhvr>
                                        <p:cTn id="32" dur="500"/>
                                        <p:tgtEl>
                                          <p:spTgt spid="223239"/>
                                        </p:tgtEl>
                                      </p:cBhvr>
                                    </p:animEffect>
                                  </p:childTnLst>
                                </p:cTn>
                              </p:par>
                            </p:childTnLst>
                          </p:cTn>
                        </p:par>
                        <p:par>
                          <p:cTn id="33" fill="hold">
                            <p:stCondLst>
                              <p:cond delay="4000"/>
                            </p:stCondLst>
                            <p:childTnLst>
                              <p:par>
                                <p:cTn id="34" presetID="22" presetClass="entr" presetSubtype="8" fill="hold" grpId="0" nodeType="afterEffect">
                                  <p:stCondLst>
                                    <p:cond delay="0"/>
                                  </p:stCondLst>
                                  <p:childTnLst>
                                    <p:set>
                                      <p:cBhvr>
                                        <p:cTn id="35" dur="1" fill="hold">
                                          <p:stCondLst>
                                            <p:cond delay="0"/>
                                          </p:stCondLst>
                                        </p:cTn>
                                        <p:tgtEl>
                                          <p:spTgt spid="223240"/>
                                        </p:tgtEl>
                                        <p:attrNameLst>
                                          <p:attrName>style.visibility</p:attrName>
                                        </p:attrNameLst>
                                      </p:cBhvr>
                                      <p:to>
                                        <p:strVal val="visible"/>
                                      </p:to>
                                    </p:set>
                                    <p:animEffect transition="in" filter="wipe(left)">
                                      <p:cBhvr>
                                        <p:cTn id="36" dur="500"/>
                                        <p:tgtEl>
                                          <p:spTgt spid="223240"/>
                                        </p:tgtEl>
                                      </p:cBhvr>
                                    </p:animEffect>
                                  </p:childTnLst>
                                </p:cTn>
                              </p:par>
                            </p:childTnLst>
                          </p:cTn>
                        </p:par>
                        <p:par>
                          <p:cTn id="37" fill="hold">
                            <p:stCondLst>
                              <p:cond delay="4500"/>
                            </p:stCondLst>
                            <p:childTnLst>
                              <p:par>
                                <p:cTn id="38" presetID="22" presetClass="entr" presetSubtype="8" fill="hold" grpId="0" nodeType="afterEffect">
                                  <p:stCondLst>
                                    <p:cond delay="0"/>
                                  </p:stCondLst>
                                  <p:childTnLst>
                                    <p:set>
                                      <p:cBhvr>
                                        <p:cTn id="39" dur="1" fill="hold">
                                          <p:stCondLst>
                                            <p:cond delay="0"/>
                                          </p:stCondLst>
                                        </p:cTn>
                                        <p:tgtEl>
                                          <p:spTgt spid="223241"/>
                                        </p:tgtEl>
                                        <p:attrNameLst>
                                          <p:attrName>style.visibility</p:attrName>
                                        </p:attrNameLst>
                                      </p:cBhvr>
                                      <p:to>
                                        <p:strVal val="visible"/>
                                      </p:to>
                                    </p:set>
                                    <p:animEffect transition="in" filter="wipe(left)">
                                      <p:cBhvr>
                                        <p:cTn id="40" dur="500"/>
                                        <p:tgtEl>
                                          <p:spTgt spid="223241"/>
                                        </p:tgtEl>
                                      </p:cBhvr>
                                    </p:animEffect>
                                  </p:childTnLst>
                                </p:cTn>
                              </p:par>
                            </p:childTnLst>
                          </p:cTn>
                        </p:par>
                        <p:par>
                          <p:cTn id="41" fill="hold">
                            <p:stCondLst>
                              <p:cond delay="5000"/>
                            </p:stCondLst>
                            <p:childTnLst>
                              <p:par>
                                <p:cTn id="42" presetID="22" presetClass="entr" presetSubtype="8" fill="hold" grpId="0" nodeType="afterEffect">
                                  <p:stCondLst>
                                    <p:cond delay="0"/>
                                  </p:stCondLst>
                                  <p:childTnLst>
                                    <p:set>
                                      <p:cBhvr>
                                        <p:cTn id="43" dur="1" fill="hold">
                                          <p:stCondLst>
                                            <p:cond delay="0"/>
                                          </p:stCondLst>
                                        </p:cTn>
                                        <p:tgtEl>
                                          <p:spTgt spid="223242"/>
                                        </p:tgtEl>
                                        <p:attrNameLst>
                                          <p:attrName>style.visibility</p:attrName>
                                        </p:attrNameLst>
                                      </p:cBhvr>
                                      <p:to>
                                        <p:strVal val="visible"/>
                                      </p:to>
                                    </p:set>
                                    <p:animEffect transition="in" filter="wipe(left)">
                                      <p:cBhvr>
                                        <p:cTn id="44" dur="500"/>
                                        <p:tgtEl>
                                          <p:spTgt spid="223242"/>
                                        </p:tgtEl>
                                      </p:cBhvr>
                                    </p:animEffect>
                                  </p:childTnLst>
                                </p:cTn>
                              </p:par>
                            </p:childTnLst>
                          </p:cTn>
                        </p:par>
                        <p:par>
                          <p:cTn id="45" fill="hold">
                            <p:stCondLst>
                              <p:cond delay="5500"/>
                            </p:stCondLst>
                            <p:childTnLst>
                              <p:par>
                                <p:cTn id="46" presetID="22" presetClass="entr" presetSubtype="1" fill="hold" grpId="0" nodeType="afterEffect">
                                  <p:stCondLst>
                                    <p:cond delay="0"/>
                                  </p:stCondLst>
                                  <p:childTnLst>
                                    <p:set>
                                      <p:cBhvr>
                                        <p:cTn id="47" dur="1" fill="hold">
                                          <p:stCondLst>
                                            <p:cond delay="0"/>
                                          </p:stCondLst>
                                        </p:cTn>
                                        <p:tgtEl>
                                          <p:spTgt spid="223245"/>
                                        </p:tgtEl>
                                        <p:attrNameLst>
                                          <p:attrName>style.visibility</p:attrName>
                                        </p:attrNameLst>
                                      </p:cBhvr>
                                      <p:to>
                                        <p:strVal val="visible"/>
                                      </p:to>
                                    </p:set>
                                    <p:animEffect transition="in" filter="wipe(up)">
                                      <p:cBhvr>
                                        <p:cTn id="48" dur="500"/>
                                        <p:tgtEl>
                                          <p:spTgt spid="223245"/>
                                        </p:tgtEl>
                                      </p:cBhvr>
                                    </p:animEffect>
                                  </p:childTnLst>
                                </p:cTn>
                              </p:par>
                            </p:childTnLst>
                          </p:cTn>
                        </p:par>
                        <p:par>
                          <p:cTn id="49" fill="hold">
                            <p:stCondLst>
                              <p:cond delay="6000"/>
                            </p:stCondLst>
                            <p:childTnLst>
                              <p:par>
                                <p:cTn id="50" presetID="22" presetClass="entr" presetSubtype="1" fill="hold" grpId="0" nodeType="afterEffect">
                                  <p:stCondLst>
                                    <p:cond delay="0"/>
                                  </p:stCondLst>
                                  <p:childTnLst>
                                    <p:set>
                                      <p:cBhvr>
                                        <p:cTn id="51" dur="1" fill="hold">
                                          <p:stCondLst>
                                            <p:cond delay="0"/>
                                          </p:stCondLst>
                                        </p:cTn>
                                        <p:tgtEl>
                                          <p:spTgt spid="223246"/>
                                        </p:tgtEl>
                                        <p:attrNameLst>
                                          <p:attrName>style.visibility</p:attrName>
                                        </p:attrNameLst>
                                      </p:cBhvr>
                                      <p:to>
                                        <p:strVal val="visible"/>
                                      </p:to>
                                    </p:set>
                                    <p:animEffect transition="in" filter="wipe(up)">
                                      <p:cBhvr>
                                        <p:cTn id="52" dur="500"/>
                                        <p:tgtEl>
                                          <p:spTgt spid="223246"/>
                                        </p:tgtEl>
                                      </p:cBhvr>
                                    </p:animEffect>
                                  </p:childTnLst>
                                </p:cTn>
                              </p:par>
                            </p:childTnLst>
                          </p:cTn>
                        </p:par>
                        <p:par>
                          <p:cTn id="53" fill="hold">
                            <p:stCondLst>
                              <p:cond delay="6500"/>
                            </p:stCondLst>
                            <p:childTnLst>
                              <p:par>
                                <p:cTn id="54" presetID="22" presetClass="entr" presetSubtype="1" fill="hold" grpId="0" nodeType="afterEffect">
                                  <p:stCondLst>
                                    <p:cond delay="0"/>
                                  </p:stCondLst>
                                  <p:childTnLst>
                                    <p:set>
                                      <p:cBhvr>
                                        <p:cTn id="55" dur="1" fill="hold">
                                          <p:stCondLst>
                                            <p:cond delay="0"/>
                                          </p:stCondLst>
                                        </p:cTn>
                                        <p:tgtEl>
                                          <p:spTgt spid="223247"/>
                                        </p:tgtEl>
                                        <p:attrNameLst>
                                          <p:attrName>style.visibility</p:attrName>
                                        </p:attrNameLst>
                                      </p:cBhvr>
                                      <p:to>
                                        <p:strVal val="visible"/>
                                      </p:to>
                                    </p:set>
                                    <p:animEffect transition="in" filter="wipe(up)">
                                      <p:cBhvr>
                                        <p:cTn id="56" dur="500"/>
                                        <p:tgtEl>
                                          <p:spTgt spid="223247"/>
                                        </p:tgtEl>
                                      </p:cBhvr>
                                    </p:animEffect>
                                  </p:childTnLst>
                                </p:cTn>
                              </p:par>
                            </p:childTnLst>
                          </p:cTn>
                        </p:par>
                        <p:par>
                          <p:cTn id="57" fill="hold">
                            <p:stCondLst>
                              <p:cond delay="7000"/>
                            </p:stCondLst>
                            <p:childTnLst>
                              <p:par>
                                <p:cTn id="58" presetID="22" presetClass="entr" presetSubtype="1" fill="hold" grpId="0" nodeType="afterEffect">
                                  <p:stCondLst>
                                    <p:cond delay="0"/>
                                  </p:stCondLst>
                                  <p:childTnLst>
                                    <p:set>
                                      <p:cBhvr>
                                        <p:cTn id="59" dur="1" fill="hold">
                                          <p:stCondLst>
                                            <p:cond delay="0"/>
                                          </p:stCondLst>
                                        </p:cTn>
                                        <p:tgtEl>
                                          <p:spTgt spid="223248"/>
                                        </p:tgtEl>
                                        <p:attrNameLst>
                                          <p:attrName>style.visibility</p:attrName>
                                        </p:attrNameLst>
                                      </p:cBhvr>
                                      <p:to>
                                        <p:strVal val="visible"/>
                                      </p:to>
                                    </p:set>
                                    <p:animEffect transition="in" filter="wipe(up)">
                                      <p:cBhvr>
                                        <p:cTn id="60" dur="500"/>
                                        <p:tgtEl>
                                          <p:spTgt spid="223248"/>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23249">
                                            <p:txEl>
                                              <p:pRg st="4294967295" end="4294967295"/>
                                            </p:txEl>
                                          </p:spTgt>
                                        </p:tgtEl>
                                        <p:attrNameLst>
                                          <p:attrName>style.visibility</p:attrName>
                                        </p:attrNameLst>
                                      </p:cBhvr>
                                      <p:to>
                                        <p:strVal val="visible"/>
                                      </p:to>
                                    </p:set>
                                    <p:anim calcmode="lin" valueType="num">
                                      <p:cBhvr additive="base">
                                        <p:cTn id="65" dur="500" fill="hold"/>
                                        <p:tgtEl>
                                          <p:spTgt spid="223249">
                                            <p:txEl>
                                              <p:pRg st="4294967295" end="4294967295"/>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223249">
                                            <p:txEl>
                                              <p:p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23249">
                                            <p:txEl>
                                              <p:pRg st="0" end="0"/>
                                            </p:txEl>
                                          </p:spTgt>
                                        </p:tgtEl>
                                        <p:attrNameLst>
                                          <p:attrName>style.visibility</p:attrName>
                                        </p:attrNameLst>
                                      </p:cBhvr>
                                      <p:to>
                                        <p:strVal val="visible"/>
                                      </p:to>
                                    </p:set>
                                    <p:anim calcmode="lin" valueType="num">
                                      <p:cBhvr additive="base">
                                        <p:cTn id="71" dur="500" fill="hold"/>
                                        <p:tgtEl>
                                          <p:spTgt spid="223249">
                                            <p:txEl>
                                              <p:pRg st="0" end="0"/>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22324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8" fill="hold" grpId="0" nodeType="clickEffect">
                                  <p:stCondLst>
                                    <p:cond delay="0"/>
                                  </p:stCondLst>
                                  <p:childTnLst>
                                    <p:set>
                                      <p:cBhvr>
                                        <p:cTn id="76" dur="1" fill="hold">
                                          <p:stCondLst>
                                            <p:cond delay="0"/>
                                          </p:stCondLst>
                                        </p:cTn>
                                        <p:tgtEl>
                                          <p:spTgt spid="223249">
                                            <p:txEl>
                                              <p:pRg st="1" end="1"/>
                                            </p:txEl>
                                          </p:spTgt>
                                        </p:tgtEl>
                                        <p:attrNameLst>
                                          <p:attrName>style.visibility</p:attrName>
                                        </p:attrNameLst>
                                      </p:cBhvr>
                                      <p:to>
                                        <p:strVal val="visible"/>
                                      </p:to>
                                    </p:set>
                                    <p:anim calcmode="lin" valueType="num">
                                      <p:cBhvr additive="base">
                                        <p:cTn id="77" dur="500" fill="hold"/>
                                        <p:tgtEl>
                                          <p:spTgt spid="223249">
                                            <p:txEl>
                                              <p:pRg st="1" end="1"/>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22324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nimBg="1" autoUpdateAnimBg="0"/>
      <p:bldP spid="223235" grpId="0" animBg="1" autoUpdateAnimBg="0"/>
      <p:bldP spid="223236" grpId="0" animBg="1" autoUpdateAnimBg="0"/>
      <p:bldP spid="223237" grpId="0" animBg="1" autoUpdateAnimBg="0"/>
      <p:bldP spid="223238" grpId="0" animBg="1" autoUpdateAnimBg="0"/>
      <p:bldP spid="223239" grpId="0" animBg="1"/>
      <p:bldP spid="223240" grpId="0" animBg="1"/>
      <p:bldP spid="223241" grpId="0" animBg="1"/>
      <p:bldP spid="223242" grpId="0" animBg="1"/>
      <p:bldP spid="223243" grpId="0" animBg="1" autoUpdateAnimBg="0"/>
      <p:bldP spid="223244" grpId="0" animBg="1" autoUpdateAnimBg="0"/>
      <p:bldP spid="223245" grpId="0" autoUpdateAnimBg="0"/>
      <p:bldP spid="223246" grpId="0" autoUpdateAnimBg="0"/>
      <p:bldP spid="223247" grpId="0" autoUpdateAnimBg="0"/>
      <p:bldP spid="223248" grpId="0" autoUpdateAnimBg="0"/>
      <p:bldP spid="223249" grpId="0" autoUpdateAnimBg="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323974" y="332278"/>
            <a:ext cx="8164016" cy="5815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The AOE network is a powerful tool for estimating project completion timelines.</a:t>
            </a:r>
            <a:endParaRPr lang="zh-CN" altLang="en-US" sz="2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Increasing the speed of non-critical activities generally does not speed up the project.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Increasing the speed of critical activities helps speed up the project.</a:t>
            </a:r>
            <a:endParaRPr lang="zh-CN" altLang="en-US" sz="2400" b="1" dirty="0">
              <a:solidFill>
                <a:srgbClr val="A50021"/>
              </a:solidFill>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However,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there is a limit to the speed of the critical activity</a:t>
            </a:r>
            <a:r>
              <a:rPr lang="zh-CN" altLang="en-US" sz="2400" b="1" dirty="0">
                <a:latin typeface="Arial" panose="020B0604020202020204" pitchFamily="34" charset="0"/>
                <a:ea typeface="楷体_GB2312" pitchFamily="49" charset="-122"/>
                <a:cs typeface="Arial" panose="020B0604020202020204" pitchFamily="34" charset="0"/>
              </a:rPr>
              <a:t>. Only when the critical path of the network is not changed can the speed of the critical activity be improved effectively.</a:t>
            </a:r>
            <a:endParaRPr lang="zh-CN" altLang="en-US" sz="2400" b="1" dirty="0">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400" b="1" dirty="0">
                <a:latin typeface="Arial" panose="020B0604020202020204" pitchFamily="34" charset="0"/>
                <a:ea typeface="楷体_GB2312" pitchFamily="49" charset="-122"/>
                <a:cs typeface="Arial" panose="020B0604020202020204" pitchFamily="34" charset="0"/>
              </a:rPr>
              <a:t>If there are several critical paths in the network, then, the speed of a single critical activity on a critical path cannot shorten the construction period of the whole project,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but the speed of activities on several critical paths must be increased at the same time.</a:t>
            </a:r>
            <a:endParaRPr lang="zh-CN" altLang="en-US" sz="2400" b="1" dirty="0">
              <a:solidFill>
                <a:srgbClr val="A50021"/>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457200" y="533400"/>
            <a:ext cx="65627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800000"/>
                </a:solidFill>
                <a:latin typeface="Arial" panose="020B0604020202020204" pitchFamily="34" charset="0"/>
                <a:ea typeface="楷体_GB2312" pitchFamily="49" charset="-122"/>
                <a:cs typeface="Arial" panose="020B0604020202020204" pitchFamily="34" charset="0"/>
              </a:rPr>
              <a:t>Algorithm for finding the critical path:</a:t>
            </a:r>
            <a:endParaRPr lang="zh-CN" altLang="en-US"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24259" name="Rectangle 3"/>
          <p:cNvSpPr>
            <a:spLocks noChangeArrowheads="1"/>
          </p:cNvSpPr>
          <p:nvPr/>
        </p:nvSpPr>
        <p:spPr bwMode="auto">
          <a:xfrm>
            <a:off x="457200" y="1295400"/>
            <a:ext cx="8458200" cy="440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altLang="zh-CN" sz="1800" b="1" dirty="0">
                <a:latin typeface="Arial" panose="020B0604020202020204" pitchFamily="34" charset="0"/>
                <a:ea typeface="楷体_GB2312" pitchFamily="49" charset="-122"/>
                <a:cs typeface="Arial" panose="020B0604020202020204" pitchFamily="34" charset="0"/>
              </a:rPr>
              <a:t>⑴ Input e arcs &lt;j,k&gt; to construct the storage structure of the AOE network;</a:t>
            </a:r>
            <a:endParaRPr lang="en-US" altLang="zh-CN" sz="1800" b="1" dirty="0">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1800" b="1" dirty="0">
                <a:latin typeface="Arial" panose="020B0604020202020204" pitchFamily="34" charset="0"/>
                <a:ea typeface="楷体_GB2312" pitchFamily="49" charset="-122"/>
                <a:cs typeface="Arial" panose="020B0604020202020204" pitchFamily="34" charset="0"/>
              </a:rPr>
              <a:t>⑵ Starting from the source node v₀ with ve[0]=0, determine the earliest occurrence time ve[i] (1≤i≤n-1) for all remaining vertices using topological ordering.</a:t>
            </a:r>
            <a:r>
              <a:rPr lang="zh-CN" altLang="en-US" sz="1800" b="1" dirty="0">
                <a:latin typeface="Arial" panose="020B0604020202020204" pitchFamily="34" charset="0"/>
                <a:ea typeface="楷体_GB2312" pitchFamily="49" charset="-122"/>
                <a:cs typeface="Arial" panose="020B0604020202020204" pitchFamily="34" charset="0"/>
              </a:rPr>
              <a:t>If the number of vertices in the obtained </a:t>
            </a:r>
            <a:r>
              <a:rPr lang="zh-CN" altLang="en-US" sz="1800" b="1" dirty="0">
                <a:solidFill>
                  <a:srgbClr val="A50021"/>
                </a:solidFill>
                <a:latin typeface="Arial" panose="020B0604020202020204" pitchFamily="34" charset="0"/>
                <a:ea typeface="楷体_GB2312" pitchFamily="49" charset="-122"/>
                <a:cs typeface="Arial" panose="020B0604020202020204" pitchFamily="34" charset="0"/>
              </a:rPr>
              <a:t>topologically ordered sequence is less than the total number of vertices</a:t>
            </a:r>
            <a:r>
              <a:rPr lang="zh-CN" altLang="en-US" sz="1800" b="1" dirty="0">
                <a:latin typeface="Arial" panose="020B0604020202020204" pitchFamily="34" charset="0"/>
                <a:ea typeface="楷体_GB2312" pitchFamily="49" charset="-122"/>
                <a:cs typeface="Arial" panose="020B0604020202020204" pitchFamily="34" charset="0"/>
              </a:rPr>
              <a:t> n in the network, it indicates the presence of a ring, making it impossible to determine the critical path, and the algorithm </a:t>
            </a:r>
            <a:r>
              <a:rPr lang="zh-CN" altLang="en-US" sz="1800" b="1" dirty="0">
                <a:solidFill>
                  <a:srgbClr val="A50021"/>
                </a:solidFill>
                <a:latin typeface="Arial" panose="020B0604020202020204" pitchFamily="34" charset="0"/>
                <a:ea typeface="楷体_GB2312" pitchFamily="49" charset="-122"/>
                <a:cs typeface="Arial" panose="020B0604020202020204" pitchFamily="34" charset="0"/>
              </a:rPr>
              <a:t>terminates</a:t>
            </a:r>
            <a:r>
              <a:rPr lang="zh-CN" altLang="en-US" sz="1800" b="1" dirty="0">
                <a:latin typeface="Arial" panose="020B0604020202020204" pitchFamily="34" charset="0"/>
                <a:ea typeface="楷体_GB2312" pitchFamily="49" charset="-122"/>
                <a:cs typeface="Arial" panose="020B0604020202020204" pitchFamily="34" charset="0"/>
              </a:rPr>
              <a:t>. Otherwise, proceed to step ⑶.</a:t>
            </a:r>
            <a:endParaRPr lang="en-US" altLang="zh-CN" sz="1800" b="1" dirty="0">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1800" b="1" dirty="0">
                <a:latin typeface="Arial" panose="020B0604020202020204" pitchFamily="34" charset="0"/>
                <a:ea typeface="楷体_GB2312" pitchFamily="49" charset="-122"/>
                <a:cs typeface="Arial" panose="020B0604020202020204" pitchFamily="34" charset="0"/>
              </a:rPr>
              <a:t>⑶ Starting from the sink vn, set vl[n-1] = ve[n-1], and calculate the latest occurrence time vl(i) for all remaining vertices (n-2 ≥ i ≥ 2) using reverse topological order.</a:t>
            </a:r>
            <a:endParaRPr lang="en-US" altLang="zh-CN" sz="1800" b="1" dirty="0">
              <a:latin typeface="Arial" panose="020B0604020202020204" pitchFamily="34" charset="0"/>
              <a:ea typeface="楷体_GB2312" pitchFamily="49" charset="-122"/>
              <a:cs typeface="Arial" panose="020B0604020202020204" pitchFamily="34" charset="0"/>
            </a:endParaRPr>
          </a:p>
          <a:p>
            <a:pPr>
              <a:lnSpc>
                <a:spcPct val="120000"/>
              </a:lnSpc>
            </a:pPr>
            <a:r>
              <a:rPr lang="en-US" altLang="zh-CN" sz="1800" b="1" dirty="0">
                <a:latin typeface="Arial" panose="020B0604020202020204" pitchFamily="34" charset="0"/>
                <a:ea typeface="楷体_GB2312" pitchFamily="49" charset="-122"/>
                <a:cs typeface="Arial" panose="020B0604020202020204" pitchFamily="34" charset="0"/>
              </a:rPr>
              <a:t>⑷ Calculate the earliest start time e(s) and the latest start time l(s) for each arc s based on the ve and vl values of each vertex.</a:t>
            </a:r>
            <a:r>
              <a:rPr lang="zh-CN" altLang="en-US" sz="1800" b="1" dirty="0">
                <a:latin typeface="Arial" panose="020B0604020202020204" pitchFamily="34" charset="0"/>
                <a:ea typeface="楷体_GB2312" pitchFamily="49" charset="-122"/>
                <a:cs typeface="Arial" panose="020B0604020202020204" pitchFamily="34" charset="0"/>
              </a:rPr>
              <a:t>If an arc satisfies the condition e(s) = l(s), it is considered a critical activity.</a:t>
            </a:r>
            <a:endParaRPr lang="en-US" altLang="zh-CN" sz="1800" b="1" dirty="0">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4259">
                                            <p:txEl>
                                              <p:pRg st="4294967295" end="4294967295"/>
                                            </p:txEl>
                                          </p:spTgt>
                                        </p:tgtEl>
                                        <p:attrNameLst>
                                          <p:attrName>style.visibility</p:attrName>
                                        </p:attrNameLst>
                                      </p:cBhvr>
                                      <p:to>
                                        <p:strVal val="visible"/>
                                      </p:to>
                                    </p:set>
                                    <p:animEffect transition="in" filter="wipe(down)">
                                      <p:cBhvr>
                                        <p:cTn id="7" dur="500"/>
                                        <p:tgtEl>
                                          <p:spTgt spid="224259">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4259">
                                            <p:txEl>
                                              <p:pRg st="0" end="0"/>
                                            </p:txEl>
                                          </p:spTgt>
                                        </p:tgtEl>
                                        <p:attrNameLst>
                                          <p:attrName>style.visibility</p:attrName>
                                        </p:attrNameLst>
                                      </p:cBhvr>
                                      <p:to>
                                        <p:strVal val="visible"/>
                                      </p:to>
                                    </p:set>
                                    <p:animEffect transition="in" filter="wipe(down)">
                                      <p:cBhvr>
                                        <p:cTn id="12" dur="500"/>
                                        <p:tgtEl>
                                          <p:spTgt spid="2242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4259">
                                            <p:txEl>
                                              <p:pRg st="1" end="1"/>
                                            </p:txEl>
                                          </p:spTgt>
                                        </p:tgtEl>
                                        <p:attrNameLst>
                                          <p:attrName>style.visibility</p:attrName>
                                        </p:attrNameLst>
                                      </p:cBhvr>
                                      <p:to>
                                        <p:strVal val="visible"/>
                                      </p:to>
                                    </p:set>
                                    <p:animEffect transition="in" filter="wipe(down)">
                                      <p:cBhvr>
                                        <p:cTn id="17" dur="500"/>
                                        <p:tgtEl>
                                          <p:spTgt spid="2242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24259">
                                            <p:txEl>
                                              <p:pRg st="2" end="2"/>
                                            </p:txEl>
                                          </p:spTgt>
                                        </p:tgtEl>
                                        <p:attrNameLst>
                                          <p:attrName>style.visibility</p:attrName>
                                        </p:attrNameLst>
                                      </p:cBhvr>
                                      <p:to>
                                        <p:strVal val="visible"/>
                                      </p:to>
                                    </p:set>
                                    <p:animEffect transition="in" filter="wipe(down)">
                                      <p:cBhvr>
                                        <p:cTn id="22" dur="500"/>
                                        <p:tgtEl>
                                          <p:spTgt spid="2242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4259">
                                            <p:txEl>
                                              <p:pRg st="3" end="3"/>
                                            </p:txEl>
                                          </p:spTgt>
                                        </p:tgtEl>
                                        <p:attrNameLst>
                                          <p:attrName>style.visibility</p:attrName>
                                        </p:attrNameLst>
                                      </p:cBhvr>
                                      <p:to>
                                        <p:strVal val="visible"/>
                                      </p:to>
                                    </p:set>
                                    <p:animEffect transition="in" filter="wipe(down)">
                                      <p:cBhvr>
                                        <p:cTn id="27" dur="500"/>
                                        <p:tgtEl>
                                          <p:spTgt spid="224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107315" y="188595"/>
            <a:ext cx="797369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solidFill>
                  <a:srgbClr val="800000"/>
                </a:solidFill>
                <a:latin typeface="Arial" panose="020B0604020202020204" pitchFamily="34" charset="0"/>
                <a:ea typeface="楷体_GB2312" pitchFamily="49" charset="-122"/>
                <a:cs typeface="Arial" panose="020B0604020202020204" pitchFamily="34" charset="0"/>
              </a:rPr>
              <a:t>Key points of algorithm implementation:</a:t>
            </a:r>
            <a:endParaRPr lang="zh-CN" altLang="en-US" sz="3200" b="1">
              <a:solidFill>
                <a:srgbClr val="800000"/>
              </a:solidFill>
              <a:latin typeface="Arial" panose="020B0604020202020204" pitchFamily="34" charset="0"/>
              <a:ea typeface="楷体_GB2312" pitchFamily="49" charset="-122"/>
              <a:cs typeface="Arial" panose="020B0604020202020204" pitchFamily="34" charset="0"/>
            </a:endParaRPr>
          </a:p>
        </p:txBody>
      </p:sp>
      <p:sp>
        <p:nvSpPr>
          <p:cNvPr id="225283" name="Text Box 3"/>
          <p:cNvSpPr txBox="1">
            <a:spLocks noChangeArrowheads="1"/>
          </p:cNvSpPr>
          <p:nvPr/>
        </p:nvSpPr>
        <p:spPr bwMode="auto">
          <a:xfrm>
            <a:off x="504056" y="1458913"/>
            <a:ext cx="8100392"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Clearly, the search for </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ve</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 should follow the </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topological order</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a:t>
            </a:r>
            <a:endParaRPr lang="zh-CN" altLang="en-US" sz="2400" dirty="0">
              <a:latin typeface="Arial" panose="020B0604020202020204" pitchFamily="34" charset="0"/>
              <a:ea typeface="楷体_GB2312" pitchFamily="49" charset="-122"/>
              <a:cs typeface="Arial" panose="020B0604020202020204" pitchFamily="34" charset="0"/>
            </a:endParaRPr>
          </a:p>
        </p:txBody>
      </p:sp>
      <p:sp>
        <p:nvSpPr>
          <p:cNvPr id="225284" name="Rectangle 4"/>
          <p:cNvSpPr>
            <a:spLocks noChangeArrowheads="1"/>
          </p:cNvSpPr>
          <p:nvPr/>
        </p:nvSpPr>
        <p:spPr bwMode="auto">
          <a:xfrm>
            <a:off x="576064" y="2546350"/>
            <a:ext cx="788436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The sequence for obtaining </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vl</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 should follow the </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topological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rPr>
              <a:t>reverse</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 order</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25285" name="Rectangle 5"/>
          <p:cNvSpPr>
            <a:spLocks noChangeArrowheads="1"/>
          </p:cNvSpPr>
          <p:nvPr/>
        </p:nvSpPr>
        <p:spPr bwMode="auto">
          <a:xfrm>
            <a:off x="576832" y="3500438"/>
            <a:ext cx="867568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Since a topological reverse sequence is the </a:t>
            </a:r>
            <a:r>
              <a:rPr lang="en-US" altLang="zh-CN" sz="2400" b="1" dirty="0" err="1">
                <a:solidFill>
                  <a:srgbClr val="0000FF"/>
                </a:solidFill>
                <a:latin typeface="Arial" panose="020B0604020202020204" pitchFamily="34" charset="0"/>
                <a:ea typeface="楷体_GB2312" pitchFamily="49" charset="-122"/>
                <a:cs typeface="Arial" panose="020B0604020202020204" pitchFamily="34" charset="0"/>
              </a:rPr>
              <a:t>inverse</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 of a topological ordered sequence,</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225286" name="Rectangle 6"/>
          <p:cNvSpPr>
            <a:spLocks noChangeArrowheads="1"/>
          </p:cNvSpPr>
          <p:nvPr/>
        </p:nvSpPr>
        <p:spPr bwMode="auto">
          <a:xfrm>
            <a:off x="555913" y="4581128"/>
            <a:ext cx="7688495" cy="97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Therefore, during the topological sorting process,</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a:p>
            <a:pPr>
              <a:lnSpc>
                <a:spcPct val="120000"/>
              </a:lnSpc>
            </a:pP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Create a </a:t>
            </a:r>
            <a:r>
              <a:rPr lang="zh-CN" altLang="en-US" sz="2400" b="1" dirty="0">
                <a:solidFill>
                  <a:srgbClr val="FF0000"/>
                </a:solidFill>
                <a:latin typeface="Arial" panose="020B0604020202020204" pitchFamily="34" charset="0"/>
                <a:ea typeface="楷体_GB2312" pitchFamily="49" charset="-122"/>
                <a:cs typeface="Arial" panose="020B0604020202020204" pitchFamily="34" charset="0"/>
              </a:rPr>
              <a:t>stack</a:t>
            </a:r>
            <a:r>
              <a:rPr lang="zh-CN" altLang="en-US" sz="2400" dirty="0">
                <a:solidFill>
                  <a:srgbClr val="000099"/>
                </a:solidFill>
                <a:latin typeface="Arial" panose="020B0604020202020204" pitchFamily="34" charset="0"/>
                <a:ea typeface="楷体_GB2312" pitchFamily="49" charset="-122"/>
                <a:cs typeface="Arial" panose="020B0604020202020204" pitchFamily="34" charset="0"/>
              </a:rPr>
              <a:t> to record the topological order.</a:t>
            </a:r>
            <a:endParaRPr lang="zh-CN" altLang="en-US" sz="2400" dirty="0">
              <a:solidFill>
                <a:srgbClr val="000099"/>
              </a:solidFill>
              <a:latin typeface="Arial" panose="020B0604020202020204" pitchFamily="34" charset="0"/>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225282"/>
                                        </p:tgtEl>
                                        <p:attrNameLst>
                                          <p:attrName>style.visibility</p:attrName>
                                        </p:attrNameLst>
                                      </p:cBhvr>
                                      <p:to>
                                        <p:strVal val="visible"/>
                                      </p:to>
                                    </p:set>
                                    <p:animEffect transition="in" filter="slide(fromTop)">
                                      <p:cBhvr>
                                        <p:cTn id="7" dur="500"/>
                                        <p:tgtEl>
                                          <p:spTgt spid="22528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25283"/>
                                        </p:tgtEl>
                                        <p:attrNameLst>
                                          <p:attrName>style.visibility</p:attrName>
                                        </p:attrNameLst>
                                      </p:cBhvr>
                                      <p:to>
                                        <p:strVal val="visible"/>
                                      </p:to>
                                    </p:set>
                                    <p:animEffect transition="in" filter="strips(downRight)">
                                      <p:cBhvr>
                                        <p:cTn id="12" dur="500"/>
                                        <p:tgtEl>
                                          <p:spTgt spid="22528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25284"/>
                                        </p:tgtEl>
                                        <p:attrNameLst>
                                          <p:attrName>style.visibility</p:attrName>
                                        </p:attrNameLst>
                                      </p:cBhvr>
                                      <p:to>
                                        <p:strVal val="visible"/>
                                      </p:to>
                                    </p:set>
                                    <p:animEffect transition="in" filter="strips(downRight)">
                                      <p:cBhvr>
                                        <p:cTn id="17" dur="500"/>
                                        <p:tgtEl>
                                          <p:spTgt spid="22528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25285"/>
                                        </p:tgtEl>
                                        <p:attrNameLst>
                                          <p:attrName>style.visibility</p:attrName>
                                        </p:attrNameLst>
                                      </p:cBhvr>
                                      <p:to>
                                        <p:strVal val="visible"/>
                                      </p:to>
                                    </p:set>
                                    <p:animEffect transition="in" filter="strips(downRight)">
                                      <p:cBhvr>
                                        <p:cTn id="22" dur="500"/>
                                        <p:tgtEl>
                                          <p:spTgt spid="22528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25286"/>
                                        </p:tgtEl>
                                        <p:attrNameLst>
                                          <p:attrName>style.visibility</p:attrName>
                                        </p:attrNameLst>
                                      </p:cBhvr>
                                      <p:to>
                                        <p:strVal val="visible"/>
                                      </p:to>
                                    </p:set>
                                    <p:animEffect transition="in" filter="strips(downRight)">
                                      <p:cBhvr>
                                        <p:cTn id="27" dur="500"/>
                                        <p:tgtEl>
                                          <p:spTgt spid="225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bldLvl="0" animBg="1" autoUpdateAnimBg="0"/>
      <p:bldP spid="225283" grpId="0" bldLvl="0" animBg="1" autoUpdateAnimBg="0"/>
      <p:bldP spid="225284" grpId="0" bldLvl="0" animBg="1" autoUpdateAnimBg="0"/>
      <p:bldP spid="225285" grpId="0" bldLvl="0" animBg="1" autoUpdateAnimBg="0"/>
      <p:bldP spid="225286" grpId="0" bldLvl="0" animBg="1"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203672" y="0"/>
            <a:ext cx="7536679"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rPr>
              <a:t>First, </a:t>
            </a:r>
            <a:r>
              <a:rPr lang="zh-CN" altLang="en-US" sz="2400" b="1" dirty="0">
                <a:solidFill>
                  <a:srgbClr val="A50021"/>
                </a:solidFill>
                <a:latin typeface="Arial" panose="020B0604020202020204" pitchFamily="34" charset="0"/>
                <a:ea typeface="楷体_GB2312" pitchFamily="49" charset="-122"/>
                <a:cs typeface="Arial" panose="020B0604020202020204" pitchFamily="34" charset="0"/>
                <a:sym typeface="+mn-ea"/>
              </a:rPr>
              <a:t>modify the topological sort algorithm</a:t>
            </a:r>
            <a:r>
              <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rPr>
              <a:t>. Set a stack S to store vertices with zero in-degree, and another stack T to store the topological sequence of G.</a:t>
            </a:r>
            <a:endParaRPr lang="zh-CN" altLang="en-US" sz="2400" b="1" dirty="0">
              <a:solidFill>
                <a:srgbClr val="000099"/>
              </a:solidFill>
              <a:latin typeface="Arial" panose="020B0604020202020204" pitchFamily="34" charset="0"/>
              <a:ea typeface="楷体_GB2312" pitchFamily="49" charset="-122"/>
              <a:cs typeface="Arial" panose="020B0604020202020204" pitchFamily="34" charset="0"/>
              <a:sym typeface="+mn-ea"/>
            </a:endParaRPr>
          </a:p>
        </p:txBody>
      </p:sp>
      <p:sp>
        <p:nvSpPr>
          <p:cNvPr id="257027" name="Text Box 3"/>
          <p:cNvSpPr txBox="1">
            <a:spLocks noChangeArrowheads="1"/>
          </p:cNvSpPr>
          <p:nvPr/>
        </p:nvSpPr>
        <p:spPr bwMode="auto">
          <a:xfrm>
            <a:off x="87630" y="3241675"/>
            <a:ext cx="12286615" cy="2934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10000"/>
              </a:lnSpc>
            </a:pPr>
            <a:r>
              <a:rPr lang="en-US" altLang="zh-CN" dirty="0" err="1">
                <a:solidFill>
                  <a:srgbClr val="000099"/>
                </a:solidFill>
                <a:ea typeface="楷体_GB2312" pitchFamily="49" charset="-122"/>
              </a:rPr>
              <a:t>FindInDegree</a:t>
            </a:r>
            <a:r>
              <a:rPr lang="en-US" altLang="zh-CN" dirty="0">
                <a:solidFill>
                  <a:srgbClr val="000099"/>
                </a:solidFill>
                <a:ea typeface="楷体_GB2312" pitchFamily="49" charset="-122"/>
              </a:rPr>
              <a:t>(</a:t>
            </a:r>
            <a:r>
              <a:rPr lang="en-US" altLang="zh-CN" dirty="0" err="1">
                <a:solidFill>
                  <a:srgbClr val="000099"/>
                </a:solidFill>
                <a:ea typeface="楷体_GB2312" pitchFamily="49" charset="-122"/>
              </a:rPr>
              <a:t>G,indegree</a:t>
            </a:r>
            <a:r>
              <a:rPr lang="en-US" altLang="zh-CN" dirty="0">
                <a:solidFill>
                  <a:srgbClr val="000099"/>
                </a:solidFill>
                <a:ea typeface="楷体_GB2312" pitchFamily="49" charset="-122"/>
              </a:rPr>
              <a:t>);</a:t>
            </a:r>
            <a:endParaRPr lang="en-US" altLang="zh-CN" dirty="0">
              <a:solidFill>
                <a:srgbClr val="000099"/>
              </a:solidFill>
              <a:ea typeface="楷体_GB2312" pitchFamily="49" charset="-122"/>
            </a:endParaRPr>
          </a:p>
          <a:p>
            <a:pPr algn="l">
              <a:lnSpc>
                <a:spcPct val="110000"/>
              </a:lnSpc>
            </a:pPr>
            <a:r>
              <a:rPr lang="en-US" altLang="zh-CN" dirty="0">
                <a:solidFill>
                  <a:srgbClr val="0000FF"/>
                </a:solidFill>
                <a:ea typeface="楷体_GB2312" pitchFamily="49" charset="-122"/>
              </a:rPr>
              <a:t> </a:t>
            </a:r>
            <a:r>
              <a:rPr lang="en-US" altLang="zh-CN" b="1" dirty="0">
                <a:solidFill>
                  <a:srgbClr val="003300"/>
                </a:solidFill>
                <a:ea typeface="楷体_GB2312" pitchFamily="49" charset="-122"/>
              </a:rPr>
              <a:t>// </a:t>
            </a:r>
            <a:r>
              <a:rPr lang="en-US" altLang="zh-CN" sz="2000" b="1" dirty="0">
                <a:solidFill>
                  <a:srgbClr val="003300"/>
                </a:solidFill>
                <a:ea typeface="楷体_GB2312" pitchFamily="49" charset="-122"/>
                <a:sym typeface="+mn-ea"/>
              </a:rPr>
              <a:t>Calculate the in-degree of each vertex and store it in the indegree array.</a:t>
            </a:r>
            <a:endParaRPr lang="zh-CN" altLang="en-US" sz="2000" b="1" dirty="0">
              <a:solidFill>
                <a:srgbClr val="333300"/>
              </a:solidFill>
              <a:ea typeface="楷体_GB2312" pitchFamily="49" charset="-122"/>
            </a:endParaRPr>
          </a:p>
          <a:p>
            <a:pPr algn="l">
              <a:lnSpc>
                <a:spcPct val="110000"/>
              </a:lnSpc>
            </a:pPr>
            <a:r>
              <a:rPr lang="en-US" altLang="zh-CN" dirty="0" err="1">
                <a:solidFill>
                  <a:srgbClr val="000099"/>
                </a:solidFill>
              </a:rPr>
              <a:t>InitStack</a:t>
            </a:r>
            <a:r>
              <a:rPr lang="en-US" altLang="zh-CN" dirty="0">
                <a:solidFill>
                  <a:srgbClr val="000099"/>
                </a:solidFill>
              </a:rPr>
              <a:t>(S);</a:t>
            </a:r>
            <a:r>
              <a:rPr lang="en-US" altLang="zh-CN" dirty="0">
                <a:solidFill>
                  <a:srgbClr val="800000"/>
                </a:solidFill>
              </a:rPr>
              <a:t>      </a:t>
            </a:r>
            <a:r>
              <a:rPr lang="en-US" altLang="zh-CN" dirty="0" err="1">
                <a:solidFill>
                  <a:srgbClr val="FF0000"/>
                </a:solidFill>
              </a:rPr>
              <a:t>InitStack</a:t>
            </a:r>
            <a:r>
              <a:rPr lang="en-US" altLang="zh-CN" dirty="0">
                <a:solidFill>
                  <a:srgbClr val="FF0000"/>
                </a:solidFill>
              </a:rPr>
              <a:t>(T);</a:t>
            </a:r>
            <a:endParaRPr lang="en-US" altLang="zh-CN" dirty="0">
              <a:solidFill>
                <a:srgbClr val="FF0000"/>
              </a:solidFill>
            </a:endParaRPr>
          </a:p>
          <a:p>
            <a:pPr algn="l">
              <a:lnSpc>
                <a:spcPct val="110000"/>
              </a:lnSpc>
            </a:pPr>
            <a:r>
              <a:rPr lang="en-US" altLang="zh-CN" b="1" dirty="0">
                <a:solidFill>
                  <a:srgbClr val="000099"/>
                </a:solidFill>
              </a:rPr>
              <a:t>for</a:t>
            </a:r>
            <a:r>
              <a:rPr lang="en-US" altLang="zh-CN" dirty="0">
                <a:solidFill>
                  <a:srgbClr val="000099"/>
                </a:solidFill>
              </a:rPr>
              <a:t> ( </a:t>
            </a:r>
            <a:r>
              <a:rPr lang="en-US" altLang="zh-CN" dirty="0" err="1">
                <a:solidFill>
                  <a:srgbClr val="000099"/>
                </a:solidFill>
              </a:rPr>
              <a:t>i</a:t>
            </a:r>
            <a:r>
              <a:rPr lang="en-US" altLang="zh-CN" dirty="0">
                <a:solidFill>
                  <a:srgbClr val="000099"/>
                </a:solidFill>
              </a:rPr>
              <a:t>=0; </a:t>
            </a:r>
            <a:r>
              <a:rPr lang="en-US" altLang="zh-CN" dirty="0" err="1">
                <a:solidFill>
                  <a:srgbClr val="000099"/>
                </a:solidFill>
              </a:rPr>
              <a:t>i</a:t>
            </a:r>
            <a:r>
              <a:rPr lang="en-US" altLang="zh-CN" dirty="0">
                <a:solidFill>
                  <a:srgbClr val="000099"/>
                </a:solidFill>
              </a:rPr>
              <a:t>&lt;</a:t>
            </a:r>
            <a:r>
              <a:rPr lang="en-US" altLang="zh-CN" dirty="0" err="1">
                <a:solidFill>
                  <a:srgbClr val="000099"/>
                </a:solidFill>
              </a:rPr>
              <a:t>G.vexnum</a:t>
            </a:r>
            <a:r>
              <a:rPr lang="en-US" altLang="zh-CN" dirty="0">
                <a:solidFill>
                  <a:srgbClr val="000099"/>
                </a:solidFill>
              </a:rPr>
              <a:t>; ++</a:t>
            </a:r>
            <a:r>
              <a:rPr lang="en-US" altLang="zh-CN" dirty="0" err="1">
                <a:solidFill>
                  <a:srgbClr val="000099"/>
                </a:solidFill>
              </a:rPr>
              <a:t>i</a:t>
            </a:r>
            <a:r>
              <a:rPr lang="en-US" altLang="zh-CN" dirty="0">
                <a:solidFill>
                  <a:srgbClr val="000099"/>
                </a:solidFill>
              </a:rPr>
              <a:t>)</a:t>
            </a:r>
            <a:endParaRPr lang="en-US" altLang="zh-CN" dirty="0">
              <a:solidFill>
                <a:srgbClr val="000099"/>
              </a:solidFill>
            </a:endParaRPr>
          </a:p>
          <a:p>
            <a:pPr algn="l">
              <a:lnSpc>
                <a:spcPct val="110000"/>
              </a:lnSpc>
            </a:pPr>
            <a:r>
              <a:rPr lang="en-US" altLang="zh-CN" dirty="0">
                <a:solidFill>
                  <a:srgbClr val="0000FF"/>
                </a:solidFill>
              </a:rPr>
              <a:t>    </a:t>
            </a:r>
            <a:r>
              <a:rPr lang="en-US" altLang="zh-CN" dirty="0">
                <a:solidFill>
                  <a:srgbClr val="000099"/>
                </a:solidFill>
              </a:rPr>
              <a:t>if (!</a:t>
            </a:r>
            <a:r>
              <a:rPr lang="en-US" altLang="zh-CN" dirty="0" err="1">
                <a:solidFill>
                  <a:srgbClr val="000099"/>
                </a:solidFill>
              </a:rPr>
              <a:t>indegree</a:t>
            </a:r>
            <a:r>
              <a:rPr lang="en-US" altLang="zh-CN" dirty="0">
                <a:solidFill>
                  <a:srgbClr val="000099"/>
                </a:solidFill>
              </a:rPr>
              <a:t>[</a:t>
            </a:r>
            <a:r>
              <a:rPr lang="en-US" altLang="zh-CN" dirty="0" err="1">
                <a:solidFill>
                  <a:srgbClr val="000099"/>
                </a:solidFill>
              </a:rPr>
              <a:t>i</a:t>
            </a:r>
            <a:r>
              <a:rPr lang="en-US" altLang="zh-CN" dirty="0">
                <a:solidFill>
                  <a:srgbClr val="000099"/>
                </a:solidFill>
              </a:rPr>
              <a:t>])  Push(S, </a:t>
            </a:r>
            <a:r>
              <a:rPr lang="en-US" altLang="zh-CN" dirty="0" err="1">
                <a:solidFill>
                  <a:srgbClr val="000099"/>
                </a:solidFill>
              </a:rPr>
              <a:t>i</a:t>
            </a:r>
            <a:r>
              <a:rPr lang="en-US" altLang="zh-CN" dirty="0">
                <a:solidFill>
                  <a:srgbClr val="000099"/>
                </a:solidFill>
              </a:rPr>
              <a:t>);</a:t>
            </a:r>
            <a:endParaRPr lang="en-US" altLang="zh-CN" dirty="0">
              <a:solidFill>
                <a:srgbClr val="000099"/>
              </a:solidFill>
            </a:endParaRPr>
          </a:p>
          <a:p>
            <a:pPr algn="l">
              <a:lnSpc>
                <a:spcPct val="110000"/>
              </a:lnSpc>
            </a:pPr>
            <a:r>
              <a:rPr lang="en-US" altLang="zh-CN" dirty="0">
                <a:solidFill>
                  <a:srgbClr val="0000FF"/>
                </a:solidFill>
              </a:rPr>
              <a:t>      </a:t>
            </a:r>
            <a:r>
              <a:rPr lang="en-US" altLang="zh-CN" b="1" dirty="0">
                <a:solidFill>
                  <a:srgbClr val="003300"/>
                </a:solidFill>
                <a:ea typeface="楷体_GB2312" pitchFamily="49" charset="-122"/>
              </a:rPr>
              <a:t>// </a:t>
            </a:r>
            <a:r>
              <a:rPr lang="en-US" altLang="zh-CN" b="1" dirty="0">
                <a:solidFill>
                  <a:srgbClr val="003300"/>
                </a:solidFill>
                <a:ea typeface="楷体_GB2312" pitchFamily="49" charset="-122"/>
                <a:sym typeface="+mn-ea"/>
              </a:rPr>
              <a:t>Push vertex with zero degree into stack</a:t>
            </a:r>
            <a:endParaRPr lang="zh-CN" altLang="en-US" b="1" dirty="0">
              <a:solidFill>
                <a:srgbClr val="003300"/>
              </a:solidFill>
              <a:ea typeface="楷体_GB2312" pitchFamily="49" charset="-122"/>
            </a:endParaRPr>
          </a:p>
        </p:txBody>
      </p:sp>
      <p:sp>
        <p:nvSpPr>
          <p:cNvPr id="257028" name="Text Box 4"/>
          <p:cNvSpPr txBox="1">
            <a:spLocks noChangeArrowheads="1"/>
          </p:cNvSpPr>
          <p:nvPr/>
        </p:nvSpPr>
        <p:spPr bwMode="auto">
          <a:xfrm>
            <a:off x="228600" y="1600200"/>
            <a:ext cx="86868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600"/>
              </a:spcBef>
            </a:pPr>
            <a:r>
              <a:rPr lang="en-US" altLang="zh-CN" dirty="0" err="1">
                <a:solidFill>
                  <a:srgbClr val="000099"/>
                </a:solidFill>
                <a:ea typeface="楷体_GB2312" pitchFamily="49" charset="-122"/>
              </a:rPr>
              <a:t>StatusTopologicalOrder</a:t>
            </a:r>
            <a:r>
              <a:rPr lang="en-US" altLang="zh-CN" dirty="0">
                <a:solidFill>
                  <a:srgbClr val="000099"/>
                </a:solidFill>
                <a:ea typeface="楷体_GB2312" pitchFamily="49" charset="-122"/>
              </a:rPr>
              <a:t>(</a:t>
            </a:r>
            <a:r>
              <a:rPr lang="en-US" altLang="zh-CN" dirty="0" err="1">
                <a:solidFill>
                  <a:srgbClr val="000099"/>
                </a:solidFill>
                <a:ea typeface="楷体_GB2312" pitchFamily="49" charset="-122"/>
              </a:rPr>
              <a:t>ALGraph</a:t>
            </a:r>
            <a:r>
              <a:rPr lang="en-US" altLang="zh-CN" dirty="0">
                <a:solidFill>
                  <a:srgbClr val="000099"/>
                </a:solidFill>
                <a:ea typeface="楷体_GB2312" pitchFamily="49" charset="-122"/>
              </a:rPr>
              <a:t>  G, Stack  &amp;T) {</a:t>
            </a:r>
            <a:endParaRPr lang="en-US" altLang="zh-CN" dirty="0">
              <a:solidFill>
                <a:srgbClr val="000099"/>
              </a:solidFill>
              <a:ea typeface="楷体_GB2312" pitchFamily="49" charset="-122"/>
            </a:endParaRPr>
          </a:p>
          <a:p>
            <a:pPr>
              <a:spcBef>
                <a:spcPts val="600"/>
              </a:spcBef>
            </a:pPr>
            <a:r>
              <a:rPr lang="en-US" altLang="zh-CN" dirty="0">
                <a:solidFill>
                  <a:srgbClr val="000099"/>
                </a:solidFill>
                <a:ea typeface="楷体_GB2312" pitchFamily="49" charset="-122"/>
              </a:rPr>
              <a:t>    </a:t>
            </a:r>
            <a:r>
              <a:rPr lang="en-US" altLang="zh-CN" dirty="0">
                <a:solidFill>
                  <a:srgbClr val="333300"/>
                </a:solidFill>
                <a:ea typeface="楷体_GB2312" pitchFamily="49" charset="-122"/>
              </a:rPr>
              <a:t>//</a:t>
            </a:r>
            <a:r>
              <a:rPr lang="en-US" altLang="zh-CN" sz="2400" dirty="0">
                <a:solidFill>
                  <a:srgbClr val="333300"/>
                </a:solidFill>
                <a:ea typeface="楷体_GB2312" pitchFamily="49" charset="-122"/>
                <a:sym typeface="+mn-ea"/>
              </a:rPr>
              <a:t>The directed graph uses an adjacency list storage structure. If G has no cycles, it outputs a topological sequence of Gs vertices and returns OK; otherwise, it returns ERROR.</a:t>
            </a:r>
            <a:endParaRPr lang="en-US" altLang="zh-CN" sz="2400" b="1" dirty="0">
              <a:solidFill>
                <a:srgbClr val="333300"/>
              </a:solidFill>
              <a:latin typeface="楷体_GB2312" pitchFamily="49" charset="-122"/>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2"/>
          <p:cNvSpPr txBox="1">
            <a:spLocks noChangeArrowheads="1"/>
          </p:cNvSpPr>
          <p:nvPr/>
        </p:nvSpPr>
        <p:spPr bwMode="auto">
          <a:xfrm>
            <a:off x="152400" y="739262"/>
            <a:ext cx="8763000"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zh-CN" sz="2400" dirty="0">
                <a:solidFill>
                  <a:srgbClr val="000099"/>
                </a:solidFill>
              </a:rPr>
              <a:t>count=0;   </a:t>
            </a:r>
            <a:r>
              <a:rPr lang="en-US" altLang="zh-CN" sz="2400" dirty="0" err="1">
                <a:solidFill>
                  <a:srgbClr val="000099"/>
                </a:solidFill>
              </a:rPr>
              <a:t>ve</a:t>
            </a:r>
            <a:r>
              <a:rPr lang="en-US" altLang="zh-CN" sz="2400" dirty="0">
                <a:solidFill>
                  <a:srgbClr val="000099"/>
                </a:solidFill>
              </a:rPr>
              <a:t>[0..G.vexnum-1]=0; </a:t>
            </a:r>
            <a:r>
              <a:rPr lang="en-US" altLang="zh-CN" sz="2400" b="1" dirty="0">
                <a:solidFill>
                  <a:srgbClr val="003300"/>
                </a:solidFill>
                <a:ea typeface="楷体_GB2312" pitchFamily="49" charset="-122"/>
              </a:rPr>
              <a:t>// </a:t>
            </a:r>
            <a:r>
              <a:rPr lang="en-US" altLang="zh-CN" sz="2000" b="1" dirty="0">
                <a:solidFill>
                  <a:srgbClr val="003300"/>
                </a:solidFill>
                <a:ea typeface="楷体_GB2312" pitchFamily="49" charset="-122"/>
                <a:sym typeface="+mn-ea"/>
              </a:rPr>
              <a:t>Count the output vertices</a:t>
            </a:r>
            <a:endParaRPr lang="zh-CN" altLang="en-US" sz="2400" b="1" dirty="0">
              <a:solidFill>
                <a:srgbClr val="003300"/>
              </a:solidFill>
              <a:ea typeface="楷体_GB2312" pitchFamily="49" charset="-122"/>
            </a:endParaRPr>
          </a:p>
          <a:p>
            <a:pPr>
              <a:lnSpc>
                <a:spcPct val="110000"/>
              </a:lnSpc>
            </a:pPr>
            <a:r>
              <a:rPr lang="en-US" altLang="zh-CN" sz="2400" b="1" dirty="0">
                <a:solidFill>
                  <a:srgbClr val="000099"/>
                </a:solidFill>
                <a:ea typeface="楷体_GB2312" pitchFamily="49" charset="-122"/>
              </a:rPr>
              <a:t>while</a:t>
            </a:r>
            <a:r>
              <a:rPr lang="en-US" altLang="zh-CN" sz="2400" dirty="0">
                <a:solidFill>
                  <a:srgbClr val="000099"/>
                </a:solidFill>
                <a:ea typeface="楷体_GB2312" pitchFamily="49" charset="-122"/>
              </a:rPr>
              <a:t> (!</a:t>
            </a:r>
            <a:r>
              <a:rPr lang="en-US" altLang="zh-CN" sz="2400" dirty="0" err="1">
                <a:solidFill>
                  <a:srgbClr val="000099"/>
                </a:solidFill>
                <a:ea typeface="楷体_GB2312" pitchFamily="49" charset="-122"/>
              </a:rPr>
              <a:t>EmptyStack</a:t>
            </a:r>
            <a:r>
              <a:rPr lang="en-US" altLang="zh-CN" sz="2400" dirty="0">
                <a:solidFill>
                  <a:srgbClr val="000099"/>
                </a:solidFill>
                <a:ea typeface="楷体_GB2312" pitchFamily="49" charset="-122"/>
              </a:rPr>
              <a:t>(S)) {</a:t>
            </a:r>
            <a:endParaRPr lang="en-US" altLang="zh-CN" sz="2400" dirty="0">
              <a:solidFill>
                <a:srgbClr val="000099"/>
              </a:solidFill>
              <a:ea typeface="楷体_GB2312" pitchFamily="49" charset="-122"/>
            </a:endParaRPr>
          </a:p>
          <a:p>
            <a:pPr>
              <a:lnSpc>
                <a:spcPct val="110000"/>
              </a:lnSpc>
            </a:pPr>
            <a:r>
              <a:rPr lang="en-US" altLang="zh-CN" sz="2400" dirty="0">
                <a:solidFill>
                  <a:srgbClr val="000099"/>
                </a:solidFill>
                <a:ea typeface="楷体_GB2312" pitchFamily="49" charset="-122"/>
              </a:rPr>
              <a:t>    Pop(S, j);</a:t>
            </a:r>
            <a:r>
              <a:rPr lang="en-US" altLang="zh-CN" sz="2400" dirty="0">
                <a:solidFill>
                  <a:srgbClr val="800000"/>
                </a:solidFill>
                <a:ea typeface="楷体_GB2312" pitchFamily="49" charset="-122"/>
              </a:rPr>
              <a:t>    </a:t>
            </a:r>
            <a:r>
              <a:rPr lang="en-US" altLang="zh-CN" sz="2400" dirty="0">
                <a:solidFill>
                  <a:srgbClr val="000099"/>
                </a:solidFill>
                <a:ea typeface="楷体_GB2312" pitchFamily="49" charset="-122"/>
              </a:rPr>
              <a:t> </a:t>
            </a:r>
            <a:r>
              <a:rPr lang="en-US" altLang="zh-CN" sz="2400" dirty="0">
                <a:solidFill>
                  <a:srgbClr val="FF0000"/>
                </a:solidFill>
                <a:ea typeface="楷体_GB2312" pitchFamily="49" charset="-122"/>
              </a:rPr>
              <a:t>Push(T, j);</a:t>
            </a:r>
            <a:r>
              <a:rPr lang="en-US" altLang="zh-CN" sz="2400" dirty="0">
                <a:solidFill>
                  <a:srgbClr val="000099"/>
                </a:solidFill>
                <a:ea typeface="楷体_GB2312" pitchFamily="49" charset="-122"/>
              </a:rPr>
              <a:t>    ++count; </a:t>
            </a:r>
            <a:r>
              <a:rPr lang="en-US" altLang="zh-CN" sz="1600" b="1" dirty="0">
                <a:solidFill>
                  <a:srgbClr val="003300"/>
                </a:solidFill>
                <a:ea typeface="楷体_GB2312" pitchFamily="49" charset="-122"/>
              </a:rPr>
              <a:t>//</a:t>
            </a:r>
            <a:r>
              <a:rPr lang="en-US" altLang="zh-CN" sz="1600" b="1" dirty="0">
                <a:solidFill>
                  <a:srgbClr val="003300"/>
                </a:solidFill>
                <a:ea typeface="楷体_GB2312" pitchFamily="49" charset="-122"/>
                <a:sym typeface="+mn-ea"/>
              </a:rPr>
              <a:t>j vertex is pushed into T stack</a:t>
            </a:r>
            <a:endParaRPr lang="zh-CN" altLang="en-US" sz="2400" b="1" dirty="0">
              <a:solidFill>
                <a:schemeClr val="tx2"/>
              </a:solidFill>
              <a:ea typeface="楷体_GB2312" pitchFamily="49" charset="-122"/>
            </a:endParaRPr>
          </a:p>
          <a:p>
            <a:pPr>
              <a:lnSpc>
                <a:spcPct val="110000"/>
              </a:lnSpc>
            </a:pPr>
            <a:r>
              <a:rPr lang="zh-CN" altLang="en-US" sz="2400" dirty="0">
                <a:solidFill>
                  <a:srgbClr val="000099"/>
                </a:solidFill>
                <a:ea typeface="楷体_GB2312" pitchFamily="49" charset="-122"/>
              </a:rPr>
              <a:t>    </a:t>
            </a:r>
            <a:r>
              <a:rPr lang="en-US" altLang="zh-CN" sz="2400" b="1" dirty="0">
                <a:solidFill>
                  <a:srgbClr val="000099"/>
                </a:solidFill>
                <a:ea typeface="楷体_GB2312" pitchFamily="49" charset="-122"/>
              </a:rPr>
              <a:t>for</a:t>
            </a:r>
            <a:r>
              <a:rPr lang="en-US" altLang="zh-CN" sz="2400" dirty="0">
                <a:solidFill>
                  <a:srgbClr val="000099"/>
                </a:solidFill>
                <a:ea typeface="楷体_GB2312" pitchFamily="49" charset="-122"/>
              </a:rPr>
              <a:t> (</a:t>
            </a:r>
            <a:r>
              <a:rPr lang="en-US" altLang="zh-CN" sz="2400" dirty="0">
                <a:solidFill>
                  <a:srgbClr val="990000"/>
                </a:solidFill>
                <a:ea typeface="楷体_GB2312" pitchFamily="49" charset="-122"/>
              </a:rPr>
              <a:t>p=</a:t>
            </a:r>
            <a:r>
              <a:rPr lang="en-US" altLang="zh-CN" sz="2400" dirty="0" err="1">
                <a:solidFill>
                  <a:srgbClr val="990000"/>
                </a:solidFill>
                <a:ea typeface="楷体_GB2312" pitchFamily="49" charset="-122"/>
              </a:rPr>
              <a:t>G.vertices</a:t>
            </a:r>
            <a:r>
              <a:rPr lang="en-US" altLang="zh-CN" sz="2400" dirty="0">
                <a:solidFill>
                  <a:srgbClr val="990000"/>
                </a:solidFill>
                <a:ea typeface="楷体_GB2312" pitchFamily="49" charset="-122"/>
              </a:rPr>
              <a:t>[j].</a:t>
            </a:r>
            <a:r>
              <a:rPr lang="en-US" altLang="zh-CN" sz="2400" dirty="0" err="1">
                <a:solidFill>
                  <a:srgbClr val="990000"/>
                </a:solidFill>
                <a:ea typeface="楷体_GB2312" pitchFamily="49" charset="-122"/>
              </a:rPr>
              <a:t>firstarc</a:t>
            </a:r>
            <a:r>
              <a:rPr lang="en-US" altLang="zh-CN" sz="2400" dirty="0">
                <a:solidFill>
                  <a:srgbClr val="000099"/>
                </a:solidFill>
                <a:ea typeface="楷体_GB2312" pitchFamily="49" charset="-122"/>
              </a:rPr>
              <a:t>; p; </a:t>
            </a:r>
            <a:r>
              <a:rPr lang="en-US" altLang="zh-CN" sz="2400" dirty="0">
                <a:solidFill>
                  <a:srgbClr val="990000"/>
                </a:solidFill>
                <a:ea typeface="楷体_GB2312" pitchFamily="49" charset="-122"/>
              </a:rPr>
              <a:t>p=p-&gt;</a:t>
            </a:r>
            <a:r>
              <a:rPr lang="en-US" altLang="zh-CN" sz="2400" dirty="0" err="1">
                <a:solidFill>
                  <a:srgbClr val="990000"/>
                </a:solidFill>
                <a:ea typeface="楷体_GB2312" pitchFamily="49" charset="-122"/>
              </a:rPr>
              <a:t>nextarc</a:t>
            </a:r>
            <a:r>
              <a:rPr lang="en-US" altLang="zh-CN" sz="2400" dirty="0">
                <a:solidFill>
                  <a:srgbClr val="000099"/>
                </a:solidFill>
                <a:ea typeface="楷体_GB2312" pitchFamily="49" charset="-122"/>
              </a:rPr>
              <a:t>)</a:t>
            </a:r>
            <a:endParaRPr lang="en-US" altLang="zh-CN" sz="2400" dirty="0">
              <a:solidFill>
                <a:srgbClr val="000099"/>
              </a:solidFill>
              <a:ea typeface="楷体_GB2312" pitchFamily="49" charset="-122"/>
            </a:endParaRPr>
          </a:p>
          <a:p>
            <a:pPr>
              <a:lnSpc>
                <a:spcPct val="110000"/>
              </a:lnSpc>
            </a:pPr>
            <a:r>
              <a:rPr lang="en-US" altLang="zh-CN" sz="2400" dirty="0">
                <a:solidFill>
                  <a:srgbClr val="000099"/>
                </a:solidFill>
                <a:ea typeface="楷体_GB2312" pitchFamily="49" charset="-122"/>
              </a:rPr>
              <a:t>       {</a:t>
            </a:r>
            <a:r>
              <a:rPr lang="en-US" altLang="zh-CN" sz="2400" dirty="0">
                <a:solidFill>
                  <a:srgbClr val="990000"/>
                </a:solidFill>
                <a:ea typeface="楷体_GB2312" pitchFamily="49" charset="-122"/>
              </a:rPr>
              <a:t>k=p-&gt;</a:t>
            </a:r>
            <a:r>
              <a:rPr lang="en-US" altLang="zh-CN" sz="2400" dirty="0" err="1">
                <a:solidFill>
                  <a:srgbClr val="990000"/>
                </a:solidFill>
                <a:ea typeface="楷体_GB2312" pitchFamily="49" charset="-122"/>
              </a:rPr>
              <a:t>adjvex</a:t>
            </a:r>
            <a:r>
              <a:rPr lang="en-US" altLang="zh-CN" sz="2400" dirty="0">
                <a:solidFill>
                  <a:srgbClr val="000099"/>
                </a:solidFill>
                <a:ea typeface="楷体_GB2312" pitchFamily="49" charset="-122"/>
              </a:rPr>
              <a:t>;  --</a:t>
            </a:r>
            <a:r>
              <a:rPr lang="en-US" altLang="zh-CN" sz="2400" dirty="0" err="1">
                <a:solidFill>
                  <a:srgbClr val="000099"/>
                </a:solidFill>
                <a:ea typeface="楷体_GB2312" pitchFamily="49" charset="-122"/>
              </a:rPr>
              <a:t>indegree</a:t>
            </a:r>
            <a:r>
              <a:rPr lang="en-US" altLang="zh-CN" sz="2400" dirty="0">
                <a:solidFill>
                  <a:srgbClr val="000099"/>
                </a:solidFill>
                <a:ea typeface="楷体_GB2312" pitchFamily="49" charset="-122"/>
              </a:rPr>
              <a:t>[k]; </a:t>
            </a:r>
            <a:endParaRPr lang="en-US" altLang="zh-CN" sz="2400" dirty="0">
              <a:solidFill>
                <a:srgbClr val="000099"/>
              </a:solidFill>
              <a:ea typeface="楷体_GB2312" pitchFamily="49" charset="-122"/>
            </a:endParaRPr>
          </a:p>
          <a:p>
            <a:pPr>
              <a:lnSpc>
                <a:spcPct val="110000"/>
              </a:lnSpc>
            </a:pPr>
            <a:r>
              <a:rPr lang="en-US" altLang="zh-CN" sz="2000" b="1" dirty="0">
                <a:solidFill>
                  <a:srgbClr val="003300"/>
                </a:solidFill>
                <a:ea typeface="楷体_GB2312" pitchFamily="49" charset="-122"/>
              </a:rPr>
              <a:t>//</a:t>
            </a:r>
            <a:r>
              <a:rPr lang="en-US" altLang="zh-CN" sz="1800" b="1" dirty="0">
                <a:solidFill>
                  <a:srgbClr val="003300"/>
                </a:solidFill>
                <a:ea typeface="楷体_GB2312" pitchFamily="49" charset="-122"/>
                <a:sym typeface="+mn-ea"/>
              </a:rPr>
              <a:t>Decrease the indegree of the arcs head vertex by 1</a:t>
            </a:r>
            <a:endParaRPr lang="en-US" altLang="zh-CN" sz="2400" b="1" dirty="0">
              <a:solidFill>
                <a:srgbClr val="003300"/>
              </a:solidFill>
              <a:ea typeface="楷体_GB2312" pitchFamily="49" charset="-122"/>
            </a:endParaRPr>
          </a:p>
          <a:p>
            <a:pPr>
              <a:lnSpc>
                <a:spcPct val="110000"/>
              </a:lnSpc>
            </a:pPr>
            <a:r>
              <a:rPr lang="en-US" altLang="zh-CN" sz="2400" dirty="0">
                <a:solidFill>
                  <a:srgbClr val="000099"/>
                </a:solidFill>
                <a:ea typeface="楷体_GB2312" pitchFamily="49" charset="-122"/>
              </a:rPr>
              <a:t>   </a:t>
            </a:r>
            <a:r>
              <a:rPr lang="en-US" altLang="zh-CN" sz="2400" b="1" dirty="0">
                <a:solidFill>
                  <a:srgbClr val="000099"/>
                </a:solidFill>
                <a:ea typeface="楷体_GB2312" pitchFamily="49" charset="-122"/>
              </a:rPr>
              <a:t>       </a:t>
            </a:r>
            <a:r>
              <a:rPr lang="en-US" altLang="zh-CN" sz="2400" dirty="0">
                <a:solidFill>
                  <a:srgbClr val="000099"/>
                </a:solidFill>
                <a:ea typeface="楷体_GB2312" pitchFamily="49" charset="-122"/>
              </a:rPr>
              <a:t>if (!</a:t>
            </a:r>
            <a:r>
              <a:rPr lang="en-US" altLang="zh-CN" sz="2400" dirty="0" err="1">
                <a:solidFill>
                  <a:srgbClr val="000099"/>
                </a:solidFill>
                <a:ea typeface="楷体_GB2312" pitchFamily="49" charset="-122"/>
              </a:rPr>
              <a:t>indegree</a:t>
            </a:r>
            <a:r>
              <a:rPr lang="en-US" altLang="zh-CN" sz="2400" dirty="0">
                <a:solidFill>
                  <a:srgbClr val="000099"/>
                </a:solidFill>
                <a:ea typeface="楷体_GB2312" pitchFamily="49" charset="-122"/>
              </a:rPr>
              <a:t>[k])  Push(S, k);  </a:t>
            </a:r>
            <a:endParaRPr lang="en-US" altLang="zh-CN" sz="2400" dirty="0">
              <a:solidFill>
                <a:srgbClr val="000099"/>
              </a:solidFill>
              <a:ea typeface="楷体_GB2312" pitchFamily="49" charset="-122"/>
            </a:endParaRPr>
          </a:p>
          <a:p>
            <a:pPr>
              <a:lnSpc>
                <a:spcPct val="110000"/>
              </a:lnSpc>
            </a:pPr>
            <a:r>
              <a:rPr lang="en-US" altLang="zh-CN" sz="2400" dirty="0">
                <a:solidFill>
                  <a:srgbClr val="000099"/>
                </a:solidFill>
                <a:ea typeface="楷体_GB2312" pitchFamily="49" charset="-122"/>
              </a:rPr>
              <a:t>                           </a:t>
            </a:r>
            <a:r>
              <a:rPr lang="en-US" altLang="zh-CN" sz="2400" b="1" dirty="0">
                <a:solidFill>
                  <a:srgbClr val="003300"/>
                </a:solidFill>
                <a:ea typeface="楷体_GB2312" pitchFamily="49" charset="-122"/>
              </a:rPr>
              <a:t>// </a:t>
            </a:r>
            <a:r>
              <a:rPr lang="en-US" altLang="zh-CN" sz="1800" b="1" dirty="0">
                <a:solidFill>
                  <a:srgbClr val="003300"/>
                </a:solidFill>
                <a:ea typeface="楷体_GB2312" pitchFamily="49" charset="-122"/>
                <a:sym typeface="+mn-ea"/>
              </a:rPr>
              <a:t>Push a vertex with zero incoming edges into the stack</a:t>
            </a:r>
            <a:endParaRPr lang="zh-CN" altLang="en-US" sz="2400" b="1" dirty="0">
              <a:solidFill>
                <a:srgbClr val="003300"/>
              </a:solidFill>
              <a:ea typeface="楷体_GB2312" pitchFamily="49" charset="-122"/>
            </a:endParaRPr>
          </a:p>
          <a:p>
            <a:pPr>
              <a:lnSpc>
                <a:spcPct val="110000"/>
              </a:lnSpc>
            </a:pPr>
            <a:r>
              <a:rPr lang="zh-CN" altLang="en-US" sz="2000" b="1" dirty="0">
                <a:solidFill>
                  <a:srgbClr val="003300"/>
                </a:solidFill>
                <a:ea typeface="楷体_GB2312" pitchFamily="49" charset="-122"/>
              </a:rPr>
              <a:t>             </a:t>
            </a:r>
            <a:r>
              <a:rPr lang="en-US" altLang="zh-CN" sz="2000" b="1" dirty="0">
                <a:solidFill>
                  <a:srgbClr val="333399"/>
                </a:solidFill>
                <a:ea typeface="楷体_GB2312" pitchFamily="49" charset="-122"/>
              </a:rPr>
              <a:t>if ((</a:t>
            </a:r>
            <a:r>
              <a:rPr lang="en-US" altLang="zh-CN" sz="2000" b="1" dirty="0" err="1">
                <a:solidFill>
                  <a:srgbClr val="333399"/>
                </a:solidFill>
                <a:ea typeface="楷体_GB2312" pitchFamily="49" charset="-122"/>
              </a:rPr>
              <a:t>ve</a:t>
            </a:r>
            <a:r>
              <a:rPr lang="en-US" altLang="zh-CN" sz="2000" b="1" dirty="0">
                <a:solidFill>
                  <a:srgbClr val="333399"/>
                </a:solidFill>
                <a:ea typeface="楷体_GB2312" pitchFamily="49" charset="-122"/>
              </a:rPr>
              <a:t>[j]+ *(p-&gt;info))&gt;</a:t>
            </a:r>
            <a:r>
              <a:rPr lang="en-US" altLang="zh-CN" sz="2000" b="1" dirty="0" err="1">
                <a:solidFill>
                  <a:srgbClr val="333399"/>
                </a:solidFill>
                <a:ea typeface="楷体_GB2312" pitchFamily="49" charset="-122"/>
              </a:rPr>
              <a:t>ve</a:t>
            </a:r>
            <a:r>
              <a:rPr lang="en-US" altLang="zh-CN" sz="2000" b="1" dirty="0">
                <a:solidFill>
                  <a:srgbClr val="333399"/>
                </a:solidFill>
                <a:ea typeface="楷体_GB2312" pitchFamily="49" charset="-122"/>
              </a:rPr>
              <a:t>[k])     </a:t>
            </a:r>
            <a:r>
              <a:rPr lang="en-US" altLang="zh-CN" sz="2000" b="1" dirty="0" err="1">
                <a:solidFill>
                  <a:srgbClr val="FF0000"/>
                </a:solidFill>
                <a:ea typeface="楷体_GB2312" pitchFamily="49" charset="-122"/>
              </a:rPr>
              <a:t>ve</a:t>
            </a:r>
            <a:r>
              <a:rPr lang="en-US" altLang="zh-CN" sz="2000" b="1" dirty="0">
                <a:solidFill>
                  <a:srgbClr val="FF0000"/>
                </a:solidFill>
                <a:ea typeface="楷体_GB2312" pitchFamily="49" charset="-122"/>
              </a:rPr>
              <a:t>[k]=</a:t>
            </a:r>
            <a:r>
              <a:rPr lang="en-US" altLang="zh-CN" sz="2000" b="1" dirty="0" err="1">
                <a:solidFill>
                  <a:srgbClr val="FF0000"/>
                </a:solidFill>
                <a:ea typeface="楷体_GB2312" pitchFamily="49" charset="-122"/>
              </a:rPr>
              <a:t>ve</a:t>
            </a:r>
            <a:r>
              <a:rPr lang="en-US" altLang="zh-CN" sz="2000" b="1" dirty="0">
                <a:solidFill>
                  <a:srgbClr val="FF0000"/>
                </a:solidFill>
                <a:ea typeface="楷体_GB2312" pitchFamily="49" charset="-122"/>
              </a:rPr>
              <a:t>[j]+ *(p-&gt;info);</a:t>
            </a:r>
            <a:endParaRPr lang="en-US" altLang="zh-CN" sz="2000" b="1" dirty="0">
              <a:solidFill>
                <a:srgbClr val="FF0000"/>
              </a:solidFill>
              <a:ea typeface="楷体_GB2312" pitchFamily="49" charset="-122"/>
            </a:endParaRPr>
          </a:p>
          <a:p>
            <a:pPr>
              <a:lnSpc>
                <a:spcPct val="90000"/>
              </a:lnSpc>
            </a:pPr>
            <a:r>
              <a:rPr lang="en-US" altLang="zh-CN" sz="2400" dirty="0">
                <a:solidFill>
                  <a:srgbClr val="333399"/>
                </a:solidFill>
                <a:ea typeface="楷体_GB2312" pitchFamily="49" charset="-122"/>
              </a:rPr>
              <a:t>       }</a:t>
            </a:r>
            <a:endParaRPr lang="en-US" altLang="zh-CN" sz="2400" dirty="0">
              <a:solidFill>
                <a:srgbClr val="333399"/>
              </a:solidFill>
              <a:ea typeface="楷体_GB2312" pitchFamily="49" charset="-122"/>
            </a:endParaRPr>
          </a:p>
          <a:p>
            <a:pPr>
              <a:lnSpc>
                <a:spcPct val="90000"/>
              </a:lnSpc>
            </a:pPr>
            <a:r>
              <a:rPr lang="en-US" altLang="zh-CN" sz="2400" dirty="0">
                <a:solidFill>
                  <a:srgbClr val="000099"/>
                </a:solidFill>
                <a:ea typeface="楷体_GB2312" pitchFamily="49" charset="-122"/>
              </a:rPr>
              <a:t>   }</a:t>
            </a:r>
            <a:endParaRPr lang="en-US" altLang="zh-CN" sz="2400" dirty="0">
              <a:solidFill>
                <a:srgbClr val="000099"/>
              </a:solidFill>
              <a:ea typeface="楷体_GB2312" pitchFamily="49" charset="-122"/>
            </a:endParaRPr>
          </a:p>
          <a:p>
            <a:pPr>
              <a:lnSpc>
                <a:spcPct val="110000"/>
              </a:lnSpc>
            </a:pPr>
            <a:r>
              <a:rPr lang="en-US" altLang="zh-CN" sz="2400" b="1" dirty="0">
                <a:solidFill>
                  <a:srgbClr val="000099"/>
                </a:solidFill>
                <a:ea typeface="楷体_GB2312" pitchFamily="49" charset="-122"/>
              </a:rPr>
              <a:t>if</a:t>
            </a:r>
            <a:r>
              <a:rPr lang="en-US" altLang="zh-CN" sz="2400" dirty="0">
                <a:solidFill>
                  <a:srgbClr val="000099"/>
                </a:solidFill>
                <a:ea typeface="楷体_GB2312" pitchFamily="49" charset="-122"/>
              </a:rPr>
              <a:t> (count&lt;</a:t>
            </a:r>
            <a:r>
              <a:rPr lang="en-US" altLang="zh-CN" sz="2400" dirty="0" err="1">
                <a:solidFill>
                  <a:srgbClr val="000099"/>
                </a:solidFill>
                <a:ea typeface="楷体_GB2312" pitchFamily="49" charset="-122"/>
              </a:rPr>
              <a:t>G.vexnum</a:t>
            </a:r>
            <a:r>
              <a:rPr lang="en-US" altLang="zh-CN" sz="2400" dirty="0">
                <a:solidFill>
                  <a:srgbClr val="000099"/>
                </a:solidFill>
                <a:ea typeface="楷体_GB2312" pitchFamily="49" charset="-122"/>
              </a:rPr>
              <a:t>) </a:t>
            </a:r>
            <a:r>
              <a:rPr lang="en-US" altLang="zh-CN" sz="2400" b="1" dirty="0" err="1">
                <a:solidFill>
                  <a:srgbClr val="000099"/>
                </a:solidFill>
                <a:ea typeface="楷体_GB2312" pitchFamily="49" charset="-122"/>
              </a:rPr>
              <a:t>printf</a:t>
            </a:r>
            <a:r>
              <a:rPr lang="en-US" altLang="zh-CN" sz="2400" dirty="0">
                <a:solidFill>
                  <a:srgbClr val="000099"/>
                </a:solidFill>
                <a:ea typeface="楷体_GB2312" pitchFamily="49" charset="-122"/>
              </a:rPr>
              <a:t>(</a:t>
            </a:r>
            <a:r>
              <a:rPr lang="en-US" altLang="zh-CN" sz="2400" b="1" dirty="0">
                <a:solidFill>
                  <a:srgbClr val="000099"/>
                </a:solidFill>
                <a:ea typeface="楷体_GB2312" pitchFamily="49" charset="-122"/>
              </a:rPr>
              <a:t>“</a:t>
            </a:r>
            <a:r>
              <a:rPr lang="en-US" altLang="zh-CN" sz="2400" b="1" dirty="0">
                <a:solidFill>
                  <a:srgbClr val="000099"/>
                </a:solidFill>
                <a:ea typeface="楷体_GB2312" pitchFamily="49" charset="-122"/>
                <a:sym typeface="+mn-ea"/>
              </a:rPr>
              <a:t>Graph contains a loop</a:t>
            </a:r>
            <a:r>
              <a:rPr lang="en-US" altLang="zh-CN" sz="2400" b="1" dirty="0">
                <a:solidFill>
                  <a:srgbClr val="000099"/>
                </a:solidFill>
                <a:ea typeface="楷体_GB2312" pitchFamily="49" charset="-122"/>
              </a:rPr>
              <a:t>ERROR</a:t>
            </a:r>
            <a:r>
              <a:rPr lang="en-US" altLang="zh-CN" sz="2400" dirty="0">
                <a:solidFill>
                  <a:srgbClr val="000099"/>
                </a:solidFill>
                <a:ea typeface="楷体_GB2312" pitchFamily="49" charset="-122"/>
              </a:rPr>
              <a:t>”)</a:t>
            </a:r>
            <a:endParaRPr lang="en-US" altLang="zh-CN" sz="2400" dirty="0">
              <a:solidFill>
                <a:srgbClr val="000099"/>
              </a:solidFill>
              <a:ea typeface="楷体_GB2312" pitchFamily="49" charset="-122"/>
            </a:endParaRPr>
          </a:p>
        </p:txBody>
      </p:sp>
      <p:sp>
        <p:nvSpPr>
          <p:cNvPr id="258051" name="Rectangle 3"/>
          <p:cNvSpPr>
            <a:spLocks noChangeArrowheads="1"/>
          </p:cNvSpPr>
          <p:nvPr/>
        </p:nvSpPr>
        <p:spPr bwMode="auto">
          <a:xfrm>
            <a:off x="152400" y="5372735"/>
            <a:ext cx="315658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10000"/>
              </a:lnSpc>
            </a:pPr>
            <a:r>
              <a:rPr lang="en-US" altLang="zh-CN">
                <a:solidFill>
                  <a:srgbClr val="000099"/>
                </a:solidFill>
                <a:ea typeface="楷体_GB2312" pitchFamily="49" charset="-122"/>
              </a:rPr>
              <a:t>}// TopologicalOrder</a:t>
            </a:r>
            <a:endParaRPr lang="en-US" altLang="zh-CN">
              <a:solidFill>
                <a:srgbClr val="000099"/>
              </a:solidFill>
              <a:ea typeface="楷体_GB2312" pitchFamily="49" charset="-122"/>
            </a:endParaRPr>
          </a:p>
        </p:txBody>
      </p:sp>
      <p:grpSp>
        <p:nvGrpSpPr>
          <p:cNvPr id="258058" name="Group 10"/>
          <p:cNvGrpSpPr/>
          <p:nvPr/>
        </p:nvGrpSpPr>
        <p:grpSpPr bwMode="auto">
          <a:xfrm>
            <a:off x="6516469" y="2707273"/>
            <a:ext cx="1676400" cy="725487"/>
            <a:chOff x="4512" y="1703"/>
            <a:chExt cx="1056" cy="457"/>
          </a:xfrm>
        </p:grpSpPr>
        <p:sp>
          <p:nvSpPr>
            <p:cNvPr id="258054" name="Oval 6"/>
            <p:cNvSpPr>
              <a:spLocks noChangeArrowheads="1"/>
            </p:cNvSpPr>
            <p:nvPr/>
          </p:nvSpPr>
          <p:spPr bwMode="auto">
            <a:xfrm>
              <a:off x="4512" y="1872"/>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j</a:t>
              </a:r>
              <a:endParaRPr lang="en-US" altLang="zh-CN" sz="3200"/>
            </a:p>
          </p:txBody>
        </p:sp>
        <p:sp>
          <p:nvSpPr>
            <p:cNvPr id="258055" name="Oval 7"/>
            <p:cNvSpPr>
              <a:spLocks noChangeArrowheads="1"/>
            </p:cNvSpPr>
            <p:nvPr/>
          </p:nvSpPr>
          <p:spPr bwMode="auto">
            <a:xfrm>
              <a:off x="5280" y="1872"/>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k</a:t>
              </a:r>
              <a:endParaRPr lang="en-US" altLang="zh-CN" sz="3200"/>
            </a:p>
          </p:txBody>
        </p:sp>
        <p:sp>
          <p:nvSpPr>
            <p:cNvPr id="258056" name="Line 8"/>
            <p:cNvSpPr>
              <a:spLocks noChangeShapeType="1"/>
            </p:cNvSpPr>
            <p:nvPr/>
          </p:nvSpPr>
          <p:spPr bwMode="auto">
            <a:xfrm>
              <a:off x="4800" y="2016"/>
              <a:ext cx="48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8057" name="Rectangle 9"/>
            <p:cNvSpPr>
              <a:spLocks noChangeArrowheads="1"/>
            </p:cNvSpPr>
            <p:nvPr/>
          </p:nvSpPr>
          <p:spPr bwMode="auto">
            <a:xfrm>
              <a:off x="4967" y="1703"/>
              <a:ext cx="1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a typeface="楷体_GB2312" pitchFamily="49" charset="-122"/>
                </a:rPr>
                <a:t>i</a:t>
              </a:r>
              <a:endParaRPr lang="en-US" altLang="zh-CN" sz="3200" b="1">
                <a:ea typeface="楷体_GB2312" pitchFamily="49" charset="-122"/>
              </a:endParaRPr>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258050"/>
                                        </p:tgtEl>
                                        <p:attrNameLst>
                                          <p:attrName>style.visibility</p:attrName>
                                        </p:attrNameLst>
                                      </p:cBhvr>
                                      <p:to>
                                        <p:strVal val="visible"/>
                                      </p:to>
                                    </p:set>
                                    <p:animEffect transition="in" filter="strips(upLeft)">
                                      <p:cBhvr>
                                        <p:cTn id="7" dur="500"/>
                                        <p:tgtEl>
                                          <p:spTgt spid="258050"/>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58051"/>
                                        </p:tgtEl>
                                        <p:attrNameLst>
                                          <p:attrName>style.visibility</p:attrName>
                                        </p:attrNameLst>
                                      </p:cBhvr>
                                      <p:to>
                                        <p:strVal val="visible"/>
                                      </p:to>
                                    </p:set>
                                    <p:anim calcmode="lin" valueType="num">
                                      <p:cBhvr additive="base">
                                        <p:cTn id="11" dur="500" fill="hold"/>
                                        <p:tgtEl>
                                          <p:spTgt spid="258051"/>
                                        </p:tgtEl>
                                        <p:attrNameLst>
                                          <p:attrName>ppt_x</p:attrName>
                                        </p:attrNameLst>
                                      </p:cBhvr>
                                      <p:tavLst>
                                        <p:tav tm="0">
                                          <p:val>
                                            <p:strVal val="0-#ppt_w/2"/>
                                          </p:val>
                                        </p:tav>
                                        <p:tav tm="100000">
                                          <p:val>
                                            <p:strVal val="#ppt_x"/>
                                          </p:val>
                                        </p:tav>
                                      </p:tavLst>
                                    </p:anim>
                                    <p:anim calcmode="lin" valueType="num">
                                      <p:cBhvr additive="base">
                                        <p:cTn id="12" dur="500" fill="hold"/>
                                        <p:tgtEl>
                                          <p:spTgt spid="258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bldLvl="0" animBg="1" autoUpdateAnimBg="0"/>
      <p:bldP spid="258051" grpId="0" bldLvl="0" animBg="1"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2"/>
          <p:cNvSpPr txBox="1">
            <a:spLocks noChangeArrowheads="1"/>
          </p:cNvSpPr>
          <p:nvPr/>
        </p:nvSpPr>
        <p:spPr bwMode="auto">
          <a:xfrm>
            <a:off x="294683" y="298"/>
            <a:ext cx="8033343" cy="6269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lang="en-US" altLang="zh-CN" sz="3200" b="1" dirty="0"/>
              <a:t>Algorithm for Finding Critical PathsStatus </a:t>
            </a:r>
            <a:r>
              <a:rPr lang="en-US" altLang="zh-CN" sz="2400" b="1" dirty="0" err="1"/>
              <a:t>CriticalPath</a:t>
            </a:r>
            <a:r>
              <a:rPr lang="en-US" altLang="zh-CN" sz="2400" b="1" dirty="0"/>
              <a:t>(</a:t>
            </a:r>
            <a:r>
              <a:rPr lang="en-US" altLang="zh-CN" sz="2400" b="1" dirty="0" err="1"/>
              <a:t>ALGraph</a:t>
            </a:r>
            <a:r>
              <a:rPr lang="en-US" altLang="zh-CN" sz="2400" b="1" dirty="0"/>
              <a:t>  G) </a:t>
            </a:r>
            <a:endParaRPr lang="en-US" altLang="zh-CN" sz="2400" b="1" dirty="0"/>
          </a:p>
          <a:p>
            <a:pPr>
              <a:spcBef>
                <a:spcPct val="20000"/>
              </a:spcBef>
            </a:pPr>
            <a:r>
              <a:rPr lang="en-US" altLang="zh-CN" sz="2400" b="1" dirty="0"/>
              <a:t>                   </a:t>
            </a:r>
            <a:r>
              <a:rPr lang="en-US" altLang="zh-CN" sz="2400" b="1" dirty="0">
                <a:solidFill>
                  <a:srgbClr val="336600"/>
                </a:solidFill>
                <a:ea typeface="楷体_GB2312" pitchFamily="49" charset="-122"/>
              </a:rPr>
              <a:t>//</a:t>
            </a:r>
            <a:r>
              <a:rPr lang="en-US" altLang="zh-CN" sz="2000" b="1" dirty="0">
                <a:solidFill>
                  <a:srgbClr val="336600"/>
                </a:solidFill>
                <a:ea typeface="楷体_GB2312" pitchFamily="49" charset="-122"/>
              </a:rPr>
              <a:t>G is a directed network; output the critical activities of G</a:t>
            </a:r>
            <a:endParaRPr lang="en-US" altLang="zh-CN" sz="2400" b="1" dirty="0">
              <a:solidFill>
                <a:srgbClr val="336600"/>
              </a:solidFill>
              <a:ea typeface="楷体_GB2312" pitchFamily="49" charset="-122"/>
            </a:endParaRPr>
          </a:p>
          <a:p>
            <a:pPr>
              <a:spcBef>
                <a:spcPct val="20000"/>
              </a:spcBef>
            </a:pPr>
            <a:r>
              <a:rPr lang="en-US" altLang="zh-CN" sz="2400" b="1" dirty="0"/>
              <a:t>{   </a:t>
            </a:r>
            <a:r>
              <a:rPr lang="en-US" altLang="zh-CN" sz="2400" b="1" dirty="0">
                <a:solidFill>
                  <a:srgbClr val="003399"/>
                </a:solidFill>
              </a:rPr>
              <a:t>if (!</a:t>
            </a:r>
            <a:r>
              <a:rPr lang="en-US" altLang="zh-CN" sz="2400" b="1" dirty="0" err="1">
                <a:solidFill>
                  <a:srgbClr val="003399"/>
                </a:solidFill>
              </a:rPr>
              <a:t>TopologicalOrder</a:t>
            </a:r>
            <a:r>
              <a:rPr lang="en-US" altLang="zh-CN" sz="2400" b="1" dirty="0">
                <a:solidFill>
                  <a:srgbClr val="003399"/>
                </a:solidFill>
              </a:rPr>
              <a:t>(G,T))  return  ERROR;</a:t>
            </a:r>
            <a:endParaRPr lang="en-US" altLang="zh-CN" sz="2400" b="1" dirty="0">
              <a:solidFill>
                <a:srgbClr val="003399"/>
              </a:solidFill>
            </a:endParaRPr>
          </a:p>
          <a:p>
            <a:pPr>
              <a:spcBef>
                <a:spcPct val="20000"/>
              </a:spcBef>
            </a:pPr>
            <a:r>
              <a:rPr lang="en-US" altLang="zh-CN" sz="2400" b="1" dirty="0">
                <a:solidFill>
                  <a:srgbClr val="003399"/>
                </a:solidFill>
              </a:rPr>
              <a:t>    </a:t>
            </a:r>
            <a:r>
              <a:rPr lang="en-US" altLang="zh-CN" sz="2400" b="1" dirty="0" err="1">
                <a:solidFill>
                  <a:srgbClr val="FF0000"/>
                </a:solidFill>
              </a:rPr>
              <a:t>vl</a:t>
            </a:r>
            <a:r>
              <a:rPr lang="en-US" altLang="zh-CN" sz="2400" b="1" dirty="0">
                <a:solidFill>
                  <a:srgbClr val="003399"/>
                </a:solidFill>
              </a:rPr>
              <a:t> [0..G.vexnum-1]=</a:t>
            </a:r>
            <a:r>
              <a:rPr lang="en-US" altLang="zh-CN" sz="2400" b="1" dirty="0" err="1">
                <a:solidFill>
                  <a:srgbClr val="003399"/>
                </a:solidFill>
              </a:rPr>
              <a:t>ve</a:t>
            </a:r>
            <a:r>
              <a:rPr lang="en-US" altLang="zh-CN" sz="2400" b="1" dirty="0">
                <a:solidFill>
                  <a:srgbClr val="003399"/>
                </a:solidFill>
              </a:rPr>
              <a:t>[G.vexnum-1];</a:t>
            </a:r>
            <a:r>
              <a:rPr lang="en-US" altLang="zh-CN" sz="2400" b="1" dirty="0"/>
              <a:t> </a:t>
            </a:r>
            <a:endParaRPr lang="en-US" altLang="zh-CN" sz="2400" b="1" dirty="0"/>
          </a:p>
          <a:p>
            <a:pPr>
              <a:spcBef>
                <a:spcPct val="20000"/>
              </a:spcBef>
            </a:pPr>
            <a:r>
              <a:rPr lang="en-US" altLang="zh-CN" sz="2400" b="1" dirty="0"/>
              <a:t>                         </a:t>
            </a:r>
            <a:r>
              <a:rPr lang="en-US" altLang="zh-CN" sz="2400" b="1" dirty="0">
                <a:solidFill>
                  <a:srgbClr val="336600"/>
                </a:solidFill>
                <a:ea typeface="楷体_GB2312" pitchFamily="49" charset="-122"/>
              </a:rPr>
              <a:t>//</a:t>
            </a:r>
            <a:r>
              <a:rPr lang="en-US" altLang="zh-CN" sz="2000" b="1" dirty="0">
                <a:solidFill>
                  <a:srgbClr val="336600"/>
                </a:solidFill>
                <a:ea typeface="楷体_GB2312" pitchFamily="49" charset="-122"/>
              </a:rPr>
              <a:t>Initialize the latest occurrence time of vertex events</a:t>
            </a:r>
            <a:endParaRPr lang="en-US" altLang="zh-CN" sz="2400" b="1" dirty="0">
              <a:solidFill>
                <a:srgbClr val="336600"/>
              </a:solidFill>
              <a:ea typeface="楷体_GB2312" pitchFamily="49" charset="-122"/>
            </a:endParaRPr>
          </a:p>
          <a:p>
            <a:pPr>
              <a:spcBef>
                <a:spcPct val="20000"/>
              </a:spcBef>
            </a:pPr>
            <a:r>
              <a:rPr lang="zh-CN" altLang="en-US" sz="2400" b="1" dirty="0"/>
              <a:t>    </a:t>
            </a:r>
            <a:r>
              <a:rPr lang="en-US" altLang="zh-CN" sz="2400" b="1" dirty="0">
                <a:solidFill>
                  <a:srgbClr val="003399"/>
                </a:solidFill>
              </a:rPr>
              <a:t>while (!</a:t>
            </a:r>
            <a:r>
              <a:rPr lang="en-US" altLang="zh-CN" sz="2400" b="1" dirty="0" err="1">
                <a:solidFill>
                  <a:srgbClr val="003399"/>
                </a:solidFill>
              </a:rPr>
              <a:t>StackEmpty</a:t>
            </a:r>
            <a:r>
              <a:rPr lang="en-US" altLang="zh-CN" sz="2400" b="1" dirty="0">
                <a:solidFill>
                  <a:srgbClr val="003399"/>
                </a:solidFill>
              </a:rPr>
              <a:t>(T))</a:t>
            </a:r>
            <a:r>
              <a:rPr lang="en-US" altLang="zh-CN" sz="2400" b="1" dirty="0"/>
              <a:t> </a:t>
            </a:r>
            <a:endParaRPr lang="en-US" altLang="zh-CN" sz="2400" b="1" dirty="0"/>
          </a:p>
          <a:p>
            <a:pPr>
              <a:spcBef>
                <a:spcPct val="20000"/>
              </a:spcBef>
            </a:pPr>
            <a:r>
              <a:rPr lang="en-US" altLang="zh-CN" sz="2400" b="1" dirty="0">
                <a:solidFill>
                  <a:srgbClr val="336600"/>
                </a:solidFill>
                <a:ea typeface="楷体_GB2312" pitchFamily="49" charset="-122"/>
              </a:rPr>
              <a:t>//</a:t>
            </a:r>
            <a:r>
              <a:rPr lang="en-US" altLang="zh-CN" sz="2000" b="1" dirty="0">
                <a:solidFill>
                  <a:srgbClr val="336600"/>
                </a:solidFill>
                <a:ea typeface="楷体_GB2312" pitchFamily="49" charset="-122"/>
              </a:rPr>
              <a:t>Calculate the vl values of each vertex in reverse topological order</a:t>
            </a:r>
            <a:endParaRPr lang="en-US" altLang="zh-CN" sz="2400" b="1" dirty="0">
              <a:solidFill>
                <a:srgbClr val="336600"/>
              </a:solidFill>
              <a:ea typeface="楷体_GB2312" pitchFamily="49" charset="-122"/>
            </a:endParaRPr>
          </a:p>
          <a:p>
            <a:pPr>
              <a:spcBef>
                <a:spcPct val="20000"/>
              </a:spcBef>
            </a:pPr>
            <a:r>
              <a:rPr lang="zh-CN" altLang="en-US" sz="2400" b="1" dirty="0"/>
              <a:t>    </a:t>
            </a:r>
            <a:r>
              <a:rPr lang="en-US" altLang="zh-CN" sz="2400" b="1" dirty="0">
                <a:solidFill>
                  <a:srgbClr val="003399"/>
                </a:solidFill>
              </a:rPr>
              <a:t>for ( pop(T, j),  p=</a:t>
            </a:r>
            <a:r>
              <a:rPr lang="en-US" altLang="zh-CN" sz="2400" b="1" dirty="0" err="1">
                <a:solidFill>
                  <a:srgbClr val="003399"/>
                </a:solidFill>
              </a:rPr>
              <a:t>G.vertices</a:t>
            </a:r>
            <a:r>
              <a:rPr lang="en-US" altLang="zh-CN" sz="2400" b="1" dirty="0">
                <a:solidFill>
                  <a:srgbClr val="003399"/>
                </a:solidFill>
              </a:rPr>
              <a:t>[j].</a:t>
            </a:r>
            <a:r>
              <a:rPr lang="en-US" altLang="zh-CN" sz="2400" b="1" dirty="0" err="1">
                <a:solidFill>
                  <a:srgbClr val="003399"/>
                </a:solidFill>
              </a:rPr>
              <a:t>firstarc</a:t>
            </a:r>
            <a:r>
              <a:rPr lang="en-US" altLang="zh-CN" sz="2400" b="1" dirty="0">
                <a:solidFill>
                  <a:srgbClr val="003399"/>
                </a:solidFill>
              </a:rPr>
              <a:t>;  p; p=p-&gt;</a:t>
            </a:r>
            <a:r>
              <a:rPr lang="en-US" altLang="zh-CN" sz="2400" b="1" dirty="0" err="1">
                <a:solidFill>
                  <a:srgbClr val="003399"/>
                </a:solidFill>
              </a:rPr>
              <a:t>nextarc</a:t>
            </a:r>
            <a:r>
              <a:rPr lang="en-US" altLang="zh-CN" sz="2400" b="1" dirty="0">
                <a:solidFill>
                  <a:srgbClr val="003399"/>
                </a:solidFill>
              </a:rPr>
              <a:t>)</a:t>
            </a:r>
            <a:endParaRPr lang="en-US" altLang="zh-CN" sz="2400" b="1" dirty="0">
              <a:solidFill>
                <a:srgbClr val="003399"/>
              </a:solidFill>
            </a:endParaRPr>
          </a:p>
          <a:p>
            <a:pPr>
              <a:spcBef>
                <a:spcPct val="20000"/>
              </a:spcBef>
            </a:pPr>
            <a:r>
              <a:rPr lang="en-US" altLang="zh-CN" sz="2400" b="1" dirty="0">
                <a:solidFill>
                  <a:srgbClr val="003399"/>
                </a:solidFill>
              </a:rPr>
              <a:t>       { k=p-&gt;</a:t>
            </a:r>
            <a:r>
              <a:rPr lang="en-US" altLang="zh-CN" sz="2400" b="1" dirty="0" err="1">
                <a:solidFill>
                  <a:srgbClr val="003399"/>
                </a:solidFill>
              </a:rPr>
              <a:t>adjvex</a:t>
            </a:r>
            <a:r>
              <a:rPr lang="en-US" altLang="zh-CN" sz="2400" b="1" dirty="0">
                <a:solidFill>
                  <a:srgbClr val="003399"/>
                </a:solidFill>
              </a:rPr>
              <a:t>;     </a:t>
            </a:r>
            <a:r>
              <a:rPr lang="en-US" altLang="zh-CN" sz="2400" b="1" dirty="0" err="1">
                <a:solidFill>
                  <a:srgbClr val="003399"/>
                </a:solidFill>
              </a:rPr>
              <a:t>dut</a:t>
            </a:r>
            <a:r>
              <a:rPr lang="en-US" altLang="zh-CN" sz="2400" b="1" dirty="0">
                <a:solidFill>
                  <a:srgbClr val="003399"/>
                </a:solidFill>
              </a:rPr>
              <a:t>=*(p-&gt;info);</a:t>
            </a:r>
            <a:r>
              <a:rPr lang="en-US" altLang="zh-CN" sz="2400" b="1" dirty="0"/>
              <a:t>    </a:t>
            </a:r>
            <a:r>
              <a:rPr lang="en-US" altLang="zh-CN" sz="2400" b="1" dirty="0">
                <a:solidFill>
                  <a:srgbClr val="336600"/>
                </a:solidFill>
                <a:ea typeface="楷体_GB2312" pitchFamily="49" charset="-122"/>
              </a:rPr>
              <a:t>//</a:t>
            </a:r>
            <a:r>
              <a:rPr lang="en-US" altLang="zh-CN" sz="2400" b="1" dirty="0" err="1">
                <a:solidFill>
                  <a:srgbClr val="336600"/>
                </a:solidFill>
                <a:ea typeface="楷体_GB2312" pitchFamily="49" charset="-122"/>
              </a:rPr>
              <a:t>dut</a:t>
            </a:r>
            <a:r>
              <a:rPr lang="en-US" altLang="zh-CN" sz="2400" b="1" dirty="0">
                <a:solidFill>
                  <a:srgbClr val="336600"/>
                </a:solidFill>
                <a:ea typeface="楷体_GB2312" pitchFamily="49" charset="-122"/>
              </a:rPr>
              <a:t>&lt;</a:t>
            </a:r>
            <a:r>
              <a:rPr lang="en-US" altLang="zh-CN" sz="2400" b="1" dirty="0" err="1">
                <a:solidFill>
                  <a:srgbClr val="336600"/>
                </a:solidFill>
                <a:ea typeface="楷体_GB2312" pitchFamily="49" charset="-122"/>
              </a:rPr>
              <a:t>j,k</a:t>
            </a:r>
            <a:r>
              <a:rPr lang="en-US" altLang="zh-CN" sz="2400" b="1" dirty="0">
                <a:solidFill>
                  <a:srgbClr val="336600"/>
                </a:solidFill>
                <a:ea typeface="楷体_GB2312" pitchFamily="49" charset="-122"/>
              </a:rPr>
              <a:t>&gt;</a:t>
            </a:r>
            <a:endParaRPr lang="en-US" altLang="zh-CN" sz="2400" b="1" dirty="0">
              <a:solidFill>
                <a:srgbClr val="336600"/>
              </a:solidFill>
              <a:ea typeface="楷体_GB2312" pitchFamily="49" charset="-122"/>
            </a:endParaRPr>
          </a:p>
          <a:p>
            <a:pPr>
              <a:spcBef>
                <a:spcPct val="20000"/>
              </a:spcBef>
            </a:pPr>
            <a:r>
              <a:rPr lang="en-US" altLang="zh-CN" sz="2400" b="1" dirty="0"/>
              <a:t>          </a:t>
            </a:r>
            <a:r>
              <a:rPr lang="en-US" altLang="zh-CN" sz="2400" b="1" dirty="0">
                <a:solidFill>
                  <a:srgbClr val="003399"/>
                </a:solidFill>
              </a:rPr>
              <a:t>if (</a:t>
            </a:r>
            <a:r>
              <a:rPr lang="en-US" altLang="zh-CN" sz="2400" b="1" dirty="0" err="1">
                <a:solidFill>
                  <a:srgbClr val="003399"/>
                </a:solidFill>
              </a:rPr>
              <a:t>vl</a:t>
            </a:r>
            <a:r>
              <a:rPr lang="en-US" altLang="zh-CN" sz="2400" b="1" dirty="0">
                <a:solidFill>
                  <a:srgbClr val="003399"/>
                </a:solidFill>
              </a:rPr>
              <a:t>[k]-</a:t>
            </a:r>
            <a:r>
              <a:rPr lang="en-US" altLang="zh-CN" sz="2400" b="1" dirty="0" err="1">
                <a:solidFill>
                  <a:srgbClr val="003399"/>
                </a:solidFill>
              </a:rPr>
              <a:t>dut</a:t>
            </a:r>
            <a:r>
              <a:rPr lang="en-US" altLang="zh-CN" sz="2400" b="1" dirty="0">
                <a:solidFill>
                  <a:srgbClr val="003399"/>
                </a:solidFill>
              </a:rPr>
              <a:t>&lt;</a:t>
            </a:r>
            <a:r>
              <a:rPr lang="en-US" altLang="zh-CN" sz="2400" b="1" dirty="0" err="1">
                <a:solidFill>
                  <a:srgbClr val="003399"/>
                </a:solidFill>
              </a:rPr>
              <a:t>vl</a:t>
            </a:r>
            <a:r>
              <a:rPr lang="en-US" altLang="zh-CN" sz="2400" b="1" dirty="0">
                <a:solidFill>
                  <a:srgbClr val="003399"/>
                </a:solidFill>
              </a:rPr>
              <a:t>[j])      </a:t>
            </a:r>
            <a:r>
              <a:rPr lang="en-US" altLang="zh-CN" sz="2400" b="1" dirty="0" err="1">
                <a:solidFill>
                  <a:srgbClr val="003399"/>
                </a:solidFill>
              </a:rPr>
              <a:t>vl</a:t>
            </a:r>
            <a:r>
              <a:rPr lang="en-US" altLang="zh-CN" sz="2400" b="1" dirty="0">
                <a:solidFill>
                  <a:srgbClr val="003399"/>
                </a:solidFill>
              </a:rPr>
              <a:t>[j]=</a:t>
            </a:r>
            <a:r>
              <a:rPr lang="en-US" altLang="zh-CN" sz="2400" b="1" dirty="0" err="1">
                <a:solidFill>
                  <a:srgbClr val="003399"/>
                </a:solidFill>
              </a:rPr>
              <a:t>vl</a:t>
            </a:r>
            <a:r>
              <a:rPr lang="en-US" altLang="zh-CN" sz="2400" b="1" dirty="0">
                <a:solidFill>
                  <a:srgbClr val="003399"/>
                </a:solidFill>
              </a:rPr>
              <a:t>[k]-</a:t>
            </a:r>
            <a:r>
              <a:rPr lang="en-US" altLang="zh-CN" sz="2400" b="1" dirty="0" err="1">
                <a:solidFill>
                  <a:srgbClr val="003399"/>
                </a:solidFill>
              </a:rPr>
              <a:t>dut</a:t>
            </a:r>
            <a:r>
              <a:rPr lang="en-US" altLang="zh-CN" sz="2400" b="1" dirty="0">
                <a:solidFill>
                  <a:srgbClr val="003399"/>
                </a:solidFill>
              </a:rPr>
              <a:t>;</a:t>
            </a:r>
            <a:endParaRPr lang="en-US" altLang="zh-CN" sz="2400" b="1" dirty="0">
              <a:solidFill>
                <a:srgbClr val="003399"/>
              </a:solidFill>
            </a:endParaRPr>
          </a:p>
          <a:p>
            <a:pPr>
              <a:spcBef>
                <a:spcPct val="20000"/>
              </a:spcBef>
            </a:pPr>
            <a:r>
              <a:rPr lang="en-US" altLang="zh-CN" sz="2400" b="1" dirty="0">
                <a:solidFill>
                  <a:srgbClr val="003399"/>
                </a:solidFill>
              </a:rPr>
              <a:t>       }</a:t>
            </a:r>
            <a:r>
              <a:rPr lang="en-US" altLang="zh-CN" sz="2400" dirty="0"/>
              <a:t> </a:t>
            </a:r>
            <a:endParaRPr lang="en-US" altLang="zh-CN" sz="2400" dirty="0"/>
          </a:p>
          <a:p>
            <a:pPr>
              <a:spcBef>
                <a:spcPct val="20000"/>
              </a:spcBef>
            </a:pPr>
            <a:endParaRPr lang="en-US" altLang="zh-CN" sz="2400" dirty="0"/>
          </a:p>
          <a:p>
            <a:pPr>
              <a:spcBef>
                <a:spcPct val="20000"/>
              </a:spcBef>
            </a:pPr>
            <a:r>
              <a:rPr lang="en-US" altLang="zh-CN" sz="2400" b="1" dirty="0"/>
              <a:t>} //  </a:t>
            </a:r>
            <a:r>
              <a:rPr lang="en-US" altLang="zh-CN" sz="2400" b="1" dirty="0" err="1"/>
              <a:t>CriticalPath</a:t>
            </a:r>
            <a:endParaRPr lang="en-US" altLang="zh-CN" sz="2400" b="1" dirty="0"/>
          </a:p>
        </p:txBody>
      </p:sp>
      <p:sp>
        <p:nvSpPr>
          <p:cNvPr id="256003" name="Rectangle 3"/>
          <p:cNvSpPr>
            <a:spLocks noChangeArrowheads="1"/>
          </p:cNvSpPr>
          <p:nvPr/>
        </p:nvSpPr>
        <p:spPr bwMode="auto">
          <a:xfrm>
            <a:off x="683260" y="5229225"/>
            <a:ext cx="592010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a:solidFill>
                  <a:srgbClr val="FF0000"/>
                </a:solidFill>
              </a:rPr>
              <a:t>……Calculate e, l and find critical activities</a:t>
            </a:r>
            <a:endParaRPr lang="en-US" altLang="zh-CN" sz="2400" b="1" dirty="0">
              <a:solidFill>
                <a:srgbClr val="FF0000"/>
              </a:solidFill>
            </a:endParaRPr>
          </a:p>
        </p:txBody>
      </p:sp>
      <p:grpSp>
        <p:nvGrpSpPr>
          <p:cNvPr id="256004" name="Group 4"/>
          <p:cNvGrpSpPr/>
          <p:nvPr/>
        </p:nvGrpSpPr>
        <p:grpSpPr bwMode="auto">
          <a:xfrm>
            <a:off x="7308850" y="5157788"/>
            <a:ext cx="1676400" cy="725487"/>
            <a:chOff x="4512" y="1703"/>
            <a:chExt cx="1056" cy="457"/>
          </a:xfrm>
        </p:grpSpPr>
        <p:sp>
          <p:nvSpPr>
            <p:cNvPr id="256005" name="Oval 5"/>
            <p:cNvSpPr>
              <a:spLocks noChangeArrowheads="1"/>
            </p:cNvSpPr>
            <p:nvPr/>
          </p:nvSpPr>
          <p:spPr bwMode="auto">
            <a:xfrm>
              <a:off x="4512" y="1872"/>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j</a:t>
              </a:r>
              <a:endParaRPr lang="en-US" altLang="zh-CN" sz="3200"/>
            </a:p>
          </p:txBody>
        </p:sp>
        <p:sp>
          <p:nvSpPr>
            <p:cNvPr id="256006" name="Oval 6"/>
            <p:cNvSpPr>
              <a:spLocks noChangeArrowheads="1"/>
            </p:cNvSpPr>
            <p:nvPr/>
          </p:nvSpPr>
          <p:spPr bwMode="auto">
            <a:xfrm>
              <a:off x="5280" y="1872"/>
              <a:ext cx="288" cy="288"/>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k</a:t>
              </a:r>
              <a:endParaRPr lang="en-US" altLang="zh-CN" sz="3200"/>
            </a:p>
          </p:txBody>
        </p:sp>
        <p:sp>
          <p:nvSpPr>
            <p:cNvPr id="256007" name="Line 7"/>
            <p:cNvSpPr>
              <a:spLocks noChangeShapeType="1"/>
            </p:cNvSpPr>
            <p:nvPr/>
          </p:nvSpPr>
          <p:spPr bwMode="auto">
            <a:xfrm>
              <a:off x="4800" y="2016"/>
              <a:ext cx="48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008" name="Rectangle 8"/>
            <p:cNvSpPr>
              <a:spLocks noChangeArrowheads="1"/>
            </p:cNvSpPr>
            <p:nvPr/>
          </p:nvSpPr>
          <p:spPr bwMode="auto">
            <a:xfrm>
              <a:off x="4967" y="1703"/>
              <a:ext cx="1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a typeface="楷体_GB2312" pitchFamily="49" charset="-122"/>
                </a:rPr>
                <a:t>i</a:t>
              </a:r>
              <a:endParaRPr lang="en-US" altLang="zh-CN" sz="3200" b="1">
                <a:ea typeface="楷体_GB2312" pitchFamily="49" charset="-122"/>
              </a:endParaRPr>
            </a:p>
          </p:txBody>
        </p:sp>
      </p:gr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dissolve">
                                      <p:cBhvr>
                                        <p:cTn id="7" dur="500"/>
                                        <p:tgtEl>
                                          <p:spTgt spid="256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ldLvl="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ChangeArrowheads="1"/>
          </p:cNvSpPr>
          <p:nvPr/>
        </p:nvSpPr>
        <p:spPr bwMode="auto">
          <a:xfrm>
            <a:off x="304800" y="1034380"/>
            <a:ext cx="8382000" cy="6339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solidFill>
                  <a:srgbClr val="003399"/>
                </a:solidFill>
              </a:rPr>
              <a:t>for (j=0;  j&lt;</a:t>
            </a:r>
            <a:r>
              <a:rPr lang="en-US" altLang="zh-CN" sz="2800" b="1" dirty="0" err="1">
                <a:solidFill>
                  <a:srgbClr val="003399"/>
                </a:solidFill>
              </a:rPr>
              <a:t>G.vexnum</a:t>
            </a:r>
            <a:r>
              <a:rPr lang="en-US" altLang="zh-CN" sz="2800" b="1" dirty="0">
                <a:solidFill>
                  <a:srgbClr val="003399"/>
                </a:solidFill>
              </a:rPr>
              <a:t>;  ++j)</a:t>
            </a:r>
            <a:r>
              <a:rPr lang="en-US" altLang="zh-CN" sz="2800" b="1" dirty="0"/>
              <a:t>         </a:t>
            </a:r>
            <a:r>
              <a:rPr lang="en-US" altLang="zh-CN" sz="2800" b="1" dirty="0">
                <a:solidFill>
                  <a:srgbClr val="336600"/>
                </a:solidFill>
                <a:latin typeface="Arial" panose="020B0604020202020204" pitchFamily="34" charset="0"/>
                <a:ea typeface="楷体_GB2312" pitchFamily="49" charset="-122"/>
                <a:cs typeface="Arial" panose="020B0604020202020204" pitchFamily="34" charset="0"/>
              </a:rPr>
              <a:t> </a:t>
            </a:r>
            <a:endParaRPr lang="en-US" altLang="zh-CN" sz="2800" b="1" dirty="0">
              <a:solidFill>
                <a:srgbClr val="336600"/>
              </a:solidFill>
              <a:latin typeface="Arial" panose="020B0604020202020204" pitchFamily="34" charset="0"/>
              <a:ea typeface="楷体_GB2312" pitchFamily="49" charset="-122"/>
              <a:cs typeface="Arial" panose="020B0604020202020204" pitchFamily="34" charset="0"/>
            </a:endParaRPr>
          </a:p>
          <a:p>
            <a:pPr>
              <a:spcBef>
                <a:spcPct val="50000"/>
              </a:spcBef>
            </a:pPr>
            <a:r>
              <a:rPr lang="en-US" altLang="zh-CN" sz="2800" b="1" dirty="0">
                <a:solidFill>
                  <a:srgbClr val="336600"/>
                </a:solidFill>
                <a:latin typeface="Arial" panose="020B0604020202020204" pitchFamily="34" charset="0"/>
                <a:ea typeface="楷体_GB2312" pitchFamily="49" charset="-122"/>
                <a:cs typeface="Arial" panose="020B0604020202020204" pitchFamily="34" charset="0"/>
              </a:rPr>
              <a:t>//</a:t>
            </a:r>
            <a:r>
              <a:rPr lang="en-US" altLang="zh-CN" b="1" dirty="0">
                <a:solidFill>
                  <a:srgbClr val="336600"/>
                </a:solidFill>
                <a:latin typeface="Arial" panose="020B0604020202020204" pitchFamily="34" charset="0"/>
                <a:ea typeface="楷体_GB2312" pitchFamily="49" charset="-122"/>
                <a:cs typeface="Arial" panose="020B0604020202020204" pitchFamily="34" charset="0"/>
                <a:sym typeface="+mn-ea"/>
              </a:rPr>
              <a:t>Calculate ee, el, and critical activities</a:t>
            </a:r>
            <a:endParaRPr lang="zh-CN" altLang="en-US" sz="2800" b="1" dirty="0">
              <a:solidFill>
                <a:srgbClr val="336600"/>
              </a:solidFill>
              <a:ea typeface="楷体_GB2312" pitchFamily="49" charset="-122"/>
            </a:endParaRPr>
          </a:p>
          <a:p>
            <a:pPr>
              <a:spcBef>
                <a:spcPct val="50000"/>
              </a:spcBef>
            </a:pPr>
            <a:r>
              <a:rPr lang="zh-CN" altLang="en-US" sz="2800" b="1" dirty="0"/>
              <a:t>       </a:t>
            </a:r>
            <a:r>
              <a:rPr lang="en-US" altLang="zh-CN" sz="2800" b="1" dirty="0">
                <a:solidFill>
                  <a:srgbClr val="003399"/>
                </a:solidFill>
              </a:rPr>
              <a:t>for(p=</a:t>
            </a:r>
            <a:r>
              <a:rPr lang="en-US" altLang="zh-CN" sz="2800" b="1" dirty="0" err="1">
                <a:solidFill>
                  <a:srgbClr val="003399"/>
                </a:solidFill>
              </a:rPr>
              <a:t>G.vertices</a:t>
            </a:r>
            <a:r>
              <a:rPr lang="en-US" altLang="zh-CN" sz="2800" b="1" dirty="0">
                <a:solidFill>
                  <a:srgbClr val="003399"/>
                </a:solidFill>
              </a:rPr>
              <a:t>[j].</a:t>
            </a:r>
            <a:r>
              <a:rPr lang="en-US" altLang="zh-CN" sz="2800" b="1" dirty="0" err="1">
                <a:solidFill>
                  <a:srgbClr val="003399"/>
                </a:solidFill>
              </a:rPr>
              <a:t>firstarc</a:t>
            </a:r>
            <a:r>
              <a:rPr lang="en-US" altLang="zh-CN" sz="2800" b="1" dirty="0">
                <a:solidFill>
                  <a:srgbClr val="003399"/>
                </a:solidFill>
              </a:rPr>
              <a:t>;  p;  p=p-&gt;</a:t>
            </a:r>
            <a:r>
              <a:rPr lang="en-US" altLang="zh-CN" sz="2800" b="1" dirty="0" err="1">
                <a:solidFill>
                  <a:srgbClr val="003399"/>
                </a:solidFill>
              </a:rPr>
              <a:t>nextarc</a:t>
            </a:r>
            <a:r>
              <a:rPr lang="en-US" altLang="zh-CN" sz="2800" b="1" dirty="0">
                <a:solidFill>
                  <a:srgbClr val="003399"/>
                </a:solidFill>
              </a:rPr>
              <a:t>)  {</a:t>
            </a:r>
            <a:endParaRPr lang="en-US" altLang="zh-CN" sz="2800" b="1" dirty="0">
              <a:solidFill>
                <a:srgbClr val="003399"/>
              </a:solidFill>
            </a:endParaRPr>
          </a:p>
          <a:p>
            <a:pPr>
              <a:spcBef>
                <a:spcPct val="50000"/>
              </a:spcBef>
            </a:pPr>
            <a:r>
              <a:rPr lang="en-US" altLang="zh-CN" sz="2800" b="1" dirty="0">
                <a:solidFill>
                  <a:srgbClr val="003399"/>
                </a:solidFill>
              </a:rPr>
              <a:t>          k=p-&gt;</a:t>
            </a:r>
            <a:r>
              <a:rPr lang="en-US" altLang="zh-CN" sz="2800" b="1" dirty="0" err="1">
                <a:solidFill>
                  <a:srgbClr val="003399"/>
                </a:solidFill>
              </a:rPr>
              <a:t>adjvex</a:t>
            </a:r>
            <a:r>
              <a:rPr lang="en-US" altLang="zh-CN" sz="2800" b="1" dirty="0">
                <a:solidFill>
                  <a:srgbClr val="003399"/>
                </a:solidFill>
              </a:rPr>
              <a:t>;         </a:t>
            </a:r>
            <a:r>
              <a:rPr lang="en-US" altLang="zh-CN" sz="2800" b="1" dirty="0" err="1">
                <a:solidFill>
                  <a:srgbClr val="003399"/>
                </a:solidFill>
              </a:rPr>
              <a:t>dut</a:t>
            </a:r>
            <a:r>
              <a:rPr lang="en-US" altLang="zh-CN" sz="2800" b="1" dirty="0">
                <a:solidFill>
                  <a:srgbClr val="003399"/>
                </a:solidFill>
              </a:rPr>
              <a:t>=*(p-&gt;info);  </a:t>
            </a:r>
            <a:endParaRPr lang="en-US" altLang="zh-CN" sz="2800" b="1" dirty="0">
              <a:solidFill>
                <a:srgbClr val="003399"/>
              </a:solidFill>
            </a:endParaRPr>
          </a:p>
          <a:p>
            <a:pPr>
              <a:spcBef>
                <a:spcPct val="50000"/>
              </a:spcBef>
            </a:pPr>
            <a:r>
              <a:rPr lang="en-US" altLang="zh-CN" sz="2800" b="1" dirty="0">
                <a:solidFill>
                  <a:srgbClr val="003399"/>
                </a:solidFill>
              </a:rPr>
              <a:t>          </a:t>
            </a:r>
            <a:r>
              <a:rPr lang="en-US" altLang="zh-CN" sz="2800" b="1" dirty="0" err="1">
                <a:solidFill>
                  <a:srgbClr val="003399"/>
                </a:solidFill>
              </a:rPr>
              <a:t>ee</a:t>
            </a:r>
            <a:r>
              <a:rPr lang="en-US" altLang="zh-CN" sz="2800" b="1" dirty="0">
                <a:solidFill>
                  <a:srgbClr val="003399"/>
                </a:solidFill>
              </a:rPr>
              <a:t>=</a:t>
            </a:r>
            <a:r>
              <a:rPr lang="en-US" altLang="zh-CN" sz="2800" b="1" dirty="0" err="1">
                <a:solidFill>
                  <a:srgbClr val="003399"/>
                </a:solidFill>
              </a:rPr>
              <a:t>ve</a:t>
            </a:r>
            <a:r>
              <a:rPr lang="en-US" altLang="zh-CN" sz="2800" b="1" dirty="0">
                <a:solidFill>
                  <a:srgbClr val="003399"/>
                </a:solidFill>
              </a:rPr>
              <a:t>[j];                 el=</a:t>
            </a:r>
            <a:r>
              <a:rPr lang="en-US" altLang="zh-CN" sz="2800" b="1" dirty="0" err="1">
                <a:solidFill>
                  <a:srgbClr val="003399"/>
                </a:solidFill>
              </a:rPr>
              <a:t>vl</a:t>
            </a:r>
            <a:r>
              <a:rPr lang="en-US" altLang="zh-CN" sz="2800" b="1" dirty="0">
                <a:solidFill>
                  <a:srgbClr val="003399"/>
                </a:solidFill>
              </a:rPr>
              <a:t>[k]-</a:t>
            </a:r>
            <a:r>
              <a:rPr lang="en-US" altLang="zh-CN" sz="2800" b="1" dirty="0" err="1">
                <a:solidFill>
                  <a:srgbClr val="003399"/>
                </a:solidFill>
              </a:rPr>
              <a:t>dut</a:t>
            </a:r>
            <a:r>
              <a:rPr lang="en-US" altLang="zh-CN" sz="2800" b="1" dirty="0">
                <a:solidFill>
                  <a:srgbClr val="003399"/>
                </a:solidFill>
              </a:rPr>
              <a:t>;</a:t>
            </a:r>
            <a:endParaRPr lang="en-US" altLang="zh-CN" sz="2800" b="1" dirty="0">
              <a:solidFill>
                <a:srgbClr val="003399"/>
              </a:solidFill>
            </a:endParaRPr>
          </a:p>
          <a:p>
            <a:pPr>
              <a:spcBef>
                <a:spcPct val="50000"/>
              </a:spcBef>
            </a:pPr>
            <a:r>
              <a:rPr lang="en-US" altLang="zh-CN" sz="2800" b="1" dirty="0">
                <a:solidFill>
                  <a:srgbClr val="003399"/>
                </a:solidFill>
              </a:rPr>
              <a:t>          tag=(</a:t>
            </a:r>
            <a:r>
              <a:rPr lang="en-US" altLang="zh-CN" sz="2800" b="1" dirty="0" err="1">
                <a:solidFill>
                  <a:srgbClr val="003399"/>
                </a:solidFill>
              </a:rPr>
              <a:t>ee</a:t>
            </a:r>
            <a:r>
              <a:rPr lang="en-US" altLang="zh-CN" sz="2800" b="1" dirty="0">
                <a:solidFill>
                  <a:srgbClr val="003399"/>
                </a:solidFill>
              </a:rPr>
              <a:t>= =el) ? ‘*’: ‘ ‘;      </a:t>
            </a:r>
            <a:endParaRPr lang="en-US" altLang="zh-CN" sz="2800" b="1" dirty="0">
              <a:solidFill>
                <a:srgbClr val="003399"/>
              </a:solidFill>
            </a:endParaRPr>
          </a:p>
          <a:p>
            <a:pPr>
              <a:spcBef>
                <a:spcPct val="50000"/>
              </a:spcBef>
            </a:pPr>
            <a:r>
              <a:rPr lang="en-US" altLang="zh-CN" sz="2800" b="1" dirty="0">
                <a:solidFill>
                  <a:srgbClr val="003399"/>
                </a:solidFill>
              </a:rPr>
              <a:t>          </a:t>
            </a:r>
            <a:r>
              <a:rPr lang="en-US" altLang="zh-CN" sz="2800" b="1" dirty="0" err="1">
                <a:solidFill>
                  <a:srgbClr val="003399"/>
                </a:solidFill>
              </a:rPr>
              <a:t>printf</a:t>
            </a:r>
            <a:r>
              <a:rPr lang="en-US" altLang="zh-CN" sz="2800" b="1" dirty="0">
                <a:solidFill>
                  <a:srgbClr val="003399"/>
                </a:solidFill>
              </a:rPr>
              <a:t>(</a:t>
            </a:r>
            <a:r>
              <a:rPr lang="en-US" altLang="zh-CN" sz="2800" b="1" dirty="0" err="1">
                <a:solidFill>
                  <a:srgbClr val="003399"/>
                </a:solidFill>
              </a:rPr>
              <a:t>j,k,dut,ee,el,tag</a:t>
            </a:r>
            <a:r>
              <a:rPr lang="en-US" altLang="zh-CN" sz="2800" b="1" dirty="0">
                <a:solidFill>
                  <a:srgbClr val="003399"/>
                </a:solidFill>
              </a:rPr>
              <a:t>);</a:t>
            </a:r>
            <a:r>
              <a:rPr lang="en-US" altLang="zh-CN" sz="2800" b="1" dirty="0"/>
              <a:t>    </a:t>
            </a:r>
            <a:r>
              <a:rPr lang="en-US" altLang="zh-CN" sz="2800" b="1" dirty="0">
                <a:solidFill>
                  <a:srgbClr val="336600"/>
                </a:solidFill>
                <a:latin typeface="楷体_GB2312" pitchFamily="49" charset="-122"/>
                <a:ea typeface="楷体_GB2312" pitchFamily="49" charset="-122"/>
              </a:rPr>
              <a:t> </a:t>
            </a:r>
            <a:endParaRPr lang="en-US" altLang="zh-CN" sz="2800" b="1" dirty="0">
              <a:solidFill>
                <a:srgbClr val="336600"/>
              </a:solidFill>
              <a:latin typeface="楷体_GB2312" pitchFamily="49" charset="-122"/>
              <a:ea typeface="楷体_GB2312" pitchFamily="49" charset="-122"/>
            </a:endParaRPr>
          </a:p>
          <a:p>
            <a:pPr>
              <a:spcBef>
                <a:spcPct val="50000"/>
              </a:spcBef>
            </a:pPr>
            <a:r>
              <a:rPr lang="en-US" altLang="zh-CN" sz="2800" b="1" dirty="0">
                <a:solidFill>
                  <a:srgbClr val="336600"/>
                </a:solidFill>
                <a:latin typeface="Arial" panose="020B0604020202020204" pitchFamily="34" charset="0"/>
                <a:ea typeface="楷体_GB2312" pitchFamily="49" charset="-122"/>
                <a:cs typeface="Arial" panose="020B0604020202020204" pitchFamily="34" charset="0"/>
              </a:rPr>
              <a:t>//</a:t>
            </a:r>
            <a:r>
              <a:rPr lang="en-US" altLang="zh-CN" b="1" dirty="0">
                <a:solidFill>
                  <a:srgbClr val="336600"/>
                </a:solidFill>
                <a:latin typeface="Arial" panose="020B0604020202020204" pitchFamily="34" charset="0"/>
                <a:ea typeface="楷体_GB2312" pitchFamily="49" charset="-122"/>
                <a:cs typeface="Arial" panose="020B0604020202020204" pitchFamily="34" charset="0"/>
                <a:sym typeface="+mn-ea"/>
              </a:rPr>
              <a:t>Output key activities</a:t>
            </a:r>
            <a:endParaRPr lang="zh-CN" altLang="en-US" sz="2800" b="1" dirty="0">
              <a:solidFill>
                <a:srgbClr val="336600"/>
              </a:solidFill>
              <a:latin typeface="Arial" panose="020B0604020202020204" pitchFamily="34" charset="0"/>
              <a:ea typeface="楷体_GB2312" pitchFamily="49" charset="-122"/>
              <a:cs typeface="Arial" panose="020B0604020202020204" pitchFamily="34" charset="0"/>
            </a:endParaRPr>
          </a:p>
          <a:p>
            <a:pPr>
              <a:spcBef>
                <a:spcPct val="50000"/>
              </a:spcBef>
            </a:pPr>
            <a:r>
              <a:rPr lang="zh-CN" altLang="en-US" sz="2800" b="1" dirty="0">
                <a:latin typeface="Arial" panose="020B0604020202020204" pitchFamily="34" charset="0"/>
                <a:cs typeface="Arial" panose="020B0604020202020204" pitchFamily="34" charset="0"/>
              </a:rPr>
              <a:t>  </a:t>
            </a:r>
            <a:r>
              <a:rPr lang="en-US" altLang="zh-CN" sz="2800" b="1" dirty="0">
                <a:solidFill>
                  <a:srgbClr val="003399"/>
                </a:solidFill>
                <a:latin typeface="Arial" panose="020B0604020202020204" pitchFamily="34" charset="0"/>
                <a:cs typeface="Arial" panose="020B0604020202020204" pitchFamily="34" charset="0"/>
              </a:rPr>
              <a:t>}</a:t>
            </a:r>
            <a:endParaRPr lang="en-US" altLang="zh-CN" sz="2800" b="1" dirty="0">
              <a:solidFill>
                <a:srgbClr val="003399"/>
              </a:solidFill>
              <a:latin typeface="Arial" panose="020B0604020202020204" pitchFamily="34" charset="0"/>
              <a:cs typeface="Arial" panose="020B0604020202020204" pitchFamily="34" charset="0"/>
            </a:endParaRPr>
          </a:p>
          <a:p>
            <a:pPr>
              <a:spcBef>
                <a:spcPct val="50000"/>
              </a:spcBef>
            </a:pPr>
            <a:endParaRPr lang="en-US" altLang="zh-CN" b="1" dirty="0">
              <a:solidFill>
                <a:srgbClr val="003399"/>
              </a:solidFill>
              <a:latin typeface="Arial" panose="020B0604020202020204" pitchFamily="34" charset="0"/>
              <a:cs typeface="Arial" panose="020B0604020202020204" pitchFamily="34" charset="0"/>
            </a:endParaRPr>
          </a:p>
        </p:txBody>
      </p:sp>
      <p:sp>
        <p:nvSpPr>
          <p:cNvPr id="259076" name="Oval 4"/>
          <p:cNvSpPr>
            <a:spLocks noChangeArrowheads="1"/>
          </p:cNvSpPr>
          <p:nvPr/>
        </p:nvSpPr>
        <p:spPr bwMode="auto">
          <a:xfrm>
            <a:off x="7020272" y="3043808"/>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j</a:t>
            </a:r>
            <a:endParaRPr lang="en-US" altLang="zh-CN" sz="3200"/>
          </a:p>
        </p:txBody>
      </p:sp>
      <p:sp>
        <p:nvSpPr>
          <p:cNvPr id="259077" name="Oval 5"/>
          <p:cNvSpPr>
            <a:spLocks noChangeArrowheads="1"/>
          </p:cNvSpPr>
          <p:nvPr/>
        </p:nvSpPr>
        <p:spPr bwMode="auto">
          <a:xfrm>
            <a:off x="8239472" y="3043808"/>
            <a:ext cx="457200" cy="457200"/>
          </a:xfrm>
          <a:prstGeom prst="ellipse">
            <a:avLst/>
          </a:prstGeom>
          <a:solidFill>
            <a:srgbClr val="FFFF99"/>
          </a:solidFill>
          <a:ln w="25400" cap="sq">
            <a:solidFill>
              <a:srgbClr val="8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200"/>
              <a:t>k</a:t>
            </a:r>
            <a:endParaRPr lang="en-US" altLang="zh-CN" sz="3200"/>
          </a:p>
        </p:txBody>
      </p:sp>
      <p:sp>
        <p:nvSpPr>
          <p:cNvPr id="259078" name="Line 6"/>
          <p:cNvSpPr>
            <a:spLocks noChangeShapeType="1"/>
          </p:cNvSpPr>
          <p:nvPr/>
        </p:nvSpPr>
        <p:spPr bwMode="auto">
          <a:xfrm>
            <a:off x="7477472" y="3272408"/>
            <a:ext cx="762000" cy="0"/>
          </a:xfrm>
          <a:prstGeom prst="line">
            <a:avLst/>
          </a:prstGeom>
          <a:noFill/>
          <a:ln w="381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9079" name="Rectangle 7"/>
          <p:cNvSpPr>
            <a:spLocks noChangeArrowheads="1"/>
          </p:cNvSpPr>
          <p:nvPr/>
        </p:nvSpPr>
        <p:spPr bwMode="auto">
          <a:xfrm>
            <a:off x="7706072" y="2769171"/>
            <a:ext cx="296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a typeface="楷体_GB2312" pitchFamily="49" charset="-122"/>
              </a:rPr>
              <a:t>i</a:t>
            </a:r>
            <a:endParaRPr lang="en-US" altLang="zh-CN" sz="3200" b="1">
              <a:ea typeface="楷体_GB2312" pitchFamily="49" charset="-122"/>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23" name="Text Box 7"/>
          <p:cNvSpPr txBox="1">
            <a:spLocks noChangeArrowheads="1"/>
          </p:cNvSpPr>
          <p:nvPr/>
        </p:nvSpPr>
        <p:spPr bwMode="auto">
          <a:xfrm>
            <a:off x="0" y="0"/>
            <a:ext cx="760412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200" b="1"/>
              <a:t>Adjacency List Representation of Graphs:</a:t>
            </a:r>
            <a:endParaRPr lang="en-US" altLang="zh-CN" sz="3200" b="1"/>
          </a:p>
        </p:txBody>
      </p:sp>
      <p:sp>
        <p:nvSpPr>
          <p:cNvPr id="290825" name="Rectangle 9"/>
          <p:cNvSpPr>
            <a:spLocks noChangeArrowheads="1"/>
          </p:cNvSpPr>
          <p:nvPr/>
        </p:nvSpPr>
        <p:spPr bwMode="auto">
          <a:xfrm>
            <a:off x="107315" y="692785"/>
            <a:ext cx="8424614" cy="535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800" b="1" dirty="0">
                <a:solidFill>
                  <a:srgbClr val="003399"/>
                </a:solidFill>
                <a:sym typeface="+mn-ea"/>
              </a:rPr>
              <a:t>typedef struct ArcNode {    </a:t>
            </a:r>
            <a:r>
              <a:rPr lang="zh-CN" altLang="en-US" sz="1800" b="1" dirty="0">
                <a:solidFill>
                  <a:srgbClr val="006600"/>
                </a:solidFill>
                <a:ea typeface="楷体_GB2312" pitchFamily="49" charset="-122"/>
                <a:sym typeface="+mn-ea"/>
              </a:rPr>
              <a:t>// Arc Node</a:t>
            </a:r>
            <a:endParaRPr lang="en-US" altLang="zh-CN" sz="1800" b="1" dirty="0">
              <a:solidFill>
                <a:srgbClr val="003399"/>
              </a:solidFill>
            </a:endParaRPr>
          </a:p>
          <a:p>
            <a:pPr>
              <a:spcBef>
                <a:spcPct val="50000"/>
              </a:spcBef>
            </a:pPr>
            <a:r>
              <a:rPr lang="en-US" altLang="zh-CN" sz="1800" b="1" dirty="0">
                <a:solidFill>
                  <a:srgbClr val="003399"/>
                </a:solidFill>
                <a:sym typeface="+mn-ea"/>
              </a:rPr>
              <a:t>    int adjvex; </a:t>
            </a:r>
            <a:r>
              <a:rPr lang="zh-CN" altLang="en-US" sz="1800" b="1" dirty="0">
                <a:solidFill>
                  <a:srgbClr val="006600"/>
                </a:solidFill>
                <a:ea typeface="楷体_GB2312" pitchFamily="49" charset="-122"/>
                <a:sym typeface="+mn-ea"/>
              </a:rPr>
              <a:t> // Position of the vertex pointed to by this arc</a:t>
            </a:r>
            <a:endParaRPr lang="en-US" altLang="zh-CN" sz="1800" b="1" dirty="0">
              <a:solidFill>
                <a:srgbClr val="003399"/>
              </a:solidFill>
            </a:endParaRPr>
          </a:p>
          <a:p>
            <a:pPr>
              <a:spcBef>
                <a:spcPct val="50000"/>
              </a:spcBef>
            </a:pPr>
            <a:r>
              <a:rPr lang="en-US" altLang="zh-CN" sz="1800" b="1" dirty="0">
                <a:solidFill>
                  <a:srgbClr val="003399"/>
                </a:solidFill>
                <a:sym typeface="+mn-ea"/>
              </a:rPr>
              <a:t>    struct ArcNode *nextarc; </a:t>
            </a:r>
            <a:r>
              <a:rPr lang="zh-CN" altLang="en-US" sz="1800" b="1" dirty="0">
                <a:solidFill>
                  <a:srgbClr val="006600"/>
                </a:solidFill>
                <a:ea typeface="楷体_GB2312" pitchFamily="49" charset="-122"/>
                <a:sym typeface="+mn-ea"/>
              </a:rPr>
              <a:t>// Pointer to the next arc</a:t>
            </a:r>
            <a:endParaRPr lang="en-US" altLang="zh-CN" sz="1800" b="1" dirty="0">
              <a:solidFill>
                <a:srgbClr val="003399"/>
              </a:solidFill>
            </a:endParaRPr>
          </a:p>
          <a:p>
            <a:pPr>
              <a:spcBef>
                <a:spcPct val="50000"/>
              </a:spcBef>
            </a:pPr>
            <a:r>
              <a:rPr lang="en-US" altLang="zh-CN" sz="1800" b="1" dirty="0">
                <a:solidFill>
                  <a:srgbClr val="003399"/>
                </a:solidFill>
                <a:sym typeface="+mn-ea"/>
              </a:rPr>
              <a:t>    InfoType *info;        </a:t>
            </a:r>
            <a:r>
              <a:rPr lang="zh-CN" altLang="en-US" sz="1800" b="1" dirty="0">
                <a:solidFill>
                  <a:srgbClr val="006600"/>
                </a:solidFill>
                <a:ea typeface="楷体_GB2312" pitchFamily="49" charset="-122"/>
                <a:sym typeface="+mn-ea"/>
              </a:rPr>
              <a:t> // Pointer to information related to this arc</a:t>
            </a:r>
            <a:endParaRPr lang="en-US" altLang="zh-CN" sz="1800" b="1" dirty="0">
              <a:solidFill>
                <a:srgbClr val="003399"/>
              </a:solidFill>
            </a:endParaRPr>
          </a:p>
          <a:p>
            <a:pPr>
              <a:spcBef>
                <a:spcPct val="50000"/>
              </a:spcBef>
            </a:pPr>
            <a:r>
              <a:rPr lang="en-US" altLang="zh-CN" sz="1800" b="1" dirty="0">
                <a:solidFill>
                  <a:srgbClr val="003399"/>
                </a:solidFill>
                <a:sym typeface="+mn-ea"/>
              </a:rPr>
              <a:t>} ArcNode;</a:t>
            </a:r>
            <a:endParaRPr lang="en-US" altLang="zh-CN" sz="1800" b="1" dirty="0">
              <a:solidFill>
                <a:srgbClr val="003399"/>
              </a:solidFill>
            </a:endParaRPr>
          </a:p>
          <a:p>
            <a:pPr>
              <a:spcBef>
                <a:spcPct val="50000"/>
              </a:spcBef>
            </a:pPr>
            <a:r>
              <a:rPr lang="en-US" altLang="zh-CN" sz="1800" b="1" dirty="0">
                <a:solidFill>
                  <a:srgbClr val="003399"/>
                </a:solidFill>
                <a:sym typeface="+mn-ea"/>
              </a:rPr>
              <a:t>typedef struct VNode {      </a:t>
            </a:r>
            <a:r>
              <a:rPr lang="zh-CN" altLang="en-US" sz="1800" b="1" dirty="0">
                <a:solidFill>
                  <a:srgbClr val="006600"/>
                </a:solidFill>
                <a:ea typeface="楷体_GB2312" pitchFamily="49" charset="-122"/>
                <a:sym typeface="+mn-ea"/>
              </a:rPr>
              <a:t>// Vertex Node</a:t>
            </a:r>
            <a:endParaRPr lang="en-US" altLang="zh-CN" sz="1800" b="1" dirty="0">
              <a:solidFill>
                <a:srgbClr val="003399"/>
              </a:solidFill>
            </a:endParaRPr>
          </a:p>
          <a:p>
            <a:pPr>
              <a:spcBef>
                <a:spcPct val="50000"/>
              </a:spcBef>
            </a:pPr>
            <a:r>
              <a:rPr lang="en-US" altLang="zh-CN" sz="1800" b="1" dirty="0">
                <a:solidFill>
                  <a:srgbClr val="003399"/>
                </a:solidFill>
                <a:sym typeface="+mn-ea"/>
              </a:rPr>
              <a:t>    VertexType data;        </a:t>
            </a:r>
            <a:r>
              <a:rPr lang="zh-CN" altLang="en-US" sz="1800" b="1" dirty="0">
                <a:solidFill>
                  <a:srgbClr val="006600"/>
                </a:solidFill>
                <a:ea typeface="楷体_GB2312" pitchFamily="49" charset="-122"/>
                <a:sym typeface="+mn-ea"/>
              </a:rPr>
              <a:t>// Vertex information</a:t>
            </a:r>
            <a:endParaRPr lang="en-US" altLang="zh-CN" sz="1800" b="1" dirty="0">
              <a:solidFill>
                <a:srgbClr val="003399"/>
              </a:solidFill>
            </a:endParaRPr>
          </a:p>
          <a:p>
            <a:pPr>
              <a:spcBef>
                <a:spcPct val="50000"/>
              </a:spcBef>
            </a:pPr>
            <a:r>
              <a:rPr lang="en-US" altLang="zh-CN" sz="1800" b="1" dirty="0">
                <a:solidFill>
                  <a:srgbClr val="003399"/>
                </a:solidFill>
                <a:sym typeface="+mn-ea"/>
              </a:rPr>
              <a:t>    ArcNode *firstarc;      </a:t>
            </a:r>
            <a:r>
              <a:rPr lang="zh-CN" altLang="en-US" sz="1800" b="1" dirty="0">
                <a:solidFill>
                  <a:srgbClr val="006600"/>
                </a:solidFill>
                <a:ea typeface="楷体_GB2312" pitchFamily="49" charset="-122"/>
                <a:sym typeface="+mn-ea"/>
              </a:rPr>
              <a:t>// Pointer to the first arc attached to this vertex</a:t>
            </a:r>
            <a:endParaRPr lang="en-US" altLang="zh-CN" sz="1800" b="1" dirty="0">
              <a:solidFill>
                <a:srgbClr val="003399"/>
              </a:solidFill>
            </a:endParaRPr>
          </a:p>
          <a:p>
            <a:pPr>
              <a:spcBef>
                <a:spcPct val="50000"/>
              </a:spcBef>
            </a:pPr>
            <a:r>
              <a:rPr lang="en-US" altLang="zh-CN" sz="1800" b="1" dirty="0">
                <a:solidFill>
                  <a:srgbClr val="003399"/>
                </a:solidFill>
                <a:sym typeface="+mn-ea"/>
              </a:rPr>
              <a:t>} AdjList[MAX_VERTEX_NUM];</a:t>
            </a:r>
            <a:endParaRPr lang="en-US" altLang="zh-CN" sz="1800" b="1" dirty="0">
              <a:solidFill>
                <a:srgbClr val="003399"/>
              </a:solidFill>
            </a:endParaRPr>
          </a:p>
          <a:p>
            <a:pPr>
              <a:spcBef>
                <a:spcPct val="50000"/>
              </a:spcBef>
            </a:pPr>
            <a:r>
              <a:rPr lang="en-US" altLang="zh-CN" sz="1800" b="1" dirty="0">
                <a:solidFill>
                  <a:srgbClr val="003399"/>
                </a:solidFill>
                <a:sym typeface="+mn-ea"/>
              </a:rPr>
              <a:t>typedef struct {            </a:t>
            </a:r>
            <a:r>
              <a:rPr lang="zh-CN" altLang="en-US" sz="1800" b="1" dirty="0">
                <a:solidFill>
                  <a:srgbClr val="006600"/>
                </a:solidFill>
                <a:ea typeface="楷体_GB2312" pitchFamily="49" charset="-122"/>
                <a:sym typeface="+mn-ea"/>
              </a:rPr>
              <a:t>// Graph Structure</a:t>
            </a:r>
            <a:endParaRPr lang="en-US" altLang="zh-CN" sz="1800" b="1" dirty="0">
              <a:solidFill>
                <a:srgbClr val="003399"/>
              </a:solidFill>
            </a:endParaRPr>
          </a:p>
          <a:p>
            <a:pPr>
              <a:spcBef>
                <a:spcPct val="50000"/>
              </a:spcBef>
            </a:pPr>
            <a:r>
              <a:rPr lang="en-US" altLang="zh-CN" sz="1800" b="1" dirty="0">
                <a:solidFill>
                  <a:srgbClr val="003399"/>
                </a:solidFill>
                <a:sym typeface="+mn-ea"/>
              </a:rPr>
              <a:t>    AdjList vertices;       </a:t>
            </a:r>
            <a:r>
              <a:rPr lang="zh-CN" altLang="en-US" sz="1800" b="1" dirty="0">
                <a:solidFill>
                  <a:srgbClr val="006600"/>
                </a:solidFill>
                <a:ea typeface="楷体_GB2312" pitchFamily="49" charset="-122"/>
                <a:sym typeface="+mn-ea"/>
              </a:rPr>
              <a:t>// Vector of header nodes</a:t>
            </a:r>
            <a:endParaRPr lang="en-US" altLang="zh-CN" sz="1800" b="1" dirty="0">
              <a:solidFill>
                <a:srgbClr val="003399"/>
              </a:solidFill>
            </a:endParaRPr>
          </a:p>
          <a:p>
            <a:pPr>
              <a:spcBef>
                <a:spcPct val="50000"/>
              </a:spcBef>
            </a:pPr>
            <a:r>
              <a:rPr lang="en-US" altLang="zh-CN" sz="1800" b="1" dirty="0">
                <a:solidFill>
                  <a:srgbClr val="003399"/>
                </a:solidFill>
                <a:sym typeface="+mn-ea"/>
              </a:rPr>
              <a:t>    int vexnum, arcnum;    </a:t>
            </a:r>
            <a:r>
              <a:rPr lang="zh-CN" altLang="en-US" sz="1800" b="1" dirty="0">
                <a:solidFill>
                  <a:srgbClr val="006600"/>
                </a:solidFill>
                <a:ea typeface="楷体_GB2312" pitchFamily="49" charset="-122"/>
                <a:sym typeface="+mn-ea"/>
              </a:rPr>
              <a:t> // Current number of vertices and arcs in the graph</a:t>
            </a:r>
            <a:endParaRPr lang="zh-CN" altLang="en-US" sz="1800" b="1" dirty="0">
              <a:solidFill>
                <a:srgbClr val="006600"/>
              </a:solidFill>
              <a:ea typeface="楷体_GB2312" pitchFamily="49" charset="-122"/>
            </a:endParaRPr>
          </a:p>
          <a:p>
            <a:pPr>
              <a:spcBef>
                <a:spcPct val="50000"/>
              </a:spcBef>
            </a:pPr>
            <a:r>
              <a:rPr lang="en-US" altLang="zh-CN" sz="1800" b="1" dirty="0">
                <a:solidFill>
                  <a:srgbClr val="003399"/>
                </a:solidFill>
                <a:sym typeface="+mn-ea"/>
              </a:rPr>
              <a:t>} ALGraph;</a:t>
            </a:r>
            <a:endParaRPr lang="en-US" altLang="zh-CN" sz="1800" b="1" dirty="0">
              <a:solidFill>
                <a:srgbClr val="003399"/>
              </a:solidFill>
              <a:ea typeface="楷体_GB2312" pitchFamily="49" charset="-122"/>
              <a:sym typeface="+mn-ea"/>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FC63145C-71F2-48C1-8DD2-31D6AC142F2A}" type="slidenum">
              <a:rPr lang="en-US" altLang="zh-CN" smtClean="0"/>
            </a:fld>
            <a:endParaRPr lang="en-US" altLang="zh-CN"/>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t>Learning Objectives of This Chapter</a:t>
            </a:r>
            <a:endParaRPr lang="en-US" altLang="zh-CN" sz="3200" dirty="0"/>
          </a:p>
        </p:txBody>
      </p:sp>
      <p:sp>
        <p:nvSpPr>
          <p:cNvPr id="3" name="内容占位符 2"/>
          <p:cNvSpPr>
            <a:spLocks noGrp="1"/>
          </p:cNvSpPr>
          <p:nvPr>
            <p:ph idx="1"/>
          </p:nvPr>
        </p:nvSpPr>
        <p:spPr/>
        <p:txBody>
          <a:bodyPr/>
          <a:lstStyle/>
          <a:p>
            <a:pPr>
              <a:lnSpc>
                <a:spcPct val="105000"/>
              </a:lnSpc>
            </a:pPr>
            <a:r>
              <a:rPr lang="zh-CN" altLang="en-US" sz="2200" b="1" dirty="0">
                <a:solidFill>
                  <a:srgbClr val="000099"/>
                </a:solidFill>
                <a:ea typeface="楷体_GB2312" pitchFamily="49" charset="-122"/>
                <a:cs typeface="Arial" panose="020B0604020202020204" pitchFamily="34" charset="0"/>
              </a:rPr>
              <a:t>Familiarize yourself with various </a:t>
            </a:r>
            <a:r>
              <a:rPr lang="zh-CN" altLang="en-US" sz="2200" b="1" dirty="0">
                <a:solidFill>
                  <a:srgbClr val="FF0000"/>
                </a:solidFill>
                <a:ea typeface="楷体_GB2312" pitchFamily="49" charset="-122"/>
                <a:cs typeface="Arial" panose="020B0604020202020204" pitchFamily="34" charset="0"/>
              </a:rPr>
              <a:t>storage structures</a:t>
            </a:r>
            <a:r>
              <a:rPr lang="zh-CN" altLang="en-US" sz="2200" b="1" dirty="0">
                <a:solidFill>
                  <a:srgbClr val="000099"/>
                </a:solidFill>
                <a:ea typeface="楷体_GB2312" pitchFamily="49" charset="-122"/>
                <a:cs typeface="Arial" panose="020B0604020202020204" pitchFamily="34" charset="0"/>
              </a:rPr>
              <a:t> of graphs and their construction algorithms, and understand that the solution efficiency of practical problems is closely related to the storage structure and algorithm adopted.</a:t>
            </a:r>
            <a:endParaRPr lang="zh-CN" altLang="en-US" sz="2200" b="1" dirty="0">
              <a:solidFill>
                <a:srgbClr val="000099"/>
              </a:solidFill>
              <a:ea typeface="楷体_GB2312" pitchFamily="49" charset="-122"/>
              <a:cs typeface="Arial" panose="020B0604020202020204" pitchFamily="34" charset="0"/>
            </a:endParaRPr>
          </a:p>
          <a:p>
            <a:pPr>
              <a:lnSpc>
                <a:spcPct val="105000"/>
              </a:lnSpc>
            </a:pPr>
            <a:r>
              <a:rPr lang="zh-CN" altLang="en-US" sz="2200" b="1" dirty="0">
                <a:solidFill>
                  <a:srgbClr val="000099"/>
                </a:solidFill>
                <a:ea typeface="楷体_GB2312" pitchFamily="49" charset="-122"/>
                <a:cs typeface="Arial" panose="020B0604020202020204" pitchFamily="34" charset="0"/>
              </a:rPr>
              <a:t>Master the </a:t>
            </a:r>
            <a:r>
              <a:rPr lang="zh-CN" altLang="en-US" sz="2200" b="1" dirty="0">
                <a:solidFill>
                  <a:srgbClr val="FF0000"/>
                </a:solidFill>
                <a:ea typeface="楷体_GB2312" pitchFamily="49" charset="-122"/>
                <a:cs typeface="Arial" panose="020B0604020202020204" pitchFamily="34" charset="0"/>
              </a:rPr>
              <a:t>two traversal methods</a:t>
            </a:r>
            <a:r>
              <a:rPr lang="zh-CN" altLang="en-US" sz="2200" b="1" dirty="0">
                <a:solidFill>
                  <a:srgbClr val="000099"/>
                </a:solidFill>
                <a:ea typeface="楷体_GB2312" pitchFamily="49" charset="-122"/>
                <a:cs typeface="Arial" panose="020B0604020202020204" pitchFamily="34" charset="0"/>
              </a:rPr>
              <a:t> </a:t>
            </a:r>
            <a:r>
              <a:rPr lang="zh-CN" altLang="en-US" sz="2200" b="1" dirty="0">
                <a:solidFill>
                  <a:srgbClr val="FF0000"/>
                </a:solidFill>
                <a:ea typeface="楷体_GB2312" pitchFamily="49" charset="-122"/>
                <a:cs typeface="Arial" panose="020B0604020202020204" pitchFamily="34" charset="0"/>
              </a:rPr>
              <a:t>for searching paths </a:t>
            </a:r>
            <a:r>
              <a:rPr lang="zh-CN" altLang="en-US" sz="2200" b="1" dirty="0">
                <a:solidFill>
                  <a:srgbClr val="000099"/>
                </a:solidFill>
                <a:ea typeface="楷体_GB2312" pitchFamily="49" charset="-122"/>
                <a:cs typeface="Arial" panose="020B0604020202020204" pitchFamily="34" charset="0"/>
              </a:rPr>
              <a:t>in graphs proficiently: the logical definition of traversal, and the algorithms of Depth-First Search (DFS) and Breadth-First Search (BFS). When learning, pay attention to the similarities and differences between graph traversal algorithms and tree traversal algorithms.</a:t>
            </a:r>
            <a:endParaRPr lang="zh-CN" altLang="en-US" sz="2200" b="1" dirty="0">
              <a:solidFill>
                <a:srgbClr val="000099"/>
              </a:solidFill>
              <a:ea typeface="楷体_GB2312" pitchFamily="49" charset="-122"/>
              <a:cs typeface="Arial" panose="020B0604020202020204" pitchFamily="34" charset="0"/>
            </a:endParaRPr>
          </a:p>
          <a:p>
            <a:pPr>
              <a:lnSpc>
                <a:spcPct val="105000"/>
              </a:lnSpc>
            </a:pPr>
            <a:r>
              <a:rPr lang="zh-CN" altLang="en-US" sz="2200" b="1" dirty="0">
                <a:solidFill>
                  <a:srgbClr val="000099"/>
                </a:solidFill>
                <a:ea typeface="楷体_GB2312" pitchFamily="49" charset="-122"/>
                <a:cs typeface="Arial" panose="020B0604020202020204" pitchFamily="34" charset="0"/>
              </a:rPr>
              <a:t>Apply graph traversal algorithms to </a:t>
            </a:r>
            <a:r>
              <a:rPr lang="zh-CN" altLang="en-US" sz="2200" b="1" dirty="0">
                <a:solidFill>
                  <a:srgbClr val="FF0000"/>
                </a:solidFill>
                <a:ea typeface="楷体_GB2312" pitchFamily="49" charset="-122"/>
                <a:cs typeface="Arial" panose="020B0604020202020204" pitchFamily="34" charset="0"/>
              </a:rPr>
              <a:t>solve various simple path problems.</a:t>
            </a:r>
            <a:endParaRPr lang="zh-CN" altLang="en-US" sz="2200" b="1" dirty="0">
              <a:solidFill>
                <a:srgbClr val="FF0000"/>
              </a:solidFill>
              <a:ea typeface="楷体_GB2312" pitchFamily="49" charset="-122"/>
              <a:cs typeface="Arial" panose="020B0604020202020204" pitchFamily="34" charset="0"/>
            </a:endParaRPr>
          </a:p>
        </p:txBody>
      </p:sp>
      <p:sp>
        <p:nvSpPr>
          <p:cNvPr id="4" name="页脚占位符 3"/>
          <p:cNvSpPr>
            <a:spLocks noGrp="1"/>
          </p:cNvSpPr>
          <p:nvPr>
            <p:ph type="ftr" sz="quarter" idx="10"/>
          </p:nvPr>
        </p:nvSpPr>
        <p:spPr/>
        <p:txBody>
          <a:bodyPr/>
          <a:lstStyle/>
          <a:p>
            <a:pPr>
              <a:defRPr/>
            </a:pPr>
            <a:r>
              <a:rPr lang="en-US" altLang="zh-CN"/>
              <a:t>©Haiyang Liu, 2025</a:t>
            </a:r>
            <a:endParaRPr lang="en-US" altLang="zh-CN" dirty="0"/>
          </a:p>
        </p:txBody>
      </p:sp>
      <p:sp>
        <p:nvSpPr>
          <p:cNvPr id="5" name="灯片编号占位符 4"/>
          <p:cNvSpPr>
            <a:spLocks noGrp="1"/>
          </p:cNvSpPr>
          <p:nvPr>
            <p:ph type="sldNum" sz="quarter" idx="11"/>
          </p:nvPr>
        </p:nvSpPr>
        <p:spPr/>
        <p:txBody>
          <a:bodyPr/>
          <a:lstStyle/>
          <a:p>
            <a:pPr>
              <a:defRPr/>
            </a:pPr>
            <a:fld id="{B40C3BFD-24D0-4966-81A9-4BDD3454C069}" type="slidenum">
              <a:rPr lang="en-US" altLang="zh-CN" smtClean="0"/>
            </a:fld>
            <a:endParaRPr lang="en-US" altLang="zh-CN"/>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539750" y="1341438"/>
            <a:ext cx="8280400" cy="1727200"/>
          </a:xfrm>
        </p:spPr>
        <p:txBody>
          <a:bodyPr/>
          <a:lstStyle/>
          <a:p>
            <a:r>
              <a:rPr lang="en-US" altLang="zh-CN" dirty="0">
                <a:solidFill>
                  <a:srgbClr val="FF0000"/>
                </a:solidFill>
                <a:latin typeface="Script MT Bold" panose="03040602040607080904" pitchFamily="66" charset="0"/>
                <a:ea typeface="楷体_GB2312" pitchFamily="49" charset="-122"/>
              </a:rPr>
              <a:t>Thank You !</a:t>
            </a:r>
            <a:endParaRPr lang="en-US" altLang="zh-CN" b="0" dirty="0">
              <a:solidFill>
                <a:srgbClr val="003300"/>
              </a:solidFill>
              <a:latin typeface="Script MT Bold" panose="03040602040607080904" pitchFamily="66" charset="0"/>
              <a:ea typeface="楷体_GB2312" pitchFamily="49" charset="-122"/>
            </a:endParaRPr>
          </a:p>
        </p:txBody>
      </p:sp>
      <p:sp>
        <p:nvSpPr>
          <p:cNvPr id="6147" name="Rectangle 3"/>
          <p:cNvSpPr>
            <a:spLocks noGrp="1" noChangeArrowheads="1"/>
          </p:cNvSpPr>
          <p:nvPr>
            <p:ph type="subTitle" idx="1"/>
          </p:nvPr>
        </p:nvSpPr>
        <p:spPr>
          <a:xfrm>
            <a:off x="827088" y="3500438"/>
            <a:ext cx="7561262" cy="2520850"/>
          </a:xfrm>
        </p:spPr>
        <p:txBody>
          <a:bodyPr/>
          <a:lstStyle/>
          <a:p>
            <a:pPr eaLnBrk="1" hangingPunct="1">
              <a:lnSpc>
                <a:spcPct val="80000"/>
              </a:lnSpc>
            </a:pPr>
            <a:r>
              <a:rPr lang="en-US" altLang="zh-CN" sz="3200" b="1" dirty="0">
                <a:solidFill>
                  <a:srgbClr val="003E9A"/>
                </a:solidFill>
              </a:rPr>
              <a:t>Dr. Haiyang Liu</a:t>
            </a:r>
            <a:endParaRPr lang="en-US" altLang="zh-CN" sz="3200" b="1" dirty="0">
              <a:solidFill>
                <a:srgbClr val="003E9A"/>
              </a:solidFill>
            </a:endParaRPr>
          </a:p>
        </p:txBody>
      </p:sp>
    </p:spTree>
  </p:cSld>
  <p:clrMapOvr>
    <a:masterClrMapping/>
  </p:clrMapOvr>
</p:sld>
</file>

<file path=ppt/tags/tag1.xml><?xml version="1.0" encoding="utf-8"?>
<p:tagLst xmlns:p="http://schemas.openxmlformats.org/presentationml/2006/main">
  <p:tag name="KSO_WM_DIAGRAM_VIRTUALLY_FRAME" val="{&quot;height&quot;:166.57503937007874,&quot;left&quot;:216,&quot;top&quot;:139.5,&quot;width&quot;:450}"/>
</p:tagLst>
</file>

<file path=ppt/tags/tag2.xml><?xml version="1.0" encoding="utf-8"?>
<p:tagLst xmlns:p="http://schemas.openxmlformats.org/presentationml/2006/main">
  <p:tag name="KSO_WM_DIAGRAM_VIRTUALLY_FRAME" val="{&quot;height&quot;:166.57503937007874,&quot;left&quot;:216,&quot;top&quot;:139.5,&quot;width&quot;:450}"/>
</p:tagLst>
</file>

<file path=ppt/tags/tag3.xml><?xml version="1.0" encoding="utf-8"?>
<p:tagLst xmlns:p="http://schemas.openxmlformats.org/presentationml/2006/main">
  <p:tag name="KSO_WM_DIAGRAM_VIRTUALLY_FRAME" val="{&quot;height&quot;:166.57503937007874,&quot;left&quot;:216,&quot;top&quot;:139.5,&quot;width&quot;:450}"/>
</p:tagLst>
</file>

<file path=ppt/tags/tag4.xml><?xml version="1.0" encoding="utf-8"?>
<p:tagLst xmlns:p="http://schemas.openxmlformats.org/presentationml/2006/main">
  <p:tag name="KSO_WM_DIAGRAM_VIRTUALLY_FRAME" val="{&quot;height&quot;:166.57503937007874,&quot;left&quot;:216,&quot;top&quot;:139.5,&quot;width&quot;:450}"/>
</p:tagLst>
</file>

<file path=ppt/tags/tag5.xml><?xml version="1.0" encoding="utf-8"?>
<p:tagLst xmlns:p="http://schemas.openxmlformats.org/presentationml/2006/main">
  <p:tag name="KSO_WM_DIAGRAM_VIRTUALLY_FRAME" val="{&quot;height&quot;:164.95,&quot;left&quot;:210,&quot;top&quot;:127,&quot;width&quot;:396}"/>
</p:tagLst>
</file>

<file path=ppt/tags/tag6.xml><?xml version="1.0" encoding="utf-8"?>
<p:tagLst xmlns:p="http://schemas.openxmlformats.org/presentationml/2006/main">
  <p:tag name="KSO_WM_DIAGRAM_VIRTUALLY_FRAME" val="{&quot;height&quot;:164.95,&quot;left&quot;:210,&quot;top&quot;:127,&quot;width&quot;:396}"/>
</p:tagLst>
</file>

<file path=ppt/tags/tag7.xml><?xml version="1.0" encoding="utf-8"?>
<p:tagLst xmlns:p="http://schemas.openxmlformats.org/presentationml/2006/main">
  <p:tag name="KSO_WM_DIAGRAM_VIRTUALLY_FRAME" val="{&quot;height&quot;:164.95,&quot;left&quot;:210,&quot;top&quot;:127,&quot;width&quot;:396}"/>
</p:tagLst>
</file>

<file path=ppt/tags/tag8.xml><?xml version="1.0" encoding="utf-8"?>
<p:tagLst xmlns:p="http://schemas.openxmlformats.org/presentationml/2006/main">
  <p:tag name="KSO_WM_DIAGRAM_VIRTUALLY_FRAME" val="{&quot;height&quot;:164.95,&quot;left&quot;:210,&quot;top&quot;:127,&quot;width&quot;:396}"/>
</p:tagLst>
</file>

<file path=ppt/theme/theme1.xml><?xml version="1.0" encoding="utf-8"?>
<a:theme xmlns:a="http://schemas.openxmlformats.org/drawingml/2006/main" name="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Slides2B">
  <a:themeElements>
    <a:clrScheme name="沉稳">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Slides1A">
      <a:majorFont>
        <a:latin typeface="Tahoma"/>
        <a:ea typeface="楷体_GB2312"/>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63500">
          <a:solidFill>
            <a:schemeClr val="accent6"/>
          </a:solidFill>
          <a:round/>
        </a:ln>
      </a:spPr>
      <a:bodyPr wrap="none" anchor="ct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lides1A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lides1A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lides1A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lides1A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lides1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lides1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lides1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Slides2B</Template>
  <TotalTime>0</TotalTime>
  <Words>57286</Words>
  <Application>WPS 演示</Application>
  <PresentationFormat>全屏显示(4:3)</PresentationFormat>
  <Paragraphs>4152</Paragraphs>
  <Slides>170</Slides>
  <Notes>2</Notes>
  <HiddenSlides>0</HiddenSlides>
  <MMClips>0</MMClips>
  <ScaleCrop>false</ScaleCrop>
  <HeadingPairs>
    <vt:vector size="8" baseType="variant">
      <vt:variant>
        <vt:lpstr>已用的字体</vt:lpstr>
      </vt:variant>
      <vt:variant>
        <vt:i4>19</vt:i4>
      </vt:variant>
      <vt:variant>
        <vt:lpstr>主题</vt:lpstr>
      </vt:variant>
      <vt:variant>
        <vt:i4>11</vt:i4>
      </vt:variant>
      <vt:variant>
        <vt:lpstr>嵌入 OLE 服务器</vt:lpstr>
      </vt:variant>
      <vt:variant>
        <vt:i4>35</vt:i4>
      </vt:variant>
      <vt:variant>
        <vt:lpstr>幻灯片标题</vt:lpstr>
      </vt:variant>
      <vt:variant>
        <vt:i4>170</vt:i4>
      </vt:variant>
    </vt:vector>
  </HeadingPairs>
  <TitlesOfParts>
    <vt:vector size="235" baseType="lpstr">
      <vt:lpstr>Arial</vt:lpstr>
      <vt:lpstr>宋体</vt:lpstr>
      <vt:lpstr>Wingdings</vt:lpstr>
      <vt:lpstr>Times New Roman</vt:lpstr>
      <vt:lpstr>Verdana</vt:lpstr>
      <vt:lpstr>Tahoma</vt:lpstr>
      <vt:lpstr>楷体_GB2312</vt:lpstr>
      <vt:lpstr>新宋体</vt:lpstr>
      <vt:lpstr>Symbol</vt:lpstr>
      <vt:lpstr>微软雅黑</vt:lpstr>
      <vt:lpstr>Arial Unicode MS</vt:lpstr>
      <vt:lpstr>Consolas</vt:lpstr>
      <vt:lpstr>Monotype Sorts</vt:lpstr>
      <vt:lpstr>Wingdings</vt:lpstr>
      <vt:lpstr>隶书</vt:lpstr>
      <vt:lpstr>黑体</vt:lpstr>
      <vt:lpstr>Times New Roman</vt:lpstr>
      <vt:lpstr>Script MT Bold</vt:lpstr>
      <vt:lpstr>Toots Regular</vt:lpstr>
      <vt:lpstr>Slides2B</vt:lpstr>
      <vt:lpstr>1_Slides2B</vt:lpstr>
      <vt:lpstr>2_Slides2B</vt:lpstr>
      <vt:lpstr>3_Slides2B</vt:lpstr>
      <vt:lpstr>4_Slides2B</vt:lpstr>
      <vt:lpstr>5_Slides2B</vt:lpstr>
      <vt:lpstr>6_Slides2B</vt:lpstr>
      <vt:lpstr>7_Slides2B</vt:lpstr>
      <vt:lpstr>8_Slides2B</vt:lpstr>
      <vt:lpstr>9_Slides2B</vt:lpstr>
      <vt:lpstr>10_Slides2B</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Photoshop.Image.7</vt:lpstr>
      <vt:lpstr>Word.Document.8</vt:lpstr>
      <vt:lpstr>Word.Document.8</vt:lpstr>
      <vt:lpstr>MS_ClipArt_Gallery.2</vt:lpstr>
      <vt:lpstr>MS_ClipArt_Gallery.2</vt:lpstr>
      <vt:lpstr>Equation.DSMT4</vt:lpstr>
      <vt:lpstr>Word.Document.8</vt:lpstr>
      <vt:lpstr>Word.Document.8</vt:lpstr>
      <vt:lpstr>Photoshop.Image.7</vt:lpstr>
      <vt:lpstr>Word.Document.8</vt:lpstr>
      <vt:lpstr>Word.Document.8</vt:lpstr>
      <vt:lpstr>MS_ClipArt_Gallery.2</vt:lpstr>
      <vt:lpstr>MS_ClipArt_Gallery.2</vt:lpstr>
      <vt:lpstr>MS_ClipArt_Gallery.2</vt:lpstr>
      <vt:lpstr>MS_ClipArt_Gallery.2</vt:lpstr>
      <vt:lpstr>Photoshop.Image.7</vt:lpstr>
      <vt:lpstr>Photoshop.Image.7</vt:lpstr>
      <vt:lpstr>Photoshop.Image.7</vt:lpstr>
      <vt:lpstr>Photoshop.Image.7</vt:lpstr>
      <vt:lpstr>Photoshop.Image.7</vt:lpstr>
      <vt:lpstr>Photoshop.Image.7</vt:lpstr>
      <vt:lpstr>Data Structure  </vt:lpstr>
      <vt:lpstr>Graph Theory and Its Algorithms</vt:lpstr>
      <vt:lpstr>Outline:  Content</vt:lpstr>
      <vt:lpstr>Outline:  Key Points</vt:lpstr>
      <vt:lpstr>Main content</vt:lpstr>
      <vt:lpstr>Main content</vt:lpstr>
      <vt:lpstr>Basic Concepts of Graph Theory</vt:lpstr>
      <vt:lpstr>Structural Definition of Graphs</vt:lpstr>
      <vt:lpstr>Directed Graph</vt:lpstr>
      <vt:lpstr>Undirected Graph</vt:lpstr>
      <vt:lpstr>Network</vt:lpstr>
      <vt:lpstr>Basic Concepts of Graph Theory</vt:lpstr>
      <vt:lpstr>Terminologies in Graph Theory </vt:lpstr>
      <vt:lpstr>Subgragh</vt:lpstr>
      <vt:lpstr>Complete Graph, Sparse Graph, and Dense Graph</vt:lpstr>
      <vt:lpstr>Adjacent Vertices and Degree</vt:lpstr>
      <vt:lpstr>In-degree and Out-degree</vt:lpstr>
      <vt:lpstr>Path</vt:lpstr>
      <vt:lpstr>Simple Path and Loop</vt:lpstr>
      <vt:lpstr>Connected and disconnected graphs</vt:lpstr>
      <vt:lpstr>Connected Component</vt:lpstr>
      <vt:lpstr>Strongly Connected Graph and Weakly Connected Graph</vt:lpstr>
      <vt:lpstr>Strongly Connected Components</vt:lpstr>
      <vt:lpstr>Spanning Tree of a Connected Graph</vt:lpstr>
      <vt:lpstr>Spanning Forest of a Disconnected Graph</vt:lpstr>
      <vt:lpstr>Basic Concepts of Graph Theory</vt:lpstr>
      <vt:lpstr>Abstract Data Type Definition of Graphs</vt:lpstr>
      <vt:lpstr>Basic Operations on Graphs</vt:lpstr>
      <vt:lpstr>Creation and Destruction of Structure</vt:lpstr>
      <vt:lpstr>Access Operations on Vertices</vt:lpstr>
      <vt:lpstr>Operations on Adjacent Vertices</vt:lpstr>
      <vt:lpstr>Insert or delete vertex</vt:lpstr>
      <vt:lpstr>Traversal</vt:lpstr>
      <vt:lpstr>Main content</vt:lpstr>
      <vt:lpstr>Graph storage representations</vt:lpstr>
      <vt:lpstr>Array (Adjacency Matrix) Storage Representation of Graphs</vt:lpstr>
      <vt:lpstr>Adjacency Matrix of an Undirected Graph</vt:lpstr>
      <vt:lpstr>Characteristics of the Adjacency Matrix of an Undirected Graph</vt:lpstr>
      <vt:lpstr>Adjacency matrix of a directed graph</vt:lpstr>
      <vt:lpstr>Characteristics of the Adjacency Matrix of an Directed Graph</vt:lpstr>
      <vt:lpstr>Network Adjacency Matrix</vt:lpstr>
      <vt:lpstr>Example of a Network Adjacency Matrix</vt:lpstr>
      <vt:lpstr>Adjacency Matrix Storage Representation of Graphs (1) </vt:lpstr>
      <vt:lpstr>Adjacency Matrix Storage Representation of Graphs (2) </vt:lpstr>
      <vt:lpstr>Adjacency Matrix Storage Representation of Graphs (3)</vt:lpstr>
      <vt:lpstr>Advantages of Adjacency Matrix Representation</vt:lpstr>
      <vt:lpstr>Disadvantages of adjacency matrix representation</vt:lpstr>
      <vt:lpstr>Graph storage representations</vt:lpstr>
      <vt:lpstr>PowerPoint 演示文稿</vt:lpstr>
      <vt:lpstr>PowerPoint 演示文稿</vt:lpstr>
      <vt:lpstr>Adjacency List of an Undirected Graph</vt:lpstr>
      <vt:lpstr>PowerPoint 演示文稿</vt:lpstr>
      <vt:lpstr>PowerPoint 演示文稿</vt:lpstr>
      <vt:lpstr>Adjacency List Storage Representation of Graphs</vt:lpstr>
      <vt:lpstr>PowerPoint 演示文稿</vt:lpstr>
      <vt:lpstr>PowerPoint 演示文稿</vt:lpstr>
      <vt:lpstr>PowerPoint 演示文稿</vt:lpstr>
      <vt:lpstr>Graph storage representations</vt:lpstr>
      <vt:lpstr>PowerPoint 演示文稿</vt:lpstr>
      <vt:lpstr>PowerPoint 演示文稿</vt:lpstr>
      <vt:lpstr>PowerPoint 演示文稿</vt:lpstr>
      <vt:lpstr>PowerPoint 演示文稿</vt:lpstr>
      <vt:lpstr>PowerPoint 演示文稿</vt:lpstr>
      <vt:lpstr>PowerPoint 演示文稿</vt:lpstr>
      <vt:lpstr>Main content</vt:lpstr>
      <vt:lpstr>Graph Traversal Definition</vt:lpstr>
      <vt:lpstr>Traversal Complexity</vt:lpstr>
      <vt:lpstr>Two Traversal Strategies</vt:lpstr>
      <vt:lpstr>Depth-First Search Traversal of Graphs</vt:lpstr>
      <vt:lpstr>Depth-First Search Traversal of Connected Graphs</vt:lpstr>
      <vt:lpstr>Depth-first search traversal example (Wing)</vt:lpstr>
      <vt:lpstr>Example of a depth-first search traversal result</vt:lpstr>
      <vt:lpstr>Depth-first search traversal algorithm (1)</vt:lpstr>
      <vt:lpstr>Depth-first search traversal algorithm (2)</vt:lpstr>
      <vt:lpstr>Depth-first search traversal of a disconnected graph</vt:lpstr>
      <vt:lpstr>PowerPoint 演示文稿</vt:lpstr>
      <vt:lpstr>PowerPoint 演示文稿</vt:lpstr>
      <vt:lpstr>Two Traversal Strategies</vt:lpstr>
      <vt:lpstr>PowerPoint 演示文稿</vt:lpstr>
      <vt:lpstr>PowerPoint 演示文稿</vt:lpstr>
      <vt:lpstr>PowerPoint 演示文稿</vt:lpstr>
      <vt:lpstr>PowerPoint 演示文稿</vt:lpstr>
      <vt:lpstr>PowerPoint 演示文稿</vt:lpstr>
      <vt:lpstr>PowerPoint 演示文稿</vt:lpstr>
      <vt:lpstr>Example of traversing an application</vt:lpstr>
      <vt:lpstr>PowerPoint 演示文稿</vt:lpstr>
      <vt:lpstr>PowerPoint 演示文稿</vt:lpstr>
      <vt:lpstr>PowerPoint 演示文稿</vt:lpstr>
      <vt:lpstr>Shortest path</vt:lpstr>
      <vt:lpstr>PowerPoint 演示文稿</vt:lpstr>
      <vt:lpstr>PowerPoint 演示文稿</vt:lpstr>
      <vt:lpstr>PowerPoint 演示文稿</vt:lpstr>
      <vt:lpstr>PowerPoint 演示文稿</vt:lpstr>
      <vt:lpstr>PowerPoint 演示文稿</vt:lpstr>
      <vt:lpstr>Main content</vt:lpstr>
      <vt:lpstr>Graph Connectivity</vt:lpstr>
      <vt:lpstr>Spanning Tree</vt:lpstr>
      <vt:lpstr>Depth-First Spanning Tree and Breadth-First Spanning Tree</vt:lpstr>
      <vt:lpstr>Minimum Cost Spanning Tree</vt:lpstr>
      <vt:lpstr>Application of Minimum Cost Spanning Tree</vt:lpstr>
      <vt:lpstr>The most cost-effective communication network (1)</vt:lpstr>
      <vt:lpstr>The most cost-effective communication network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Main content</vt:lpstr>
      <vt:lpstr>The shortest path between two vertices</vt:lpstr>
      <vt:lpstr>PowerPoint 演示文稿</vt:lpstr>
      <vt:lpstr>PowerPoint 演示文稿</vt:lpstr>
      <vt:lpstr>PowerPoint 演示文稿</vt:lpstr>
      <vt:lpstr>PowerPoint 演示文稿</vt:lpstr>
      <vt:lpstr>Proof of Dijkstra algorithm correctness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Main 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How to perform topological sorting?</vt:lpstr>
      <vt:lpstr>PowerPoint 演示文稿</vt:lpstr>
      <vt:lpstr>PowerPoint 演示文稿</vt:lpstr>
      <vt:lpstr>PowerPoint 演示文稿</vt:lpstr>
      <vt:lpstr>PowerPoint 演示文稿</vt:lpstr>
      <vt:lpstr>PowerPoint 演示文稿</vt:lpstr>
      <vt:lpstr>PowerPoint 演示文稿</vt:lpstr>
      <vt:lpstr>Topological sorting requirements</vt:lpstr>
      <vt:lpstr>Main 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Learning Objectives of This Chapter</vt:lpstr>
      <vt:lpstr>Thank You !</vt:lpstr>
    </vt:vector>
  </TitlesOfParts>
  <Company>BJTU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数据结构（A） (课程号: 80L129Q)</dc:title>
  <dc:creator>Zhihai WANG</dc:creator>
  <cp:lastModifiedBy>8000子</cp:lastModifiedBy>
  <cp:revision>213</cp:revision>
  <dcterms:created xsi:type="dcterms:W3CDTF">2015-04-07T08:57:00Z</dcterms:created>
  <dcterms:modified xsi:type="dcterms:W3CDTF">2025-11-08T07:15:09Z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323008BB93164ECFABDC85DACC5E9A34_13</vt:lpwstr>
  </property>
  <property fmtid="{D5CDD505-2E9C-101B-9397-08002B2CF9AE}" pid="3" name="KSOProductBuildVer">
    <vt:lpwstr>2052-12.1.0.23542</vt:lpwstr>
  </property>
</Properties>
</file>