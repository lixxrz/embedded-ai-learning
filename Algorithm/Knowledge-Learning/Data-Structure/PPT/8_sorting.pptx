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4.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5.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6.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7.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8.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9.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10.xml" ContentType="application/vnd.openxmlformats-officedocument.theme+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2"/>
    <p:sldMasterId id="2147483666" r:id="rId3"/>
    <p:sldMasterId id="2147483675" r:id="rId4"/>
    <p:sldMasterId id="2147483684" r:id="rId5"/>
    <p:sldMasterId id="2147483693" r:id="rId6"/>
    <p:sldMasterId id="2147483702" r:id="rId7"/>
    <p:sldMasterId id="2147483711" r:id="rId8"/>
    <p:sldMasterId id="2147483720" r:id="rId9"/>
    <p:sldMasterId id="2147483729" r:id="rId10"/>
    <p:sldMasterId id="2147483738" r:id="rId11"/>
  </p:sldMasterIdLst>
  <p:notesMasterIdLst>
    <p:notesMasterId r:id="rId174"/>
  </p:notesMasterIdLst>
  <p:handoutMasterIdLst>
    <p:handoutMasterId r:id="rId175"/>
  </p:handoutMasterIdLst>
  <p:sldIdLst>
    <p:sldId id="467" r:id="rId12"/>
    <p:sldId id="577" r:id="rId13"/>
    <p:sldId id="916" r:id="rId14"/>
    <p:sldId id="917" r:id="rId15"/>
    <p:sldId id="919" r:id="rId16"/>
    <p:sldId id="922" r:id="rId17"/>
    <p:sldId id="923" r:id="rId18"/>
    <p:sldId id="924" r:id="rId19"/>
    <p:sldId id="925" r:id="rId20"/>
    <p:sldId id="926" r:id="rId21"/>
    <p:sldId id="927" r:id="rId22"/>
    <p:sldId id="928" r:id="rId23"/>
    <p:sldId id="929" r:id="rId24"/>
    <p:sldId id="930" r:id="rId25"/>
    <p:sldId id="931" r:id="rId26"/>
    <p:sldId id="932" r:id="rId27"/>
    <p:sldId id="757" r:id="rId28"/>
    <p:sldId id="920" r:id="rId29"/>
    <p:sldId id="933" r:id="rId30"/>
    <p:sldId id="934" r:id="rId31"/>
    <p:sldId id="935" r:id="rId32"/>
    <p:sldId id="936" r:id="rId33"/>
    <p:sldId id="937" r:id="rId34"/>
    <p:sldId id="938" r:id="rId35"/>
    <p:sldId id="939" r:id="rId36"/>
    <p:sldId id="940" r:id="rId37"/>
    <p:sldId id="767" r:id="rId38"/>
    <p:sldId id="768" r:id="rId39"/>
    <p:sldId id="943" r:id="rId40"/>
    <p:sldId id="944" r:id="rId41"/>
    <p:sldId id="945" r:id="rId42"/>
    <p:sldId id="772" r:id="rId43"/>
    <p:sldId id="773" r:id="rId44"/>
    <p:sldId id="774" r:id="rId45"/>
    <p:sldId id="946" r:id="rId46"/>
    <p:sldId id="947" r:id="rId47"/>
    <p:sldId id="777" r:id="rId48"/>
    <p:sldId id="778" r:id="rId49"/>
    <p:sldId id="779" r:id="rId50"/>
    <p:sldId id="780" r:id="rId51"/>
    <p:sldId id="781" r:id="rId52"/>
    <p:sldId id="782" r:id="rId53"/>
    <p:sldId id="783" r:id="rId54"/>
    <p:sldId id="948" r:id="rId55"/>
    <p:sldId id="950" r:id="rId56"/>
    <p:sldId id="786" r:id="rId57"/>
    <p:sldId id="788" r:id="rId58"/>
    <p:sldId id="789" r:id="rId59"/>
    <p:sldId id="952" r:id="rId60"/>
    <p:sldId id="953" r:id="rId61"/>
    <p:sldId id="954" r:id="rId62"/>
    <p:sldId id="955" r:id="rId63"/>
    <p:sldId id="793" r:id="rId64"/>
    <p:sldId id="794" r:id="rId65"/>
    <p:sldId id="957" r:id="rId66"/>
    <p:sldId id="796" r:id="rId67"/>
    <p:sldId id="958" r:id="rId68"/>
    <p:sldId id="959" r:id="rId69"/>
    <p:sldId id="960" r:id="rId70"/>
    <p:sldId id="961" r:id="rId71"/>
    <p:sldId id="962" r:id="rId72"/>
    <p:sldId id="963" r:id="rId73"/>
    <p:sldId id="802" r:id="rId74"/>
    <p:sldId id="803" r:id="rId75"/>
    <p:sldId id="964" r:id="rId76"/>
    <p:sldId id="805" r:id="rId77"/>
    <p:sldId id="806" r:id="rId78"/>
    <p:sldId id="965" r:id="rId79"/>
    <p:sldId id="966" r:id="rId80"/>
    <p:sldId id="967" r:id="rId81"/>
    <p:sldId id="968" r:id="rId82"/>
    <p:sldId id="969" r:id="rId83"/>
    <p:sldId id="970" r:id="rId84"/>
    <p:sldId id="813" r:id="rId85"/>
    <p:sldId id="814" r:id="rId86"/>
    <p:sldId id="971" r:id="rId87"/>
    <p:sldId id="972" r:id="rId88"/>
    <p:sldId id="817" r:id="rId89"/>
    <p:sldId id="818" r:id="rId90"/>
    <p:sldId id="819" r:id="rId91"/>
    <p:sldId id="820" r:id="rId92"/>
    <p:sldId id="974" r:id="rId93"/>
    <p:sldId id="822" r:id="rId94"/>
    <p:sldId id="823" r:id="rId95"/>
    <p:sldId id="976" r:id="rId96"/>
    <p:sldId id="977" r:id="rId97"/>
    <p:sldId id="826" r:id="rId98"/>
    <p:sldId id="979" r:id="rId99"/>
    <p:sldId id="828" r:id="rId100"/>
    <p:sldId id="980" r:id="rId101"/>
    <p:sldId id="830" r:id="rId102"/>
    <p:sldId id="831" r:id="rId103"/>
    <p:sldId id="832" r:id="rId104"/>
    <p:sldId id="985" r:id="rId105"/>
    <p:sldId id="986" r:id="rId106"/>
    <p:sldId id="988" r:id="rId107"/>
    <p:sldId id="989" r:id="rId108"/>
    <p:sldId id="836" r:id="rId109"/>
    <p:sldId id="990" r:id="rId110"/>
    <p:sldId id="991" r:id="rId111"/>
    <p:sldId id="839" r:id="rId112"/>
    <p:sldId id="840" r:id="rId113"/>
    <p:sldId id="841" r:id="rId114"/>
    <p:sldId id="842" r:id="rId115"/>
    <p:sldId id="987" r:id="rId116"/>
    <p:sldId id="993" r:id="rId117"/>
    <p:sldId id="994" r:id="rId118"/>
    <p:sldId id="995" r:id="rId119"/>
    <p:sldId id="996" r:id="rId120"/>
    <p:sldId id="997" r:id="rId121"/>
    <p:sldId id="998" r:id="rId122"/>
    <p:sldId id="999" r:id="rId123"/>
    <p:sldId id="1000" r:id="rId124"/>
    <p:sldId id="1001" r:id="rId125"/>
    <p:sldId id="852" r:id="rId126"/>
    <p:sldId id="853" r:id="rId127"/>
    <p:sldId id="854" r:id="rId128"/>
    <p:sldId id="1002" r:id="rId129"/>
    <p:sldId id="1003" r:id="rId130"/>
    <p:sldId id="1004" r:id="rId131"/>
    <p:sldId id="1005" r:id="rId132"/>
    <p:sldId id="858" r:id="rId133"/>
    <p:sldId id="1006" r:id="rId134"/>
    <p:sldId id="860" r:id="rId135"/>
    <p:sldId id="1007" r:id="rId136"/>
    <p:sldId id="1008" r:id="rId137"/>
    <p:sldId id="1009" r:id="rId138"/>
    <p:sldId id="1010" r:id="rId139"/>
    <p:sldId id="1011" r:id="rId140"/>
    <p:sldId id="1012" r:id="rId141"/>
    <p:sldId id="1013" r:id="rId142"/>
    <p:sldId id="1014" r:id="rId143"/>
    <p:sldId id="1015" r:id="rId144"/>
    <p:sldId id="1016" r:id="rId145"/>
    <p:sldId id="1017" r:id="rId146"/>
    <p:sldId id="1018" r:id="rId147"/>
    <p:sldId id="1019" r:id="rId148"/>
    <p:sldId id="874" r:id="rId149"/>
    <p:sldId id="1020" r:id="rId150"/>
    <p:sldId id="1021" r:id="rId151"/>
    <p:sldId id="1022" r:id="rId152"/>
    <p:sldId id="878" r:id="rId153"/>
    <p:sldId id="879" r:id="rId154"/>
    <p:sldId id="880" r:id="rId155"/>
    <p:sldId id="881" r:id="rId156"/>
    <p:sldId id="882" r:id="rId157"/>
    <p:sldId id="883" r:id="rId158"/>
    <p:sldId id="884" r:id="rId159"/>
    <p:sldId id="885" r:id="rId160"/>
    <p:sldId id="886" r:id="rId161"/>
    <p:sldId id="1023" r:id="rId162"/>
    <p:sldId id="888" r:id="rId163"/>
    <p:sldId id="889" r:id="rId164"/>
    <p:sldId id="890" r:id="rId165"/>
    <p:sldId id="1024" r:id="rId166"/>
    <p:sldId id="1025" r:id="rId167"/>
    <p:sldId id="1026" r:id="rId168"/>
    <p:sldId id="1027" r:id="rId169"/>
    <p:sldId id="983" r:id="rId170"/>
    <p:sldId id="982" r:id="rId171"/>
    <p:sldId id="981" r:id="rId172"/>
    <p:sldId id="576" r:id="rId173"/>
  </p:sldIdLst>
  <p:sldSz cx="9144000" cy="6858000" type="screen4x3"/>
  <p:notesSz cx="6858000" cy="9144000"/>
  <p:defaultTextStyle>
    <a:defPPr>
      <a:defRPr lang="zh-CN"/>
    </a:defPPr>
    <a:lvl1pPr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0000"/>
    <a:srgbClr val="008000"/>
    <a:srgbClr val="5F5F5F"/>
    <a:srgbClr val="003300"/>
    <a:srgbClr val="EAEAEA"/>
    <a:srgbClr val="DDDDDD"/>
    <a:srgbClr val="FFFFFF"/>
    <a:srgbClr val="F2FDDB"/>
    <a:srgbClr val="E6F9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9" autoAdjust="0"/>
    <p:restoredTop sz="86381" autoAdjust="0"/>
  </p:normalViewPr>
  <p:slideViewPr>
    <p:cSldViewPr showGuides="1">
      <p:cViewPr varScale="1">
        <p:scale>
          <a:sx n="66" d="100"/>
          <a:sy n="66" d="100"/>
        </p:scale>
        <p:origin x="1278" y="39"/>
      </p:cViewPr>
      <p:guideLst>
        <p:guide orient="horz" pos="2160"/>
        <p:guide pos="2880"/>
      </p:guideLst>
    </p:cSldViewPr>
  </p:slideViewPr>
  <p:outlineViewPr>
    <p:cViewPr>
      <p:scale>
        <a:sx n="33" d="100"/>
        <a:sy n="33" d="100"/>
      </p:scale>
      <p:origin x="0" y="2128"/>
    </p:cViewPr>
  </p:outlineViewPr>
  <p:notesTextViewPr>
    <p:cViewPr>
      <p:scale>
        <a:sx n="100" d="100"/>
        <a:sy n="100" d="100"/>
      </p:scale>
      <p:origin x="0" y="0"/>
    </p:cViewPr>
  </p:notesText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06.xml"/><Relationship Id="rId21" Type="http://schemas.openxmlformats.org/officeDocument/2006/relationships/slide" Target="slides/slide10.xml"/><Relationship Id="rId42" Type="http://schemas.openxmlformats.org/officeDocument/2006/relationships/slide" Target="slides/slide31.xml"/><Relationship Id="rId63" Type="http://schemas.openxmlformats.org/officeDocument/2006/relationships/slide" Target="slides/slide52.xml"/><Relationship Id="rId84" Type="http://schemas.openxmlformats.org/officeDocument/2006/relationships/slide" Target="slides/slide73.xml"/><Relationship Id="rId138" Type="http://schemas.openxmlformats.org/officeDocument/2006/relationships/slide" Target="slides/slide127.xml"/><Relationship Id="rId159" Type="http://schemas.openxmlformats.org/officeDocument/2006/relationships/slide" Target="slides/slide148.xml"/><Relationship Id="rId170" Type="http://schemas.openxmlformats.org/officeDocument/2006/relationships/slide" Target="slides/slide159.xml"/><Relationship Id="rId107" Type="http://schemas.openxmlformats.org/officeDocument/2006/relationships/slide" Target="slides/slide96.xml"/><Relationship Id="rId11" Type="http://schemas.openxmlformats.org/officeDocument/2006/relationships/slideMaster" Target="slideMasters/slideMaster11.xml"/><Relationship Id="rId32" Type="http://schemas.openxmlformats.org/officeDocument/2006/relationships/slide" Target="slides/slide21.xml"/><Relationship Id="rId53" Type="http://schemas.openxmlformats.org/officeDocument/2006/relationships/slide" Target="slides/slide42.xml"/><Relationship Id="rId74" Type="http://schemas.openxmlformats.org/officeDocument/2006/relationships/slide" Target="slides/slide63.xml"/><Relationship Id="rId128" Type="http://schemas.openxmlformats.org/officeDocument/2006/relationships/slide" Target="slides/slide117.xml"/><Relationship Id="rId149" Type="http://schemas.openxmlformats.org/officeDocument/2006/relationships/slide" Target="slides/slide138.xml"/><Relationship Id="rId5" Type="http://schemas.openxmlformats.org/officeDocument/2006/relationships/slideMaster" Target="slideMasters/slideMaster5.xml"/><Relationship Id="rId95" Type="http://schemas.openxmlformats.org/officeDocument/2006/relationships/slide" Target="slides/slide84.xml"/><Relationship Id="rId160" Type="http://schemas.openxmlformats.org/officeDocument/2006/relationships/slide" Target="slides/slide149.xml"/><Relationship Id="rId22" Type="http://schemas.openxmlformats.org/officeDocument/2006/relationships/slide" Target="slides/slide11.xml"/><Relationship Id="rId43" Type="http://schemas.openxmlformats.org/officeDocument/2006/relationships/slide" Target="slides/slide32.xml"/><Relationship Id="rId64" Type="http://schemas.openxmlformats.org/officeDocument/2006/relationships/slide" Target="slides/slide53.xml"/><Relationship Id="rId118" Type="http://schemas.openxmlformats.org/officeDocument/2006/relationships/slide" Target="slides/slide107.xml"/><Relationship Id="rId139" Type="http://schemas.openxmlformats.org/officeDocument/2006/relationships/slide" Target="slides/slide128.xml"/><Relationship Id="rId85" Type="http://schemas.openxmlformats.org/officeDocument/2006/relationships/slide" Target="slides/slide74.xml"/><Relationship Id="rId150" Type="http://schemas.openxmlformats.org/officeDocument/2006/relationships/slide" Target="slides/slide139.xml"/><Relationship Id="rId171" Type="http://schemas.openxmlformats.org/officeDocument/2006/relationships/slide" Target="slides/slide160.xml"/><Relationship Id="rId12" Type="http://schemas.openxmlformats.org/officeDocument/2006/relationships/slide" Target="slides/slide1.xml"/><Relationship Id="rId33" Type="http://schemas.openxmlformats.org/officeDocument/2006/relationships/slide" Target="slides/slide22.xml"/><Relationship Id="rId108" Type="http://schemas.openxmlformats.org/officeDocument/2006/relationships/slide" Target="slides/slide97.xml"/><Relationship Id="rId129" Type="http://schemas.openxmlformats.org/officeDocument/2006/relationships/slide" Target="slides/slide118.xml"/><Relationship Id="rId54" Type="http://schemas.openxmlformats.org/officeDocument/2006/relationships/slide" Target="slides/slide43.xml"/><Relationship Id="rId75" Type="http://schemas.openxmlformats.org/officeDocument/2006/relationships/slide" Target="slides/slide64.xml"/><Relationship Id="rId96" Type="http://schemas.openxmlformats.org/officeDocument/2006/relationships/slide" Target="slides/slide85.xml"/><Relationship Id="rId140" Type="http://schemas.openxmlformats.org/officeDocument/2006/relationships/slide" Target="slides/slide129.xml"/><Relationship Id="rId161" Type="http://schemas.openxmlformats.org/officeDocument/2006/relationships/slide" Target="slides/slide150.xml"/><Relationship Id="rId6" Type="http://schemas.openxmlformats.org/officeDocument/2006/relationships/slideMaster" Target="slideMasters/slideMaster6.xml"/><Relationship Id="rId23" Type="http://schemas.openxmlformats.org/officeDocument/2006/relationships/slide" Target="slides/slide12.xml"/><Relationship Id="rId28" Type="http://schemas.openxmlformats.org/officeDocument/2006/relationships/slide" Target="slides/slide17.xml"/><Relationship Id="rId49" Type="http://schemas.openxmlformats.org/officeDocument/2006/relationships/slide" Target="slides/slide38.xml"/><Relationship Id="rId114" Type="http://schemas.openxmlformats.org/officeDocument/2006/relationships/slide" Target="slides/slide103.xml"/><Relationship Id="rId119" Type="http://schemas.openxmlformats.org/officeDocument/2006/relationships/slide" Target="slides/slide108.xml"/><Relationship Id="rId44" Type="http://schemas.openxmlformats.org/officeDocument/2006/relationships/slide" Target="slides/slide33.xml"/><Relationship Id="rId60" Type="http://schemas.openxmlformats.org/officeDocument/2006/relationships/slide" Target="slides/slide49.xml"/><Relationship Id="rId65" Type="http://schemas.openxmlformats.org/officeDocument/2006/relationships/slide" Target="slides/slide54.xml"/><Relationship Id="rId81" Type="http://schemas.openxmlformats.org/officeDocument/2006/relationships/slide" Target="slides/slide70.xml"/><Relationship Id="rId86" Type="http://schemas.openxmlformats.org/officeDocument/2006/relationships/slide" Target="slides/slide75.xml"/><Relationship Id="rId130" Type="http://schemas.openxmlformats.org/officeDocument/2006/relationships/slide" Target="slides/slide119.xml"/><Relationship Id="rId135" Type="http://schemas.openxmlformats.org/officeDocument/2006/relationships/slide" Target="slides/slide124.xml"/><Relationship Id="rId151" Type="http://schemas.openxmlformats.org/officeDocument/2006/relationships/slide" Target="slides/slide140.xml"/><Relationship Id="rId156" Type="http://schemas.openxmlformats.org/officeDocument/2006/relationships/slide" Target="slides/slide145.xml"/><Relationship Id="rId177" Type="http://schemas.openxmlformats.org/officeDocument/2006/relationships/viewProps" Target="viewProps.xml"/><Relationship Id="rId172" Type="http://schemas.openxmlformats.org/officeDocument/2006/relationships/slide" Target="slides/slide161.xml"/><Relationship Id="rId13" Type="http://schemas.openxmlformats.org/officeDocument/2006/relationships/slide" Target="slides/slide2.xml"/><Relationship Id="rId18" Type="http://schemas.openxmlformats.org/officeDocument/2006/relationships/slide" Target="slides/slide7.xml"/><Relationship Id="rId39" Type="http://schemas.openxmlformats.org/officeDocument/2006/relationships/slide" Target="slides/slide28.xml"/><Relationship Id="rId109" Type="http://schemas.openxmlformats.org/officeDocument/2006/relationships/slide" Target="slides/slide98.xml"/><Relationship Id="rId34" Type="http://schemas.openxmlformats.org/officeDocument/2006/relationships/slide" Target="slides/slide23.xml"/><Relationship Id="rId50" Type="http://schemas.openxmlformats.org/officeDocument/2006/relationships/slide" Target="slides/slide39.xml"/><Relationship Id="rId55" Type="http://schemas.openxmlformats.org/officeDocument/2006/relationships/slide" Target="slides/slide44.xml"/><Relationship Id="rId76" Type="http://schemas.openxmlformats.org/officeDocument/2006/relationships/slide" Target="slides/slide65.xml"/><Relationship Id="rId97" Type="http://schemas.openxmlformats.org/officeDocument/2006/relationships/slide" Target="slides/slide86.xml"/><Relationship Id="rId104" Type="http://schemas.openxmlformats.org/officeDocument/2006/relationships/slide" Target="slides/slide93.xml"/><Relationship Id="rId120" Type="http://schemas.openxmlformats.org/officeDocument/2006/relationships/slide" Target="slides/slide109.xml"/><Relationship Id="rId125" Type="http://schemas.openxmlformats.org/officeDocument/2006/relationships/slide" Target="slides/slide114.xml"/><Relationship Id="rId141" Type="http://schemas.openxmlformats.org/officeDocument/2006/relationships/slide" Target="slides/slide130.xml"/><Relationship Id="rId146" Type="http://schemas.openxmlformats.org/officeDocument/2006/relationships/slide" Target="slides/slide135.xml"/><Relationship Id="rId167" Type="http://schemas.openxmlformats.org/officeDocument/2006/relationships/slide" Target="slides/slide156.xml"/><Relationship Id="rId7" Type="http://schemas.openxmlformats.org/officeDocument/2006/relationships/slideMaster" Target="slideMasters/slideMaster7.xml"/><Relationship Id="rId71" Type="http://schemas.openxmlformats.org/officeDocument/2006/relationships/slide" Target="slides/slide60.xml"/><Relationship Id="rId92" Type="http://schemas.openxmlformats.org/officeDocument/2006/relationships/slide" Target="slides/slide81.xml"/><Relationship Id="rId162" Type="http://schemas.openxmlformats.org/officeDocument/2006/relationships/slide" Target="slides/slide151.xml"/><Relationship Id="rId2" Type="http://schemas.openxmlformats.org/officeDocument/2006/relationships/slideMaster" Target="slideMasters/slideMaster2.xml"/><Relationship Id="rId29" Type="http://schemas.openxmlformats.org/officeDocument/2006/relationships/slide" Target="slides/slide18.xml"/><Relationship Id="rId24" Type="http://schemas.openxmlformats.org/officeDocument/2006/relationships/slide" Target="slides/slide13.xml"/><Relationship Id="rId40" Type="http://schemas.openxmlformats.org/officeDocument/2006/relationships/slide" Target="slides/slide29.xml"/><Relationship Id="rId45" Type="http://schemas.openxmlformats.org/officeDocument/2006/relationships/slide" Target="slides/slide34.xml"/><Relationship Id="rId66" Type="http://schemas.openxmlformats.org/officeDocument/2006/relationships/slide" Target="slides/slide55.xml"/><Relationship Id="rId87" Type="http://schemas.openxmlformats.org/officeDocument/2006/relationships/slide" Target="slides/slide76.xml"/><Relationship Id="rId110" Type="http://schemas.openxmlformats.org/officeDocument/2006/relationships/slide" Target="slides/slide99.xml"/><Relationship Id="rId115" Type="http://schemas.openxmlformats.org/officeDocument/2006/relationships/slide" Target="slides/slide104.xml"/><Relationship Id="rId131" Type="http://schemas.openxmlformats.org/officeDocument/2006/relationships/slide" Target="slides/slide120.xml"/><Relationship Id="rId136" Type="http://schemas.openxmlformats.org/officeDocument/2006/relationships/slide" Target="slides/slide125.xml"/><Relationship Id="rId157" Type="http://schemas.openxmlformats.org/officeDocument/2006/relationships/slide" Target="slides/slide146.xml"/><Relationship Id="rId178" Type="http://schemas.openxmlformats.org/officeDocument/2006/relationships/theme" Target="theme/theme1.xml"/><Relationship Id="rId61" Type="http://schemas.openxmlformats.org/officeDocument/2006/relationships/slide" Target="slides/slide50.xml"/><Relationship Id="rId82" Type="http://schemas.openxmlformats.org/officeDocument/2006/relationships/slide" Target="slides/slide71.xml"/><Relationship Id="rId152" Type="http://schemas.openxmlformats.org/officeDocument/2006/relationships/slide" Target="slides/slide141.xml"/><Relationship Id="rId173" Type="http://schemas.openxmlformats.org/officeDocument/2006/relationships/slide" Target="slides/slide162.xml"/><Relationship Id="rId19" Type="http://schemas.openxmlformats.org/officeDocument/2006/relationships/slide" Target="slides/slide8.xml"/><Relationship Id="rId14" Type="http://schemas.openxmlformats.org/officeDocument/2006/relationships/slide" Target="slides/slide3.xml"/><Relationship Id="rId30" Type="http://schemas.openxmlformats.org/officeDocument/2006/relationships/slide" Target="slides/slide19.xml"/><Relationship Id="rId35" Type="http://schemas.openxmlformats.org/officeDocument/2006/relationships/slide" Target="slides/slide24.xml"/><Relationship Id="rId56" Type="http://schemas.openxmlformats.org/officeDocument/2006/relationships/slide" Target="slides/slide45.xml"/><Relationship Id="rId77" Type="http://schemas.openxmlformats.org/officeDocument/2006/relationships/slide" Target="slides/slide66.xml"/><Relationship Id="rId100" Type="http://schemas.openxmlformats.org/officeDocument/2006/relationships/slide" Target="slides/slide89.xml"/><Relationship Id="rId105" Type="http://schemas.openxmlformats.org/officeDocument/2006/relationships/slide" Target="slides/slide94.xml"/><Relationship Id="rId126" Type="http://schemas.openxmlformats.org/officeDocument/2006/relationships/slide" Target="slides/slide115.xml"/><Relationship Id="rId147" Type="http://schemas.openxmlformats.org/officeDocument/2006/relationships/slide" Target="slides/slide136.xml"/><Relationship Id="rId168" Type="http://schemas.openxmlformats.org/officeDocument/2006/relationships/slide" Target="slides/slide157.xml"/><Relationship Id="rId8" Type="http://schemas.openxmlformats.org/officeDocument/2006/relationships/slideMaster" Target="slideMasters/slideMaster8.xml"/><Relationship Id="rId51" Type="http://schemas.openxmlformats.org/officeDocument/2006/relationships/slide" Target="slides/slide40.xml"/><Relationship Id="rId72" Type="http://schemas.openxmlformats.org/officeDocument/2006/relationships/slide" Target="slides/slide61.xml"/><Relationship Id="rId93" Type="http://schemas.openxmlformats.org/officeDocument/2006/relationships/slide" Target="slides/slide82.xml"/><Relationship Id="rId98" Type="http://schemas.openxmlformats.org/officeDocument/2006/relationships/slide" Target="slides/slide87.xml"/><Relationship Id="rId121" Type="http://schemas.openxmlformats.org/officeDocument/2006/relationships/slide" Target="slides/slide110.xml"/><Relationship Id="rId142" Type="http://schemas.openxmlformats.org/officeDocument/2006/relationships/slide" Target="slides/slide131.xml"/><Relationship Id="rId163" Type="http://schemas.openxmlformats.org/officeDocument/2006/relationships/slide" Target="slides/slide152.xml"/><Relationship Id="rId3" Type="http://schemas.openxmlformats.org/officeDocument/2006/relationships/slideMaster" Target="slideMasters/slideMaster3.xml"/><Relationship Id="rId25" Type="http://schemas.openxmlformats.org/officeDocument/2006/relationships/slide" Target="slides/slide14.xml"/><Relationship Id="rId46" Type="http://schemas.openxmlformats.org/officeDocument/2006/relationships/slide" Target="slides/slide35.xml"/><Relationship Id="rId67" Type="http://schemas.openxmlformats.org/officeDocument/2006/relationships/slide" Target="slides/slide56.xml"/><Relationship Id="rId116" Type="http://schemas.openxmlformats.org/officeDocument/2006/relationships/slide" Target="slides/slide105.xml"/><Relationship Id="rId137" Type="http://schemas.openxmlformats.org/officeDocument/2006/relationships/slide" Target="slides/slide126.xml"/><Relationship Id="rId158" Type="http://schemas.openxmlformats.org/officeDocument/2006/relationships/slide" Target="slides/slide147.xml"/><Relationship Id="rId20" Type="http://schemas.openxmlformats.org/officeDocument/2006/relationships/slide" Target="slides/slide9.xml"/><Relationship Id="rId41" Type="http://schemas.openxmlformats.org/officeDocument/2006/relationships/slide" Target="slides/slide30.xml"/><Relationship Id="rId62" Type="http://schemas.openxmlformats.org/officeDocument/2006/relationships/slide" Target="slides/slide51.xml"/><Relationship Id="rId83" Type="http://schemas.openxmlformats.org/officeDocument/2006/relationships/slide" Target="slides/slide72.xml"/><Relationship Id="rId88" Type="http://schemas.openxmlformats.org/officeDocument/2006/relationships/slide" Target="slides/slide77.xml"/><Relationship Id="rId111" Type="http://schemas.openxmlformats.org/officeDocument/2006/relationships/slide" Target="slides/slide100.xml"/><Relationship Id="rId132" Type="http://schemas.openxmlformats.org/officeDocument/2006/relationships/slide" Target="slides/slide121.xml"/><Relationship Id="rId153" Type="http://schemas.openxmlformats.org/officeDocument/2006/relationships/slide" Target="slides/slide142.xml"/><Relationship Id="rId174" Type="http://schemas.openxmlformats.org/officeDocument/2006/relationships/notesMaster" Target="notesMasters/notesMaster1.xml"/><Relationship Id="rId179" Type="http://schemas.openxmlformats.org/officeDocument/2006/relationships/tableStyles" Target="tableStyles.xml"/><Relationship Id="rId15" Type="http://schemas.openxmlformats.org/officeDocument/2006/relationships/slide" Target="slides/slide4.xml"/><Relationship Id="rId36" Type="http://schemas.openxmlformats.org/officeDocument/2006/relationships/slide" Target="slides/slide25.xml"/><Relationship Id="rId57" Type="http://schemas.openxmlformats.org/officeDocument/2006/relationships/slide" Target="slides/slide46.xml"/><Relationship Id="rId106" Type="http://schemas.openxmlformats.org/officeDocument/2006/relationships/slide" Target="slides/slide95.xml"/><Relationship Id="rId127" Type="http://schemas.openxmlformats.org/officeDocument/2006/relationships/slide" Target="slides/slide116.xml"/><Relationship Id="rId10" Type="http://schemas.openxmlformats.org/officeDocument/2006/relationships/slideMaster" Target="slideMasters/slideMaster10.xml"/><Relationship Id="rId31" Type="http://schemas.openxmlformats.org/officeDocument/2006/relationships/slide" Target="slides/slide20.xml"/><Relationship Id="rId52" Type="http://schemas.openxmlformats.org/officeDocument/2006/relationships/slide" Target="slides/slide41.xml"/><Relationship Id="rId73" Type="http://schemas.openxmlformats.org/officeDocument/2006/relationships/slide" Target="slides/slide62.xml"/><Relationship Id="rId78" Type="http://schemas.openxmlformats.org/officeDocument/2006/relationships/slide" Target="slides/slide67.xml"/><Relationship Id="rId94" Type="http://schemas.openxmlformats.org/officeDocument/2006/relationships/slide" Target="slides/slide83.xml"/><Relationship Id="rId99" Type="http://schemas.openxmlformats.org/officeDocument/2006/relationships/slide" Target="slides/slide88.xml"/><Relationship Id="rId101" Type="http://schemas.openxmlformats.org/officeDocument/2006/relationships/slide" Target="slides/slide90.xml"/><Relationship Id="rId122" Type="http://schemas.openxmlformats.org/officeDocument/2006/relationships/slide" Target="slides/slide111.xml"/><Relationship Id="rId143" Type="http://schemas.openxmlformats.org/officeDocument/2006/relationships/slide" Target="slides/slide132.xml"/><Relationship Id="rId148" Type="http://schemas.openxmlformats.org/officeDocument/2006/relationships/slide" Target="slides/slide137.xml"/><Relationship Id="rId164" Type="http://schemas.openxmlformats.org/officeDocument/2006/relationships/slide" Target="slides/slide153.xml"/><Relationship Id="rId169" Type="http://schemas.openxmlformats.org/officeDocument/2006/relationships/slide" Target="slides/slide158.xml"/><Relationship Id="rId4" Type="http://schemas.openxmlformats.org/officeDocument/2006/relationships/slideMaster" Target="slideMasters/slideMaster4.xml"/><Relationship Id="rId9" Type="http://schemas.openxmlformats.org/officeDocument/2006/relationships/slideMaster" Target="slideMasters/slideMaster9.xml"/><Relationship Id="rId26" Type="http://schemas.openxmlformats.org/officeDocument/2006/relationships/slide" Target="slides/slide15.xml"/><Relationship Id="rId47" Type="http://schemas.openxmlformats.org/officeDocument/2006/relationships/slide" Target="slides/slide36.xml"/><Relationship Id="rId68" Type="http://schemas.openxmlformats.org/officeDocument/2006/relationships/slide" Target="slides/slide57.xml"/><Relationship Id="rId89" Type="http://schemas.openxmlformats.org/officeDocument/2006/relationships/slide" Target="slides/slide78.xml"/><Relationship Id="rId112" Type="http://schemas.openxmlformats.org/officeDocument/2006/relationships/slide" Target="slides/slide101.xml"/><Relationship Id="rId133" Type="http://schemas.openxmlformats.org/officeDocument/2006/relationships/slide" Target="slides/slide122.xml"/><Relationship Id="rId154" Type="http://schemas.openxmlformats.org/officeDocument/2006/relationships/slide" Target="slides/slide143.xml"/><Relationship Id="rId175" Type="http://schemas.openxmlformats.org/officeDocument/2006/relationships/handoutMaster" Target="handoutMasters/handoutMaster1.xml"/><Relationship Id="rId16" Type="http://schemas.openxmlformats.org/officeDocument/2006/relationships/slide" Target="slides/slide5.xml"/><Relationship Id="rId37" Type="http://schemas.openxmlformats.org/officeDocument/2006/relationships/slide" Target="slides/slide26.xml"/><Relationship Id="rId58" Type="http://schemas.openxmlformats.org/officeDocument/2006/relationships/slide" Target="slides/slide47.xml"/><Relationship Id="rId79" Type="http://schemas.openxmlformats.org/officeDocument/2006/relationships/slide" Target="slides/slide68.xml"/><Relationship Id="rId102" Type="http://schemas.openxmlformats.org/officeDocument/2006/relationships/slide" Target="slides/slide91.xml"/><Relationship Id="rId123" Type="http://schemas.openxmlformats.org/officeDocument/2006/relationships/slide" Target="slides/slide112.xml"/><Relationship Id="rId144" Type="http://schemas.openxmlformats.org/officeDocument/2006/relationships/slide" Target="slides/slide133.xml"/><Relationship Id="rId90" Type="http://schemas.openxmlformats.org/officeDocument/2006/relationships/slide" Target="slides/slide79.xml"/><Relationship Id="rId165" Type="http://schemas.openxmlformats.org/officeDocument/2006/relationships/slide" Target="slides/slide154.xml"/><Relationship Id="rId27" Type="http://schemas.openxmlformats.org/officeDocument/2006/relationships/slide" Target="slides/slide16.xml"/><Relationship Id="rId48" Type="http://schemas.openxmlformats.org/officeDocument/2006/relationships/slide" Target="slides/slide37.xml"/><Relationship Id="rId69" Type="http://schemas.openxmlformats.org/officeDocument/2006/relationships/slide" Target="slides/slide58.xml"/><Relationship Id="rId113" Type="http://schemas.openxmlformats.org/officeDocument/2006/relationships/slide" Target="slides/slide102.xml"/><Relationship Id="rId134" Type="http://schemas.openxmlformats.org/officeDocument/2006/relationships/slide" Target="slides/slide123.xml"/><Relationship Id="rId80" Type="http://schemas.openxmlformats.org/officeDocument/2006/relationships/slide" Target="slides/slide69.xml"/><Relationship Id="rId155" Type="http://schemas.openxmlformats.org/officeDocument/2006/relationships/slide" Target="slides/slide144.xml"/><Relationship Id="rId176" Type="http://schemas.openxmlformats.org/officeDocument/2006/relationships/presProps" Target="presProps.xml"/><Relationship Id="rId17" Type="http://schemas.openxmlformats.org/officeDocument/2006/relationships/slide" Target="slides/slide6.xml"/><Relationship Id="rId38" Type="http://schemas.openxmlformats.org/officeDocument/2006/relationships/slide" Target="slides/slide27.xml"/><Relationship Id="rId59" Type="http://schemas.openxmlformats.org/officeDocument/2006/relationships/slide" Target="slides/slide48.xml"/><Relationship Id="rId103" Type="http://schemas.openxmlformats.org/officeDocument/2006/relationships/slide" Target="slides/slide92.xml"/><Relationship Id="rId124" Type="http://schemas.openxmlformats.org/officeDocument/2006/relationships/slide" Target="slides/slide113.xml"/><Relationship Id="rId70" Type="http://schemas.openxmlformats.org/officeDocument/2006/relationships/slide" Target="slides/slide59.xml"/><Relationship Id="rId91" Type="http://schemas.openxmlformats.org/officeDocument/2006/relationships/slide" Target="slides/slide80.xml"/><Relationship Id="rId145" Type="http://schemas.openxmlformats.org/officeDocument/2006/relationships/slide" Target="slides/slide134.xml"/><Relationship Id="rId166" Type="http://schemas.openxmlformats.org/officeDocument/2006/relationships/slide" Target="slides/slide15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image" Target="../media/image8.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image" Target="../media/image12.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image" Target="../media/image15.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image" Target="../media/image1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184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200"/>
            </a:lvl1pPr>
          </a:lstStyle>
          <a:p>
            <a:pPr>
              <a:defRPr/>
            </a:pPr>
            <a:endParaRPr lang="en-US" altLang="zh-CN"/>
          </a:p>
        </p:txBody>
      </p:sp>
      <p:sp>
        <p:nvSpPr>
          <p:cNvPr id="291843"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200"/>
            </a:lvl1pPr>
          </a:lstStyle>
          <a:p>
            <a:pPr>
              <a:defRPr/>
            </a:pPr>
            <a:endParaRPr lang="en-US" altLang="zh-CN"/>
          </a:p>
        </p:txBody>
      </p:sp>
      <p:sp>
        <p:nvSpPr>
          <p:cNvPr id="291844"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200"/>
            </a:lvl1pPr>
          </a:lstStyle>
          <a:p>
            <a:pPr>
              <a:defRPr/>
            </a:pPr>
            <a:endParaRPr lang="en-US" altLang="zh-CN"/>
          </a:p>
        </p:txBody>
      </p:sp>
      <p:sp>
        <p:nvSpPr>
          <p:cNvPr id="291845"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200"/>
            </a:lvl1pPr>
          </a:lstStyle>
          <a:p>
            <a:pPr>
              <a:defRPr/>
            </a:pPr>
            <a:fld id="{FF7402D4-7CBB-40B5-A465-D8015B10E50B}" type="slidenum">
              <a:rPr lang="en-US" altLang="zh-CN"/>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200"/>
            </a:lvl1pPr>
          </a:lstStyle>
          <a:p>
            <a:pPr>
              <a:defRPr/>
            </a:pPr>
            <a:endParaRPr lang="en-US" altLang="zh-CN"/>
          </a:p>
        </p:txBody>
      </p:sp>
      <p:sp>
        <p:nvSpPr>
          <p:cNvPr id="4099"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200"/>
            </a:lvl1pPr>
          </a:lstStyle>
          <a:p>
            <a:pPr>
              <a:defRPr/>
            </a:pPr>
            <a:endParaRPr lang="en-US" altLang="zh-CN"/>
          </a:p>
        </p:txBody>
      </p:sp>
      <p:sp>
        <p:nvSpPr>
          <p:cNvPr id="6963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200"/>
            </a:lvl1pPr>
          </a:lstStyle>
          <a:p>
            <a:pPr>
              <a:defRPr/>
            </a:pPr>
            <a:endParaRPr lang="en-US" altLang="zh-CN"/>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200"/>
            </a:lvl1pPr>
          </a:lstStyle>
          <a:p>
            <a:pPr>
              <a:defRPr/>
            </a:pPr>
            <a:fld id="{561C033C-5B3F-49DC-BDD7-EA426F823B6E}"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幻灯片图像占位符 1"/>
          <p:cNvSpPr>
            <a:spLocks noGrp="1" noRot="1" noChangeAspect="1" noTextEdit="1"/>
          </p:cNvSpPr>
          <p:nvPr>
            <p:ph type="sldImg"/>
          </p:nvPr>
        </p:nvSpPr>
        <p:spPr/>
      </p:sp>
      <p:sp>
        <p:nvSpPr>
          <p:cNvPr id="70659" name="备注占位符 2"/>
          <p:cNvSpPr>
            <a:spLocks noGrp="1"/>
          </p:cNvSpPr>
          <p:nvPr>
            <p:ph type="body" idx="1"/>
          </p:nvPr>
        </p:nvSpPr>
        <p:spPr>
          <a:noFill/>
        </p:spPr>
        <p:txBody>
          <a:bodyPr/>
          <a:lstStyle/>
          <a:p>
            <a:endParaRPr lang="zh-CN" altLang="en-US"/>
          </a:p>
        </p:txBody>
      </p:sp>
      <p:sp>
        <p:nvSpPr>
          <p:cNvPr id="70660" name="灯片编号占位符 3"/>
          <p:cNvSpPr>
            <a:spLocks noGrp="1"/>
          </p:cNvSpPr>
          <p:nvPr>
            <p:ph type="sldNum" sz="quarter" idx="5"/>
          </p:nvPr>
        </p:nvSpPr>
        <p:spPr>
          <a:noFill/>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fld id="{7337CF04-FAF1-458F-B27B-7F3315F0CF6B}" type="slidenum">
              <a:rPr lang="en-US" altLang="zh-CN" sz="1200" smtClean="0"/>
              <a:t>1</a:t>
            </a:fld>
            <a:endParaRPr lang="en-US" altLang="zh-CN"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幻灯片图像占位符 1"/>
          <p:cNvSpPr>
            <a:spLocks noGrp="1" noRot="1" noChangeAspect="1" noTextEdit="1"/>
          </p:cNvSpPr>
          <p:nvPr>
            <p:ph type="sldImg"/>
          </p:nvPr>
        </p:nvSpPr>
        <p:spPr/>
      </p:sp>
      <p:sp>
        <p:nvSpPr>
          <p:cNvPr id="70659" name="备注占位符 2"/>
          <p:cNvSpPr>
            <a:spLocks noGrp="1"/>
          </p:cNvSpPr>
          <p:nvPr>
            <p:ph type="body" idx="1"/>
          </p:nvPr>
        </p:nvSpPr>
        <p:spPr>
          <a:noFill/>
        </p:spPr>
        <p:txBody>
          <a:bodyPr/>
          <a:lstStyle/>
          <a:p>
            <a:endParaRPr lang="zh-CN" altLang="en-US"/>
          </a:p>
        </p:txBody>
      </p:sp>
      <p:sp>
        <p:nvSpPr>
          <p:cNvPr id="70660" name="灯片编号占位符 3"/>
          <p:cNvSpPr>
            <a:spLocks noGrp="1"/>
          </p:cNvSpPr>
          <p:nvPr>
            <p:ph type="sldNum" sz="quarter" idx="5"/>
          </p:nvPr>
        </p:nvSpPr>
        <p:spPr>
          <a:noFill/>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fld id="{7337CF04-FAF1-458F-B27B-7F3315F0CF6B}" type="slidenum">
              <a:rPr lang="en-US" altLang="zh-CN" sz="1200" smtClean="0"/>
              <a:t>2</a:t>
            </a:fld>
            <a:endParaRPr lang="en-US" altLang="zh-CN"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2D6C1233-21A6-4665-A898-10BA4B2DD3CA}" type="slidenum">
              <a:rPr lang="en-US" altLang="zh-CN"/>
              <a:t>67</a:t>
            </a:fld>
            <a:endParaRPr lang="en-US" altLang="zh-CN"/>
          </a:p>
        </p:txBody>
      </p:sp>
      <p:sp>
        <p:nvSpPr>
          <p:cNvPr id="63490"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ln>
        </p:spPr>
      </p:sp>
      <p:sp>
        <p:nvSpPr>
          <p:cNvPr id="6349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ln>
        </p:spPr>
        <p:txBody>
          <a:bodyPr/>
          <a:lstStyle/>
          <a:p>
            <a:r>
              <a:rPr lang="en-US" altLang="zh-CN"/>
              <a:t>	</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vmlDrawing" Target="../drawings/vmlDrawing2.vml"/><Relationship Id="rId5" Type="http://schemas.openxmlformats.org/officeDocument/2006/relationships/image" Target="../media/image4.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vmlDrawing" Target="../drawings/vmlDrawing4.vml"/><Relationship Id="rId5" Type="http://schemas.openxmlformats.org/officeDocument/2006/relationships/image" Target="../media/image4.png"/><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3.xml"/><Relationship Id="rId1" Type="http://schemas.openxmlformats.org/officeDocument/2006/relationships/vmlDrawing" Target="../drawings/vmlDrawing6.vml"/><Relationship Id="rId5" Type="http://schemas.openxmlformats.org/officeDocument/2006/relationships/image" Target="../media/image4.png"/><Relationship Id="rId4"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4.xml"/><Relationship Id="rId1" Type="http://schemas.openxmlformats.org/officeDocument/2006/relationships/vmlDrawing" Target="../drawings/vmlDrawing8.vml"/><Relationship Id="rId5" Type="http://schemas.openxmlformats.org/officeDocument/2006/relationships/image" Target="../media/image4.png"/><Relationship Id="rId4"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5.xml"/><Relationship Id="rId1" Type="http://schemas.openxmlformats.org/officeDocument/2006/relationships/vmlDrawing" Target="../drawings/vmlDrawing10.vml"/><Relationship Id="rId5" Type="http://schemas.openxmlformats.org/officeDocument/2006/relationships/image" Target="../media/image4.png"/><Relationship Id="rId4" Type="http://schemas.openxmlformats.org/officeDocument/2006/relationships/image" Target="../media/image1.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6.xml"/><Relationship Id="rId1" Type="http://schemas.openxmlformats.org/officeDocument/2006/relationships/vmlDrawing" Target="../drawings/vmlDrawing12.vml"/><Relationship Id="rId5" Type="http://schemas.openxmlformats.org/officeDocument/2006/relationships/image" Target="../media/image4.png"/><Relationship Id="rId4" Type="http://schemas.openxmlformats.org/officeDocument/2006/relationships/image" Target="../media/image1.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7.xml"/><Relationship Id="rId1" Type="http://schemas.openxmlformats.org/officeDocument/2006/relationships/vmlDrawing" Target="../drawings/vmlDrawing14.vml"/><Relationship Id="rId5" Type="http://schemas.openxmlformats.org/officeDocument/2006/relationships/image" Target="../media/image4.png"/><Relationship Id="rId4" Type="http://schemas.openxmlformats.org/officeDocument/2006/relationships/image" Target="../media/image1.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7.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8.xml"/><Relationship Id="rId1" Type="http://schemas.openxmlformats.org/officeDocument/2006/relationships/vmlDrawing" Target="../drawings/vmlDrawing16.vml"/><Relationship Id="rId5" Type="http://schemas.openxmlformats.org/officeDocument/2006/relationships/image" Target="../media/image4.png"/><Relationship Id="rId4" Type="http://schemas.openxmlformats.org/officeDocument/2006/relationships/image" Target="../media/image1.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9.xml"/><Relationship Id="rId1" Type="http://schemas.openxmlformats.org/officeDocument/2006/relationships/vmlDrawing" Target="../drawings/vmlDrawing18.vml"/><Relationship Id="rId5" Type="http://schemas.openxmlformats.org/officeDocument/2006/relationships/image" Target="../media/image4.png"/><Relationship Id="rId4" Type="http://schemas.openxmlformats.org/officeDocument/2006/relationships/image" Target="../media/image1.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3.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10.xml"/><Relationship Id="rId1" Type="http://schemas.openxmlformats.org/officeDocument/2006/relationships/vmlDrawing" Target="../drawings/vmlDrawing20.vml"/><Relationship Id="rId5" Type="http://schemas.openxmlformats.org/officeDocument/2006/relationships/image" Target="../media/image4.png"/><Relationship Id="rId4" Type="http://schemas.openxmlformats.org/officeDocument/2006/relationships/image" Target="../media/image1.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1.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11.xml"/><Relationship Id="rId1" Type="http://schemas.openxmlformats.org/officeDocument/2006/relationships/vmlDrawing" Target="../drawings/vmlDrawing22.vml"/><Relationship Id="rId5" Type="http://schemas.openxmlformats.org/officeDocument/2006/relationships/image" Target="../media/image4.png"/><Relationship Id="rId4" Type="http://schemas.openxmlformats.org/officeDocument/2006/relationships/image" Target="../media/image1.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aphicFrame>
        <p:nvGraphicFramePr>
          <p:cNvPr id="4" name="Object 8"/>
          <p:cNvGraphicFramePr>
            <a:graphicFrameLocks noChangeAspect="1"/>
          </p:cNvGraphicFramePr>
          <p:nvPr/>
        </p:nvGraphicFramePr>
        <p:xfrm>
          <a:off x="0" y="5559425"/>
          <a:ext cx="1331913" cy="1050925"/>
        </p:xfrm>
        <a:graphic>
          <a:graphicData uri="http://schemas.openxmlformats.org/presentationml/2006/ole">
            <mc:AlternateContent xmlns:mc="http://schemas.openxmlformats.org/markup-compatibility/2006">
              <mc:Choice xmlns:v="urn:schemas-microsoft-com:vml" Requires="v">
                <p:oleObj spid="_x0000_s2051" name="Image" r:id="rId3" imgW="2590800" imgH="2044700" progId="Photoshop.Image.7">
                  <p:embed/>
                </p:oleObj>
              </mc:Choice>
              <mc:Fallback>
                <p:oleObj name="Image" r:id="rId3" imgW="2590800" imgH="2044700" progId="Photoshop.Image.7">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559425"/>
                        <a:ext cx="1331913" cy="1050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333399"/>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5"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6597650"/>
            <a:ext cx="91440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755650" y="1484313"/>
            <a:ext cx="7772400" cy="1358900"/>
          </a:xfrm>
        </p:spPr>
        <p:txBody>
          <a:bodyPr/>
          <a:lstStyle>
            <a:lvl1pPr algn="ctr">
              <a:defRPr sz="4800" b="1">
                <a:latin typeface="+mj-ea"/>
                <a:ea typeface="+mj-ea"/>
              </a:defRPr>
            </a:lvl1pPr>
          </a:lstStyle>
          <a:p>
            <a:pPr lvl="0"/>
            <a:r>
              <a:rPr lang="zh-CN" altLang="en-US" noProof="0"/>
              <a:t>单击此处编辑母版标题样式</a:t>
            </a:r>
            <a:endParaRPr lang="zh-CN" altLang="en-US" noProof="0" dirty="0"/>
          </a:p>
        </p:txBody>
      </p:sp>
      <p:sp>
        <p:nvSpPr>
          <p:cNvPr id="3075" name="Rectangle 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baseline="0">
                <a:latin typeface="Arial" panose="020B0604020202020204" pitchFamily="34" charset="0"/>
                <a:ea typeface="楷体_GB2312" pitchFamily="49" charset="-122"/>
              </a:defRPr>
            </a:lvl1pPr>
          </a:lstStyle>
          <a:p>
            <a:pPr lvl="0"/>
            <a:r>
              <a:rPr lang="zh-CN" altLang="en-US" noProof="0"/>
              <a:t>单击此处编辑母版副标题样式</a:t>
            </a:r>
            <a:endParaRPr lang="zh-CN" altLang="en-US" noProof="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1">
    <p:spTree>
      <p:nvGrpSpPr>
        <p:cNvPr id="1" name=""/>
        <p:cNvGrpSpPr/>
        <p:nvPr/>
      </p:nvGrpSpPr>
      <p:grpSpPr>
        <a:xfrm>
          <a:off x="0" y="0"/>
          <a:ext cx="0" cy="0"/>
          <a:chOff x="0" y="0"/>
          <a:chExt cx="0" cy="0"/>
        </a:xfrm>
      </p:grpSpPr>
      <p:sp>
        <p:nvSpPr>
          <p:cNvPr id="2" name="标题 1"/>
          <p:cNvSpPr>
            <a:spLocks noGrp="1"/>
          </p:cNvSpPr>
          <p:nvPr>
            <p:ph type="title"/>
          </p:nvPr>
        </p:nvSpPr>
        <p:spPr>
          <a:xfrm>
            <a:off x="251520" y="188640"/>
            <a:ext cx="7200800" cy="720080"/>
          </a:xfrm>
        </p:spPr>
        <p:txBody>
          <a:bodyPr/>
          <a:lstStyle>
            <a:lvl1pPr>
              <a:defRPr baseline="0">
                <a:solidFill>
                  <a:srgbClr val="C00000"/>
                </a:solidFill>
                <a:latin typeface="Arial" panose="020B0604020202020204" pitchFamily="34" charset="0"/>
                <a:ea typeface="宋体" panose="02010600030101010101" pitchFamily="2" charset="-122"/>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251520" y="980728"/>
            <a:ext cx="8640960" cy="52565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5" name="Rectangle 6"/>
          <p:cNvSpPr>
            <a:spLocks noGrp="1" noChangeArrowheads="1"/>
          </p:cNvSpPr>
          <p:nvPr>
            <p:ph type="sldNum" sz="quarter" idx="11"/>
          </p:nvPr>
        </p:nvSpPr>
        <p:spPr/>
        <p:txBody>
          <a:bodyPr/>
          <a:lstStyle>
            <a:lvl1pPr>
              <a:defRPr/>
            </a:lvl1pPr>
          </a:lstStyle>
          <a:p>
            <a:pPr>
              <a:defRPr/>
            </a:pPr>
            <a:fld id="{B40C3BFD-24D0-4966-81A9-4BDD3454C069}" type="slidenum">
              <a:rPr lang="en-US" altLang="zh-CN"/>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6985000" cy="649288"/>
          </a:xfrm>
        </p:spPr>
        <p:txBody>
          <a:bodyPr/>
          <a:lstStyle/>
          <a:p>
            <a:r>
              <a:rPr lang="zh-CN" altLang="en-US"/>
              <a:t>单击此处编辑母版标题样式</a:t>
            </a:r>
          </a:p>
        </p:txBody>
      </p:sp>
      <p:sp>
        <p:nvSpPr>
          <p:cNvPr id="3" name="内容占位符 2"/>
          <p:cNvSpPr>
            <a:spLocks noGrp="1"/>
          </p:cNvSpPr>
          <p:nvPr>
            <p:ph sz="half" idx="1"/>
          </p:nvPr>
        </p:nvSpPr>
        <p:spPr>
          <a:xfrm>
            <a:off x="328042" y="908720"/>
            <a:ext cx="4171950" cy="5328592"/>
          </a:xfrm>
        </p:spPr>
        <p:txBody>
          <a:bodyPr/>
          <a:lstStyle>
            <a:lvl1pPr>
              <a:defRPr sz="2800" baseline="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4648522" y="908720"/>
            <a:ext cx="4171950" cy="532859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8A58A3F3-0373-449B-8E61-DD8B1408CFD8}"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6985000" cy="649288"/>
          </a:xfrm>
        </p:spPr>
        <p:txBody>
          <a:bodyPr/>
          <a:lstStyle/>
          <a:p>
            <a:r>
              <a:rPr lang="zh-CN" altLang="en-US"/>
              <a:t>单击此处编辑母版标题样式</a:t>
            </a:r>
          </a:p>
        </p:txBody>
      </p:sp>
      <p:sp>
        <p:nvSpPr>
          <p:cNvPr id="3"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4" name="Rectangle 6"/>
          <p:cNvSpPr>
            <a:spLocks noGrp="1" noChangeArrowheads="1"/>
          </p:cNvSpPr>
          <p:nvPr>
            <p:ph type="sldNum" sz="quarter" idx="11"/>
          </p:nvPr>
        </p:nvSpPr>
        <p:spPr/>
        <p:txBody>
          <a:bodyPr/>
          <a:lstStyle>
            <a:lvl1pPr>
              <a:defRPr/>
            </a:lvl1pPr>
          </a:lstStyle>
          <a:p>
            <a:pPr>
              <a:defRPr/>
            </a:pPr>
            <a:fld id="{B510424F-96B9-4C00-88E0-F120333DC6C5}"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3" name="Rectangle 6"/>
          <p:cNvSpPr>
            <a:spLocks noGrp="1" noChangeArrowheads="1"/>
          </p:cNvSpPr>
          <p:nvPr>
            <p:ph type="sldNum" sz="quarter" idx="11"/>
          </p:nvPr>
        </p:nvSpPr>
        <p:spPr/>
        <p:txBody>
          <a:bodyPr/>
          <a:lstStyle>
            <a:lvl1pPr>
              <a:defRPr/>
            </a:lvl1pPr>
          </a:lstStyle>
          <a:p>
            <a:pPr>
              <a:defRPr/>
            </a:pPr>
            <a:fld id="{FC63145C-71F2-48C1-8DD2-31D6AC142F2A}"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dirty="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FB19B108-AFC7-4225-832B-3FC6DC0A325D}"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323850" y="260648"/>
            <a:ext cx="6985000" cy="649288"/>
          </a:xfrm>
        </p:spPr>
        <p:txBody>
          <a:bodyPr/>
          <a:lstStyle/>
          <a:p>
            <a:r>
              <a:rPr lang="zh-CN" altLang="en-US"/>
              <a:t>单击此处编辑母版标题样式</a:t>
            </a:r>
            <a:endParaRPr lang="zh-CN" altLang="en-US" dirty="0"/>
          </a:p>
        </p:txBody>
      </p:sp>
      <p:sp>
        <p:nvSpPr>
          <p:cNvPr id="3" name="SmartArt 占位符 2"/>
          <p:cNvSpPr>
            <a:spLocks noGrp="1"/>
          </p:cNvSpPr>
          <p:nvPr>
            <p:ph type="dgm" idx="1" hasCustomPrompt="1"/>
          </p:nvPr>
        </p:nvSpPr>
        <p:spPr>
          <a:xfrm>
            <a:off x="323850" y="980728"/>
            <a:ext cx="8496300" cy="5184576"/>
          </a:xfrm>
        </p:spPr>
        <p:txBody>
          <a:bodyPr/>
          <a:lstStyle>
            <a:lvl1pPr>
              <a:lnSpc>
                <a:spcPts val="4200"/>
              </a:lnSpc>
              <a:defRPr/>
            </a:lvl1pPr>
            <a:lvl2pPr>
              <a:lnSpc>
                <a:spcPts val="4200"/>
              </a:lnSpc>
              <a:defRPr/>
            </a:lvl2pPr>
            <a:lvl3pPr>
              <a:lnSpc>
                <a:spcPts val="4200"/>
              </a:lnSpc>
              <a:defRPr/>
            </a:lvl3pPr>
          </a:lstStyle>
          <a:p>
            <a:pPr lvl="0"/>
            <a:r>
              <a:rPr lang="zh-CN" altLang="en-US" dirty="0"/>
              <a:t>单击此处编辑母版文本样式</a:t>
            </a:r>
          </a:p>
          <a:p>
            <a:pPr lvl="1"/>
            <a:r>
              <a:rPr lang="zh-CN" altLang="en-US" dirty="0"/>
              <a:t>第二级</a:t>
            </a:r>
          </a:p>
          <a:p>
            <a:pPr lvl="2"/>
            <a:r>
              <a:rPr lang="zh-CN" altLang="en-US" dirty="0"/>
              <a:t>第三级</a:t>
            </a:r>
            <a:endParaRPr lang="zh-CN" altLang="en-US" noProof="0" dirty="0"/>
          </a:p>
        </p:txBody>
      </p:sp>
      <p:sp>
        <p:nvSpPr>
          <p:cNvPr id="4"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5" name="Rectangle 6"/>
          <p:cNvSpPr>
            <a:spLocks noGrp="1" noChangeArrowheads="1"/>
          </p:cNvSpPr>
          <p:nvPr>
            <p:ph type="sldNum" sz="quarter" idx="11"/>
          </p:nvPr>
        </p:nvSpPr>
        <p:spPr/>
        <p:txBody>
          <a:bodyPr/>
          <a:lstStyle>
            <a:lvl1pPr>
              <a:defRPr/>
            </a:lvl1pPr>
          </a:lstStyle>
          <a:p>
            <a:pPr>
              <a:defRPr/>
            </a:pPr>
            <a:fld id="{D7052C24-EBD5-4EC7-9586-D9EC98D33499}" type="slidenum">
              <a:rPr lang="en-US" altLang="zh-CN"/>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323850" y="260648"/>
            <a:ext cx="6985000" cy="649288"/>
          </a:xfrm>
        </p:spPr>
        <p:txBody>
          <a:bodyPr/>
          <a:lstStyle/>
          <a:p>
            <a:r>
              <a:rPr lang="zh-CN" altLang="en-US"/>
              <a:t>单击此处编辑母版标题样式</a:t>
            </a:r>
            <a:endParaRPr lang="zh-CN" altLang="en-US" dirty="0"/>
          </a:p>
        </p:txBody>
      </p:sp>
      <p:sp>
        <p:nvSpPr>
          <p:cNvPr id="3" name="文本占位符 2"/>
          <p:cNvSpPr>
            <a:spLocks noGrp="1"/>
          </p:cNvSpPr>
          <p:nvPr>
            <p:ph type="body" sz="half" idx="1"/>
          </p:nvPr>
        </p:nvSpPr>
        <p:spPr>
          <a:xfrm>
            <a:off x="323850" y="980728"/>
            <a:ext cx="8496300" cy="2443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323850" y="3501008"/>
            <a:ext cx="8496300" cy="266429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E455DE7D-A7CA-4CE7-A54D-6F8BA2A0D8E0}" type="slidenum">
              <a:rPr lang="en-US" altLang="zh-CN"/>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aphicFrame>
        <p:nvGraphicFramePr>
          <p:cNvPr id="4" name="Object 8"/>
          <p:cNvGraphicFramePr>
            <a:graphicFrameLocks noChangeAspect="1"/>
          </p:cNvGraphicFramePr>
          <p:nvPr/>
        </p:nvGraphicFramePr>
        <p:xfrm>
          <a:off x="0" y="5559425"/>
          <a:ext cx="1331913" cy="1050925"/>
        </p:xfrm>
        <a:graphic>
          <a:graphicData uri="http://schemas.openxmlformats.org/presentationml/2006/ole">
            <mc:AlternateContent xmlns:mc="http://schemas.openxmlformats.org/markup-compatibility/2006">
              <mc:Choice xmlns:v="urn:schemas-microsoft-com:vml" Requires="v">
                <p:oleObj spid="_x0000_s4099" name="Image" r:id="rId3" imgW="2590800" imgH="2044700" progId="Photoshop.Image.7">
                  <p:embed/>
                </p:oleObj>
              </mc:Choice>
              <mc:Fallback>
                <p:oleObj name="Image" r:id="rId3" imgW="2590800" imgH="2044700" progId="Photoshop.Image.7">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559425"/>
                        <a:ext cx="1331913" cy="1050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333399"/>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5"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6597650"/>
            <a:ext cx="91440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755650" y="1484313"/>
            <a:ext cx="7772400" cy="1358900"/>
          </a:xfrm>
        </p:spPr>
        <p:txBody>
          <a:bodyPr/>
          <a:lstStyle>
            <a:lvl1pPr algn="ctr">
              <a:defRPr sz="4800" b="1">
                <a:latin typeface="+mj-ea"/>
                <a:ea typeface="+mj-ea"/>
              </a:defRPr>
            </a:lvl1pPr>
          </a:lstStyle>
          <a:p>
            <a:pPr lvl="0"/>
            <a:r>
              <a:rPr lang="zh-CN" altLang="en-US" noProof="0"/>
              <a:t>单击此处编辑母版标题样式</a:t>
            </a:r>
            <a:endParaRPr lang="zh-CN" altLang="en-US" noProof="0" dirty="0"/>
          </a:p>
        </p:txBody>
      </p:sp>
      <p:sp>
        <p:nvSpPr>
          <p:cNvPr id="3075" name="Rectangle 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baseline="0">
                <a:latin typeface="Arial" panose="020B0604020202020204" pitchFamily="34" charset="0"/>
                <a:ea typeface="楷体_GB2312" pitchFamily="49" charset="-122"/>
              </a:defRPr>
            </a:lvl1pPr>
          </a:lstStyle>
          <a:p>
            <a:pPr lvl="0"/>
            <a:r>
              <a:rPr lang="zh-CN" altLang="en-US" noProof="0"/>
              <a:t>单击此处编辑母版副标题样式</a:t>
            </a:r>
            <a:endParaRPr lang="zh-CN" altLang="en-US" noProof="0"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1">
    <p:spTree>
      <p:nvGrpSpPr>
        <p:cNvPr id="1" name=""/>
        <p:cNvGrpSpPr/>
        <p:nvPr/>
      </p:nvGrpSpPr>
      <p:grpSpPr>
        <a:xfrm>
          <a:off x="0" y="0"/>
          <a:ext cx="0" cy="0"/>
          <a:chOff x="0" y="0"/>
          <a:chExt cx="0" cy="0"/>
        </a:xfrm>
      </p:grpSpPr>
      <p:sp>
        <p:nvSpPr>
          <p:cNvPr id="2" name="标题 1"/>
          <p:cNvSpPr>
            <a:spLocks noGrp="1"/>
          </p:cNvSpPr>
          <p:nvPr>
            <p:ph type="title"/>
          </p:nvPr>
        </p:nvSpPr>
        <p:spPr>
          <a:xfrm>
            <a:off x="251520" y="188640"/>
            <a:ext cx="7200800" cy="720080"/>
          </a:xfrm>
        </p:spPr>
        <p:txBody>
          <a:bodyPr/>
          <a:lstStyle>
            <a:lvl1pPr>
              <a:defRPr baseline="0">
                <a:solidFill>
                  <a:srgbClr val="C00000"/>
                </a:solidFill>
                <a:latin typeface="Arial" panose="020B0604020202020204" pitchFamily="34" charset="0"/>
                <a:ea typeface="宋体" panose="02010600030101010101" pitchFamily="2" charset="-122"/>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251520" y="980728"/>
            <a:ext cx="8640960" cy="52565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5" name="Rectangle 6"/>
          <p:cNvSpPr>
            <a:spLocks noGrp="1" noChangeArrowheads="1"/>
          </p:cNvSpPr>
          <p:nvPr>
            <p:ph type="sldNum" sz="quarter" idx="11"/>
          </p:nvPr>
        </p:nvSpPr>
        <p:spPr/>
        <p:txBody>
          <a:bodyPr/>
          <a:lstStyle>
            <a:lvl1pPr>
              <a:defRPr/>
            </a:lvl1pPr>
          </a:lstStyle>
          <a:p>
            <a:pPr>
              <a:defRPr/>
            </a:pPr>
            <a:fld id="{B40C3BFD-24D0-4966-81A9-4BDD3454C069}" type="slidenum">
              <a:rPr lang="en-US" altLang="zh-CN"/>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6985000" cy="649288"/>
          </a:xfrm>
        </p:spPr>
        <p:txBody>
          <a:bodyPr/>
          <a:lstStyle/>
          <a:p>
            <a:r>
              <a:rPr lang="zh-CN" altLang="en-US"/>
              <a:t>单击此处编辑母版标题样式</a:t>
            </a:r>
          </a:p>
        </p:txBody>
      </p:sp>
      <p:sp>
        <p:nvSpPr>
          <p:cNvPr id="3" name="内容占位符 2"/>
          <p:cNvSpPr>
            <a:spLocks noGrp="1"/>
          </p:cNvSpPr>
          <p:nvPr>
            <p:ph sz="half" idx="1"/>
          </p:nvPr>
        </p:nvSpPr>
        <p:spPr>
          <a:xfrm>
            <a:off x="328042" y="908720"/>
            <a:ext cx="4171950" cy="5328592"/>
          </a:xfrm>
        </p:spPr>
        <p:txBody>
          <a:bodyPr/>
          <a:lstStyle>
            <a:lvl1pPr>
              <a:defRPr sz="2800" baseline="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4648522" y="908720"/>
            <a:ext cx="4171950" cy="532859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8A58A3F3-0373-449B-8E61-DD8B1408CFD8}" type="slidenum">
              <a:rPr lang="en-US" altLang="zh-CN"/>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6985000" cy="649288"/>
          </a:xfrm>
        </p:spPr>
        <p:txBody>
          <a:bodyPr/>
          <a:lstStyle/>
          <a:p>
            <a:r>
              <a:rPr lang="zh-CN" altLang="en-US"/>
              <a:t>单击此处编辑母版标题样式</a:t>
            </a:r>
          </a:p>
        </p:txBody>
      </p:sp>
      <p:sp>
        <p:nvSpPr>
          <p:cNvPr id="3"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4" name="Rectangle 6"/>
          <p:cNvSpPr>
            <a:spLocks noGrp="1" noChangeArrowheads="1"/>
          </p:cNvSpPr>
          <p:nvPr>
            <p:ph type="sldNum" sz="quarter" idx="11"/>
          </p:nvPr>
        </p:nvSpPr>
        <p:spPr/>
        <p:txBody>
          <a:bodyPr/>
          <a:lstStyle>
            <a:lvl1pPr>
              <a:defRPr/>
            </a:lvl1pPr>
          </a:lstStyle>
          <a:p>
            <a:pPr>
              <a:defRPr/>
            </a:pPr>
            <a:fld id="{B510424F-96B9-4C00-88E0-F120333DC6C5}" type="slidenum">
              <a:rPr lang="en-US" altLang="zh-CN"/>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3" name="Rectangle 6"/>
          <p:cNvSpPr>
            <a:spLocks noGrp="1" noChangeArrowheads="1"/>
          </p:cNvSpPr>
          <p:nvPr>
            <p:ph type="sldNum" sz="quarter" idx="11"/>
          </p:nvPr>
        </p:nvSpPr>
        <p:spPr/>
        <p:txBody>
          <a:bodyPr/>
          <a:lstStyle>
            <a:lvl1pPr>
              <a:defRPr/>
            </a:lvl1pPr>
          </a:lstStyle>
          <a:p>
            <a:pPr>
              <a:defRPr/>
            </a:pPr>
            <a:fld id="{FC63145C-71F2-48C1-8DD2-31D6AC142F2A}" type="slidenum">
              <a:rPr lang="en-US" altLang="zh-CN"/>
              <a:t>‹#›</a:t>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dirty="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FB19B108-AFC7-4225-832B-3FC6DC0A325D}" type="slidenum">
              <a:rPr lang="en-US" altLang="zh-CN"/>
              <a:t>‹#›</a:t>
            </a:fld>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323850" y="260648"/>
            <a:ext cx="6985000" cy="649288"/>
          </a:xfrm>
        </p:spPr>
        <p:txBody>
          <a:bodyPr/>
          <a:lstStyle/>
          <a:p>
            <a:r>
              <a:rPr lang="zh-CN" altLang="en-US"/>
              <a:t>单击此处编辑母版标题样式</a:t>
            </a:r>
            <a:endParaRPr lang="zh-CN" altLang="en-US" dirty="0"/>
          </a:p>
        </p:txBody>
      </p:sp>
      <p:sp>
        <p:nvSpPr>
          <p:cNvPr id="3" name="SmartArt 占位符 2"/>
          <p:cNvSpPr>
            <a:spLocks noGrp="1"/>
          </p:cNvSpPr>
          <p:nvPr>
            <p:ph type="dgm" idx="1" hasCustomPrompt="1"/>
          </p:nvPr>
        </p:nvSpPr>
        <p:spPr>
          <a:xfrm>
            <a:off x="323850" y="980728"/>
            <a:ext cx="8496300" cy="5184576"/>
          </a:xfrm>
        </p:spPr>
        <p:txBody>
          <a:bodyPr/>
          <a:lstStyle>
            <a:lvl1pPr>
              <a:lnSpc>
                <a:spcPts val="4200"/>
              </a:lnSpc>
              <a:defRPr/>
            </a:lvl1pPr>
            <a:lvl2pPr>
              <a:lnSpc>
                <a:spcPts val="4200"/>
              </a:lnSpc>
              <a:defRPr/>
            </a:lvl2pPr>
            <a:lvl3pPr>
              <a:lnSpc>
                <a:spcPts val="4200"/>
              </a:lnSpc>
              <a:defRPr/>
            </a:lvl3pPr>
          </a:lstStyle>
          <a:p>
            <a:pPr lvl="0"/>
            <a:r>
              <a:rPr lang="zh-CN" altLang="en-US" dirty="0"/>
              <a:t>单击此处编辑母版文本样式</a:t>
            </a:r>
          </a:p>
          <a:p>
            <a:pPr lvl="1"/>
            <a:r>
              <a:rPr lang="zh-CN" altLang="en-US" dirty="0"/>
              <a:t>第二级</a:t>
            </a:r>
          </a:p>
          <a:p>
            <a:pPr lvl="2"/>
            <a:r>
              <a:rPr lang="zh-CN" altLang="en-US" dirty="0"/>
              <a:t>第三级</a:t>
            </a:r>
            <a:endParaRPr lang="zh-CN" altLang="en-US" noProof="0" dirty="0"/>
          </a:p>
        </p:txBody>
      </p:sp>
      <p:sp>
        <p:nvSpPr>
          <p:cNvPr id="4"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5" name="Rectangle 6"/>
          <p:cNvSpPr>
            <a:spLocks noGrp="1" noChangeArrowheads="1"/>
          </p:cNvSpPr>
          <p:nvPr>
            <p:ph type="sldNum" sz="quarter" idx="11"/>
          </p:nvPr>
        </p:nvSpPr>
        <p:spPr/>
        <p:txBody>
          <a:bodyPr/>
          <a:lstStyle>
            <a:lvl1pPr>
              <a:defRPr/>
            </a:lvl1pPr>
          </a:lstStyle>
          <a:p>
            <a:pPr>
              <a:defRPr/>
            </a:pPr>
            <a:fld id="{D7052C24-EBD5-4EC7-9586-D9EC98D33499}" type="slidenum">
              <a:rPr lang="en-US" altLang="zh-CN"/>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323850" y="260648"/>
            <a:ext cx="6985000" cy="649288"/>
          </a:xfrm>
        </p:spPr>
        <p:txBody>
          <a:bodyPr/>
          <a:lstStyle/>
          <a:p>
            <a:r>
              <a:rPr lang="zh-CN" altLang="en-US"/>
              <a:t>单击此处编辑母版标题样式</a:t>
            </a:r>
            <a:endParaRPr lang="zh-CN" altLang="en-US" dirty="0"/>
          </a:p>
        </p:txBody>
      </p:sp>
      <p:sp>
        <p:nvSpPr>
          <p:cNvPr id="3" name="文本占位符 2"/>
          <p:cNvSpPr>
            <a:spLocks noGrp="1"/>
          </p:cNvSpPr>
          <p:nvPr>
            <p:ph type="body" sz="half" idx="1"/>
          </p:nvPr>
        </p:nvSpPr>
        <p:spPr>
          <a:xfrm>
            <a:off x="323850" y="980728"/>
            <a:ext cx="8496300" cy="2443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323850" y="3501008"/>
            <a:ext cx="8496300" cy="266429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E455DE7D-A7CA-4CE7-A54D-6F8BA2A0D8E0}" type="slidenum">
              <a:rPr lang="en-US" altLang="zh-CN"/>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aphicFrame>
        <p:nvGraphicFramePr>
          <p:cNvPr id="4" name="Object 8"/>
          <p:cNvGraphicFramePr>
            <a:graphicFrameLocks noChangeAspect="1"/>
          </p:cNvGraphicFramePr>
          <p:nvPr/>
        </p:nvGraphicFramePr>
        <p:xfrm>
          <a:off x="0" y="5559425"/>
          <a:ext cx="1331913" cy="1050925"/>
        </p:xfrm>
        <a:graphic>
          <a:graphicData uri="http://schemas.openxmlformats.org/presentationml/2006/ole">
            <mc:AlternateContent xmlns:mc="http://schemas.openxmlformats.org/markup-compatibility/2006">
              <mc:Choice xmlns:v="urn:schemas-microsoft-com:vml" Requires="v">
                <p:oleObj spid="_x0000_s6147" name="Image" r:id="rId3" imgW="2590800" imgH="2044700" progId="Photoshop.Image.7">
                  <p:embed/>
                </p:oleObj>
              </mc:Choice>
              <mc:Fallback>
                <p:oleObj name="Image" r:id="rId3" imgW="2590800" imgH="2044700" progId="Photoshop.Image.7">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559425"/>
                        <a:ext cx="1331913" cy="1050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333399"/>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5"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6597650"/>
            <a:ext cx="91440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755650" y="1484313"/>
            <a:ext cx="7772400" cy="1358900"/>
          </a:xfrm>
        </p:spPr>
        <p:txBody>
          <a:bodyPr/>
          <a:lstStyle>
            <a:lvl1pPr algn="ctr">
              <a:defRPr sz="4800" b="1">
                <a:latin typeface="+mj-ea"/>
                <a:ea typeface="+mj-ea"/>
              </a:defRPr>
            </a:lvl1pPr>
          </a:lstStyle>
          <a:p>
            <a:pPr lvl="0"/>
            <a:r>
              <a:rPr lang="zh-CN" altLang="en-US" noProof="0"/>
              <a:t>单击此处编辑母版标题样式</a:t>
            </a:r>
            <a:endParaRPr lang="zh-CN" altLang="en-US" noProof="0" dirty="0"/>
          </a:p>
        </p:txBody>
      </p:sp>
      <p:sp>
        <p:nvSpPr>
          <p:cNvPr id="3075" name="Rectangle 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baseline="0">
                <a:latin typeface="Arial" panose="020B0604020202020204" pitchFamily="34" charset="0"/>
                <a:ea typeface="楷体_GB2312" pitchFamily="49" charset="-122"/>
              </a:defRPr>
            </a:lvl1pPr>
          </a:lstStyle>
          <a:p>
            <a:pPr lvl="0"/>
            <a:r>
              <a:rPr lang="zh-CN" altLang="en-US" noProof="0"/>
              <a:t>单击此处编辑母版副标题样式</a:t>
            </a:r>
            <a:endParaRPr lang="zh-CN" altLang="en-US" noProof="0"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标题和内容1">
    <p:spTree>
      <p:nvGrpSpPr>
        <p:cNvPr id="1" name=""/>
        <p:cNvGrpSpPr/>
        <p:nvPr/>
      </p:nvGrpSpPr>
      <p:grpSpPr>
        <a:xfrm>
          <a:off x="0" y="0"/>
          <a:ext cx="0" cy="0"/>
          <a:chOff x="0" y="0"/>
          <a:chExt cx="0" cy="0"/>
        </a:xfrm>
      </p:grpSpPr>
      <p:sp>
        <p:nvSpPr>
          <p:cNvPr id="2" name="标题 1"/>
          <p:cNvSpPr>
            <a:spLocks noGrp="1"/>
          </p:cNvSpPr>
          <p:nvPr>
            <p:ph type="title"/>
          </p:nvPr>
        </p:nvSpPr>
        <p:spPr>
          <a:xfrm>
            <a:off x="251520" y="188640"/>
            <a:ext cx="7200800" cy="720080"/>
          </a:xfrm>
        </p:spPr>
        <p:txBody>
          <a:bodyPr/>
          <a:lstStyle>
            <a:lvl1pPr>
              <a:defRPr baseline="0">
                <a:solidFill>
                  <a:srgbClr val="C00000"/>
                </a:solidFill>
                <a:latin typeface="Arial" panose="020B0604020202020204" pitchFamily="34" charset="0"/>
                <a:ea typeface="宋体" panose="02010600030101010101" pitchFamily="2" charset="-122"/>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251520" y="980728"/>
            <a:ext cx="8640960" cy="52565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5" name="Rectangle 6"/>
          <p:cNvSpPr>
            <a:spLocks noGrp="1" noChangeArrowheads="1"/>
          </p:cNvSpPr>
          <p:nvPr>
            <p:ph type="sldNum" sz="quarter" idx="11"/>
          </p:nvPr>
        </p:nvSpPr>
        <p:spPr/>
        <p:txBody>
          <a:bodyPr/>
          <a:lstStyle>
            <a:lvl1pPr>
              <a:defRPr/>
            </a:lvl1pPr>
          </a:lstStyle>
          <a:p>
            <a:pPr>
              <a:defRPr/>
            </a:pPr>
            <a:fld id="{B40C3BFD-24D0-4966-81A9-4BDD3454C069}" type="slidenum">
              <a:rPr lang="en-US" altLang="zh-CN"/>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6985000" cy="649288"/>
          </a:xfrm>
        </p:spPr>
        <p:txBody>
          <a:bodyPr/>
          <a:lstStyle/>
          <a:p>
            <a:r>
              <a:rPr lang="zh-CN" altLang="en-US"/>
              <a:t>单击此处编辑母版标题样式</a:t>
            </a:r>
          </a:p>
        </p:txBody>
      </p:sp>
      <p:sp>
        <p:nvSpPr>
          <p:cNvPr id="3" name="内容占位符 2"/>
          <p:cNvSpPr>
            <a:spLocks noGrp="1"/>
          </p:cNvSpPr>
          <p:nvPr>
            <p:ph sz="half" idx="1"/>
          </p:nvPr>
        </p:nvSpPr>
        <p:spPr>
          <a:xfrm>
            <a:off x="328042" y="908720"/>
            <a:ext cx="4171950" cy="5328592"/>
          </a:xfrm>
        </p:spPr>
        <p:txBody>
          <a:bodyPr/>
          <a:lstStyle>
            <a:lvl1pPr>
              <a:defRPr sz="2800" baseline="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4648522" y="908720"/>
            <a:ext cx="4171950" cy="532859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8A58A3F3-0373-449B-8E61-DD8B1408CFD8}" type="slidenum">
              <a:rPr lang="en-US" altLang="zh-CN"/>
              <a:t>‹#›</a:t>
            </a:fld>
            <a:endParaRPr lang="en-US" alt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6985000" cy="649288"/>
          </a:xfrm>
        </p:spPr>
        <p:txBody>
          <a:bodyPr/>
          <a:lstStyle/>
          <a:p>
            <a:r>
              <a:rPr lang="zh-CN" altLang="en-US"/>
              <a:t>单击此处编辑母版标题样式</a:t>
            </a:r>
          </a:p>
        </p:txBody>
      </p:sp>
      <p:sp>
        <p:nvSpPr>
          <p:cNvPr id="3"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4" name="Rectangle 6"/>
          <p:cNvSpPr>
            <a:spLocks noGrp="1" noChangeArrowheads="1"/>
          </p:cNvSpPr>
          <p:nvPr>
            <p:ph type="sldNum" sz="quarter" idx="11"/>
          </p:nvPr>
        </p:nvSpPr>
        <p:spPr/>
        <p:txBody>
          <a:bodyPr/>
          <a:lstStyle>
            <a:lvl1pPr>
              <a:defRPr/>
            </a:lvl1pPr>
          </a:lstStyle>
          <a:p>
            <a:pPr>
              <a:defRPr/>
            </a:pPr>
            <a:fld id="{B510424F-96B9-4C00-88E0-F120333DC6C5}" type="slidenum">
              <a:rPr lang="en-US" altLang="zh-CN"/>
              <a:t>‹#›</a:t>
            </a:fld>
            <a:endParaRPr lang="en-US" alt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3" name="Rectangle 6"/>
          <p:cNvSpPr>
            <a:spLocks noGrp="1" noChangeArrowheads="1"/>
          </p:cNvSpPr>
          <p:nvPr>
            <p:ph type="sldNum" sz="quarter" idx="11"/>
          </p:nvPr>
        </p:nvSpPr>
        <p:spPr/>
        <p:txBody>
          <a:bodyPr/>
          <a:lstStyle>
            <a:lvl1pPr>
              <a:defRPr/>
            </a:lvl1pPr>
          </a:lstStyle>
          <a:p>
            <a:pPr>
              <a:defRPr/>
            </a:pPr>
            <a:fld id="{FC63145C-71F2-48C1-8DD2-31D6AC142F2A}" type="slidenum">
              <a:rPr lang="en-US" altLang="zh-CN"/>
              <a:t>‹#›</a:t>
            </a:fld>
            <a:endParaRPr lang="en-US" alt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dirty="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FB19B108-AFC7-4225-832B-3FC6DC0A325D}" type="slidenum">
              <a:rPr lang="en-US" altLang="zh-CN"/>
              <a:t>‹#›</a:t>
            </a:fld>
            <a:endParaRPr lang="en-US" altLang="zh-C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323850" y="260648"/>
            <a:ext cx="6985000" cy="649288"/>
          </a:xfrm>
        </p:spPr>
        <p:txBody>
          <a:bodyPr/>
          <a:lstStyle/>
          <a:p>
            <a:r>
              <a:rPr lang="zh-CN" altLang="en-US"/>
              <a:t>单击此处编辑母版标题样式</a:t>
            </a:r>
            <a:endParaRPr lang="zh-CN" altLang="en-US" dirty="0"/>
          </a:p>
        </p:txBody>
      </p:sp>
      <p:sp>
        <p:nvSpPr>
          <p:cNvPr id="3" name="SmartArt 占位符 2"/>
          <p:cNvSpPr>
            <a:spLocks noGrp="1"/>
          </p:cNvSpPr>
          <p:nvPr>
            <p:ph type="dgm" idx="1" hasCustomPrompt="1"/>
          </p:nvPr>
        </p:nvSpPr>
        <p:spPr>
          <a:xfrm>
            <a:off x="323850" y="980728"/>
            <a:ext cx="8496300" cy="5184576"/>
          </a:xfrm>
        </p:spPr>
        <p:txBody>
          <a:bodyPr/>
          <a:lstStyle>
            <a:lvl1pPr>
              <a:lnSpc>
                <a:spcPts val="4200"/>
              </a:lnSpc>
              <a:defRPr/>
            </a:lvl1pPr>
            <a:lvl2pPr>
              <a:lnSpc>
                <a:spcPts val="4200"/>
              </a:lnSpc>
              <a:defRPr/>
            </a:lvl2pPr>
            <a:lvl3pPr>
              <a:lnSpc>
                <a:spcPts val="4200"/>
              </a:lnSpc>
              <a:defRPr/>
            </a:lvl3pPr>
          </a:lstStyle>
          <a:p>
            <a:pPr lvl="0"/>
            <a:r>
              <a:rPr lang="zh-CN" altLang="en-US" dirty="0"/>
              <a:t>单击此处编辑母版文本样式</a:t>
            </a:r>
          </a:p>
          <a:p>
            <a:pPr lvl="1"/>
            <a:r>
              <a:rPr lang="zh-CN" altLang="en-US" dirty="0"/>
              <a:t>第二级</a:t>
            </a:r>
          </a:p>
          <a:p>
            <a:pPr lvl="2"/>
            <a:r>
              <a:rPr lang="zh-CN" altLang="en-US" dirty="0"/>
              <a:t>第三级</a:t>
            </a:r>
            <a:endParaRPr lang="zh-CN" altLang="en-US" noProof="0" dirty="0"/>
          </a:p>
        </p:txBody>
      </p:sp>
      <p:sp>
        <p:nvSpPr>
          <p:cNvPr id="4"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5" name="Rectangle 6"/>
          <p:cNvSpPr>
            <a:spLocks noGrp="1" noChangeArrowheads="1"/>
          </p:cNvSpPr>
          <p:nvPr>
            <p:ph type="sldNum" sz="quarter" idx="11"/>
          </p:nvPr>
        </p:nvSpPr>
        <p:spPr/>
        <p:txBody>
          <a:bodyPr/>
          <a:lstStyle>
            <a:lvl1pPr>
              <a:defRPr/>
            </a:lvl1pPr>
          </a:lstStyle>
          <a:p>
            <a:pPr>
              <a:defRPr/>
            </a:pPr>
            <a:fld id="{D7052C24-EBD5-4EC7-9586-D9EC98D33499}" type="slidenum">
              <a:rPr lang="en-US" altLang="zh-CN"/>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323850" y="260648"/>
            <a:ext cx="6985000" cy="649288"/>
          </a:xfrm>
        </p:spPr>
        <p:txBody>
          <a:bodyPr/>
          <a:lstStyle/>
          <a:p>
            <a:r>
              <a:rPr lang="zh-CN" altLang="en-US"/>
              <a:t>单击此处编辑母版标题样式</a:t>
            </a:r>
            <a:endParaRPr lang="zh-CN" altLang="en-US" dirty="0"/>
          </a:p>
        </p:txBody>
      </p:sp>
      <p:sp>
        <p:nvSpPr>
          <p:cNvPr id="3" name="文本占位符 2"/>
          <p:cNvSpPr>
            <a:spLocks noGrp="1"/>
          </p:cNvSpPr>
          <p:nvPr>
            <p:ph type="body" sz="half" idx="1"/>
          </p:nvPr>
        </p:nvSpPr>
        <p:spPr>
          <a:xfrm>
            <a:off x="323850" y="980728"/>
            <a:ext cx="8496300" cy="2443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323850" y="3501008"/>
            <a:ext cx="8496300" cy="266429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E455DE7D-A7CA-4CE7-A54D-6F8BA2A0D8E0}" type="slidenum">
              <a:rPr lang="en-US" altLang="zh-CN"/>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aphicFrame>
        <p:nvGraphicFramePr>
          <p:cNvPr id="4" name="Object 8"/>
          <p:cNvGraphicFramePr>
            <a:graphicFrameLocks noChangeAspect="1"/>
          </p:cNvGraphicFramePr>
          <p:nvPr/>
        </p:nvGraphicFramePr>
        <p:xfrm>
          <a:off x="0" y="5559425"/>
          <a:ext cx="1331913" cy="1050925"/>
        </p:xfrm>
        <a:graphic>
          <a:graphicData uri="http://schemas.openxmlformats.org/presentationml/2006/ole">
            <mc:AlternateContent xmlns:mc="http://schemas.openxmlformats.org/markup-compatibility/2006">
              <mc:Choice xmlns:v="urn:schemas-microsoft-com:vml" Requires="v">
                <p:oleObj spid="_x0000_s8195" name="Image" r:id="rId3" imgW="2590800" imgH="2044700" progId="Photoshop.Image.7">
                  <p:embed/>
                </p:oleObj>
              </mc:Choice>
              <mc:Fallback>
                <p:oleObj name="Image" r:id="rId3" imgW="2590800" imgH="2044700" progId="Photoshop.Image.7">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559425"/>
                        <a:ext cx="1331913" cy="1050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333399"/>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5"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6597650"/>
            <a:ext cx="91440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755650" y="1484313"/>
            <a:ext cx="7772400" cy="1358900"/>
          </a:xfrm>
        </p:spPr>
        <p:txBody>
          <a:bodyPr/>
          <a:lstStyle>
            <a:lvl1pPr algn="ctr">
              <a:defRPr sz="4800" b="1">
                <a:latin typeface="+mj-ea"/>
                <a:ea typeface="+mj-ea"/>
              </a:defRPr>
            </a:lvl1pPr>
          </a:lstStyle>
          <a:p>
            <a:pPr lvl="0"/>
            <a:r>
              <a:rPr lang="zh-CN" altLang="en-US" noProof="0"/>
              <a:t>单击此处编辑母版标题样式</a:t>
            </a:r>
            <a:endParaRPr lang="zh-CN" altLang="en-US" noProof="0" dirty="0"/>
          </a:p>
        </p:txBody>
      </p:sp>
      <p:sp>
        <p:nvSpPr>
          <p:cNvPr id="3075" name="Rectangle 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baseline="0">
                <a:latin typeface="Arial" panose="020B0604020202020204" pitchFamily="34" charset="0"/>
                <a:ea typeface="楷体_GB2312" pitchFamily="49" charset="-122"/>
              </a:defRPr>
            </a:lvl1pPr>
          </a:lstStyle>
          <a:p>
            <a:pPr lvl="0"/>
            <a:r>
              <a:rPr lang="zh-CN" altLang="en-US" noProof="0"/>
              <a:t>单击此处编辑母版副标题样式</a:t>
            </a:r>
            <a:endParaRPr lang="zh-CN" altLang="en-US" noProof="0"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1">
    <p:spTree>
      <p:nvGrpSpPr>
        <p:cNvPr id="1" name=""/>
        <p:cNvGrpSpPr/>
        <p:nvPr/>
      </p:nvGrpSpPr>
      <p:grpSpPr>
        <a:xfrm>
          <a:off x="0" y="0"/>
          <a:ext cx="0" cy="0"/>
          <a:chOff x="0" y="0"/>
          <a:chExt cx="0" cy="0"/>
        </a:xfrm>
      </p:grpSpPr>
      <p:sp>
        <p:nvSpPr>
          <p:cNvPr id="2" name="标题 1"/>
          <p:cNvSpPr>
            <a:spLocks noGrp="1"/>
          </p:cNvSpPr>
          <p:nvPr>
            <p:ph type="title"/>
          </p:nvPr>
        </p:nvSpPr>
        <p:spPr>
          <a:xfrm>
            <a:off x="251520" y="188640"/>
            <a:ext cx="7200800" cy="720080"/>
          </a:xfrm>
        </p:spPr>
        <p:txBody>
          <a:bodyPr/>
          <a:lstStyle>
            <a:lvl1pPr>
              <a:defRPr baseline="0">
                <a:solidFill>
                  <a:srgbClr val="C00000"/>
                </a:solidFill>
                <a:latin typeface="Arial" panose="020B0604020202020204" pitchFamily="34" charset="0"/>
                <a:ea typeface="宋体" panose="02010600030101010101" pitchFamily="2" charset="-122"/>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251520" y="980728"/>
            <a:ext cx="8640960" cy="52565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5" name="Rectangle 6"/>
          <p:cNvSpPr>
            <a:spLocks noGrp="1" noChangeArrowheads="1"/>
          </p:cNvSpPr>
          <p:nvPr>
            <p:ph type="sldNum" sz="quarter" idx="11"/>
          </p:nvPr>
        </p:nvSpPr>
        <p:spPr/>
        <p:txBody>
          <a:bodyPr/>
          <a:lstStyle>
            <a:lvl1pPr>
              <a:defRPr/>
            </a:lvl1pPr>
          </a:lstStyle>
          <a:p>
            <a:pPr>
              <a:defRPr/>
            </a:pPr>
            <a:fld id="{B40C3BFD-24D0-4966-81A9-4BDD3454C069}" type="slidenum">
              <a:rPr lang="en-US" altLang="zh-CN"/>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6985000" cy="649288"/>
          </a:xfrm>
        </p:spPr>
        <p:txBody>
          <a:bodyPr/>
          <a:lstStyle/>
          <a:p>
            <a:r>
              <a:rPr lang="zh-CN" altLang="en-US"/>
              <a:t>单击此处编辑母版标题样式</a:t>
            </a:r>
          </a:p>
        </p:txBody>
      </p:sp>
      <p:sp>
        <p:nvSpPr>
          <p:cNvPr id="3" name="内容占位符 2"/>
          <p:cNvSpPr>
            <a:spLocks noGrp="1"/>
          </p:cNvSpPr>
          <p:nvPr>
            <p:ph sz="half" idx="1"/>
          </p:nvPr>
        </p:nvSpPr>
        <p:spPr>
          <a:xfrm>
            <a:off x="328042" y="908720"/>
            <a:ext cx="4171950" cy="5328592"/>
          </a:xfrm>
        </p:spPr>
        <p:txBody>
          <a:bodyPr/>
          <a:lstStyle>
            <a:lvl1pPr>
              <a:defRPr sz="2800" baseline="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4648522" y="908720"/>
            <a:ext cx="4171950" cy="532859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8A58A3F3-0373-449B-8E61-DD8B1408CFD8}" type="slidenum">
              <a:rPr lang="en-US" altLang="zh-CN"/>
              <a:t>‹#›</a:t>
            </a:fld>
            <a:endParaRPr lang="en-US" altLang="zh-CN"/>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6985000" cy="649288"/>
          </a:xfrm>
        </p:spPr>
        <p:txBody>
          <a:bodyPr/>
          <a:lstStyle/>
          <a:p>
            <a:r>
              <a:rPr lang="zh-CN" altLang="en-US"/>
              <a:t>单击此处编辑母版标题样式</a:t>
            </a:r>
          </a:p>
        </p:txBody>
      </p:sp>
      <p:sp>
        <p:nvSpPr>
          <p:cNvPr id="3"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4" name="Rectangle 6"/>
          <p:cNvSpPr>
            <a:spLocks noGrp="1" noChangeArrowheads="1"/>
          </p:cNvSpPr>
          <p:nvPr>
            <p:ph type="sldNum" sz="quarter" idx="11"/>
          </p:nvPr>
        </p:nvSpPr>
        <p:spPr/>
        <p:txBody>
          <a:bodyPr/>
          <a:lstStyle>
            <a:lvl1pPr>
              <a:defRPr/>
            </a:lvl1pPr>
          </a:lstStyle>
          <a:p>
            <a:pPr>
              <a:defRPr/>
            </a:pPr>
            <a:fld id="{B510424F-96B9-4C00-88E0-F120333DC6C5}" type="slidenum">
              <a:rPr lang="en-US" altLang="zh-CN"/>
              <a:t>‹#›</a:t>
            </a:fld>
            <a:endParaRPr lang="en-US" altLang="zh-CN"/>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3" name="Rectangle 6"/>
          <p:cNvSpPr>
            <a:spLocks noGrp="1" noChangeArrowheads="1"/>
          </p:cNvSpPr>
          <p:nvPr>
            <p:ph type="sldNum" sz="quarter" idx="11"/>
          </p:nvPr>
        </p:nvSpPr>
        <p:spPr/>
        <p:txBody>
          <a:bodyPr/>
          <a:lstStyle>
            <a:lvl1pPr>
              <a:defRPr/>
            </a:lvl1pPr>
          </a:lstStyle>
          <a:p>
            <a:pPr>
              <a:defRPr/>
            </a:pPr>
            <a:fld id="{FC63145C-71F2-48C1-8DD2-31D6AC142F2A}" type="slidenum">
              <a:rPr lang="en-US" altLang="zh-CN"/>
              <a:t>‹#›</a:t>
            </a:fld>
            <a:endParaRPr lang="en-US" altLang="zh-C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dirty="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FB19B108-AFC7-4225-832B-3FC6DC0A325D}" type="slidenum">
              <a:rPr lang="en-US" altLang="zh-CN"/>
              <a:t>‹#›</a:t>
            </a:fld>
            <a:endParaRPr lang="en-US" altLang="zh-CN"/>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323850" y="260648"/>
            <a:ext cx="6985000" cy="649288"/>
          </a:xfrm>
        </p:spPr>
        <p:txBody>
          <a:bodyPr/>
          <a:lstStyle/>
          <a:p>
            <a:r>
              <a:rPr lang="zh-CN" altLang="en-US"/>
              <a:t>单击此处编辑母版标题样式</a:t>
            </a:r>
            <a:endParaRPr lang="zh-CN" altLang="en-US" dirty="0"/>
          </a:p>
        </p:txBody>
      </p:sp>
      <p:sp>
        <p:nvSpPr>
          <p:cNvPr id="3" name="SmartArt 占位符 2"/>
          <p:cNvSpPr>
            <a:spLocks noGrp="1"/>
          </p:cNvSpPr>
          <p:nvPr>
            <p:ph type="dgm" idx="1" hasCustomPrompt="1"/>
          </p:nvPr>
        </p:nvSpPr>
        <p:spPr>
          <a:xfrm>
            <a:off x="323850" y="980728"/>
            <a:ext cx="8496300" cy="5184576"/>
          </a:xfrm>
        </p:spPr>
        <p:txBody>
          <a:bodyPr/>
          <a:lstStyle>
            <a:lvl1pPr>
              <a:lnSpc>
                <a:spcPts val="4200"/>
              </a:lnSpc>
              <a:defRPr/>
            </a:lvl1pPr>
            <a:lvl2pPr>
              <a:lnSpc>
                <a:spcPts val="4200"/>
              </a:lnSpc>
              <a:defRPr/>
            </a:lvl2pPr>
            <a:lvl3pPr>
              <a:lnSpc>
                <a:spcPts val="4200"/>
              </a:lnSpc>
              <a:defRPr/>
            </a:lvl3pPr>
          </a:lstStyle>
          <a:p>
            <a:pPr lvl="0"/>
            <a:r>
              <a:rPr lang="zh-CN" altLang="en-US" dirty="0"/>
              <a:t>单击此处编辑母版文本样式</a:t>
            </a:r>
          </a:p>
          <a:p>
            <a:pPr lvl="1"/>
            <a:r>
              <a:rPr lang="zh-CN" altLang="en-US" dirty="0"/>
              <a:t>第二级</a:t>
            </a:r>
          </a:p>
          <a:p>
            <a:pPr lvl="2"/>
            <a:r>
              <a:rPr lang="zh-CN" altLang="en-US" dirty="0"/>
              <a:t>第三级</a:t>
            </a:r>
            <a:endParaRPr lang="zh-CN" altLang="en-US" noProof="0" dirty="0"/>
          </a:p>
        </p:txBody>
      </p:sp>
      <p:sp>
        <p:nvSpPr>
          <p:cNvPr id="4"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5" name="Rectangle 6"/>
          <p:cNvSpPr>
            <a:spLocks noGrp="1" noChangeArrowheads="1"/>
          </p:cNvSpPr>
          <p:nvPr>
            <p:ph type="sldNum" sz="quarter" idx="11"/>
          </p:nvPr>
        </p:nvSpPr>
        <p:spPr/>
        <p:txBody>
          <a:bodyPr/>
          <a:lstStyle>
            <a:lvl1pPr>
              <a:defRPr/>
            </a:lvl1pPr>
          </a:lstStyle>
          <a:p>
            <a:pPr>
              <a:defRPr/>
            </a:pPr>
            <a:fld id="{D7052C24-EBD5-4EC7-9586-D9EC98D33499}" type="slidenum">
              <a:rPr lang="en-US" altLang="zh-CN"/>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323850" y="260648"/>
            <a:ext cx="6985000" cy="649288"/>
          </a:xfrm>
        </p:spPr>
        <p:txBody>
          <a:bodyPr/>
          <a:lstStyle/>
          <a:p>
            <a:r>
              <a:rPr lang="zh-CN" altLang="en-US"/>
              <a:t>单击此处编辑母版标题样式</a:t>
            </a:r>
            <a:endParaRPr lang="zh-CN" altLang="en-US" dirty="0"/>
          </a:p>
        </p:txBody>
      </p:sp>
      <p:sp>
        <p:nvSpPr>
          <p:cNvPr id="3" name="文本占位符 2"/>
          <p:cNvSpPr>
            <a:spLocks noGrp="1"/>
          </p:cNvSpPr>
          <p:nvPr>
            <p:ph type="body" sz="half" idx="1"/>
          </p:nvPr>
        </p:nvSpPr>
        <p:spPr>
          <a:xfrm>
            <a:off x="323850" y="980728"/>
            <a:ext cx="8496300" cy="2443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323850" y="3501008"/>
            <a:ext cx="8496300" cy="266429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E455DE7D-A7CA-4CE7-A54D-6F8BA2A0D8E0}" type="slidenum">
              <a:rPr lang="en-US" altLang="zh-CN"/>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aphicFrame>
        <p:nvGraphicFramePr>
          <p:cNvPr id="4" name="Object 8"/>
          <p:cNvGraphicFramePr>
            <a:graphicFrameLocks noChangeAspect="1"/>
          </p:cNvGraphicFramePr>
          <p:nvPr/>
        </p:nvGraphicFramePr>
        <p:xfrm>
          <a:off x="0" y="5559425"/>
          <a:ext cx="1331913" cy="1050925"/>
        </p:xfrm>
        <a:graphic>
          <a:graphicData uri="http://schemas.openxmlformats.org/presentationml/2006/ole">
            <mc:AlternateContent xmlns:mc="http://schemas.openxmlformats.org/markup-compatibility/2006">
              <mc:Choice xmlns:v="urn:schemas-microsoft-com:vml" Requires="v">
                <p:oleObj spid="_x0000_s10243" name="Image" r:id="rId3" imgW="2590800" imgH="2044700" progId="Photoshop.Image.7">
                  <p:embed/>
                </p:oleObj>
              </mc:Choice>
              <mc:Fallback>
                <p:oleObj name="Image" r:id="rId3" imgW="2590800" imgH="2044700" progId="Photoshop.Image.7">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559425"/>
                        <a:ext cx="1331913" cy="1050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333399"/>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5"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6597650"/>
            <a:ext cx="91440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755650" y="1484313"/>
            <a:ext cx="7772400" cy="1358900"/>
          </a:xfrm>
        </p:spPr>
        <p:txBody>
          <a:bodyPr/>
          <a:lstStyle>
            <a:lvl1pPr algn="ctr">
              <a:defRPr sz="4800" b="1">
                <a:latin typeface="+mj-ea"/>
                <a:ea typeface="+mj-ea"/>
              </a:defRPr>
            </a:lvl1pPr>
          </a:lstStyle>
          <a:p>
            <a:pPr lvl="0"/>
            <a:r>
              <a:rPr lang="zh-CN" altLang="en-US" noProof="0"/>
              <a:t>单击此处编辑母版标题样式</a:t>
            </a:r>
            <a:endParaRPr lang="zh-CN" altLang="en-US" noProof="0" dirty="0"/>
          </a:p>
        </p:txBody>
      </p:sp>
      <p:sp>
        <p:nvSpPr>
          <p:cNvPr id="3075" name="Rectangle 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baseline="0">
                <a:latin typeface="Arial" panose="020B0604020202020204" pitchFamily="34" charset="0"/>
                <a:ea typeface="楷体_GB2312" pitchFamily="49" charset="-122"/>
              </a:defRPr>
            </a:lvl1pPr>
          </a:lstStyle>
          <a:p>
            <a:pPr lvl="0"/>
            <a:r>
              <a:rPr lang="zh-CN" altLang="en-US" noProof="0"/>
              <a:t>单击此处编辑母版副标题样式</a:t>
            </a:r>
            <a:endParaRPr lang="zh-CN" altLang="en-US" noProof="0"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标题和内容1">
    <p:spTree>
      <p:nvGrpSpPr>
        <p:cNvPr id="1" name=""/>
        <p:cNvGrpSpPr/>
        <p:nvPr/>
      </p:nvGrpSpPr>
      <p:grpSpPr>
        <a:xfrm>
          <a:off x="0" y="0"/>
          <a:ext cx="0" cy="0"/>
          <a:chOff x="0" y="0"/>
          <a:chExt cx="0" cy="0"/>
        </a:xfrm>
      </p:grpSpPr>
      <p:sp>
        <p:nvSpPr>
          <p:cNvPr id="2" name="标题 1"/>
          <p:cNvSpPr>
            <a:spLocks noGrp="1"/>
          </p:cNvSpPr>
          <p:nvPr>
            <p:ph type="title"/>
          </p:nvPr>
        </p:nvSpPr>
        <p:spPr>
          <a:xfrm>
            <a:off x="251520" y="188640"/>
            <a:ext cx="7200800" cy="720080"/>
          </a:xfrm>
        </p:spPr>
        <p:txBody>
          <a:bodyPr/>
          <a:lstStyle>
            <a:lvl1pPr>
              <a:defRPr baseline="0">
                <a:solidFill>
                  <a:srgbClr val="C00000"/>
                </a:solidFill>
                <a:latin typeface="Arial" panose="020B0604020202020204" pitchFamily="34" charset="0"/>
                <a:ea typeface="宋体" panose="02010600030101010101" pitchFamily="2" charset="-122"/>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251520" y="980728"/>
            <a:ext cx="8640960" cy="52565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5" name="Rectangle 6"/>
          <p:cNvSpPr>
            <a:spLocks noGrp="1" noChangeArrowheads="1"/>
          </p:cNvSpPr>
          <p:nvPr>
            <p:ph type="sldNum" sz="quarter" idx="11"/>
          </p:nvPr>
        </p:nvSpPr>
        <p:spPr/>
        <p:txBody>
          <a:bodyPr/>
          <a:lstStyle>
            <a:lvl1pPr>
              <a:defRPr/>
            </a:lvl1pPr>
          </a:lstStyle>
          <a:p>
            <a:pPr>
              <a:defRPr/>
            </a:pPr>
            <a:fld id="{B40C3BFD-24D0-4966-81A9-4BDD3454C069}" type="slidenum">
              <a:rPr lang="en-US" altLang="zh-CN"/>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6985000" cy="649288"/>
          </a:xfrm>
        </p:spPr>
        <p:txBody>
          <a:bodyPr/>
          <a:lstStyle/>
          <a:p>
            <a:r>
              <a:rPr lang="zh-CN" altLang="en-US"/>
              <a:t>单击此处编辑母版标题样式</a:t>
            </a:r>
          </a:p>
        </p:txBody>
      </p:sp>
      <p:sp>
        <p:nvSpPr>
          <p:cNvPr id="3" name="内容占位符 2"/>
          <p:cNvSpPr>
            <a:spLocks noGrp="1"/>
          </p:cNvSpPr>
          <p:nvPr>
            <p:ph sz="half" idx="1"/>
          </p:nvPr>
        </p:nvSpPr>
        <p:spPr>
          <a:xfrm>
            <a:off x="328042" y="908720"/>
            <a:ext cx="4171950" cy="5328592"/>
          </a:xfrm>
        </p:spPr>
        <p:txBody>
          <a:bodyPr/>
          <a:lstStyle>
            <a:lvl1pPr>
              <a:defRPr sz="2800" baseline="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4648522" y="908720"/>
            <a:ext cx="4171950" cy="532859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8A58A3F3-0373-449B-8E61-DD8B1408CFD8}" type="slidenum">
              <a:rPr lang="en-US" altLang="zh-CN"/>
              <a:t>‹#›</a:t>
            </a:fld>
            <a:endParaRPr lang="en-US" altLang="zh-CN"/>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6985000" cy="649288"/>
          </a:xfrm>
        </p:spPr>
        <p:txBody>
          <a:bodyPr/>
          <a:lstStyle/>
          <a:p>
            <a:r>
              <a:rPr lang="zh-CN" altLang="en-US"/>
              <a:t>单击此处编辑母版标题样式</a:t>
            </a:r>
          </a:p>
        </p:txBody>
      </p:sp>
      <p:sp>
        <p:nvSpPr>
          <p:cNvPr id="3"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4" name="Rectangle 6"/>
          <p:cNvSpPr>
            <a:spLocks noGrp="1" noChangeArrowheads="1"/>
          </p:cNvSpPr>
          <p:nvPr>
            <p:ph type="sldNum" sz="quarter" idx="11"/>
          </p:nvPr>
        </p:nvSpPr>
        <p:spPr/>
        <p:txBody>
          <a:bodyPr/>
          <a:lstStyle>
            <a:lvl1pPr>
              <a:defRPr/>
            </a:lvl1pPr>
          </a:lstStyle>
          <a:p>
            <a:pPr>
              <a:defRPr/>
            </a:pPr>
            <a:fld id="{B510424F-96B9-4C00-88E0-F120333DC6C5}" type="slidenum">
              <a:rPr lang="en-US" altLang="zh-CN"/>
              <a:t>‹#›</a:t>
            </a:fld>
            <a:endParaRPr lang="en-US" altLang="zh-CN"/>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3" name="Rectangle 6"/>
          <p:cNvSpPr>
            <a:spLocks noGrp="1" noChangeArrowheads="1"/>
          </p:cNvSpPr>
          <p:nvPr>
            <p:ph type="sldNum" sz="quarter" idx="11"/>
          </p:nvPr>
        </p:nvSpPr>
        <p:spPr/>
        <p:txBody>
          <a:bodyPr/>
          <a:lstStyle>
            <a:lvl1pPr>
              <a:defRPr/>
            </a:lvl1pPr>
          </a:lstStyle>
          <a:p>
            <a:pPr>
              <a:defRPr/>
            </a:pPr>
            <a:fld id="{FC63145C-71F2-48C1-8DD2-31D6AC142F2A}" type="slidenum">
              <a:rPr lang="en-US" altLang="zh-CN"/>
              <a:t>‹#›</a:t>
            </a:fld>
            <a:endParaRPr lang="en-US" altLang="zh-CN"/>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dirty="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FB19B108-AFC7-4225-832B-3FC6DC0A325D}" type="slidenum">
              <a:rPr lang="en-US" altLang="zh-CN"/>
              <a:t>‹#›</a:t>
            </a:fld>
            <a:endParaRPr lang="en-US" altLang="zh-CN"/>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323850" y="260648"/>
            <a:ext cx="6985000" cy="649288"/>
          </a:xfrm>
        </p:spPr>
        <p:txBody>
          <a:bodyPr/>
          <a:lstStyle/>
          <a:p>
            <a:r>
              <a:rPr lang="zh-CN" altLang="en-US"/>
              <a:t>单击此处编辑母版标题样式</a:t>
            </a:r>
            <a:endParaRPr lang="zh-CN" altLang="en-US" dirty="0"/>
          </a:p>
        </p:txBody>
      </p:sp>
      <p:sp>
        <p:nvSpPr>
          <p:cNvPr id="3" name="SmartArt 占位符 2"/>
          <p:cNvSpPr>
            <a:spLocks noGrp="1"/>
          </p:cNvSpPr>
          <p:nvPr>
            <p:ph type="dgm" idx="1" hasCustomPrompt="1"/>
          </p:nvPr>
        </p:nvSpPr>
        <p:spPr>
          <a:xfrm>
            <a:off x="323850" y="980728"/>
            <a:ext cx="8496300" cy="5184576"/>
          </a:xfrm>
        </p:spPr>
        <p:txBody>
          <a:bodyPr/>
          <a:lstStyle>
            <a:lvl1pPr>
              <a:lnSpc>
                <a:spcPts val="4200"/>
              </a:lnSpc>
              <a:defRPr/>
            </a:lvl1pPr>
            <a:lvl2pPr>
              <a:lnSpc>
                <a:spcPts val="4200"/>
              </a:lnSpc>
              <a:defRPr/>
            </a:lvl2pPr>
            <a:lvl3pPr>
              <a:lnSpc>
                <a:spcPts val="4200"/>
              </a:lnSpc>
              <a:defRPr/>
            </a:lvl3pPr>
          </a:lstStyle>
          <a:p>
            <a:pPr lvl="0"/>
            <a:r>
              <a:rPr lang="zh-CN" altLang="en-US" dirty="0"/>
              <a:t>单击此处编辑母版文本样式</a:t>
            </a:r>
          </a:p>
          <a:p>
            <a:pPr lvl="1"/>
            <a:r>
              <a:rPr lang="zh-CN" altLang="en-US" dirty="0"/>
              <a:t>第二级</a:t>
            </a:r>
          </a:p>
          <a:p>
            <a:pPr lvl="2"/>
            <a:r>
              <a:rPr lang="zh-CN" altLang="en-US" dirty="0"/>
              <a:t>第三级</a:t>
            </a:r>
            <a:endParaRPr lang="zh-CN" altLang="en-US" noProof="0" dirty="0"/>
          </a:p>
        </p:txBody>
      </p:sp>
      <p:sp>
        <p:nvSpPr>
          <p:cNvPr id="4"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5" name="Rectangle 6"/>
          <p:cNvSpPr>
            <a:spLocks noGrp="1" noChangeArrowheads="1"/>
          </p:cNvSpPr>
          <p:nvPr>
            <p:ph type="sldNum" sz="quarter" idx="11"/>
          </p:nvPr>
        </p:nvSpPr>
        <p:spPr/>
        <p:txBody>
          <a:bodyPr/>
          <a:lstStyle>
            <a:lvl1pPr>
              <a:defRPr/>
            </a:lvl1pPr>
          </a:lstStyle>
          <a:p>
            <a:pPr>
              <a:defRPr/>
            </a:pPr>
            <a:fld id="{D7052C24-EBD5-4EC7-9586-D9EC98D33499}" type="slidenum">
              <a:rPr lang="en-US" altLang="zh-CN"/>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323850" y="260648"/>
            <a:ext cx="6985000" cy="649288"/>
          </a:xfrm>
        </p:spPr>
        <p:txBody>
          <a:bodyPr/>
          <a:lstStyle/>
          <a:p>
            <a:r>
              <a:rPr lang="zh-CN" altLang="en-US"/>
              <a:t>单击此处编辑母版标题样式</a:t>
            </a:r>
            <a:endParaRPr lang="zh-CN" altLang="en-US" dirty="0"/>
          </a:p>
        </p:txBody>
      </p:sp>
      <p:sp>
        <p:nvSpPr>
          <p:cNvPr id="3" name="文本占位符 2"/>
          <p:cNvSpPr>
            <a:spLocks noGrp="1"/>
          </p:cNvSpPr>
          <p:nvPr>
            <p:ph type="body" sz="half" idx="1"/>
          </p:nvPr>
        </p:nvSpPr>
        <p:spPr>
          <a:xfrm>
            <a:off x="323850" y="980728"/>
            <a:ext cx="8496300" cy="2443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323850" y="3501008"/>
            <a:ext cx="8496300" cy="266429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E455DE7D-A7CA-4CE7-A54D-6F8BA2A0D8E0}" type="slidenum">
              <a:rPr lang="en-US" altLang="zh-CN"/>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aphicFrame>
        <p:nvGraphicFramePr>
          <p:cNvPr id="4" name="Object 8"/>
          <p:cNvGraphicFramePr>
            <a:graphicFrameLocks noChangeAspect="1"/>
          </p:cNvGraphicFramePr>
          <p:nvPr/>
        </p:nvGraphicFramePr>
        <p:xfrm>
          <a:off x="0" y="5559425"/>
          <a:ext cx="1331913" cy="1050925"/>
        </p:xfrm>
        <a:graphic>
          <a:graphicData uri="http://schemas.openxmlformats.org/presentationml/2006/ole">
            <mc:AlternateContent xmlns:mc="http://schemas.openxmlformats.org/markup-compatibility/2006">
              <mc:Choice xmlns:v="urn:schemas-microsoft-com:vml" Requires="v">
                <p:oleObj spid="_x0000_s12291" name="Image" r:id="rId3" imgW="2590800" imgH="2044700" progId="Photoshop.Image.7">
                  <p:embed/>
                </p:oleObj>
              </mc:Choice>
              <mc:Fallback>
                <p:oleObj name="Image" r:id="rId3" imgW="2590800" imgH="2044700" progId="Photoshop.Image.7">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559425"/>
                        <a:ext cx="1331913" cy="1050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333399"/>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5"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6597650"/>
            <a:ext cx="91440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755650" y="1484313"/>
            <a:ext cx="7772400" cy="1358900"/>
          </a:xfrm>
        </p:spPr>
        <p:txBody>
          <a:bodyPr/>
          <a:lstStyle>
            <a:lvl1pPr algn="ctr">
              <a:defRPr sz="4800" b="1">
                <a:latin typeface="+mj-ea"/>
                <a:ea typeface="+mj-ea"/>
              </a:defRPr>
            </a:lvl1pPr>
          </a:lstStyle>
          <a:p>
            <a:pPr lvl="0"/>
            <a:r>
              <a:rPr lang="zh-CN" altLang="en-US" noProof="0"/>
              <a:t>单击此处编辑母版标题样式</a:t>
            </a:r>
            <a:endParaRPr lang="zh-CN" altLang="en-US" noProof="0" dirty="0"/>
          </a:p>
        </p:txBody>
      </p:sp>
      <p:sp>
        <p:nvSpPr>
          <p:cNvPr id="3075" name="Rectangle 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baseline="0">
                <a:latin typeface="Arial" panose="020B0604020202020204" pitchFamily="34" charset="0"/>
                <a:ea typeface="楷体_GB2312" pitchFamily="49" charset="-122"/>
              </a:defRPr>
            </a:lvl1pPr>
          </a:lstStyle>
          <a:p>
            <a:pPr lvl="0"/>
            <a:r>
              <a:rPr lang="zh-CN" altLang="en-US" noProof="0"/>
              <a:t>单击此处编辑母版副标题样式</a:t>
            </a:r>
            <a:endParaRPr lang="zh-CN" altLang="en-US" noProof="0"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标题和内容1">
    <p:spTree>
      <p:nvGrpSpPr>
        <p:cNvPr id="1" name=""/>
        <p:cNvGrpSpPr/>
        <p:nvPr/>
      </p:nvGrpSpPr>
      <p:grpSpPr>
        <a:xfrm>
          <a:off x="0" y="0"/>
          <a:ext cx="0" cy="0"/>
          <a:chOff x="0" y="0"/>
          <a:chExt cx="0" cy="0"/>
        </a:xfrm>
      </p:grpSpPr>
      <p:sp>
        <p:nvSpPr>
          <p:cNvPr id="2" name="标题 1"/>
          <p:cNvSpPr>
            <a:spLocks noGrp="1"/>
          </p:cNvSpPr>
          <p:nvPr>
            <p:ph type="title"/>
          </p:nvPr>
        </p:nvSpPr>
        <p:spPr>
          <a:xfrm>
            <a:off x="251520" y="188640"/>
            <a:ext cx="7200800" cy="720080"/>
          </a:xfrm>
        </p:spPr>
        <p:txBody>
          <a:bodyPr/>
          <a:lstStyle>
            <a:lvl1pPr>
              <a:defRPr baseline="0">
                <a:solidFill>
                  <a:srgbClr val="C00000"/>
                </a:solidFill>
                <a:latin typeface="Arial" panose="020B0604020202020204" pitchFamily="34" charset="0"/>
                <a:ea typeface="宋体" panose="02010600030101010101" pitchFamily="2" charset="-122"/>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251520" y="980728"/>
            <a:ext cx="8640960" cy="52565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5" name="Rectangle 6"/>
          <p:cNvSpPr>
            <a:spLocks noGrp="1" noChangeArrowheads="1"/>
          </p:cNvSpPr>
          <p:nvPr>
            <p:ph type="sldNum" sz="quarter" idx="11"/>
          </p:nvPr>
        </p:nvSpPr>
        <p:spPr/>
        <p:txBody>
          <a:bodyPr/>
          <a:lstStyle>
            <a:lvl1pPr>
              <a:defRPr/>
            </a:lvl1pPr>
          </a:lstStyle>
          <a:p>
            <a:pPr>
              <a:defRPr/>
            </a:pPr>
            <a:fld id="{B40C3BFD-24D0-4966-81A9-4BDD3454C069}" type="slidenum">
              <a:rPr lang="en-US" altLang="zh-CN"/>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6985000" cy="649288"/>
          </a:xfrm>
        </p:spPr>
        <p:txBody>
          <a:bodyPr/>
          <a:lstStyle/>
          <a:p>
            <a:r>
              <a:rPr lang="zh-CN" altLang="en-US"/>
              <a:t>单击此处编辑母版标题样式</a:t>
            </a:r>
          </a:p>
        </p:txBody>
      </p:sp>
      <p:sp>
        <p:nvSpPr>
          <p:cNvPr id="3" name="内容占位符 2"/>
          <p:cNvSpPr>
            <a:spLocks noGrp="1"/>
          </p:cNvSpPr>
          <p:nvPr>
            <p:ph sz="half" idx="1"/>
          </p:nvPr>
        </p:nvSpPr>
        <p:spPr>
          <a:xfrm>
            <a:off x="328042" y="908720"/>
            <a:ext cx="4171950" cy="5328592"/>
          </a:xfrm>
        </p:spPr>
        <p:txBody>
          <a:bodyPr/>
          <a:lstStyle>
            <a:lvl1pPr>
              <a:defRPr sz="2800" baseline="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4648522" y="908720"/>
            <a:ext cx="4171950" cy="532859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8A58A3F3-0373-449B-8E61-DD8B1408CFD8}" type="slidenum">
              <a:rPr lang="en-US" altLang="zh-CN"/>
              <a:t>‹#›</a:t>
            </a:fld>
            <a:endParaRPr lang="en-US" altLang="zh-CN"/>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6985000" cy="649288"/>
          </a:xfrm>
        </p:spPr>
        <p:txBody>
          <a:bodyPr/>
          <a:lstStyle/>
          <a:p>
            <a:r>
              <a:rPr lang="zh-CN" altLang="en-US"/>
              <a:t>单击此处编辑母版标题样式</a:t>
            </a:r>
          </a:p>
        </p:txBody>
      </p:sp>
      <p:sp>
        <p:nvSpPr>
          <p:cNvPr id="3"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4" name="Rectangle 6"/>
          <p:cNvSpPr>
            <a:spLocks noGrp="1" noChangeArrowheads="1"/>
          </p:cNvSpPr>
          <p:nvPr>
            <p:ph type="sldNum" sz="quarter" idx="11"/>
          </p:nvPr>
        </p:nvSpPr>
        <p:spPr/>
        <p:txBody>
          <a:bodyPr/>
          <a:lstStyle>
            <a:lvl1pPr>
              <a:defRPr/>
            </a:lvl1pPr>
          </a:lstStyle>
          <a:p>
            <a:pPr>
              <a:defRPr/>
            </a:pPr>
            <a:fld id="{B510424F-96B9-4C00-88E0-F120333DC6C5}" type="slidenum">
              <a:rPr lang="en-US" altLang="zh-CN"/>
              <a:t>‹#›</a:t>
            </a:fld>
            <a:endParaRPr lang="en-US" altLang="zh-CN"/>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3" name="Rectangle 6"/>
          <p:cNvSpPr>
            <a:spLocks noGrp="1" noChangeArrowheads="1"/>
          </p:cNvSpPr>
          <p:nvPr>
            <p:ph type="sldNum" sz="quarter" idx="11"/>
          </p:nvPr>
        </p:nvSpPr>
        <p:spPr/>
        <p:txBody>
          <a:bodyPr/>
          <a:lstStyle>
            <a:lvl1pPr>
              <a:defRPr/>
            </a:lvl1pPr>
          </a:lstStyle>
          <a:p>
            <a:pPr>
              <a:defRPr/>
            </a:pPr>
            <a:fld id="{FC63145C-71F2-48C1-8DD2-31D6AC142F2A}" type="slidenum">
              <a:rPr lang="en-US" altLang="zh-CN"/>
              <a:t>‹#›</a:t>
            </a:fld>
            <a:endParaRPr lang="en-US" altLang="zh-CN"/>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dirty="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FB19B108-AFC7-4225-832B-3FC6DC0A325D}" type="slidenum">
              <a:rPr lang="en-US" altLang="zh-CN"/>
              <a:t>‹#›</a:t>
            </a:fld>
            <a:endParaRPr lang="en-US" altLang="zh-CN"/>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323850" y="260648"/>
            <a:ext cx="6985000" cy="649288"/>
          </a:xfrm>
        </p:spPr>
        <p:txBody>
          <a:bodyPr/>
          <a:lstStyle/>
          <a:p>
            <a:r>
              <a:rPr lang="zh-CN" altLang="en-US"/>
              <a:t>单击此处编辑母版标题样式</a:t>
            </a:r>
            <a:endParaRPr lang="zh-CN" altLang="en-US" dirty="0"/>
          </a:p>
        </p:txBody>
      </p:sp>
      <p:sp>
        <p:nvSpPr>
          <p:cNvPr id="3" name="SmartArt 占位符 2"/>
          <p:cNvSpPr>
            <a:spLocks noGrp="1"/>
          </p:cNvSpPr>
          <p:nvPr>
            <p:ph type="dgm" idx="1" hasCustomPrompt="1"/>
          </p:nvPr>
        </p:nvSpPr>
        <p:spPr>
          <a:xfrm>
            <a:off x="323850" y="980728"/>
            <a:ext cx="8496300" cy="5184576"/>
          </a:xfrm>
        </p:spPr>
        <p:txBody>
          <a:bodyPr/>
          <a:lstStyle>
            <a:lvl1pPr>
              <a:lnSpc>
                <a:spcPts val="4200"/>
              </a:lnSpc>
              <a:defRPr/>
            </a:lvl1pPr>
            <a:lvl2pPr>
              <a:lnSpc>
                <a:spcPts val="4200"/>
              </a:lnSpc>
              <a:defRPr/>
            </a:lvl2pPr>
            <a:lvl3pPr>
              <a:lnSpc>
                <a:spcPts val="4200"/>
              </a:lnSpc>
              <a:defRPr/>
            </a:lvl3pPr>
          </a:lstStyle>
          <a:p>
            <a:pPr lvl="0"/>
            <a:r>
              <a:rPr lang="zh-CN" altLang="en-US" dirty="0"/>
              <a:t>单击此处编辑母版文本样式</a:t>
            </a:r>
          </a:p>
          <a:p>
            <a:pPr lvl="1"/>
            <a:r>
              <a:rPr lang="zh-CN" altLang="en-US" dirty="0"/>
              <a:t>第二级</a:t>
            </a:r>
          </a:p>
          <a:p>
            <a:pPr lvl="2"/>
            <a:r>
              <a:rPr lang="zh-CN" altLang="en-US" dirty="0"/>
              <a:t>第三级</a:t>
            </a:r>
            <a:endParaRPr lang="zh-CN" altLang="en-US" noProof="0" dirty="0"/>
          </a:p>
        </p:txBody>
      </p:sp>
      <p:sp>
        <p:nvSpPr>
          <p:cNvPr id="4"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5" name="Rectangle 6"/>
          <p:cNvSpPr>
            <a:spLocks noGrp="1" noChangeArrowheads="1"/>
          </p:cNvSpPr>
          <p:nvPr>
            <p:ph type="sldNum" sz="quarter" idx="11"/>
          </p:nvPr>
        </p:nvSpPr>
        <p:spPr/>
        <p:txBody>
          <a:bodyPr/>
          <a:lstStyle>
            <a:lvl1pPr>
              <a:defRPr/>
            </a:lvl1pPr>
          </a:lstStyle>
          <a:p>
            <a:pPr>
              <a:defRPr/>
            </a:pPr>
            <a:fld id="{D7052C24-EBD5-4EC7-9586-D9EC98D33499}" type="slidenum">
              <a:rPr lang="en-US" altLang="zh-CN"/>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323850" y="260648"/>
            <a:ext cx="6985000" cy="649288"/>
          </a:xfrm>
        </p:spPr>
        <p:txBody>
          <a:bodyPr/>
          <a:lstStyle/>
          <a:p>
            <a:r>
              <a:rPr lang="zh-CN" altLang="en-US"/>
              <a:t>单击此处编辑母版标题样式</a:t>
            </a:r>
            <a:endParaRPr lang="zh-CN" altLang="en-US" dirty="0"/>
          </a:p>
        </p:txBody>
      </p:sp>
      <p:sp>
        <p:nvSpPr>
          <p:cNvPr id="3" name="文本占位符 2"/>
          <p:cNvSpPr>
            <a:spLocks noGrp="1"/>
          </p:cNvSpPr>
          <p:nvPr>
            <p:ph type="body" sz="half" idx="1"/>
          </p:nvPr>
        </p:nvSpPr>
        <p:spPr>
          <a:xfrm>
            <a:off x="323850" y="980728"/>
            <a:ext cx="8496300" cy="2443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323850" y="3501008"/>
            <a:ext cx="8496300" cy="266429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E455DE7D-A7CA-4CE7-A54D-6F8BA2A0D8E0}" type="slidenum">
              <a:rPr lang="en-US" altLang="zh-CN"/>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aphicFrame>
        <p:nvGraphicFramePr>
          <p:cNvPr id="4" name="Object 8"/>
          <p:cNvGraphicFramePr>
            <a:graphicFrameLocks noChangeAspect="1"/>
          </p:cNvGraphicFramePr>
          <p:nvPr/>
        </p:nvGraphicFramePr>
        <p:xfrm>
          <a:off x="0" y="5559425"/>
          <a:ext cx="1331913" cy="1050925"/>
        </p:xfrm>
        <a:graphic>
          <a:graphicData uri="http://schemas.openxmlformats.org/presentationml/2006/ole">
            <mc:AlternateContent xmlns:mc="http://schemas.openxmlformats.org/markup-compatibility/2006">
              <mc:Choice xmlns:v="urn:schemas-microsoft-com:vml" Requires="v">
                <p:oleObj spid="_x0000_s14339" name="Image" r:id="rId3" imgW="2590800" imgH="2044700" progId="Photoshop.Image.7">
                  <p:embed/>
                </p:oleObj>
              </mc:Choice>
              <mc:Fallback>
                <p:oleObj name="Image" r:id="rId3" imgW="2590800" imgH="2044700" progId="Photoshop.Image.7">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559425"/>
                        <a:ext cx="1331913" cy="1050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333399"/>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5"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6597650"/>
            <a:ext cx="91440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755650" y="1484313"/>
            <a:ext cx="7772400" cy="1358900"/>
          </a:xfrm>
        </p:spPr>
        <p:txBody>
          <a:bodyPr/>
          <a:lstStyle>
            <a:lvl1pPr algn="ctr">
              <a:defRPr sz="4800" b="1">
                <a:latin typeface="+mj-ea"/>
                <a:ea typeface="+mj-ea"/>
              </a:defRPr>
            </a:lvl1pPr>
          </a:lstStyle>
          <a:p>
            <a:pPr lvl="0"/>
            <a:r>
              <a:rPr lang="zh-CN" altLang="en-US" noProof="0"/>
              <a:t>单击此处编辑母版标题样式</a:t>
            </a:r>
            <a:endParaRPr lang="zh-CN" altLang="en-US" noProof="0" dirty="0"/>
          </a:p>
        </p:txBody>
      </p:sp>
      <p:sp>
        <p:nvSpPr>
          <p:cNvPr id="3075" name="Rectangle 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baseline="0">
                <a:latin typeface="Arial" panose="020B0604020202020204" pitchFamily="34" charset="0"/>
                <a:ea typeface="楷体_GB2312" pitchFamily="49" charset="-122"/>
              </a:defRPr>
            </a:lvl1pPr>
          </a:lstStyle>
          <a:p>
            <a:pPr lvl="0"/>
            <a:r>
              <a:rPr lang="zh-CN" altLang="en-US" noProof="0"/>
              <a:t>单击此处编辑母版副标题样式</a:t>
            </a:r>
            <a:endParaRPr lang="zh-CN" altLang="en-US" noProof="0"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标题和内容1">
    <p:spTree>
      <p:nvGrpSpPr>
        <p:cNvPr id="1" name=""/>
        <p:cNvGrpSpPr/>
        <p:nvPr/>
      </p:nvGrpSpPr>
      <p:grpSpPr>
        <a:xfrm>
          <a:off x="0" y="0"/>
          <a:ext cx="0" cy="0"/>
          <a:chOff x="0" y="0"/>
          <a:chExt cx="0" cy="0"/>
        </a:xfrm>
      </p:grpSpPr>
      <p:sp>
        <p:nvSpPr>
          <p:cNvPr id="2" name="标题 1"/>
          <p:cNvSpPr>
            <a:spLocks noGrp="1"/>
          </p:cNvSpPr>
          <p:nvPr>
            <p:ph type="title"/>
          </p:nvPr>
        </p:nvSpPr>
        <p:spPr>
          <a:xfrm>
            <a:off x="251520" y="188640"/>
            <a:ext cx="7200800" cy="720080"/>
          </a:xfrm>
        </p:spPr>
        <p:txBody>
          <a:bodyPr/>
          <a:lstStyle>
            <a:lvl1pPr>
              <a:defRPr baseline="0">
                <a:solidFill>
                  <a:srgbClr val="C00000"/>
                </a:solidFill>
                <a:latin typeface="Arial" panose="020B0604020202020204" pitchFamily="34" charset="0"/>
                <a:ea typeface="宋体" panose="02010600030101010101" pitchFamily="2" charset="-122"/>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251520" y="980728"/>
            <a:ext cx="8640960" cy="52565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5" name="Rectangle 6"/>
          <p:cNvSpPr>
            <a:spLocks noGrp="1" noChangeArrowheads="1"/>
          </p:cNvSpPr>
          <p:nvPr>
            <p:ph type="sldNum" sz="quarter" idx="11"/>
          </p:nvPr>
        </p:nvSpPr>
        <p:spPr/>
        <p:txBody>
          <a:bodyPr/>
          <a:lstStyle>
            <a:lvl1pPr>
              <a:defRPr/>
            </a:lvl1pPr>
          </a:lstStyle>
          <a:p>
            <a:pPr>
              <a:defRPr/>
            </a:pPr>
            <a:fld id="{B40C3BFD-24D0-4966-81A9-4BDD3454C069}" type="slidenum">
              <a:rPr lang="en-US" altLang="zh-CN"/>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6985000" cy="649288"/>
          </a:xfrm>
        </p:spPr>
        <p:txBody>
          <a:bodyPr/>
          <a:lstStyle/>
          <a:p>
            <a:r>
              <a:rPr lang="zh-CN" altLang="en-US"/>
              <a:t>单击此处编辑母版标题样式</a:t>
            </a:r>
          </a:p>
        </p:txBody>
      </p:sp>
      <p:sp>
        <p:nvSpPr>
          <p:cNvPr id="3" name="内容占位符 2"/>
          <p:cNvSpPr>
            <a:spLocks noGrp="1"/>
          </p:cNvSpPr>
          <p:nvPr>
            <p:ph sz="half" idx="1"/>
          </p:nvPr>
        </p:nvSpPr>
        <p:spPr>
          <a:xfrm>
            <a:off x="328042" y="908720"/>
            <a:ext cx="4171950" cy="5328592"/>
          </a:xfrm>
        </p:spPr>
        <p:txBody>
          <a:bodyPr/>
          <a:lstStyle>
            <a:lvl1pPr>
              <a:defRPr sz="2800" baseline="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4648522" y="908720"/>
            <a:ext cx="4171950" cy="532859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8A58A3F3-0373-449B-8E61-DD8B1408CFD8}" type="slidenum">
              <a:rPr lang="en-US" altLang="zh-CN"/>
              <a:t>‹#›</a:t>
            </a:fld>
            <a:endParaRPr lang="en-US" altLang="zh-CN"/>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6985000" cy="649288"/>
          </a:xfrm>
        </p:spPr>
        <p:txBody>
          <a:bodyPr/>
          <a:lstStyle/>
          <a:p>
            <a:r>
              <a:rPr lang="zh-CN" altLang="en-US"/>
              <a:t>单击此处编辑母版标题样式</a:t>
            </a:r>
          </a:p>
        </p:txBody>
      </p:sp>
      <p:sp>
        <p:nvSpPr>
          <p:cNvPr id="3"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4" name="Rectangle 6"/>
          <p:cNvSpPr>
            <a:spLocks noGrp="1" noChangeArrowheads="1"/>
          </p:cNvSpPr>
          <p:nvPr>
            <p:ph type="sldNum" sz="quarter" idx="11"/>
          </p:nvPr>
        </p:nvSpPr>
        <p:spPr/>
        <p:txBody>
          <a:bodyPr/>
          <a:lstStyle>
            <a:lvl1pPr>
              <a:defRPr/>
            </a:lvl1pPr>
          </a:lstStyle>
          <a:p>
            <a:pPr>
              <a:defRPr/>
            </a:pPr>
            <a:fld id="{B510424F-96B9-4C00-88E0-F120333DC6C5}" type="slidenum">
              <a:rPr lang="en-US" altLang="zh-CN"/>
              <a:t>‹#›</a:t>
            </a:fld>
            <a:endParaRPr lang="en-US" altLang="zh-CN"/>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3" name="Rectangle 6"/>
          <p:cNvSpPr>
            <a:spLocks noGrp="1" noChangeArrowheads="1"/>
          </p:cNvSpPr>
          <p:nvPr>
            <p:ph type="sldNum" sz="quarter" idx="11"/>
          </p:nvPr>
        </p:nvSpPr>
        <p:spPr/>
        <p:txBody>
          <a:bodyPr/>
          <a:lstStyle>
            <a:lvl1pPr>
              <a:defRPr/>
            </a:lvl1pPr>
          </a:lstStyle>
          <a:p>
            <a:pPr>
              <a:defRPr/>
            </a:pPr>
            <a:fld id="{FC63145C-71F2-48C1-8DD2-31D6AC142F2A}" type="slidenum">
              <a:rPr lang="en-US" altLang="zh-CN"/>
              <a:t>‹#›</a:t>
            </a:fld>
            <a:endParaRPr lang="en-US" altLang="zh-CN"/>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dirty="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FB19B108-AFC7-4225-832B-3FC6DC0A325D}" type="slidenum">
              <a:rPr lang="en-US" altLang="zh-CN"/>
              <a:t>‹#›</a:t>
            </a:fld>
            <a:endParaRPr lang="en-US" altLang="zh-CN"/>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323850" y="260648"/>
            <a:ext cx="6985000" cy="649288"/>
          </a:xfrm>
        </p:spPr>
        <p:txBody>
          <a:bodyPr/>
          <a:lstStyle/>
          <a:p>
            <a:r>
              <a:rPr lang="zh-CN" altLang="en-US"/>
              <a:t>单击此处编辑母版标题样式</a:t>
            </a:r>
            <a:endParaRPr lang="zh-CN" altLang="en-US" dirty="0"/>
          </a:p>
        </p:txBody>
      </p:sp>
      <p:sp>
        <p:nvSpPr>
          <p:cNvPr id="3" name="SmartArt 占位符 2"/>
          <p:cNvSpPr>
            <a:spLocks noGrp="1"/>
          </p:cNvSpPr>
          <p:nvPr>
            <p:ph type="dgm" idx="1" hasCustomPrompt="1"/>
          </p:nvPr>
        </p:nvSpPr>
        <p:spPr>
          <a:xfrm>
            <a:off x="323850" y="980728"/>
            <a:ext cx="8496300" cy="5184576"/>
          </a:xfrm>
        </p:spPr>
        <p:txBody>
          <a:bodyPr/>
          <a:lstStyle>
            <a:lvl1pPr>
              <a:lnSpc>
                <a:spcPts val="4200"/>
              </a:lnSpc>
              <a:defRPr/>
            </a:lvl1pPr>
            <a:lvl2pPr>
              <a:lnSpc>
                <a:spcPts val="4200"/>
              </a:lnSpc>
              <a:defRPr/>
            </a:lvl2pPr>
            <a:lvl3pPr>
              <a:lnSpc>
                <a:spcPts val="4200"/>
              </a:lnSpc>
              <a:defRPr/>
            </a:lvl3pPr>
          </a:lstStyle>
          <a:p>
            <a:pPr lvl="0"/>
            <a:r>
              <a:rPr lang="zh-CN" altLang="en-US" dirty="0"/>
              <a:t>单击此处编辑母版文本样式</a:t>
            </a:r>
          </a:p>
          <a:p>
            <a:pPr lvl="1"/>
            <a:r>
              <a:rPr lang="zh-CN" altLang="en-US" dirty="0"/>
              <a:t>第二级</a:t>
            </a:r>
          </a:p>
          <a:p>
            <a:pPr lvl="2"/>
            <a:r>
              <a:rPr lang="zh-CN" altLang="en-US" dirty="0"/>
              <a:t>第三级</a:t>
            </a:r>
            <a:endParaRPr lang="zh-CN" altLang="en-US" noProof="0" dirty="0"/>
          </a:p>
        </p:txBody>
      </p:sp>
      <p:sp>
        <p:nvSpPr>
          <p:cNvPr id="4"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5" name="Rectangle 6"/>
          <p:cNvSpPr>
            <a:spLocks noGrp="1" noChangeArrowheads="1"/>
          </p:cNvSpPr>
          <p:nvPr>
            <p:ph type="sldNum" sz="quarter" idx="11"/>
          </p:nvPr>
        </p:nvSpPr>
        <p:spPr/>
        <p:txBody>
          <a:bodyPr/>
          <a:lstStyle>
            <a:lvl1pPr>
              <a:defRPr/>
            </a:lvl1pPr>
          </a:lstStyle>
          <a:p>
            <a:pPr>
              <a:defRPr/>
            </a:pPr>
            <a:fld id="{D7052C24-EBD5-4EC7-9586-D9EC98D33499}" type="slidenum">
              <a:rPr lang="en-US" altLang="zh-CN"/>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323850" y="260648"/>
            <a:ext cx="6985000" cy="649288"/>
          </a:xfrm>
        </p:spPr>
        <p:txBody>
          <a:bodyPr/>
          <a:lstStyle/>
          <a:p>
            <a:r>
              <a:rPr lang="zh-CN" altLang="en-US"/>
              <a:t>单击此处编辑母版标题样式</a:t>
            </a:r>
            <a:endParaRPr lang="zh-CN" altLang="en-US" dirty="0"/>
          </a:p>
        </p:txBody>
      </p:sp>
      <p:sp>
        <p:nvSpPr>
          <p:cNvPr id="3" name="文本占位符 2"/>
          <p:cNvSpPr>
            <a:spLocks noGrp="1"/>
          </p:cNvSpPr>
          <p:nvPr>
            <p:ph type="body" sz="half" idx="1"/>
          </p:nvPr>
        </p:nvSpPr>
        <p:spPr>
          <a:xfrm>
            <a:off x="323850" y="980728"/>
            <a:ext cx="8496300" cy="2443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323850" y="3501008"/>
            <a:ext cx="8496300" cy="266429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E455DE7D-A7CA-4CE7-A54D-6F8BA2A0D8E0}" type="slidenum">
              <a:rPr lang="en-US" altLang="zh-CN"/>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aphicFrame>
        <p:nvGraphicFramePr>
          <p:cNvPr id="4" name="Object 8"/>
          <p:cNvGraphicFramePr>
            <a:graphicFrameLocks noChangeAspect="1"/>
          </p:cNvGraphicFramePr>
          <p:nvPr/>
        </p:nvGraphicFramePr>
        <p:xfrm>
          <a:off x="0" y="5559425"/>
          <a:ext cx="1331913" cy="1050925"/>
        </p:xfrm>
        <a:graphic>
          <a:graphicData uri="http://schemas.openxmlformats.org/presentationml/2006/ole">
            <mc:AlternateContent xmlns:mc="http://schemas.openxmlformats.org/markup-compatibility/2006">
              <mc:Choice xmlns:v="urn:schemas-microsoft-com:vml" Requires="v">
                <p:oleObj spid="_x0000_s16387" name="Image" r:id="rId3" imgW="2590800" imgH="2044700" progId="Photoshop.Image.7">
                  <p:embed/>
                </p:oleObj>
              </mc:Choice>
              <mc:Fallback>
                <p:oleObj name="Image" r:id="rId3" imgW="2590800" imgH="2044700" progId="Photoshop.Image.7">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559425"/>
                        <a:ext cx="1331913" cy="1050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333399"/>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5"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6597650"/>
            <a:ext cx="91440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755650" y="1484313"/>
            <a:ext cx="7772400" cy="1358900"/>
          </a:xfrm>
        </p:spPr>
        <p:txBody>
          <a:bodyPr/>
          <a:lstStyle>
            <a:lvl1pPr algn="ctr">
              <a:defRPr sz="4800" b="1">
                <a:latin typeface="+mj-ea"/>
                <a:ea typeface="+mj-ea"/>
              </a:defRPr>
            </a:lvl1pPr>
          </a:lstStyle>
          <a:p>
            <a:pPr lvl="0"/>
            <a:r>
              <a:rPr lang="zh-CN" altLang="en-US" noProof="0"/>
              <a:t>单击此处编辑母版标题样式</a:t>
            </a:r>
            <a:endParaRPr lang="zh-CN" altLang="en-US" noProof="0" dirty="0"/>
          </a:p>
        </p:txBody>
      </p:sp>
      <p:sp>
        <p:nvSpPr>
          <p:cNvPr id="3075" name="Rectangle 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baseline="0">
                <a:latin typeface="Arial" panose="020B0604020202020204" pitchFamily="34" charset="0"/>
                <a:ea typeface="楷体_GB2312" pitchFamily="49" charset="-122"/>
              </a:defRPr>
            </a:lvl1pPr>
          </a:lstStyle>
          <a:p>
            <a:pPr lvl="0"/>
            <a:r>
              <a:rPr lang="zh-CN" altLang="en-US" noProof="0"/>
              <a:t>单击此处编辑母版副标题样式</a:t>
            </a:r>
            <a:endParaRPr lang="zh-CN" altLang="en-US" noProof="0" dirty="0"/>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标题和内容1">
    <p:spTree>
      <p:nvGrpSpPr>
        <p:cNvPr id="1" name=""/>
        <p:cNvGrpSpPr/>
        <p:nvPr/>
      </p:nvGrpSpPr>
      <p:grpSpPr>
        <a:xfrm>
          <a:off x="0" y="0"/>
          <a:ext cx="0" cy="0"/>
          <a:chOff x="0" y="0"/>
          <a:chExt cx="0" cy="0"/>
        </a:xfrm>
      </p:grpSpPr>
      <p:sp>
        <p:nvSpPr>
          <p:cNvPr id="2" name="标题 1"/>
          <p:cNvSpPr>
            <a:spLocks noGrp="1"/>
          </p:cNvSpPr>
          <p:nvPr>
            <p:ph type="title"/>
          </p:nvPr>
        </p:nvSpPr>
        <p:spPr>
          <a:xfrm>
            <a:off x="251520" y="188640"/>
            <a:ext cx="7200800" cy="720080"/>
          </a:xfrm>
        </p:spPr>
        <p:txBody>
          <a:bodyPr/>
          <a:lstStyle>
            <a:lvl1pPr>
              <a:defRPr baseline="0">
                <a:solidFill>
                  <a:srgbClr val="C00000"/>
                </a:solidFill>
                <a:latin typeface="Arial" panose="020B0604020202020204" pitchFamily="34" charset="0"/>
                <a:ea typeface="宋体" panose="02010600030101010101" pitchFamily="2" charset="-122"/>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251520" y="980728"/>
            <a:ext cx="8640960" cy="52565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5" name="Rectangle 6"/>
          <p:cNvSpPr>
            <a:spLocks noGrp="1" noChangeArrowheads="1"/>
          </p:cNvSpPr>
          <p:nvPr>
            <p:ph type="sldNum" sz="quarter" idx="11"/>
          </p:nvPr>
        </p:nvSpPr>
        <p:spPr/>
        <p:txBody>
          <a:bodyPr/>
          <a:lstStyle>
            <a:lvl1pPr>
              <a:defRPr/>
            </a:lvl1pPr>
          </a:lstStyle>
          <a:p>
            <a:pPr>
              <a:defRPr/>
            </a:pPr>
            <a:fld id="{B40C3BFD-24D0-4966-81A9-4BDD3454C069}" type="slidenum">
              <a:rPr lang="en-US" altLang="zh-CN"/>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6985000" cy="649288"/>
          </a:xfrm>
        </p:spPr>
        <p:txBody>
          <a:bodyPr/>
          <a:lstStyle/>
          <a:p>
            <a:r>
              <a:rPr lang="zh-CN" altLang="en-US"/>
              <a:t>单击此处编辑母版标题样式</a:t>
            </a:r>
          </a:p>
        </p:txBody>
      </p:sp>
      <p:sp>
        <p:nvSpPr>
          <p:cNvPr id="3" name="内容占位符 2"/>
          <p:cNvSpPr>
            <a:spLocks noGrp="1"/>
          </p:cNvSpPr>
          <p:nvPr>
            <p:ph sz="half" idx="1"/>
          </p:nvPr>
        </p:nvSpPr>
        <p:spPr>
          <a:xfrm>
            <a:off x="328042" y="908720"/>
            <a:ext cx="4171950" cy="5328592"/>
          </a:xfrm>
        </p:spPr>
        <p:txBody>
          <a:bodyPr/>
          <a:lstStyle>
            <a:lvl1pPr>
              <a:defRPr sz="2800" baseline="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4648522" y="908720"/>
            <a:ext cx="4171950" cy="532859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8A58A3F3-0373-449B-8E61-DD8B1408CFD8}" type="slidenum">
              <a:rPr lang="en-US" altLang="zh-CN"/>
              <a:t>‹#›</a:t>
            </a:fld>
            <a:endParaRPr lang="en-US" altLang="zh-CN"/>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6985000" cy="649288"/>
          </a:xfrm>
        </p:spPr>
        <p:txBody>
          <a:bodyPr/>
          <a:lstStyle/>
          <a:p>
            <a:r>
              <a:rPr lang="zh-CN" altLang="en-US"/>
              <a:t>单击此处编辑母版标题样式</a:t>
            </a:r>
          </a:p>
        </p:txBody>
      </p:sp>
      <p:sp>
        <p:nvSpPr>
          <p:cNvPr id="3"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4" name="Rectangle 6"/>
          <p:cNvSpPr>
            <a:spLocks noGrp="1" noChangeArrowheads="1"/>
          </p:cNvSpPr>
          <p:nvPr>
            <p:ph type="sldNum" sz="quarter" idx="11"/>
          </p:nvPr>
        </p:nvSpPr>
        <p:spPr/>
        <p:txBody>
          <a:bodyPr/>
          <a:lstStyle>
            <a:lvl1pPr>
              <a:defRPr/>
            </a:lvl1pPr>
          </a:lstStyle>
          <a:p>
            <a:pPr>
              <a:defRPr/>
            </a:pPr>
            <a:fld id="{B510424F-96B9-4C00-88E0-F120333DC6C5}" type="slidenum">
              <a:rPr lang="en-US" altLang="zh-CN"/>
              <a:t>‹#›</a:t>
            </a:fld>
            <a:endParaRPr lang="en-US" altLang="zh-CN"/>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3" name="Rectangle 6"/>
          <p:cNvSpPr>
            <a:spLocks noGrp="1" noChangeArrowheads="1"/>
          </p:cNvSpPr>
          <p:nvPr>
            <p:ph type="sldNum" sz="quarter" idx="11"/>
          </p:nvPr>
        </p:nvSpPr>
        <p:spPr/>
        <p:txBody>
          <a:bodyPr/>
          <a:lstStyle>
            <a:lvl1pPr>
              <a:defRPr/>
            </a:lvl1pPr>
          </a:lstStyle>
          <a:p>
            <a:pPr>
              <a:defRPr/>
            </a:pPr>
            <a:fld id="{FC63145C-71F2-48C1-8DD2-31D6AC142F2A}" type="slidenum">
              <a:rPr lang="en-US" altLang="zh-CN"/>
              <a:t>‹#›</a:t>
            </a:fld>
            <a:endParaRPr lang="en-US" altLang="zh-CN"/>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dirty="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FB19B108-AFC7-4225-832B-3FC6DC0A325D}" type="slidenum">
              <a:rPr lang="en-US" altLang="zh-CN"/>
              <a:t>‹#›</a:t>
            </a:fld>
            <a:endParaRPr lang="en-US" altLang="zh-CN"/>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323850" y="260648"/>
            <a:ext cx="6985000" cy="649288"/>
          </a:xfrm>
        </p:spPr>
        <p:txBody>
          <a:bodyPr/>
          <a:lstStyle/>
          <a:p>
            <a:r>
              <a:rPr lang="zh-CN" altLang="en-US"/>
              <a:t>单击此处编辑母版标题样式</a:t>
            </a:r>
            <a:endParaRPr lang="zh-CN" altLang="en-US" dirty="0"/>
          </a:p>
        </p:txBody>
      </p:sp>
      <p:sp>
        <p:nvSpPr>
          <p:cNvPr id="3" name="SmartArt 占位符 2"/>
          <p:cNvSpPr>
            <a:spLocks noGrp="1"/>
          </p:cNvSpPr>
          <p:nvPr>
            <p:ph type="dgm" idx="1" hasCustomPrompt="1"/>
          </p:nvPr>
        </p:nvSpPr>
        <p:spPr>
          <a:xfrm>
            <a:off x="323850" y="980728"/>
            <a:ext cx="8496300" cy="5184576"/>
          </a:xfrm>
        </p:spPr>
        <p:txBody>
          <a:bodyPr/>
          <a:lstStyle>
            <a:lvl1pPr>
              <a:lnSpc>
                <a:spcPts val="4200"/>
              </a:lnSpc>
              <a:defRPr/>
            </a:lvl1pPr>
            <a:lvl2pPr>
              <a:lnSpc>
                <a:spcPts val="4200"/>
              </a:lnSpc>
              <a:defRPr/>
            </a:lvl2pPr>
            <a:lvl3pPr>
              <a:lnSpc>
                <a:spcPts val="4200"/>
              </a:lnSpc>
              <a:defRPr/>
            </a:lvl3pPr>
          </a:lstStyle>
          <a:p>
            <a:pPr lvl="0"/>
            <a:r>
              <a:rPr lang="zh-CN" altLang="en-US" dirty="0"/>
              <a:t>单击此处编辑母版文本样式</a:t>
            </a:r>
          </a:p>
          <a:p>
            <a:pPr lvl="1"/>
            <a:r>
              <a:rPr lang="zh-CN" altLang="en-US" dirty="0"/>
              <a:t>第二级</a:t>
            </a:r>
          </a:p>
          <a:p>
            <a:pPr lvl="2"/>
            <a:r>
              <a:rPr lang="zh-CN" altLang="en-US" dirty="0"/>
              <a:t>第三级</a:t>
            </a:r>
            <a:endParaRPr lang="zh-CN" altLang="en-US" noProof="0" dirty="0"/>
          </a:p>
        </p:txBody>
      </p:sp>
      <p:sp>
        <p:nvSpPr>
          <p:cNvPr id="4"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5" name="Rectangle 6"/>
          <p:cNvSpPr>
            <a:spLocks noGrp="1" noChangeArrowheads="1"/>
          </p:cNvSpPr>
          <p:nvPr>
            <p:ph type="sldNum" sz="quarter" idx="11"/>
          </p:nvPr>
        </p:nvSpPr>
        <p:spPr/>
        <p:txBody>
          <a:bodyPr/>
          <a:lstStyle>
            <a:lvl1pPr>
              <a:defRPr/>
            </a:lvl1pPr>
          </a:lstStyle>
          <a:p>
            <a:pPr>
              <a:defRPr/>
            </a:pPr>
            <a:fld id="{D7052C24-EBD5-4EC7-9586-D9EC98D33499}" type="slidenum">
              <a:rPr lang="en-US" altLang="zh-CN"/>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323850" y="260648"/>
            <a:ext cx="6985000" cy="649288"/>
          </a:xfrm>
        </p:spPr>
        <p:txBody>
          <a:bodyPr/>
          <a:lstStyle/>
          <a:p>
            <a:r>
              <a:rPr lang="zh-CN" altLang="en-US"/>
              <a:t>单击此处编辑母版标题样式</a:t>
            </a:r>
            <a:endParaRPr lang="zh-CN" altLang="en-US" dirty="0"/>
          </a:p>
        </p:txBody>
      </p:sp>
      <p:sp>
        <p:nvSpPr>
          <p:cNvPr id="3" name="文本占位符 2"/>
          <p:cNvSpPr>
            <a:spLocks noGrp="1"/>
          </p:cNvSpPr>
          <p:nvPr>
            <p:ph type="body" sz="half" idx="1"/>
          </p:nvPr>
        </p:nvSpPr>
        <p:spPr>
          <a:xfrm>
            <a:off x="323850" y="980728"/>
            <a:ext cx="8496300" cy="2443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323850" y="3501008"/>
            <a:ext cx="8496300" cy="266429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E455DE7D-A7CA-4CE7-A54D-6F8BA2A0D8E0}" type="slidenum">
              <a:rPr lang="en-US" altLang="zh-CN"/>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aphicFrame>
        <p:nvGraphicFramePr>
          <p:cNvPr id="4" name="Object 8"/>
          <p:cNvGraphicFramePr>
            <a:graphicFrameLocks noChangeAspect="1"/>
          </p:cNvGraphicFramePr>
          <p:nvPr/>
        </p:nvGraphicFramePr>
        <p:xfrm>
          <a:off x="0" y="5559425"/>
          <a:ext cx="1331913" cy="1050925"/>
        </p:xfrm>
        <a:graphic>
          <a:graphicData uri="http://schemas.openxmlformats.org/presentationml/2006/ole">
            <mc:AlternateContent xmlns:mc="http://schemas.openxmlformats.org/markup-compatibility/2006">
              <mc:Choice xmlns:v="urn:schemas-microsoft-com:vml" Requires="v">
                <p:oleObj spid="_x0000_s18435" name="Image" r:id="rId3" imgW="2590800" imgH="2044700" progId="Photoshop.Image.7">
                  <p:embed/>
                </p:oleObj>
              </mc:Choice>
              <mc:Fallback>
                <p:oleObj name="Image" r:id="rId3" imgW="2590800" imgH="2044700" progId="Photoshop.Image.7">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559425"/>
                        <a:ext cx="1331913" cy="1050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333399"/>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5"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6597650"/>
            <a:ext cx="91440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755650" y="1484313"/>
            <a:ext cx="7772400" cy="1358900"/>
          </a:xfrm>
        </p:spPr>
        <p:txBody>
          <a:bodyPr/>
          <a:lstStyle>
            <a:lvl1pPr algn="ctr">
              <a:defRPr sz="4800" b="1">
                <a:latin typeface="+mj-ea"/>
                <a:ea typeface="+mj-ea"/>
              </a:defRPr>
            </a:lvl1pPr>
          </a:lstStyle>
          <a:p>
            <a:pPr lvl="0"/>
            <a:r>
              <a:rPr lang="zh-CN" altLang="en-US" noProof="0"/>
              <a:t>单击此处编辑母版标题样式</a:t>
            </a:r>
            <a:endParaRPr lang="zh-CN" altLang="en-US" noProof="0" dirty="0"/>
          </a:p>
        </p:txBody>
      </p:sp>
      <p:sp>
        <p:nvSpPr>
          <p:cNvPr id="3075" name="Rectangle 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baseline="0">
                <a:latin typeface="Arial" panose="020B0604020202020204" pitchFamily="34" charset="0"/>
                <a:ea typeface="楷体_GB2312" pitchFamily="49" charset="-122"/>
              </a:defRPr>
            </a:lvl1pPr>
          </a:lstStyle>
          <a:p>
            <a:pPr lvl="0"/>
            <a:r>
              <a:rPr lang="zh-CN" altLang="en-US" noProof="0"/>
              <a:t>单击此处编辑母版副标题样式</a:t>
            </a:r>
            <a:endParaRPr lang="zh-CN" altLang="en-US" noProof="0" dirty="0"/>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标题和内容1">
    <p:spTree>
      <p:nvGrpSpPr>
        <p:cNvPr id="1" name=""/>
        <p:cNvGrpSpPr/>
        <p:nvPr/>
      </p:nvGrpSpPr>
      <p:grpSpPr>
        <a:xfrm>
          <a:off x="0" y="0"/>
          <a:ext cx="0" cy="0"/>
          <a:chOff x="0" y="0"/>
          <a:chExt cx="0" cy="0"/>
        </a:xfrm>
      </p:grpSpPr>
      <p:sp>
        <p:nvSpPr>
          <p:cNvPr id="2" name="标题 1"/>
          <p:cNvSpPr>
            <a:spLocks noGrp="1"/>
          </p:cNvSpPr>
          <p:nvPr>
            <p:ph type="title"/>
          </p:nvPr>
        </p:nvSpPr>
        <p:spPr>
          <a:xfrm>
            <a:off x="251520" y="188640"/>
            <a:ext cx="7200800" cy="720080"/>
          </a:xfrm>
        </p:spPr>
        <p:txBody>
          <a:bodyPr/>
          <a:lstStyle>
            <a:lvl1pPr>
              <a:defRPr baseline="0">
                <a:solidFill>
                  <a:srgbClr val="C00000"/>
                </a:solidFill>
                <a:latin typeface="Arial" panose="020B0604020202020204" pitchFamily="34" charset="0"/>
                <a:ea typeface="宋体" panose="02010600030101010101" pitchFamily="2" charset="-122"/>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251520" y="980728"/>
            <a:ext cx="8640960" cy="52565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5" name="Rectangle 6"/>
          <p:cNvSpPr>
            <a:spLocks noGrp="1" noChangeArrowheads="1"/>
          </p:cNvSpPr>
          <p:nvPr>
            <p:ph type="sldNum" sz="quarter" idx="11"/>
          </p:nvPr>
        </p:nvSpPr>
        <p:spPr/>
        <p:txBody>
          <a:bodyPr/>
          <a:lstStyle>
            <a:lvl1pPr>
              <a:defRPr/>
            </a:lvl1pPr>
          </a:lstStyle>
          <a:p>
            <a:pPr>
              <a:defRPr/>
            </a:pPr>
            <a:fld id="{B40C3BFD-24D0-4966-81A9-4BDD3454C069}" type="slidenum">
              <a:rPr lang="en-US" altLang="zh-CN"/>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6985000" cy="649288"/>
          </a:xfrm>
        </p:spPr>
        <p:txBody>
          <a:bodyPr/>
          <a:lstStyle/>
          <a:p>
            <a:r>
              <a:rPr lang="zh-CN" altLang="en-US"/>
              <a:t>单击此处编辑母版标题样式</a:t>
            </a:r>
          </a:p>
        </p:txBody>
      </p:sp>
      <p:sp>
        <p:nvSpPr>
          <p:cNvPr id="3" name="内容占位符 2"/>
          <p:cNvSpPr>
            <a:spLocks noGrp="1"/>
          </p:cNvSpPr>
          <p:nvPr>
            <p:ph sz="half" idx="1"/>
          </p:nvPr>
        </p:nvSpPr>
        <p:spPr>
          <a:xfrm>
            <a:off x="328042" y="908720"/>
            <a:ext cx="4171950" cy="5328592"/>
          </a:xfrm>
        </p:spPr>
        <p:txBody>
          <a:bodyPr/>
          <a:lstStyle>
            <a:lvl1pPr>
              <a:defRPr sz="2800" baseline="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4648522" y="908720"/>
            <a:ext cx="4171950" cy="532859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8A58A3F3-0373-449B-8E61-DD8B1408CFD8}" type="slidenum">
              <a:rPr lang="en-US" altLang="zh-CN"/>
              <a:t>‹#›</a:t>
            </a:fld>
            <a:endParaRPr lang="en-US" altLang="zh-CN"/>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6985000" cy="649288"/>
          </a:xfrm>
        </p:spPr>
        <p:txBody>
          <a:bodyPr/>
          <a:lstStyle/>
          <a:p>
            <a:r>
              <a:rPr lang="zh-CN" altLang="en-US"/>
              <a:t>单击此处编辑母版标题样式</a:t>
            </a:r>
          </a:p>
        </p:txBody>
      </p:sp>
      <p:sp>
        <p:nvSpPr>
          <p:cNvPr id="3"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4" name="Rectangle 6"/>
          <p:cNvSpPr>
            <a:spLocks noGrp="1" noChangeArrowheads="1"/>
          </p:cNvSpPr>
          <p:nvPr>
            <p:ph type="sldNum" sz="quarter" idx="11"/>
          </p:nvPr>
        </p:nvSpPr>
        <p:spPr/>
        <p:txBody>
          <a:bodyPr/>
          <a:lstStyle>
            <a:lvl1pPr>
              <a:defRPr/>
            </a:lvl1pPr>
          </a:lstStyle>
          <a:p>
            <a:pPr>
              <a:defRPr/>
            </a:pPr>
            <a:fld id="{B510424F-96B9-4C00-88E0-F120333DC6C5}" type="slidenum">
              <a:rPr lang="en-US" altLang="zh-CN"/>
              <a:t>‹#›</a:t>
            </a:fld>
            <a:endParaRPr lang="en-US" altLang="zh-CN"/>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3" name="Rectangle 6"/>
          <p:cNvSpPr>
            <a:spLocks noGrp="1" noChangeArrowheads="1"/>
          </p:cNvSpPr>
          <p:nvPr>
            <p:ph type="sldNum" sz="quarter" idx="11"/>
          </p:nvPr>
        </p:nvSpPr>
        <p:spPr/>
        <p:txBody>
          <a:bodyPr/>
          <a:lstStyle>
            <a:lvl1pPr>
              <a:defRPr/>
            </a:lvl1pPr>
          </a:lstStyle>
          <a:p>
            <a:pPr>
              <a:defRPr/>
            </a:pPr>
            <a:fld id="{FC63145C-71F2-48C1-8DD2-31D6AC142F2A}" type="slidenum">
              <a:rPr lang="en-US" altLang="zh-CN"/>
              <a:t>‹#›</a:t>
            </a:fld>
            <a:endParaRPr lang="en-US" altLang="zh-CN"/>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dirty="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FB19B108-AFC7-4225-832B-3FC6DC0A325D}" type="slidenum">
              <a:rPr lang="en-US" altLang="zh-CN"/>
              <a:t>‹#›</a:t>
            </a:fld>
            <a:endParaRPr lang="en-US" altLang="zh-CN"/>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323850" y="260648"/>
            <a:ext cx="6985000" cy="649288"/>
          </a:xfrm>
        </p:spPr>
        <p:txBody>
          <a:bodyPr/>
          <a:lstStyle/>
          <a:p>
            <a:r>
              <a:rPr lang="zh-CN" altLang="en-US"/>
              <a:t>单击此处编辑母版标题样式</a:t>
            </a:r>
            <a:endParaRPr lang="zh-CN" altLang="en-US" dirty="0"/>
          </a:p>
        </p:txBody>
      </p:sp>
      <p:sp>
        <p:nvSpPr>
          <p:cNvPr id="3" name="SmartArt 占位符 2"/>
          <p:cNvSpPr>
            <a:spLocks noGrp="1"/>
          </p:cNvSpPr>
          <p:nvPr>
            <p:ph type="dgm" idx="1" hasCustomPrompt="1"/>
          </p:nvPr>
        </p:nvSpPr>
        <p:spPr>
          <a:xfrm>
            <a:off x="323850" y="980728"/>
            <a:ext cx="8496300" cy="5184576"/>
          </a:xfrm>
        </p:spPr>
        <p:txBody>
          <a:bodyPr/>
          <a:lstStyle>
            <a:lvl1pPr>
              <a:lnSpc>
                <a:spcPts val="4200"/>
              </a:lnSpc>
              <a:defRPr/>
            </a:lvl1pPr>
            <a:lvl2pPr>
              <a:lnSpc>
                <a:spcPts val="4200"/>
              </a:lnSpc>
              <a:defRPr/>
            </a:lvl2pPr>
            <a:lvl3pPr>
              <a:lnSpc>
                <a:spcPts val="4200"/>
              </a:lnSpc>
              <a:defRPr/>
            </a:lvl3pPr>
          </a:lstStyle>
          <a:p>
            <a:pPr lvl="0"/>
            <a:r>
              <a:rPr lang="zh-CN" altLang="en-US" dirty="0"/>
              <a:t>单击此处编辑母版文本样式</a:t>
            </a:r>
          </a:p>
          <a:p>
            <a:pPr lvl="1"/>
            <a:r>
              <a:rPr lang="zh-CN" altLang="en-US" dirty="0"/>
              <a:t>第二级</a:t>
            </a:r>
          </a:p>
          <a:p>
            <a:pPr lvl="2"/>
            <a:r>
              <a:rPr lang="zh-CN" altLang="en-US" dirty="0"/>
              <a:t>第三级</a:t>
            </a:r>
            <a:endParaRPr lang="zh-CN" altLang="en-US" noProof="0" dirty="0"/>
          </a:p>
        </p:txBody>
      </p:sp>
      <p:sp>
        <p:nvSpPr>
          <p:cNvPr id="4"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5" name="Rectangle 6"/>
          <p:cNvSpPr>
            <a:spLocks noGrp="1" noChangeArrowheads="1"/>
          </p:cNvSpPr>
          <p:nvPr>
            <p:ph type="sldNum" sz="quarter" idx="11"/>
          </p:nvPr>
        </p:nvSpPr>
        <p:spPr/>
        <p:txBody>
          <a:bodyPr/>
          <a:lstStyle>
            <a:lvl1pPr>
              <a:defRPr/>
            </a:lvl1pPr>
          </a:lstStyle>
          <a:p>
            <a:pPr>
              <a:defRPr/>
            </a:pPr>
            <a:fld id="{D7052C24-EBD5-4EC7-9586-D9EC98D33499}" type="slidenum">
              <a:rPr lang="en-US" altLang="zh-CN"/>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323850" y="260648"/>
            <a:ext cx="6985000" cy="649288"/>
          </a:xfrm>
        </p:spPr>
        <p:txBody>
          <a:bodyPr/>
          <a:lstStyle/>
          <a:p>
            <a:r>
              <a:rPr lang="zh-CN" altLang="en-US"/>
              <a:t>单击此处编辑母版标题样式</a:t>
            </a:r>
            <a:endParaRPr lang="zh-CN" altLang="en-US" dirty="0"/>
          </a:p>
        </p:txBody>
      </p:sp>
      <p:sp>
        <p:nvSpPr>
          <p:cNvPr id="3" name="文本占位符 2"/>
          <p:cNvSpPr>
            <a:spLocks noGrp="1"/>
          </p:cNvSpPr>
          <p:nvPr>
            <p:ph type="body" sz="half" idx="1"/>
          </p:nvPr>
        </p:nvSpPr>
        <p:spPr>
          <a:xfrm>
            <a:off x="323850" y="980728"/>
            <a:ext cx="8496300" cy="2443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323850" y="3501008"/>
            <a:ext cx="8496300" cy="266429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E455DE7D-A7CA-4CE7-A54D-6F8BA2A0D8E0}" type="slidenum">
              <a:rPr lang="en-US" altLang="zh-CN"/>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aphicFrame>
        <p:nvGraphicFramePr>
          <p:cNvPr id="4" name="Object 8"/>
          <p:cNvGraphicFramePr>
            <a:graphicFrameLocks noChangeAspect="1"/>
          </p:cNvGraphicFramePr>
          <p:nvPr/>
        </p:nvGraphicFramePr>
        <p:xfrm>
          <a:off x="0" y="5559425"/>
          <a:ext cx="1331913" cy="1050925"/>
        </p:xfrm>
        <a:graphic>
          <a:graphicData uri="http://schemas.openxmlformats.org/presentationml/2006/ole">
            <mc:AlternateContent xmlns:mc="http://schemas.openxmlformats.org/markup-compatibility/2006">
              <mc:Choice xmlns:v="urn:schemas-microsoft-com:vml" Requires="v">
                <p:oleObj spid="_x0000_s20483" name="Image" r:id="rId3" imgW="2590800" imgH="2044700" progId="Photoshop.Image.7">
                  <p:embed/>
                </p:oleObj>
              </mc:Choice>
              <mc:Fallback>
                <p:oleObj name="Image" r:id="rId3" imgW="2590800" imgH="2044700" progId="Photoshop.Image.7">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559425"/>
                        <a:ext cx="1331913" cy="1050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333399"/>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5"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6597650"/>
            <a:ext cx="91440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755650" y="1484313"/>
            <a:ext cx="7772400" cy="1358900"/>
          </a:xfrm>
        </p:spPr>
        <p:txBody>
          <a:bodyPr/>
          <a:lstStyle>
            <a:lvl1pPr algn="ctr">
              <a:defRPr sz="4800" b="1">
                <a:latin typeface="+mj-ea"/>
                <a:ea typeface="+mj-ea"/>
              </a:defRPr>
            </a:lvl1pPr>
          </a:lstStyle>
          <a:p>
            <a:pPr lvl="0"/>
            <a:r>
              <a:rPr lang="zh-CN" altLang="en-US" noProof="0"/>
              <a:t>单击此处编辑母版标题样式</a:t>
            </a:r>
            <a:endParaRPr lang="zh-CN" altLang="en-US" noProof="0" dirty="0"/>
          </a:p>
        </p:txBody>
      </p:sp>
      <p:sp>
        <p:nvSpPr>
          <p:cNvPr id="3075" name="Rectangle 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baseline="0">
                <a:latin typeface="Arial" panose="020B0604020202020204" pitchFamily="34" charset="0"/>
                <a:ea typeface="楷体_GB2312" pitchFamily="49" charset="-122"/>
              </a:defRPr>
            </a:lvl1pPr>
          </a:lstStyle>
          <a:p>
            <a:pPr lvl="0"/>
            <a:r>
              <a:rPr lang="zh-CN" altLang="en-US" noProof="0"/>
              <a:t>单击此处编辑母版副标题样式</a:t>
            </a:r>
            <a:endParaRPr lang="zh-CN" altLang="en-US" noProof="0" dirty="0"/>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 preserve="1">
  <p:cSld name="标题和内容1">
    <p:spTree>
      <p:nvGrpSpPr>
        <p:cNvPr id="1" name=""/>
        <p:cNvGrpSpPr/>
        <p:nvPr/>
      </p:nvGrpSpPr>
      <p:grpSpPr>
        <a:xfrm>
          <a:off x="0" y="0"/>
          <a:ext cx="0" cy="0"/>
          <a:chOff x="0" y="0"/>
          <a:chExt cx="0" cy="0"/>
        </a:xfrm>
      </p:grpSpPr>
      <p:sp>
        <p:nvSpPr>
          <p:cNvPr id="2" name="标题 1"/>
          <p:cNvSpPr>
            <a:spLocks noGrp="1"/>
          </p:cNvSpPr>
          <p:nvPr>
            <p:ph type="title"/>
          </p:nvPr>
        </p:nvSpPr>
        <p:spPr>
          <a:xfrm>
            <a:off x="251520" y="188640"/>
            <a:ext cx="7200800" cy="720080"/>
          </a:xfrm>
        </p:spPr>
        <p:txBody>
          <a:bodyPr/>
          <a:lstStyle>
            <a:lvl1pPr>
              <a:defRPr baseline="0">
                <a:solidFill>
                  <a:srgbClr val="C00000"/>
                </a:solidFill>
                <a:latin typeface="Arial" panose="020B0604020202020204" pitchFamily="34" charset="0"/>
                <a:ea typeface="宋体" panose="02010600030101010101" pitchFamily="2" charset="-122"/>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251520" y="980728"/>
            <a:ext cx="8640960" cy="52565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5" name="Rectangle 6"/>
          <p:cNvSpPr>
            <a:spLocks noGrp="1" noChangeArrowheads="1"/>
          </p:cNvSpPr>
          <p:nvPr>
            <p:ph type="sldNum" sz="quarter" idx="11"/>
          </p:nvPr>
        </p:nvSpPr>
        <p:spPr/>
        <p:txBody>
          <a:bodyPr/>
          <a:lstStyle>
            <a:lvl1pPr>
              <a:defRPr/>
            </a:lvl1pPr>
          </a:lstStyle>
          <a:p>
            <a:pPr>
              <a:defRPr/>
            </a:pPr>
            <a:fld id="{B40C3BFD-24D0-4966-81A9-4BDD3454C069}" type="slidenum">
              <a:rPr lang="en-US" altLang="zh-CN"/>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6985000" cy="649288"/>
          </a:xfrm>
        </p:spPr>
        <p:txBody>
          <a:bodyPr/>
          <a:lstStyle/>
          <a:p>
            <a:r>
              <a:rPr lang="zh-CN" altLang="en-US"/>
              <a:t>单击此处编辑母版标题样式</a:t>
            </a:r>
          </a:p>
        </p:txBody>
      </p:sp>
      <p:sp>
        <p:nvSpPr>
          <p:cNvPr id="3" name="内容占位符 2"/>
          <p:cNvSpPr>
            <a:spLocks noGrp="1"/>
          </p:cNvSpPr>
          <p:nvPr>
            <p:ph sz="half" idx="1"/>
          </p:nvPr>
        </p:nvSpPr>
        <p:spPr>
          <a:xfrm>
            <a:off x="328042" y="908720"/>
            <a:ext cx="4171950" cy="5328592"/>
          </a:xfrm>
        </p:spPr>
        <p:txBody>
          <a:bodyPr/>
          <a:lstStyle>
            <a:lvl1pPr>
              <a:defRPr sz="2800" baseline="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4648522" y="908720"/>
            <a:ext cx="4171950" cy="532859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8A58A3F3-0373-449B-8E61-DD8B1408CFD8}" type="slidenum">
              <a:rPr lang="en-US" altLang="zh-CN"/>
              <a:t>‹#›</a:t>
            </a:fld>
            <a:endParaRPr lang="en-US" altLang="zh-CN"/>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6985000" cy="649288"/>
          </a:xfrm>
        </p:spPr>
        <p:txBody>
          <a:bodyPr/>
          <a:lstStyle/>
          <a:p>
            <a:r>
              <a:rPr lang="zh-CN" altLang="en-US"/>
              <a:t>单击此处编辑母版标题样式</a:t>
            </a:r>
          </a:p>
        </p:txBody>
      </p:sp>
      <p:sp>
        <p:nvSpPr>
          <p:cNvPr id="3"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4" name="Rectangle 6"/>
          <p:cNvSpPr>
            <a:spLocks noGrp="1" noChangeArrowheads="1"/>
          </p:cNvSpPr>
          <p:nvPr>
            <p:ph type="sldNum" sz="quarter" idx="11"/>
          </p:nvPr>
        </p:nvSpPr>
        <p:spPr/>
        <p:txBody>
          <a:bodyPr/>
          <a:lstStyle>
            <a:lvl1pPr>
              <a:defRPr/>
            </a:lvl1pPr>
          </a:lstStyle>
          <a:p>
            <a:pPr>
              <a:defRPr/>
            </a:pPr>
            <a:fld id="{B510424F-96B9-4C00-88E0-F120333DC6C5}" type="slidenum">
              <a:rPr lang="en-US" altLang="zh-CN"/>
              <a:t>‹#›</a:t>
            </a:fld>
            <a:endParaRPr lang="en-US" altLang="zh-CN"/>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3" name="Rectangle 6"/>
          <p:cNvSpPr>
            <a:spLocks noGrp="1" noChangeArrowheads="1"/>
          </p:cNvSpPr>
          <p:nvPr>
            <p:ph type="sldNum" sz="quarter" idx="11"/>
          </p:nvPr>
        </p:nvSpPr>
        <p:spPr/>
        <p:txBody>
          <a:bodyPr/>
          <a:lstStyle>
            <a:lvl1pPr>
              <a:defRPr/>
            </a:lvl1pPr>
          </a:lstStyle>
          <a:p>
            <a:pPr>
              <a:defRPr/>
            </a:pPr>
            <a:fld id="{FC63145C-71F2-48C1-8DD2-31D6AC142F2A}" type="slidenum">
              <a:rPr lang="en-US" altLang="zh-CN"/>
              <a:t>‹#›</a:t>
            </a:fld>
            <a:endParaRPr lang="en-US" altLang="zh-CN"/>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dirty="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FB19B108-AFC7-4225-832B-3FC6DC0A325D}" type="slidenum">
              <a:rPr lang="en-US" altLang="zh-CN"/>
              <a:t>‹#›</a:t>
            </a:fld>
            <a:endParaRPr lang="en-US" altLang="zh-CN"/>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323850" y="260648"/>
            <a:ext cx="6985000" cy="649288"/>
          </a:xfrm>
        </p:spPr>
        <p:txBody>
          <a:bodyPr/>
          <a:lstStyle/>
          <a:p>
            <a:r>
              <a:rPr lang="zh-CN" altLang="en-US"/>
              <a:t>单击此处编辑母版标题样式</a:t>
            </a:r>
            <a:endParaRPr lang="zh-CN" altLang="en-US" dirty="0"/>
          </a:p>
        </p:txBody>
      </p:sp>
      <p:sp>
        <p:nvSpPr>
          <p:cNvPr id="3" name="SmartArt 占位符 2"/>
          <p:cNvSpPr>
            <a:spLocks noGrp="1"/>
          </p:cNvSpPr>
          <p:nvPr>
            <p:ph type="dgm" idx="1" hasCustomPrompt="1"/>
          </p:nvPr>
        </p:nvSpPr>
        <p:spPr>
          <a:xfrm>
            <a:off x="323850" y="980728"/>
            <a:ext cx="8496300" cy="5184576"/>
          </a:xfrm>
        </p:spPr>
        <p:txBody>
          <a:bodyPr/>
          <a:lstStyle>
            <a:lvl1pPr>
              <a:lnSpc>
                <a:spcPts val="4200"/>
              </a:lnSpc>
              <a:defRPr/>
            </a:lvl1pPr>
            <a:lvl2pPr>
              <a:lnSpc>
                <a:spcPts val="4200"/>
              </a:lnSpc>
              <a:defRPr/>
            </a:lvl2pPr>
            <a:lvl3pPr>
              <a:lnSpc>
                <a:spcPts val="4200"/>
              </a:lnSpc>
              <a:defRPr/>
            </a:lvl3pPr>
          </a:lstStyle>
          <a:p>
            <a:pPr lvl="0"/>
            <a:r>
              <a:rPr lang="zh-CN" altLang="en-US" dirty="0"/>
              <a:t>单击此处编辑母版文本样式</a:t>
            </a:r>
          </a:p>
          <a:p>
            <a:pPr lvl="1"/>
            <a:r>
              <a:rPr lang="zh-CN" altLang="en-US" dirty="0"/>
              <a:t>第二级</a:t>
            </a:r>
          </a:p>
          <a:p>
            <a:pPr lvl="2"/>
            <a:r>
              <a:rPr lang="zh-CN" altLang="en-US" dirty="0"/>
              <a:t>第三级</a:t>
            </a:r>
            <a:endParaRPr lang="zh-CN" altLang="en-US" noProof="0" dirty="0"/>
          </a:p>
        </p:txBody>
      </p:sp>
      <p:sp>
        <p:nvSpPr>
          <p:cNvPr id="4"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5" name="Rectangle 6"/>
          <p:cNvSpPr>
            <a:spLocks noGrp="1" noChangeArrowheads="1"/>
          </p:cNvSpPr>
          <p:nvPr>
            <p:ph type="sldNum" sz="quarter" idx="11"/>
          </p:nvPr>
        </p:nvSpPr>
        <p:spPr/>
        <p:txBody>
          <a:bodyPr/>
          <a:lstStyle>
            <a:lvl1pPr>
              <a:defRPr/>
            </a:lvl1pPr>
          </a:lstStyle>
          <a:p>
            <a:pPr>
              <a:defRPr/>
            </a:pPr>
            <a:fld id="{D7052C24-EBD5-4EC7-9586-D9EC98D33499}" type="slidenum">
              <a:rPr lang="en-US" altLang="zh-CN"/>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323850" y="260648"/>
            <a:ext cx="6985000" cy="649288"/>
          </a:xfrm>
        </p:spPr>
        <p:txBody>
          <a:bodyPr/>
          <a:lstStyle/>
          <a:p>
            <a:r>
              <a:rPr lang="zh-CN" altLang="en-US"/>
              <a:t>单击此处编辑母版标题样式</a:t>
            </a:r>
            <a:endParaRPr lang="zh-CN" altLang="en-US" dirty="0"/>
          </a:p>
        </p:txBody>
      </p:sp>
      <p:sp>
        <p:nvSpPr>
          <p:cNvPr id="3" name="文本占位符 2"/>
          <p:cNvSpPr>
            <a:spLocks noGrp="1"/>
          </p:cNvSpPr>
          <p:nvPr>
            <p:ph type="body" sz="half" idx="1"/>
          </p:nvPr>
        </p:nvSpPr>
        <p:spPr>
          <a:xfrm>
            <a:off x="323850" y="980728"/>
            <a:ext cx="8496300" cy="2443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323850" y="3501008"/>
            <a:ext cx="8496300" cy="266429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E455DE7D-A7CA-4CE7-A54D-6F8BA2A0D8E0}" type="slidenum">
              <a:rPr lang="en-US" altLang="zh-CN"/>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aphicFrame>
        <p:nvGraphicFramePr>
          <p:cNvPr id="4" name="Object 8"/>
          <p:cNvGraphicFramePr>
            <a:graphicFrameLocks noChangeAspect="1"/>
          </p:cNvGraphicFramePr>
          <p:nvPr/>
        </p:nvGraphicFramePr>
        <p:xfrm>
          <a:off x="0" y="5559425"/>
          <a:ext cx="1331913" cy="1050925"/>
        </p:xfrm>
        <a:graphic>
          <a:graphicData uri="http://schemas.openxmlformats.org/presentationml/2006/ole">
            <mc:AlternateContent xmlns:mc="http://schemas.openxmlformats.org/markup-compatibility/2006">
              <mc:Choice xmlns:v="urn:schemas-microsoft-com:vml" Requires="v">
                <p:oleObj spid="_x0000_s22531" name="Image" r:id="rId3" imgW="2590800" imgH="2044700" progId="Photoshop.Image.7">
                  <p:embed/>
                </p:oleObj>
              </mc:Choice>
              <mc:Fallback>
                <p:oleObj name="Image" r:id="rId3" imgW="2590800" imgH="2044700" progId="Photoshop.Image.7">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559425"/>
                        <a:ext cx="1331913" cy="1050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333399"/>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5"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6597650"/>
            <a:ext cx="91440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755650" y="1484313"/>
            <a:ext cx="7772400" cy="1358900"/>
          </a:xfrm>
        </p:spPr>
        <p:txBody>
          <a:bodyPr/>
          <a:lstStyle>
            <a:lvl1pPr algn="ctr">
              <a:defRPr sz="4800" b="1">
                <a:latin typeface="+mj-ea"/>
                <a:ea typeface="+mj-ea"/>
              </a:defRPr>
            </a:lvl1pPr>
          </a:lstStyle>
          <a:p>
            <a:pPr lvl="0"/>
            <a:r>
              <a:rPr lang="zh-CN" altLang="en-US" noProof="0"/>
              <a:t>单击此处编辑母版标题样式</a:t>
            </a:r>
            <a:endParaRPr lang="zh-CN" altLang="en-US" noProof="0" dirty="0"/>
          </a:p>
        </p:txBody>
      </p:sp>
      <p:sp>
        <p:nvSpPr>
          <p:cNvPr id="3075" name="Rectangle 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baseline="0">
                <a:latin typeface="Arial" panose="020B0604020202020204" pitchFamily="34" charset="0"/>
                <a:ea typeface="楷体_GB2312" pitchFamily="49" charset="-122"/>
              </a:defRPr>
            </a:lvl1pPr>
          </a:lstStyle>
          <a:p>
            <a:pPr lvl="0"/>
            <a:r>
              <a:rPr lang="zh-CN" altLang="en-US" noProof="0"/>
              <a:t>单击此处编辑母版副标题样式</a:t>
            </a:r>
            <a:endParaRPr lang="zh-CN" altLang="en-US" noProof="0" dirty="0"/>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obj" preserve="1">
  <p:cSld name="标题和内容1">
    <p:spTree>
      <p:nvGrpSpPr>
        <p:cNvPr id="1" name=""/>
        <p:cNvGrpSpPr/>
        <p:nvPr/>
      </p:nvGrpSpPr>
      <p:grpSpPr>
        <a:xfrm>
          <a:off x="0" y="0"/>
          <a:ext cx="0" cy="0"/>
          <a:chOff x="0" y="0"/>
          <a:chExt cx="0" cy="0"/>
        </a:xfrm>
      </p:grpSpPr>
      <p:sp>
        <p:nvSpPr>
          <p:cNvPr id="2" name="标题 1"/>
          <p:cNvSpPr>
            <a:spLocks noGrp="1"/>
          </p:cNvSpPr>
          <p:nvPr>
            <p:ph type="title"/>
          </p:nvPr>
        </p:nvSpPr>
        <p:spPr>
          <a:xfrm>
            <a:off x="251520" y="188640"/>
            <a:ext cx="7200800" cy="720080"/>
          </a:xfrm>
        </p:spPr>
        <p:txBody>
          <a:bodyPr/>
          <a:lstStyle>
            <a:lvl1pPr>
              <a:defRPr baseline="0">
                <a:solidFill>
                  <a:srgbClr val="C00000"/>
                </a:solidFill>
                <a:latin typeface="Arial" panose="020B0604020202020204" pitchFamily="34" charset="0"/>
                <a:ea typeface="宋体" panose="02010600030101010101" pitchFamily="2" charset="-122"/>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251520" y="980728"/>
            <a:ext cx="8640960" cy="52565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5" name="Rectangle 6"/>
          <p:cNvSpPr>
            <a:spLocks noGrp="1" noChangeArrowheads="1"/>
          </p:cNvSpPr>
          <p:nvPr>
            <p:ph type="sldNum" sz="quarter" idx="11"/>
          </p:nvPr>
        </p:nvSpPr>
        <p:spPr/>
        <p:txBody>
          <a:bodyPr/>
          <a:lstStyle>
            <a:lvl1pPr>
              <a:defRPr/>
            </a:lvl1pPr>
          </a:lstStyle>
          <a:p>
            <a:pPr>
              <a:defRPr/>
            </a:pPr>
            <a:fld id="{B40C3BFD-24D0-4966-81A9-4BDD3454C069}" type="slidenum">
              <a:rPr lang="en-US" altLang="zh-CN"/>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6985000" cy="649288"/>
          </a:xfrm>
        </p:spPr>
        <p:txBody>
          <a:bodyPr/>
          <a:lstStyle/>
          <a:p>
            <a:r>
              <a:rPr lang="zh-CN" altLang="en-US"/>
              <a:t>单击此处编辑母版标题样式</a:t>
            </a:r>
          </a:p>
        </p:txBody>
      </p:sp>
      <p:sp>
        <p:nvSpPr>
          <p:cNvPr id="3" name="内容占位符 2"/>
          <p:cNvSpPr>
            <a:spLocks noGrp="1"/>
          </p:cNvSpPr>
          <p:nvPr>
            <p:ph sz="half" idx="1"/>
          </p:nvPr>
        </p:nvSpPr>
        <p:spPr>
          <a:xfrm>
            <a:off x="328042" y="908720"/>
            <a:ext cx="4171950" cy="5328592"/>
          </a:xfrm>
        </p:spPr>
        <p:txBody>
          <a:bodyPr/>
          <a:lstStyle>
            <a:lvl1pPr>
              <a:defRPr sz="2800" baseline="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4648522" y="908720"/>
            <a:ext cx="4171950" cy="532859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8A58A3F3-0373-449B-8E61-DD8B1408CFD8}" type="slidenum">
              <a:rPr lang="en-US" altLang="zh-CN"/>
              <a:t>‹#›</a:t>
            </a:fld>
            <a:endParaRPr lang="en-US" altLang="zh-CN"/>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6985000" cy="649288"/>
          </a:xfrm>
        </p:spPr>
        <p:txBody>
          <a:bodyPr/>
          <a:lstStyle/>
          <a:p>
            <a:r>
              <a:rPr lang="zh-CN" altLang="en-US"/>
              <a:t>单击此处编辑母版标题样式</a:t>
            </a:r>
          </a:p>
        </p:txBody>
      </p:sp>
      <p:sp>
        <p:nvSpPr>
          <p:cNvPr id="3"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4" name="Rectangle 6"/>
          <p:cNvSpPr>
            <a:spLocks noGrp="1" noChangeArrowheads="1"/>
          </p:cNvSpPr>
          <p:nvPr>
            <p:ph type="sldNum" sz="quarter" idx="11"/>
          </p:nvPr>
        </p:nvSpPr>
        <p:spPr/>
        <p:txBody>
          <a:bodyPr/>
          <a:lstStyle>
            <a:lvl1pPr>
              <a:defRPr/>
            </a:lvl1pPr>
          </a:lstStyle>
          <a:p>
            <a:pPr>
              <a:defRPr/>
            </a:pPr>
            <a:fld id="{B510424F-96B9-4C00-88E0-F120333DC6C5}" type="slidenum">
              <a:rPr lang="en-US" altLang="zh-CN"/>
              <a:t>‹#›</a:t>
            </a:fld>
            <a:endParaRPr lang="en-US" altLang="zh-CN"/>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3" name="Rectangle 6"/>
          <p:cNvSpPr>
            <a:spLocks noGrp="1" noChangeArrowheads="1"/>
          </p:cNvSpPr>
          <p:nvPr>
            <p:ph type="sldNum" sz="quarter" idx="11"/>
          </p:nvPr>
        </p:nvSpPr>
        <p:spPr/>
        <p:txBody>
          <a:bodyPr/>
          <a:lstStyle>
            <a:lvl1pPr>
              <a:defRPr/>
            </a:lvl1pPr>
          </a:lstStyle>
          <a:p>
            <a:pPr>
              <a:defRPr/>
            </a:pPr>
            <a:fld id="{FC63145C-71F2-48C1-8DD2-31D6AC142F2A}" type="slidenum">
              <a:rPr lang="en-US" altLang="zh-CN"/>
              <a:t>‹#›</a:t>
            </a:fld>
            <a:endParaRPr lang="en-US" altLang="zh-CN"/>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dirty="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FB19B108-AFC7-4225-832B-3FC6DC0A325D}" type="slidenum">
              <a:rPr lang="en-US" altLang="zh-CN"/>
              <a:t>‹#›</a:t>
            </a:fld>
            <a:endParaRPr lang="en-US" altLang="zh-CN"/>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323850" y="260648"/>
            <a:ext cx="6985000" cy="649288"/>
          </a:xfrm>
        </p:spPr>
        <p:txBody>
          <a:bodyPr/>
          <a:lstStyle/>
          <a:p>
            <a:r>
              <a:rPr lang="zh-CN" altLang="en-US"/>
              <a:t>单击此处编辑母版标题样式</a:t>
            </a:r>
            <a:endParaRPr lang="zh-CN" altLang="en-US" dirty="0"/>
          </a:p>
        </p:txBody>
      </p:sp>
      <p:sp>
        <p:nvSpPr>
          <p:cNvPr id="3" name="SmartArt 占位符 2"/>
          <p:cNvSpPr>
            <a:spLocks noGrp="1"/>
          </p:cNvSpPr>
          <p:nvPr>
            <p:ph type="dgm" idx="1" hasCustomPrompt="1"/>
          </p:nvPr>
        </p:nvSpPr>
        <p:spPr>
          <a:xfrm>
            <a:off x="323850" y="980728"/>
            <a:ext cx="8496300" cy="5184576"/>
          </a:xfrm>
        </p:spPr>
        <p:txBody>
          <a:bodyPr/>
          <a:lstStyle>
            <a:lvl1pPr>
              <a:lnSpc>
                <a:spcPts val="4200"/>
              </a:lnSpc>
              <a:defRPr/>
            </a:lvl1pPr>
            <a:lvl2pPr>
              <a:lnSpc>
                <a:spcPts val="4200"/>
              </a:lnSpc>
              <a:defRPr/>
            </a:lvl2pPr>
            <a:lvl3pPr>
              <a:lnSpc>
                <a:spcPts val="4200"/>
              </a:lnSpc>
              <a:defRPr/>
            </a:lvl3pPr>
          </a:lstStyle>
          <a:p>
            <a:pPr lvl="0"/>
            <a:r>
              <a:rPr lang="zh-CN" altLang="en-US" dirty="0"/>
              <a:t>单击此处编辑母版文本样式</a:t>
            </a:r>
          </a:p>
          <a:p>
            <a:pPr lvl="1"/>
            <a:r>
              <a:rPr lang="zh-CN" altLang="en-US" dirty="0"/>
              <a:t>第二级</a:t>
            </a:r>
          </a:p>
          <a:p>
            <a:pPr lvl="2"/>
            <a:r>
              <a:rPr lang="zh-CN" altLang="en-US" dirty="0"/>
              <a:t>第三级</a:t>
            </a:r>
            <a:endParaRPr lang="zh-CN" altLang="en-US" noProof="0" dirty="0"/>
          </a:p>
        </p:txBody>
      </p:sp>
      <p:sp>
        <p:nvSpPr>
          <p:cNvPr id="4"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5" name="Rectangle 6"/>
          <p:cNvSpPr>
            <a:spLocks noGrp="1" noChangeArrowheads="1"/>
          </p:cNvSpPr>
          <p:nvPr>
            <p:ph type="sldNum" sz="quarter" idx="11"/>
          </p:nvPr>
        </p:nvSpPr>
        <p:spPr/>
        <p:txBody>
          <a:bodyPr/>
          <a:lstStyle>
            <a:lvl1pPr>
              <a:defRPr/>
            </a:lvl1pPr>
          </a:lstStyle>
          <a:p>
            <a:pPr>
              <a:defRPr/>
            </a:pPr>
            <a:fld id="{D7052C24-EBD5-4EC7-9586-D9EC98D33499}" type="slidenum">
              <a:rPr lang="en-US" altLang="zh-CN"/>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323850" y="260648"/>
            <a:ext cx="6985000" cy="649288"/>
          </a:xfrm>
        </p:spPr>
        <p:txBody>
          <a:bodyPr/>
          <a:lstStyle/>
          <a:p>
            <a:r>
              <a:rPr lang="zh-CN" altLang="en-US"/>
              <a:t>单击此处编辑母版标题样式</a:t>
            </a:r>
            <a:endParaRPr lang="zh-CN" altLang="en-US" dirty="0"/>
          </a:p>
        </p:txBody>
      </p:sp>
      <p:sp>
        <p:nvSpPr>
          <p:cNvPr id="3" name="文本占位符 2"/>
          <p:cNvSpPr>
            <a:spLocks noGrp="1"/>
          </p:cNvSpPr>
          <p:nvPr>
            <p:ph type="body" sz="half" idx="1"/>
          </p:nvPr>
        </p:nvSpPr>
        <p:spPr>
          <a:xfrm>
            <a:off x="323850" y="980728"/>
            <a:ext cx="8496300" cy="2443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323850" y="3501008"/>
            <a:ext cx="8496300" cy="266429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Rectangle 5"/>
          <p:cNvSpPr>
            <a:spLocks noGrp="1" noChangeArrowheads="1"/>
          </p:cNvSpPr>
          <p:nvPr>
            <p:ph type="ftr" sz="quarter" idx="10"/>
          </p:nvPr>
        </p:nvSpPr>
        <p:spPr/>
        <p:txBody>
          <a:bodyPr/>
          <a:lstStyle>
            <a:lvl1pPr>
              <a:defRPr/>
            </a:lvl1pPr>
          </a:lstStyle>
          <a:p>
            <a:pPr>
              <a:defRPr/>
            </a:pPr>
            <a:r>
              <a:rPr lang="en-US" altLang="zh-CN"/>
              <a:t>@ Zhihai Wang,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E455DE7D-A7CA-4CE7-A54D-6F8BA2A0D8E0}" type="slidenum">
              <a:rPr lang="en-US" altLang="zh-CN"/>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oleObject" Target="../embeddings/oleObject1.bin"/><Relationship Id="rId5" Type="http://schemas.openxmlformats.org/officeDocument/2006/relationships/slideLayout" Target="../slideLayouts/slideLayout5.xml"/><Relationship Id="rId10" Type="http://schemas.openxmlformats.org/officeDocument/2006/relationships/vmlDrawing" Target="../drawings/vmlDrawing1.vml"/><Relationship Id="rId4" Type="http://schemas.openxmlformats.org/officeDocument/2006/relationships/slideLayout" Target="../slideLayouts/slideLayout4.xml"/><Relationship Id="rId9" Type="http://schemas.openxmlformats.org/officeDocument/2006/relationships/theme" Target="../theme/theme1.xml"/><Relationship Id="rId14" Type="http://schemas.openxmlformats.org/officeDocument/2006/relationships/image" Target="../media/image3.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image" Target="../media/image2.png"/><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image" Target="../media/image1.png"/><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oleObject" Target="../embeddings/oleObject3.bin"/><Relationship Id="rId5" Type="http://schemas.openxmlformats.org/officeDocument/2006/relationships/slideLayout" Target="../slideLayouts/slideLayout13.xml"/><Relationship Id="rId10" Type="http://schemas.openxmlformats.org/officeDocument/2006/relationships/vmlDrawing" Target="../drawings/vmlDrawing3.vml"/><Relationship Id="rId4" Type="http://schemas.openxmlformats.org/officeDocument/2006/relationships/slideLayout" Target="../slideLayouts/slideLayout12.xml"/><Relationship Id="rId9" Type="http://schemas.openxmlformats.org/officeDocument/2006/relationships/theme" Target="../theme/theme2.xml"/><Relationship Id="rId1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image" Target="../media/image2.png"/><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image" Target="../media/image1.png"/><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oleObject" Target="../embeddings/oleObject5.bin"/><Relationship Id="rId5" Type="http://schemas.openxmlformats.org/officeDocument/2006/relationships/slideLayout" Target="../slideLayouts/slideLayout21.xml"/><Relationship Id="rId10" Type="http://schemas.openxmlformats.org/officeDocument/2006/relationships/vmlDrawing" Target="../drawings/vmlDrawing5.vml"/><Relationship Id="rId4" Type="http://schemas.openxmlformats.org/officeDocument/2006/relationships/slideLayout" Target="../slideLayouts/slideLayout20.xml"/><Relationship Id="rId9" Type="http://schemas.openxmlformats.org/officeDocument/2006/relationships/theme" Target="../theme/theme3.xml"/><Relationship Id="rId14" Type="http://schemas.openxmlformats.org/officeDocument/2006/relationships/image" Target="../media/image3.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image" Target="../media/image2.pn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image" Target="../media/image1.png"/><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oleObject" Target="../embeddings/oleObject7.bin"/><Relationship Id="rId5" Type="http://schemas.openxmlformats.org/officeDocument/2006/relationships/slideLayout" Target="../slideLayouts/slideLayout29.xml"/><Relationship Id="rId10" Type="http://schemas.openxmlformats.org/officeDocument/2006/relationships/vmlDrawing" Target="../drawings/vmlDrawing7.vml"/><Relationship Id="rId4" Type="http://schemas.openxmlformats.org/officeDocument/2006/relationships/slideLayout" Target="../slideLayouts/slideLayout28.xml"/><Relationship Id="rId9" Type="http://schemas.openxmlformats.org/officeDocument/2006/relationships/theme" Target="../theme/theme4.xml"/><Relationship Id="rId14" Type="http://schemas.openxmlformats.org/officeDocument/2006/relationships/image" Target="../media/image3.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image" Target="../media/image2.png"/><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image" Target="../media/image1.png"/><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oleObject" Target="../embeddings/oleObject9.bin"/><Relationship Id="rId5" Type="http://schemas.openxmlformats.org/officeDocument/2006/relationships/slideLayout" Target="../slideLayouts/slideLayout37.xml"/><Relationship Id="rId10" Type="http://schemas.openxmlformats.org/officeDocument/2006/relationships/vmlDrawing" Target="../drawings/vmlDrawing9.vml"/><Relationship Id="rId4" Type="http://schemas.openxmlformats.org/officeDocument/2006/relationships/slideLayout" Target="../slideLayouts/slideLayout36.xml"/><Relationship Id="rId9" Type="http://schemas.openxmlformats.org/officeDocument/2006/relationships/theme" Target="../theme/theme5.xml"/><Relationship Id="rId14" Type="http://schemas.openxmlformats.org/officeDocument/2006/relationships/image" Target="../media/image3.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48.xml"/><Relationship Id="rId13" Type="http://schemas.openxmlformats.org/officeDocument/2006/relationships/image" Target="../media/image2.png"/><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image" Target="../media/image1.png"/><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oleObject" Target="../embeddings/oleObject11.bin"/><Relationship Id="rId5" Type="http://schemas.openxmlformats.org/officeDocument/2006/relationships/slideLayout" Target="../slideLayouts/slideLayout45.xml"/><Relationship Id="rId10" Type="http://schemas.openxmlformats.org/officeDocument/2006/relationships/vmlDrawing" Target="../drawings/vmlDrawing11.vml"/><Relationship Id="rId4" Type="http://schemas.openxmlformats.org/officeDocument/2006/relationships/slideLayout" Target="../slideLayouts/slideLayout44.xml"/><Relationship Id="rId9" Type="http://schemas.openxmlformats.org/officeDocument/2006/relationships/theme" Target="../theme/theme6.xml"/><Relationship Id="rId14" Type="http://schemas.openxmlformats.org/officeDocument/2006/relationships/image" Target="../media/image3.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image" Target="../media/image2.png"/><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image" Target="../media/image1.png"/><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oleObject" Target="../embeddings/oleObject13.bin"/><Relationship Id="rId5" Type="http://schemas.openxmlformats.org/officeDocument/2006/relationships/slideLayout" Target="../slideLayouts/slideLayout53.xml"/><Relationship Id="rId10" Type="http://schemas.openxmlformats.org/officeDocument/2006/relationships/vmlDrawing" Target="../drawings/vmlDrawing13.vml"/><Relationship Id="rId4" Type="http://schemas.openxmlformats.org/officeDocument/2006/relationships/slideLayout" Target="../slideLayouts/slideLayout52.xml"/><Relationship Id="rId9" Type="http://schemas.openxmlformats.org/officeDocument/2006/relationships/theme" Target="../theme/theme7.xml"/><Relationship Id="rId14" Type="http://schemas.openxmlformats.org/officeDocument/2006/relationships/image" Target="../media/image3.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image" Target="../media/image2.png"/><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image" Target="../media/image1.png"/><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oleObject" Target="../embeddings/oleObject15.bin"/><Relationship Id="rId5" Type="http://schemas.openxmlformats.org/officeDocument/2006/relationships/slideLayout" Target="../slideLayouts/slideLayout61.xml"/><Relationship Id="rId10" Type="http://schemas.openxmlformats.org/officeDocument/2006/relationships/vmlDrawing" Target="../drawings/vmlDrawing15.vml"/><Relationship Id="rId4" Type="http://schemas.openxmlformats.org/officeDocument/2006/relationships/slideLayout" Target="../slideLayouts/slideLayout60.xml"/><Relationship Id="rId9" Type="http://schemas.openxmlformats.org/officeDocument/2006/relationships/theme" Target="../theme/theme8.xml"/><Relationship Id="rId14" Type="http://schemas.openxmlformats.org/officeDocument/2006/relationships/image" Target="../media/image3.png"/></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image" Target="../media/image2.png"/><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image" Target="../media/image1.png"/><Relationship Id="rId2" Type="http://schemas.openxmlformats.org/officeDocument/2006/relationships/slideLayout" Target="../slideLayouts/slideLayout66.xml"/><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oleObject" Target="../embeddings/oleObject17.bin"/><Relationship Id="rId5" Type="http://schemas.openxmlformats.org/officeDocument/2006/relationships/slideLayout" Target="../slideLayouts/slideLayout69.xml"/><Relationship Id="rId10" Type="http://schemas.openxmlformats.org/officeDocument/2006/relationships/vmlDrawing" Target="../drawings/vmlDrawing17.vml"/><Relationship Id="rId4" Type="http://schemas.openxmlformats.org/officeDocument/2006/relationships/slideLayout" Target="../slideLayouts/slideLayout68.xml"/><Relationship Id="rId9" Type="http://schemas.openxmlformats.org/officeDocument/2006/relationships/theme" Target="../theme/theme9.xml"/><Relationship Id="rId14" Type="http://schemas.openxmlformats.org/officeDocument/2006/relationships/image" Target="../media/image3.png"/></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80.xml"/><Relationship Id="rId13" Type="http://schemas.openxmlformats.org/officeDocument/2006/relationships/image" Target="../media/image2.png"/><Relationship Id="rId3" Type="http://schemas.openxmlformats.org/officeDocument/2006/relationships/slideLayout" Target="../slideLayouts/slideLayout75.xml"/><Relationship Id="rId7" Type="http://schemas.openxmlformats.org/officeDocument/2006/relationships/slideLayout" Target="../slideLayouts/slideLayout79.xml"/><Relationship Id="rId12" Type="http://schemas.openxmlformats.org/officeDocument/2006/relationships/image" Target="../media/image1.png"/><Relationship Id="rId2" Type="http://schemas.openxmlformats.org/officeDocument/2006/relationships/slideLayout" Target="../slideLayouts/slideLayout74.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oleObject" Target="../embeddings/oleObject19.bin"/><Relationship Id="rId5" Type="http://schemas.openxmlformats.org/officeDocument/2006/relationships/slideLayout" Target="../slideLayouts/slideLayout77.xml"/><Relationship Id="rId10" Type="http://schemas.openxmlformats.org/officeDocument/2006/relationships/vmlDrawing" Target="../drawings/vmlDrawing19.vml"/><Relationship Id="rId4" Type="http://schemas.openxmlformats.org/officeDocument/2006/relationships/slideLayout" Target="../slideLayouts/slideLayout76.xml"/><Relationship Id="rId9" Type="http://schemas.openxmlformats.org/officeDocument/2006/relationships/theme" Target="../theme/theme10.xml"/><Relationship Id="rId14" Type="http://schemas.openxmlformats.org/officeDocument/2006/relationships/image" Target="../media/image3.png"/></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88.xml"/><Relationship Id="rId13" Type="http://schemas.openxmlformats.org/officeDocument/2006/relationships/image" Target="../media/image2.png"/><Relationship Id="rId3" Type="http://schemas.openxmlformats.org/officeDocument/2006/relationships/slideLayout" Target="../slideLayouts/slideLayout83.xml"/><Relationship Id="rId7" Type="http://schemas.openxmlformats.org/officeDocument/2006/relationships/slideLayout" Target="../slideLayouts/slideLayout87.xml"/><Relationship Id="rId12" Type="http://schemas.openxmlformats.org/officeDocument/2006/relationships/image" Target="../media/image1.png"/><Relationship Id="rId2" Type="http://schemas.openxmlformats.org/officeDocument/2006/relationships/slideLayout" Target="../slideLayouts/slideLayout82.xml"/><Relationship Id="rId1" Type="http://schemas.openxmlformats.org/officeDocument/2006/relationships/slideLayout" Target="../slideLayouts/slideLayout81.xml"/><Relationship Id="rId6" Type="http://schemas.openxmlformats.org/officeDocument/2006/relationships/slideLayout" Target="../slideLayouts/slideLayout86.xml"/><Relationship Id="rId11" Type="http://schemas.openxmlformats.org/officeDocument/2006/relationships/oleObject" Target="../embeddings/oleObject21.bin"/><Relationship Id="rId5" Type="http://schemas.openxmlformats.org/officeDocument/2006/relationships/slideLayout" Target="../slideLayouts/slideLayout85.xml"/><Relationship Id="rId10" Type="http://schemas.openxmlformats.org/officeDocument/2006/relationships/vmlDrawing" Target="../drawings/vmlDrawing21.vml"/><Relationship Id="rId4" Type="http://schemas.openxmlformats.org/officeDocument/2006/relationships/slideLayout" Target="../slideLayouts/slideLayout84.xml"/><Relationship Id="rId9" Type="http://schemas.openxmlformats.org/officeDocument/2006/relationships/theme" Target="../theme/theme11.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23850" y="980728"/>
            <a:ext cx="8496300"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dirty="0"/>
              <a:t>单击此处编辑母版文本样式</a:t>
            </a:r>
            <a:endParaRPr lang="en-US" altLang="zh-CN" dirty="0"/>
          </a:p>
          <a:p>
            <a:pPr lvl="0"/>
            <a:r>
              <a:rPr lang="zh-CN" altLang="en-US" dirty="0"/>
              <a:t>单击此处编辑母版文本样式</a:t>
            </a:r>
          </a:p>
          <a:p>
            <a:pPr lvl="1"/>
            <a:r>
              <a:rPr lang="zh-CN" altLang="en-US" dirty="0"/>
              <a:t>第二级</a:t>
            </a:r>
            <a:endParaRPr lang="en-US" altLang="zh-CN" dirty="0"/>
          </a:p>
          <a:p>
            <a:pPr marL="575945" marR="0" lvl="1" indent="-360045" algn="l" defTabSz="914400" rtl="0" eaLnBrk="1" fontAlgn="base" latinLnBrk="0" hangingPunct="1">
              <a:lnSpc>
                <a:spcPct val="100000"/>
              </a:lnSpc>
              <a:spcBef>
                <a:spcPts val="0"/>
              </a:spcBef>
              <a:spcAft>
                <a:spcPts val="600"/>
              </a:spcAft>
              <a:buClrTx/>
              <a:buSzTx/>
              <a:buFont typeface="Wingdings" panose="05000000000000000000" pitchFamily="2" charset="2"/>
              <a:buChar char="Ø"/>
              <a:defRPr/>
            </a:pPr>
            <a:r>
              <a:rPr lang="zh-CN" altLang="en-US" dirty="0"/>
              <a:t>单击此处编辑母版文本样式</a:t>
            </a:r>
          </a:p>
          <a:p>
            <a:pPr lvl="1"/>
            <a:r>
              <a:rPr lang="zh-CN" altLang="en-US" dirty="0"/>
              <a:t>第二级</a:t>
            </a:r>
          </a:p>
        </p:txBody>
      </p:sp>
      <p:sp>
        <p:nvSpPr>
          <p:cNvPr id="1029" name="Rectangle 5"/>
          <p:cNvSpPr>
            <a:spLocks noGrp="1" noChangeArrowheads="1"/>
          </p:cNvSpPr>
          <p:nvPr>
            <p:ph type="ftr" sz="quarter" idx="3"/>
          </p:nvPr>
        </p:nvSpPr>
        <p:spPr bwMode="auto">
          <a:xfrm>
            <a:off x="3124200" y="6381006"/>
            <a:ext cx="2895600"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800" smtClean="0">
                <a:latin typeface="Verdana" panose="020B0604030504040204" pitchFamily="34" charset="0"/>
              </a:defRPr>
            </a:lvl1pPr>
          </a:lstStyle>
          <a:p>
            <a:pPr>
              <a:defRPr/>
            </a:pPr>
            <a:r>
              <a:rPr lang="en-US" altLang="zh-CN"/>
              <a:t>@ Zhihai Wang, 2025</a:t>
            </a:r>
            <a:endParaRPr lang="en-US" altLang="zh-CN" dirty="0"/>
          </a:p>
        </p:txBody>
      </p:sp>
      <p:sp>
        <p:nvSpPr>
          <p:cNvPr id="1030" name="Rectangle 6"/>
          <p:cNvSpPr>
            <a:spLocks noGrp="1" noChangeArrowheads="1"/>
          </p:cNvSpPr>
          <p:nvPr>
            <p:ph type="sldNum" sz="quarter" idx="4"/>
          </p:nvPr>
        </p:nvSpPr>
        <p:spPr bwMode="auto">
          <a:xfrm>
            <a:off x="7417122" y="6381751"/>
            <a:ext cx="1403350" cy="359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2000"/>
            </a:lvl1pPr>
          </a:lstStyle>
          <a:p>
            <a:pPr>
              <a:defRPr/>
            </a:pPr>
            <a:fld id="{2C2D39BD-2FBC-415D-AE3F-113858EA1DB1}" type="slidenum">
              <a:rPr lang="en-US" altLang="zh-CN"/>
              <a:t>‹#›</a:t>
            </a:fld>
            <a:endParaRPr lang="en-US" altLang="zh-CN"/>
          </a:p>
        </p:txBody>
      </p:sp>
      <p:graphicFrame>
        <p:nvGraphicFramePr>
          <p:cNvPr id="2" name="Object 8"/>
          <p:cNvGraphicFramePr>
            <a:graphicFrameLocks noChangeAspect="1"/>
          </p:cNvGraphicFramePr>
          <p:nvPr/>
        </p:nvGraphicFramePr>
        <p:xfrm>
          <a:off x="0" y="6084888"/>
          <a:ext cx="971550" cy="766762"/>
        </p:xfrm>
        <a:graphic>
          <a:graphicData uri="http://schemas.openxmlformats.org/presentationml/2006/ole">
            <mc:AlternateContent xmlns:mc="http://schemas.openxmlformats.org/markup-compatibility/2006">
              <mc:Choice xmlns:v="urn:schemas-microsoft-com:vml" Requires="v">
                <p:oleObj spid="_x0000_s1027" name="Image" r:id="rId11" imgW="2590800" imgH="2044700" progId="Photoshop.Image.7">
                  <p:embed/>
                </p:oleObj>
              </mc:Choice>
              <mc:Fallback>
                <p:oleObj name="Image" r:id="rId11" imgW="2590800" imgH="2044700" progId="Photoshop.Image.7">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6084888"/>
                        <a:ext cx="971550" cy="766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333399"/>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3" name="Rectangle 13"/>
          <p:cNvSpPr>
            <a:spLocks noGrp="1" noChangeArrowheads="1"/>
          </p:cNvSpPr>
          <p:nvPr>
            <p:ph type="title"/>
          </p:nvPr>
        </p:nvSpPr>
        <p:spPr bwMode="auto">
          <a:xfrm>
            <a:off x="323850" y="259432"/>
            <a:ext cx="7488238" cy="64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dirty="0"/>
              <a:t>单击此处编辑母版文本样式</a:t>
            </a:r>
          </a:p>
        </p:txBody>
      </p:sp>
      <p:pic>
        <p:nvPicPr>
          <p:cNvPr id="1034" name="Picture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135616" y="44450"/>
            <a:ext cx="1008384" cy="9362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hdr="0" dt="0"/>
  <p:txStyles>
    <p:titleStyle>
      <a:lvl1pPr algn="l" rtl="0" eaLnBrk="1" fontAlgn="base" hangingPunct="1">
        <a:spcBef>
          <a:spcPct val="0"/>
        </a:spcBef>
        <a:spcAft>
          <a:spcPct val="0"/>
        </a:spcAft>
        <a:defRPr kumimoji="1" lang="zh-CN" altLang="en-US" sz="4000" b="1" baseline="0" dirty="0" smtClean="0">
          <a:solidFill>
            <a:srgbClr val="C00000"/>
          </a:solidFill>
          <a:latin typeface="Arial" panose="020B0604020202020204" pitchFamily="34" charset="0"/>
          <a:ea typeface="宋体" panose="02010600030101010101" pitchFamily="2" charset="-122"/>
          <a:cs typeface="+mj-cs"/>
        </a:defRPr>
      </a:lvl1pPr>
      <a:lvl2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2pPr>
      <a:lvl3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3pPr>
      <a:lvl4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4pPr>
      <a:lvl5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5pPr>
      <a:lvl6pPr marL="4572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6pPr>
      <a:lvl7pPr marL="9144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7pPr>
      <a:lvl8pPr marL="13716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8pPr>
      <a:lvl9pPr marL="18288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9pPr>
    </p:titleStyle>
    <p:bodyStyle>
      <a:lvl1pPr marL="360045" indent="-360045" algn="l" rtl="0" eaLnBrk="1" fontAlgn="base" hangingPunct="1">
        <a:lnSpc>
          <a:spcPts val="4200"/>
        </a:lnSpc>
        <a:spcBef>
          <a:spcPts val="0"/>
        </a:spcBef>
        <a:spcAft>
          <a:spcPts val="600"/>
        </a:spcAft>
        <a:buFont typeface="Wingdings" panose="05000000000000000000" pitchFamily="2" charset="2"/>
        <a:buBlip>
          <a:blip r:embed="rId14"/>
        </a:buBlip>
        <a:defRPr kumimoji="1" sz="3200" baseline="0">
          <a:solidFill>
            <a:srgbClr val="000000"/>
          </a:solidFill>
          <a:latin typeface="Arial" panose="020B0604020202020204" pitchFamily="34" charset="0"/>
          <a:ea typeface="宋体" panose="02010600030101010101" pitchFamily="2" charset="-122"/>
          <a:cs typeface="+mn-cs"/>
        </a:defRPr>
      </a:lvl1pPr>
      <a:lvl2pPr marL="575945" marR="0" indent="-360045" algn="l" defTabSz="914400" rtl="0" eaLnBrk="1" fontAlgn="base" latinLnBrk="0" hangingPunct="1">
        <a:lnSpc>
          <a:spcPts val="4200"/>
        </a:lnSpc>
        <a:spcBef>
          <a:spcPts val="0"/>
        </a:spcBef>
        <a:spcAft>
          <a:spcPts val="600"/>
        </a:spcAft>
        <a:buClrTx/>
        <a:buSzTx/>
        <a:buFont typeface="Wingdings" panose="05000000000000000000" pitchFamily="2" charset="2"/>
        <a:buChar char="Ø"/>
        <a:defRPr kumimoji="1" sz="3200" baseline="0">
          <a:solidFill>
            <a:schemeClr val="tx1"/>
          </a:solidFill>
          <a:latin typeface="Arial" panose="020B0604020202020204" pitchFamily="34" charset="0"/>
          <a:ea typeface="楷体_GB2312" pitchFamily="49" charset="-122"/>
        </a:defRPr>
      </a:lvl2pPr>
      <a:lvl3pPr marL="864235" indent="-360045" algn="l" rtl="0" eaLnBrk="1" fontAlgn="base" hangingPunct="1">
        <a:spcBef>
          <a:spcPts val="0"/>
        </a:spcBef>
        <a:spcAft>
          <a:spcPts val="600"/>
        </a:spcAft>
        <a:buFont typeface="Wingdings" panose="05000000000000000000" pitchFamily="2" charset="2"/>
        <a:buChar char="u"/>
        <a:defRPr kumimoji="1" sz="2800">
          <a:solidFill>
            <a:schemeClr val="tx1"/>
          </a:solidFill>
          <a:latin typeface="+mn-lt"/>
          <a:ea typeface="+mn-ea"/>
        </a:defRPr>
      </a:lvl3pPr>
      <a:lvl4pPr marL="1600200" indent="-228600" algn="l" rtl="0" eaLnBrk="1" fontAlgn="base" hangingPunct="1">
        <a:spcBef>
          <a:spcPct val="20000"/>
        </a:spcBef>
        <a:spcAft>
          <a:spcPct val="0"/>
        </a:spcAft>
        <a:buChar char="–"/>
        <a:defRPr kumimoji="1" sz="2000">
          <a:solidFill>
            <a:srgbClr val="152EAB"/>
          </a:solidFill>
          <a:latin typeface="+mn-lt"/>
          <a:ea typeface="+mn-ea"/>
        </a:defRPr>
      </a:lvl4pPr>
      <a:lvl5pPr marL="2057400" indent="-228600" algn="l" rtl="0" eaLnBrk="1" fontAlgn="base" hangingPunct="1">
        <a:spcBef>
          <a:spcPct val="20000"/>
        </a:spcBef>
        <a:spcAft>
          <a:spcPct val="0"/>
        </a:spcAft>
        <a:defRPr kumimoji="1" sz="2000">
          <a:solidFill>
            <a:srgbClr val="152EAB"/>
          </a:solidFill>
          <a:latin typeface="+mn-lt"/>
          <a:ea typeface="+mn-ea"/>
        </a:defRPr>
      </a:lvl5pPr>
      <a:lvl6pPr marL="2514600" indent="-228600" algn="l" rtl="0" eaLnBrk="1" fontAlgn="base" hangingPunct="1">
        <a:spcBef>
          <a:spcPct val="20000"/>
        </a:spcBef>
        <a:spcAft>
          <a:spcPct val="0"/>
        </a:spcAft>
        <a:defRPr kumimoji="1" sz="2000">
          <a:solidFill>
            <a:srgbClr val="152EAB"/>
          </a:solidFill>
          <a:latin typeface="+mn-lt"/>
          <a:ea typeface="+mn-ea"/>
        </a:defRPr>
      </a:lvl6pPr>
      <a:lvl7pPr marL="2971800" indent="-228600" algn="l" rtl="0" eaLnBrk="1" fontAlgn="base" hangingPunct="1">
        <a:spcBef>
          <a:spcPct val="20000"/>
        </a:spcBef>
        <a:spcAft>
          <a:spcPct val="0"/>
        </a:spcAft>
        <a:defRPr kumimoji="1" sz="2000">
          <a:solidFill>
            <a:srgbClr val="152EAB"/>
          </a:solidFill>
          <a:latin typeface="+mn-lt"/>
          <a:ea typeface="+mn-ea"/>
        </a:defRPr>
      </a:lvl7pPr>
      <a:lvl8pPr marL="3429000" indent="-228600" algn="l" rtl="0" eaLnBrk="1" fontAlgn="base" hangingPunct="1">
        <a:spcBef>
          <a:spcPct val="20000"/>
        </a:spcBef>
        <a:spcAft>
          <a:spcPct val="0"/>
        </a:spcAft>
        <a:defRPr kumimoji="1" sz="2000">
          <a:solidFill>
            <a:srgbClr val="152EAB"/>
          </a:solidFill>
          <a:latin typeface="+mn-lt"/>
          <a:ea typeface="+mn-ea"/>
        </a:defRPr>
      </a:lvl8pPr>
      <a:lvl9pPr marL="3886200" indent="-228600" algn="l" rtl="0" eaLnBrk="1" fontAlgn="base" hangingPunct="1">
        <a:spcBef>
          <a:spcPct val="20000"/>
        </a:spcBef>
        <a:spcAft>
          <a:spcPct val="0"/>
        </a:spcAft>
        <a:defRPr kumimoji="1" sz="2000">
          <a:solidFill>
            <a:srgbClr val="152EAB"/>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23850" y="980728"/>
            <a:ext cx="8496300"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dirty="0"/>
              <a:t>单击此处编辑母版文本样式</a:t>
            </a:r>
            <a:endParaRPr lang="en-US" altLang="zh-CN" dirty="0"/>
          </a:p>
          <a:p>
            <a:pPr lvl="0"/>
            <a:r>
              <a:rPr lang="zh-CN" altLang="en-US" dirty="0"/>
              <a:t>单击此处编辑母版文本样式</a:t>
            </a:r>
          </a:p>
          <a:p>
            <a:pPr lvl="1"/>
            <a:r>
              <a:rPr lang="zh-CN" altLang="en-US" dirty="0"/>
              <a:t>第二级</a:t>
            </a:r>
            <a:endParaRPr lang="en-US" altLang="zh-CN" dirty="0"/>
          </a:p>
          <a:p>
            <a:pPr marL="575945" marR="0" lvl="1" indent="-360045" algn="l" defTabSz="914400" rtl="0" eaLnBrk="1" fontAlgn="base" latinLnBrk="0" hangingPunct="1">
              <a:lnSpc>
                <a:spcPct val="100000"/>
              </a:lnSpc>
              <a:spcBef>
                <a:spcPts val="0"/>
              </a:spcBef>
              <a:spcAft>
                <a:spcPts val="600"/>
              </a:spcAft>
              <a:buClrTx/>
              <a:buSzTx/>
              <a:buFont typeface="Wingdings" panose="05000000000000000000" pitchFamily="2" charset="2"/>
              <a:buChar char="Ø"/>
              <a:defRPr/>
            </a:pPr>
            <a:r>
              <a:rPr lang="zh-CN" altLang="en-US" dirty="0"/>
              <a:t>单击此处编辑母版文本样式</a:t>
            </a:r>
          </a:p>
          <a:p>
            <a:pPr lvl="1"/>
            <a:r>
              <a:rPr lang="zh-CN" altLang="en-US" dirty="0"/>
              <a:t>第二级</a:t>
            </a:r>
          </a:p>
        </p:txBody>
      </p:sp>
      <p:sp>
        <p:nvSpPr>
          <p:cNvPr id="1029" name="Rectangle 5"/>
          <p:cNvSpPr>
            <a:spLocks noGrp="1" noChangeArrowheads="1"/>
          </p:cNvSpPr>
          <p:nvPr>
            <p:ph type="ftr" sz="quarter" idx="3"/>
          </p:nvPr>
        </p:nvSpPr>
        <p:spPr bwMode="auto">
          <a:xfrm>
            <a:off x="3124200" y="6381006"/>
            <a:ext cx="2895600"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800" smtClean="0">
                <a:latin typeface="Verdana" panose="020B0604030504040204" pitchFamily="34" charset="0"/>
              </a:defRPr>
            </a:lvl1pPr>
          </a:lstStyle>
          <a:p>
            <a:pPr>
              <a:defRPr/>
            </a:pPr>
            <a:r>
              <a:rPr lang="en-US" altLang="zh-CN"/>
              <a:t>@ Zhihai Wang, 2025</a:t>
            </a:r>
            <a:endParaRPr lang="en-US" altLang="zh-CN" dirty="0"/>
          </a:p>
        </p:txBody>
      </p:sp>
      <p:sp>
        <p:nvSpPr>
          <p:cNvPr id="1030" name="Rectangle 6"/>
          <p:cNvSpPr>
            <a:spLocks noGrp="1" noChangeArrowheads="1"/>
          </p:cNvSpPr>
          <p:nvPr>
            <p:ph type="sldNum" sz="quarter" idx="4"/>
          </p:nvPr>
        </p:nvSpPr>
        <p:spPr bwMode="auto">
          <a:xfrm>
            <a:off x="7417122" y="6381751"/>
            <a:ext cx="1403350" cy="359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2000"/>
            </a:lvl1pPr>
          </a:lstStyle>
          <a:p>
            <a:pPr>
              <a:defRPr/>
            </a:pPr>
            <a:fld id="{2C2D39BD-2FBC-415D-AE3F-113858EA1DB1}" type="slidenum">
              <a:rPr lang="en-US" altLang="zh-CN"/>
              <a:t>‹#›</a:t>
            </a:fld>
            <a:endParaRPr lang="en-US" altLang="zh-CN"/>
          </a:p>
        </p:txBody>
      </p:sp>
      <p:graphicFrame>
        <p:nvGraphicFramePr>
          <p:cNvPr id="2" name="Object 8"/>
          <p:cNvGraphicFramePr>
            <a:graphicFrameLocks noChangeAspect="1"/>
          </p:cNvGraphicFramePr>
          <p:nvPr/>
        </p:nvGraphicFramePr>
        <p:xfrm>
          <a:off x="0" y="6084888"/>
          <a:ext cx="971550" cy="766762"/>
        </p:xfrm>
        <a:graphic>
          <a:graphicData uri="http://schemas.openxmlformats.org/presentationml/2006/ole">
            <mc:AlternateContent xmlns:mc="http://schemas.openxmlformats.org/markup-compatibility/2006">
              <mc:Choice xmlns:v="urn:schemas-microsoft-com:vml" Requires="v">
                <p:oleObj spid="_x0000_s3075" name="Image" r:id="rId11" imgW="2590800" imgH="2044700" progId="Photoshop.Image.7">
                  <p:embed/>
                </p:oleObj>
              </mc:Choice>
              <mc:Fallback>
                <p:oleObj name="Image" r:id="rId11" imgW="2590800" imgH="2044700" progId="Photoshop.Image.7">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6084888"/>
                        <a:ext cx="971550" cy="766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333399"/>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3" name="Rectangle 13"/>
          <p:cNvSpPr>
            <a:spLocks noGrp="1" noChangeArrowheads="1"/>
          </p:cNvSpPr>
          <p:nvPr>
            <p:ph type="title"/>
          </p:nvPr>
        </p:nvSpPr>
        <p:spPr bwMode="auto">
          <a:xfrm>
            <a:off x="323850" y="259432"/>
            <a:ext cx="7488238" cy="64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dirty="0"/>
              <a:t>单击此处编辑母版文本样式</a:t>
            </a:r>
          </a:p>
        </p:txBody>
      </p:sp>
      <p:pic>
        <p:nvPicPr>
          <p:cNvPr id="1034" name="Picture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135616" y="44450"/>
            <a:ext cx="1008384" cy="9362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Lst>
  <p:hf hdr="0" dt="0"/>
  <p:txStyles>
    <p:titleStyle>
      <a:lvl1pPr algn="l" rtl="0" eaLnBrk="1" fontAlgn="base" hangingPunct="1">
        <a:spcBef>
          <a:spcPct val="0"/>
        </a:spcBef>
        <a:spcAft>
          <a:spcPct val="0"/>
        </a:spcAft>
        <a:defRPr kumimoji="1" lang="zh-CN" altLang="en-US" sz="4000" b="1" baseline="0" dirty="0" smtClean="0">
          <a:solidFill>
            <a:srgbClr val="C00000"/>
          </a:solidFill>
          <a:latin typeface="Arial" panose="020B0604020202020204" pitchFamily="34" charset="0"/>
          <a:ea typeface="宋体" panose="02010600030101010101" pitchFamily="2" charset="-122"/>
          <a:cs typeface="+mj-cs"/>
        </a:defRPr>
      </a:lvl1pPr>
      <a:lvl2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2pPr>
      <a:lvl3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3pPr>
      <a:lvl4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4pPr>
      <a:lvl5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5pPr>
      <a:lvl6pPr marL="4572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6pPr>
      <a:lvl7pPr marL="9144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7pPr>
      <a:lvl8pPr marL="13716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8pPr>
      <a:lvl9pPr marL="18288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9pPr>
    </p:titleStyle>
    <p:bodyStyle>
      <a:lvl1pPr marL="360045" indent="-360045" algn="l" rtl="0" eaLnBrk="1" fontAlgn="base" hangingPunct="1">
        <a:lnSpc>
          <a:spcPts val="4200"/>
        </a:lnSpc>
        <a:spcBef>
          <a:spcPts val="0"/>
        </a:spcBef>
        <a:spcAft>
          <a:spcPts val="600"/>
        </a:spcAft>
        <a:buFont typeface="Wingdings" panose="05000000000000000000" pitchFamily="2" charset="2"/>
        <a:buBlip>
          <a:blip r:embed="rId14"/>
        </a:buBlip>
        <a:defRPr kumimoji="1" sz="3200" baseline="0">
          <a:solidFill>
            <a:srgbClr val="000000"/>
          </a:solidFill>
          <a:latin typeface="Arial" panose="020B0604020202020204" pitchFamily="34" charset="0"/>
          <a:ea typeface="宋体" panose="02010600030101010101" pitchFamily="2" charset="-122"/>
          <a:cs typeface="+mn-cs"/>
        </a:defRPr>
      </a:lvl1pPr>
      <a:lvl2pPr marL="575945" marR="0" indent="-360045" algn="l" defTabSz="914400" rtl="0" eaLnBrk="1" fontAlgn="base" latinLnBrk="0" hangingPunct="1">
        <a:lnSpc>
          <a:spcPts val="4200"/>
        </a:lnSpc>
        <a:spcBef>
          <a:spcPts val="0"/>
        </a:spcBef>
        <a:spcAft>
          <a:spcPts val="600"/>
        </a:spcAft>
        <a:buClrTx/>
        <a:buSzTx/>
        <a:buFont typeface="Wingdings" panose="05000000000000000000" pitchFamily="2" charset="2"/>
        <a:buChar char="Ø"/>
        <a:defRPr kumimoji="1" sz="3200" baseline="0">
          <a:solidFill>
            <a:schemeClr val="tx1"/>
          </a:solidFill>
          <a:latin typeface="Arial" panose="020B0604020202020204" pitchFamily="34" charset="0"/>
          <a:ea typeface="楷体_GB2312" pitchFamily="49" charset="-122"/>
        </a:defRPr>
      </a:lvl2pPr>
      <a:lvl3pPr marL="864235" indent="-360045" algn="l" rtl="0" eaLnBrk="1" fontAlgn="base" hangingPunct="1">
        <a:spcBef>
          <a:spcPts val="0"/>
        </a:spcBef>
        <a:spcAft>
          <a:spcPts val="600"/>
        </a:spcAft>
        <a:buFont typeface="Wingdings" panose="05000000000000000000" pitchFamily="2" charset="2"/>
        <a:buChar char="u"/>
        <a:defRPr kumimoji="1" sz="2800">
          <a:solidFill>
            <a:schemeClr val="tx1"/>
          </a:solidFill>
          <a:latin typeface="+mn-lt"/>
          <a:ea typeface="+mn-ea"/>
        </a:defRPr>
      </a:lvl3pPr>
      <a:lvl4pPr marL="1600200" indent="-228600" algn="l" rtl="0" eaLnBrk="1" fontAlgn="base" hangingPunct="1">
        <a:spcBef>
          <a:spcPct val="20000"/>
        </a:spcBef>
        <a:spcAft>
          <a:spcPct val="0"/>
        </a:spcAft>
        <a:buChar char="–"/>
        <a:defRPr kumimoji="1" sz="2000">
          <a:solidFill>
            <a:srgbClr val="152EAB"/>
          </a:solidFill>
          <a:latin typeface="+mn-lt"/>
          <a:ea typeface="+mn-ea"/>
        </a:defRPr>
      </a:lvl4pPr>
      <a:lvl5pPr marL="2057400" indent="-228600" algn="l" rtl="0" eaLnBrk="1" fontAlgn="base" hangingPunct="1">
        <a:spcBef>
          <a:spcPct val="20000"/>
        </a:spcBef>
        <a:spcAft>
          <a:spcPct val="0"/>
        </a:spcAft>
        <a:defRPr kumimoji="1" sz="2000">
          <a:solidFill>
            <a:srgbClr val="152EAB"/>
          </a:solidFill>
          <a:latin typeface="+mn-lt"/>
          <a:ea typeface="+mn-ea"/>
        </a:defRPr>
      </a:lvl5pPr>
      <a:lvl6pPr marL="2514600" indent="-228600" algn="l" rtl="0" eaLnBrk="1" fontAlgn="base" hangingPunct="1">
        <a:spcBef>
          <a:spcPct val="20000"/>
        </a:spcBef>
        <a:spcAft>
          <a:spcPct val="0"/>
        </a:spcAft>
        <a:defRPr kumimoji="1" sz="2000">
          <a:solidFill>
            <a:srgbClr val="152EAB"/>
          </a:solidFill>
          <a:latin typeface="+mn-lt"/>
          <a:ea typeface="+mn-ea"/>
        </a:defRPr>
      </a:lvl6pPr>
      <a:lvl7pPr marL="2971800" indent="-228600" algn="l" rtl="0" eaLnBrk="1" fontAlgn="base" hangingPunct="1">
        <a:spcBef>
          <a:spcPct val="20000"/>
        </a:spcBef>
        <a:spcAft>
          <a:spcPct val="0"/>
        </a:spcAft>
        <a:defRPr kumimoji="1" sz="2000">
          <a:solidFill>
            <a:srgbClr val="152EAB"/>
          </a:solidFill>
          <a:latin typeface="+mn-lt"/>
          <a:ea typeface="+mn-ea"/>
        </a:defRPr>
      </a:lvl7pPr>
      <a:lvl8pPr marL="3429000" indent="-228600" algn="l" rtl="0" eaLnBrk="1" fontAlgn="base" hangingPunct="1">
        <a:spcBef>
          <a:spcPct val="20000"/>
        </a:spcBef>
        <a:spcAft>
          <a:spcPct val="0"/>
        </a:spcAft>
        <a:defRPr kumimoji="1" sz="2000">
          <a:solidFill>
            <a:srgbClr val="152EAB"/>
          </a:solidFill>
          <a:latin typeface="+mn-lt"/>
          <a:ea typeface="+mn-ea"/>
        </a:defRPr>
      </a:lvl8pPr>
      <a:lvl9pPr marL="3886200" indent="-228600" algn="l" rtl="0" eaLnBrk="1" fontAlgn="base" hangingPunct="1">
        <a:spcBef>
          <a:spcPct val="20000"/>
        </a:spcBef>
        <a:spcAft>
          <a:spcPct val="0"/>
        </a:spcAft>
        <a:defRPr kumimoji="1" sz="2000">
          <a:solidFill>
            <a:srgbClr val="152EAB"/>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23850" y="980728"/>
            <a:ext cx="8496300"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dirty="0"/>
              <a:t>单击此处编辑母版文本样式</a:t>
            </a:r>
            <a:endParaRPr lang="en-US" altLang="zh-CN" dirty="0"/>
          </a:p>
          <a:p>
            <a:pPr lvl="0"/>
            <a:r>
              <a:rPr lang="zh-CN" altLang="en-US" dirty="0"/>
              <a:t>单击此处编辑母版文本样式</a:t>
            </a:r>
          </a:p>
          <a:p>
            <a:pPr lvl="1"/>
            <a:r>
              <a:rPr lang="zh-CN" altLang="en-US" dirty="0"/>
              <a:t>第二级</a:t>
            </a:r>
            <a:endParaRPr lang="en-US" altLang="zh-CN" dirty="0"/>
          </a:p>
          <a:p>
            <a:pPr marL="575945" marR="0" lvl="1" indent="-360045" algn="l" defTabSz="914400" rtl="0" eaLnBrk="1" fontAlgn="base" latinLnBrk="0" hangingPunct="1">
              <a:lnSpc>
                <a:spcPct val="100000"/>
              </a:lnSpc>
              <a:spcBef>
                <a:spcPts val="0"/>
              </a:spcBef>
              <a:spcAft>
                <a:spcPts val="600"/>
              </a:spcAft>
              <a:buClrTx/>
              <a:buSzTx/>
              <a:buFont typeface="Wingdings" panose="05000000000000000000" pitchFamily="2" charset="2"/>
              <a:buChar char="Ø"/>
              <a:defRPr/>
            </a:pPr>
            <a:r>
              <a:rPr lang="zh-CN" altLang="en-US" dirty="0"/>
              <a:t>单击此处编辑母版文本样式</a:t>
            </a:r>
          </a:p>
          <a:p>
            <a:pPr lvl="1"/>
            <a:r>
              <a:rPr lang="zh-CN" altLang="en-US" dirty="0"/>
              <a:t>第二级</a:t>
            </a:r>
          </a:p>
        </p:txBody>
      </p:sp>
      <p:sp>
        <p:nvSpPr>
          <p:cNvPr id="1029" name="Rectangle 5"/>
          <p:cNvSpPr>
            <a:spLocks noGrp="1" noChangeArrowheads="1"/>
          </p:cNvSpPr>
          <p:nvPr>
            <p:ph type="ftr" sz="quarter" idx="3"/>
          </p:nvPr>
        </p:nvSpPr>
        <p:spPr bwMode="auto">
          <a:xfrm>
            <a:off x="3124200" y="6381006"/>
            <a:ext cx="2895600"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800" smtClean="0">
                <a:latin typeface="Verdana" panose="020B0604030504040204" pitchFamily="34" charset="0"/>
              </a:defRPr>
            </a:lvl1pPr>
          </a:lstStyle>
          <a:p>
            <a:pPr>
              <a:defRPr/>
            </a:pPr>
            <a:r>
              <a:rPr lang="en-US" altLang="zh-CN"/>
              <a:t>@ Zhihai Wang, 2025</a:t>
            </a:r>
            <a:endParaRPr lang="en-US" altLang="zh-CN" dirty="0"/>
          </a:p>
        </p:txBody>
      </p:sp>
      <p:sp>
        <p:nvSpPr>
          <p:cNvPr id="1030" name="Rectangle 6"/>
          <p:cNvSpPr>
            <a:spLocks noGrp="1" noChangeArrowheads="1"/>
          </p:cNvSpPr>
          <p:nvPr>
            <p:ph type="sldNum" sz="quarter" idx="4"/>
          </p:nvPr>
        </p:nvSpPr>
        <p:spPr bwMode="auto">
          <a:xfrm>
            <a:off x="7417122" y="6381751"/>
            <a:ext cx="1403350" cy="359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2000"/>
            </a:lvl1pPr>
          </a:lstStyle>
          <a:p>
            <a:pPr>
              <a:defRPr/>
            </a:pPr>
            <a:fld id="{2C2D39BD-2FBC-415D-AE3F-113858EA1DB1}" type="slidenum">
              <a:rPr lang="en-US" altLang="zh-CN"/>
              <a:t>‹#›</a:t>
            </a:fld>
            <a:endParaRPr lang="en-US" altLang="zh-CN"/>
          </a:p>
        </p:txBody>
      </p:sp>
      <p:graphicFrame>
        <p:nvGraphicFramePr>
          <p:cNvPr id="2" name="Object 8"/>
          <p:cNvGraphicFramePr>
            <a:graphicFrameLocks noChangeAspect="1"/>
          </p:cNvGraphicFramePr>
          <p:nvPr/>
        </p:nvGraphicFramePr>
        <p:xfrm>
          <a:off x="0" y="6084888"/>
          <a:ext cx="971550" cy="766762"/>
        </p:xfrm>
        <a:graphic>
          <a:graphicData uri="http://schemas.openxmlformats.org/presentationml/2006/ole">
            <mc:AlternateContent xmlns:mc="http://schemas.openxmlformats.org/markup-compatibility/2006">
              <mc:Choice xmlns:v="urn:schemas-microsoft-com:vml" Requires="v">
                <p:oleObj spid="_x0000_s5123" name="Image" r:id="rId11" imgW="2590800" imgH="2044700" progId="Photoshop.Image.7">
                  <p:embed/>
                </p:oleObj>
              </mc:Choice>
              <mc:Fallback>
                <p:oleObj name="Image" r:id="rId11" imgW="2590800" imgH="2044700" progId="Photoshop.Image.7">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6084888"/>
                        <a:ext cx="971550" cy="766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333399"/>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3" name="Rectangle 13"/>
          <p:cNvSpPr>
            <a:spLocks noGrp="1" noChangeArrowheads="1"/>
          </p:cNvSpPr>
          <p:nvPr>
            <p:ph type="title"/>
          </p:nvPr>
        </p:nvSpPr>
        <p:spPr bwMode="auto">
          <a:xfrm>
            <a:off x="323850" y="259432"/>
            <a:ext cx="7488238" cy="64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dirty="0"/>
              <a:t>单击此处编辑母版文本样式</a:t>
            </a:r>
          </a:p>
        </p:txBody>
      </p:sp>
      <p:pic>
        <p:nvPicPr>
          <p:cNvPr id="1034" name="Picture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135616" y="44450"/>
            <a:ext cx="1008384" cy="9362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Lst>
  <p:hf hdr="0" dt="0"/>
  <p:txStyles>
    <p:titleStyle>
      <a:lvl1pPr algn="l" rtl="0" eaLnBrk="1" fontAlgn="base" hangingPunct="1">
        <a:spcBef>
          <a:spcPct val="0"/>
        </a:spcBef>
        <a:spcAft>
          <a:spcPct val="0"/>
        </a:spcAft>
        <a:defRPr kumimoji="1" lang="zh-CN" altLang="en-US" sz="4000" b="1" baseline="0" dirty="0" smtClean="0">
          <a:solidFill>
            <a:srgbClr val="C00000"/>
          </a:solidFill>
          <a:latin typeface="Arial" panose="020B0604020202020204" pitchFamily="34" charset="0"/>
          <a:ea typeface="宋体" panose="02010600030101010101" pitchFamily="2" charset="-122"/>
          <a:cs typeface="+mj-cs"/>
        </a:defRPr>
      </a:lvl1pPr>
      <a:lvl2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2pPr>
      <a:lvl3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3pPr>
      <a:lvl4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4pPr>
      <a:lvl5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5pPr>
      <a:lvl6pPr marL="4572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6pPr>
      <a:lvl7pPr marL="9144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7pPr>
      <a:lvl8pPr marL="13716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8pPr>
      <a:lvl9pPr marL="18288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9pPr>
    </p:titleStyle>
    <p:bodyStyle>
      <a:lvl1pPr marL="360045" indent="-360045" algn="l" rtl="0" eaLnBrk="1" fontAlgn="base" hangingPunct="1">
        <a:lnSpc>
          <a:spcPts val="4200"/>
        </a:lnSpc>
        <a:spcBef>
          <a:spcPts val="0"/>
        </a:spcBef>
        <a:spcAft>
          <a:spcPts val="600"/>
        </a:spcAft>
        <a:buFont typeface="Wingdings" panose="05000000000000000000" pitchFamily="2" charset="2"/>
        <a:buBlip>
          <a:blip r:embed="rId14"/>
        </a:buBlip>
        <a:defRPr kumimoji="1" sz="3200" baseline="0">
          <a:solidFill>
            <a:srgbClr val="000000"/>
          </a:solidFill>
          <a:latin typeface="Arial" panose="020B0604020202020204" pitchFamily="34" charset="0"/>
          <a:ea typeface="宋体" panose="02010600030101010101" pitchFamily="2" charset="-122"/>
          <a:cs typeface="+mn-cs"/>
        </a:defRPr>
      </a:lvl1pPr>
      <a:lvl2pPr marL="575945" marR="0" indent="-360045" algn="l" defTabSz="914400" rtl="0" eaLnBrk="1" fontAlgn="base" latinLnBrk="0" hangingPunct="1">
        <a:lnSpc>
          <a:spcPts val="4200"/>
        </a:lnSpc>
        <a:spcBef>
          <a:spcPts val="0"/>
        </a:spcBef>
        <a:spcAft>
          <a:spcPts val="600"/>
        </a:spcAft>
        <a:buClrTx/>
        <a:buSzTx/>
        <a:buFont typeface="Wingdings" panose="05000000000000000000" pitchFamily="2" charset="2"/>
        <a:buChar char="Ø"/>
        <a:defRPr kumimoji="1" sz="3200" baseline="0">
          <a:solidFill>
            <a:schemeClr val="tx1"/>
          </a:solidFill>
          <a:latin typeface="Arial" panose="020B0604020202020204" pitchFamily="34" charset="0"/>
          <a:ea typeface="楷体_GB2312" pitchFamily="49" charset="-122"/>
        </a:defRPr>
      </a:lvl2pPr>
      <a:lvl3pPr marL="864235" indent="-360045" algn="l" rtl="0" eaLnBrk="1" fontAlgn="base" hangingPunct="1">
        <a:spcBef>
          <a:spcPts val="0"/>
        </a:spcBef>
        <a:spcAft>
          <a:spcPts val="600"/>
        </a:spcAft>
        <a:buFont typeface="Wingdings" panose="05000000000000000000" pitchFamily="2" charset="2"/>
        <a:buChar char="u"/>
        <a:defRPr kumimoji="1" sz="2800">
          <a:solidFill>
            <a:schemeClr val="tx1"/>
          </a:solidFill>
          <a:latin typeface="+mn-lt"/>
          <a:ea typeface="+mn-ea"/>
        </a:defRPr>
      </a:lvl3pPr>
      <a:lvl4pPr marL="1600200" indent="-228600" algn="l" rtl="0" eaLnBrk="1" fontAlgn="base" hangingPunct="1">
        <a:spcBef>
          <a:spcPct val="20000"/>
        </a:spcBef>
        <a:spcAft>
          <a:spcPct val="0"/>
        </a:spcAft>
        <a:buChar char="–"/>
        <a:defRPr kumimoji="1" sz="2000">
          <a:solidFill>
            <a:srgbClr val="152EAB"/>
          </a:solidFill>
          <a:latin typeface="+mn-lt"/>
          <a:ea typeface="+mn-ea"/>
        </a:defRPr>
      </a:lvl4pPr>
      <a:lvl5pPr marL="2057400" indent="-228600" algn="l" rtl="0" eaLnBrk="1" fontAlgn="base" hangingPunct="1">
        <a:spcBef>
          <a:spcPct val="20000"/>
        </a:spcBef>
        <a:spcAft>
          <a:spcPct val="0"/>
        </a:spcAft>
        <a:defRPr kumimoji="1" sz="2000">
          <a:solidFill>
            <a:srgbClr val="152EAB"/>
          </a:solidFill>
          <a:latin typeface="+mn-lt"/>
          <a:ea typeface="+mn-ea"/>
        </a:defRPr>
      </a:lvl5pPr>
      <a:lvl6pPr marL="2514600" indent="-228600" algn="l" rtl="0" eaLnBrk="1" fontAlgn="base" hangingPunct="1">
        <a:spcBef>
          <a:spcPct val="20000"/>
        </a:spcBef>
        <a:spcAft>
          <a:spcPct val="0"/>
        </a:spcAft>
        <a:defRPr kumimoji="1" sz="2000">
          <a:solidFill>
            <a:srgbClr val="152EAB"/>
          </a:solidFill>
          <a:latin typeface="+mn-lt"/>
          <a:ea typeface="+mn-ea"/>
        </a:defRPr>
      </a:lvl6pPr>
      <a:lvl7pPr marL="2971800" indent="-228600" algn="l" rtl="0" eaLnBrk="1" fontAlgn="base" hangingPunct="1">
        <a:spcBef>
          <a:spcPct val="20000"/>
        </a:spcBef>
        <a:spcAft>
          <a:spcPct val="0"/>
        </a:spcAft>
        <a:defRPr kumimoji="1" sz="2000">
          <a:solidFill>
            <a:srgbClr val="152EAB"/>
          </a:solidFill>
          <a:latin typeface="+mn-lt"/>
          <a:ea typeface="+mn-ea"/>
        </a:defRPr>
      </a:lvl7pPr>
      <a:lvl8pPr marL="3429000" indent="-228600" algn="l" rtl="0" eaLnBrk="1" fontAlgn="base" hangingPunct="1">
        <a:spcBef>
          <a:spcPct val="20000"/>
        </a:spcBef>
        <a:spcAft>
          <a:spcPct val="0"/>
        </a:spcAft>
        <a:defRPr kumimoji="1" sz="2000">
          <a:solidFill>
            <a:srgbClr val="152EAB"/>
          </a:solidFill>
          <a:latin typeface="+mn-lt"/>
          <a:ea typeface="+mn-ea"/>
        </a:defRPr>
      </a:lvl8pPr>
      <a:lvl9pPr marL="3886200" indent="-228600" algn="l" rtl="0" eaLnBrk="1" fontAlgn="base" hangingPunct="1">
        <a:spcBef>
          <a:spcPct val="20000"/>
        </a:spcBef>
        <a:spcAft>
          <a:spcPct val="0"/>
        </a:spcAft>
        <a:defRPr kumimoji="1" sz="2000">
          <a:solidFill>
            <a:srgbClr val="152EAB"/>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23850" y="980728"/>
            <a:ext cx="8496300"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dirty="0"/>
              <a:t>单击此处编辑母版文本样式</a:t>
            </a:r>
            <a:endParaRPr lang="en-US" altLang="zh-CN" dirty="0"/>
          </a:p>
          <a:p>
            <a:pPr lvl="0"/>
            <a:r>
              <a:rPr lang="zh-CN" altLang="en-US" dirty="0"/>
              <a:t>单击此处编辑母版文本样式</a:t>
            </a:r>
          </a:p>
          <a:p>
            <a:pPr lvl="1"/>
            <a:r>
              <a:rPr lang="zh-CN" altLang="en-US" dirty="0"/>
              <a:t>第二级</a:t>
            </a:r>
            <a:endParaRPr lang="en-US" altLang="zh-CN" dirty="0"/>
          </a:p>
          <a:p>
            <a:pPr marL="575945" marR="0" lvl="1" indent="-360045" algn="l" defTabSz="914400" rtl="0" eaLnBrk="1" fontAlgn="base" latinLnBrk="0" hangingPunct="1">
              <a:lnSpc>
                <a:spcPct val="100000"/>
              </a:lnSpc>
              <a:spcBef>
                <a:spcPts val="0"/>
              </a:spcBef>
              <a:spcAft>
                <a:spcPts val="600"/>
              </a:spcAft>
              <a:buClrTx/>
              <a:buSzTx/>
              <a:buFont typeface="Wingdings" panose="05000000000000000000" pitchFamily="2" charset="2"/>
              <a:buChar char="Ø"/>
              <a:defRPr/>
            </a:pPr>
            <a:r>
              <a:rPr lang="zh-CN" altLang="en-US" dirty="0"/>
              <a:t>单击此处编辑母版文本样式</a:t>
            </a:r>
          </a:p>
          <a:p>
            <a:pPr lvl="1"/>
            <a:r>
              <a:rPr lang="zh-CN" altLang="en-US" dirty="0"/>
              <a:t>第二级</a:t>
            </a:r>
          </a:p>
        </p:txBody>
      </p:sp>
      <p:sp>
        <p:nvSpPr>
          <p:cNvPr id="1029" name="Rectangle 5"/>
          <p:cNvSpPr>
            <a:spLocks noGrp="1" noChangeArrowheads="1"/>
          </p:cNvSpPr>
          <p:nvPr>
            <p:ph type="ftr" sz="quarter" idx="3"/>
          </p:nvPr>
        </p:nvSpPr>
        <p:spPr bwMode="auto">
          <a:xfrm>
            <a:off x="3124200" y="6381006"/>
            <a:ext cx="2895600"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800" smtClean="0">
                <a:latin typeface="Verdana" panose="020B0604030504040204" pitchFamily="34" charset="0"/>
              </a:defRPr>
            </a:lvl1pPr>
          </a:lstStyle>
          <a:p>
            <a:pPr>
              <a:defRPr/>
            </a:pPr>
            <a:r>
              <a:rPr lang="en-US" altLang="zh-CN"/>
              <a:t>@ Zhihai Wang, 2025</a:t>
            </a:r>
            <a:endParaRPr lang="en-US" altLang="zh-CN" dirty="0"/>
          </a:p>
        </p:txBody>
      </p:sp>
      <p:sp>
        <p:nvSpPr>
          <p:cNvPr id="1030" name="Rectangle 6"/>
          <p:cNvSpPr>
            <a:spLocks noGrp="1" noChangeArrowheads="1"/>
          </p:cNvSpPr>
          <p:nvPr>
            <p:ph type="sldNum" sz="quarter" idx="4"/>
          </p:nvPr>
        </p:nvSpPr>
        <p:spPr bwMode="auto">
          <a:xfrm>
            <a:off x="7417122" y="6381751"/>
            <a:ext cx="1403350" cy="359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2000"/>
            </a:lvl1pPr>
          </a:lstStyle>
          <a:p>
            <a:pPr>
              <a:defRPr/>
            </a:pPr>
            <a:fld id="{2C2D39BD-2FBC-415D-AE3F-113858EA1DB1}" type="slidenum">
              <a:rPr lang="en-US" altLang="zh-CN"/>
              <a:t>‹#›</a:t>
            </a:fld>
            <a:endParaRPr lang="en-US" altLang="zh-CN"/>
          </a:p>
        </p:txBody>
      </p:sp>
      <p:graphicFrame>
        <p:nvGraphicFramePr>
          <p:cNvPr id="2" name="Object 8"/>
          <p:cNvGraphicFramePr>
            <a:graphicFrameLocks noChangeAspect="1"/>
          </p:cNvGraphicFramePr>
          <p:nvPr/>
        </p:nvGraphicFramePr>
        <p:xfrm>
          <a:off x="0" y="6084888"/>
          <a:ext cx="971550" cy="766762"/>
        </p:xfrm>
        <a:graphic>
          <a:graphicData uri="http://schemas.openxmlformats.org/presentationml/2006/ole">
            <mc:AlternateContent xmlns:mc="http://schemas.openxmlformats.org/markup-compatibility/2006">
              <mc:Choice xmlns:v="urn:schemas-microsoft-com:vml" Requires="v">
                <p:oleObj spid="_x0000_s7171" name="Image" r:id="rId11" imgW="2590800" imgH="2044700" progId="Photoshop.Image.7">
                  <p:embed/>
                </p:oleObj>
              </mc:Choice>
              <mc:Fallback>
                <p:oleObj name="Image" r:id="rId11" imgW="2590800" imgH="2044700" progId="Photoshop.Image.7">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6084888"/>
                        <a:ext cx="971550" cy="766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333399"/>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3" name="Rectangle 13"/>
          <p:cNvSpPr>
            <a:spLocks noGrp="1" noChangeArrowheads="1"/>
          </p:cNvSpPr>
          <p:nvPr>
            <p:ph type="title"/>
          </p:nvPr>
        </p:nvSpPr>
        <p:spPr bwMode="auto">
          <a:xfrm>
            <a:off x="323850" y="259432"/>
            <a:ext cx="7488238" cy="64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dirty="0"/>
              <a:t>单击此处编辑母版文本样式</a:t>
            </a:r>
          </a:p>
        </p:txBody>
      </p:sp>
      <p:pic>
        <p:nvPicPr>
          <p:cNvPr id="1034" name="Picture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135616" y="44450"/>
            <a:ext cx="1008384" cy="9362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Lst>
  <p:hf hdr="0" dt="0"/>
  <p:txStyles>
    <p:titleStyle>
      <a:lvl1pPr algn="l" rtl="0" eaLnBrk="1" fontAlgn="base" hangingPunct="1">
        <a:spcBef>
          <a:spcPct val="0"/>
        </a:spcBef>
        <a:spcAft>
          <a:spcPct val="0"/>
        </a:spcAft>
        <a:defRPr kumimoji="1" lang="zh-CN" altLang="en-US" sz="4000" b="1" baseline="0" dirty="0" smtClean="0">
          <a:solidFill>
            <a:srgbClr val="C00000"/>
          </a:solidFill>
          <a:latin typeface="Arial" panose="020B0604020202020204" pitchFamily="34" charset="0"/>
          <a:ea typeface="宋体" panose="02010600030101010101" pitchFamily="2" charset="-122"/>
          <a:cs typeface="+mj-cs"/>
        </a:defRPr>
      </a:lvl1pPr>
      <a:lvl2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2pPr>
      <a:lvl3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3pPr>
      <a:lvl4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4pPr>
      <a:lvl5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5pPr>
      <a:lvl6pPr marL="4572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6pPr>
      <a:lvl7pPr marL="9144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7pPr>
      <a:lvl8pPr marL="13716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8pPr>
      <a:lvl9pPr marL="18288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9pPr>
    </p:titleStyle>
    <p:bodyStyle>
      <a:lvl1pPr marL="360045" indent="-360045" algn="l" rtl="0" eaLnBrk="1" fontAlgn="base" hangingPunct="1">
        <a:lnSpc>
          <a:spcPts val="4200"/>
        </a:lnSpc>
        <a:spcBef>
          <a:spcPts val="0"/>
        </a:spcBef>
        <a:spcAft>
          <a:spcPts val="600"/>
        </a:spcAft>
        <a:buFont typeface="Wingdings" panose="05000000000000000000" pitchFamily="2" charset="2"/>
        <a:buBlip>
          <a:blip r:embed="rId14"/>
        </a:buBlip>
        <a:defRPr kumimoji="1" sz="3200" baseline="0">
          <a:solidFill>
            <a:srgbClr val="000000"/>
          </a:solidFill>
          <a:latin typeface="Arial" panose="020B0604020202020204" pitchFamily="34" charset="0"/>
          <a:ea typeface="宋体" panose="02010600030101010101" pitchFamily="2" charset="-122"/>
          <a:cs typeface="+mn-cs"/>
        </a:defRPr>
      </a:lvl1pPr>
      <a:lvl2pPr marL="575945" marR="0" indent="-360045" algn="l" defTabSz="914400" rtl="0" eaLnBrk="1" fontAlgn="base" latinLnBrk="0" hangingPunct="1">
        <a:lnSpc>
          <a:spcPts val="4200"/>
        </a:lnSpc>
        <a:spcBef>
          <a:spcPts val="0"/>
        </a:spcBef>
        <a:spcAft>
          <a:spcPts val="600"/>
        </a:spcAft>
        <a:buClrTx/>
        <a:buSzTx/>
        <a:buFont typeface="Wingdings" panose="05000000000000000000" pitchFamily="2" charset="2"/>
        <a:buChar char="Ø"/>
        <a:defRPr kumimoji="1" sz="3200" baseline="0">
          <a:solidFill>
            <a:schemeClr val="tx1"/>
          </a:solidFill>
          <a:latin typeface="Arial" panose="020B0604020202020204" pitchFamily="34" charset="0"/>
          <a:ea typeface="楷体_GB2312" pitchFamily="49" charset="-122"/>
        </a:defRPr>
      </a:lvl2pPr>
      <a:lvl3pPr marL="864235" indent="-360045" algn="l" rtl="0" eaLnBrk="1" fontAlgn="base" hangingPunct="1">
        <a:spcBef>
          <a:spcPts val="0"/>
        </a:spcBef>
        <a:spcAft>
          <a:spcPts val="600"/>
        </a:spcAft>
        <a:buFont typeface="Wingdings" panose="05000000000000000000" pitchFamily="2" charset="2"/>
        <a:buChar char="u"/>
        <a:defRPr kumimoji="1" sz="2800">
          <a:solidFill>
            <a:schemeClr val="tx1"/>
          </a:solidFill>
          <a:latin typeface="+mn-lt"/>
          <a:ea typeface="+mn-ea"/>
        </a:defRPr>
      </a:lvl3pPr>
      <a:lvl4pPr marL="1600200" indent="-228600" algn="l" rtl="0" eaLnBrk="1" fontAlgn="base" hangingPunct="1">
        <a:spcBef>
          <a:spcPct val="20000"/>
        </a:spcBef>
        <a:spcAft>
          <a:spcPct val="0"/>
        </a:spcAft>
        <a:buChar char="–"/>
        <a:defRPr kumimoji="1" sz="2000">
          <a:solidFill>
            <a:srgbClr val="152EAB"/>
          </a:solidFill>
          <a:latin typeface="+mn-lt"/>
          <a:ea typeface="+mn-ea"/>
        </a:defRPr>
      </a:lvl4pPr>
      <a:lvl5pPr marL="2057400" indent="-228600" algn="l" rtl="0" eaLnBrk="1" fontAlgn="base" hangingPunct="1">
        <a:spcBef>
          <a:spcPct val="20000"/>
        </a:spcBef>
        <a:spcAft>
          <a:spcPct val="0"/>
        </a:spcAft>
        <a:defRPr kumimoji="1" sz="2000">
          <a:solidFill>
            <a:srgbClr val="152EAB"/>
          </a:solidFill>
          <a:latin typeface="+mn-lt"/>
          <a:ea typeface="+mn-ea"/>
        </a:defRPr>
      </a:lvl5pPr>
      <a:lvl6pPr marL="2514600" indent="-228600" algn="l" rtl="0" eaLnBrk="1" fontAlgn="base" hangingPunct="1">
        <a:spcBef>
          <a:spcPct val="20000"/>
        </a:spcBef>
        <a:spcAft>
          <a:spcPct val="0"/>
        </a:spcAft>
        <a:defRPr kumimoji="1" sz="2000">
          <a:solidFill>
            <a:srgbClr val="152EAB"/>
          </a:solidFill>
          <a:latin typeface="+mn-lt"/>
          <a:ea typeface="+mn-ea"/>
        </a:defRPr>
      </a:lvl6pPr>
      <a:lvl7pPr marL="2971800" indent="-228600" algn="l" rtl="0" eaLnBrk="1" fontAlgn="base" hangingPunct="1">
        <a:spcBef>
          <a:spcPct val="20000"/>
        </a:spcBef>
        <a:spcAft>
          <a:spcPct val="0"/>
        </a:spcAft>
        <a:defRPr kumimoji="1" sz="2000">
          <a:solidFill>
            <a:srgbClr val="152EAB"/>
          </a:solidFill>
          <a:latin typeface="+mn-lt"/>
          <a:ea typeface="+mn-ea"/>
        </a:defRPr>
      </a:lvl7pPr>
      <a:lvl8pPr marL="3429000" indent="-228600" algn="l" rtl="0" eaLnBrk="1" fontAlgn="base" hangingPunct="1">
        <a:spcBef>
          <a:spcPct val="20000"/>
        </a:spcBef>
        <a:spcAft>
          <a:spcPct val="0"/>
        </a:spcAft>
        <a:defRPr kumimoji="1" sz="2000">
          <a:solidFill>
            <a:srgbClr val="152EAB"/>
          </a:solidFill>
          <a:latin typeface="+mn-lt"/>
          <a:ea typeface="+mn-ea"/>
        </a:defRPr>
      </a:lvl8pPr>
      <a:lvl9pPr marL="3886200" indent="-228600" algn="l" rtl="0" eaLnBrk="1" fontAlgn="base" hangingPunct="1">
        <a:spcBef>
          <a:spcPct val="20000"/>
        </a:spcBef>
        <a:spcAft>
          <a:spcPct val="0"/>
        </a:spcAft>
        <a:defRPr kumimoji="1" sz="2000">
          <a:solidFill>
            <a:srgbClr val="152EAB"/>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23850" y="980728"/>
            <a:ext cx="8496300"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dirty="0"/>
              <a:t>单击此处编辑母版文本样式</a:t>
            </a:r>
            <a:endParaRPr lang="en-US" altLang="zh-CN" dirty="0"/>
          </a:p>
          <a:p>
            <a:pPr lvl="0"/>
            <a:r>
              <a:rPr lang="zh-CN" altLang="en-US" dirty="0"/>
              <a:t>单击此处编辑母版文本样式</a:t>
            </a:r>
          </a:p>
          <a:p>
            <a:pPr lvl="1"/>
            <a:r>
              <a:rPr lang="zh-CN" altLang="en-US" dirty="0"/>
              <a:t>第二级</a:t>
            </a:r>
            <a:endParaRPr lang="en-US" altLang="zh-CN" dirty="0"/>
          </a:p>
          <a:p>
            <a:pPr marL="575945" marR="0" lvl="1" indent="-360045" algn="l" defTabSz="914400" rtl="0" eaLnBrk="1" fontAlgn="base" latinLnBrk="0" hangingPunct="1">
              <a:lnSpc>
                <a:spcPct val="100000"/>
              </a:lnSpc>
              <a:spcBef>
                <a:spcPts val="0"/>
              </a:spcBef>
              <a:spcAft>
                <a:spcPts val="600"/>
              </a:spcAft>
              <a:buClrTx/>
              <a:buSzTx/>
              <a:buFont typeface="Wingdings" panose="05000000000000000000" pitchFamily="2" charset="2"/>
              <a:buChar char="Ø"/>
              <a:defRPr/>
            </a:pPr>
            <a:r>
              <a:rPr lang="zh-CN" altLang="en-US" dirty="0"/>
              <a:t>单击此处编辑母版文本样式</a:t>
            </a:r>
          </a:p>
          <a:p>
            <a:pPr lvl="1"/>
            <a:r>
              <a:rPr lang="zh-CN" altLang="en-US" dirty="0"/>
              <a:t>第二级</a:t>
            </a:r>
          </a:p>
        </p:txBody>
      </p:sp>
      <p:sp>
        <p:nvSpPr>
          <p:cNvPr id="1029" name="Rectangle 5"/>
          <p:cNvSpPr>
            <a:spLocks noGrp="1" noChangeArrowheads="1"/>
          </p:cNvSpPr>
          <p:nvPr>
            <p:ph type="ftr" sz="quarter" idx="3"/>
          </p:nvPr>
        </p:nvSpPr>
        <p:spPr bwMode="auto">
          <a:xfrm>
            <a:off x="3124200" y="6381006"/>
            <a:ext cx="2895600"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800" smtClean="0">
                <a:latin typeface="Verdana" panose="020B0604030504040204" pitchFamily="34" charset="0"/>
              </a:defRPr>
            </a:lvl1pPr>
          </a:lstStyle>
          <a:p>
            <a:pPr>
              <a:defRPr/>
            </a:pPr>
            <a:r>
              <a:rPr lang="en-US" altLang="zh-CN"/>
              <a:t>@ Zhihai Wang, 2025</a:t>
            </a:r>
            <a:endParaRPr lang="en-US" altLang="zh-CN" dirty="0"/>
          </a:p>
        </p:txBody>
      </p:sp>
      <p:sp>
        <p:nvSpPr>
          <p:cNvPr id="1030" name="Rectangle 6"/>
          <p:cNvSpPr>
            <a:spLocks noGrp="1" noChangeArrowheads="1"/>
          </p:cNvSpPr>
          <p:nvPr>
            <p:ph type="sldNum" sz="quarter" idx="4"/>
          </p:nvPr>
        </p:nvSpPr>
        <p:spPr bwMode="auto">
          <a:xfrm>
            <a:off x="7417122" y="6381751"/>
            <a:ext cx="1403350" cy="359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2000"/>
            </a:lvl1pPr>
          </a:lstStyle>
          <a:p>
            <a:pPr>
              <a:defRPr/>
            </a:pPr>
            <a:fld id="{2C2D39BD-2FBC-415D-AE3F-113858EA1DB1}" type="slidenum">
              <a:rPr lang="en-US" altLang="zh-CN"/>
              <a:t>‹#›</a:t>
            </a:fld>
            <a:endParaRPr lang="en-US" altLang="zh-CN"/>
          </a:p>
        </p:txBody>
      </p:sp>
      <p:graphicFrame>
        <p:nvGraphicFramePr>
          <p:cNvPr id="2" name="Object 8"/>
          <p:cNvGraphicFramePr>
            <a:graphicFrameLocks noChangeAspect="1"/>
          </p:cNvGraphicFramePr>
          <p:nvPr/>
        </p:nvGraphicFramePr>
        <p:xfrm>
          <a:off x="0" y="6084888"/>
          <a:ext cx="971550" cy="766762"/>
        </p:xfrm>
        <a:graphic>
          <a:graphicData uri="http://schemas.openxmlformats.org/presentationml/2006/ole">
            <mc:AlternateContent xmlns:mc="http://schemas.openxmlformats.org/markup-compatibility/2006">
              <mc:Choice xmlns:v="urn:schemas-microsoft-com:vml" Requires="v">
                <p:oleObj spid="_x0000_s9219" name="Image" r:id="rId11" imgW="2590800" imgH="2044700" progId="Photoshop.Image.7">
                  <p:embed/>
                </p:oleObj>
              </mc:Choice>
              <mc:Fallback>
                <p:oleObj name="Image" r:id="rId11" imgW="2590800" imgH="2044700" progId="Photoshop.Image.7">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6084888"/>
                        <a:ext cx="971550" cy="766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333399"/>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3" name="Rectangle 13"/>
          <p:cNvSpPr>
            <a:spLocks noGrp="1" noChangeArrowheads="1"/>
          </p:cNvSpPr>
          <p:nvPr>
            <p:ph type="title"/>
          </p:nvPr>
        </p:nvSpPr>
        <p:spPr bwMode="auto">
          <a:xfrm>
            <a:off x="323850" y="259432"/>
            <a:ext cx="7488238" cy="64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dirty="0"/>
              <a:t>单击此处编辑母版文本样式</a:t>
            </a:r>
          </a:p>
        </p:txBody>
      </p:sp>
      <p:pic>
        <p:nvPicPr>
          <p:cNvPr id="1034" name="Picture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135616" y="44450"/>
            <a:ext cx="1008384" cy="9362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Lst>
  <p:hf hdr="0" dt="0"/>
  <p:txStyles>
    <p:titleStyle>
      <a:lvl1pPr algn="l" rtl="0" eaLnBrk="1" fontAlgn="base" hangingPunct="1">
        <a:spcBef>
          <a:spcPct val="0"/>
        </a:spcBef>
        <a:spcAft>
          <a:spcPct val="0"/>
        </a:spcAft>
        <a:defRPr kumimoji="1" lang="zh-CN" altLang="en-US" sz="4000" b="1" baseline="0" dirty="0" smtClean="0">
          <a:solidFill>
            <a:srgbClr val="C00000"/>
          </a:solidFill>
          <a:latin typeface="Arial" panose="020B0604020202020204" pitchFamily="34" charset="0"/>
          <a:ea typeface="宋体" panose="02010600030101010101" pitchFamily="2" charset="-122"/>
          <a:cs typeface="+mj-cs"/>
        </a:defRPr>
      </a:lvl1pPr>
      <a:lvl2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2pPr>
      <a:lvl3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3pPr>
      <a:lvl4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4pPr>
      <a:lvl5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5pPr>
      <a:lvl6pPr marL="4572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6pPr>
      <a:lvl7pPr marL="9144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7pPr>
      <a:lvl8pPr marL="13716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8pPr>
      <a:lvl9pPr marL="18288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9pPr>
    </p:titleStyle>
    <p:bodyStyle>
      <a:lvl1pPr marL="360045" indent="-360045" algn="l" rtl="0" eaLnBrk="1" fontAlgn="base" hangingPunct="1">
        <a:lnSpc>
          <a:spcPts val="4200"/>
        </a:lnSpc>
        <a:spcBef>
          <a:spcPts val="0"/>
        </a:spcBef>
        <a:spcAft>
          <a:spcPts val="600"/>
        </a:spcAft>
        <a:buFont typeface="Wingdings" panose="05000000000000000000" pitchFamily="2" charset="2"/>
        <a:buBlip>
          <a:blip r:embed="rId14"/>
        </a:buBlip>
        <a:defRPr kumimoji="1" sz="3200" baseline="0">
          <a:solidFill>
            <a:srgbClr val="000000"/>
          </a:solidFill>
          <a:latin typeface="Arial" panose="020B0604020202020204" pitchFamily="34" charset="0"/>
          <a:ea typeface="宋体" panose="02010600030101010101" pitchFamily="2" charset="-122"/>
          <a:cs typeface="+mn-cs"/>
        </a:defRPr>
      </a:lvl1pPr>
      <a:lvl2pPr marL="575945" marR="0" indent="-360045" algn="l" defTabSz="914400" rtl="0" eaLnBrk="1" fontAlgn="base" latinLnBrk="0" hangingPunct="1">
        <a:lnSpc>
          <a:spcPts val="4200"/>
        </a:lnSpc>
        <a:spcBef>
          <a:spcPts val="0"/>
        </a:spcBef>
        <a:spcAft>
          <a:spcPts val="600"/>
        </a:spcAft>
        <a:buClrTx/>
        <a:buSzTx/>
        <a:buFont typeface="Wingdings" panose="05000000000000000000" pitchFamily="2" charset="2"/>
        <a:buChar char="Ø"/>
        <a:defRPr kumimoji="1" sz="3200" baseline="0">
          <a:solidFill>
            <a:schemeClr val="tx1"/>
          </a:solidFill>
          <a:latin typeface="Arial" panose="020B0604020202020204" pitchFamily="34" charset="0"/>
          <a:ea typeface="楷体_GB2312" pitchFamily="49" charset="-122"/>
        </a:defRPr>
      </a:lvl2pPr>
      <a:lvl3pPr marL="864235" indent="-360045" algn="l" rtl="0" eaLnBrk="1" fontAlgn="base" hangingPunct="1">
        <a:spcBef>
          <a:spcPts val="0"/>
        </a:spcBef>
        <a:spcAft>
          <a:spcPts val="600"/>
        </a:spcAft>
        <a:buFont typeface="Wingdings" panose="05000000000000000000" pitchFamily="2" charset="2"/>
        <a:buChar char="u"/>
        <a:defRPr kumimoji="1" sz="2800">
          <a:solidFill>
            <a:schemeClr val="tx1"/>
          </a:solidFill>
          <a:latin typeface="+mn-lt"/>
          <a:ea typeface="+mn-ea"/>
        </a:defRPr>
      </a:lvl3pPr>
      <a:lvl4pPr marL="1600200" indent="-228600" algn="l" rtl="0" eaLnBrk="1" fontAlgn="base" hangingPunct="1">
        <a:spcBef>
          <a:spcPct val="20000"/>
        </a:spcBef>
        <a:spcAft>
          <a:spcPct val="0"/>
        </a:spcAft>
        <a:buChar char="–"/>
        <a:defRPr kumimoji="1" sz="2000">
          <a:solidFill>
            <a:srgbClr val="152EAB"/>
          </a:solidFill>
          <a:latin typeface="+mn-lt"/>
          <a:ea typeface="+mn-ea"/>
        </a:defRPr>
      </a:lvl4pPr>
      <a:lvl5pPr marL="2057400" indent="-228600" algn="l" rtl="0" eaLnBrk="1" fontAlgn="base" hangingPunct="1">
        <a:spcBef>
          <a:spcPct val="20000"/>
        </a:spcBef>
        <a:spcAft>
          <a:spcPct val="0"/>
        </a:spcAft>
        <a:defRPr kumimoji="1" sz="2000">
          <a:solidFill>
            <a:srgbClr val="152EAB"/>
          </a:solidFill>
          <a:latin typeface="+mn-lt"/>
          <a:ea typeface="+mn-ea"/>
        </a:defRPr>
      </a:lvl5pPr>
      <a:lvl6pPr marL="2514600" indent="-228600" algn="l" rtl="0" eaLnBrk="1" fontAlgn="base" hangingPunct="1">
        <a:spcBef>
          <a:spcPct val="20000"/>
        </a:spcBef>
        <a:spcAft>
          <a:spcPct val="0"/>
        </a:spcAft>
        <a:defRPr kumimoji="1" sz="2000">
          <a:solidFill>
            <a:srgbClr val="152EAB"/>
          </a:solidFill>
          <a:latin typeface="+mn-lt"/>
          <a:ea typeface="+mn-ea"/>
        </a:defRPr>
      </a:lvl6pPr>
      <a:lvl7pPr marL="2971800" indent="-228600" algn="l" rtl="0" eaLnBrk="1" fontAlgn="base" hangingPunct="1">
        <a:spcBef>
          <a:spcPct val="20000"/>
        </a:spcBef>
        <a:spcAft>
          <a:spcPct val="0"/>
        </a:spcAft>
        <a:defRPr kumimoji="1" sz="2000">
          <a:solidFill>
            <a:srgbClr val="152EAB"/>
          </a:solidFill>
          <a:latin typeface="+mn-lt"/>
          <a:ea typeface="+mn-ea"/>
        </a:defRPr>
      </a:lvl7pPr>
      <a:lvl8pPr marL="3429000" indent="-228600" algn="l" rtl="0" eaLnBrk="1" fontAlgn="base" hangingPunct="1">
        <a:spcBef>
          <a:spcPct val="20000"/>
        </a:spcBef>
        <a:spcAft>
          <a:spcPct val="0"/>
        </a:spcAft>
        <a:defRPr kumimoji="1" sz="2000">
          <a:solidFill>
            <a:srgbClr val="152EAB"/>
          </a:solidFill>
          <a:latin typeface="+mn-lt"/>
          <a:ea typeface="+mn-ea"/>
        </a:defRPr>
      </a:lvl8pPr>
      <a:lvl9pPr marL="3886200" indent="-228600" algn="l" rtl="0" eaLnBrk="1" fontAlgn="base" hangingPunct="1">
        <a:spcBef>
          <a:spcPct val="20000"/>
        </a:spcBef>
        <a:spcAft>
          <a:spcPct val="0"/>
        </a:spcAft>
        <a:defRPr kumimoji="1" sz="2000">
          <a:solidFill>
            <a:srgbClr val="152EAB"/>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23850" y="980728"/>
            <a:ext cx="8496300"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dirty="0"/>
              <a:t>单击此处编辑母版文本样式</a:t>
            </a:r>
            <a:endParaRPr lang="en-US" altLang="zh-CN" dirty="0"/>
          </a:p>
          <a:p>
            <a:pPr lvl="0"/>
            <a:r>
              <a:rPr lang="zh-CN" altLang="en-US" dirty="0"/>
              <a:t>单击此处编辑母版文本样式</a:t>
            </a:r>
          </a:p>
          <a:p>
            <a:pPr lvl="1"/>
            <a:r>
              <a:rPr lang="zh-CN" altLang="en-US" dirty="0"/>
              <a:t>第二级</a:t>
            </a:r>
            <a:endParaRPr lang="en-US" altLang="zh-CN" dirty="0"/>
          </a:p>
          <a:p>
            <a:pPr marL="575945" marR="0" lvl="1" indent="-360045" algn="l" defTabSz="914400" rtl="0" eaLnBrk="1" fontAlgn="base" latinLnBrk="0" hangingPunct="1">
              <a:lnSpc>
                <a:spcPct val="100000"/>
              </a:lnSpc>
              <a:spcBef>
                <a:spcPts val="0"/>
              </a:spcBef>
              <a:spcAft>
                <a:spcPts val="600"/>
              </a:spcAft>
              <a:buClrTx/>
              <a:buSzTx/>
              <a:buFont typeface="Wingdings" panose="05000000000000000000" pitchFamily="2" charset="2"/>
              <a:buChar char="Ø"/>
              <a:defRPr/>
            </a:pPr>
            <a:r>
              <a:rPr lang="zh-CN" altLang="en-US" dirty="0"/>
              <a:t>单击此处编辑母版文本样式</a:t>
            </a:r>
          </a:p>
          <a:p>
            <a:pPr lvl="1"/>
            <a:r>
              <a:rPr lang="zh-CN" altLang="en-US" dirty="0"/>
              <a:t>第二级</a:t>
            </a:r>
          </a:p>
        </p:txBody>
      </p:sp>
      <p:sp>
        <p:nvSpPr>
          <p:cNvPr id="1029" name="Rectangle 5"/>
          <p:cNvSpPr>
            <a:spLocks noGrp="1" noChangeArrowheads="1"/>
          </p:cNvSpPr>
          <p:nvPr>
            <p:ph type="ftr" sz="quarter" idx="3"/>
          </p:nvPr>
        </p:nvSpPr>
        <p:spPr bwMode="auto">
          <a:xfrm>
            <a:off x="3124200" y="6381006"/>
            <a:ext cx="2895600"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800" smtClean="0">
                <a:latin typeface="Verdana" panose="020B0604030504040204" pitchFamily="34" charset="0"/>
              </a:defRPr>
            </a:lvl1pPr>
          </a:lstStyle>
          <a:p>
            <a:pPr>
              <a:defRPr/>
            </a:pPr>
            <a:r>
              <a:rPr lang="en-US" altLang="zh-CN"/>
              <a:t>@ Zhihai Wang, 2025</a:t>
            </a:r>
            <a:endParaRPr lang="en-US" altLang="zh-CN" dirty="0"/>
          </a:p>
        </p:txBody>
      </p:sp>
      <p:sp>
        <p:nvSpPr>
          <p:cNvPr id="1030" name="Rectangle 6"/>
          <p:cNvSpPr>
            <a:spLocks noGrp="1" noChangeArrowheads="1"/>
          </p:cNvSpPr>
          <p:nvPr>
            <p:ph type="sldNum" sz="quarter" idx="4"/>
          </p:nvPr>
        </p:nvSpPr>
        <p:spPr bwMode="auto">
          <a:xfrm>
            <a:off x="7417122" y="6381751"/>
            <a:ext cx="1403350" cy="359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2000"/>
            </a:lvl1pPr>
          </a:lstStyle>
          <a:p>
            <a:pPr>
              <a:defRPr/>
            </a:pPr>
            <a:fld id="{2C2D39BD-2FBC-415D-AE3F-113858EA1DB1}" type="slidenum">
              <a:rPr lang="en-US" altLang="zh-CN"/>
              <a:t>‹#›</a:t>
            </a:fld>
            <a:endParaRPr lang="en-US" altLang="zh-CN"/>
          </a:p>
        </p:txBody>
      </p:sp>
      <p:graphicFrame>
        <p:nvGraphicFramePr>
          <p:cNvPr id="2" name="Object 8"/>
          <p:cNvGraphicFramePr>
            <a:graphicFrameLocks noChangeAspect="1"/>
          </p:cNvGraphicFramePr>
          <p:nvPr/>
        </p:nvGraphicFramePr>
        <p:xfrm>
          <a:off x="0" y="6084888"/>
          <a:ext cx="971550" cy="766762"/>
        </p:xfrm>
        <a:graphic>
          <a:graphicData uri="http://schemas.openxmlformats.org/presentationml/2006/ole">
            <mc:AlternateContent xmlns:mc="http://schemas.openxmlformats.org/markup-compatibility/2006">
              <mc:Choice xmlns:v="urn:schemas-microsoft-com:vml" Requires="v">
                <p:oleObj spid="_x0000_s11267" name="Image" r:id="rId11" imgW="2590800" imgH="2044700" progId="Photoshop.Image.7">
                  <p:embed/>
                </p:oleObj>
              </mc:Choice>
              <mc:Fallback>
                <p:oleObj name="Image" r:id="rId11" imgW="2590800" imgH="2044700" progId="Photoshop.Image.7">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6084888"/>
                        <a:ext cx="971550" cy="766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333399"/>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3" name="Rectangle 13"/>
          <p:cNvSpPr>
            <a:spLocks noGrp="1" noChangeArrowheads="1"/>
          </p:cNvSpPr>
          <p:nvPr>
            <p:ph type="title"/>
          </p:nvPr>
        </p:nvSpPr>
        <p:spPr bwMode="auto">
          <a:xfrm>
            <a:off x="323850" y="259432"/>
            <a:ext cx="7488238" cy="64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dirty="0"/>
              <a:t>单击此处编辑母版文本样式</a:t>
            </a:r>
          </a:p>
        </p:txBody>
      </p:sp>
      <p:pic>
        <p:nvPicPr>
          <p:cNvPr id="1034" name="Picture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135616" y="44450"/>
            <a:ext cx="1008384" cy="9362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Lst>
  <p:hf hdr="0" dt="0"/>
  <p:txStyles>
    <p:titleStyle>
      <a:lvl1pPr algn="l" rtl="0" eaLnBrk="1" fontAlgn="base" hangingPunct="1">
        <a:spcBef>
          <a:spcPct val="0"/>
        </a:spcBef>
        <a:spcAft>
          <a:spcPct val="0"/>
        </a:spcAft>
        <a:defRPr kumimoji="1" lang="zh-CN" altLang="en-US" sz="4000" b="1" baseline="0" dirty="0" smtClean="0">
          <a:solidFill>
            <a:srgbClr val="C00000"/>
          </a:solidFill>
          <a:latin typeface="Arial" panose="020B0604020202020204" pitchFamily="34" charset="0"/>
          <a:ea typeface="宋体" panose="02010600030101010101" pitchFamily="2" charset="-122"/>
          <a:cs typeface="+mj-cs"/>
        </a:defRPr>
      </a:lvl1pPr>
      <a:lvl2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2pPr>
      <a:lvl3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3pPr>
      <a:lvl4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4pPr>
      <a:lvl5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5pPr>
      <a:lvl6pPr marL="4572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6pPr>
      <a:lvl7pPr marL="9144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7pPr>
      <a:lvl8pPr marL="13716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8pPr>
      <a:lvl9pPr marL="18288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9pPr>
    </p:titleStyle>
    <p:bodyStyle>
      <a:lvl1pPr marL="360045" indent="-360045" algn="l" rtl="0" eaLnBrk="1" fontAlgn="base" hangingPunct="1">
        <a:lnSpc>
          <a:spcPts val="4200"/>
        </a:lnSpc>
        <a:spcBef>
          <a:spcPts val="0"/>
        </a:spcBef>
        <a:spcAft>
          <a:spcPts val="600"/>
        </a:spcAft>
        <a:buFont typeface="Wingdings" panose="05000000000000000000" pitchFamily="2" charset="2"/>
        <a:buBlip>
          <a:blip r:embed="rId14"/>
        </a:buBlip>
        <a:defRPr kumimoji="1" sz="3200" baseline="0">
          <a:solidFill>
            <a:srgbClr val="000000"/>
          </a:solidFill>
          <a:latin typeface="Arial" panose="020B0604020202020204" pitchFamily="34" charset="0"/>
          <a:ea typeface="宋体" panose="02010600030101010101" pitchFamily="2" charset="-122"/>
          <a:cs typeface="+mn-cs"/>
        </a:defRPr>
      </a:lvl1pPr>
      <a:lvl2pPr marL="575945" marR="0" indent="-360045" algn="l" defTabSz="914400" rtl="0" eaLnBrk="1" fontAlgn="base" latinLnBrk="0" hangingPunct="1">
        <a:lnSpc>
          <a:spcPts val="4200"/>
        </a:lnSpc>
        <a:spcBef>
          <a:spcPts val="0"/>
        </a:spcBef>
        <a:spcAft>
          <a:spcPts val="600"/>
        </a:spcAft>
        <a:buClrTx/>
        <a:buSzTx/>
        <a:buFont typeface="Wingdings" panose="05000000000000000000" pitchFamily="2" charset="2"/>
        <a:buChar char="Ø"/>
        <a:defRPr kumimoji="1" sz="3200" baseline="0">
          <a:solidFill>
            <a:schemeClr val="tx1"/>
          </a:solidFill>
          <a:latin typeface="Arial" panose="020B0604020202020204" pitchFamily="34" charset="0"/>
          <a:ea typeface="楷体_GB2312" pitchFamily="49" charset="-122"/>
        </a:defRPr>
      </a:lvl2pPr>
      <a:lvl3pPr marL="864235" indent="-360045" algn="l" rtl="0" eaLnBrk="1" fontAlgn="base" hangingPunct="1">
        <a:spcBef>
          <a:spcPts val="0"/>
        </a:spcBef>
        <a:spcAft>
          <a:spcPts val="600"/>
        </a:spcAft>
        <a:buFont typeface="Wingdings" panose="05000000000000000000" pitchFamily="2" charset="2"/>
        <a:buChar char="u"/>
        <a:defRPr kumimoji="1" sz="2800">
          <a:solidFill>
            <a:schemeClr val="tx1"/>
          </a:solidFill>
          <a:latin typeface="+mn-lt"/>
          <a:ea typeface="+mn-ea"/>
        </a:defRPr>
      </a:lvl3pPr>
      <a:lvl4pPr marL="1600200" indent="-228600" algn="l" rtl="0" eaLnBrk="1" fontAlgn="base" hangingPunct="1">
        <a:spcBef>
          <a:spcPct val="20000"/>
        </a:spcBef>
        <a:spcAft>
          <a:spcPct val="0"/>
        </a:spcAft>
        <a:buChar char="–"/>
        <a:defRPr kumimoji="1" sz="2000">
          <a:solidFill>
            <a:srgbClr val="152EAB"/>
          </a:solidFill>
          <a:latin typeface="+mn-lt"/>
          <a:ea typeface="+mn-ea"/>
        </a:defRPr>
      </a:lvl4pPr>
      <a:lvl5pPr marL="2057400" indent="-228600" algn="l" rtl="0" eaLnBrk="1" fontAlgn="base" hangingPunct="1">
        <a:spcBef>
          <a:spcPct val="20000"/>
        </a:spcBef>
        <a:spcAft>
          <a:spcPct val="0"/>
        </a:spcAft>
        <a:defRPr kumimoji="1" sz="2000">
          <a:solidFill>
            <a:srgbClr val="152EAB"/>
          </a:solidFill>
          <a:latin typeface="+mn-lt"/>
          <a:ea typeface="+mn-ea"/>
        </a:defRPr>
      </a:lvl5pPr>
      <a:lvl6pPr marL="2514600" indent="-228600" algn="l" rtl="0" eaLnBrk="1" fontAlgn="base" hangingPunct="1">
        <a:spcBef>
          <a:spcPct val="20000"/>
        </a:spcBef>
        <a:spcAft>
          <a:spcPct val="0"/>
        </a:spcAft>
        <a:defRPr kumimoji="1" sz="2000">
          <a:solidFill>
            <a:srgbClr val="152EAB"/>
          </a:solidFill>
          <a:latin typeface="+mn-lt"/>
          <a:ea typeface="+mn-ea"/>
        </a:defRPr>
      </a:lvl6pPr>
      <a:lvl7pPr marL="2971800" indent="-228600" algn="l" rtl="0" eaLnBrk="1" fontAlgn="base" hangingPunct="1">
        <a:spcBef>
          <a:spcPct val="20000"/>
        </a:spcBef>
        <a:spcAft>
          <a:spcPct val="0"/>
        </a:spcAft>
        <a:defRPr kumimoji="1" sz="2000">
          <a:solidFill>
            <a:srgbClr val="152EAB"/>
          </a:solidFill>
          <a:latin typeface="+mn-lt"/>
          <a:ea typeface="+mn-ea"/>
        </a:defRPr>
      </a:lvl7pPr>
      <a:lvl8pPr marL="3429000" indent="-228600" algn="l" rtl="0" eaLnBrk="1" fontAlgn="base" hangingPunct="1">
        <a:spcBef>
          <a:spcPct val="20000"/>
        </a:spcBef>
        <a:spcAft>
          <a:spcPct val="0"/>
        </a:spcAft>
        <a:defRPr kumimoji="1" sz="2000">
          <a:solidFill>
            <a:srgbClr val="152EAB"/>
          </a:solidFill>
          <a:latin typeface="+mn-lt"/>
          <a:ea typeface="+mn-ea"/>
        </a:defRPr>
      </a:lvl8pPr>
      <a:lvl9pPr marL="3886200" indent="-228600" algn="l" rtl="0" eaLnBrk="1" fontAlgn="base" hangingPunct="1">
        <a:spcBef>
          <a:spcPct val="20000"/>
        </a:spcBef>
        <a:spcAft>
          <a:spcPct val="0"/>
        </a:spcAft>
        <a:defRPr kumimoji="1" sz="2000">
          <a:solidFill>
            <a:srgbClr val="152EAB"/>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23850" y="980728"/>
            <a:ext cx="8496300"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dirty="0"/>
              <a:t>单击此处编辑母版文本样式</a:t>
            </a:r>
            <a:endParaRPr lang="en-US" altLang="zh-CN" dirty="0"/>
          </a:p>
          <a:p>
            <a:pPr lvl="0"/>
            <a:r>
              <a:rPr lang="zh-CN" altLang="en-US" dirty="0"/>
              <a:t>单击此处编辑母版文本样式</a:t>
            </a:r>
          </a:p>
          <a:p>
            <a:pPr lvl="1"/>
            <a:r>
              <a:rPr lang="zh-CN" altLang="en-US" dirty="0"/>
              <a:t>第二级</a:t>
            </a:r>
            <a:endParaRPr lang="en-US" altLang="zh-CN" dirty="0"/>
          </a:p>
          <a:p>
            <a:pPr marL="575945" marR="0" lvl="1" indent="-360045" algn="l" defTabSz="914400" rtl="0" eaLnBrk="1" fontAlgn="base" latinLnBrk="0" hangingPunct="1">
              <a:lnSpc>
                <a:spcPct val="100000"/>
              </a:lnSpc>
              <a:spcBef>
                <a:spcPts val="0"/>
              </a:spcBef>
              <a:spcAft>
                <a:spcPts val="600"/>
              </a:spcAft>
              <a:buClrTx/>
              <a:buSzTx/>
              <a:buFont typeface="Wingdings" panose="05000000000000000000" pitchFamily="2" charset="2"/>
              <a:buChar char="Ø"/>
              <a:defRPr/>
            </a:pPr>
            <a:r>
              <a:rPr lang="zh-CN" altLang="en-US" dirty="0"/>
              <a:t>单击此处编辑母版文本样式</a:t>
            </a:r>
          </a:p>
          <a:p>
            <a:pPr lvl="1"/>
            <a:r>
              <a:rPr lang="zh-CN" altLang="en-US" dirty="0"/>
              <a:t>第二级</a:t>
            </a:r>
          </a:p>
        </p:txBody>
      </p:sp>
      <p:sp>
        <p:nvSpPr>
          <p:cNvPr id="1029" name="Rectangle 5"/>
          <p:cNvSpPr>
            <a:spLocks noGrp="1" noChangeArrowheads="1"/>
          </p:cNvSpPr>
          <p:nvPr>
            <p:ph type="ftr" sz="quarter" idx="3"/>
          </p:nvPr>
        </p:nvSpPr>
        <p:spPr bwMode="auto">
          <a:xfrm>
            <a:off x="3124200" y="6381006"/>
            <a:ext cx="2895600"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800" smtClean="0">
                <a:latin typeface="Verdana" panose="020B0604030504040204" pitchFamily="34" charset="0"/>
              </a:defRPr>
            </a:lvl1pPr>
          </a:lstStyle>
          <a:p>
            <a:pPr>
              <a:defRPr/>
            </a:pPr>
            <a:r>
              <a:rPr lang="en-US" altLang="zh-CN"/>
              <a:t>@ Zhihai Wang, 2025</a:t>
            </a:r>
            <a:endParaRPr lang="en-US" altLang="zh-CN" dirty="0"/>
          </a:p>
        </p:txBody>
      </p:sp>
      <p:sp>
        <p:nvSpPr>
          <p:cNvPr id="1030" name="Rectangle 6"/>
          <p:cNvSpPr>
            <a:spLocks noGrp="1" noChangeArrowheads="1"/>
          </p:cNvSpPr>
          <p:nvPr>
            <p:ph type="sldNum" sz="quarter" idx="4"/>
          </p:nvPr>
        </p:nvSpPr>
        <p:spPr bwMode="auto">
          <a:xfrm>
            <a:off x="7417122" y="6381751"/>
            <a:ext cx="1403350" cy="359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2000"/>
            </a:lvl1pPr>
          </a:lstStyle>
          <a:p>
            <a:pPr>
              <a:defRPr/>
            </a:pPr>
            <a:fld id="{2C2D39BD-2FBC-415D-AE3F-113858EA1DB1}" type="slidenum">
              <a:rPr lang="en-US" altLang="zh-CN"/>
              <a:t>‹#›</a:t>
            </a:fld>
            <a:endParaRPr lang="en-US" altLang="zh-CN"/>
          </a:p>
        </p:txBody>
      </p:sp>
      <p:graphicFrame>
        <p:nvGraphicFramePr>
          <p:cNvPr id="2" name="Object 8"/>
          <p:cNvGraphicFramePr>
            <a:graphicFrameLocks noChangeAspect="1"/>
          </p:cNvGraphicFramePr>
          <p:nvPr/>
        </p:nvGraphicFramePr>
        <p:xfrm>
          <a:off x="0" y="6084888"/>
          <a:ext cx="971550" cy="766762"/>
        </p:xfrm>
        <a:graphic>
          <a:graphicData uri="http://schemas.openxmlformats.org/presentationml/2006/ole">
            <mc:AlternateContent xmlns:mc="http://schemas.openxmlformats.org/markup-compatibility/2006">
              <mc:Choice xmlns:v="urn:schemas-microsoft-com:vml" Requires="v">
                <p:oleObj spid="_x0000_s13315" name="Image" r:id="rId11" imgW="2590800" imgH="2044700" progId="Photoshop.Image.7">
                  <p:embed/>
                </p:oleObj>
              </mc:Choice>
              <mc:Fallback>
                <p:oleObj name="Image" r:id="rId11" imgW="2590800" imgH="2044700" progId="Photoshop.Image.7">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6084888"/>
                        <a:ext cx="971550" cy="766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333399"/>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3" name="Rectangle 13"/>
          <p:cNvSpPr>
            <a:spLocks noGrp="1" noChangeArrowheads="1"/>
          </p:cNvSpPr>
          <p:nvPr>
            <p:ph type="title"/>
          </p:nvPr>
        </p:nvSpPr>
        <p:spPr bwMode="auto">
          <a:xfrm>
            <a:off x="323850" y="259432"/>
            <a:ext cx="7488238" cy="64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dirty="0"/>
              <a:t>单击此处编辑母版文本样式</a:t>
            </a:r>
          </a:p>
        </p:txBody>
      </p:sp>
      <p:pic>
        <p:nvPicPr>
          <p:cNvPr id="1034" name="Picture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135616" y="44450"/>
            <a:ext cx="1008384" cy="9362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Lst>
  <p:hf hdr="0" dt="0"/>
  <p:txStyles>
    <p:titleStyle>
      <a:lvl1pPr algn="l" rtl="0" eaLnBrk="1" fontAlgn="base" hangingPunct="1">
        <a:spcBef>
          <a:spcPct val="0"/>
        </a:spcBef>
        <a:spcAft>
          <a:spcPct val="0"/>
        </a:spcAft>
        <a:defRPr kumimoji="1" lang="zh-CN" altLang="en-US" sz="4000" b="1" baseline="0" dirty="0" smtClean="0">
          <a:solidFill>
            <a:srgbClr val="C00000"/>
          </a:solidFill>
          <a:latin typeface="Arial" panose="020B0604020202020204" pitchFamily="34" charset="0"/>
          <a:ea typeface="宋体" panose="02010600030101010101" pitchFamily="2" charset="-122"/>
          <a:cs typeface="+mj-cs"/>
        </a:defRPr>
      </a:lvl1pPr>
      <a:lvl2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2pPr>
      <a:lvl3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3pPr>
      <a:lvl4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4pPr>
      <a:lvl5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5pPr>
      <a:lvl6pPr marL="4572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6pPr>
      <a:lvl7pPr marL="9144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7pPr>
      <a:lvl8pPr marL="13716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8pPr>
      <a:lvl9pPr marL="18288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9pPr>
    </p:titleStyle>
    <p:bodyStyle>
      <a:lvl1pPr marL="360045" indent="-360045" algn="l" rtl="0" eaLnBrk="1" fontAlgn="base" hangingPunct="1">
        <a:lnSpc>
          <a:spcPts val="4200"/>
        </a:lnSpc>
        <a:spcBef>
          <a:spcPts val="0"/>
        </a:spcBef>
        <a:spcAft>
          <a:spcPts val="600"/>
        </a:spcAft>
        <a:buFont typeface="Wingdings" panose="05000000000000000000" pitchFamily="2" charset="2"/>
        <a:buBlip>
          <a:blip r:embed="rId14"/>
        </a:buBlip>
        <a:defRPr kumimoji="1" sz="3200" baseline="0">
          <a:solidFill>
            <a:srgbClr val="000000"/>
          </a:solidFill>
          <a:latin typeface="Arial" panose="020B0604020202020204" pitchFamily="34" charset="0"/>
          <a:ea typeface="宋体" panose="02010600030101010101" pitchFamily="2" charset="-122"/>
          <a:cs typeface="+mn-cs"/>
        </a:defRPr>
      </a:lvl1pPr>
      <a:lvl2pPr marL="575945" marR="0" indent="-360045" algn="l" defTabSz="914400" rtl="0" eaLnBrk="1" fontAlgn="base" latinLnBrk="0" hangingPunct="1">
        <a:lnSpc>
          <a:spcPts val="4200"/>
        </a:lnSpc>
        <a:spcBef>
          <a:spcPts val="0"/>
        </a:spcBef>
        <a:spcAft>
          <a:spcPts val="600"/>
        </a:spcAft>
        <a:buClrTx/>
        <a:buSzTx/>
        <a:buFont typeface="Wingdings" panose="05000000000000000000" pitchFamily="2" charset="2"/>
        <a:buChar char="Ø"/>
        <a:defRPr kumimoji="1" sz="3200" baseline="0">
          <a:solidFill>
            <a:schemeClr val="tx1"/>
          </a:solidFill>
          <a:latin typeface="Arial" panose="020B0604020202020204" pitchFamily="34" charset="0"/>
          <a:ea typeface="楷体_GB2312" pitchFamily="49" charset="-122"/>
        </a:defRPr>
      </a:lvl2pPr>
      <a:lvl3pPr marL="864235" indent="-360045" algn="l" rtl="0" eaLnBrk="1" fontAlgn="base" hangingPunct="1">
        <a:spcBef>
          <a:spcPts val="0"/>
        </a:spcBef>
        <a:spcAft>
          <a:spcPts val="600"/>
        </a:spcAft>
        <a:buFont typeface="Wingdings" panose="05000000000000000000" pitchFamily="2" charset="2"/>
        <a:buChar char="u"/>
        <a:defRPr kumimoji="1" sz="2800">
          <a:solidFill>
            <a:schemeClr val="tx1"/>
          </a:solidFill>
          <a:latin typeface="+mn-lt"/>
          <a:ea typeface="+mn-ea"/>
        </a:defRPr>
      </a:lvl3pPr>
      <a:lvl4pPr marL="1600200" indent="-228600" algn="l" rtl="0" eaLnBrk="1" fontAlgn="base" hangingPunct="1">
        <a:spcBef>
          <a:spcPct val="20000"/>
        </a:spcBef>
        <a:spcAft>
          <a:spcPct val="0"/>
        </a:spcAft>
        <a:buChar char="–"/>
        <a:defRPr kumimoji="1" sz="2000">
          <a:solidFill>
            <a:srgbClr val="152EAB"/>
          </a:solidFill>
          <a:latin typeface="+mn-lt"/>
          <a:ea typeface="+mn-ea"/>
        </a:defRPr>
      </a:lvl4pPr>
      <a:lvl5pPr marL="2057400" indent="-228600" algn="l" rtl="0" eaLnBrk="1" fontAlgn="base" hangingPunct="1">
        <a:spcBef>
          <a:spcPct val="20000"/>
        </a:spcBef>
        <a:spcAft>
          <a:spcPct val="0"/>
        </a:spcAft>
        <a:defRPr kumimoji="1" sz="2000">
          <a:solidFill>
            <a:srgbClr val="152EAB"/>
          </a:solidFill>
          <a:latin typeface="+mn-lt"/>
          <a:ea typeface="+mn-ea"/>
        </a:defRPr>
      </a:lvl5pPr>
      <a:lvl6pPr marL="2514600" indent="-228600" algn="l" rtl="0" eaLnBrk="1" fontAlgn="base" hangingPunct="1">
        <a:spcBef>
          <a:spcPct val="20000"/>
        </a:spcBef>
        <a:spcAft>
          <a:spcPct val="0"/>
        </a:spcAft>
        <a:defRPr kumimoji="1" sz="2000">
          <a:solidFill>
            <a:srgbClr val="152EAB"/>
          </a:solidFill>
          <a:latin typeface="+mn-lt"/>
          <a:ea typeface="+mn-ea"/>
        </a:defRPr>
      </a:lvl6pPr>
      <a:lvl7pPr marL="2971800" indent="-228600" algn="l" rtl="0" eaLnBrk="1" fontAlgn="base" hangingPunct="1">
        <a:spcBef>
          <a:spcPct val="20000"/>
        </a:spcBef>
        <a:spcAft>
          <a:spcPct val="0"/>
        </a:spcAft>
        <a:defRPr kumimoji="1" sz="2000">
          <a:solidFill>
            <a:srgbClr val="152EAB"/>
          </a:solidFill>
          <a:latin typeface="+mn-lt"/>
          <a:ea typeface="+mn-ea"/>
        </a:defRPr>
      </a:lvl7pPr>
      <a:lvl8pPr marL="3429000" indent="-228600" algn="l" rtl="0" eaLnBrk="1" fontAlgn="base" hangingPunct="1">
        <a:spcBef>
          <a:spcPct val="20000"/>
        </a:spcBef>
        <a:spcAft>
          <a:spcPct val="0"/>
        </a:spcAft>
        <a:defRPr kumimoji="1" sz="2000">
          <a:solidFill>
            <a:srgbClr val="152EAB"/>
          </a:solidFill>
          <a:latin typeface="+mn-lt"/>
          <a:ea typeface="+mn-ea"/>
        </a:defRPr>
      </a:lvl8pPr>
      <a:lvl9pPr marL="3886200" indent="-228600" algn="l" rtl="0" eaLnBrk="1" fontAlgn="base" hangingPunct="1">
        <a:spcBef>
          <a:spcPct val="20000"/>
        </a:spcBef>
        <a:spcAft>
          <a:spcPct val="0"/>
        </a:spcAft>
        <a:defRPr kumimoji="1" sz="2000">
          <a:solidFill>
            <a:srgbClr val="152EAB"/>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23850" y="980728"/>
            <a:ext cx="8496300"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dirty="0"/>
              <a:t>单击此处编辑母版文本样式</a:t>
            </a:r>
            <a:endParaRPr lang="en-US" altLang="zh-CN" dirty="0"/>
          </a:p>
          <a:p>
            <a:pPr lvl="0"/>
            <a:r>
              <a:rPr lang="zh-CN" altLang="en-US" dirty="0"/>
              <a:t>单击此处编辑母版文本样式</a:t>
            </a:r>
          </a:p>
          <a:p>
            <a:pPr lvl="1"/>
            <a:r>
              <a:rPr lang="zh-CN" altLang="en-US" dirty="0"/>
              <a:t>第二级</a:t>
            </a:r>
            <a:endParaRPr lang="en-US" altLang="zh-CN" dirty="0"/>
          </a:p>
          <a:p>
            <a:pPr marL="575945" marR="0" lvl="1" indent="-360045" algn="l" defTabSz="914400" rtl="0" eaLnBrk="1" fontAlgn="base" latinLnBrk="0" hangingPunct="1">
              <a:lnSpc>
                <a:spcPct val="100000"/>
              </a:lnSpc>
              <a:spcBef>
                <a:spcPts val="0"/>
              </a:spcBef>
              <a:spcAft>
                <a:spcPts val="600"/>
              </a:spcAft>
              <a:buClrTx/>
              <a:buSzTx/>
              <a:buFont typeface="Wingdings" panose="05000000000000000000" pitchFamily="2" charset="2"/>
              <a:buChar char="Ø"/>
              <a:defRPr/>
            </a:pPr>
            <a:r>
              <a:rPr lang="zh-CN" altLang="en-US" dirty="0"/>
              <a:t>单击此处编辑母版文本样式</a:t>
            </a:r>
          </a:p>
          <a:p>
            <a:pPr lvl="1"/>
            <a:r>
              <a:rPr lang="zh-CN" altLang="en-US" dirty="0"/>
              <a:t>第二级</a:t>
            </a:r>
          </a:p>
        </p:txBody>
      </p:sp>
      <p:sp>
        <p:nvSpPr>
          <p:cNvPr id="1029" name="Rectangle 5"/>
          <p:cNvSpPr>
            <a:spLocks noGrp="1" noChangeArrowheads="1"/>
          </p:cNvSpPr>
          <p:nvPr>
            <p:ph type="ftr" sz="quarter" idx="3"/>
          </p:nvPr>
        </p:nvSpPr>
        <p:spPr bwMode="auto">
          <a:xfrm>
            <a:off x="3124200" y="6381006"/>
            <a:ext cx="2895600"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800" smtClean="0">
                <a:latin typeface="Verdana" panose="020B0604030504040204" pitchFamily="34" charset="0"/>
              </a:defRPr>
            </a:lvl1pPr>
          </a:lstStyle>
          <a:p>
            <a:pPr>
              <a:defRPr/>
            </a:pPr>
            <a:r>
              <a:rPr lang="en-US" altLang="zh-CN"/>
              <a:t>@ Zhihai Wang, 2025</a:t>
            </a:r>
            <a:endParaRPr lang="en-US" altLang="zh-CN" dirty="0"/>
          </a:p>
        </p:txBody>
      </p:sp>
      <p:sp>
        <p:nvSpPr>
          <p:cNvPr id="1030" name="Rectangle 6"/>
          <p:cNvSpPr>
            <a:spLocks noGrp="1" noChangeArrowheads="1"/>
          </p:cNvSpPr>
          <p:nvPr>
            <p:ph type="sldNum" sz="quarter" idx="4"/>
          </p:nvPr>
        </p:nvSpPr>
        <p:spPr bwMode="auto">
          <a:xfrm>
            <a:off x="7417122" y="6381751"/>
            <a:ext cx="1403350" cy="359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2000"/>
            </a:lvl1pPr>
          </a:lstStyle>
          <a:p>
            <a:pPr>
              <a:defRPr/>
            </a:pPr>
            <a:fld id="{2C2D39BD-2FBC-415D-AE3F-113858EA1DB1}" type="slidenum">
              <a:rPr lang="en-US" altLang="zh-CN"/>
              <a:t>‹#›</a:t>
            </a:fld>
            <a:endParaRPr lang="en-US" altLang="zh-CN"/>
          </a:p>
        </p:txBody>
      </p:sp>
      <p:graphicFrame>
        <p:nvGraphicFramePr>
          <p:cNvPr id="2" name="Object 8"/>
          <p:cNvGraphicFramePr>
            <a:graphicFrameLocks noChangeAspect="1"/>
          </p:cNvGraphicFramePr>
          <p:nvPr/>
        </p:nvGraphicFramePr>
        <p:xfrm>
          <a:off x="0" y="6084888"/>
          <a:ext cx="971550" cy="766762"/>
        </p:xfrm>
        <a:graphic>
          <a:graphicData uri="http://schemas.openxmlformats.org/presentationml/2006/ole">
            <mc:AlternateContent xmlns:mc="http://schemas.openxmlformats.org/markup-compatibility/2006">
              <mc:Choice xmlns:v="urn:schemas-microsoft-com:vml" Requires="v">
                <p:oleObj spid="_x0000_s15363" name="Image" r:id="rId11" imgW="2590800" imgH="2044700" progId="Photoshop.Image.7">
                  <p:embed/>
                </p:oleObj>
              </mc:Choice>
              <mc:Fallback>
                <p:oleObj name="Image" r:id="rId11" imgW="2590800" imgH="2044700" progId="Photoshop.Image.7">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6084888"/>
                        <a:ext cx="971550" cy="766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333399"/>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3" name="Rectangle 13"/>
          <p:cNvSpPr>
            <a:spLocks noGrp="1" noChangeArrowheads="1"/>
          </p:cNvSpPr>
          <p:nvPr>
            <p:ph type="title"/>
          </p:nvPr>
        </p:nvSpPr>
        <p:spPr bwMode="auto">
          <a:xfrm>
            <a:off x="323850" y="259432"/>
            <a:ext cx="7488238" cy="64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dirty="0"/>
              <a:t>单击此处编辑母版文本样式</a:t>
            </a:r>
          </a:p>
        </p:txBody>
      </p:sp>
      <p:pic>
        <p:nvPicPr>
          <p:cNvPr id="1034" name="Picture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135616" y="44450"/>
            <a:ext cx="1008384" cy="9362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Lst>
  <p:hf hdr="0" dt="0"/>
  <p:txStyles>
    <p:titleStyle>
      <a:lvl1pPr algn="l" rtl="0" eaLnBrk="1" fontAlgn="base" hangingPunct="1">
        <a:spcBef>
          <a:spcPct val="0"/>
        </a:spcBef>
        <a:spcAft>
          <a:spcPct val="0"/>
        </a:spcAft>
        <a:defRPr kumimoji="1" lang="zh-CN" altLang="en-US" sz="4000" b="1" baseline="0" dirty="0" smtClean="0">
          <a:solidFill>
            <a:srgbClr val="C00000"/>
          </a:solidFill>
          <a:latin typeface="Arial" panose="020B0604020202020204" pitchFamily="34" charset="0"/>
          <a:ea typeface="宋体" panose="02010600030101010101" pitchFamily="2" charset="-122"/>
          <a:cs typeface="+mj-cs"/>
        </a:defRPr>
      </a:lvl1pPr>
      <a:lvl2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2pPr>
      <a:lvl3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3pPr>
      <a:lvl4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4pPr>
      <a:lvl5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5pPr>
      <a:lvl6pPr marL="4572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6pPr>
      <a:lvl7pPr marL="9144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7pPr>
      <a:lvl8pPr marL="13716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8pPr>
      <a:lvl9pPr marL="18288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9pPr>
    </p:titleStyle>
    <p:bodyStyle>
      <a:lvl1pPr marL="360045" indent="-360045" algn="l" rtl="0" eaLnBrk="1" fontAlgn="base" hangingPunct="1">
        <a:lnSpc>
          <a:spcPts val="4200"/>
        </a:lnSpc>
        <a:spcBef>
          <a:spcPts val="0"/>
        </a:spcBef>
        <a:spcAft>
          <a:spcPts val="600"/>
        </a:spcAft>
        <a:buFont typeface="Wingdings" panose="05000000000000000000" pitchFamily="2" charset="2"/>
        <a:buBlip>
          <a:blip r:embed="rId14"/>
        </a:buBlip>
        <a:defRPr kumimoji="1" sz="3200" baseline="0">
          <a:solidFill>
            <a:srgbClr val="000000"/>
          </a:solidFill>
          <a:latin typeface="Arial" panose="020B0604020202020204" pitchFamily="34" charset="0"/>
          <a:ea typeface="宋体" panose="02010600030101010101" pitchFamily="2" charset="-122"/>
          <a:cs typeface="+mn-cs"/>
        </a:defRPr>
      </a:lvl1pPr>
      <a:lvl2pPr marL="575945" marR="0" indent="-360045" algn="l" defTabSz="914400" rtl="0" eaLnBrk="1" fontAlgn="base" latinLnBrk="0" hangingPunct="1">
        <a:lnSpc>
          <a:spcPts val="4200"/>
        </a:lnSpc>
        <a:spcBef>
          <a:spcPts val="0"/>
        </a:spcBef>
        <a:spcAft>
          <a:spcPts val="600"/>
        </a:spcAft>
        <a:buClrTx/>
        <a:buSzTx/>
        <a:buFont typeface="Wingdings" panose="05000000000000000000" pitchFamily="2" charset="2"/>
        <a:buChar char="Ø"/>
        <a:defRPr kumimoji="1" sz="3200" baseline="0">
          <a:solidFill>
            <a:schemeClr val="tx1"/>
          </a:solidFill>
          <a:latin typeface="Arial" panose="020B0604020202020204" pitchFamily="34" charset="0"/>
          <a:ea typeface="楷体_GB2312" pitchFamily="49" charset="-122"/>
        </a:defRPr>
      </a:lvl2pPr>
      <a:lvl3pPr marL="864235" indent="-360045" algn="l" rtl="0" eaLnBrk="1" fontAlgn="base" hangingPunct="1">
        <a:spcBef>
          <a:spcPts val="0"/>
        </a:spcBef>
        <a:spcAft>
          <a:spcPts val="600"/>
        </a:spcAft>
        <a:buFont typeface="Wingdings" panose="05000000000000000000" pitchFamily="2" charset="2"/>
        <a:buChar char="u"/>
        <a:defRPr kumimoji="1" sz="2800">
          <a:solidFill>
            <a:schemeClr val="tx1"/>
          </a:solidFill>
          <a:latin typeface="+mn-lt"/>
          <a:ea typeface="+mn-ea"/>
        </a:defRPr>
      </a:lvl3pPr>
      <a:lvl4pPr marL="1600200" indent="-228600" algn="l" rtl="0" eaLnBrk="1" fontAlgn="base" hangingPunct="1">
        <a:spcBef>
          <a:spcPct val="20000"/>
        </a:spcBef>
        <a:spcAft>
          <a:spcPct val="0"/>
        </a:spcAft>
        <a:buChar char="–"/>
        <a:defRPr kumimoji="1" sz="2000">
          <a:solidFill>
            <a:srgbClr val="152EAB"/>
          </a:solidFill>
          <a:latin typeface="+mn-lt"/>
          <a:ea typeface="+mn-ea"/>
        </a:defRPr>
      </a:lvl4pPr>
      <a:lvl5pPr marL="2057400" indent="-228600" algn="l" rtl="0" eaLnBrk="1" fontAlgn="base" hangingPunct="1">
        <a:spcBef>
          <a:spcPct val="20000"/>
        </a:spcBef>
        <a:spcAft>
          <a:spcPct val="0"/>
        </a:spcAft>
        <a:defRPr kumimoji="1" sz="2000">
          <a:solidFill>
            <a:srgbClr val="152EAB"/>
          </a:solidFill>
          <a:latin typeface="+mn-lt"/>
          <a:ea typeface="+mn-ea"/>
        </a:defRPr>
      </a:lvl5pPr>
      <a:lvl6pPr marL="2514600" indent="-228600" algn="l" rtl="0" eaLnBrk="1" fontAlgn="base" hangingPunct="1">
        <a:spcBef>
          <a:spcPct val="20000"/>
        </a:spcBef>
        <a:spcAft>
          <a:spcPct val="0"/>
        </a:spcAft>
        <a:defRPr kumimoji="1" sz="2000">
          <a:solidFill>
            <a:srgbClr val="152EAB"/>
          </a:solidFill>
          <a:latin typeface="+mn-lt"/>
          <a:ea typeface="+mn-ea"/>
        </a:defRPr>
      </a:lvl6pPr>
      <a:lvl7pPr marL="2971800" indent="-228600" algn="l" rtl="0" eaLnBrk="1" fontAlgn="base" hangingPunct="1">
        <a:spcBef>
          <a:spcPct val="20000"/>
        </a:spcBef>
        <a:spcAft>
          <a:spcPct val="0"/>
        </a:spcAft>
        <a:defRPr kumimoji="1" sz="2000">
          <a:solidFill>
            <a:srgbClr val="152EAB"/>
          </a:solidFill>
          <a:latin typeface="+mn-lt"/>
          <a:ea typeface="+mn-ea"/>
        </a:defRPr>
      </a:lvl7pPr>
      <a:lvl8pPr marL="3429000" indent="-228600" algn="l" rtl="0" eaLnBrk="1" fontAlgn="base" hangingPunct="1">
        <a:spcBef>
          <a:spcPct val="20000"/>
        </a:spcBef>
        <a:spcAft>
          <a:spcPct val="0"/>
        </a:spcAft>
        <a:defRPr kumimoji="1" sz="2000">
          <a:solidFill>
            <a:srgbClr val="152EAB"/>
          </a:solidFill>
          <a:latin typeface="+mn-lt"/>
          <a:ea typeface="+mn-ea"/>
        </a:defRPr>
      </a:lvl8pPr>
      <a:lvl9pPr marL="3886200" indent="-228600" algn="l" rtl="0" eaLnBrk="1" fontAlgn="base" hangingPunct="1">
        <a:spcBef>
          <a:spcPct val="20000"/>
        </a:spcBef>
        <a:spcAft>
          <a:spcPct val="0"/>
        </a:spcAft>
        <a:defRPr kumimoji="1" sz="2000">
          <a:solidFill>
            <a:srgbClr val="152EAB"/>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23850" y="980728"/>
            <a:ext cx="8496300"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dirty="0"/>
              <a:t>单击此处编辑母版文本样式</a:t>
            </a:r>
            <a:endParaRPr lang="en-US" altLang="zh-CN" dirty="0"/>
          </a:p>
          <a:p>
            <a:pPr lvl="0"/>
            <a:r>
              <a:rPr lang="zh-CN" altLang="en-US" dirty="0"/>
              <a:t>单击此处编辑母版文本样式</a:t>
            </a:r>
          </a:p>
          <a:p>
            <a:pPr lvl="1"/>
            <a:r>
              <a:rPr lang="zh-CN" altLang="en-US" dirty="0"/>
              <a:t>第二级</a:t>
            </a:r>
            <a:endParaRPr lang="en-US" altLang="zh-CN" dirty="0"/>
          </a:p>
          <a:p>
            <a:pPr marL="575945" marR="0" lvl="1" indent="-360045" algn="l" defTabSz="914400" rtl="0" eaLnBrk="1" fontAlgn="base" latinLnBrk="0" hangingPunct="1">
              <a:lnSpc>
                <a:spcPct val="100000"/>
              </a:lnSpc>
              <a:spcBef>
                <a:spcPts val="0"/>
              </a:spcBef>
              <a:spcAft>
                <a:spcPts val="600"/>
              </a:spcAft>
              <a:buClrTx/>
              <a:buSzTx/>
              <a:buFont typeface="Wingdings" panose="05000000000000000000" pitchFamily="2" charset="2"/>
              <a:buChar char="Ø"/>
              <a:defRPr/>
            </a:pPr>
            <a:r>
              <a:rPr lang="zh-CN" altLang="en-US" dirty="0"/>
              <a:t>单击此处编辑母版文本样式</a:t>
            </a:r>
          </a:p>
          <a:p>
            <a:pPr lvl="1"/>
            <a:r>
              <a:rPr lang="zh-CN" altLang="en-US" dirty="0"/>
              <a:t>第二级</a:t>
            </a:r>
          </a:p>
        </p:txBody>
      </p:sp>
      <p:sp>
        <p:nvSpPr>
          <p:cNvPr id="1029" name="Rectangle 5"/>
          <p:cNvSpPr>
            <a:spLocks noGrp="1" noChangeArrowheads="1"/>
          </p:cNvSpPr>
          <p:nvPr>
            <p:ph type="ftr" sz="quarter" idx="3"/>
          </p:nvPr>
        </p:nvSpPr>
        <p:spPr bwMode="auto">
          <a:xfrm>
            <a:off x="3124200" y="6381006"/>
            <a:ext cx="2895600"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800" smtClean="0">
                <a:latin typeface="Verdana" panose="020B0604030504040204" pitchFamily="34" charset="0"/>
              </a:defRPr>
            </a:lvl1pPr>
          </a:lstStyle>
          <a:p>
            <a:pPr>
              <a:defRPr/>
            </a:pPr>
            <a:r>
              <a:rPr lang="en-US" altLang="zh-CN"/>
              <a:t>@ Zhihai Wang, 2025</a:t>
            </a:r>
            <a:endParaRPr lang="en-US" altLang="zh-CN" dirty="0"/>
          </a:p>
        </p:txBody>
      </p:sp>
      <p:sp>
        <p:nvSpPr>
          <p:cNvPr id="1030" name="Rectangle 6"/>
          <p:cNvSpPr>
            <a:spLocks noGrp="1" noChangeArrowheads="1"/>
          </p:cNvSpPr>
          <p:nvPr>
            <p:ph type="sldNum" sz="quarter" idx="4"/>
          </p:nvPr>
        </p:nvSpPr>
        <p:spPr bwMode="auto">
          <a:xfrm>
            <a:off x="7417122" y="6381751"/>
            <a:ext cx="1403350" cy="359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2000"/>
            </a:lvl1pPr>
          </a:lstStyle>
          <a:p>
            <a:pPr>
              <a:defRPr/>
            </a:pPr>
            <a:fld id="{2C2D39BD-2FBC-415D-AE3F-113858EA1DB1}" type="slidenum">
              <a:rPr lang="en-US" altLang="zh-CN"/>
              <a:t>‹#›</a:t>
            </a:fld>
            <a:endParaRPr lang="en-US" altLang="zh-CN"/>
          </a:p>
        </p:txBody>
      </p:sp>
      <p:graphicFrame>
        <p:nvGraphicFramePr>
          <p:cNvPr id="2" name="Object 8"/>
          <p:cNvGraphicFramePr>
            <a:graphicFrameLocks noChangeAspect="1"/>
          </p:cNvGraphicFramePr>
          <p:nvPr/>
        </p:nvGraphicFramePr>
        <p:xfrm>
          <a:off x="0" y="6084888"/>
          <a:ext cx="971550" cy="766762"/>
        </p:xfrm>
        <a:graphic>
          <a:graphicData uri="http://schemas.openxmlformats.org/presentationml/2006/ole">
            <mc:AlternateContent xmlns:mc="http://schemas.openxmlformats.org/markup-compatibility/2006">
              <mc:Choice xmlns:v="urn:schemas-microsoft-com:vml" Requires="v">
                <p:oleObj spid="_x0000_s17411" name="Image" r:id="rId11" imgW="2590800" imgH="2044700" progId="Photoshop.Image.7">
                  <p:embed/>
                </p:oleObj>
              </mc:Choice>
              <mc:Fallback>
                <p:oleObj name="Image" r:id="rId11" imgW="2590800" imgH="2044700" progId="Photoshop.Image.7">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6084888"/>
                        <a:ext cx="971550" cy="766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333399"/>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3" name="Rectangle 13"/>
          <p:cNvSpPr>
            <a:spLocks noGrp="1" noChangeArrowheads="1"/>
          </p:cNvSpPr>
          <p:nvPr>
            <p:ph type="title"/>
          </p:nvPr>
        </p:nvSpPr>
        <p:spPr bwMode="auto">
          <a:xfrm>
            <a:off x="323850" y="259432"/>
            <a:ext cx="7488238" cy="64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dirty="0"/>
              <a:t>单击此处编辑母版文本样式</a:t>
            </a:r>
          </a:p>
        </p:txBody>
      </p:sp>
      <p:pic>
        <p:nvPicPr>
          <p:cNvPr id="1034" name="Picture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135616" y="44450"/>
            <a:ext cx="1008384" cy="9362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Lst>
  <p:hf hdr="0" dt="0"/>
  <p:txStyles>
    <p:titleStyle>
      <a:lvl1pPr algn="l" rtl="0" eaLnBrk="1" fontAlgn="base" hangingPunct="1">
        <a:spcBef>
          <a:spcPct val="0"/>
        </a:spcBef>
        <a:spcAft>
          <a:spcPct val="0"/>
        </a:spcAft>
        <a:defRPr kumimoji="1" lang="zh-CN" altLang="en-US" sz="4000" b="1" baseline="0" dirty="0" smtClean="0">
          <a:solidFill>
            <a:srgbClr val="C00000"/>
          </a:solidFill>
          <a:latin typeface="Arial" panose="020B0604020202020204" pitchFamily="34" charset="0"/>
          <a:ea typeface="宋体" panose="02010600030101010101" pitchFamily="2" charset="-122"/>
          <a:cs typeface="+mj-cs"/>
        </a:defRPr>
      </a:lvl1pPr>
      <a:lvl2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2pPr>
      <a:lvl3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3pPr>
      <a:lvl4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4pPr>
      <a:lvl5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5pPr>
      <a:lvl6pPr marL="4572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6pPr>
      <a:lvl7pPr marL="9144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7pPr>
      <a:lvl8pPr marL="13716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8pPr>
      <a:lvl9pPr marL="18288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9pPr>
    </p:titleStyle>
    <p:bodyStyle>
      <a:lvl1pPr marL="360045" indent="-360045" algn="l" rtl="0" eaLnBrk="1" fontAlgn="base" hangingPunct="1">
        <a:lnSpc>
          <a:spcPts val="4200"/>
        </a:lnSpc>
        <a:spcBef>
          <a:spcPts val="0"/>
        </a:spcBef>
        <a:spcAft>
          <a:spcPts val="600"/>
        </a:spcAft>
        <a:buFont typeface="Wingdings" panose="05000000000000000000" pitchFamily="2" charset="2"/>
        <a:buBlip>
          <a:blip r:embed="rId14"/>
        </a:buBlip>
        <a:defRPr kumimoji="1" sz="3200" baseline="0">
          <a:solidFill>
            <a:srgbClr val="000000"/>
          </a:solidFill>
          <a:latin typeface="Arial" panose="020B0604020202020204" pitchFamily="34" charset="0"/>
          <a:ea typeface="宋体" panose="02010600030101010101" pitchFamily="2" charset="-122"/>
          <a:cs typeface="+mn-cs"/>
        </a:defRPr>
      </a:lvl1pPr>
      <a:lvl2pPr marL="575945" marR="0" indent="-360045" algn="l" defTabSz="914400" rtl="0" eaLnBrk="1" fontAlgn="base" latinLnBrk="0" hangingPunct="1">
        <a:lnSpc>
          <a:spcPts val="4200"/>
        </a:lnSpc>
        <a:spcBef>
          <a:spcPts val="0"/>
        </a:spcBef>
        <a:spcAft>
          <a:spcPts val="600"/>
        </a:spcAft>
        <a:buClrTx/>
        <a:buSzTx/>
        <a:buFont typeface="Wingdings" panose="05000000000000000000" pitchFamily="2" charset="2"/>
        <a:buChar char="Ø"/>
        <a:defRPr kumimoji="1" sz="3200" baseline="0">
          <a:solidFill>
            <a:schemeClr val="tx1"/>
          </a:solidFill>
          <a:latin typeface="Arial" panose="020B0604020202020204" pitchFamily="34" charset="0"/>
          <a:ea typeface="楷体_GB2312" pitchFamily="49" charset="-122"/>
        </a:defRPr>
      </a:lvl2pPr>
      <a:lvl3pPr marL="864235" indent="-360045" algn="l" rtl="0" eaLnBrk="1" fontAlgn="base" hangingPunct="1">
        <a:spcBef>
          <a:spcPts val="0"/>
        </a:spcBef>
        <a:spcAft>
          <a:spcPts val="600"/>
        </a:spcAft>
        <a:buFont typeface="Wingdings" panose="05000000000000000000" pitchFamily="2" charset="2"/>
        <a:buChar char="u"/>
        <a:defRPr kumimoji="1" sz="2800">
          <a:solidFill>
            <a:schemeClr val="tx1"/>
          </a:solidFill>
          <a:latin typeface="+mn-lt"/>
          <a:ea typeface="+mn-ea"/>
        </a:defRPr>
      </a:lvl3pPr>
      <a:lvl4pPr marL="1600200" indent="-228600" algn="l" rtl="0" eaLnBrk="1" fontAlgn="base" hangingPunct="1">
        <a:spcBef>
          <a:spcPct val="20000"/>
        </a:spcBef>
        <a:spcAft>
          <a:spcPct val="0"/>
        </a:spcAft>
        <a:buChar char="–"/>
        <a:defRPr kumimoji="1" sz="2000">
          <a:solidFill>
            <a:srgbClr val="152EAB"/>
          </a:solidFill>
          <a:latin typeface="+mn-lt"/>
          <a:ea typeface="+mn-ea"/>
        </a:defRPr>
      </a:lvl4pPr>
      <a:lvl5pPr marL="2057400" indent="-228600" algn="l" rtl="0" eaLnBrk="1" fontAlgn="base" hangingPunct="1">
        <a:spcBef>
          <a:spcPct val="20000"/>
        </a:spcBef>
        <a:spcAft>
          <a:spcPct val="0"/>
        </a:spcAft>
        <a:defRPr kumimoji="1" sz="2000">
          <a:solidFill>
            <a:srgbClr val="152EAB"/>
          </a:solidFill>
          <a:latin typeface="+mn-lt"/>
          <a:ea typeface="+mn-ea"/>
        </a:defRPr>
      </a:lvl5pPr>
      <a:lvl6pPr marL="2514600" indent="-228600" algn="l" rtl="0" eaLnBrk="1" fontAlgn="base" hangingPunct="1">
        <a:spcBef>
          <a:spcPct val="20000"/>
        </a:spcBef>
        <a:spcAft>
          <a:spcPct val="0"/>
        </a:spcAft>
        <a:defRPr kumimoji="1" sz="2000">
          <a:solidFill>
            <a:srgbClr val="152EAB"/>
          </a:solidFill>
          <a:latin typeface="+mn-lt"/>
          <a:ea typeface="+mn-ea"/>
        </a:defRPr>
      </a:lvl6pPr>
      <a:lvl7pPr marL="2971800" indent="-228600" algn="l" rtl="0" eaLnBrk="1" fontAlgn="base" hangingPunct="1">
        <a:spcBef>
          <a:spcPct val="20000"/>
        </a:spcBef>
        <a:spcAft>
          <a:spcPct val="0"/>
        </a:spcAft>
        <a:defRPr kumimoji="1" sz="2000">
          <a:solidFill>
            <a:srgbClr val="152EAB"/>
          </a:solidFill>
          <a:latin typeface="+mn-lt"/>
          <a:ea typeface="+mn-ea"/>
        </a:defRPr>
      </a:lvl7pPr>
      <a:lvl8pPr marL="3429000" indent="-228600" algn="l" rtl="0" eaLnBrk="1" fontAlgn="base" hangingPunct="1">
        <a:spcBef>
          <a:spcPct val="20000"/>
        </a:spcBef>
        <a:spcAft>
          <a:spcPct val="0"/>
        </a:spcAft>
        <a:defRPr kumimoji="1" sz="2000">
          <a:solidFill>
            <a:srgbClr val="152EAB"/>
          </a:solidFill>
          <a:latin typeface="+mn-lt"/>
          <a:ea typeface="+mn-ea"/>
        </a:defRPr>
      </a:lvl8pPr>
      <a:lvl9pPr marL="3886200" indent="-228600" algn="l" rtl="0" eaLnBrk="1" fontAlgn="base" hangingPunct="1">
        <a:spcBef>
          <a:spcPct val="20000"/>
        </a:spcBef>
        <a:spcAft>
          <a:spcPct val="0"/>
        </a:spcAft>
        <a:defRPr kumimoji="1" sz="2000">
          <a:solidFill>
            <a:srgbClr val="152EAB"/>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23850" y="980728"/>
            <a:ext cx="8496300"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dirty="0"/>
              <a:t>单击此处编辑母版文本样式</a:t>
            </a:r>
            <a:endParaRPr lang="en-US" altLang="zh-CN" dirty="0"/>
          </a:p>
          <a:p>
            <a:pPr lvl="0"/>
            <a:r>
              <a:rPr lang="zh-CN" altLang="en-US" dirty="0"/>
              <a:t>单击此处编辑母版文本样式</a:t>
            </a:r>
          </a:p>
          <a:p>
            <a:pPr lvl="1"/>
            <a:r>
              <a:rPr lang="zh-CN" altLang="en-US" dirty="0"/>
              <a:t>第二级</a:t>
            </a:r>
            <a:endParaRPr lang="en-US" altLang="zh-CN" dirty="0"/>
          </a:p>
          <a:p>
            <a:pPr marL="575945" marR="0" lvl="1" indent="-360045" algn="l" defTabSz="914400" rtl="0" eaLnBrk="1" fontAlgn="base" latinLnBrk="0" hangingPunct="1">
              <a:lnSpc>
                <a:spcPct val="100000"/>
              </a:lnSpc>
              <a:spcBef>
                <a:spcPts val="0"/>
              </a:spcBef>
              <a:spcAft>
                <a:spcPts val="600"/>
              </a:spcAft>
              <a:buClrTx/>
              <a:buSzTx/>
              <a:buFont typeface="Wingdings" panose="05000000000000000000" pitchFamily="2" charset="2"/>
              <a:buChar char="Ø"/>
              <a:defRPr/>
            </a:pPr>
            <a:r>
              <a:rPr lang="zh-CN" altLang="en-US" dirty="0"/>
              <a:t>单击此处编辑母版文本样式</a:t>
            </a:r>
          </a:p>
          <a:p>
            <a:pPr lvl="1"/>
            <a:r>
              <a:rPr lang="zh-CN" altLang="en-US" dirty="0"/>
              <a:t>第二级</a:t>
            </a:r>
          </a:p>
        </p:txBody>
      </p:sp>
      <p:sp>
        <p:nvSpPr>
          <p:cNvPr id="1029" name="Rectangle 5"/>
          <p:cNvSpPr>
            <a:spLocks noGrp="1" noChangeArrowheads="1"/>
          </p:cNvSpPr>
          <p:nvPr>
            <p:ph type="ftr" sz="quarter" idx="3"/>
          </p:nvPr>
        </p:nvSpPr>
        <p:spPr bwMode="auto">
          <a:xfrm>
            <a:off x="3124200" y="6381006"/>
            <a:ext cx="2895600"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800" smtClean="0">
                <a:latin typeface="Verdana" panose="020B0604030504040204" pitchFamily="34" charset="0"/>
              </a:defRPr>
            </a:lvl1pPr>
          </a:lstStyle>
          <a:p>
            <a:pPr>
              <a:defRPr/>
            </a:pPr>
            <a:r>
              <a:rPr lang="en-US" altLang="zh-CN"/>
              <a:t>@ Zhihai Wang, 2025</a:t>
            </a:r>
            <a:endParaRPr lang="en-US" altLang="zh-CN" dirty="0"/>
          </a:p>
        </p:txBody>
      </p:sp>
      <p:sp>
        <p:nvSpPr>
          <p:cNvPr id="1030" name="Rectangle 6"/>
          <p:cNvSpPr>
            <a:spLocks noGrp="1" noChangeArrowheads="1"/>
          </p:cNvSpPr>
          <p:nvPr>
            <p:ph type="sldNum" sz="quarter" idx="4"/>
          </p:nvPr>
        </p:nvSpPr>
        <p:spPr bwMode="auto">
          <a:xfrm>
            <a:off x="7417122" y="6381751"/>
            <a:ext cx="1403350" cy="359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2000"/>
            </a:lvl1pPr>
          </a:lstStyle>
          <a:p>
            <a:pPr>
              <a:defRPr/>
            </a:pPr>
            <a:fld id="{2C2D39BD-2FBC-415D-AE3F-113858EA1DB1}" type="slidenum">
              <a:rPr lang="en-US" altLang="zh-CN"/>
              <a:t>‹#›</a:t>
            </a:fld>
            <a:endParaRPr lang="en-US" altLang="zh-CN"/>
          </a:p>
        </p:txBody>
      </p:sp>
      <p:graphicFrame>
        <p:nvGraphicFramePr>
          <p:cNvPr id="2" name="Object 8"/>
          <p:cNvGraphicFramePr>
            <a:graphicFrameLocks noChangeAspect="1"/>
          </p:cNvGraphicFramePr>
          <p:nvPr/>
        </p:nvGraphicFramePr>
        <p:xfrm>
          <a:off x="0" y="6084888"/>
          <a:ext cx="971550" cy="766762"/>
        </p:xfrm>
        <a:graphic>
          <a:graphicData uri="http://schemas.openxmlformats.org/presentationml/2006/ole">
            <mc:AlternateContent xmlns:mc="http://schemas.openxmlformats.org/markup-compatibility/2006">
              <mc:Choice xmlns:v="urn:schemas-microsoft-com:vml" Requires="v">
                <p:oleObj spid="_x0000_s19459" name="Image" r:id="rId11" imgW="2590800" imgH="2044700" progId="Photoshop.Image.7">
                  <p:embed/>
                </p:oleObj>
              </mc:Choice>
              <mc:Fallback>
                <p:oleObj name="Image" r:id="rId11" imgW="2590800" imgH="2044700" progId="Photoshop.Image.7">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6084888"/>
                        <a:ext cx="971550" cy="766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333399"/>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3" name="Rectangle 13"/>
          <p:cNvSpPr>
            <a:spLocks noGrp="1" noChangeArrowheads="1"/>
          </p:cNvSpPr>
          <p:nvPr>
            <p:ph type="title"/>
          </p:nvPr>
        </p:nvSpPr>
        <p:spPr bwMode="auto">
          <a:xfrm>
            <a:off x="323850" y="259432"/>
            <a:ext cx="7488238" cy="64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dirty="0"/>
              <a:t>单击此处编辑母版文本样式</a:t>
            </a:r>
          </a:p>
        </p:txBody>
      </p:sp>
      <p:pic>
        <p:nvPicPr>
          <p:cNvPr id="1034" name="Picture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135616" y="44450"/>
            <a:ext cx="1008384" cy="9362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Lst>
  <p:hf hdr="0" dt="0"/>
  <p:txStyles>
    <p:titleStyle>
      <a:lvl1pPr algn="l" rtl="0" eaLnBrk="1" fontAlgn="base" hangingPunct="1">
        <a:spcBef>
          <a:spcPct val="0"/>
        </a:spcBef>
        <a:spcAft>
          <a:spcPct val="0"/>
        </a:spcAft>
        <a:defRPr kumimoji="1" lang="zh-CN" altLang="en-US" sz="4000" b="1" baseline="0" dirty="0" smtClean="0">
          <a:solidFill>
            <a:srgbClr val="C00000"/>
          </a:solidFill>
          <a:latin typeface="Arial" panose="020B0604020202020204" pitchFamily="34" charset="0"/>
          <a:ea typeface="宋体" panose="02010600030101010101" pitchFamily="2" charset="-122"/>
          <a:cs typeface="+mj-cs"/>
        </a:defRPr>
      </a:lvl1pPr>
      <a:lvl2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2pPr>
      <a:lvl3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3pPr>
      <a:lvl4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4pPr>
      <a:lvl5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5pPr>
      <a:lvl6pPr marL="4572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6pPr>
      <a:lvl7pPr marL="9144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7pPr>
      <a:lvl8pPr marL="13716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8pPr>
      <a:lvl9pPr marL="18288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9pPr>
    </p:titleStyle>
    <p:bodyStyle>
      <a:lvl1pPr marL="360045" indent="-360045" algn="l" rtl="0" eaLnBrk="1" fontAlgn="base" hangingPunct="1">
        <a:lnSpc>
          <a:spcPts val="4200"/>
        </a:lnSpc>
        <a:spcBef>
          <a:spcPts val="0"/>
        </a:spcBef>
        <a:spcAft>
          <a:spcPts val="600"/>
        </a:spcAft>
        <a:buFont typeface="Wingdings" panose="05000000000000000000" pitchFamily="2" charset="2"/>
        <a:buBlip>
          <a:blip r:embed="rId14"/>
        </a:buBlip>
        <a:defRPr kumimoji="1" sz="3200" baseline="0">
          <a:solidFill>
            <a:srgbClr val="000000"/>
          </a:solidFill>
          <a:latin typeface="Arial" panose="020B0604020202020204" pitchFamily="34" charset="0"/>
          <a:ea typeface="宋体" panose="02010600030101010101" pitchFamily="2" charset="-122"/>
          <a:cs typeface="+mn-cs"/>
        </a:defRPr>
      </a:lvl1pPr>
      <a:lvl2pPr marL="575945" marR="0" indent="-360045" algn="l" defTabSz="914400" rtl="0" eaLnBrk="1" fontAlgn="base" latinLnBrk="0" hangingPunct="1">
        <a:lnSpc>
          <a:spcPts val="4200"/>
        </a:lnSpc>
        <a:spcBef>
          <a:spcPts val="0"/>
        </a:spcBef>
        <a:spcAft>
          <a:spcPts val="600"/>
        </a:spcAft>
        <a:buClrTx/>
        <a:buSzTx/>
        <a:buFont typeface="Wingdings" panose="05000000000000000000" pitchFamily="2" charset="2"/>
        <a:buChar char="Ø"/>
        <a:defRPr kumimoji="1" sz="3200" baseline="0">
          <a:solidFill>
            <a:schemeClr val="tx1"/>
          </a:solidFill>
          <a:latin typeface="Arial" panose="020B0604020202020204" pitchFamily="34" charset="0"/>
          <a:ea typeface="楷体_GB2312" pitchFamily="49" charset="-122"/>
        </a:defRPr>
      </a:lvl2pPr>
      <a:lvl3pPr marL="864235" indent="-360045" algn="l" rtl="0" eaLnBrk="1" fontAlgn="base" hangingPunct="1">
        <a:spcBef>
          <a:spcPts val="0"/>
        </a:spcBef>
        <a:spcAft>
          <a:spcPts val="600"/>
        </a:spcAft>
        <a:buFont typeface="Wingdings" panose="05000000000000000000" pitchFamily="2" charset="2"/>
        <a:buChar char="u"/>
        <a:defRPr kumimoji="1" sz="2800">
          <a:solidFill>
            <a:schemeClr val="tx1"/>
          </a:solidFill>
          <a:latin typeface="+mn-lt"/>
          <a:ea typeface="+mn-ea"/>
        </a:defRPr>
      </a:lvl3pPr>
      <a:lvl4pPr marL="1600200" indent="-228600" algn="l" rtl="0" eaLnBrk="1" fontAlgn="base" hangingPunct="1">
        <a:spcBef>
          <a:spcPct val="20000"/>
        </a:spcBef>
        <a:spcAft>
          <a:spcPct val="0"/>
        </a:spcAft>
        <a:buChar char="–"/>
        <a:defRPr kumimoji="1" sz="2000">
          <a:solidFill>
            <a:srgbClr val="152EAB"/>
          </a:solidFill>
          <a:latin typeface="+mn-lt"/>
          <a:ea typeface="+mn-ea"/>
        </a:defRPr>
      </a:lvl4pPr>
      <a:lvl5pPr marL="2057400" indent="-228600" algn="l" rtl="0" eaLnBrk="1" fontAlgn="base" hangingPunct="1">
        <a:spcBef>
          <a:spcPct val="20000"/>
        </a:spcBef>
        <a:spcAft>
          <a:spcPct val="0"/>
        </a:spcAft>
        <a:defRPr kumimoji="1" sz="2000">
          <a:solidFill>
            <a:srgbClr val="152EAB"/>
          </a:solidFill>
          <a:latin typeface="+mn-lt"/>
          <a:ea typeface="+mn-ea"/>
        </a:defRPr>
      </a:lvl5pPr>
      <a:lvl6pPr marL="2514600" indent="-228600" algn="l" rtl="0" eaLnBrk="1" fontAlgn="base" hangingPunct="1">
        <a:spcBef>
          <a:spcPct val="20000"/>
        </a:spcBef>
        <a:spcAft>
          <a:spcPct val="0"/>
        </a:spcAft>
        <a:defRPr kumimoji="1" sz="2000">
          <a:solidFill>
            <a:srgbClr val="152EAB"/>
          </a:solidFill>
          <a:latin typeface="+mn-lt"/>
          <a:ea typeface="+mn-ea"/>
        </a:defRPr>
      </a:lvl6pPr>
      <a:lvl7pPr marL="2971800" indent="-228600" algn="l" rtl="0" eaLnBrk="1" fontAlgn="base" hangingPunct="1">
        <a:spcBef>
          <a:spcPct val="20000"/>
        </a:spcBef>
        <a:spcAft>
          <a:spcPct val="0"/>
        </a:spcAft>
        <a:defRPr kumimoji="1" sz="2000">
          <a:solidFill>
            <a:srgbClr val="152EAB"/>
          </a:solidFill>
          <a:latin typeface="+mn-lt"/>
          <a:ea typeface="+mn-ea"/>
        </a:defRPr>
      </a:lvl7pPr>
      <a:lvl8pPr marL="3429000" indent="-228600" algn="l" rtl="0" eaLnBrk="1" fontAlgn="base" hangingPunct="1">
        <a:spcBef>
          <a:spcPct val="20000"/>
        </a:spcBef>
        <a:spcAft>
          <a:spcPct val="0"/>
        </a:spcAft>
        <a:defRPr kumimoji="1" sz="2000">
          <a:solidFill>
            <a:srgbClr val="152EAB"/>
          </a:solidFill>
          <a:latin typeface="+mn-lt"/>
          <a:ea typeface="+mn-ea"/>
        </a:defRPr>
      </a:lvl8pPr>
      <a:lvl9pPr marL="3886200" indent="-228600" algn="l" rtl="0" eaLnBrk="1" fontAlgn="base" hangingPunct="1">
        <a:spcBef>
          <a:spcPct val="20000"/>
        </a:spcBef>
        <a:spcAft>
          <a:spcPct val="0"/>
        </a:spcAft>
        <a:defRPr kumimoji="1" sz="2000">
          <a:solidFill>
            <a:srgbClr val="152EAB"/>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23850" y="980728"/>
            <a:ext cx="8496300"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dirty="0"/>
              <a:t>单击此处编辑母版文本样式</a:t>
            </a:r>
            <a:endParaRPr lang="en-US" altLang="zh-CN" dirty="0"/>
          </a:p>
          <a:p>
            <a:pPr lvl="0"/>
            <a:r>
              <a:rPr lang="zh-CN" altLang="en-US" dirty="0"/>
              <a:t>单击此处编辑母版文本样式</a:t>
            </a:r>
          </a:p>
          <a:p>
            <a:pPr lvl="1"/>
            <a:r>
              <a:rPr lang="zh-CN" altLang="en-US" dirty="0"/>
              <a:t>第二级</a:t>
            </a:r>
            <a:endParaRPr lang="en-US" altLang="zh-CN" dirty="0"/>
          </a:p>
          <a:p>
            <a:pPr marL="575945" marR="0" lvl="1" indent="-360045" algn="l" defTabSz="914400" rtl="0" eaLnBrk="1" fontAlgn="base" latinLnBrk="0" hangingPunct="1">
              <a:lnSpc>
                <a:spcPct val="100000"/>
              </a:lnSpc>
              <a:spcBef>
                <a:spcPts val="0"/>
              </a:spcBef>
              <a:spcAft>
                <a:spcPts val="600"/>
              </a:spcAft>
              <a:buClrTx/>
              <a:buSzTx/>
              <a:buFont typeface="Wingdings" panose="05000000000000000000" pitchFamily="2" charset="2"/>
              <a:buChar char="Ø"/>
              <a:defRPr/>
            </a:pPr>
            <a:r>
              <a:rPr lang="zh-CN" altLang="en-US" dirty="0"/>
              <a:t>单击此处编辑母版文本样式</a:t>
            </a:r>
          </a:p>
          <a:p>
            <a:pPr lvl="1"/>
            <a:r>
              <a:rPr lang="zh-CN" altLang="en-US" dirty="0"/>
              <a:t>第二级</a:t>
            </a:r>
          </a:p>
        </p:txBody>
      </p:sp>
      <p:sp>
        <p:nvSpPr>
          <p:cNvPr id="1029" name="Rectangle 5"/>
          <p:cNvSpPr>
            <a:spLocks noGrp="1" noChangeArrowheads="1"/>
          </p:cNvSpPr>
          <p:nvPr>
            <p:ph type="ftr" sz="quarter" idx="3"/>
          </p:nvPr>
        </p:nvSpPr>
        <p:spPr bwMode="auto">
          <a:xfrm>
            <a:off x="3124200" y="6381006"/>
            <a:ext cx="2895600"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800" smtClean="0">
                <a:latin typeface="Verdana" panose="020B0604030504040204" pitchFamily="34" charset="0"/>
              </a:defRPr>
            </a:lvl1pPr>
          </a:lstStyle>
          <a:p>
            <a:pPr>
              <a:defRPr/>
            </a:pPr>
            <a:r>
              <a:rPr lang="en-US" altLang="zh-CN"/>
              <a:t>@ Zhihai Wang, 2025</a:t>
            </a:r>
            <a:endParaRPr lang="en-US" altLang="zh-CN" dirty="0"/>
          </a:p>
        </p:txBody>
      </p:sp>
      <p:sp>
        <p:nvSpPr>
          <p:cNvPr id="1030" name="Rectangle 6"/>
          <p:cNvSpPr>
            <a:spLocks noGrp="1" noChangeArrowheads="1"/>
          </p:cNvSpPr>
          <p:nvPr>
            <p:ph type="sldNum" sz="quarter" idx="4"/>
          </p:nvPr>
        </p:nvSpPr>
        <p:spPr bwMode="auto">
          <a:xfrm>
            <a:off x="7417122" y="6381751"/>
            <a:ext cx="1403350" cy="359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2000"/>
            </a:lvl1pPr>
          </a:lstStyle>
          <a:p>
            <a:pPr>
              <a:defRPr/>
            </a:pPr>
            <a:fld id="{2C2D39BD-2FBC-415D-AE3F-113858EA1DB1}" type="slidenum">
              <a:rPr lang="en-US" altLang="zh-CN"/>
              <a:t>‹#›</a:t>
            </a:fld>
            <a:endParaRPr lang="en-US" altLang="zh-CN"/>
          </a:p>
        </p:txBody>
      </p:sp>
      <p:graphicFrame>
        <p:nvGraphicFramePr>
          <p:cNvPr id="2" name="Object 8"/>
          <p:cNvGraphicFramePr>
            <a:graphicFrameLocks noChangeAspect="1"/>
          </p:cNvGraphicFramePr>
          <p:nvPr/>
        </p:nvGraphicFramePr>
        <p:xfrm>
          <a:off x="0" y="6084888"/>
          <a:ext cx="971550" cy="766762"/>
        </p:xfrm>
        <a:graphic>
          <a:graphicData uri="http://schemas.openxmlformats.org/presentationml/2006/ole">
            <mc:AlternateContent xmlns:mc="http://schemas.openxmlformats.org/markup-compatibility/2006">
              <mc:Choice xmlns:v="urn:schemas-microsoft-com:vml" Requires="v">
                <p:oleObj spid="_x0000_s21507" name="Image" r:id="rId11" imgW="2590800" imgH="2044700" progId="Photoshop.Image.7">
                  <p:embed/>
                </p:oleObj>
              </mc:Choice>
              <mc:Fallback>
                <p:oleObj name="Image" r:id="rId11" imgW="2590800" imgH="2044700" progId="Photoshop.Image.7">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6084888"/>
                        <a:ext cx="971550" cy="766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333399"/>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3" name="Rectangle 13"/>
          <p:cNvSpPr>
            <a:spLocks noGrp="1" noChangeArrowheads="1"/>
          </p:cNvSpPr>
          <p:nvPr>
            <p:ph type="title"/>
          </p:nvPr>
        </p:nvSpPr>
        <p:spPr bwMode="auto">
          <a:xfrm>
            <a:off x="323850" y="259432"/>
            <a:ext cx="7488238" cy="64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dirty="0"/>
              <a:t>单击此处编辑母版文本样式</a:t>
            </a:r>
          </a:p>
        </p:txBody>
      </p:sp>
      <p:pic>
        <p:nvPicPr>
          <p:cNvPr id="1034" name="Picture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135616" y="44450"/>
            <a:ext cx="1008384" cy="9362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Lst>
  <p:hf hdr="0" dt="0"/>
  <p:txStyles>
    <p:titleStyle>
      <a:lvl1pPr algn="l" rtl="0" eaLnBrk="1" fontAlgn="base" hangingPunct="1">
        <a:spcBef>
          <a:spcPct val="0"/>
        </a:spcBef>
        <a:spcAft>
          <a:spcPct val="0"/>
        </a:spcAft>
        <a:defRPr kumimoji="1" lang="zh-CN" altLang="en-US" sz="4000" b="1" baseline="0" dirty="0" smtClean="0">
          <a:solidFill>
            <a:srgbClr val="C00000"/>
          </a:solidFill>
          <a:latin typeface="Arial" panose="020B0604020202020204" pitchFamily="34" charset="0"/>
          <a:ea typeface="宋体" panose="02010600030101010101" pitchFamily="2" charset="-122"/>
          <a:cs typeface="+mj-cs"/>
        </a:defRPr>
      </a:lvl1pPr>
      <a:lvl2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2pPr>
      <a:lvl3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3pPr>
      <a:lvl4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4pPr>
      <a:lvl5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5pPr>
      <a:lvl6pPr marL="4572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6pPr>
      <a:lvl7pPr marL="9144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7pPr>
      <a:lvl8pPr marL="13716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8pPr>
      <a:lvl9pPr marL="18288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9pPr>
    </p:titleStyle>
    <p:bodyStyle>
      <a:lvl1pPr marL="360045" indent="-360045" algn="l" rtl="0" eaLnBrk="1" fontAlgn="base" hangingPunct="1">
        <a:lnSpc>
          <a:spcPts val="4200"/>
        </a:lnSpc>
        <a:spcBef>
          <a:spcPts val="0"/>
        </a:spcBef>
        <a:spcAft>
          <a:spcPts val="600"/>
        </a:spcAft>
        <a:buFont typeface="Wingdings" panose="05000000000000000000" pitchFamily="2" charset="2"/>
        <a:buBlip>
          <a:blip r:embed="rId14"/>
        </a:buBlip>
        <a:defRPr kumimoji="1" sz="3200" baseline="0">
          <a:solidFill>
            <a:srgbClr val="000000"/>
          </a:solidFill>
          <a:latin typeface="Arial" panose="020B0604020202020204" pitchFamily="34" charset="0"/>
          <a:ea typeface="宋体" panose="02010600030101010101" pitchFamily="2" charset="-122"/>
          <a:cs typeface="+mn-cs"/>
        </a:defRPr>
      </a:lvl1pPr>
      <a:lvl2pPr marL="575945" marR="0" indent="-360045" algn="l" defTabSz="914400" rtl="0" eaLnBrk="1" fontAlgn="base" latinLnBrk="0" hangingPunct="1">
        <a:lnSpc>
          <a:spcPts val="4200"/>
        </a:lnSpc>
        <a:spcBef>
          <a:spcPts val="0"/>
        </a:spcBef>
        <a:spcAft>
          <a:spcPts val="600"/>
        </a:spcAft>
        <a:buClrTx/>
        <a:buSzTx/>
        <a:buFont typeface="Wingdings" panose="05000000000000000000" pitchFamily="2" charset="2"/>
        <a:buChar char="Ø"/>
        <a:defRPr kumimoji="1" sz="3200" baseline="0">
          <a:solidFill>
            <a:schemeClr val="tx1"/>
          </a:solidFill>
          <a:latin typeface="Arial" panose="020B0604020202020204" pitchFamily="34" charset="0"/>
          <a:ea typeface="楷体_GB2312" pitchFamily="49" charset="-122"/>
        </a:defRPr>
      </a:lvl2pPr>
      <a:lvl3pPr marL="864235" indent="-360045" algn="l" rtl="0" eaLnBrk="1" fontAlgn="base" hangingPunct="1">
        <a:spcBef>
          <a:spcPts val="0"/>
        </a:spcBef>
        <a:spcAft>
          <a:spcPts val="600"/>
        </a:spcAft>
        <a:buFont typeface="Wingdings" panose="05000000000000000000" pitchFamily="2" charset="2"/>
        <a:buChar char="u"/>
        <a:defRPr kumimoji="1" sz="2800">
          <a:solidFill>
            <a:schemeClr val="tx1"/>
          </a:solidFill>
          <a:latin typeface="+mn-lt"/>
          <a:ea typeface="+mn-ea"/>
        </a:defRPr>
      </a:lvl3pPr>
      <a:lvl4pPr marL="1600200" indent="-228600" algn="l" rtl="0" eaLnBrk="1" fontAlgn="base" hangingPunct="1">
        <a:spcBef>
          <a:spcPct val="20000"/>
        </a:spcBef>
        <a:spcAft>
          <a:spcPct val="0"/>
        </a:spcAft>
        <a:buChar char="–"/>
        <a:defRPr kumimoji="1" sz="2000">
          <a:solidFill>
            <a:srgbClr val="152EAB"/>
          </a:solidFill>
          <a:latin typeface="+mn-lt"/>
          <a:ea typeface="+mn-ea"/>
        </a:defRPr>
      </a:lvl4pPr>
      <a:lvl5pPr marL="2057400" indent="-228600" algn="l" rtl="0" eaLnBrk="1" fontAlgn="base" hangingPunct="1">
        <a:spcBef>
          <a:spcPct val="20000"/>
        </a:spcBef>
        <a:spcAft>
          <a:spcPct val="0"/>
        </a:spcAft>
        <a:defRPr kumimoji="1" sz="2000">
          <a:solidFill>
            <a:srgbClr val="152EAB"/>
          </a:solidFill>
          <a:latin typeface="+mn-lt"/>
          <a:ea typeface="+mn-ea"/>
        </a:defRPr>
      </a:lvl5pPr>
      <a:lvl6pPr marL="2514600" indent="-228600" algn="l" rtl="0" eaLnBrk="1" fontAlgn="base" hangingPunct="1">
        <a:spcBef>
          <a:spcPct val="20000"/>
        </a:spcBef>
        <a:spcAft>
          <a:spcPct val="0"/>
        </a:spcAft>
        <a:defRPr kumimoji="1" sz="2000">
          <a:solidFill>
            <a:srgbClr val="152EAB"/>
          </a:solidFill>
          <a:latin typeface="+mn-lt"/>
          <a:ea typeface="+mn-ea"/>
        </a:defRPr>
      </a:lvl6pPr>
      <a:lvl7pPr marL="2971800" indent="-228600" algn="l" rtl="0" eaLnBrk="1" fontAlgn="base" hangingPunct="1">
        <a:spcBef>
          <a:spcPct val="20000"/>
        </a:spcBef>
        <a:spcAft>
          <a:spcPct val="0"/>
        </a:spcAft>
        <a:defRPr kumimoji="1" sz="2000">
          <a:solidFill>
            <a:srgbClr val="152EAB"/>
          </a:solidFill>
          <a:latin typeface="+mn-lt"/>
          <a:ea typeface="+mn-ea"/>
        </a:defRPr>
      </a:lvl7pPr>
      <a:lvl8pPr marL="3429000" indent="-228600" algn="l" rtl="0" eaLnBrk="1" fontAlgn="base" hangingPunct="1">
        <a:spcBef>
          <a:spcPct val="20000"/>
        </a:spcBef>
        <a:spcAft>
          <a:spcPct val="0"/>
        </a:spcAft>
        <a:defRPr kumimoji="1" sz="2000">
          <a:solidFill>
            <a:srgbClr val="152EAB"/>
          </a:solidFill>
          <a:latin typeface="+mn-lt"/>
          <a:ea typeface="+mn-ea"/>
        </a:defRPr>
      </a:lvl8pPr>
      <a:lvl9pPr marL="3886200" indent="-228600" algn="l" rtl="0" eaLnBrk="1" fontAlgn="base" hangingPunct="1">
        <a:spcBef>
          <a:spcPct val="20000"/>
        </a:spcBef>
        <a:spcAft>
          <a:spcPct val="0"/>
        </a:spcAft>
        <a:defRPr kumimoji="1" sz="2000">
          <a:solidFill>
            <a:srgbClr val="152EAB"/>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xml"/><Relationship Id="rId1" Type="http://schemas.openxmlformats.org/officeDocument/2006/relationships/slideLayout" Target="../slideLayouts/slideLayout5.xml"/><Relationship Id="rId6" Type="http://schemas.openxmlformats.org/officeDocument/2006/relationships/slide" Target="slide38.xml"/><Relationship Id="rId5" Type="http://schemas.openxmlformats.org/officeDocument/2006/relationships/slide" Target="slide27.xml"/><Relationship Id="rId4" Type="http://schemas.openxmlformats.org/officeDocument/2006/relationships/slide" Target="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 Target="slide13.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 Target="slide14.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 Target="slide15.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oleObject" Target="../embeddings/oleObject23.bin"/><Relationship Id="rId7" Type="http://schemas.openxmlformats.org/officeDocument/2006/relationships/oleObject" Target="../embeddings/oleObject25.bin"/><Relationship Id="rId2" Type="http://schemas.openxmlformats.org/officeDocument/2006/relationships/slideLayout" Target="../slideLayouts/slideLayout5.xml"/><Relationship Id="rId1" Type="http://schemas.openxmlformats.org/officeDocument/2006/relationships/vmlDrawing" Target="../drawings/vmlDrawing23.vml"/><Relationship Id="rId6" Type="http://schemas.openxmlformats.org/officeDocument/2006/relationships/image" Target="../media/image9.emf"/><Relationship Id="rId5" Type="http://schemas.openxmlformats.org/officeDocument/2006/relationships/oleObject" Target="../embeddings/oleObject24.bin"/><Relationship Id="rId4" Type="http://schemas.openxmlformats.org/officeDocument/2006/relationships/image" Target="../media/image8.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5.xml"/><Relationship Id="rId1" Type="http://schemas.openxmlformats.org/officeDocument/2006/relationships/vmlDrawing" Target="../drawings/vmlDrawing24.vml"/><Relationship Id="rId4" Type="http://schemas.openxmlformats.org/officeDocument/2006/relationships/image" Target="../media/image11.emf"/></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5.xml"/><Relationship Id="rId1" Type="http://schemas.openxmlformats.org/officeDocument/2006/relationships/vmlDrawing" Target="../drawings/vmlDrawing25.vml"/><Relationship Id="rId6" Type="http://schemas.openxmlformats.org/officeDocument/2006/relationships/image" Target="../media/image13.emf"/><Relationship Id="rId5" Type="http://schemas.openxmlformats.org/officeDocument/2006/relationships/oleObject" Target="../embeddings/oleObject28.bin"/><Relationship Id="rId4" Type="http://schemas.openxmlformats.org/officeDocument/2006/relationships/image" Target="../media/image12.emf"/></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5.xml"/><Relationship Id="rId1" Type="http://schemas.openxmlformats.org/officeDocument/2006/relationships/vmlDrawing" Target="../drawings/vmlDrawing26.vml"/><Relationship Id="rId4" Type="http://schemas.openxmlformats.org/officeDocument/2006/relationships/image" Target="../media/image14.em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5.xml"/><Relationship Id="rId1" Type="http://schemas.openxmlformats.org/officeDocument/2006/relationships/vmlDrawing" Target="../drawings/vmlDrawing27.vml"/><Relationship Id="rId6" Type="http://schemas.openxmlformats.org/officeDocument/2006/relationships/image" Target="../media/image16.emf"/><Relationship Id="rId5" Type="http://schemas.openxmlformats.org/officeDocument/2006/relationships/oleObject" Target="../embeddings/oleObject31.bin"/><Relationship Id="rId4" Type="http://schemas.openxmlformats.org/officeDocument/2006/relationships/image" Target="../media/image15.emf"/></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5.xml"/><Relationship Id="rId1" Type="http://schemas.openxmlformats.org/officeDocument/2006/relationships/vmlDrawing" Target="../drawings/vmlDrawing28.vml"/><Relationship Id="rId4" Type="http://schemas.openxmlformats.org/officeDocument/2006/relationships/image" Target="../media/image17.emf"/></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5.xml"/><Relationship Id="rId1" Type="http://schemas.openxmlformats.org/officeDocument/2006/relationships/vmlDrawing" Target="../drawings/vmlDrawing29.vml"/><Relationship Id="rId6" Type="http://schemas.openxmlformats.org/officeDocument/2006/relationships/image" Target="../media/image19.emf"/><Relationship Id="rId5" Type="http://schemas.openxmlformats.org/officeDocument/2006/relationships/oleObject" Target="../embeddings/oleObject34.bin"/><Relationship Id="rId4" Type="http://schemas.openxmlformats.org/officeDocument/2006/relationships/image" Target="../media/image18.emf"/></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2" Type="http://schemas.openxmlformats.org/officeDocument/2006/relationships/slide" Target="slide65.xml"/><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106.xml.rels><?xml version="1.0" encoding="UTF-8" standalone="yes"?>
<Relationships xmlns="http://schemas.openxmlformats.org/package/2006/relationships"><Relationship Id="rId3" Type="http://schemas.openxmlformats.org/officeDocument/2006/relationships/slide" Target="slide71.xml"/><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0.xml.rels><?xml version="1.0" encoding="UTF-8" standalone="yes"?>
<Relationships xmlns="http://schemas.openxmlformats.org/package/2006/relationships"><Relationship Id="rId2" Type="http://schemas.openxmlformats.org/officeDocument/2006/relationships/slide" Target="slide71.xml"/><Relationship Id="rId1" Type="http://schemas.openxmlformats.org/officeDocument/2006/relationships/slideLayout" Target="../slideLayouts/slideLayout5.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4.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slideLayout" Target="../slideLayouts/slideLayout5.xml"/><Relationship Id="rId4" Type="http://schemas.openxmlformats.org/officeDocument/2006/relationships/tags" Target="../tags/tag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8255" y="1341755"/>
            <a:ext cx="9140825" cy="1727200"/>
          </a:xfrm>
        </p:spPr>
        <p:txBody>
          <a:bodyPr/>
          <a:lstStyle/>
          <a:p>
            <a:pPr>
              <a:defRPr/>
            </a:pPr>
            <a:r>
              <a:rPr lang="en-US" altLang="zh-CN">
                <a:latin typeface="Arial" panose="020B0604020202020204" pitchFamily="34" charset="0"/>
                <a:cs typeface="Arial" panose="020B0604020202020204" pitchFamily="34" charset="0"/>
                <a:sym typeface="+mn-ea"/>
              </a:rPr>
              <a:t>D</a:t>
            </a:r>
            <a:r>
              <a:rPr altLang="zh-CN">
                <a:latin typeface="Arial" panose="020B0604020202020204" pitchFamily="34" charset="0"/>
                <a:cs typeface="Arial" panose="020B0604020202020204" pitchFamily="34" charset="0"/>
                <a:sym typeface="+mn-ea"/>
              </a:rPr>
              <a:t>ata </a:t>
            </a:r>
            <a:r>
              <a:rPr lang="en-US" altLang="zh-CN">
                <a:latin typeface="Arial" panose="020B0604020202020204" pitchFamily="34" charset="0"/>
                <a:cs typeface="Arial" panose="020B0604020202020204" pitchFamily="34" charset="0"/>
                <a:sym typeface="+mn-ea"/>
              </a:rPr>
              <a:t>S</a:t>
            </a:r>
            <a:r>
              <a:rPr altLang="zh-CN">
                <a:latin typeface="Arial" panose="020B0604020202020204" pitchFamily="34" charset="0"/>
                <a:cs typeface="Arial" panose="020B0604020202020204" pitchFamily="34" charset="0"/>
                <a:sym typeface="+mn-ea"/>
              </a:rPr>
              <a:t>tructure</a:t>
            </a:r>
            <a:br>
              <a:rPr>
                <a:solidFill>
                  <a:srgbClr val="FF0000"/>
                </a:solidFill>
                <a:latin typeface="Arial" panose="020B0604020202020204" pitchFamily="34" charset="0"/>
                <a:ea typeface="楷体_GB2312" pitchFamily="49" charset="-122"/>
                <a:cs typeface="Arial" panose="020B0604020202020204" pitchFamily="34" charset="0"/>
                <a:sym typeface="+mn-ea"/>
              </a:rPr>
            </a:br>
            <a:endParaRPr lang="en-US" altLang="zh-CN" dirty="0">
              <a:solidFill>
                <a:srgbClr val="FF0000"/>
              </a:solidFill>
              <a:latin typeface="Arial" panose="020B0604020202020204" pitchFamily="34" charset="0"/>
              <a:ea typeface="楷体_GB2312" pitchFamily="49" charset="-122"/>
              <a:cs typeface="Arial" panose="020B0604020202020204" pitchFamily="34" charset="0"/>
            </a:endParaRPr>
          </a:p>
        </p:txBody>
      </p:sp>
      <p:sp>
        <p:nvSpPr>
          <p:cNvPr id="5123" name="Rectangle 3"/>
          <p:cNvSpPr>
            <a:spLocks noGrp="1" noChangeArrowheads="1"/>
          </p:cNvSpPr>
          <p:nvPr>
            <p:ph type="subTitle" idx="1"/>
          </p:nvPr>
        </p:nvSpPr>
        <p:spPr>
          <a:xfrm>
            <a:off x="8255" y="3573780"/>
            <a:ext cx="9135110" cy="2039620"/>
          </a:xfrm>
        </p:spPr>
        <p:txBody>
          <a:bodyPr/>
          <a:lstStyle/>
          <a:p>
            <a:pPr eaLnBrk="1" hangingPunct="1">
              <a:lnSpc>
                <a:spcPts val="4200"/>
              </a:lnSpc>
            </a:pPr>
            <a:r>
              <a:rPr lang="zh-CN" altLang="en-US" b="1" dirty="0">
                <a:solidFill>
                  <a:srgbClr val="1810B0"/>
                </a:solidFill>
                <a:cs typeface="Arial" panose="020B0604020202020204" pitchFamily="34" charset="0"/>
                <a:sym typeface="+mn-ea"/>
              </a:rPr>
              <a:t>Liu Haiyang</a:t>
            </a:r>
            <a:endParaRPr lang="en-US" altLang="zh-CN" b="1" dirty="0">
              <a:solidFill>
                <a:srgbClr val="1810B0"/>
              </a:solidFill>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755650" y="1341438"/>
            <a:ext cx="7772400" cy="1727200"/>
          </a:xfrm>
        </p:spPr>
        <p:txBody>
          <a:bodyPr/>
          <a:lstStyle/>
          <a:p>
            <a:pPr>
              <a:defRPr/>
            </a:pPr>
            <a:r>
              <a:rPr lang="en-US" altLang="zh-CN">
                <a:latin typeface="Arial" panose="020B0604020202020204" pitchFamily="34" charset="0"/>
                <a:cs typeface="Arial" panose="020B0604020202020204" pitchFamily="34" charset="0"/>
                <a:sym typeface="+mn-ea"/>
              </a:rPr>
              <a:t>S</a:t>
            </a:r>
            <a:r>
              <a:rPr>
                <a:latin typeface="Arial" panose="020B0604020202020204" pitchFamily="34" charset="0"/>
                <a:cs typeface="Arial" panose="020B0604020202020204" pitchFamily="34" charset="0"/>
                <a:sym typeface="+mn-ea"/>
              </a:rPr>
              <a:t>orting </a:t>
            </a:r>
            <a:r>
              <a:rPr lang="en-US" altLang="zh-CN">
                <a:latin typeface="Arial" panose="020B0604020202020204" pitchFamily="34" charset="0"/>
                <a:cs typeface="Arial" panose="020B0604020202020204" pitchFamily="34" charset="0"/>
                <a:sym typeface="+mn-ea"/>
              </a:rPr>
              <a:t>A</a:t>
            </a:r>
            <a:r>
              <a:rPr>
                <a:latin typeface="Arial" panose="020B0604020202020204" pitchFamily="34" charset="0"/>
                <a:cs typeface="Arial" panose="020B0604020202020204" pitchFamily="34" charset="0"/>
                <a:sym typeface="+mn-ea"/>
              </a:rPr>
              <a:t>lgorithm</a:t>
            </a:r>
            <a:endParaRPr lang="en-US" altLang="zh-CN" dirty="0">
              <a:solidFill>
                <a:srgbClr val="FF0000"/>
              </a:solidFill>
              <a:latin typeface="Arial" panose="020B0604020202020204" pitchFamily="34" charset="0"/>
              <a:ea typeface="楷体_GB2312" pitchFamily="49" charset="-122"/>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0" y="116632"/>
            <a:ext cx="7200800" cy="720080"/>
          </a:xfrm>
        </p:spPr>
        <p:txBody>
          <a:bodyPr/>
          <a:lstStyle/>
          <a:p>
            <a:r>
              <a:rPr lang="en-US" altLang="zh-CN" dirty="0">
                <a:sym typeface="+mn-ea"/>
              </a:rPr>
              <a:t>Chapter 9 Contents</a:t>
            </a:r>
            <a:endParaRPr lang="zh-CN" altLang="en-US" dirty="0">
              <a:ea typeface="宋体" panose="02010600030101010101" pitchFamily="2" charset="-122"/>
              <a:cs typeface="Arial" panose="020B0604020202020204" pitchFamily="34" charset="0"/>
            </a:endParaRPr>
          </a:p>
        </p:txBody>
      </p:sp>
      <p:sp>
        <p:nvSpPr>
          <p:cNvPr id="3" name="内容占位符 2"/>
          <p:cNvSpPr>
            <a:spLocks noGrp="1"/>
          </p:cNvSpPr>
          <p:nvPr>
            <p:ph idx="1"/>
          </p:nvPr>
        </p:nvSpPr>
        <p:spPr>
          <a:xfrm>
            <a:off x="251520" y="836712"/>
            <a:ext cx="8640960" cy="5544616"/>
          </a:xfrm>
        </p:spPr>
        <p:txBody>
          <a:bodyPr/>
          <a:lstStyle/>
          <a:p>
            <a:r>
              <a:rPr lang="en-US" altLang="zh-CN" b="1" dirty="0">
                <a:cs typeface="Arial" panose="020B0604020202020204" pitchFamily="34" charset="0"/>
              </a:rPr>
              <a:t>I</a:t>
            </a:r>
            <a:r>
              <a:rPr lang="zh-CN" altLang="en-US" b="1" dirty="0">
                <a:cs typeface="Arial" panose="020B0604020202020204" pitchFamily="34" charset="0"/>
              </a:rPr>
              <a:t>nsertion </a:t>
            </a:r>
            <a:r>
              <a:rPr lang="en-US" altLang="zh-CN" b="1" dirty="0">
                <a:cs typeface="Arial" panose="020B0604020202020204" pitchFamily="34" charset="0"/>
              </a:rPr>
              <a:t>S</a:t>
            </a:r>
            <a:r>
              <a:rPr lang="zh-CN" altLang="en-US" b="1" dirty="0">
                <a:cs typeface="Arial" panose="020B0604020202020204" pitchFamily="34" charset="0"/>
              </a:rPr>
              <a:t>ort</a:t>
            </a:r>
            <a:endParaRPr lang="en-US" altLang="zh-CN" b="1" dirty="0">
              <a:cs typeface="Arial" panose="020B0604020202020204" pitchFamily="34" charset="0"/>
            </a:endParaRPr>
          </a:p>
          <a:p>
            <a:r>
              <a:rPr lang="zh-CN" altLang="en-US" b="1" dirty="0">
                <a:cs typeface="Arial" panose="020B0604020202020204" pitchFamily="34" charset="0"/>
              </a:rPr>
              <a:t>Exchange </a:t>
            </a:r>
            <a:r>
              <a:rPr lang="en-US" altLang="zh-CN" b="1" dirty="0">
                <a:cs typeface="Arial" panose="020B0604020202020204" pitchFamily="34" charset="0"/>
              </a:rPr>
              <a:t>S</a:t>
            </a:r>
            <a:r>
              <a:rPr lang="zh-CN" altLang="en-US" b="1" dirty="0">
                <a:cs typeface="Arial" panose="020B0604020202020204" pitchFamily="34" charset="0"/>
              </a:rPr>
              <a:t>ort (</a:t>
            </a:r>
            <a:r>
              <a:rPr lang="en-US" altLang="zh-CN" b="1" dirty="0">
                <a:cs typeface="Arial" panose="020B0604020202020204" pitchFamily="34" charset="0"/>
              </a:rPr>
              <a:t>B</a:t>
            </a:r>
            <a:r>
              <a:rPr lang="zh-CN" altLang="en-US" b="1" dirty="0">
                <a:cs typeface="Arial" panose="020B0604020202020204" pitchFamily="34" charset="0"/>
              </a:rPr>
              <a:t>ubble </a:t>
            </a:r>
            <a:r>
              <a:rPr lang="en-US" altLang="zh-CN" b="1" dirty="0">
                <a:cs typeface="Arial" panose="020B0604020202020204" pitchFamily="34" charset="0"/>
              </a:rPr>
              <a:t>S</a:t>
            </a:r>
            <a:r>
              <a:rPr lang="zh-CN" altLang="en-US" b="1" dirty="0">
                <a:cs typeface="Arial" panose="020B0604020202020204" pitchFamily="34" charset="0"/>
              </a:rPr>
              <a:t>ort, </a:t>
            </a:r>
            <a:r>
              <a:rPr lang="en-US" altLang="zh-CN" b="1" dirty="0">
                <a:cs typeface="Arial" panose="020B0604020202020204" pitchFamily="34" charset="0"/>
              </a:rPr>
              <a:t>Q</a:t>
            </a:r>
            <a:r>
              <a:rPr lang="zh-CN" altLang="en-US" b="1" dirty="0">
                <a:cs typeface="Arial" panose="020B0604020202020204" pitchFamily="34" charset="0"/>
              </a:rPr>
              <a:t>uick </a:t>
            </a:r>
            <a:r>
              <a:rPr lang="en-US" altLang="zh-CN" b="1" dirty="0">
                <a:cs typeface="Arial" panose="020B0604020202020204" pitchFamily="34" charset="0"/>
              </a:rPr>
              <a:t>S</a:t>
            </a:r>
            <a:r>
              <a:rPr lang="zh-CN" altLang="en-US" b="1" dirty="0">
                <a:cs typeface="Arial" panose="020B0604020202020204" pitchFamily="34" charset="0"/>
              </a:rPr>
              <a:t>ort)</a:t>
            </a:r>
            <a:endParaRPr lang="en-US" altLang="zh-CN" b="1" dirty="0">
              <a:cs typeface="Arial" panose="020B0604020202020204" pitchFamily="34" charset="0"/>
            </a:endParaRPr>
          </a:p>
          <a:p>
            <a:r>
              <a:rPr lang="en-US" altLang="zh-CN" b="1" dirty="0">
                <a:cs typeface="Arial" panose="020B0604020202020204" pitchFamily="34" charset="0"/>
              </a:rPr>
              <a:t>Selection Sort</a:t>
            </a:r>
            <a:r>
              <a:rPr lang="zh-CN" altLang="en-US" b="1" dirty="0">
                <a:cs typeface="Arial" panose="020B0604020202020204" pitchFamily="34" charset="0"/>
              </a:rPr>
              <a:t> (Simple Sort, Heap Sort)</a:t>
            </a:r>
            <a:endParaRPr lang="en-US" altLang="zh-CN" b="1" dirty="0">
              <a:cs typeface="Arial" panose="020B0604020202020204" pitchFamily="34" charset="0"/>
            </a:endParaRPr>
          </a:p>
          <a:p>
            <a:r>
              <a:rPr lang="en-US" altLang="zh-CN" b="1" dirty="0">
                <a:cs typeface="Arial" panose="020B0604020202020204" pitchFamily="34" charset="0"/>
              </a:rPr>
              <a:t>M</a:t>
            </a:r>
            <a:r>
              <a:rPr lang="zh-CN" altLang="en-US" b="1" dirty="0">
                <a:cs typeface="Arial" panose="020B0604020202020204" pitchFamily="34" charset="0"/>
              </a:rPr>
              <a:t>erge </a:t>
            </a:r>
            <a:r>
              <a:rPr lang="en-US" altLang="zh-CN" b="1" dirty="0">
                <a:cs typeface="Arial" panose="020B0604020202020204" pitchFamily="34" charset="0"/>
              </a:rPr>
              <a:t>S</a:t>
            </a:r>
            <a:r>
              <a:rPr lang="zh-CN" altLang="en-US" b="1" dirty="0">
                <a:cs typeface="Arial" panose="020B0604020202020204" pitchFamily="34" charset="0"/>
              </a:rPr>
              <a:t>ort</a:t>
            </a:r>
            <a:endParaRPr lang="en-US" altLang="zh-CN" b="1" dirty="0">
              <a:cs typeface="Arial" panose="020B0604020202020204" pitchFamily="34" charset="0"/>
            </a:endParaRPr>
          </a:p>
          <a:p>
            <a:r>
              <a:rPr lang="en-US" altLang="zh-CN" b="1" dirty="0">
                <a:cs typeface="Arial" panose="020B0604020202020204" pitchFamily="34" charset="0"/>
              </a:rPr>
              <a:t>R</a:t>
            </a:r>
            <a:r>
              <a:rPr lang="zh-CN" altLang="en-US" b="1" dirty="0">
                <a:cs typeface="Arial" panose="020B0604020202020204" pitchFamily="34" charset="0"/>
              </a:rPr>
              <a:t>adix </a:t>
            </a:r>
            <a:r>
              <a:rPr lang="en-US" altLang="zh-CN" b="1" dirty="0">
                <a:cs typeface="Arial" panose="020B0604020202020204" pitchFamily="34" charset="0"/>
              </a:rPr>
              <a:t>S</a:t>
            </a:r>
            <a:r>
              <a:rPr lang="zh-CN" altLang="en-US" b="1" dirty="0">
                <a:cs typeface="Arial" panose="020B0604020202020204" pitchFamily="34" charset="0"/>
              </a:rPr>
              <a:t>orting</a:t>
            </a:r>
            <a:endParaRPr lang="en-US" altLang="zh-CN" b="1" dirty="0">
              <a:cs typeface="Arial" panose="020B0604020202020204" pitchFamily="34" charset="0"/>
            </a:endParaRPr>
          </a:p>
          <a:p>
            <a:r>
              <a:rPr lang="zh-CN" altLang="en-US" b="1" dirty="0">
                <a:cs typeface="Arial" panose="020B0604020202020204" pitchFamily="34" charset="0"/>
              </a:rPr>
              <a:t>A Comprehensive Comparison of Various Sorting Methods</a:t>
            </a:r>
          </a:p>
          <a:p>
            <a:endParaRPr lang="zh-CN" altLang="en-US" b="1" dirty="0">
              <a:cs typeface="Arial" panose="020B0604020202020204" pitchFamily="34" charset="0"/>
            </a:endParaRPr>
          </a:p>
        </p:txBody>
      </p:sp>
      <p:sp>
        <p:nvSpPr>
          <p:cNvPr id="4" name="页脚占位符 3"/>
          <p:cNvSpPr>
            <a:spLocks noGrp="1"/>
          </p:cNvSpPr>
          <p:nvPr>
            <p:ph type="ftr" sz="quarter" idx="10"/>
          </p:nvPr>
        </p:nvSpPr>
        <p:spPr/>
        <p:txBody>
          <a:bodyPr/>
          <a:lstStyle/>
          <a:p>
            <a:pPr>
              <a:defRPr/>
            </a:pPr>
            <a:r>
              <a:rPr lang="en-US" altLang="zh-CN"/>
              <a:t>@ Zhihai Wang, 2025</a:t>
            </a:r>
            <a:endParaRPr lang="en-US" altLang="zh-CN" dirty="0"/>
          </a:p>
        </p:txBody>
      </p:sp>
      <p:sp>
        <p:nvSpPr>
          <p:cNvPr id="5" name="灯片编号占位符 4"/>
          <p:cNvSpPr>
            <a:spLocks noGrp="1"/>
          </p:cNvSpPr>
          <p:nvPr>
            <p:ph type="sldNum" sz="quarter" idx="11"/>
          </p:nvPr>
        </p:nvSpPr>
        <p:spPr/>
        <p:txBody>
          <a:bodyPr/>
          <a:lstStyle/>
          <a:p>
            <a:pPr>
              <a:defRPr/>
            </a:pPr>
            <a:fld id="{B40C3BFD-24D0-4966-81A9-4BDD3454C069}" type="slidenum">
              <a:rPr lang="en-US" altLang="zh-CN" smtClean="0"/>
              <a:t>3</a:t>
            </a:fld>
            <a:endParaRPr lang="en-US" altLang="zh-C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CC0000"/>
                </a:solidFill>
                <a:latin typeface="Arial" panose="020B0604020202020204" pitchFamily="34" charset="0"/>
                <a:cs typeface="Arial" panose="020B0604020202020204" pitchFamily="34" charset="0"/>
              </a:rPr>
              <a:t>Chapter </a:t>
            </a:r>
            <a:r>
              <a:rPr lang="en-GB" altLang="zh-CN" dirty="0">
                <a:solidFill>
                  <a:srgbClr val="CC0000"/>
                </a:solidFill>
                <a:cs typeface="Arial" panose="020B0604020202020204" pitchFamily="34" charset="0"/>
              </a:rPr>
              <a:t>9</a:t>
            </a:r>
            <a:endParaRPr lang="zh-CN" altLang="en-US" dirty="0">
              <a:ea typeface="宋体" panose="02010600030101010101" pitchFamily="2" charset="-122"/>
            </a:endParaRPr>
          </a:p>
        </p:txBody>
      </p:sp>
      <p:sp>
        <p:nvSpPr>
          <p:cNvPr id="3" name="内容占位符 2"/>
          <p:cNvSpPr>
            <a:spLocks noGrp="1"/>
          </p:cNvSpPr>
          <p:nvPr>
            <p:ph idx="1"/>
          </p:nvPr>
        </p:nvSpPr>
        <p:spPr>
          <a:xfrm>
            <a:off x="251520" y="980728"/>
            <a:ext cx="8640960" cy="5400600"/>
          </a:xfrm>
        </p:spPr>
        <p:txBody>
          <a:bodyPr/>
          <a:lstStyle/>
          <a:p>
            <a:r>
              <a:rPr lang="en-US" altLang="zh-CN" b="1" dirty="0">
                <a:solidFill>
                  <a:srgbClr val="008000"/>
                </a:solidFill>
                <a:cs typeface="Arial" panose="020B0604020202020204" pitchFamily="34" charset="0"/>
              </a:rPr>
              <a:t>K</a:t>
            </a:r>
            <a:r>
              <a:rPr lang="zh-CN" altLang="en-US" b="1" dirty="0">
                <a:solidFill>
                  <a:srgbClr val="008000"/>
                </a:solidFill>
                <a:cs typeface="Arial" panose="020B0604020202020204" pitchFamily="34" charset="0"/>
              </a:rPr>
              <a:t>ey teaching points ：</a:t>
            </a:r>
            <a:endParaRPr lang="en-US" altLang="zh-CN" b="1" dirty="0">
              <a:solidFill>
                <a:srgbClr val="008000"/>
              </a:solidFill>
              <a:cs typeface="Arial" panose="020B0604020202020204" pitchFamily="34" charset="0"/>
            </a:endParaRPr>
          </a:p>
          <a:p>
            <a:pPr lvl="1"/>
            <a:r>
              <a:rPr lang="zh-CN" altLang="en-US" b="1" dirty="0">
                <a:cs typeface="Arial" panose="020B0604020202020204" pitchFamily="34" charset="0"/>
              </a:rPr>
              <a:t>The characteristics of various sorting methods and their flexible application;</a:t>
            </a:r>
            <a:endParaRPr lang="en-US" altLang="zh-CN" b="1" dirty="0">
              <a:cs typeface="Arial" panose="020B0604020202020204" pitchFamily="34" charset="0"/>
            </a:endParaRPr>
          </a:p>
          <a:p>
            <a:pPr lvl="1"/>
            <a:r>
              <a:rPr lang="zh-CN" altLang="en-US" b="1" dirty="0">
                <a:solidFill>
                  <a:srgbClr val="FF0000"/>
                </a:solidFill>
                <a:cs typeface="Arial" panose="020B0604020202020204" pitchFamily="34" charset="0"/>
              </a:rPr>
              <a:t>The sorting process of various methods;</a:t>
            </a:r>
            <a:endParaRPr lang="en-US" altLang="zh-CN" b="1" dirty="0">
              <a:cs typeface="Arial" panose="020B0604020202020204" pitchFamily="34" charset="0"/>
            </a:endParaRPr>
          </a:p>
          <a:p>
            <a:pPr lvl="1"/>
            <a:r>
              <a:rPr lang="zh-CN" altLang="en-US" b="1" dirty="0">
                <a:cs typeface="Arial" panose="020B0604020202020204" pitchFamily="34" charset="0"/>
              </a:rPr>
              <a:t>Time </a:t>
            </a:r>
            <a:r>
              <a:rPr lang="en-US" altLang="zh-CN" b="1" dirty="0">
                <a:cs typeface="Arial" panose="020B0604020202020204" pitchFamily="34" charset="0"/>
              </a:rPr>
              <a:t>c</a:t>
            </a:r>
            <a:r>
              <a:rPr lang="zh-CN" altLang="en-US" b="1" dirty="0">
                <a:cs typeface="Arial" panose="020B0604020202020204" pitchFamily="34" charset="0"/>
              </a:rPr>
              <a:t>omplexity </a:t>
            </a:r>
            <a:r>
              <a:rPr lang="en-US" altLang="zh-CN" b="1" dirty="0">
                <a:cs typeface="Arial" panose="020B0604020202020204" pitchFamily="34" charset="0"/>
              </a:rPr>
              <a:t>a</a:t>
            </a:r>
            <a:r>
              <a:rPr lang="zh-CN" altLang="en-US" b="1" dirty="0">
                <a:cs typeface="Arial" panose="020B0604020202020204" pitchFamily="34" charset="0"/>
              </a:rPr>
              <a:t>nalysis of </a:t>
            </a:r>
            <a:r>
              <a:rPr lang="en-US" altLang="zh-CN" b="1" dirty="0">
                <a:cs typeface="Arial" panose="020B0604020202020204" pitchFamily="34" charset="0"/>
              </a:rPr>
              <a:t>v</a:t>
            </a:r>
            <a:r>
              <a:rPr lang="zh-CN" altLang="en-US" b="1" dirty="0">
                <a:cs typeface="Arial" panose="020B0604020202020204" pitchFamily="34" charset="0"/>
              </a:rPr>
              <a:t>arious </a:t>
            </a:r>
            <a:r>
              <a:rPr lang="en-US" altLang="zh-CN" b="1" dirty="0">
                <a:cs typeface="Arial" panose="020B0604020202020204" pitchFamily="34" charset="0"/>
              </a:rPr>
              <a:t>s</a:t>
            </a:r>
            <a:r>
              <a:rPr lang="zh-CN" altLang="en-US" b="1" dirty="0">
                <a:cs typeface="Arial" panose="020B0604020202020204" pitchFamily="34" charset="0"/>
              </a:rPr>
              <a:t>orting </a:t>
            </a:r>
            <a:r>
              <a:rPr lang="en-US" altLang="zh-CN" b="1" dirty="0">
                <a:cs typeface="Arial" panose="020B0604020202020204" pitchFamily="34" charset="0"/>
              </a:rPr>
              <a:t>m</a:t>
            </a:r>
            <a:r>
              <a:rPr lang="zh-CN" altLang="en-US" b="1" dirty="0">
                <a:cs typeface="Arial" panose="020B0604020202020204" pitchFamily="34" charset="0"/>
              </a:rPr>
              <a:t>ethods</a:t>
            </a:r>
          </a:p>
          <a:p>
            <a:pPr>
              <a:defRPr/>
            </a:pPr>
            <a:r>
              <a:rPr lang="en-US" altLang="zh-CN" b="1" dirty="0">
                <a:solidFill>
                  <a:srgbClr val="008000"/>
                </a:solidFill>
                <a:cs typeface="Arial" panose="020B0604020202020204" pitchFamily="34" charset="0"/>
              </a:rPr>
              <a:t>D</a:t>
            </a:r>
            <a:r>
              <a:rPr lang="zh-CN" altLang="en-US" b="1" dirty="0">
                <a:solidFill>
                  <a:srgbClr val="008000"/>
                </a:solidFill>
                <a:cs typeface="Arial" panose="020B0604020202020204" pitchFamily="34" charset="0"/>
              </a:rPr>
              <a:t>ifficult point in teaching ：</a:t>
            </a:r>
            <a:endParaRPr lang="en-US" altLang="zh-CN" b="1" dirty="0">
              <a:solidFill>
                <a:srgbClr val="008000"/>
              </a:solidFill>
              <a:cs typeface="Arial" panose="020B0604020202020204" pitchFamily="34" charset="0"/>
            </a:endParaRPr>
          </a:p>
          <a:p>
            <a:pPr lvl="1">
              <a:spcAft>
                <a:spcPct val="0"/>
              </a:spcAft>
              <a:defRPr/>
            </a:pPr>
            <a:r>
              <a:rPr lang="zh-CN" altLang="en-US" b="1" dirty="0">
                <a:cs typeface="Arial" panose="020B0604020202020204" pitchFamily="34" charset="0"/>
              </a:rPr>
              <a:t>The </a:t>
            </a:r>
            <a:r>
              <a:rPr lang="en-US" altLang="zh-CN" b="1" dirty="0">
                <a:cs typeface="Arial" panose="020B0604020202020204" pitchFamily="34" charset="0"/>
              </a:rPr>
              <a:t>c</a:t>
            </a:r>
            <a:r>
              <a:rPr lang="zh-CN" altLang="en-US" b="1" dirty="0">
                <a:cs typeface="Arial" panose="020B0604020202020204" pitchFamily="34" charset="0"/>
              </a:rPr>
              <a:t>haracteristics and </a:t>
            </a:r>
            <a:r>
              <a:rPr lang="en-US" altLang="zh-CN" b="1" dirty="0">
                <a:cs typeface="Arial" panose="020B0604020202020204" pitchFamily="34" charset="0"/>
              </a:rPr>
              <a:t>t</a:t>
            </a:r>
            <a:r>
              <a:rPr lang="zh-CN" altLang="en-US" b="1" dirty="0">
                <a:cs typeface="Arial" panose="020B0604020202020204" pitchFamily="34" charset="0"/>
              </a:rPr>
              <a:t>ime </a:t>
            </a:r>
            <a:r>
              <a:rPr lang="en-US" altLang="zh-CN" b="1" dirty="0">
                <a:cs typeface="Arial" panose="020B0604020202020204" pitchFamily="34" charset="0"/>
              </a:rPr>
              <a:t>c</a:t>
            </a:r>
            <a:r>
              <a:rPr lang="zh-CN" altLang="en-US" b="1" dirty="0">
                <a:cs typeface="Arial" panose="020B0604020202020204" pitchFamily="34" charset="0"/>
              </a:rPr>
              <a:t>omplexity </a:t>
            </a:r>
            <a:r>
              <a:rPr lang="en-US" altLang="zh-CN" b="1" dirty="0">
                <a:cs typeface="Arial" panose="020B0604020202020204" pitchFamily="34" charset="0"/>
              </a:rPr>
              <a:t>a</a:t>
            </a:r>
            <a:r>
              <a:rPr lang="zh-CN" altLang="en-US" b="1" dirty="0">
                <a:cs typeface="Arial" panose="020B0604020202020204" pitchFamily="34" charset="0"/>
              </a:rPr>
              <a:t>nalysis of </a:t>
            </a:r>
            <a:r>
              <a:rPr lang="en-US" altLang="zh-CN" b="1" dirty="0">
                <a:cs typeface="Arial" panose="020B0604020202020204" pitchFamily="34" charset="0"/>
              </a:rPr>
              <a:t>v</a:t>
            </a:r>
            <a:r>
              <a:rPr lang="zh-CN" altLang="en-US" b="1" dirty="0">
                <a:cs typeface="Arial" panose="020B0604020202020204" pitchFamily="34" charset="0"/>
              </a:rPr>
              <a:t>arious </a:t>
            </a:r>
            <a:r>
              <a:rPr lang="en-US" altLang="zh-CN" b="1" dirty="0">
                <a:cs typeface="Arial" panose="020B0604020202020204" pitchFamily="34" charset="0"/>
              </a:rPr>
              <a:t>s</a:t>
            </a:r>
            <a:r>
              <a:rPr lang="zh-CN" altLang="en-US" b="1" dirty="0">
                <a:cs typeface="Arial" panose="020B0604020202020204" pitchFamily="34" charset="0"/>
              </a:rPr>
              <a:t>orting </a:t>
            </a:r>
            <a:r>
              <a:rPr lang="en-US" altLang="zh-CN" b="1" dirty="0">
                <a:cs typeface="Arial" panose="020B0604020202020204" pitchFamily="34" charset="0"/>
              </a:rPr>
              <a:t>m</a:t>
            </a:r>
            <a:r>
              <a:rPr lang="zh-CN" altLang="en-US" b="1" dirty="0">
                <a:cs typeface="Arial" panose="020B0604020202020204" pitchFamily="34" charset="0"/>
              </a:rPr>
              <a:t>ethods</a:t>
            </a:r>
          </a:p>
        </p:txBody>
      </p:sp>
      <p:sp>
        <p:nvSpPr>
          <p:cNvPr id="4" name="页脚占位符 3"/>
          <p:cNvSpPr>
            <a:spLocks noGrp="1"/>
          </p:cNvSpPr>
          <p:nvPr>
            <p:ph type="ftr" sz="quarter" idx="10"/>
          </p:nvPr>
        </p:nvSpPr>
        <p:spPr/>
        <p:txBody>
          <a:bodyPr/>
          <a:lstStyle/>
          <a:p>
            <a:pPr>
              <a:defRPr/>
            </a:pPr>
            <a:r>
              <a:rPr lang="en-US" altLang="zh-CN"/>
              <a:t>@ Zhihai Wang, 2025</a:t>
            </a:r>
            <a:endParaRPr lang="en-US" altLang="zh-CN" dirty="0"/>
          </a:p>
        </p:txBody>
      </p:sp>
      <p:sp>
        <p:nvSpPr>
          <p:cNvPr id="5" name="灯片编号占位符 4"/>
          <p:cNvSpPr>
            <a:spLocks noGrp="1"/>
          </p:cNvSpPr>
          <p:nvPr>
            <p:ph type="sldNum" sz="quarter" idx="11"/>
          </p:nvPr>
        </p:nvSpPr>
        <p:spPr/>
        <p:txBody>
          <a:bodyPr/>
          <a:lstStyle/>
          <a:p>
            <a:pPr>
              <a:defRPr/>
            </a:pPr>
            <a:fld id="{B40C3BFD-24D0-4966-81A9-4BDD3454C069}" type="slidenum">
              <a:rPr lang="en-US" altLang="zh-CN" smtClean="0"/>
              <a:t>4</a:t>
            </a:fld>
            <a:endParaRPr lang="en-US" altLang="zh-C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0" y="116632"/>
            <a:ext cx="7200800" cy="720080"/>
          </a:xfrm>
        </p:spPr>
        <p:txBody>
          <a:bodyPr/>
          <a:lstStyle/>
          <a:p>
            <a:r>
              <a:rPr altLang="zh-CN">
                <a:effectLst/>
                <a:sym typeface="+mn-ea"/>
              </a:rPr>
              <a:t>Chapter Contents</a:t>
            </a:r>
            <a:endParaRPr lang="zh-CN" altLang="en-US" dirty="0">
              <a:ea typeface="宋体" panose="02010600030101010101" pitchFamily="2" charset="-122"/>
              <a:cs typeface="Arial" panose="020B0604020202020204" pitchFamily="34" charset="0"/>
            </a:endParaRPr>
          </a:p>
        </p:txBody>
      </p:sp>
      <p:sp>
        <p:nvSpPr>
          <p:cNvPr id="3" name="内容占位符 2"/>
          <p:cNvSpPr>
            <a:spLocks noGrp="1"/>
          </p:cNvSpPr>
          <p:nvPr>
            <p:ph idx="1"/>
          </p:nvPr>
        </p:nvSpPr>
        <p:spPr>
          <a:xfrm>
            <a:off x="251520" y="836712"/>
            <a:ext cx="8640960" cy="5544616"/>
          </a:xfrm>
        </p:spPr>
        <p:txBody>
          <a:bodyPr/>
          <a:lstStyle/>
          <a:p>
            <a:r>
              <a:rPr lang="en-US" altLang="zh-CN" b="1" dirty="0">
                <a:cs typeface="Arial" panose="020B0604020202020204" pitchFamily="34" charset="0"/>
              </a:rPr>
              <a:t>I</a:t>
            </a:r>
            <a:r>
              <a:rPr lang="zh-CN" altLang="en-US" b="1" dirty="0">
                <a:cs typeface="Arial" panose="020B0604020202020204" pitchFamily="34" charset="0"/>
              </a:rPr>
              <a:t>nsertion </a:t>
            </a:r>
            <a:r>
              <a:rPr lang="en-US" altLang="zh-CN" b="1" dirty="0">
                <a:cs typeface="Arial" panose="020B0604020202020204" pitchFamily="34" charset="0"/>
              </a:rPr>
              <a:t>S</a:t>
            </a:r>
            <a:r>
              <a:rPr lang="zh-CN" altLang="en-US" b="1" dirty="0">
                <a:cs typeface="Arial" panose="020B0604020202020204" pitchFamily="34" charset="0"/>
              </a:rPr>
              <a:t>ort</a:t>
            </a:r>
            <a:endParaRPr lang="en-US" altLang="zh-CN" b="1" dirty="0">
              <a:cs typeface="Arial" panose="020B0604020202020204" pitchFamily="34" charset="0"/>
            </a:endParaRPr>
          </a:p>
          <a:p>
            <a:r>
              <a:rPr lang="zh-CN" altLang="en-US" b="1" dirty="0">
                <a:cs typeface="Arial" panose="020B0604020202020204" pitchFamily="34" charset="0"/>
              </a:rPr>
              <a:t>Exchange </a:t>
            </a:r>
            <a:r>
              <a:rPr lang="en-US" altLang="zh-CN" b="1" dirty="0">
                <a:cs typeface="Arial" panose="020B0604020202020204" pitchFamily="34" charset="0"/>
              </a:rPr>
              <a:t>S</a:t>
            </a:r>
            <a:r>
              <a:rPr lang="zh-CN" altLang="en-US" b="1" dirty="0">
                <a:cs typeface="Arial" panose="020B0604020202020204" pitchFamily="34" charset="0"/>
              </a:rPr>
              <a:t>ort </a:t>
            </a:r>
            <a:r>
              <a:rPr lang="en-US" altLang="zh-CN" b="1" dirty="0">
                <a:cs typeface="Arial" panose="020B0604020202020204" pitchFamily="34" charset="0"/>
              </a:rPr>
              <a:t> </a:t>
            </a:r>
          </a:p>
          <a:p>
            <a:r>
              <a:rPr lang="en-US" altLang="zh-CN" b="1" dirty="0">
                <a:cs typeface="Arial" panose="020B0604020202020204" pitchFamily="34" charset="0"/>
              </a:rPr>
              <a:t>Selection Sort</a:t>
            </a:r>
            <a:r>
              <a:rPr lang="zh-CN" altLang="en-US" b="1" dirty="0">
                <a:cs typeface="Arial" panose="020B0604020202020204" pitchFamily="34" charset="0"/>
              </a:rPr>
              <a:t> </a:t>
            </a:r>
            <a:r>
              <a:rPr lang="en-US" altLang="zh-CN" b="1" dirty="0">
                <a:cs typeface="Arial" panose="020B0604020202020204" pitchFamily="34" charset="0"/>
              </a:rPr>
              <a:t> </a:t>
            </a:r>
          </a:p>
          <a:p>
            <a:r>
              <a:rPr lang="en-US" altLang="zh-CN" b="1" dirty="0">
                <a:cs typeface="Arial" panose="020B0604020202020204" pitchFamily="34" charset="0"/>
              </a:rPr>
              <a:t>M</a:t>
            </a:r>
            <a:r>
              <a:rPr lang="zh-CN" altLang="en-US" b="1" dirty="0">
                <a:cs typeface="Arial" panose="020B0604020202020204" pitchFamily="34" charset="0"/>
              </a:rPr>
              <a:t>erge </a:t>
            </a:r>
            <a:r>
              <a:rPr lang="en-US" altLang="zh-CN" b="1" dirty="0">
                <a:cs typeface="Arial" panose="020B0604020202020204" pitchFamily="34" charset="0"/>
              </a:rPr>
              <a:t>S</a:t>
            </a:r>
            <a:r>
              <a:rPr lang="zh-CN" altLang="en-US" b="1" dirty="0">
                <a:cs typeface="Arial" panose="020B0604020202020204" pitchFamily="34" charset="0"/>
              </a:rPr>
              <a:t>ort</a:t>
            </a:r>
            <a:endParaRPr lang="en-US" altLang="zh-CN" b="1" dirty="0">
              <a:cs typeface="Arial" panose="020B0604020202020204" pitchFamily="34" charset="0"/>
            </a:endParaRPr>
          </a:p>
          <a:p>
            <a:r>
              <a:rPr lang="en-US" altLang="zh-CN" b="1" dirty="0">
                <a:cs typeface="Arial" panose="020B0604020202020204" pitchFamily="34" charset="0"/>
              </a:rPr>
              <a:t>R</a:t>
            </a:r>
            <a:r>
              <a:rPr lang="zh-CN" altLang="en-US" b="1" dirty="0">
                <a:cs typeface="Arial" panose="020B0604020202020204" pitchFamily="34" charset="0"/>
              </a:rPr>
              <a:t>adix </a:t>
            </a:r>
            <a:r>
              <a:rPr lang="en-US" altLang="zh-CN" b="1" dirty="0">
                <a:cs typeface="Arial" panose="020B0604020202020204" pitchFamily="34" charset="0"/>
              </a:rPr>
              <a:t>S</a:t>
            </a:r>
            <a:r>
              <a:rPr lang="zh-CN" altLang="en-US" b="1" dirty="0">
                <a:cs typeface="Arial" panose="020B0604020202020204" pitchFamily="34" charset="0"/>
              </a:rPr>
              <a:t>orting</a:t>
            </a:r>
            <a:endParaRPr lang="en-US" altLang="zh-CN" b="1" dirty="0">
              <a:cs typeface="Arial" panose="020B0604020202020204" pitchFamily="34" charset="0"/>
            </a:endParaRPr>
          </a:p>
          <a:p>
            <a:r>
              <a:rPr lang="zh-CN" altLang="en-US" b="1" dirty="0">
                <a:cs typeface="Arial" panose="020B0604020202020204" pitchFamily="34" charset="0"/>
              </a:rPr>
              <a:t>A Comprehensive Comparison of Various Sorting Methods</a:t>
            </a:r>
            <a:endParaRPr lang="en-US" altLang="zh-CN" b="1" dirty="0">
              <a:cs typeface="Arial" panose="020B0604020202020204" pitchFamily="34" charset="0"/>
            </a:endParaRPr>
          </a:p>
          <a:p>
            <a:pPr marL="0" indent="0">
              <a:buNone/>
            </a:pPr>
            <a:endParaRPr lang="zh-CN" altLang="en-US" b="1" dirty="0">
              <a:cs typeface="Arial" panose="020B0604020202020204" pitchFamily="34" charset="0"/>
            </a:endParaRPr>
          </a:p>
        </p:txBody>
      </p:sp>
      <p:sp>
        <p:nvSpPr>
          <p:cNvPr id="4" name="页脚占位符 3"/>
          <p:cNvSpPr>
            <a:spLocks noGrp="1"/>
          </p:cNvSpPr>
          <p:nvPr>
            <p:ph type="ftr" sz="quarter" idx="10"/>
          </p:nvPr>
        </p:nvSpPr>
        <p:spPr/>
        <p:txBody>
          <a:bodyPr/>
          <a:lstStyle/>
          <a:p>
            <a:pPr>
              <a:defRPr/>
            </a:pPr>
            <a:r>
              <a:rPr lang="en-US" altLang="zh-CN"/>
              <a:t>@ Zhihai Wang, 2025</a:t>
            </a:r>
            <a:endParaRPr lang="en-US" altLang="zh-CN" dirty="0"/>
          </a:p>
        </p:txBody>
      </p:sp>
      <p:sp>
        <p:nvSpPr>
          <p:cNvPr id="5" name="灯片编号占位符 4"/>
          <p:cNvSpPr>
            <a:spLocks noGrp="1"/>
          </p:cNvSpPr>
          <p:nvPr>
            <p:ph type="sldNum" sz="quarter" idx="11"/>
          </p:nvPr>
        </p:nvSpPr>
        <p:spPr/>
        <p:txBody>
          <a:bodyPr/>
          <a:lstStyle/>
          <a:p>
            <a:pPr>
              <a:defRPr/>
            </a:pPr>
            <a:fld id="{B40C3BFD-24D0-4966-81A9-4BDD3454C069}" type="slidenum">
              <a:rPr lang="en-US" altLang="zh-CN" smtClean="0"/>
              <a:t>5</a:t>
            </a:fld>
            <a:endParaRPr lang="en-US" altLang="zh-C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cs typeface="Arial" panose="020B0604020202020204" pitchFamily="34" charset="0"/>
              </a:rPr>
              <a:t>Definition of sorting</a:t>
            </a:r>
          </a:p>
        </p:txBody>
      </p:sp>
      <p:sp>
        <p:nvSpPr>
          <p:cNvPr id="3" name="内容占位符 2"/>
          <p:cNvSpPr>
            <a:spLocks noGrp="1"/>
          </p:cNvSpPr>
          <p:nvPr>
            <p:ph idx="1"/>
          </p:nvPr>
        </p:nvSpPr>
        <p:spPr/>
        <p:txBody>
          <a:bodyPr/>
          <a:lstStyle/>
          <a:p>
            <a:r>
              <a:rPr lang="zh-CN" altLang="en-US" sz="2800" dirty="0">
                <a:ea typeface="楷体_GB2312" pitchFamily="49" charset="-122"/>
                <a:cs typeface="Arial" panose="020B0604020202020204" pitchFamily="34" charset="0"/>
              </a:rPr>
              <a:t>Sorting is a kind of operation which is often performed in computer </a:t>
            </a:r>
            <a:r>
              <a:rPr lang="en-GB" altLang="zh-CN" sz="2800" dirty="0">
                <a:ea typeface="楷体_GB2312" pitchFamily="49" charset="-122"/>
                <a:cs typeface="Arial" panose="020B0604020202020204" pitchFamily="34" charset="0"/>
              </a:rPr>
              <a:t>science</a:t>
            </a:r>
            <a:r>
              <a:rPr lang="zh-CN" altLang="en-US" sz="2800" dirty="0">
                <a:ea typeface="楷体_GB2312" pitchFamily="49" charset="-122"/>
                <a:cs typeface="Arial" panose="020B0604020202020204" pitchFamily="34" charset="0"/>
              </a:rPr>
              <a:t>, and its purpose is to adjust a set of "</a:t>
            </a:r>
            <a:r>
              <a:rPr lang="zh-CN" altLang="en-US" sz="2800" b="1" dirty="0">
                <a:solidFill>
                  <a:srgbClr val="990000"/>
                </a:solidFill>
                <a:ea typeface="楷体_GB2312" pitchFamily="49" charset="-122"/>
                <a:cs typeface="Arial" panose="020B0604020202020204" pitchFamily="34" charset="0"/>
              </a:rPr>
              <a:t>disorderly</a:t>
            </a:r>
            <a:r>
              <a:rPr lang="zh-CN" altLang="en-US" sz="2800" dirty="0">
                <a:ea typeface="楷体_GB2312" pitchFamily="49" charset="-122"/>
                <a:cs typeface="Arial" panose="020B0604020202020204" pitchFamily="34" charset="0"/>
              </a:rPr>
              <a:t>" records to a "</a:t>
            </a:r>
            <a:r>
              <a:rPr lang="zh-CN" altLang="en-US" sz="2800" b="1" dirty="0">
                <a:solidFill>
                  <a:srgbClr val="990000"/>
                </a:solidFill>
                <a:ea typeface="楷体_GB2312" pitchFamily="49" charset="-122"/>
                <a:cs typeface="Arial" panose="020B0604020202020204" pitchFamily="34" charset="0"/>
              </a:rPr>
              <a:t>ordered</a:t>
            </a:r>
            <a:r>
              <a:rPr lang="zh-CN" altLang="en-US" sz="2800" dirty="0">
                <a:ea typeface="楷体_GB2312" pitchFamily="49" charset="-122"/>
                <a:cs typeface="Arial" panose="020B0604020202020204" pitchFamily="34" charset="0"/>
              </a:rPr>
              <a:t>" records.</a:t>
            </a:r>
            <a:endParaRPr lang="en-US" altLang="zh-CN" sz="2800" dirty="0">
              <a:ea typeface="楷体_GB2312" pitchFamily="49" charset="-122"/>
              <a:cs typeface="Arial" panose="020B0604020202020204" pitchFamily="34" charset="0"/>
            </a:endParaRPr>
          </a:p>
        </p:txBody>
      </p:sp>
      <p:sp>
        <p:nvSpPr>
          <p:cNvPr id="6" name="页脚占位符 5"/>
          <p:cNvSpPr>
            <a:spLocks noGrp="1"/>
          </p:cNvSpPr>
          <p:nvPr>
            <p:ph type="ftr" sz="quarter" idx="10"/>
          </p:nvPr>
        </p:nvSpPr>
        <p:spPr/>
        <p:txBody>
          <a:bodyPr/>
          <a:lstStyle/>
          <a:p>
            <a:pPr>
              <a:defRPr/>
            </a:pPr>
            <a:r>
              <a:rPr lang="en-US" altLang="zh-CN"/>
              <a:t>@ Zhihai Wang, 2025</a:t>
            </a:r>
            <a:endParaRPr lang="en-US" altLang="zh-CN" dirty="0"/>
          </a:p>
        </p:txBody>
      </p:sp>
      <p:sp>
        <p:nvSpPr>
          <p:cNvPr id="7" name="灯片编号占位符 6"/>
          <p:cNvSpPr>
            <a:spLocks noGrp="1"/>
          </p:cNvSpPr>
          <p:nvPr>
            <p:ph type="sldNum" sz="quarter" idx="11"/>
          </p:nvPr>
        </p:nvSpPr>
        <p:spPr/>
        <p:txBody>
          <a:bodyPr/>
          <a:lstStyle/>
          <a:p>
            <a:pPr>
              <a:defRPr/>
            </a:pPr>
            <a:fld id="{B40C3BFD-24D0-4966-81A9-4BDD3454C069}" type="slidenum">
              <a:rPr lang="en-US" altLang="zh-CN" smtClean="0"/>
              <a:t>6</a:t>
            </a:fld>
            <a:endParaRPr lang="en-US" altLang="zh-CN"/>
          </a:p>
        </p:txBody>
      </p:sp>
      <p:sp>
        <p:nvSpPr>
          <p:cNvPr id="8" name="Text Box 4"/>
          <p:cNvSpPr txBox="1">
            <a:spLocks noChangeArrowheads="1"/>
          </p:cNvSpPr>
          <p:nvPr/>
        </p:nvSpPr>
        <p:spPr bwMode="auto">
          <a:xfrm>
            <a:off x="438150" y="3140968"/>
            <a:ext cx="7391400" cy="586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15000"/>
              </a:lnSpc>
            </a:pPr>
            <a:r>
              <a:rPr lang="zh-CN" altLang="en-US">
                <a:latin typeface="Arial" panose="020B0604020202020204" pitchFamily="34" charset="0"/>
                <a:ea typeface="隶书" panose="02010509060101010101" pitchFamily="49" charset="-122"/>
                <a:cs typeface="Arial" panose="020B0604020202020204" pitchFamily="34" charset="0"/>
              </a:rPr>
              <a:t>For example: the following keyword sequence</a:t>
            </a:r>
          </a:p>
        </p:txBody>
      </p:sp>
      <p:sp>
        <p:nvSpPr>
          <p:cNvPr id="9" name="Text Box 5"/>
          <p:cNvSpPr txBox="1">
            <a:spLocks noChangeArrowheads="1"/>
          </p:cNvSpPr>
          <p:nvPr/>
        </p:nvSpPr>
        <p:spPr bwMode="auto">
          <a:xfrm>
            <a:off x="1873250" y="3896618"/>
            <a:ext cx="5915660" cy="586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15000"/>
              </a:lnSpc>
            </a:pPr>
            <a:r>
              <a:rPr lang="en-US" altLang="zh-CN" b="1" dirty="0">
                <a:solidFill>
                  <a:srgbClr val="663300"/>
                </a:solidFill>
                <a:latin typeface="Arial" panose="020B0604020202020204" pitchFamily="34" charset="0"/>
                <a:ea typeface="楷体_GB2312" pitchFamily="49" charset="-122"/>
                <a:cs typeface="Arial" panose="020B0604020202020204" pitchFamily="34" charset="0"/>
              </a:rPr>
              <a:t>52, 49, 80, 36, 14, 58, 61, 23, 97, 75</a:t>
            </a:r>
          </a:p>
        </p:txBody>
      </p:sp>
      <p:sp>
        <p:nvSpPr>
          <p:cNvPr id="10" name="Text Box 6"/>
          <p:cNvSpPr txBox="1">
            <a:spLocks noChangeArrowheads="1"/>
          </p:cNvSpPr>
          <p:nvPr/>
        </p:nvSpPr>
        <p:spPr bwMode="auto">
          <a:xfrm>
            <a:off x="501650" y="4577656"/>
            <a:ext cx="1566545" cy="586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15000"/>
              </a:lnSpc>
            </a:pPr>
            <a:r>
              <a:rPr lang="zh-CN" altLang="en-US">
                <a:latin typeface="Arial" panose="020B0604020202020204" pitchFamily="34" charset="0"/>
                <a:ea typeface="楷体_GB2312" pitchFamily="49" charset="-122"/>
                <a:cs typeface="Arial" panose="020B0604020202020204" pitchFamily="34" charset="0"/>
              </a:rPr>
              <a:t>Adjust to</a:t>
            </a:r>
          </a:p>
        </p:txBody>
      </p:sp>
      <p:sp>
        <p:nvSpPr>
          <p:cNvPr id="11" name="Text Box 7"/>
          <p:cNvSpPr txBox="1">
            <a:spLocks noChangeArrowheads="1"/>
          </p:cNvSpPr>
          <p:nvPr/>
        </p:nvSpPr>
        <p:spPr bwMode="auto">
          <a:xfrm>
            <a:off x="1873250" y="5153918"/>
            <a:ext cx="591566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dirty="0">
                <a:solidFill>
                  <a:srgbClr val="663300"/>
                </a:solidFill>
                <a:latin typeface="Arial" panose="020B0604020202020204" pitchFamily="34" charset="0"/>
                <a:ea typeface="楷体_GB2312" pitchFamily="49" charset="-122"/>
                <a:cs typeface="Arial" panose="020B0604020202020204" pitchFamily="34" charset="0"/>
              </a:rPr>
              <a:t>14, 23, 36, 49, 52, 58, 61 ,75, 80, 97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trips(downRight)">
                                      <p:cBhvr>
                                        <p:cTn id="7" dur="500"/>
                                        <p:tgtEl>
                                          <p:spTgt spid="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left)">
                                      <p:cBhvr>
                                        <p:cTn id="16" dur="500"/>
                                        <p:tgtEl>
                                          <p:spTgt spid="10"/>
                                        </p:tgtEl>
                                      </p:cBhvr>
                                    </p:animEffect>
                                  </p:childTnLst>
                                </p:cTn>
                              </p:par>
                            </p:childTnLst>
                          </p:cTn>
                        </p:par>
                        <p:par>
                          <p:cTn id="17" fill="hold">
                            <p:stCondLst>
                              <p:cond delay="500"/>
                            </p:stCondLst>
                            <p:childTnLst>
                              <p:par>
                                <p:cTn id="18" presetID="22" presetClass="entr" presetSubtype="8" fill="hold" grpId="0" nodeType="afterEffect">
                                  <p:stCondLst>
                                    <p:cond delay="0"/>
                                  </p:stCondLst>
                                  <p:iterate type="wd">
                                    <p:tmPct val="100000"/>
                                  </p:iterate>
                                  <p:childTnLst>
                                    <p:set>
                                      <p:cBhvr>
                                        <p:cTn id="19" dur="1" fill="hold">
                                          <p:stCondLst>
                                            <p:cond delay="0"/>
                                          </p:stCondLst>
                                        </p:cTn>
                                        <p:tgtEl>
                                          <p:spTgt spid="11"/>
                                        </p:tgtEl>
                                        <p:attrNameLst>
                                          <p:attrName>style.visibility</p:attrName>
                                        </p:attrNameLst>
                                      </p:cBhvr>
                                      <p:to>
                                        <p:strVal val="visible"/>
                                      </p:to>
                                    </p:set>
                                    <p:animEffect transition="in" filter="wipe(left)">
                                      <p:cBhvr>
                                        <p:cTn id="20" dur="3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autoUpdateAnimBg="0"/>
      <p:bldP spid="9" grpId="0" bldLvl="0" animBg="1" autoUpdateAnimBg="0"/>
      <p:bldP spid="10" grpId="0" bldLvl="0" animBg="1" autoUpdateAnimBg="0"/>
      <p:bldP spid="11" grpId="0" bldLvl="0" animBg="1"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2"/>
          <p:cNvSpPr txBox="1">
            <a:spLocks noChangeArrowheads="1"/>
          </p:cNvSpPr>
          <p:nvPr/>
        </p:nvSpPr>
        <p:spPr bwMode="auto">
          <a:xfrm>
            <a:off x="2362200" y="609600"/>
            <a:ext cx="5089525" cy="706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4000" b="1" dirty="0">
                <a:solidFill>
                  <a:srgbClr val="003366"/>
                </a:solidFill>
                <a:latin typeface="Arial" panose="020B0604020202020204" pitchFamily="34" charset="0"/>
                <a:ea typeface="楷体_GB2312" pitchFamily="49" charset="-122"/>
                <a:cs typeface="Arial" panose="020B0604020202020204" pitchFamily="34" charset="0"/>
              </a:rPr>
              <a:t>9.1 Overview</a:t>
            </a:r>
          </a:p>
        </p:txBody>
      </p:sp>
      <p:sp>
        <p:nvSpPr>
          <p:cNvPr id="4099" name="Text Box 3"/>
          <p:cNvSpPr txBox="1">
            <a:spLocks noChangeArrowheads="1"/>
          </p:cNvSpPr>
          <p:nvPr/>
        </p:nvSpPr>
        <p:spPr bwMode="auto">
          <a:xfrm>
            <a:off x="798513" y="2209800"/>
            <a:ext cx="48895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dirty="0">
                <a:latin typeface="Arial" panose="020B0604020202020204" pitchFamily="34" charset="0"/>
                <a:ea typeface="楷体_GB2312" pitchFamily="49" charset="-122"/>
                <a:cs typeface="Arial" panose="020B0604020202020204" pitchFamily="34" charset="0"/>
              </a:rPr>
              <a:t>1. Definition of Sorting</a:t>
            </a:r>
          </a:p>
        </p:txBody>
      </p:sp>
      <p:sp>
        <p:nvSpPr>
          <p:cNvPr id="4100" name="Text Box 4"/>
          <p:cNvSpPr txBox="1">
            <a:spLocks noChangeArrowheads="1"/>
          </p:cNvSpPr>
          <p:nvPr/>
        </p:nvSpPr>
        <p:spPr bwMode="auto">
          <a:xfrm>
            <a:off x="804863" y="3336925"/>
            <a:ext cx="679132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dirty="0">
                <a:latin typeface="Arial" panose="020B0604020202020204" pitchFamily="34" charset="0"/>
                <a:ea typeface="楷体_GB2312" pitchFamily="49" charset="-122"/>
                <a:cs typeface="Arial" panose="020B0604020202020204" pitchFamily="34" charset="0"/>
              </a:rPr>
              <a:t>2. Internal and External Sorting</a:t>
            </a:r>
          </a:p>
        </p:txBody>
      </p:sp>
      <p:sp>
        <p:nvSpPr>
          <p:cNvPr id="4101" name="Text Box 5"/>
          <p:cNvSpPr txBox="1">
            <a:spLocks noChangeArrowheads="1"/>
          </p:cNvSpPr>
          <p:nvPr/>
        </p:nvSpPr>
        <p:spPr bwMode="auto">
          <a:xfrm>
            <a:off x="804863" y="4535488"/>
            <a:ext cx="6935787" cy="953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dirty="0">
                <a:latin typeface="Arial" panose="020B0604020202020204" pitchFamily="34" charset="0"/>
                <a:ea typeface="楷体_GB2312" pitchFamily="49" charset="-122"/>
                <a:cs typeface="Arial" panose="020B0604020202020204" pitchFamily="34" charset="0"/>
              </a:rPr>
              <a:t>3</a:t>
            </a:r>
            <a:r>
              <a:rPr lang="zh-CN" altLang="en-US" b="1" dirty="0">
                <a:latin typeface="Arial" panose="020B0604020202020204" pitchFamily="34" charset="0"/>
                <a:ea typeface="楷体_GB2312" pitchFamily="49" charset="-122"/>
                <a:cs typeface="Arial" panose="020B0604020202020204" pitchFamily="34" charset="0"/>
              </a:rPr>
              <a:t>. </a:t>
            </a:r>
            <a:r>
              <a:rPr lang="en-US" altLang="zh-CN" b="1" dirty="0">
                <a:latin typeface="Arial" panose="020B0604020202020204" pitchFamily="34" charset="0"/>
                <a:ea typeface="楷体_GB2312" pitchFamily="49" charset="-122"/>
                <a:cs typeface="Arial" panose="020B0604020202020204" pitchFamily="34" charset="0"/>
              </a:rPr>
              <a:t>Classification of Internal Sorting Methods</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7</a:t>
            </a:fld>
            <a:endParaRPr lang="en-US" altLang="zh-CN"/>
          </a:p>
        </p:txBody>
      </p:sp>
    </p:spTree>
  </p:cSld>
  <p:clrMapOvr>
    <a:masterClrMapping/>
  </p:clrMapOvr>
  <p:transition>
    <p:pull dir="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p:cNvSpPr txBox="1">
            <a:spLocks noChangeArrowheads="1"/>
          </p:cNvSpPr>
          <p:nvPr/>
        </p:nvSpPr>
        <p:spPr bwMode="auto">
          <a:xfrm>
            <a:off x="685800" y="441325"/>
            <a:ext cx="8001000" cy="147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zh-CN" altLang="en-US" sz="2400" dirty="0">
                <a:latin typeface="Arial" panose="020B0604020202020204" pitchFamily="34" charset="0"/>
                <a:ea typeface="楷体_GB2312" pitchFamily="49" charset="-122"/>
                <a:cs typeface="Arial" panose="020B0604020202020204" pitchFamily="34" charset="0"/>
              </a:rPr>
              <a:t>Generally speaking,</a:t>
            </a:r>
          </a:p>
          <a:p>
            <a:pPr>
              <a:lnSpc>
                <a:spcPct val="125000"/>
              </a:lnSpc>
            </a:pPr>
            <a:r>
              <a:rPr lang="zh-CN" altLang="en-US" sz="2400" dirty="0">
                <a:latin typeface="Arial" panose="020B0604020202020204" pitchFamily="34" charset="0"/>
                <a:ea typeface="楷体_GB2312" pitchFamily="49" charset="-122"/>
                <a:cs typeface="Arial" panose="020B0604020202020204" pitchFamily="34" charset="0"/>
              </a:rPr>
              <a:t>Assume the sequence with n records is </a:t>
            </a:r>
            <a:r>
              <a:rPr lang="en-US" altLang="zh-CN" sz="2400" dirty="0">
                <a:solidFill>
                  <a:srgbClr val="990033"/>
                </a:solidFill>
                <a:latin typeface="Arial" panose="020B0604020202020204" pitchFamily="34" charset="0"/>
                <a:ea typeface="楷体_GB2312" pitchFamily="49" charset="-122"/>
                <a:cs typeface="Arial" panose="020B0604020202020204" pitchFamily="34" charset="0"/>
                <a:sym typeface="+mn-ea"/>
              </a:rPr>
              <a:t>{ R</a:t>
            </a:r>
            <a:r>
              <a:rPr lang="en-US" altLang="zh-CN" sz="2400" baseline="-25000" dirty="0">
                <a:solidFill>
                  <a:srgbClr val="990033"/>
                </a:solidFill>
                <a:latin typeface="Arial" panose="020B0604020202020204" pitchFamily="34" charset="0"/>
                <a:ea typeface="楷体_GB2312" pitchFamily="49" charset="-122"/>
                <a:cs typeface="Arial" panose="020B0604020202020204" pitchFamily="34" charset="0"/>
                <a:sym typeface="+mn-ea"/>
              </a:rPr>
              <a:t>1</a:t>
            </a:r>
            <a:r>
              <a:rPr lang="en-US" altLang="zh-CN" sz="2400" dirty="0">
                <a:solidFill>
                  <a:srgbClr val="990033"/>
                </a:solidFill>
                <a:latin typeface="Arial" panose="020B0604020202020204" pitchFamily="34" charset="0"/>
                <a:ea typeface="楷体_GB2312" pitchFamily="49" charset="-122"/>
                <a:cs typeface="Arial" panose="020B0604020202020204" pitchFamily="34" charset="0"/>
                <a:sym typeface="+mn-ea"/>
              </a:rPr>
              <a:t>, R</a:t>
            </a:r>
            <a:r>
              <a:rPr lang="en-US" altLang="zh-CN" sz="2400" baseline="-25000" dirty="0">
                <a:solidFill>
                  <a:srgbClr val="990033"/>
                </a:solidFill>
                <a:latin typeface="Arial" panose="020B0604020202020204" pitchFamily="34" charset="0"/>
                <a:ea typeface="楷体_GB2312" pitchFamily="49" charset="-122"/>
                <a:cs typeface="Arial" panose="020B0604020202020204" pitchFamily="34" charset="0"/>
                <a:sym typeface="+mn-ea"/>
              </a:rPr>
              <a:t>2</a:t>
            </a:r>
            <a:r>
              <a:rPr lang="en-US" altLang="zh-CN" sz="2400" dirty="0">
                <a:solidFill>
                  <a:srgbClr val="990033"/>
                </a:solidFill>
                <a:latin typeface="Arial" panose="020B0604020202020204" pitchFamily="34" charset="0"/>
                <a:ea typeface="楷体_GB2312" pitchFamily="49" charset="-122"/>
                <a:cs typeface="Arial" panose="020B0604020202020204" pitchFamily="34" charset="0"/>
                <a:sym typeface="+mn-ea"/>
              </a:rPr>
              <a:t>, …</a:t>
            </a:r>
            <a:r>
              <a:rPr lang="zh-CN" altLang="en-US" sz="2400" dirty="0">
                <a:solidFill>
                  <a:srgbClr val="990033"/>
                </a:solidFill>
                <a:latin typeface="Arial" panose="020B0604020202020204" pitchFamily="34" charset="0"/>
                <a:ea typeface="楷体_GB2312" pitchFamily="49" charset="-122"/>
                <a:cs typeface="Arial" panose="020B0604020202020204" pitchFamily="34" charset="0"/>
                <a:sym typeface="+mn-ea"/>
              </a:rPr>
              <a:t>， </a:t>
            </a:r>
            <a:r>
              <a:rPr lang="en-US" altLang="zh-CN" sz="2400" dirty="0">
                <a:solidFill>
                  <a:srgbClr val="990033"/>
                </a:solidFill>
                <a:latin typeface="Arial" panose="020B0604020202020204" pitchFamily="34" charset="0"/>
                <a:ea typeface="楷体_GB2312" pitchFamily="49" charset="-122"/>
                <a:cs typeface="Arial" panose="020B0604020202020204" pitchFamily="34" charset="0"/>
                <a:sym typeface="+mn-ea"/>
              </a:rPr>
              <a:t>R</a:t>
            </a:r>
            <a:r>
              <a:rPr lang="en-US" altLang="zh-CN" sz="2400" baseline="-25000" dirty="0">
                <a:solidFill>
                  <a:srgbClr val="990033"/>
                </a:solidFill>
                <a:latin typeface="Arial" panose="020B0604020202020204" pitchFamily="34" charset="0"/>
                <a:ea typeface="楷体_GB2312" pitchFamily="49" charset="-122"/>
                <a:cs typeface="Arial" panose="020B0604020202020204" pitchFamily="34" charset="0"/>
                <a:sym typeface="+mn-ea"/>
              </a:rPr>
              <a:t>n</a:t>
            </a:r>
            <a:r>
              <a:rPr lang="en-US" altLang="zh-CN" sz="2400" dirty="0">
                <a:solidFill>
                  <a:srgbClr val="990033"/>
                </a:solidFill>
                <a:latin typeface="Arial" panose="020B0604020202020204" pitchFamily="34" charset="0"/>
                <a:ea typeface="楷体_GB2312" pitchFamily="49" charset="-122"/>
                <a:cs typeface="Arial" panose="020B0604020202020204" pitchFamily="34" charset="0"/>
                <a:sym typeface="+mn-ea"/>
              </a:rPr>
              <a:t> }</a:t>
            </a:r>
          </a:p>
          <a:p>
            <a:pPr>
              <a:lnSpc>
                <a:spcPct val="125000"/>
              </a:lnSpc>
            </a:pPr>
            <a:r>
              <a:rPr lang="zh-CN" altLang="en-US" sz="2400" dirty="0">
                <a:latin typeface="Arial" panose="020B0604020202020204" pitchFamily="34" charset="0"/>
                <a:ea typeface="楷体_GB2312" pitchFamily="49" charset="-122"/>
                <a:cs typeface="Arial" panose="020B0604020202020204" pitchFamily="34" charset="0"/>
              </a:rPr>
              <a:t>The corresponding keyword sequence is </a:t>
            </a:r>
            <a:r>
              <a:rPr lang="en-US" altLang="zh-CN" sz="2400" dirty="0">
                <a:solidFill>
                  <a:srgbClr val="990033"/>
                </a:solidFill>
                <a:latin typeface="Arial" panose="020B0604020202020204" pitchFamily="34" charset="0"/>
                <a:ea typeface="楷体_GB2312" pitchFamily="49" charset="-122"/>
                <a:cs typeface="Arial" panose="020B0604020202020204" pitchFamily="34" charset="0"/>
                <a:sym typeface="+mn-ea"/>
              </a:rPr>
              <a:t>{ K</a:t>
            </a:r>
            <a:r>
              <a:rPr lang="en-US" altLang="zh-CN" sz="2400" baseline="-25000" dirty="0">
                <a:solidFill>
                  <a:srgbClr val="990033"/>
                </a:solidFill>
                <a:latin typeface="Arial" panose="020B0604020202020204" pitchFamily="34" charset="0"/>
                <a:ea typeface="楷体_GB2312" pitchFamily="49" charset="-122"/>
                <a:cs typeface="Arial" panose="020B0604020202020204" pitchFamily="34" charset="0"/>
                <a:sym typeface="+mn-ea"/>
              </a:rPr>
              <a:t>1</a:t>
            </a:r>
            <a:r>
              <a:rPr lang="en-US" altLang="zh-CN" sz="2400" dirty="0">
                <a:solidFill>
                  <a:srgbClr val="990033"/>
                </a:solidFill>
                <a:latin typeface="Arial" panose="020B0604020202020204" pitchFamily="34" charset="0"/>
                <a:ea typeface="楷体_GB2312" pitchFamily="49" charset="-122"/>
                <a:cs typeface="Arial" panose="020B0604020202020204" pitchFamily="34" charset="0"/>
                <a:sym typeface="+mn-ea"/>
              </a:rPr>
              <a:t>, K</a:t>
            </a:r>
            <a:r>
              <a:rPr lang="en-US" altLang="zh-CN" sz="2400" baseline="-25000" dirty="0">
                <a:solidFill>
                  <a:srgbClr val="990033"/>
                </a:solidFill>
                <a:latin typeface="Arial" panose="020B0604020202020204" pitchFamily="34" charset="0"/>
                <a:ea typeface="楷体_GB2312" pitchFamily="49" charset="-122"/>
                <a:cs typeface="Arial" panose="020B0604020202020204" pitchFamily="34" charset="0"/>
                <a:sym typeface="+mn-ea"/>
              </a:rPr>
              <a:t>2</a:t>
            </a:r>
            <a:r>
              <a:rPr lang="en-US" altLang="zh-CN" sz="2400" dirty="0">
                <a:solidFill>
                  <a:srgbClr val="990033"/>
                </a:solidFill>
                <a:latin typeface="Arial" panose="020B0604020202020204" pitchFamily="34" charset="0"/>
                <a:ea typeface="楷体_GB2312" pitchFamily="49" charset="-122"/>
                <a:cs typeface="Arial" panose="020B0604020202020204" pitchFamily="34" charset="0"/>
                <a:sym typeface="+mn-ea"/>
              </a:rPr>
              <a:t>, …</a:t>
            </a:r>
            <a:r>
              <a:rPr lang="zh-CN" altLang="en-US" sz="2400" dirty="0">
                <a:solidFill>
                  <a:srgbClr val="990033"/>
                </a:solidFill>
                <a:latin typeface="Arial" panose="020B0604020202020204" pitchFamily="34" charset="0"/>
                <a:ea typeface="楷体_GB2312" pitchFamily="49" charset="-122"/>
                <a:cs typeface="Arial" panose="020B0604020202020204" pitchFamily="34" charset="0"/>
                <a:sym typeface="+mn-ea"/>
              </a:rPr>
              <a:t>，</a:t>
            </a:r>
            <a:r>
              <a:rPr lang="en-US" altLang="zh-CN" sz="2400" dirty="0" err="1">
                <a:solidFill>
                  <a:srgbClr val="990033"/>
                </a:solidFill>
                <a:latin typeface="Arial" panose="020B0604020202020204" pitchFamily="34" charset="0"/>
                <a:ea typeface="楷体_GB2312" pitchFamily="49" charset="-122"/>
                <a:cs typeface="Arial" panose="020B0604020202020204" pitchFamily="34" charset="0"/>
                <a:sym typeface="+mn-ea"/>
              </a:rPr>
              <a:t>K</a:t>
            </a:r>
            <a:r>
              <a:rPr lang="en-US" altLang="zh-CN" sz="2400" baseline="-25000" dirty="0" err="1">
                <a:solidFill>
                  <a:srgbClr val="990033"/>
                </a:solidFill>
                <a:latin typeface="Arial" panose="020B0604020202020204" pitchFamily="34" charset="0"/>
                <a:ea typeface="楷体_GB2312" pitchFamily="49" charset="-122"/>
                <a:cs typeface="Arial" panose="020B0604020202020204" pitchFamily="34" charset="0"/>
                <a:sym typeface="+mn-ea"/>
              </a:rPr>
              <a:t>n</a:t>
            </a:r>
            <a:r>
              <a:rPr lang="en-US" altLang="zh-CN" sz="2400" dirty="0">
                <a:solidFill>
                  <a:srgbClr val="990033"/>
                </a:solidFill>
                <a:latin typeface="Arial" panose="020B0604020202020204" pitchFamily="34" charset="0"/>
                <a:ea typeface="楷体_GB2312" pitchFamily="49" charset="-122"/>
                <a:cs typeface="Arial" panose="020B0604020202020204" pitchFamily="34" charset="0"/>
                <a:sym typeface="+mn-ea"/>
              </a:rPr>
              <a:t> }</a:t>
            </a:r>
            <a:endParaRPr lang="en-US" altLang="zh-CN" sz="2400" dirty="0">
              <a:solidFill>
                <a:srgbClr val="0000FF"/>
              </a:solidFill>
              <a:latin typeface="Arial" panose="020B0604020202020204" pitchFamily="34" charset="0"/>
              <a:ea typeface="楷体_GB2312" pitchFamily="49" charset="-122"/>
              <a:cs typeface="Arial" panose="020B0604020202020204" pitchFamily="34" charset="0"/>
            </a:endParaRPr>
          </a:p>
        </p:txBody>
      </p:sp>
      <p:sp>
        <p:nvSpPr>
          <p:cNvPr id="6147" name="Text Box 3"/>
          <p:cNvSpPr txBox="1">
            <a:spLocks noChangeArrowheads="1"/>
          </p:cNvSpPr>
          <p:nvPr/>
        </p:nvSpPr>
        <p:spPr bwMode="auto">
          <a:xfrm>
            <a:off x="723900" y="2063750"/>
            <a:ext cx="7734300" cy="147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zh-CN" altLang="en-US" sz="2400" dirty="0">
                <a:ea typeface="楷体_GB2312" pitchFamily="49" charset="-122"/>
              </a:rPr>
              <a:t>These keywords can be compared with each other, that is, in</a:t>
            </a:r>
          </a:p>
          <a:p>
            <a:pPr>
              <a:lnSpc>
                <a:spcPct val="125000"/>
              </a:lnSpc>
            </a:pPr>
            <a:r>
              <a:rPr lang="zh-CN" altLang="en-US" sz="2400" dirty="0">
                <a:ea typeface="楷体_GB2312" pitchFamily="49" charset="-122"/>
              </a:rPr>
              <a:t>There is such a relationship between them:</a:t>
            </a:r>
          </a:p>
          <a:p>
            <a:pPr>
              <a:lnSpc>
                <a:spcPct val="125000"/>
              </a:lnSpc>
            </a:pPr>
            <a:r>
              <a:rPr lang="en-US" altLang="zh-CN" sz="2400" b="1" dirty="0">
                <a:solidFill>
                  <a:srgbClr val="990000"/>
                </a:solidFill>
                <a:ea typeface="楷体_GB2312" pitchFamily="49" charset="-122"/>
                <a:sym typeface="+mn-ea"/>
              </a:rPr>
              <a:t>K</a:t>
            </a:r>
            <a:r>
              <a:rPr lang="en-US" altLang="zh-CN" sz="2400" b="1" baseline="-25000" dirty="0">
                <a:solidFill>
                  <a:srgbClr val="990000"/>
                </a:solidFill>
                <a:ea typeface="楷体_GB2312" pitchFamily="49" charset="-122"/>
                <a:sym typeface="+mn-ea"/>
              </a:rPr>
              <a:t>p1</a:t>
            </a:r>
            <a:r>
              <a:rPr lang="en-US" altLang="zh-CN" sz="2400" b="1" dirty="0">
                <a:solidFill>
                  <a:srgbClr val="990000"/>
                </a:solidFill>
                <a:latin typeface="楷体_GB2312" pitchFamily="49" charset="-122"/>
                <a:ea typeface="楷体_GB2312" pitchFamily="49" charset="-122"/>
                <a:sym typeface="+mn-ea"/>
              </a:rPr>
              <a:t>≤</a:t>
            </a:r>
            <a:r>
              <a:rPr lang="en-US" altLang="zh-CN" sz="2400" b="1" dirty="0">
                <a:solidFill>
                  <a:srgbClr val="990000"/>
                </a:solidFill>
                <a:ea typeface="楷体_GB2312" pitchFamily="49" charset="-122"/>
                <a:sym typeface="+mn-ea"/>
              </a:rPr>
              <a:t>K</a:t>
            </a:r>
            <a:r>
              <a:rPr lang="en-US" altLang="zh-CN" sz="2400" b="1" baseline="-25000" dirty="0">
                <a:solidFill>
                  <a:srgbClr val="990000"/>
                </a:solidFill>
                <a:ea typeface="楷体_GB2312" pitchFamily="49" charset="-122"/>
                <a:sym typeface="+mn-ea"/>
              </a:rPr>
              <a:t>p2</a:t>
            </a:r>
            <a:r>
              <a:rPr lang="en-US" altLang="zh-CN" sz="2400" b="1" dirty="0">
                <a:solidFill>
                  <a:srgbClr val="990000"/>
                </a:solidFill>
                <a:latin typeface="楷体_GB2312" pitchFamily="49" charset="-122"/>
                <a:ea typeface="楷体_GB2312" pitchFamily="49" charset="-122"/>
                <a:sym typeface="+mn-ea"/>
              </a:rPr>
              <a:t>≤</a:t>
            </a:r>
            <a:r>
              <a:rPr lang="en-US" altLang="zh-CN" sz="2400" b="1" dirty="0">
                <a:solidFill>
                  <a:srgbClr val="990000"/>
                </a:solidFill>
                <a:latin typeface="Times New Roman" panose="02020603050405020304"/>
                <a:ea typeface="楷体_GB2312" pitchFamily="49" charset="-122"/>
                <a:sym typeface="+mn-ea"/>
              </a:rPr>
              <a:t>…</a:t>
            </a:r>
            <a:r>
              <a:rPr lang="en-US" altLang="zh-CN" sz="2400" b="1" dirty="0">
                <a:solidFill>
                  <a:srgbClr val="990000"/>
                </a:solidFill>
                <a:latin typeface="楷体_GB2312" pitchFamily="49" charset="-122"/>
                <a:ea typeface="楷体_GB2312" pitchFamily="49" charset="-122"/>
                <a:sym typeface="+mn-ea"/>
              </a:rPr>
              <a:t>≤</a:t>
            </a:r>
            <a:r>
              <a:rPr lang="en-US" altLang="zh-CN" sz="2400" b="1" dirty="0" err="1">
                <a:solidFill>
                  <a:srgbClr val="990000"/>
                </a:solidFill>
                <a:ea typeface="楷体_GB2312" pitchFamily="49" charset="-122"/>
                <a:sym typeface="+mn-ea"/>
              </a:rPr>
              <a:t>K</a:t>
            </a:r>
            <a:r>
              <a:rPr lang="en-US" altLang="zh-CN" sz="2400" b="1" baseline="-25000" dirty="0" err="1">
                <a:solidFill>
                  <a:srgbClr val="990000"/>
                </a:solidFill>
                <a:ea typeface="楷体_GB2312" pitchFamily="49" charset="-122"/>
                <a:sym typeface="+mn-ea"/>
              </a:rPr>
              <a:t>pn</a:t>
            </a:r>
          </a:p>
        </p:txBody>
      </p:sp>
      <p:sp>
        <p:nvSpPr>
          <p:cNvPr id="6148" name="Text Box 4"/>
          <p:cNvSpPr txBox="1">
            <a:spLocks noChangeArrowheads="1"/>
          </p:cNvSpPr>
          <p:nvPr/>
        </p:nvSpPr>
        <p:spPr bwMode="auto">
          <a:xfrm>
            <a:off x="746125" y="3699828"/>
            <a:ext cx="7788275" cy="1420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zh-CN" altLang="en-US" sz="2400" dirty="0">
                <a:latin typeface="Arial" panose="020B0604020202020204" pitchFamily="34" charset="0"/>
                <a:ea typeface="楷体_GB2312" pitchFamily="49" charset="-122"/>
                <a:cs typeface="Arial" panose="020B0604020202020204" pitchFamily="34" charset="0"/>
                <a:sym typeface="+mn-ea"/>
              </a:rPr>
              <a:t>The operation of rearranging the record sequence into</a:t>
            </a:r>
          </a:p>
          <a:p>
            <a:pPr>
              <a:lnSpc>
                <a:spcPct val="120000"/>
              </a:lnSpc>
            </a:pPr>
            <a:r>
              <a:rPr lang="en-US" altLang="zh-CN" sz="2400" dirty="0">
                <a:solidFill>
                  <a:srgbClr val="990033"/>
                </a:solidFill>
                <a:latin typeface="Arial" panose="020B0604020202020204" pitchFamily="34" charset="0"/>
                <a:ea typeface="楷体_GB2312" pitchFamily="49" charset="-122"/>
                <a:cs typeface="Arial" panose="020B0604020202020204" pitchFamily="34" charset="0"/>
                <a:sym typeface="+mn-ea"/>
              </a:rPr>
              <a:t>{ R</a:t>
            </a:r>
            <a:r>
              <a:rPr lang="en-US" altLang="zh-CN" sz="2400" baseline="-25000" dirty="0">
                <a:solidFill>
                  <a:srgbClr val="990033"/>
                </a:solidFill>
                <a:latin typeface="Arial" panose="020B0604020202020204" pitchFamily="34" charset="0"/>
                <a:ea typeface="楷体_GB2312" pitchFamily="49" charset="-122"/>
                <a:cs typeface="Arial" panose="020B0604020202020204" pitchFamily="34" charset="0"/>
                <a:sym typeface="+mn-ea"/>
              </a:rPr>
              <a:t>p1</a:t>
            </a:r>
            <a:r>
              <a:rPr lang="en-US" altLang="zh-CN" sz="2400" dirty="0">
                <a:solidFill>
                  <a:srgbClr val="990033"/>
                </a:solidFill>
                <a:latin typeface="Arial" panose="020B0604020202020204" pitchFamily="34" charset="0"/>
                <a:ea typeface="楷体_GB2312" pitchFamily="49" charset="-122"/>
                <a:cs typeface="Arial" panose="020B0604020202020204" pitchFamily="34" charset="0"/>
                <a:sym typeface="+mn-ea"/>
              </a:rPr>
              <a:t>, R</a:t>
            </a:r>
            <a:r>
              <a:rPr lang="en-US" altLang="zh-CN" sz="2400" baseline="-25000" dirty="0">
                <a:solidFill>
                  <a:srgbClr val="990033"/>
                </a:solidFill>
                <a:latin typeface="Arial" panose="020B0604020202020204" pitchFamily="34" charset="0"/>
                <a:ea typeface="楷体_GB2312" pitchFamily="49" charset="-122"/>
                <a:cs typeface="Arial" panose="020B0604020202020204" pitchFamily="34" charset="0"/>
                <a:sym typeface="+mn-ea"/>
              </a:rPr>
              <a:t>p2</a:t>
            </a:r>
            <a:r>
              <a:rPr lang="en-US" altLang="zh-CN" sz="2400" dirty="0">
                <a:solidFill>
                  <a:srgbClr val="990033"/>
                </a:solidFill>
                <a:latin typeface="Arial" panose="020B0604020202020204" pitchFamily="34" charset="0"/>
                <a:ea typeface="楷体_GB2312" pitchFamily="49" charset="-122"/>
                <a:cs typeface="Arial" panose="020B0604020202020204" pitchFamily="34" charset="0"/>
                <a:sym typeface="+mn-ea"/>
              </a:rPr>
              <a:t>, …</a:t>
            </a:r>
            <a:r>
              <a:rPr lang="zh-CN" altLang="en-US" sz="2400" dirty="0">
                <a:solidFill>
                  <a:srgbClr val="990033"/>
                </a:solidFill>
                <a:latin typeface="Arial" panose="020B0604020202020204" pitchFamily="34" charset="0"/>
                <a:ea typeface="楷体_GB2312" pitchFamily="49" charset="-122"/>
                <a:cs typeface="Arial" panose="020B0604020202020204" pitchFamily="34" charset="0"/>
                <a:sym typeface="+mn-ea"/>
              </a:rPr>
              <a:t>，</a:t>
            </a:r>
            <a:r>
              <a:rPr lang="en-US" altLang="zh-CN" sz="2400" dirty="0" err="1">
                <a:solidFill>
                  <a:srgbClr val="990033"/>
                </a:solidFill>
                <a:latin typeface="Arial" panose="020B0604020202020204" pitchFamily="34" charset="0"/>
                <a:ea typeface="楷体_GB2312" pitchFamily="49" charset="-122"/>
                <a:cs typeface="Arial" panose="020B0604020202020204" pitchFamily="34" charset="0"/>
                <a:sym typeface="+mn-ea"/>
              </a:rPr>
              <a:t>R</a:t>
            </a:r>
            <a:r>
              <a:rPr lang="en-US" altLang="zh-CN" sz="2400" baseline="-25000" dirty="0" err="1">
                <a:solidFill>
                  <a:srgbClr val="990033"/>
                </a:solidFill>
                <a:latin typeface="Arial" panose="020B0604020202020204" pitchFamily="34" charset="0"/>
                <a:ea typeface="楷体_GB2312" pitchFamily="49" charset="-122"/>
                <a:cs typeface="Arial" panose="020B0604020202020204" pitchFamily="34" charset="0"/>
                <a:sym typeface="+mn-ea"/>
              </a:rPr>
              <a:t>pn</a:t>
            </a:r>
            <a:r>
              <a:rPr lang="en-US" altLang="zh-CN" sz="2400" dirty="0">
                <a:solidFill>
                  <a:srgbClr val="990033"/>
                </a:solidFill>
                <a:latin typeface="Arial" panose="020B0604020202020204" pitchFamily="34" charset="0"/>
                <a:ea typeface="楷体_GB2312" pitchFamily="49" charset="-122"/>
                <a:cs typeface="Arial" panose="020B0604020202020204" pitchFamily="34" charset="0"/>
                <a:sym typeface="+mn-ea"/>
              </a:rPr>
              <a:t> }</a:t>
            </a:r>
            <a:endParaRPr lang="en-US" altLang="zh-CN" sz="2400" dirty="0">
              <a:solidFill>
                <a:srgbClr val="0000FF"/>
              </a:solidFill>
              <a:latin typeface="Arial" panose="020B0604020202020204" pitchFamily="34" charset="0"/>
              <a:ea typeface="楷体_GB2312" pitchFamily="49" charset="-122"/>
              <a:cs typeface="Arial" panose="020B0604020202020204" pitchFamily="34" charset="0"/>
            </a:endParaRPr>
          </a:p>
          <a:p>
            <a:pPr>
              <a:lnSpc>
                <a:spcPct val="120000"/>
              </a:lnSpc>
            </a:pPr>
            <a:r>
              <a:rPr lang="zh-CN" altLang="en-US" sz="2400" dirty="0">
                <a:latin typeface="Arial" panose="020B0604020202020204" pitchFamily="34" charset="0"/>
                <a:ea typeface="楷体_GB2312" pitchFamily="49" charset="-122"/>
                <a:cs typeface="Arial" panose="020B0604020202020204" pitchFamily="34" charset="0"/>
              </a:rPr>
              <a:t>according to this inherent relationship is called</a:t>
            </a:r>
            <a:r>
              <a:rPr lang="en-US" altLang="zh-CN" sz="2400" dirty="0">
                <a:solidFill>
                  <a:srgbClr val="0000FF"/>
                </a:solidFill>
                <a:latin typeface="Arial" panose="020B0604020202020204" pitchFamily="34" charset="0"/>
                <a:ea typeface="楷体_GB2312" pitchFamily="49" charset="-122"/>
                <a:cs typeface="Arial" panose="020B0604020202020204" pitchFamily="34" charset="0"/>
              </a:rPr>
              <a:t> </a:t>
            </a:r>
            <a:r>
              <a:rPr lang="en-US" altLang="zh-CN" sz="2400" b="1" dirty="0" err="1">
                <a:solidFill>
                  <a:srgbClr val="FF0000"/>
                </a:solidFill>
                <a:latin typeface="Arial" panose="020B0604020202020204" pitchFamily="34" charset="0"/>
                <a:ea typeface="楷体_GB2312" pitchFamily="49" charset="-122"/>
                <a:cs typeface="Arial" panose="020B0604020202020204" pitchFamily="34" charset="0"/>
              </a:rPr>
              <a:t>sorting</a:t>
            </a:r>
            <a:r>
              <a:rPr lang="en-US" altLang="zh-CN" sz="2400" dirty="0">
                <a:solidFill>
                  <a:srgbClr val="0000FF"/>
                </a:solidFill>
                <a:latin typeface="Arial" panose="020B0604020202020204" pitchFamily="34" charset="0"/>
                <a:ea typeface="楷体_GB2312" pitchFamily="49" charset="-122"/>
                <a:cs typeface="Arial" panose="020B0604020202020204" pitchFamily="34" charset="0"/>
              </a:rPr>
              <a:t>.</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8</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checkerboard(across)">
                                      <p:cBhvr>
                                        <p:cTn id="7" dur="500"/>
                                        <p:tgtEl>
                                          <p:spTgt spid="614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147"/>
                                        </p:tgtEl>
                                        <p:attrNameLst>
                                          <p:attrName>style.visibility</p:attrName>
                                        </p:attrNameLst>
                                      </p:cBhvr>
                                      <p:to>
                                        <p:strVal val="visible"/>
                                      </p:to>
                                    </p:set>
                                    <p:animEffect transition="in" filter="checkerboard(across)">
                                      <p:cBhvr>
                                        <p:cTn id="12" dur="500"/>
                                        <p:tgtEl>
                                          <p:spTgt spid="6147"/>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6148"/>
                                        </p:tgtEl>
                                        <p:attrNameLst>
                                          <p:attrName>style.visibility</p:attrName>
                                        </p:attrNameLst>
                                      </p:cBhvr>
                                      <p:to>
                                        <p:strVal val="visible"/>
                                      </p:to>
                                    </p:set>
                                    <p:animEffect transition="in" filter="checkerboard(across)">
                                      <p:cBhvr>
                                        <p:cTn id="17" dur="500"/>
                                        <p:tgtEl>
                                          <p:spTgt spid="6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bldLvl="0" animBg="1" autoUpdateAnimBg="0"/>
      <p:bldP spid="6147" grpId="0" bldLvl="0" animBg="1" autoUpdateAnimBg="0"/>
      <p:bldP spid="6148" grpId="0" bldLvl="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0" y="188640"/>
            <a:ext cx="7704856" cy="720080"/>
          </a:xfrm>
        </p:spPr>
        <p:txBody>
          <a:bodyPr/>
          <a:lstStyle/>
          <a:p>
            <a:r>
              <a:rPr lang="zh-CN" altLang="en-US" dirty="0">
                <a:cs typeface="Arial" panose="020B0604020202020204" pitchFamily="34" charset="0"/>
              </a:rPr>
              <a:t>Stability of Sorting Algorithm</a:t>
            </a:r>
          </a:p>
        </p:txBody>
      </p:sp>
      <p:sp>
        <p:nvSpPr>
          <p:cNvPr id="3" name="内容占位符 2"/>
          <p:cNvSpPr>
            <a:spLocks noGrp="1"/>
          </p:cNvSpPr>
          <p:nvPr>
            <p:ph idx="1"/>
          </p:nvPr>
        </p:nvSpPr>
        <p:spPr/>
        <p:txBody>
          <a:bodyPr/>
          <a:lstStyle/>
          <a:p>
            <a:r>
              <a:rPr lang="zh-CN" altLang="en-US" sz="2800" dirty="0">
                <a:ea typeface="楷体_GB2312" pitchFamily="49" charset="-122"/>
                <a:cs typeface="Arial" panose="020B0604020202020204" pitchFamily="34" charset="0"/>
              </a:rPr>
              <a:t>If there are more than one record with the same keyword in the sequence to be sorted, the algorithm is </a:t>
            </a:r>
            <a:r>
              <a:rPr lang="zh-CN" altLang="en-US" sz="2800" b="1" dirty="0">
                <a:solidFill>
                  <a:srgbClr val="990000"/>
                </a:solidFill>
                <a:ea typeface="楷体_GB2312" pitchFamily="49" charset="-122"/>
                <a:cs typeface="Arial" panose="020B0604020202020204" pitchFamily="34" charset="0"/>
              </a:rPr>
              <a:t>stable</a:t>
            </a:r>
            <a:r>
              <a:rPr lang="zh-CN" altLang="en-US" sz="2800" dirty="0">
                <a:ea typeface="楷体_GB2312" pitchFamily="49" charset="-122"/>
                <a:cs typeface="Arial" panose="020B0604020202020204" pitchFamily="34" charset="0"/>
              </a:rPr>
              <a:t> if the relative order of the records remains unchanged after sorting, and is </a:t>
            </a:r>
            <a:r>
              <a:rPr lang="zh-CN" altLang="en-US" sz="2800" b="1" dirty="0">
                <a:solidFill>
                  <a:srgbClr val="990000"/>
                </a:solidFill>
                <a:ea typeface="楷体_GB2312" pitchFamily="49" charset="-122"/>
                <a:cs typeface="Arial" panose="020B0604020202020204" pitchFamily="34" charset="0"/>
              </a:rPr>
              <a:t>unstable</a:t>
            </a:r>
            <a:r>
              <a:rPr lang="zh-CN" altLang="en-US" sz="2800" dirty="0">
                <a:ea typeface="楷体_GB2312" pitchFamily="49" charset="-122"/>
                <a:cs typeface="Arial" panose="020B0604020202020204" pitchFamily="34" charset="0"/>
              </a:rPr>
              <a:t> if the relative order of the records changes after sorting.</a:t>
            </a:r>
          </a:p>
        </p:txBody>
      </p:sp>
      <p:sp>
        <p:nvSpPr>
          <p:cNvPr id="4" name="页脚占位符 3"/>
          <p:cNvSpPr>
            <a:spLocks noGrp="1"/>
          </p:cNvSpPr>
          <p:nvPr>
            <p:ph type="ftr" sz="quarter" idx="10"/>
          </p:nvPr>
        </p:nvSpPr>
        <p:spPr/>
        <p:txBody>
          <a:bodyPr/>
          <a:lstStyle/>
          <a:p>
            <a:pPr>
              <a:defRPr/>
            </a:pPr>
            <a:r>
              <a:rPr lang="en-US" altLang="zh-CN"/>
              <a:t>@ Zhihai Wang, 2025</a:t>
            </a:r>
            <a:endParaRPr lang="en-US" altLang="zh-CN" dirty="0"/>
          </a:p>
        </p:txBody>
      </p:sp>
      <p:sp>
        <p:nvSpPr>
          <p:cNvPr id="5" name="灯片编号占位符 4"/>
          <p:cNvSpPr>
            <a:spLocks noGrp="1"/>
          </p:cNvSpPr>
          <p:nvPr>
            <p:ph type="sldNum" sz="quarter" idx="11"/>
          </p:nvPr>
        </p:nvSpPr>
        <p:spPr/>
        <p:txBody>
          <a:bodyPr/>
          <a:lstStyle/>
          <a:p>
            <a:pPr>
              <a:defRPr/>
            </a:pPr>
            <a:fld id="{B40C3BFD-24D0-4966-81A9-4BDD3454C069}" type="slidenum">
              <a:rPr lang="en-US" altLang="zh-CN" smtClean="0"/>
              <a:t>9</a:t>
            </a:fld>
            <a:endParaRPr lang="en-US" altLang="zh-C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703263" y="609600"/>
            <a:ext cx="7540625"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600" b="1">
                <a:latin typeface="Arial" panose="020B0604020202020204" pitchFamily="34" charset="0"/>
                <a:ea typeface="楷体_GB2312" pitchFamily="49" charset="-122"/>
                <a:cs typeface="Arial" panose="020B0604020202020204" pitchFamily="34" charset="0"/>
              </a:rPr>
              <a:t>2. Internal and External Sorting</a:t>
            </a:r>
          </a:p>
        </p:txBody>
      </p:sp>
      <p:sp>
        <p:nvSpPr>
          <p:cNvPr id="8195" name="Text Box 3"/>
          <p:cNvSpPr txBox="1">
            <a:spLocks noChangeArrowheads="1"/>
          </p:cNvSpPr>
          <p:nvPr/>
        </p:nvSpPr>
        <p:spPr bwMode="auto">
          <a:xfrm>
            <a:off x="511175" y="1556792"/>
            <a:ext cx="7924800" cy="1706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zh-CN" altLang="en-US" dirty="0">
                <a:latin typeface="Arial" panose="020B0604020202020204" pitchFamily="34" charset="0"/>
                <a:ea typeface="楷体_GB2312" pitchFamily="49" charset="-122"/>
                <a:cs typeface="Arial" panose="020B0604020202020204" pitchFamily="34" charset="0"/>
              </a:rPr>
              <a:t>The process of sorting records stored in the computers random access memory (</a:t>
            </a:r>
            <a:r>
              <a:rPr lang="zh-CN" altLang="en-US" b="1" dirty="0">
                <a:solidFill>
                  <a:srgbClr val="993300"/>
                </a:solidFill>
                <a:latin typeface="Arial" panose="020B0604020202020204" pitchFamily="34" charset="0"/>
                <a:ea typeface="楷体_GB2312" pitchFamily="49" charset="-122"/>
                <a:cs typeface="Arial" panose="020B0604020202020204" pitchFamily="34" charset="0"/>
              </a:rPr>
              <a:t>RAM</a:t>
            </a:r>
            <a:r>
              <a:rPr lang="zh-CN" altLang="en-US" dirty="0">
                <a:latin typeface="Arial" panose="020B0604020202020204" pitchFamily="34" charset="0"/>
                <a:ea typeface="楷体_GB2312" pitchFamily="49" charset="-122"/>
                <a:cs typeface="Arial" panose="020B0604020202020204" pitchFamily="34" charset="0"/>
              </a:rPr>
              <a:t>) is called </a:t>
            </a:r>
            <a:r>
              <a:rPr lang="zh-CN" altLang="en-US" b="1" dirty="0">
                <a:solidFill>
                  <a:srgbClr val="0000FF"/>
                </a:solidFill>
                <a:latin typeface="Arial" panose="020B0604020202020204" pitchFamily="34" charset="0"/>
                <a:ea typeface="楷体_GB2312" pitchFamily="49" charset="-122"/>
                <a:cs typeface="Arial" panose="020B0604020202020204" pitchFamily="34" charset="0"/>
              </a:rPr>
              <a:t>internal sorting</a:t>
            </a:r>
            <a:r>
              <a:rPr lang="zh-CN" altLang="en-US" dirty="0">
                <a:latin typeface="Arial" panose="020B0604020202020204" pitchFamily="34" charset="0"/>
                <a:ea typeface="楷体_GB2312" pitchFamily="49" charset="-122"/>
                <a:cs typeface="Arial" panose="020B0604020202020204" pitchFamily="34" charset="0"/>
              </a:rPr>
              <a:t>.</a:t>
            </a:r>
            <a:endParaRPr lang="zh-CN" altLang="en-US" sz="3600" dirty="0">
              <a:latin typeface="Arial" panose="020B0604020202020204" pitchFamily="34" charset="0"/>
              <a:ea typeface="楷体_GB2312" pitchFamily="49" charset="-122"/>
              <a:cs typeface="Arial" panose="020B0604020202020204" pitchFamily="34" charset="0"/>
            </a:endParaRPr>
          </a:p>
        </p:txBody>
      </p:sp>
      <p:sp>
        <p:nvSpPr>
          <p:cNvPr id="8196" name="Text Box 4"/>
          <p:cNvSpPr txBox="1">
            <a:spLocks noChangeArrowheads="1"/>
          </p:cNvSpPr>
          <p:nvPr/>
        </p:nvSpPr>
        <p:spPr bwMode="auto">
          <a:xfrm>
            <a:off x="511175" y="3356992"/>
            <a:ext cx="7924800" cy="278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buSzPct val="80000"/>
            </a:pPr>
            <a:r>
              <a:rPr lang="zh-CN" altLang="en-US" dirty="0">
                <a:latin typeface="Arial" panose="020B0604020202020204" pitchFamily="34" charset="0"/>
                <a:ea typeface="楷体_GB2312" pitchFamily="49" charset="-122"/>
                <a:cs typeface="Arial" panose="020B0604020202020204" pitchFamily="34" charset="0"/>
              </a:rPr>
              <a:t>If the number of records to be sorted is so large that the memory cannot hold all the records at once, the sorting process still needs to access the </a:t>
            </a:r>
            <a:r>
              <a:rPr lang="zh-CN" altLang="en-US" b="1" dirty="0">
                <a:solidFill>
                  <a:srgbClr val="993300"/>
                </a:solidFill>
                <a:latin typeface="Arial" panose="020B0604020202020204" pitchFamily="34" charset="0"/>
                <a:ea typeface="楷体_GB2312" pitchFamily="49" charset="-122"/>
                <a:cs typeface="Arial" panose="020B0604020202020204" pitchFamily="34" charset="0"/>
              </a:rPr>
              <a:t>external storage</a:t>
            </a:r>
            <a:r>
              <a:rPr lang="zh-CN" altLang="en-US" dirty="0">
                <a:latin typeface="Arial" panose="020B0604020202020204" pitchFamily="34" charset="0"/>
                <a:ea typeface="楷体_GB2312" pitchFamily="49" charset="-122"/>
                <a:cs typeface="Arial" panose="020B0604020202020204" pitchFamily="34" charset="0"/>
              </a:rPr>
              <a:t>, which is called </a:t>
            </a:r>
            <a:r>
              <a:rPr lang="zh-CN" altLang="en-US" b="1" dirty="0">
                <a:solidFill>
                  <a:srgbClr val="0000FF"/>
                </a:solidFill>
                <a:latin typeface="Arial" panose="020B0604020202020204" pitchFamily="34" charset="0"/>
                <a:ea typeface="楷体_GB2312" pitchFamily="49" charset="-122"/>
                <a:cs typeface="Arial" panose="020B0604020202020204" pitchFamily="34" charset="0"/>
              </a:rPr>
              <a:t>external sorting</a:t>
            </a:r>
            <a:r>
              <a:rPr lang="zh-CN" altLang="en-US" dirty="0">
                <a:latin typeface="Arial" panose="020B0604020202020204" pitchFamily="34" charset="0"/>
                <a:ea typeface="楷体_GB2312" pitchFamily="49" charset="-122"/>
                <a:cs typeface="Arial" panose="020B0604020202020204" pitchFamily="34" charset="0"/>
              </a:rPr>
              <a:t>.</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10</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8194"/>
                                        </p:tgtEl>
                                        <p:attrNameLst>
                                          <p:attrName>style.visibility</p:attrName>
                                        </p:attrNameLst>
                                      </p:cBhvr>
                                      <p:to>
                                        <p:strVal val="visible"/>
                                      </p:to>
                                    </p:set>
                                    <p:anim calcmode="lin" valueType="num">
                                      <p:cBhvr additive="base">
                                        <p:cTn id="7" dur="500" fill="hold"/>
                                        <p:tgtEl>
                                          <p:spTgt spid="8194"/>
                                        </p:tgtEl>
                                        <p:attrNameLst>
                                          <p:attrName>ppt_x</p:attrName>
                                        </p:attrNameLst>
                                      </p:cBhvr>
                                      <p:tavLst>
                                        <p:tav tm="0">
                                          <p:val>
                                            <p:strVal val="#ppt_x"/>
                                          </p:val>
                                        </p:tav>
                                        <p:tav tm="100000">
                                          <p:val>
                                            <p:strVal val="#ppt_x"/>
                                          </p:val>
                                        </p:tav>
                                      </p:tavLst>
                                    </p:anim>
                                    <p:anim calcmode="lin" valueType="num">
                                      <p:cBhvr additive="base">
                                        <p:cTn id="8" dur="500" fill="hold"/>
                                        <p:tgtEl>
                                          <p:spTgt spid="8194"/>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8" presetClass="entr" presetSubtype="6" fill="hold" grpId="0" nodeType="clickEffect">
                                  <p:stCondLst>
                                    <p:cond delay="0"/>
                                  </p:stCondLst>
                                  <p:childTnLst>
                                    <p:set>
                                      <p:cBhvr>
                                        <p:cTn id="12" dur="1" fill="hold">
                                          <p:stCondLst>
                                            <p:cond delay="0"/>
                                          </p:stCondLst>
                                        </p:cTn>
                                        <p:tgtEl>
                                          <p:spTgt spid="8195"/>
                                        </p:tgtEl>
                                        <p:attrNameLst>
                                          <p:attrName>style.visibility</p:attrName>
                                        </p:attrNameLst>
                                      </p:cBhvr>
                                      <p:to>
                                        <p:strVal val="visible"/>
                                      </p:to>
                                    </p:set>
                                    <p:animEffect transition="in" filter="strips(downRight)">
                                      <p:cBhvr>
                                        <p:cTn id="13" dur="500"/>
                                        <p:tgtEl>
                                          <p:spTgt spid="8195"/>
                                        </p:tgtEl>
                                      </p:cBhvr>
                                    </p:animEffect>
                                  </p:childTnLst>
                                </p:cTn>
                              </p:par>
                            </p:childTnLst>
                          </p:cTn>
                        </p:par>
                      </p:childTnLst>
                    </p:cTn>
                  </p:par>
                  <p:par>
                    <p:cTn id="14" fill="hold">
                      <p:stCondLst>
                        <p:cond delay="indefinite"/>
                      </p:stCondLst>
                      <p:childTnLst>
                        <p:par>
                          <p:cTn id="15" fill="hold">
                            <p:stCondLst>
                              <p:cond delay="0"/>
                            </p:stCondLst>
                            <p:childTnLst>
                              <p:par>
                                <p:cTn id="16" presetID="18" presetClass="entr" presetSubtype="6" fill="hold" grpId="0" nodeType="clickEffect">
                                  <p:stCondLst>
                                    <p:cond delay="0"/>
                                  </p:stCondLst>
                                  <p:childTnLst>
                                    <p:set>
                                      <p:cBhvr>
                                        <p:cTn id="17" dur="1" fill="hold">
                                          <p:stCondLst>
                                            <p:cond delay="0"/>
                                          </p:stCondLst>
                                        </p:cTn>
                                        <p:tgtEl>
                                          <p:spTgt spid="8196"/>
                                        </p:tgtEl>
                                        <p:attrNameLst>
                                          <p:attrName>style.visibility</p:attrName>
                                        </p:attrNameLst>
                                      </p:cBhvr>
                                      <p:to>
                                        <p:strVal val="visible"/>
                                      </p:to>
                                    </p:set>
                                    <p:animEffect transition="in" filter="strips(downRight)">
                                      <p:cBhvr>
                                        <p:cTn id="18" dur="500"/>
                                        <p:tgtEl>
                                          <p:spTgt spid="8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bldLvl="0" animBg="1" autoUpdateAnimBg="0"/>
      <p:bldP spid="8195" grpId="0" bldLvl="0" animBg="1" autoUpdateAnimBg="0"/>
      <p:bldP spid="8196" grpId="0" bldLvl="0" animBg="1"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687388" y="457200"/>
            <a:ext cx="6584950"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a:latin typeface="Arial" panose="020B0604020202020204" pitchFamily="34" charset="0"/>
                <a:ea typeface="楷体_GB2312" pitchFamily="49" charset="-122"/>
                <a:cs typeface="Arial" panose="020B0604020202020204" pitchFamily="34" charset="0"/>
              </a:rPr>
              <a:t>3</a:t>
            </a:r>
            <a:r>
              <a:rPr lang="zh-CN" altLang="en-US" sz="3200" b="1">
                <a:latin typeface="Arial" panose="020B0604020202020204" pitchFamily="34" charset="0"/>
                <a:ea typeface="楷体_GB2312" pitchFamily="49" charset="-122"/>
                <a:cs typeface="Arial" panose="020B0604020202020204" pitchFamily="34" charset="0"/>
              </a:rPr>
              <a:t>. Methods of Internal Sorting</a:t>
            </a:r>
          </a:p>
        </p:txBody>
      </p:sp>
      <p:sp>
        <p:nvSpPr>
          <p:cNvPr id="9219" name="Text Box 3"/>
          <p:cNvSpPr txBox="1">
            <a:spLocks noChangeArrowheads="1"/>
          </p:cNvSpPr>
          <p:nvPr/>
        </p:nvSpPr>
        <p:spPr bwMode="auto">
          <a:xfrm>
            <a:off x="762000" y="1352550"/>
            <a:ext cx="7848600" cy="1706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zh-CN" altLang="en-US">
                <a:latin typeface="Arial" panose="020B0604020202020204" pitchFamily="34" charset="0"/>
                <a:ea typeface="楷体_GB2312" pitchFamily="49" charset="-122"/>
                <a:cs typeface="Arial" panose="020B0604020202020204" pitchFamily="34" charset="0"/>
              </a:rPr>
              <a:t>The internal sort process is a process of </a:t>
            </a:r>
            <a:r>
              <a:rPr lang="zh-CN" altLang="en-US" b="1">
                <a:solidFill>
                  <a:srgbClr val="993300"/>
                </a:solidFill>
                <a:latin typeface="Arial" panose="020B0604020202020204" pitchFamily="34" charset="0"/>
                <a:ea typeface="楷体_GB2312" pitchFamily="49" charset="-122"/>
                <a:cs typeface="Arial" panose="020B0604020202020204" pitchFamily="34" charset="0"/>
              </a:rPr>
              <a:t>gradually expanding</a:t>
            </a:r>
            <a:r>
              <a:rPr lang="zh-CN" altLang="en-US">
                <a:latin typeface="Arial" panose="020B0604020202020204" pitchFamily="34" charset="0"/>
                <a:ea typeface="楷体_GB2312" pitchFamily="49" charset="-122"/>
                <a:cs typeface="Arial" panose="020B0604020202020204" pitchFamily="34" charset="0"/>
              </a:rPr>
              <a:t> the </a:t>
            </a:r>
            <a:r>
              <a:rPr lang="zh-CN" altLang="en-US" b="1">
                <a:solidFill>
                  <a:srgbClr val="993300"/>
                </a:solidFill>
                <a:latin typeface="Arial" panose="020B0604020202020204" pitchFamily="34" charset="0"/>
                <a:ea typeface="楷体_GB2312" pitchFamily="49" charset="-122"/>
                <a:cs typeface="Arial" panose="020B0604020202020204" pitchFamily="34" charset="0"/>
              </a:rPr>
              <a:t>length of the ordered sequence</a:t>
            </a:r>
            <a:r>
              <a:rPr lang="zh-CN" altLang="en-US">
                <a:latin typeface="Arial" panose="020B0604020202020204" pitchFamily="34" charset="0"/>
                <a:ea typeface="楷体_GB2312" pitchFamily="49" charset="-122"/>
                <a:cs typeface="Arial" panose="020B0604020202020204" pitchFamily="34" charset="0"/>
              </a:rPr>
              <a:t> of records.</a:t>
            </a:r>
            <a:endParaRPr lang="en-US" altLang="zh-CN">
              <a:latin typeface="Arial" panose="020B0604020202020204" pitchFamily="34" charset="0"/>
              <a:ea typeface="楷体_GB2312" pitchFamily="49" charset="-122"/>
              <a:cs typeface="Arial" panose="020B0604020202020204" pitchFamily="34" charset="0"/>
            </a:endParaRPr>
          </a:p>
        </p:txBody>
      </p:sp>
      <p:sp>
        <p:nvSpPr>
          <p:cNvPr id="9220" name="Text Box 4"/>
          <p:cNvSpPr txBox="1">
            <a:spLocks noChangeArrowheads="1"/>
          </p:cNvSpPr>
          <p:nvPr/>
        </p:nvSpPr>
        <p:spPr bwMode="auto">
          <a:xfrm>
            <a:off x="5292080" y="4267200"/>
            <a:ext cx="381642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b="1" dirty="0">
                <a:solidFill>
                  <a:srgbClr val="800080"/>
                </a:solidFill>
                <a:ea typeface="楷体_GB2312" pitchFamily="49" charset="-122"/>
              </a:rPr>
              <a:t>After a pass sort</a:t>
            </a:r>
            <a:endParaRPr lang="zh-CN" altLang="en-US" sz="3600" dirty="0">
              <a:ea typeface="楷体_GB2312" pitchFamily="49" charset="-122"/>
            </a:endParaRPr>
          </a:p>
        </p:txBody>
      </p:sp>
      <p:sp>
        <p:nvSpPr>
          <p:cNvPr id="9221" name="Rectangle 5"/>
          <p:cNvSpPr>
            <a:spLocks noChangeArrowheads="1"/>
          </p:cNvSpPr>
          <p:nvPr/>
        </p:nvSpPr>
        <p:spPr bwMode="auto">
          <a:xfrm>
            <a:off x="1143000" y="3124200"/>
            <a:ext cx="2514600" cy="83820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800">
                <a:ea typeface="隶书" panose="02010509060101010101" pitchFamily="49" charset="-122"/>
              </a:rPr>
              <a:t>ordered sequence region</a:t>
            </a:r>
            <a:endParaRPr lang="zh-CN" altLang="en-US" sz="3600"/>
          </a:p>
        </p:txBody>
      </p:sp>
      <p:sp>
        <p:nvSpPr>
          <p:cNvPr id="9222" name="Rectangle 6" descr="棚架"/>
          <p:cNvSpPr>
            <a:spLocks noChangeArrowheads="1"/>
          </p:cNvSpPr>
          <p:nvPr/>
        </p:nvSpPr>
        <p:spPr bwMode="auto">
          <a:xfrm>
            <a:off x="3657600" y="3124200"/>
            <a:ext cx="4038600" cy="838200"/>
          </a:xfrm>
          <a:prstGeom prst="rect">
            <a:avLst/>
          </a:prstGeom>
          <a:pattFill prst="trellis">
            <a:fgClr>
              <a:srgbClr val="00FFFF"/>
            </a:fgClr>
            <a:bgClr>
              <a:srgbClr val="FFFFFF"/>
            </a:bgClr>
          </a:patt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800">
                <a:latin typeface="隶书" panose="02010509060101010101" pitchFamily="49" charset="-122"/>
                <a:ea typeface="隶书" panose="02010509060101010101" pitchFamily="49" charset="-122"/>
              </a:rPr>
              <a:t>unordered sequence block</a:t>
            </a:r>
            <a:endParaRPr lang="zh-CN" altLang="en-US" sz="4400"/>
          </a:p>
        </p:txBody>
      </p:sp>
      <p:sp>
        <p:nvSpPr>
          <p:cNvPr id="9223" name="Rectangle 7"/>
          <p:cNvSpPr>
            <a:spLocks noChangeArrowheads="1"/>
          </p:cNvSpPr>
          <p:nvPr/>
        </p:nvSpPr>
        <p:spPr bwMode="auto">
          <a:xfrm>
            <a:off x="1219200" y="5257800"/>
            <a:ext cx="2971800" cy="83820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800">
                <a:ea typeface="隶书" panose="02010509060101010101" pitchFamily="49" charset="-122"/>
              </a:rPr>
              <a:t>ordered sequence region</a:t>
            </a:r>
            <a:endParaRPr lang="zh-CN" altLang="en-US" sz="3600"/>
          </a:p>
        </p:txBody>
      </p:sp>
      <p:sp>
        <p:nvSpPr>
          <p:cNvPr id="9224" name="Rectangle 8" descr="棚架"/>
          <p:cNvSpPr>
            <a:spLocks noChangeArrowheads="1"/>
          </p:cNvSpPr>
          <p:nvPr/>
        </p:nvSpPr>
        <p:spPr bwMode="auto">
          <a:xfrm>
            <a:off x="4191000" y="5257800"/>
            <a:ext cx="3505200" cy="838200"/>
          </a:xfrm>
          <a:prstGeom prst="rect">
            <a:avLst/>
          </a:prstGeom>
          <a:pattFill prst="trellis">
            <a:fgClr>
              <a:srgbClr val="00FFFF"/>
            </a:fgClr>
            <a:bgClr>
              <a:srgbClr val="FFFFFF"/>
            </a:bgClr>
          </a:patt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800">
                <a:latin typeface="隶书" panose="02010509060101010101" pitchFamily="49" charset="-122"/>
                <a:ea typeface="隶书" panose="02010509060101010101" pitchFamily="49" charset="-122"/>
              </a:rPr>
              <a:t>unordered sequence block</a:t>
            </a:r>
            <a:endParaRPr lang="zh-CN" altLang="en-US" sz="4400"/>
          </a:p>
        </p:txBody>
      </p:sp>
      <p:sp>
        <p:nvSpPr>
          <p:cNvPr id="9225" name="AutoShape 9"/>
          <p:cNvSpPr>
            <a:spLocks noChangeArrowheads="1"/>
          </p:cNvSpPr>
          <p:nvPr/>
        </p:nvSpPr>
        <p:spPr bwMode="auto">
          <a:xfrm>
            <a:off x="4876800" y="4191000"/>
            <a:ext cx="533400" cy="914400"/>
          </a:xfrm>
          <a:prstGeom prst="downArrow">
            <a:avLst>
              <a:gd name="adj1" fmla="val 50000"/>
              <a:gd name="adj2" fmla="val 42857"/>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9226" name="Line 10"/>
          <p:cNvSpPr>
            <a:spLocks noChangeShapeType="1"/>
          </p:cNvSpPr>
          <p:nvPr/>
        </p:nvSpPr>
        <p:spPr bwMode="auto">
          <a:xfrm>
            <a:off x="3657600" y="3962400"/>
            <a:ext cx="0" cy="1295400"/>
          </a:xfrm>
          <a:prstGeom prst="line">
            <a:avLst/>
          </a:prstGeom>
          <a:noFill/>
          <a:ln w="9525" cap="rnd">
            <a:solidFill>
              <a:srgbClr val="003366"/>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7" name="Line 11"/>
          <p:cNvSpPr>
            <a:spLocks noChangeShapeType="1"/>
          </p:cNvSpPr>
          <p:nvPr/>
        </p:nvSpPr>
        <p:spPr bwMode="auto">
          <a:xfrm>
            <a:off x="4191000" y="3962400"/>
            <a:ext cx="0" cy="1295400"/>
          </a:xfrm>
          <a:prstGeom prst="line">
            <a:avLst/>
          </a:prstGeom>
          <a:noFill/>
          <a:ln w="9525" cap="rnd">
            <a:solidFill>
              <a:srgbClr val="003366"/>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11</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9218"/>
                                        </p:tgtEl>
                                        <p:attrNameLst>
                                          <p:attrName>style.visibility</p:attrName>
                                        </p:attrNameLst>
                                      </p:cBhvr>
                                      <p:to>
                                        <p:strVal val="visible"/>
                                      </p:to>
                                    </p:set>
                                    <p:anim calcmode="lin" valueType="num">
                                      <p:cBhvr additive="base">
                                        <p:cTn id="7" dur="500" fill="hold"/>
                                        <p:tgtEl>
                                          <p:spTgt spid="9218"/>
                                        </p:tgtEl>
                                        <p:attrNameLst>
                                          <p:attrName>ppt_x</p:attrName>
                                        </p:attrNameLst>
                                      </p:cBhvr>
                                      <p:tavLst>
                                        <p:tav tm="0">
                                          <p:val>
                                            <p:strVal val="0-#ppt_w/2"/>
                                          </p:val>
                                        </p:tav>
                                        <p:tav tm="100000">
                                          <p:val>
                                            <p:strVal val="#ppt_x"/>
                                          </p:val>
                                        </p:tav>
                                      </p:tavLst>
                                    </p:anim>
                                    <p:anim calcmode="lin" valueType="num">
                                      <p:cBhvr additive="base">
                                        <p:cTn id="8" dur="500" fill="hold"/>
                                        <p:tgtEl>
                                          <p:spTgt spid="92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8" presetClass="entr" presetSubtype="6" fill="hold" grpId="0" nodeType="clickEffect">
                                  <p:stCondLst>
                                    <p:cond delay="0"/>
                                  </p:stCondLst>
                                  <p:childTnLst>
                                    <p:set>
                                      <p:cBhvr>
                                        <p:cTn id="12" dur="1" fill="hold">
                                          <p:stCondLst>
                                            <p:cond delay="0"/>
                                          </p:stCondLst>
                                        </p:cTn>
                                        <p:tgtEl>
                                          <p:spTgt spid="9219"/>
                                        </p:tgtEl>
                                        <p:attrNameLst>
                                          <p:attrName>style.visibility</p:attrName>
                                        </p:attrNameLst>
                                      </p:cBhvr>
                                      <p:to>
                                        <p:strVal val="visible"/>
                                      </p:to>
                                    </p:set>
                                    <p:animEffect transition="in" filter="strips(downRight)">
                                      <p:cBhvr>
                                        <p:cTn id="13" dur="500"/>
                                        <p:tgtEl>
                                          <p:spTgt spid="9219"/>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9221"/>
                                        </p:tgtEl>
                                        <p:attrNameLst>
                                          <p:attrName>style.visibility</p:attrName>
                                        </p:attrNameLst>
                                      </p:cBhvr>
                                      <p:to>
                                        <p:strVal val="visible"/>
                                      </p:to>
                                    </p:set>
                                    <p:animEffect transition="in" filter="wipe(left)">
                                      <p:cBhvr>
                                        <p:cTn id="18" dur="500"/>
                                        <p:tgtEl>
                                          <p:spTgt spid="9221"/>
                                        </p:tgtEl>
                                      </p:cBhvr>
                                    </p:animEffect>
                                  </p:childTnLst>
                                </p:cTn>
                              </p:par>
                            </p:childTnLst>
                          </p:cTn>
                        </p:par>
                        <p:par>
                          <p:cTn id="19" fill="hold">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9222"/>
                                        </p:tgtEl>
                                        <p:attrNameLst>
                                          <p:attrName>style.visibility</p:attrName>
                                        </p:attrNameLst>
                                      </p:cBhvr>
                                      <p:to>
                                        <p:strVal val="visible"/>
                                      </p:to>
                                    </p:set>
                                    <p:animEffect transition="in" filter="wipe(left)">
                                      <p:cBhvr>
                                        <p:cTn id="22" dur="500"/>
                                        <p:tgtEl>
                                          <p:spTgt spid="9222"/>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2" fill="hold" grpId="0" nodeType="clickEffect">
                                  <p:stCondLst>
                                    <p:cond delay="0"/>
                                  </p:stCondLst>
                                  <p:childTnLst>
                                    <p:set>
                                      <p:cBhvr>
                                        <p:cTn id="26" dur="1" fill="hold">
                                          <p:stCondLst>
                                            <p:cond delay="0"/>
                                          </p:stCondLst>
                                        </p:cTn>
                                        <p:tgtEl>
                                          <p:spTgt spid="9220"/>
                                        </p:tgtEl>
                                        <p:attrNameLst>
                                          <p:attrName>style.visibility</p:attrName>
                                        </p:attrNameLst>
                                      </p:cBhvr>
                                      <p:to>
                                        <p:strVal val="visible"/>
                                      </p:to>
                                    </p:set>
                                    <p:animEffect transition="in" filter="slide(fromRight)">
                                      <p:cBhvr>
                                        <p:cTn id="27" dur="500"/>
                                        <p:tgtEl>
                                          <p:spTgt spid="9220"/>
                                        </p:tgtEl>
                                      </p:cBhvr>
                                    </p:animEffect>
                                  </p:childTnLst>
                                </p:cTn>
                              </p:par>
                            </p:childTnLst>
                          </p:cTn>
                        </p:par>
                        <p:par>
                          <p:cTn id="28" fill="hold">
                            <p:stCondLst>
                              <p:cond delay="500"/>
                            </p:stCondLst>
                            <p:childTnLst>
                              <p:par>
                                <p:cTn id="29" presetID="17" presetClass="entr" presetSubtype="1" fill="hold" grpId="0" nodeType="afterEffect">
                                  <p:stCondLst>
                                    <p:cond delay="0"/>
                                  </p:stCondLst>
                                  <p:childTnLst>
                                    <p:set>
                                      <p:cBhvr>
                                        <p:cTn id="30" dur="1" fill="hold">
                                          <p:stCondLst>
                                            <p:cond delay="0"/>
                                          </p:stCondLst>
                                        </p:cTn>
                                        <p:tgtEl>
                                          <p:spTgt spid="9225"/>
                                        </p:tgtEl>
                                        <p:attrNameLst>
                                          <p:attrName>style.visibility</p:attrName>
                                        </p:attrNameLst>
                                      </p:cBhvr>
                                      <p:to>
                                        <p:strVal val="visible"/>
                                      </p:to>
                                    </p:set>
                                    <p:anim calcmode="lin" valueType="num">
                                      <p:cBhvr>
                                        <p:cTn id="31" dur="500" fill="hold"/>
                                        <p:tgtEl>
                                          <p:spTgt spid="9225"/>
                                        </p:tgtEl>
                                        <p:attrNameLst>
                                          <p:attrName>ppt_x</p:attrName>
                                        </p:attrNameLst>
                                      </p:cBhvr>
                                      <p:tavLst>
                                        <p:tav tm="0">
                                          <p:val>
                                            <p:strVal val="#ppt_x"/>
                                          </p:val>
                                        </p:tav>
                                        <p:tav tm="100000">
                                          <p:val>
                                            <p:strVal val="#ppt_x"/>
                                          </p:val>
                                        </p:tav>
                                      </p:tavLst>
                                    </p:anim>
                                    <p:anim calcmode="lin" valueType="num">
                                      <p:cBhvr>
                                        <p:cTn id="32" dur="500" fill="hold"/>
                                        <p:tgtEl>
                                          <p:spTgt spid="9225"/>
                                        </p:tgtEl>
                                        <p:attrNameLst>
                                          <p:attrName>ppt_y</p:attrName>
                                        </p:attrNameLst>
                                      </p:cBhvr>
                                      <p:tavLst>
                                        <p:tav tm="0">
                                          <p:val>
                                            <p:strVal val="#ppt_y-#ppt_h/2"/>
                                          </p:val>
                                        </p:tav>
                                        <p:tav tm="100000">
                                          <p:val>
                                            <p:strVal val="#ppt_y"/>
                                          </p:val>
                                        </p:tav>
                                      </p:tavLst>
                                    </p:anim>
                                    <p:anim calcmode="lin" valueType="num">
                                      <p:cBhvr>
                                        <p:cTn id="33" dur="500" fill="hold"/>
                                        <p:tgtEl>
                                          <p:spTgt spid="9225"/>
                                        </p:tgtEl>
                                        <p:attrNameLst>
                                          <p:attrName>ppt_w</p:attrName>
                                        </p:attrNameLst>
                                      </p:cBhvr>
                                      <p:tavLst>
                                        <p:tav tm="0">
                                          <p:val>
                                            <p:strVal val="#ppt_w"/>
                                          </p:val>
                                        </p:tav>
                                        <p:tav tm="100000">
                                          <p:val>
                                            <p:strVal val="#ppt_w"/>
                                          </p:val>
                                        </p:tav>
                                      </p:tavLst>
                                    </p:anim>
                                    <p:anim calcmode="lin" valueType="num">
                                      <p:cBhvr>
                                        <p:cTn id="34" dur="500" fill="hold"/>
                                        <p:tgtEl>
                                          <p:spTgt spid="9225"/>
                                        </p:tgtEl>
                                        <p:attrNameLst>
                                          <p:attrName>ppt_h</p:attrName>
                                        </p:attrNameLst>
                                      </p:cBhvr>
                                      <p:tavLst>
                                        <p:tav tm="0">
                                          <p:val>
                                            <p:fltVal val="0"/>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9223"/>
                                        </p:tgtEl>
                                        <p:attrNameLst>
                                          <p:attrName>style.visibility</p:attrName>
                                        </p:attrNameLst>
                                      </p:cBhvr>
                                      <p:to>
                                        <p:strVal val="visible"/>
                                      </p:to>
                                    </p:set>
                                    <p:animEffect transition="in" filter="wipe(left)">
                                      <p:cBhvr>
                                        <p:cTn id="39" dur="500"/>
                                        <p:tgtEl>
                                          <p:spTgt spid="9223"/>
                                        </p:tgtEl>
                                      </p:cBhvr>
                                    </p:animEffect>
                                  </p:childTnLst>
                                </p:cTn>
                              </p:par>
                            </p:childTnLst>
                          </p:cTn>
                        </p:par>
                        <p:par>
                          <p:cTn id="40" fill="hold">
                            <p:stCondLst>
                              <p:cond delay="500"/>
                            </p:stCondLst>
                            <p:childTnLst>
                              <p:par>
                                <p:cTn id="41" presetID="22" presetClass="entr" presetSubtype="8" fill="hold" grpId="0" nodeType="afterEffect">
                                  <p:stCondLst>
                                    <p:cond delay="0"/>
                                  </p:stCondLst>
                                  <p:childTnLst>
                                    <p:set>
                                      <p:cBhvr>
                                        <p:cTn id="42" dur="1" fill="hold">
                                          <p:stCondLst>
                                            <p:cond delay="0"/>
                                          </p:stCondLst>
                                        </p:cTn>
                                        <p:tgtEl>
                                          <p:spTgt spid="9224"/>
                                        </p:tgtEl>
                                        <p:attrNameLst>
                                          <p:attrName>style.visibility</p:attrName>
                                        </p:attrNameLst>
                                      </p:cBhvr>
                                      <p:to>
                                        <p:strVal val="visible"/>
                                      </p:to>
                                    </p:set>
                                    <p:animEffect transition="in" filter="wipe(left)">
                                      <p:cBhvr>
                                        <p:cTn id="43" dur="500"/>
                                        <p:tgtEl>
                                          <p:spTgt spid="9224"/>
                                        </p:tgtEl>
                                      </p:cBhvr>
                                    </p:animEffect>
                                  </p:childTnLst>
                                </p:cTn>
                              </p:par>
                            </p:childTnLst>
                          </p:cTn>
                        </p:par>
                        <p:par>
                          <p:cTn id="44" fill="hold">
                            <p:stCondLst>
                              <p:cond delay="1000"/>
                            </p:stCondLst>
                            <p:childTnLst>
                              <p:par>
                                <p:cTn id="45" presetID="17" presetClass="entr" presetSubtype="1" fill="hold" grpId="0" nodeType="afterEffect">
                                  <p:stCondLst>
                                    <p:cond delay="0"/>
                                  </p:stCondLst>
                                  <p:childTnLst>
                                    <p:set>
                                      <p:cBhvr>
                                        <p:cTn id="46" dur="1" fill="hold">
                                          <p:stCondLst>
                                            <p:cond delay="0"/>
                                          </p:stCondLst>
                                        </p:cTn>
                                        <p:tgtEl>
                                          <p:spTgt spid="9226"/>
                                        </p:tgtEl>
                                        <p:attrNameLst>
                                          <p:attrName>style.visibility</p:attrName>
                                        </p:attrNameLst>
                                      </p:cBhvr>
                                      <p:to>
                                        <p:strVal val="visible"/>
                                      </p:to>
                                    </p:set>
                                    <p:anim calcmode="lin" valueType="num">
                                      <p:cBhvr>
                                        <p:cTn id="47" dur="500" fill="hold"/>
                                        <p:tgtEl>
                                          <p:spTgt spid="9226"/>
                                        </p:tgtEl>
                                        <p:attrNameLst>
                                          <p:attrName>ppt_x</p:attrName>
                                        </p:attrNameLst>
                                      </p:cBhvr>
                                      <p:tavLst>
                                        <p:tav tm="0">
                                          <p:val>
                                            <p:strVal val="#ppt_x"/>
                                          </p:val>
                                        </p:tav>
                                        <p:tav tm="100000">
                                          <p:val>
                                            <p:strVal val="#ppt_x"/>
                                          </p:val>
                                        </p:tav>
                                      </p:tavLst>
                                    </p:anim>
                                    <p:anim calcmode="lin" valueType="num">
                                      <p:cBhvr>
                                        <p:cTn id="48" dur="500" fill="hold"/>
                                        <p:tgtEl>
                                          <p:spTgt spid="9226"/>
                                        </p:tgtEl>
                                        <p:attrNameLst>
                                          <p:attrName>ppt_y</p:attrName>
                                        </p:attrNameLst>
                                      </p:cBhvr>
                                      <p:tavLst>
                                        <p:tav tm="0">
                                          <p:val>
                                            <p:strVal val="#ppt_y-#ppt_h/2"/>
                                          </p:val>
                                        </p:tav>
                                        <p:tav tm="100000">
                                          <p:val>
                                            <p:strVal val="#ppt_y"/>
                                          </p:val>
                                        </p:tav>
                                      </p:tavLst>
                                    </p:anim>
                                    <p:anim calcmode="lin" valueType="num">
                                      <p:cBhvr>
                                        <p:cTn id="49" dur="500" fill="hold"/>
                                        <p:tgtEl>
                                          <p:spTgt spid="9226"/>
                                        </p:tgtEl>
                                        <p:attrNameLst>
                                          <p:attrName>ppt_w</p:attrName>
                                        </p:attrNameLst>
                                      </p:cBhvr>
                                      <p:tavLst>
                                        <p:tav tm="0">
                                          <p:val>
                                            <p:strVal val="#ppt_w"/>
                                          </p:val>
                                        </p:tav>
                                        <p:tav tm="100000">
                                          <p:val>
                                            <p:strVal val="#ppt_w"/>
                                          </p:val>
                                        </p:tav>
                                      </p:tavLst>
                                    </p:anim>
                                    <p:anim calcmode="lin" valueType="num">
                                      <p:cBhvr>
                                        <p:cTn id="50" dur="500" fill="hold"/>
                                        <p:tgtEl>
                                          <p:spTgt spid="9226"/>
                                        </p:tgtEl>
                                        <p:attrNameLst>
                                          <p:attrName>ppt_h</p:attrName>
                                        </p:attrNameLst>
                                      </p:cBhvr>
                                      <p:tavLst>
                                        <p:tav tm="0">
                                          <p:val>
                                            <p:fltVal val="0"/>
                                          </p:val>
                                        </p:tav>
                                        <p:tav tm="100000">
                                          <p:val>
                                            <p:strVal val="#ppt_h"/>
                                          </p:val>
                                        </p:tav>
                                      </p:tavLst>
                                    </p:anim>
                                  </p:childTnLst>
                                </p:cTn>
                              </p:par>
                            </p:childTnLst>
                          </p:cTn>
                        </p:par>
                        <p:par>
                          <p:cTn id="51" fill="hold">
                            <p:stCondLst>
                              <p:cond delay="1500"/>
                            </p:stCondLst>
                            <p:childTnLst>
                              <p:par>
                                <p:cTn id="52" presetID="17" presetClass="entr" presetSubtype="1" fill="hold" grpId="0" nodeType="afterEffect">
                                  <p:stCondLst>
                                    <p:cond delay="0"/>
                                  </p:stCondLst>
                                  <p:childTnLst>
                                    <p:set>
                                      <p:cBhvr>
                                        <p:cTn id="53" dur="1" fill="hold">
                                          <p:stCondLst>
                                            <p:cond delay="0"/>
                                          </p:stCondLst>
                                        </p:cTn>
                                        <p:tgtEl>
                                          <p:spTgt spid="9227"/>
                                        </p:tgtEl>
                                        <p:attrNameLst>
                                          <p:attrName>style.visibility</p:attrName>
                                        </p:attrNameLst>
                                      </p:cBhvr>
                                      <p:to>
                                        <p:strVal val="visible"/>
                                      </p:to>
                                    </p:set>
                                    <p:anim calcmode="lin" valueType="num">
                                      <p:cBhvr>
                                        <p:cTn id="54" dur="500" fill="hold"/>
                                        <p:tgtEl>
                                          <p:spTgt spid="9227"/>
                                        </p:tgtEl>
                                        <p:attrNameLst>
                                          <p:attrName>ppt_x</p:attrName>
                                        </p:attrNameLst>
                                      </p:cBhvr>
                                      <p:tavLst>
                                        <p:tav tm="0">
                                          <p:val>
                                            <p:strVal val="#ppt_x"/>
                                          </p:val>
                                        </p:tav>
                                        <p:tav tm="100000">
                                          <p:val>
                                            <p:strVal val="#ppt_x"/>
                                          </p:val>
                                        </p:tav>
                                      </p:tavLst>
                                    </p:anim>
                                    <p:anim calcmode="lin" valueType="num">
                                      <p:cBhvr>
                                        <p:cTn id="55" dur="500" fill="hold"/>
                                        <p:tgtEl>
                                          <p:spTgt spid="9227"/>
                                        </p:tgtEl>
                                        <p:attrNameLst>
                                          <p:attrName>ppt_y</p:attrName>
                                        </p:attrNameLst>
                                      </p:cBhvr>
                                      <p:tavLst>
                                        <p:tav tm="0">
                                          <p:val>
                                            <p:strVal val="#ppt_y-#ppt_h/2"/>
                                          </p:val>
                                        </p:tav>
                                        <p:tav tm="100000">
                                          <p:val>
                                            <p:strVal val="#ppt_y"/>
                                          </p:val>
                                        </p:tav>
                                      </p:tavLst>
                                    </p:anim>
                                    <p:anim calcmode="lin" valueType="num">
                                      <p:cBhvr>
                                        <p:cTn id="56" dur="500" fill="hold"/>
                                        <p:tgtEl>
                                          <p:spTgt spid="9227"/>
                                        </p:tgtEl>
                                        <p:attrNameLst>
                                          <p:attrName>ppt_w</p:attrName>
                                        </p:attrNameLst>
                                      </p:cBhvr>
                                      <p:tavLst>
                                        <p:tav tm="0">
                                          <p:val>
                                            <p:strVal val="#ppt_w"/>
                                          </p:val>
                                        </p:tav>
                                        <p:tav tm="100000">
                                          <p:val>
                                            <p:strVal val="#ppt_w"/>
                                          </p:val>
                                        </p:tav>
                                      </p:tavLst>
                                    </p:anim>
                                    <p:anim calcmode="lin" valueType="num">
                                      <p:cBhvr>
                                        <p:cTn id="57" dur="500" fill="hold"/>
                                        <p:tgtEl>
                                          <p:spTgt spid="922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bldLvl="0" animBg="1" autoUpdateAnimBg="0"/>
      <p:bldP spid="9219" grpId="0" bldLvl="0" animBg="1" autoUpdateAnimBg="0"/>
      <p:bldP spid="9220" grpId="0" bldLvl="0" animBg="1" autoUpdateAnimBg="0"/>
      <p:bldP spid="9221" grpId="0" bldLvl="0" animBg="1" autoUpdateAnimBg="0"/>
      <p:bldP spid="9222" grpId="0" bldLvl="0" animBg="1" autoUpdateAnimBg="0"/>
      <p:bldP spid="9223" grpId="0" bldLvl="0" animBg="1" autoUpdateAnimBg="0"/>
      <p:bldP spid="9224" grpId="0" bldLvl="0" animBg="1" autoUpdateAnimBg="0"/>
      <p:bldP spid="9225" grpId="0" bldLvl="0" animBg="1"/>
      <p:bldP spid="9226" grpId="0" bldLvl="0" animBg="1"/>
      <p:bldP spid="9227"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755650" y="549275"/>
            <a:ext cx="7772400" cy="563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90000"/>
              </a:lnSpc>
              <a:spcBef>
                <a:spcPct val="20000"/>
              </a:spcBef>
              <a:buFontTx/>
              <a:buChar char="•"/>
            </a:pPr>
            <a:r>
              <a:rPr lang="zh-CN" altLang="en-US" b="1" dirty="0">
                <a:latin typeface="Arial" panose="020B0604020202020204" pitchFamily="34" charset="0"/>
                <a:cs typeface="Arial" panose="020B0604020202020204" pitchFamily="34" charset="0"/>
              </a:rPr>
              <a:t>Principles for sorting based on different criteria</a:t>
            </a:r>
          </a:p>
          <a:p>
            <a:pPr lvl="1">
              <a:lnSpc>
                <a:spcPct val="90000"/>
              </a:lnSpc>
              <a:spcBef>
                <a:spcPct val="20000"/>
              </a:spcBef>
              <a:buFontTx/>
              <a:buChar char="–"/>
            </a:pPr>
            <a:r>
              <a:rPr lang="zh-CN" altLang="en-US" b="1" dirty="0">
                <a:latin typeface="Arial" panose="020B0604020202020204" pitchFamily="34" charset="0"/>
                <a:ea typeface="楷体_GB2312" pitchFamily="49" charset="-122"/>
                <a:cs typeface="Arial" panose="020B0604020202020204" pitchFamily="34" charset="0"/>
              </a:rPr>
              <a:t>insertion sort</a:t>
            </a:r>
          </a:p>
          <a:p>
            <a:pPr lvl="1">
              <a:lnSpc>
                <a:spcPct val="90000"/>
              </a:lnSpc>
              <a:spcBef>
                <a:spcPct val="20000"/>
              </a:spcBef>
              <a:buFontTx/>
              <a:buChar char="–"/>
            </a:pPr>
            <a:r>
              <a:rPr lang="zh-CN" altLang="en-US" b="1" dirty="0">
                <a:latin typeface="Arial" panose="020B0604020202020204" pitchFamily="34" charset="0"/>
                <a:ea typeface="楷体_GB2312" pitchFamily="49" charset="-122"/>
                <a:cs typeface="Arial" panose="020B0604020202020204" pitchFamily="34" charset="0"/>
              </a:rPr>
              <a:t>exchange sort</a:t>
            </a:r>
          </a:p>
          <a:p>
            <a:pPr lvl="1">
              <a:lnSpc>
                <a:spcPct val="90000"/>
              </a:lnSpc>
              <a:spcBef>
                <a:spcPct val="20000"/>
              </a:spcBef>
              <a:buFontTx/>
              <a:buChar char="–"/>
            </a:pPr>
            <a:r>
              <a:rPr lang="en-US" altLang="zh-CN" b="1" dirty="0">
                <a:latin typeface="Arial" panose="020B0604020202020204" pitchFamily="34" charset="0"/>
                <a:cs typeface="Arial" panose="020B0604020202020204" pitchFamily="34" charset="0"/>
                <a:sym typeface="+mn-ea"/>
              </a:rPr>
              <a:t>selection sort</a:t>
            </a:r>
          </a:p>
          <a:p>
            <a:pPr lvl="1">
              <a:lnSpc>
                <a:spcPct val="90000"/>
              </a:lnSpc>
              <a:spcBef>
                <a:spcPct val="20000"/>
              </a:spcBef>
              <a:buFontTx/>
              <a:buChar char="–"/>
            </a:pPr>
            <a:r>
              <a:rPr lang="zh-CN" altLang="en-US" b="1" dirty="0">
                <a:latin typeface="Arial" panose="020B0604020202020204" pitchFamily="34" charset="0"/>
                <a:ea typeface="楷体_GB2312" pitchFamily="49" charset="-122"/>
                <a:cs typeface="Arial" panose="020B0604020202020204" pitchFamily="34" charset="0"/>
              </a:rPr>
              <a:t>merge sort</a:t>
            </a:r>
          </a:p>
          <a:p>
            <a:pPr lvl="1">
              <a:lnSpc>
                <a:spcPct val="90000"/>
              </a:lnSpc>
              <a:spcBef>
                <a:spcPct val="20000"/>
              </a:spcBef>
              <a:buFontTx/>
              <a:buChar char="–"/>
            </a:pPr>
            <a:r>
              <a:rPr lang="zh-CN" altLang="en-US" b="1" dirty="0">
                <a:latin typeface="Arial" panose="020B0604020202020204" pitchFamily="34" charset="0"/>
                <a:ea typeface="楷体_GB2312" pitchFamily="49" charset="-122"/>
                <a:cs typeface="Arial" panose="020B0604020202020204" pitchFamily="34" charset="0"/>
              </a:rPr>
              <a:t>radix sorting</a:t>
            </a:r>
          </a:p>
          <a:p>
            <a:pPr>
              <a:lnSpc>
                <a:spcPct val="90000"/>
              </a:lnSpc>
              <a:spcBef>
                <a:spcPct val="50000"/>
              </a:spcBef>
              <a:spcAft>
                <a:spcPct val="20000"/>
              </a:spcAft>
              <a:buFontTx/>
              <a:buChar char="•"/>
            </a:pPr>
            <a:r>
              <a:rPr lang="zh-CN" altLang="en-US" b="1" dirty="0">
                <a:latin typeface="Arial" panose="020B0604020202020204" pitchFamily="34" charset="0"/>
                <a:cs typeface="Arial" panose="020B0604020202020204" pitchFamily="34" charset="0"/>
              </a:rPr>
              <a:t>Workload required for sorting process</a:t>
            </a:r>
          </a:p>
          <a:p>
            <a:pPr lvl="1">
              <a:lnSpc>
                <a:spcPct val="90000"/>
              </a:lnSpc>
              <a:spcBef>
                <a:spcPct val="20000"/>
              </a:spcBef>
              <a:buFontTx/>
              <a:buChar char="–"/>
            </a:pPr>
            <a:r>
              <a:rPr lang="zh-CN" altLang="en-US" b="1" dirty="0">
                <a:latin typeface="Arial" panose="020B0604020202020204" pitchFamily="34" charset="0"/>
                <a:ea typeface="楷体_GB2312" pitchFamily="49" charset="-122"/>
                <a:cs typeface="Arial" panose="020B0604020202020204" pitchFamily="34" charset="0"/>
              </a:rPr>
              <a:t>A simple sorting method with time complexity O(n²)</a:t>
            </a:r>
            <a:endParaRPr lang="en-US" altLang="zh-CN" b="1" dirty="0">
              <a:latin typeface="Arial" panose="020B0604020202020204" pitchFamily="34" charset="0"/>
              <a:ea typeface="楷体_GB2312" pitchFamily="49" charset="-122"/>
              <a:cs typeface="Arial" panose="020B0604020202020204" pitchFamily="34" charset="0"/>
            </a:endParaRPr>
          </a:p>
          <a:p>
            <a:pPr lvl="1">
              <a:lnSpc>
                <a:spcPct val="90000"/>
              </a:lnSpc>
              <a:spcBef>
                <a:spcPct val="20000"/>
              </a:spcBef>
              <a:buFontTx/>
              <a:buChar char="–"/>
            </a:pPr>
            <a:r>
              <a:rPr lang="zh-CN" altLang="en-US" b="1" dirty="0">
                <a:latin typeface="Arial" panose="020B0604020202020204" pitchFamily="34" charset="0"/>
                <a:ea typeface="楷体_GB2312" pitchFamily="49" charset="-122"/>
                <a:cs typeface="Arial" panose="020B0604020202020204" pitchFamily="34" charset="0"/>
              </a:rPr>
              <a:t>An advanced sorting algorithm with </a:t>
            </a:r>
            <a:r>
              <a:rPr lang="en-US" altLang="zh-CN" b="1" dirty="0">
                <a:latin typeface="Arial" panose="020B0604020202020204" pitchFamily="34" charset="0"/>
                <a:ea typeface="楷体_GB2312" pitchFamily="49" charset="-122"/>
                <a:cs typeface="Arial" panose="020B0604020202020204" pitchFamily="34" charset="0"/>
                <a:sym typeface="+mn-ea"/>
              </a:rPr>
              <a:t>O(</a:t>
            </a:r>
            <a:r>
              <a:rPr lang="en-US" altLang="zh-CN" b="1" dirty="0" err="1">
                <a:latin typeface="Arial" panose="020B0604020202020204" pitchFamily="34" charset="0"/>
                <a:ea typeface="楷体_GB2312" pitchFamily="49" charset="-122"/>
                <a:cs typeface="Arial" panose="020B0604020202020204" pitchFamily="34" charset="0"/>
                <a:sym typeface="+mn-ea"/>
              </a:rPr>
              <a:t>nlogn</a:t>
            </a:r>
            <a:r>
              <a:rPr lang="en-US" altLang="zh-CN" b="1" dirty="0">
                <a:latin typeface="Arial" panose="020B0604020202020204" pitchFamily="34" charset="0"/>
                <a:ea typeface="楷体_GB2312" pitchFamily="49" charset="-122"/>
                <a:cs typeface="Arial" panose="020B0604020202020204" pitchFamily="34" charset="0"/>
                <a:sym typeface="+mn-ea"/>
              </a:rPr>
              <a:t>)</a:t>
            </a:r>
            <a:r>
              <a:rPr lang="zh-CN" altLang="en-US" b="1" dirty="0">
                <a:latin typeface="Arial" panose="020B0604020202020204" pitchFamily="34" charset="0"/>
                <a:ea typeface="楷体_GB2312" pitchFamily="49" charset="-122"/>
                <a:cs typeface="Arial" panose="020B0604020202020204" pitchFamily="34" charset="0"/>
              </a:rPr>
              <a:t> time complexity</a:t>
            </a:r>
            <a:endParaRPr lang="en-US" altLang="zh-CN" b="1" dirty="0">
              <a:latin typeface="Arial" panose="020B0604020202020204" pitchFamily="34" charset="0"/>
              <a:ea typeface="楷体_GB2312" pitchFamily="49" charset="-122"/>
              <a:cs typeface="Arial" panose="020B0604020202020204" pitchFamily="34" charset="0"/>
            </a:endParaRPr>
          </a:p>
          <a:p>
            <a:pPr lvl="1">
              <a:lnSpc>
                <a:spcPct val="90000"/>
              </a:lnSpc>
              <a:spcBef>
                <a:spcPct val="20000"/>
              </a:spcBef>
              <a:buFontTx/>
              <a:buChar char="–"/>
            </a:pPr>
            <a:r>
              <a:rPr lang="zh-CN" altLang="en-US" b="1" dirty="0">
                <a:latin typeface="Arial" panose="020B0604020202020204" pitchFamily="34" charset="0"/>
                <a:ea typeface="楷体_GB2312" pitchFamily="49" charset="-122"/>
                <a:cs typeface="Arial" panose="020B0604020202020204" pitchFamily="34" charset="0"/>
              </a:rPr>
              <a:t>Base sort has a time complexity of O(d·n).</a:t>
            </a:r>
            <a:endParaRPr lang="en-US" altLang="zh-CN" b="1" dirty="0">
              <a:latin typeface="Arial" panose="020B0604020202020204" pitchFamily="34" charset="0"/>
              <a:ea typeface="楷体_GB2312" pitchFamily="49" charset="-122"/>
              <a:cs typeface="Arial" panose="020B0604020202020204" pitchFamily="34" charset="0"/>
            </a:endParaRP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12</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242">
                                            <p:txEl>
                                              <p:pRg st="0" end="0"/>
                                            </p:txEl>
                                          </p:spTgt>
                                        </p:tgtEl>
                                        <p:attrNameLst>
                                          <p:attrName>style.visibility</p:attrName>
                                        </p:attrNameLst>
                                      </p:cBhvr>
                                      <p:to>
                                        <p:strVal val="visible"/>
                                      </p:to>
                                    </p:set>
                                    <p:animEffect transition="in" filter="box(in)">
                                      <p:cBhvr>
                                        <p:cTn id="7" dur="500"/>
                                        <p:tgtEl>
                                          <p:spTgt spid="10242">
                                            <p:txEl>
                                              <p:pRg st="0" end="0"/>
                                            </p:txEl>
                                          </p:spTgt>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10242">
                                            <p:txEl>
                                              <p:pRg st="1" end="1"/>
                                            </p:txEl>
                                          </p:spTgt>
                                        </p:tgtEl>
                                        <p:attrNameLst>
                                          <p:attrName>style.visibility</p:attrName>
                                        </p:attrNameLst>
                                      </p:cBhvr>
                                      <p:to>
                                        <p:strVal val="visible"/>
                                      </p:to>
                                    </p:set>
                                    <p:animEffect transition="in" filter="box(in)">
                                      <p:cBhvr>
                                        <p:cTn id="10" dur="500"/>
                                        <p:tgtEl>
                                          <p:spTgt spid="10242">
                                            <p:txEl>
                                              <p:pRg st="1" end="1"/>
                                            </p:txEl>
                                          </p:spTgt>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10242">
                                            <p:txEl>
                                              <p:pRg st="2" end="2"/>
                                            </p:txEl>
                                          </p:spTgt>
                                        </p:tgtEl>
                                        <p:attrNameLst>
                                          <p:attrName>style.visibility</p:attrName>
                                        </p:attrNameLst>
                                      </p:cBhvr>
                                      <p:to>
                                        <p:strVal val="visible"/>
                                      </p:to>
                                    </p:set>
                                    <p:animEffect transition="in" filter="box(in)">
                                      <p:cBhvr>
                                        <p:cTn id="13" dur="500"/>
                                        <p:tgtEl>
                                          <p:spTgt spid="10242">
                                            <p:txEl>
                                              <p:pRg st="2" end="2"/>
                                            </p:txEl>
                                          </p:spTgt>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10242">
                                            <p:txEl>
                                              <p:pRg st="3" end="3"/>
                                            </p:txEl>
                                          </p:spTgt>
                                        </p:tgtEl>
                                        <p:attrNameLst>
                                          <p:attrName>style.visibility</p:attrName>
                                        </p:attrNameLst>
                                      </p:cBhvr>
                                      <p:to>
                                        <p:strVal val="visible"/>
                                      </p:to>
                                    </p:set>
                                    <p:animEffect transition="in" filter="box(in)">
                                      <p:cBhvr>
                                        <p:cTn id="16" dur="500"/>
                                        <p:tgtEl>
                                          <p:spTgt spid="10242">
                                            <p:txEl>
                                              <p:pRg st="3" end="3"/>
                                            </p:txEl>
                                          </p:spTgt>
                                        </p:tgtEl>
                                      </p:cBhvr>
                                    </p:animEffect>
                                  </p:childTnLst>
                                </p:cTn>
                              </p:par>
                              <p:par>
                                <p:cTn id="17" presetID="4" presetClass="entr" presetSubtype="16" fill="hold" grpId="0" nodeType="withEffect">
                                  <p:stCondLst>
                                    <p:cond delay="0"/>
                                  </p:stCondLst>
                                  <p:childTnLst>
                                    <p:set>
                                      <p:cBhvr>
                                        <p:cTn id="18" dur="1" fill="hold">
                                          <p:stCondLst>
                                            <p:cond delay="0"/>
                                          </p:stCondLst>
                                        </p:cTn>
                                        <p:tgtEl>
                                          <p:spTgt spid="10242">
                                            <p:txEl>
                                              <p:pRg st="4" end="4"/>
                                            </p:txEl>
                                          </p:spTgt>
                                        </p:tgtEl>
                                        <p:attrNameLst>
                                          <p:attrName>style.visibility</p:attrName>
                                        </p:attrNameLst>
                                      </p:cBhvr>
                                      <p:to>
                                        <p:strVal val="visible"/>
                                      </p:to>
                                    </p:set>
                                    <p:animEffect transition="in" filter="box(in)">
                                      <p:cBhvr>
                                        <p:cTn id="19" dur="500"/>
                                        <p:tgtEl>
                                          <p:spTgt spid="10242">
                                            <p:txEl>
                                              <p:pRg st="4" end="4"/>
                                            </p:txEl>
                                          </p:spTgt>
                                        </p:tgtEl>
                                      </p:cBhvr>
                                    </p:animEffect>
                                  </p:childTnLst>
                                </p:cTn>
                              </p:par>
                              <p:par>
                                <p:cTn id="20" presetID="4" presetClass="entr" presetSubtype="16" fill="hold" grpId="0" nodeType="withEffect">
                                  <p:stCondLst>
                                    <p:cond delay="0"/>
                                  </p:stCondLst>
                                  <p:childTnLst>
                                    <p:set>
                                      <p:cBhvr>
                                        <p:cTn id="21" dur="1" fill="hold">
                                          <p:stCondLst>
                                            <p:cond delay="0"/>
                                          </p:stCondLst>
                                        </p:cTn>
                                        <p:tgtEl>
                                          <p:spTgt spid="10242">
                                            <p:txEl>
                                              <p:pRg st="5" end="5"/>
                                            </p:txEl>
                                          </p:spTgt>
                                        </p:tgtEl>
                                        <p:attrNameLst>
                                          <p:attrName>style.visibility</p:attrName>
                                        </p:attrNameLst>
                                      </p:cBhvr>
                                      <p:to>
                                        <p:strVal val="visible"/>
                                      </p:to>
                                    </p:set>
                                    <p:animEffect transition="in" filter="box(in)">
                                      <p:cBhvr>
                                        <p:cTn id="22" dur="500"/>
                                        <p:tgtEl>
                                          <p:spTgt spid="10242">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0242">
                                            <p:txEl>
                                              <p:pRg st="6" end="6"/>
                                            </p:txEl>
                                          </p:spTgt>
                                        </p:tgtEl>
                                        <p:attrNameLst>
                                          <p:attrName>style.visibility</p:attrName>
                                        </p:attrNameLst>
                                      </p:cBhvr>
                                      <p:to>
                                        <p:strVal val="visible"/>
                                      </p:to>
                                    </p:set>
                                    <p:animEffect transition="in" filter="box(in)">
                                      <p:cBhvr>
                                        <p:cTn id="27" dur="500"/>
                                        <p:tgtEl>
                                          <p:spTgt spid="10242">
                                            <p:txEl>
                                              <p:pRg st="6" end="6"/>
                                            </p:txEl>
                                          </p:spTgt>
                                        </p:tgtEl>
                                      </p:cBhvr>
                                    </p:animEffect>
                                  </p:childTnLst>
                                </p:cTn>
                              </p:par>
                              <p:par>
                                <p:cTn id="28" presetID="4" presetClass="entr" presetSubtype="16" fill="hold" grpId="0" nodeType="withEffect">
                                  <p:stCondLst>
                                    <p:cond delay="0"/>
                                  </p:stCondLst>
                                  <p:childTnLst>
                                    <p:set>
                                      <p:cBhvr>
                                        <p:cTn id="29" dur="1" fill="hold">
                                          <p:stCondLst>
                                            <p:cond delay="0"/>
                                          </p:stCondLst>
                                        </p:cTn>
                                        <p:tgtEl>
                                          <p:spTgt spid="10242">
                                            <p:txEl>
                                              <p:pRg st="7" end="7"/>
                                            </p:txEl>
                                          </p:spTgt>
                                        </p:tgtEl>
                                        <p:attrNameLst>
                                          <p:attrName>style.visibility</p:attrName>
                                        </p:attrNameLst>
                                      </p:cBhvr>
                                      <p:to>
                                        <p:strVal val="visible"/>
                                      </p:to>
                                    </p:set>
                                    <p:animEffect transition="in" filter="box(in)">
                                      <p:cBhvr>
                                        <p:cTn id="30" dur="500"/>
                                        <p:tgtEl>
                                          <p:spTgt spid="10242">
                                            <p:txEl>
                                              <p:pRg st="7" end="7"/>
                                            </p:txEl>
                                          </p:spTgt>
                                        </p:tgtEl>
                                      </p:cBhvr>
                                    </p:animEffect>
                                  </p:childTnLst>
                                </p:cTn>
                              </p:par>
                              <p:par>
                                <p:cTn id="31" presetID="4" presetClass="entr" presetSubtype="16" fill="hold" grpId="0" nodeType="withEffect">
                                  <p:stCondLst>
                                    <p:cond delay="0"/>
                                  </p:stCondLst>
                                  <p:childTnLst>
                                    <p:set>
                                      <p:cBhvr>
                                        <p:cTn id="32" dur="1" fill="hold">
                                          <p:stCondLst>
                                            <p:cond delay="0"/>
                                          </p:stCondLst>
                                        </p:cTn>
                                        <p:tgtEl>
                                          <p:spTgt spid="10242">
                                            <p:txEl>
                                              <p:pRg st="8" end="8"/>
                                            </p:txEl>
                                          </p:spTgt>
                                        </p:tgtEl>
                                        <p:attrNameLst>
                                          <p:attrName>style.visibility</p:attrName>
                                        </p:attrNameLst>
                                      </p:cBhvr>
                                      <p:to>
                                        <p:strVal val="visible"/>
                                      </p:to>
                                    </p:set>
                                    <p:animEffect transition="in" filter="box(in)">
                                      <p:cBhvr>
                                        <p:cTn id="33" dur="500"/>
                                        <p:tgtEl>
                                          <p:spTgt spid="10242">
                                            <p:txEl>
                                              <p:pRg st="8" end="8"/>
                                            </p:txEl>
                                          </p:spTgt>
                                        </p:tgtEl>
                                      </p:cBhvr>
                                    </p:animEffect>
                                  </p:childTnLst>
                                </p:cTn>
                              </p:par>
                              <p:par>
                                <p:cTn id="34" presetID="4" presetClass="entr" presetSubtype="16" fill="hold" grpId="0" nodeType="withEffect">
                                  <p:stCondLst>
                                    <p:cond delay="0"/>
                                  </p:stCondLst>
                                  <p:childTnLst>
                                    <p:set>
                                      <p:cBhvr>
                                        <p:cTn id="35" dur="1" fill="hold">
                                          <p:stCondLst>
                                            <p:cond delay="0"/>
                                          </p:stCondLst>
                                        </p:cTn>
                                        <p:tgtEl>
                                          <p:spTgt spid="10242">
                                            <p:txEl>
                                              <p:pRg st="9" end="9"/>
                                            </p:txEl>
                                          </p:spTgt>
                                        </p:tgtEl>
                                        <p:attrNameLst>
                                          <p:attrName>style.visibility</p:attrName>
                                        </p:attrNameLst>
                                      </p:cBhvr>
                                      <p:to>
                                        <p:strVal val="visible"/>
                                      </p:to>
                                    </p:set>
                                    <p:animEffect transition="in" filter="box(in)">
                                      <p:cBhvr>
                                        <p:cTn id="36" dur="500"/>
                                        <p:tgtEl>
                                          <p:spTgt spid="1024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
          <p:cNvSpPr txBox="1">
            <a:spLocks noChangeArrowheads="1"/>
          </p:cNvSpPr>
          <p:nvPr/>
        </p:nvSpPr>
        <p:spPr bwMode="auto">
          <a:xfrm>
            <a:off x="792163" y="762000"/>
            <a:ext cx="558003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600" b="1" dirty="0">
                <a:solidFill>
                  <a:srgbClr val="800080"/>
                </a:solidFill>
                <a:latin typeface="Arial" panose="020B0604020202020204" pitchFamily="34" charset="0"/>
                <a:ea typeface="楷体_GB2312" pitchFamily="49" charset="-122"/>
                <a:cs typeface="Arial" panose="020B0604020202020204" pitchFamily="34" charset="0"/>
              </a:rPr>
              <a:t>1. </a:t>
            </a:r>
            <a:r>
              <a:rPr lang="zh-CN" altLang="en-US" sz="3600" b="1" dirty="0">
                <a:solidFill>
                  <a:srgbClr val="800080"/>
                </a:solidFill>
                <a:latin typeface="Arial" panose="020B0604020202020204" pitchFamily="34" charset="0"/>
                <a:ea typeface="楷体_GB2312" pitchFamily="49" charset="-122"/>
                <a:cs typeface="Arial" panose="020B0604020202020204" pitchFamily="34" charset="0"/>
              </a:rPr>
              <a:t>Insert category</a:t>
            </a:r>
          </a:p>
        </p:txBody>
      </p:sp>
      <p:sp>
        <p:nvSpPr>
          <p:cNvPr id="11267" name="Text Box 3"/>
          <p:cNvSpPr txBox="1">
            <a:spLocks noChangeArrowheads="1"/>
          </p:cNvSpPr>
          <p:nvPr/>
        </p:nvSpPr>
        <p:spPr bwMode="auto">
          <a:xfrm>
            <a:off x="762000" y="2133600"/>
            <a:ext cx="8202613" cy="2030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zh-CN" altLang="en-US" b="1">
                <a:solidFill>
                  <a:srgbClr val="990000"/>
                </a:solidFill>
                <a:latin typeface="Arial" panose="020B0604020202020204" pitchFamily="34" charset="0"/>
                <a:ea typeface="楷体_GB2312" pitchFamily="49" charset="-122"/>
                <a:cs typeface="Arial" panose="020B0604020202020204" pitchFamily="34" charset="0"/>
              </a:rPr>
              <a:t>Inserts</a:t>
            </a:r>
            <a:r>
              <a:rPr lang="zh-CN" altLang="en-US">
                <a:latin typeface="Arial" panose="020B0604020202020204" pitchFamily="34" charset="0"/>
                <a:ea typeface="楷体_GB2312" pitchFamily="49" charset="-122"/>
                <a:cs typeface="Arial" panose="020B0604020202020204" pitchFamily="34" charset="0"/>
              </a:rPr>
              <a:t> one or more records from an unordered subsequence into an ordered subsequence to increase the length of the ordered subsequence.</a:t>
            </a:r>
          </a:p>
        </p:txBody>
      </p:sp>
      <p:pic>
        <p:nvPicPr>
          <p:cNvPr id="11268" name="Picture 4" descr="Autumn Leav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524000"/>
            <a:ext cx="2819400" cy="109538"/>
          </a:xfrm>
          <a:prstGeom prst="rect">
            <a:avLst/>
          </a:prstGeom>
          <a:noFill/>
          <a:extLst>
            <a:ext uri="{909E8E84-426E-40DD-AFC4-6F175D3DCCD1}">
              <a14:hiddenFill xmlns:a14="http://schemas.microsoft.com/office/drawing/2010/main">
                <a:solidFill>
                  <a:srgbClr val="FFFFFF"/>
                </a:solidFill>
              </a14:hiddenFill>
            </a:ext>
          </a:extLst>
        </p:spPr>
      </p:pic>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13</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11266"/>
                                        </p:tgtEl>
                                        <p:attrNameLst>
                                          <p:attrName>style.visibility</p:attrName>
                                        </p:attrNameLst>
                                      </p:cBhvr>
                                      <p:to>
                                        <p:strVal val="visible"/>
                                      </p:to>
                                    </p:set>
                                    <p:anim calcmode="lin" valueType="num">
                                      <p:cBhvr additive="base">
                                        <p:cTn id="7" dur="500" fill="hold"/>
                                        <p:tgtEl>
                                          <p:spTgt spid="11266"/>
                                        </p:tgtEl>
                                        <p:attrNameLst>
                                          <p:attrName>ppt_x</p:attrName>
                                        </p:attrNameLst>
                                      </p:cBhvr>
                                      <p:tavLst>
                                        <p:tav tm="0">
                                          <p:val>
                                            <p:strVal val="#ppt_x"/>
                                          </p:val>
                                        </p:tav>
                                        <p:tav tm="100000">
                                          <p:val>
                                            <p:strVal val="#ppt_x"/>
                                          </p:val>
                                        </p:tav>
                                      </p:tavLst>
                                    </p:anim>
                                    <p:anim calcmode="lin" valueType="num">
                                      <p:cBhvr additive="base">
                                        <p:cTn id="8" dur="500" fill="hold"/>
                                        <p:tgtEl>
                                          <p:spTgt spid="11266"/>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17" presetClass="entr" presetSubtype="10" fill="hold" nodeType="afterEffect">
                                  <p:stCondLst>
                                    <p:cond delay="0"/>
                                  </p:stCondLst>
                                  <p:childTnLst>
                                    <p:set>
                                      <p:cBhvr>
                                        <p:cTn id="11" dur="1" fill="hold">
                                          <p:stCondLst>
                                            <p:cond delay="0"/>
                                          </p:stCondLst>
                                        </p:cTn>
                                        <p:tgtEl>
                                          <p:spTgt spid="11268"/>
                                        </p:tgtEl>
                                        <p:attrNameLst>
                                          <p:attrName>style.visibility</p:attrName>
                                        </p:attrNameLst>
                                      </p:cBhvr>
                                      <p:to>
                                        <p:strVal val="visible"/>
                                      </p:to>
                                    </p:set>
                                    <p:anim calcmode="lin" valueType="num">
                                      <p:cBhvr>
                                        <p:cTn id="12" dur="500" fill="hold"/>
                                        <p:tgtEl>
                                          <p:spTgt spid="11268"/>
                                        </p:tgtEl>
                                        <p:attrNameLst>
                                          <p:attrName>ppt_w</p:attrName>
                                        </p:attrNameLst>
                                      </p:cBhvr>
                                      <p:tavLst>
                                        <p:tav tm="0">
                                          <p:val>
                                            <p:fltVal val="0"/>
                                          </p:val>
                                        </p:tav>
                                        <p:tav tm="100000">
                                          <p:val>
                                            <p:strVal val="#ppt_w"/>
                                          </p:val>
                                        </p:tav>
                                      </p:tavLst>
                                    </p:anim>
                                    <p:anim calcmode="lin" valueType="num">
                                      <p:cBhvr>
                                        <p:cTn id="13" dur="500" fill="hold"/>
                                        <p:tgtEl>
                                          <p:spTgt spid="11268"/>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18" presetClass="entr" presetSubtype="6" fill="hold" grpId="0" nodeType="clickEffect">
                                  <p:stCondLst>
                                    <p:cond delay="0"/>
                                  </p:stCondLst>
                                  <p:childTnLst>
                                    <p:set>
                                      <p:cBhvr>
                                        <p:cTn id="17" dur="1" fill="hold">
                                          <p:stCondLst>
                                            <p:cond delay="0"/>
                                          </p:stCondLst>
                                        </p:cTn>
                                        <p:tgtEl>
                                          <p:spTgt spid="11267"/>
                                        </p:tgtEl>
                                        <p:attrNameLst>
                                          <p:attrName>style.visibility</p:attrName>
                                        </p:attrNameLst>
                                      </p:cBhvr>
                                      <p:to>
                                        <p:strVal val="visible"/>
                                      </p:to>
                                    </p:set>
                                    <p:animEffect transition="in" filter="strips(downRight)">
                                      <p:cBhvr>
                                        <p:cTn id="18" dur="500"/>
                                        <p:tgtEl>
                                          <p:spTgt spid="112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bldLvl="0" animBg="1" autoUpdateAnimBg="0"/>
      <p:bldP spid="11267" grpId="0" bldLvl="0" animBg="1"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735013" y="612775"/>
            <a:ext cx="4881562"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600" b="1" dirty="0">
                <a:solidFill>
                  <a:srgbClr val="800080"/>
                </a:solidFill>
                <a:latin typeface="Arial" panose="020B0604020202020204" pitchFamily="34" charset="0"/>
                <a:ea typeface="楷体_GB2312" pitchFamily="49" charset="-122"/>
                <a:cs typeface="Arial" panose="020B0604020202020204" pitchFamily="34" charset="0"/>
              </a:rPr>
              <a:t>2. E</a:t>
            </a:r>
            <a:r>
              <a:rPr lang="zh-CN" altLang="en-US" sz="3600" b="1" dirty="0">
                <a:solidFill>
                  <a:srgbClr val="800080"/>
                </a:solidFill>
                <a:latin typeface="Arial" panose="020B0604020202020204" pitchFamily="34" charset="0"/>
                <a:ea typeface="楷体_GB2312" pitchFamily="49" charset="-122"/>
                <a:cs typeface="Arial" panose="020B0604020202020204" pitchFamily="34" charset="0"/>
              </a:rPr>
              <a:t>xchange class</a:t>
            </a:r>
          </a:p>
        </p:txBody>
      </p:sp>
      <p:sp>
        <p:nvSpPr>
          <p:cNvPr id="12291" name="Text Box 3"/>
          <p:cNvSpPr txBox="1">
            <a:spLocks noChangeArrowheads="1"/>
          </p:cNvSpPr>
          <p:nvPr/>
        </p:nvSpPr>
        <p:spPr bwMode="auto">
          <a:xfrm>
            <a:off x="746125" y="1676400"/>
            <a:ext cx="8245475" cy="310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40000"/>
              </a:lnSpc>
            </a:pPr>
            <a:r>
              <a:rPr lang="zh-CN" altLang="en-US" dirty="0">
                <a:latin typeface="Arial" panose="020B0604020202020204" pitchFamily="34" charset="0"/>
                <a:ea typeface="楷体_GB2312" pitchFamily="49" charset="-122"/>
                <a:cs typeface="Arial" panose="020B0604020202020204" pitchFamily="34" charset="0"/>
              </a:rPr>
              <a:t>By </a:t>
            </a:r>
            <a:r>
              <a:rPr lang="zh-CN" altLang="en-US" b="1" dirty="0">
                <a:solidFill>
                  <a:srgbClr val="FF0000"/>
                </a:solidFill>
                <a:latin typeface="Arial" panose="020B0604020202020204" pitchFamily="34" charset="0"/>
                <a:ea typeface="楷体_GB2312" pitchFamily="49" charset="-122"/>
                <a:cs typeface="Arial" panose="020B0604020202020204" pitchFamily="34" charset="0"/>
              </a:rPr>
              <a:t>exchanging</a:t>
            </a:r>
            <a:r>
              <a:rPr lang="zh-CN" altLang="en-US" dirty="0">
                <a:latin typeface="Arial" panose="020B0604020202020204" pitchFamily="34" charset="0"/>
                <a:ea typeface="楷体_GB2312" pitchFamily="49" charset="-122"/>
                <a:cs typeface="Arial" panose="020B0604020202020204" pitchFamily="34" charset="0"/>
              </a:rPr>
              <a:t> the records in the disordered sequence, the record with the </a:t>
            </a:r>
            <a:r>
              <a:rPr lang="zh-CN" altLang="en-US" dirty="0">
                <a:solidFill>
                  <a:srgbClr val="0000FF"/>
                </a:solidFill>
                <a:latin typeface="Arial" panose="020B0604020202020204" pitchFamily="34" charset="0"/>
                <a:ea typeface="楷体_GB2312" pitchFamily="49" charset="-122"/>
                <a:cs typeface="Arial" panose="020B0604020202020204" pitchFamily="34" charset="0"/>
              </a:rPr>
              <a:t>minimum or maximum key</a:t>
            </a:r>
            <a:r>
              <a:rPr lang="zh-CN" altLang="en-US" dirty="0">
                <a:latin typeface="Arial" panose="020B0604020202020204" pitchFamily="34" charset="0"/>
                <a:ea typeface="楷体_GB2312" pitchFamily="49" charset="-122"/>
                <a:cs typeface="Arial" panose="020B0604020202020204" pitchFamily="34" charset="0"/>
              </a:rPr>
              <a:t> is obtained and added to the ordered subsequence, thus increasing the length of the ordered subsequence.</a:t>
            </a:r>
          </a:p>
        </p:txBody>
      </p:sp>
      <p:pic>
        <p:nvPicPr>
          <p:cNvPr id="12292" name="Picture 4" descr="Autumn Leav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447800"/>
            <a:ext cx="2743200" cy="106363"/>
          </a:xfrm>
          <a:prstGeom prst="rect">
            <a:avLst/>
          </a:prstGeom>
          <a:noFill/>
          <a:extLst>
            <a:ext uri="{909E8E84-426E-40DD-AFC4-6F175D3DCCD1}">
              <a14:hiddenFill xmlns:a14="http://schemas.microsoft.com/office/drawing/2010/main">
                <a:solidFill>
                  <a:srgbClr val="FFFFFF"/>
                </a:solidFill>
              </a14:hiddenFill>
            </a:ext>
          </a:extLst>
        </p:spPr>
      </p:pic>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14</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12290"/>
                                        </p:tgtEl>
                                        <p:attrNameLst>
                                          <p:attrName>style.visibility</p:attrName>
                                        </p:attrNameLst>
                                      </p:cBhvr>
                                      <p:to>
                                        <p:strVal val="visible"/>
                                      </p:to>
                                    </p:set>
                                    <p:anim calcmode="lin" valueType="num">
                                      <p:cBhvr additive="base">
                                        <p:cTn id="7" dur="500" fill="hold"/>
                                        <p:tgtEl>
                                          <p:spTgt spid="12290"/>
                                        </p:tgtEl>
                                        <p:attrNameLst>
                                          <p:attrName>ppt_x</p:attrName>
                                        </p:attrNameLst>
                                      </p:cBhvr>
                                      <p:tavLst>
                                        <p:tav tm="0">
                                          <p:val>
                                            <p:strVal val="#ppt_x"/>
                                          </p:val>
                                        </p:tav>
                                        <p:tav tm="100000">
                                          <p:val>
                                            <p:strVal val="#ppt_x"/>
                                          </p:val>
                                        </p:tav>
                                      </p:tavLst>
                                    </p:anim>
                                    <p:anim calcmode="lin" valueType="num">
                                      <p:cBhvr additive="base">
                                        <p:cTn id="8" dur="500" fill="hold"/>
                                        <p:tgtEl>
                                          <p:spTgt spid="12290"/>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17" presetClass="entr" presetSubtype="10" fill="hold" nodeType="afterEffect">
                                  <p:stCondLst>
                                    <p:cond delay="0"/>
                                  </p:stCondLst>
                                  <p:childTnLst>
                                    <p:set>
                                      <p:cBhvr>
                                        <p:cTn id="11" dur="1" fill="hold">
                                          <p:stCondLst>
                                            <p:cond delay="0"/>
                                          </p:stCondLst>
                                        </p:cTn>
                                        <p:tgtEl>
                                          <p:spTgt spid="12292"/>
                                        </p:tgtEl>
                                        <p:attrNameLst>
                                          <p:attrName>style.visibility</p:attrName>
                                        </p:attrNameLst>
                                      </p:cBhvr>
                                      <p:to>
                                        <p:strVal val="visible"/>
                                      </p:to>
                                    </p:set>
                                    <p:anim calcmode="lin" valueType="num">
                                      <p:cBhvr>
                                        <p:cTn id="12" dur="500" fill="hold"/>
                                        <p:tgtEl>
                                          <p:spTgt spid="12292"/>
                                        </p:tgtEl>
                                        <p:attrNameLst>
                                          <p:attrName>ppt_w</p:attrName>
                                        </p:attrNameLst>
                                      </p:cBhvr>
                                      <p:tavLst>
                                        <p:tav tm="0">
                                          <p:val>
                                            <p:fltVal val="0"/>
                                          </p:val>
                                        </p:tav>
                                        <p:tav tm="100000">
                                          <p:val>
                                            <p:strVal val="#ppt_w"/>
                                          </p:val>
                                        </p:tav>
                                      </p:tavLst>
                                    </p:anim>
                                    <p:anim calcmode="lin" valueType="num">
                                      <p:cBhvr>
                                        <p:cTn id="13" dur="500" fill="hold"/>
                                        <p:tgtEl>
                                          <p:spTgt spid="12292"/>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18" presetClass="entr" presetSubtype="6" fill="hold" grpId="0" nodeType="clickEffect">
                                  <p:stCondLst>
                                    <p:cond delay="0"/>
                                  </p:stCondLst>
                                  <p:childTnLst>
                                    <p:set>
                                      <p:cBhvr>
                                        <p:cTn id="17" dur="1" fill="hold">
                                          <p:stCondLst>
                                            <p:cond delay="0"/>
                                          </p:stCondLst>
                                        </p:cTn>
                                        <p:tgtEl>
                                          <p:spTgt spid="12291"/>
                                        </p:tgtEl>
                                        <p:attrNameLst>
                                          <p:attrName>style.visibility</p:attrName>
                                        </p:attrNameLst>
                                      </p:cBhvr>
                                      <p:to>
                                        <p:strVal val="visible"/>
                                      </p:to>
                                    </p:set>
                                    <p:animEffect transition="in" filter="strips(downRight)">
                                      <p:cBhvr>
                                        <p:cTn id="18" dur="300"/>
                                        <p:tgtEl>
                                          <p:spTgt spid="122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bldLvl="0" animBg="1" autoUpdateAnimBg="0"/>
      <p:bldP spid="12291" grpId="0" bldLvl="0" animBg="1"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2"/>
          <p:cNvSpPr txBox="1">
            <a:spLocks noChangeArrowheads="1"/>
          </p:cNvSpPr>
          <p:nvPr/>
        </p:nvSpPr>
        <p:spPr bwMode="auto">
          <a:xfrm>
            <a:off x="792163" y="609600"/>
            <a:ext cx="4175125"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600" b="1" dirty="0">
                <a:solidFill>
                  <a:srgbClr val="800080"/>
                </a:solidFill>
                <a:latin typeface="Arial" panose="020B0604020202020204" pitchFamily="34" charset="0"/>
                <a:ea typeface="楷体_GB2312" pitchFamily="49" charset="-122"/>
                <a:cs typeface="Arial" panose="020B0604020202020204" pitchFamily="34" charset="0"/>
              </a:rPr>
              <a:t>3. Selected class</a:t>
            </a:r>
          </a:p>
        </p:txBody>
      </p:sp>
      <p:sp>
        <p:nvSpPr>
          <p:cNvPr id="13315" name="Text Box 3"/>
          <p:cNvSpPr txBox="1">
            <a:spLocks noChangeArrowheads="1"/>
          </p:cNvSpPr>
          <p:nvPr/>
        </p:nvSpPr>
        <p:spPr bwMode="auto">
          <a:xfrm>
            <a:off x="746125" y="1752600"/>
            <a:ext cx="7940675" cy="250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40000"/>
              </a:lnSpc>
            </a:pPr>
            <a:r>
              <a:rPr lang="zh-CN" altLang="en-US" dirty="0">
                <a:solidFill>
                  <a:srgbClr val="990000"/>
                </a:solidFill>
                <a:latin typeface="Arial" panose="020B0604020202020204" pitchFamily="34" charset="0"/>
                <a:ea typeface="楷体_GB2312" pitchFamily="49" charset="-122"/>
                <a:cs typeface="Arial" panose="020B0604020202020204" pitchFamily="34" charset="0"/>
              </a:rPr>
              <a:t>Select </a:t>
            </a:r>
            <a:r>
              <a:rPr lang="zh-CN" altLang="en-US" dirty="0">
                <a:latin typeface="Arial" panose="020B0604020202020204" pitchFamily="34" charset="0"/>
                <a:ea typeface="楷体_GB2312" pitchFamily="49" charset="-122"/>
                <a:cs typeface="Arial" panose="020B0604020202020204" pitchFamily="34" charset="0"/>
              </a:rPr>
              <a:t>the record with the </a:t>
            </a:r>
            <a:r>
              <a:rPr lang="zh-CN" altLang="en-US" dirty="0">
                <a:solidFill>
                  <a:srgbClr val="0000FF"/>
                </a:solidFill>
                <a:latin typeface="Arial" panose="020B0604020202020204" pitchFamily="34" charset="0"/>
                <a:ea typeface="楷体_GB2312" pitchFamily="49" charset="-122"/>
                <a:cs typeface="Arial" panose="020B0604020202020204" pitchFamily="34" charset="0"/>
              </a:rPr>
              <a:t>smallest or largest keyword</a:t>
            </a:r>
            <a:r>
              <a:rPr lang="zh-CN" altLang="en-US" dirty="0">
                <a:latin typeface="Arial" panose="020B0604020202020204" pitchFamily="34" charset="0"/>
                <a:ea typeface="楷体_GB2312" pitchFamily="49" charset="-122"/>
                <a:cs typeface="Arial" panose="020B0604020202020204" pitchFamily="34" charset="0"/>
              </a:rPr>
              <a:t> from the unsorted subsequence and add it to the sorted subsequence to increase the length of the sorted subsequence.</a:t>
            </a:r>
          </a:p>
        </p:txBody>
      </p:sp>
      <p:pic>
        <p:nvPicPr>
          <p:cNvPr id="13316" name="Picture 4" descr="Autumn Leav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427163"/>
            <a:ext cx="3048000" cy="117475"/>
          </a:xfrm>
          <a:prstGeom prst="rect">
            <a:avLst/>
          </a:prstGeom>
          <a:noFill/>
          <a:extLst>
            <a:ext uri="{909E8E84-426E-40DD-AFC4-6F175D3DCCD1}">
              <a14:hiddenFill xmlns:a14="http://schemas.microsoft.com/office/drawing/2010/main">
                <a:solidFill>
                  <a:srgbClr val="FFFFFF"/>
                </a:solidFill>
              </a14:hiddenFill>
            </a:ext>
          </a:extLst>
        </p:spPr>
      </p:pic>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15</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3314"/>
                                        </p:tgtEl>
                                        <p:attrNameLst>
                                          <p:attrName>style.visibility</p:attrName>
                                        </p:attrNameLst>
                                      </p:cBhvr>
                                      <p:to>
                                        <p:strVal val="visible"/>
                                      </p:to>
                                    </p:set>
                                    <p:anim calcmode="lin" valueType="num">
                                      <p:cBhvr additive="base">
                                        <p:cTn id="7" dur="500" fill="hold"/>
                                        <p:tgtEl>
                                          <p:spTgt spid="13314"/>
                                        </p:tgtEl>
                                        <p:attrNameLst>
                                          <p:attrName>ppt_x</p:attrName>
                                        </p:attrNameLst>
                                      </p:cBhvr>
                                      <p:tavLst>
                                        <p:tav tm="0">
                                          <p:val>
                                            <p:strVal val="0-#ppt_w/2"/>
                                          </p:val>
                                        </p:tav>
                                        <p:tav tm="100000">
                                          <p:val>
                                            <p:strVal val="#ppt_x"/>
                                          </p:val>
                                        </p:tav>
                                      </p:tavLst>
                                    </p:anim>
                                    <p:anim calcmode="lin" valueType="num">
                                      <p:cBhvr additive="base">
                                        <p:cTn id="8" dur="500" fill="hold"/>
                                        <p:tgtEl>
                                          <p:spTgt spid="1331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7" presetClass="entr" presetSubtype="10" fill="hold" nodeType="afterEffect">
                                  <p:stCondLst>
                                    <p:cond delay="0"/>
                                  </p:stCondLst>
                                  <p:childTnLst>
                                    <p:set>
                                      <p:cBhvr>
                                        <p:cTn id="11" dur="1" fill="hold">
                                          <p:stCondLst>
                                            <p:cond delay="0"/>
                                          </p:stCondLst>
                                        </p:cTn>
                                        <p:tgtEl>
                                          <p:spTgt spid="13316"/>
                                        </p:tgtEl>
                                        <p:attrNameLst>
                                          <p:attrName>style.visibility</p:attrName>
                                        </p:attrNameLst>
                                      </p:cBhvr>
                                      <p:to>
                                        <p:strVal val="visible"/>
                                      </p:to>
                                    </p:set>
                                    <p:anim calcmode="lin" valueType="num">
                                      <p:cBhvr>
                                        <p:cTn id="12" dur="500" fill="hold"/>
                                        <p:tgtEl>
                                          <p:spTgt spid="13316"/>
                                        </p:tgtEl>
                                        <p:attrNameLst>
                                          <p:attrName>ppt_w</p:attrName>
                                        </p:attrNameLst>
                                      </p:cBhvr>
                                      <p:tavLst>
                                        <p:tav tm="0">
                                          <p:val>
                                            <p:fltVal val="0"/>
                                          </p:val>
                                        </p:tav>
                                        <p:tav tm="100000">
                                          <p:val>
                                            <p:strVal val="#ppt_w"/>
                                          </p:val>
                                        </p:tav>
                                      </p:tavLst>
                                    </p:anim>
                                    <p:anim calcmode="lin" valueType="num">
                                      <p:cBhvr>
                                        <p:cTn id="13" dur="500" fill="hold"/>
                                        <p:tgtEl>
                                          <p:spTgt spid="13316"/>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18" presetClass="entr" presetSubtype="6" fill="hold" grpId="0" nodeType="clickEffect">
                                  <p:stCondLst>
                                    <p:cond delay="0"/>
                                  </p:stCondLst>
                                  <p:childTnLst>
                                    <p:set>
                                      <p:cBhvr>
                                        <p:cTn id="17" dur="1" fill="hold">
                                          <p:stCondLst>
                                            <p:cond delay="0"/>
                                          </p:stCondLst>
                                        </p:cTn>
                                        <p:tgtEl>
                                          <p:spTgt spid="13315"/>
                                        </p:tgtEl>
                                        <p:attrNameLst>
                                          <p:attrName>style.visibility</p:attrName>
                                        </p:attrNameLst>
                                      </p:cBhvr>
                                      <p:to>
                                        <p:strVal val="visible"/>
                                      </p:to>
                                    </p:set>
                                    <p:animEffect transition="in" filter="strips(downRight)">
                                      <p:cBhvr>
                                        <p:cTn id="18" dur="500"/>
                                        <p:tgtEl>
                                          <p:spTgt spid="133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bldLvl="0" animBg="1" autoUpdateAnimBg="0"/>
      <p:bldP spid="13315" grpId="0" bldLvl="0" animBg="1"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2"/>
          <p:cNvSpPr txBox="1">
            <a:spLocks noChangeArrowheads="1"/>
          </p:cNvSpPr>
          <p:nvPr/>
        </p:nvSpPr>
        <p:spPr bwMode="auto">
          <a:xfrm>
            <a:off x="792163" y="609600"/>
            <a:ext cx="4175125"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600" b="1">
                <a:solidFill>
                  <a:srgbClr val="800080"/>
                </a:solidFill>
                <a:latin typeface="Arial" panose="020B0604020202020204" pitchFamily="34" charset="0"/>
                <a:ea typeface="楷体_GB2312" pitchFamily="49" charset="-122"/>
                <a:cs typeface="Arial" panose="020B0604020202020204" pitchFamily="34" charset="0"/>
              </a:rPr>
              <a:t>4.M</a:t>
            </a:r>
            <a:r>
              <a:rPr lang="zh-CN" altLang="en-US" sz="3600" b="1">
                <a:solidFill>
                  <a:srgbClr val="800080"/>
                </a:solidFill>
                <a:latin typeface="Arial" panose="020B0604020202020204" pitchFamily="34" charset="0"/>
                <a:ea typeface="楷体_GB2312" pitchFamily="49" charset="-122"/>
                <a:cs typeface="Arial" panose="020B0604020202020204" pitchFamily="34" charset="0"/>
              </a:rPr>
              <a:t>erger class</a:t>
            </a:r>
          </a:p>
        </p:txBody>
      </p:sp>
      <p:sp>
        <p:nvSpPr>
          <p:cNvPr id="14339" name="Text Box 3"/>
          <p:cNvSpPr txBox="1">
            <a:spLocks noChangeArrowheads="1"/>
          </p:cNvSpPr>
          <p:nvPr/>
        </p:nvSpPr>
        <p:spPr bwMode="auto">
          <a:xfrm>
            <a:off x="762000" y="1841500"/>
            <a:ext cx="7864475" cy="1899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40000"/>
              </a:lnSpc>
            </a:pPr>
            <a:r>
              <a:rPr lang="zh-CN" altLang="en-US" b="1" dirty="0">
                <a:solidFill>
                  <a:srgbClr val="990000"/>
                </a:solidFill>
                <a:latin typeface="Arial" panose="020B0604020202020204" pitchFamily="34" charset="0"/>
                <a:ea typeface="楷体_GB2312" pitchFamily="49" charset="-122"/>
                <a:cs typeface="Arial" panose="020B0604020202020204" pitchFamily="34" charset="0"/>
              </a:rPr>
              <a:t>Merge</a:t>
            </a:r>
            <a:r>
              <a:rPr lang="zh-CN" altLang="en-US" dirty="0">
                <a:latin typeface="Arial" panose="020B0604020202020204" pitchFamily="34" charset="0"/>
                <a:ea typeface="楷体_GB2312" pitchFamily="49" charset="-122"/>
                <a:cs typeface="Arial" panose="020B0604020202020204" pitchFamily="34" charset="0"/>
              </a:rPr>
              <a:t> two or more ordered record sub-sequences to gradually increase the length of the ordered record sequence.</a:t>
            </a:r>
          </a:p>
        </p:txBody>
      </p:sp>
      <p:sp>
        <p:nvSpPr>
          <p:cNvPr id="14340" name="Text Box 4"/>
          <p:cNvSpPr txBox="1">
            <a:spLocks noChangeArrowheads="1"/>
          </p:cNvSpPr>
          <p:nvPr/>
        </p:nvSpPr>
        <p:spPr bwMode="auto">
          <a:xfrm>
            <a:off x="762000" y="5048250"/>
            <a:ext cx="4962525"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buClrTx/>
              <a:buSzTx/>
              <a:buFontTx/>
            </a:pPr>
            <a:r>
              <a:rPr lang="en-US" altLang="zh-CN" sz="3600" b="1">
                <a:solidFill>
                  <a:srgbClr val="800080"/>
                </a:solidFill>
                <a:latin typeface="Arial" panose="020B0604020202020204" pitchFamily="34" charset="0"/>
                <a:ea typeface="楷体_GB2312" pitchFamily="49" charset="-122"/>
                <a:cs typeface="Arial" panose="020B0604020202020204" pitchFamily="34" charset="0"/>
              </a:rPr>
              <a:t>5.Other methods</a:t>
            </a:r>
          </a:p>
        </p:txBody>
      </p:sp>
      <p:pic>
        <p:nvPicPr>
          <p:cNvPr id="14341" name="Picture 5" descr="Autumn Leav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435100"/>
            <a:ext cx="2895600" cy="114300"/>
          </a:xfrm>
          <a:prstGeom prst="rect">
            <a:avLst/>
          </a:prstGeom>
          <a:noFill/>
          <a:extLst>
            <a:ext uri="{909E8E84-426E-40DD-AFC4-6F175D3DCCD1}">
              <a14:hiddenFill xmlns:a14="http://schemas.microsoft.com/office/drawing/2010/main">
                <a:solidFill>
                  <a:srgbClr val="FFFFFF"/>
                </a:solidFill>
              </a14:hiddenFill>
            </a:ext>
          </a:extLst>
        </p:spPr>
      </p:pic>
      <p:pic>
        <p:nvPicPr>
          <p:cNvPr id="14342" name="Picture 6" descr="Autumn Leav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5886450"/>
            <a:ext cx="3429000" cy="133350"/>
          </a:xfrm>
          <a:prstGeom prst="rect">
            <a:avLst/>
          </a:prstGeom>
          <a:noFill/>
          <a:extLst>
            <a:ext uri="{909E8E84-426E-40DD-AFC4-6F175D3DCCD1}">
              <a14:hiddenFill xmlns:a14="http://schemas.microsoft.com/office/drawing/2010/main">
                <a:solidFill>
                  <a:srgbClr val="FFFFFF"/>
                </a:solidFill>
              </a14:hiddenFill>
            </a:ext>
          </a:extLst>
        </p:spPr>
      </p:pic>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16</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4338"/>
                                        </p:tgtEl>
                                        <p:attrNameLst>
                                          <p:attrName>style.visibility</p:attrName>
                                        </p:attrNameLst>
                                      </p:cBhvr>
                                      <p:to>
                                        <p:strVal val="visible"/>
                                      </p:to>
                                    </p:set>
                                    <p:anim calcmode="lin" valueType="num">
                                      <p:cBhvr additive="base">
                                        <p:cTn id="7" dur="500" fill="hold"/>
                                        <p:tgtEl>
                                          <p:spTgt spid="14338"/>
                                        </p:tgtEl>
                                        <p:attrNameLst>
                                          <p:attrName>ppt_x</p:attrName>
                                        </p:attrNameLst>
                                      </p:cBhvr>
                                      <p:tavLst>
                                        <p:tav tm="0">
                                          <p:val>
                                            <p:strVal val="0-#ppt_w/2"/>
                                          </p:val>
                                        </p:tav>
                                        <p:tav tm="100000">
                                          <p:val>
                                            <p:strVal val="#ppt_x"/>
                                          </p:val>
                                        </p:tav>
                                      </p:tavLst>
                                    </p:anim>
                                    <p:anim calcmode="lin" valueType="num">
                                      <p:cBhvr additive="base">
                                        <p:cTn id="8" dur="500" fill="hold"/>
                                        <p:tgtEl>
                                          <p:spTgt spid="1433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7" presetClass="entr" presetSubtype="10" fill="hold" nodeType="afterEffect">
                                  <p:stCondLst>
                                    <p:cond delay="0"/>
                                  </p:stCondLst>
                                  <p:childTnLst>
                                    <p:set>
                                      <p:cBhvr>
                                        <p:cTn id="11" dur="1" fill="hold">
                                          <p:stCondLst>
                                            <p:cond delay="0"/>
                                          </p:stCondLst>
                                        </p:cTn>
                                        <p:tgtEl>
                                          <p:spTgt spid="14341"/>
                                        </p:tgtEl>
                                        <p:attrNameLst>
                                          <p:attrName>style.visibility</p:attrName>
                                        </p:attrNameLst>
                                      </p:cBhvr>
                                      <p:to>
                                        <p:strVal val="visible"/>
                                      </p:to>
                                    </p:set>
                                    <p:anim calcmode="lin" valueType="num">
                                      <p:cBhvr>
                                        <p:cTn id="12" dur="500" fill="hold"/>
                                        <p:tgtEl>
                                          <p:spTgt spid="14341"/>
                                        </p:tgtEl>
                                        <p:attrNameLst>
                                          <p:attrName>ppt_w</p:attrName>
                                        </p:attrNameLst>
                                      </p:cBhvr>
                                      <p:tavLst>
                                        <p:tav tm="0">
                                          <p:val>
                                            <p:fltVal val="0"/>
                                          </p:val>
                                        </p:tav>
                                        <p:tav tm="100000">
                                          <p:val>
                                            <p:strVal val="#ppt_w"/>
                                          </p:val>
                                        </p:tav>
                                      </p:tavLst>
                                    </p:anim>
                                    <p:anim calcmode="lin" valueType="num">
                                      <p:cBhvr>
                                        <p:cTn id="13" dur="500" fill="hold"/>
                                        <p:tgtEl>
                                          <p:spTgt spid="14341"/>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18" presetClass="entr" presetSubtype="6" fill="hold" grpId="0" nodeType="clickEffect">
                                  <p:stCondLst>
                                    <p:cond delay="0"/>
                                  </p:stCondLst>
                                  <p:childTnLst>
                                    <p:set>
                                      <p:cBhvr>
                                        <p:cTn id="17" dur="1" fill="hold">
                                          <p:stCondLst>
                                            <p:cond delay="0"/>
                                          </p:stCondLst>
                                        </p:cTn>
                                        <p:tgtEl>
                                          <p:spTgt spid="14339"/>
                                        </p:tgtEl>
                                        <p:attrNameLst>
                                          <p:attrName>style.visibility</p:attrName>
                                        </p:attrNameLst>
                                      </p:cBhvr>
                                      <p:to>
                                        <p:strVal val="visible"/>
                                      </p:to>
                                    </p:set>
                                    <p:animEffect transition="in" filter="strips(downRight)">
                                      <p:cBhvr>
                                        <p:cTn id="18" dur="500"/>
                                        <p:tgtEl>
                                          <p:spTgt spid="14339"/>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14340"/>
                                        </p:tgtEl>
                                        <p:attrNameLst>
                                          <p:attrName>style.visibility</p:attrName>
                                        </p:attrNameLst>
                                      </p:cBhvr>
                                      <p:to>
                                        <p:strVal val="visible"/>
                                      </p:to>
                                    </p:set>
                                    <p:anim calcmode="lin" valueType="num">
                                      <p:cBhvr additive="base">
                                        <p:cTn id="23" dur="500" fill="hold"/>
                                        <p:tgtEl>
                                          <p:spTgt spid="14340"/>
                                        </p:tgtEl>
                                        <p:attrNameLst>
                                          <p:attrName>ppt_x</p:attrName>
                                        </p:attrNameLst>
                                      </p:cBhvr>
                                      <p:tavLst>
                                        <p:tav tm="0">
                                          <p:val>
                                            <p:strVal val="0-#ppt_w/2"/>
                                          </p:val>
                                        </p:tav>
                                        <p:tav tm="100000">
                                          <p:val>
                                            <p:strVal val="#ppt_x"/>
                                          </p:val>
                                        </p:tav>
                                      </p:tavLst>
                                    </p:anim>
                                    <p:anim calcmode="lin" valueType="num">
                                      <p:cBhvr additive="base">
                                        <p:cTn id="24" dur="500" fill="hold"/>
                                        <p:tgtEl>
                                          <p:spTgt spid="14340"/>
                                        </p:tgtEl>
                                        <p:attrNameLst>
                                          <p:attrName>ppt_y</p:attrName>
                                        </p:attrNameLst>
                                      </p:cBhvr>
                                      <p:tavLst>
                                        <p:tav tm="0">
                                          <p:val>
                                            <p:strVal val="#ppt_y"/>
                                          </p:val>
                                        </p:tav>
                                        <p:tav tm="100000">
                                          <p:val>
                                            <p:strVal val="#ppt_y"/>
                                          </p:val>
                                        </p:tav>
                                      </p:tavLst>
                                    </p:anim>
                                  </p:childTnLst>
                                </p:cTn>
                              </p:par>
                            </p:childTnLst>
                          </p:cTn>
                        </p:par>
                        <p:par>
                          <p:cTn id="25" fill="hold">
                            <p:stCondLst>
                              <p:cond delay="500"/>
                            </p:stCondLst>
                            <p:childTnLst>
                              <p:par>
                                <p:cTn id="26" presetID="17" presetClass="entr" presetSubtype="10" fill="hold" nodeType="afterEffect">
                                  <p:stCondLst>
                                    <p:cond delay="0"/>
                                  </p:stCondLst>
                                  <p:childTnLst>
                                    <p:set>
                                      <p:cBhvr>
                                        <p:cTn id="27" dur="1" fill="hold">
                                          <p:stCondLst>
                                            <p:cond delay="0"/>
                                          </p:stCondLst>
                                        </p:cTn>
                                        <p:tgtEl>
                                          <p:spTgt spid="14342"/>
                                        </p:tgtEl>
                                        <p:attrNameLst>
                                          <p:attrName>style.visibility</p:attrName>
                                        </p:attrNameLst>
                                      </p:cBhvr>
                                      <p:to>
                                        <p:strVal val="visible"/>
                                      </p:to>
                                    </p:set>
                                    <p:anim calcmode="lin" valueType="num">
                                      <p:cBhvr>
                                        <p:cTn id="28" dur="500" fill="hold"/>
                                        <p:tgtEl>
                                          <p:spTgt spid="14342"/>
                                        </p:tgtEl>
                                        <p:attrNameLst>
                                          <p:attrName>ppt_w</p:attrName>
                                        </p:attrNameLst>
                                      </p:cBhvr>
                                      <p:tavLst>
                                        <p:tav tm="0">
                                          <p:val>
                                            <p:fltVal val="0"/>
                                          </p:val>
                                        </p:tav>
                                        <p:tav tm="100000">
                                          <p:val>
                                            <p:strVal val="#ppt_w"/>
                                          </p:val>
                                        </p:tav>
                                      </p:tavLst>
                                    </p:anim>
                                    <p:anim calcmode="lin" valueType="num">
                                      <p:cBhvr>
                                        <p:cTn id="29" dur="500" fill="hold"/>
                                        <p:tgtEl>
                                          <p:spTgt spid="1434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bldLvl="0" animBg="1" autoUpdateAnimBg="0"/>
      <p:bldP spid="14339" grpId="0" bldLvl="0" animBg="1" autoUpdateAnimBg="0"/>
      <p:bldP spid="14340" grpId="0" bldLvl="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Text Box 2"/>
          <p:cNvSpPr txBox="1">
            <a:spLocks noChangeArrowheads="1"/>
          </p:cNvSpPr>
          <p:nvPr/>
        </p:nvSpPr>
        <p:spPr bwMode="auto">
          <a:xfrm>
            <a:off x="0" y="0"/>
            <a:ext cx="808609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a:latin typeface="Arial" panose="020B0604020202020204" pitchFamily="34" charset="0"/>
                <a:ea typeface="楷体_GB2312" pitchFamily="49" charset="-122"/>
                <a:cs typeface="Arial" panose="020B0604020202020204" pitchFamily="34" charset="0"/>
              </a:rPr>
              <a:t>Definition of the data type for records to be sorted:</a:t>
            </a:r>
          </a:p>
        </p:txBody>
      </p:sp>
      <p:sp>
        <p:nvSpPr>
          <p:cNvPr id="183299" name="Text Box 3"/>
          <p:cNvSpPr txBox="1">
            <a:spLocks noChangeArrowheads="1"/>
          </p:cNvSpPr>
          <p:nvPr/>
        </p:nvSpPr>
        <p:spPr bwMode="auto">
          <a:xfrm>
            <a:off x="593725" y="620713"/>
            <a:ext cx="8589010"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ea typeface="楷体_GB2312" pitchFamily="49" charset="-122"/>
              </a:rPr>
              <a:t>#define MAXSIZE  1000</a:t>
            </a:r>
            <a:r>
              <a:rPr lang="en-US" altLang="zh-CN" sz="3600" b="1">
                <a:ea typeface="楷体_GB2312" pitchFamily="49" charset="-122"/>
              </a:rPr>
              <a:t> </a:t>
            </a:r>
            <a:r>
              <a:rPr lang="en-US" altLang="zh-CN" sz="2800" b="1">
                <a:solidFill>
                  <a:srgbClr val="005042"/>
                </a:solidFill>
                <a:ea typeface="楷体_GB2312" pitchFamily="49" charset="-122"/>
              </a:rPr>
              <a:t>//</a:t>
            </a:r>
            <a:r>
              <a:rPr lang="en-US" altLang="zh-CN" sz="1600" b="1">
                <a:solidFill>
                  <a:srgbClr val="005042"/>
                </a:solidFill>
                <a:ea typeface="楷体_GB2312" pitchFamily="49" charset="-122"/>
              </a:rPr>
              <a:t>Maximum length of the sequential list to be sorted</a:t>
            </a:r>
          </a:p>
        </p:txBody>
      </p:sp>
      <p:sp>
        <p:nvSpPr>
          <p:cNvPr id="183300" name="Text Box 4"/>
          <p:cNvSpPr txBox="1">
            <a:spLocks noChangeArrowheads="1"/>
          </p:cNvSpPr>
          <p:nvPr/>
        </p:nvSpPr>
        <p:spPr bwMode="auto">
          <a:xfrm>
            <a:off x="609600" y="1154113"/>
            <a:ext cx="7076440"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dirty="0" err="1">
                <a:ea typeface="楷体_GB2312" pitchFamily="49" charset="-122"/>
              </a:rPr>
              <a:t>typedef</a:t>
            </a:r>
            <a:r>
              <a:rPr lang="en-US" altLang="zh-CN" b="1" dirty="0">
                <a:ea typeface="楷体_GB2312" pitchFamily="49" charset="-122"/>
              </a:rPr>
              <a:t>  </a:t>
            </a:r>
            <a:r>
              <a:rPr lang="en-US" altLang="zh-CN" b="1" dirty="0" err="1">
                <a:ea typeface="楷体_GB2312" pitchFamily="49" charset="-122"/>
              </a:rPr>
              <a:t>int</a:t>
            </a:r>
            <a:r>
              <a:rPr lang="en-US" altLang="zh-CN" b="1" dirty="0">
                <a:ea typeface="楷体_GB2312" pitchFamily="49" charset="-122"/>
              </a:rPr>
              <a:t>  </a:t>
            </a:r>
            <a:r>
              <a:rPr lang="en-US" altLang="zh-CN" b="1" dirty="0" err="1">
                <a:ea typeface="楷体_GB2312" pitchFamily="49" charset="-122"/>
              </a:rPr>
              <a:t>KeyType</a:t>
            </a:r>
            <a:r>
              <a:rPr lang="en-US" altLang="zh-CN" b="1" dirty="0">
                <a:ea typeface="楷体_GB2312" pitchFamily="49" charset="-122"/>
              </a:rPr>
              <a:t>;</a:t>
            </a:r>
            <a:r>
              <a:rPr lang="en-US" altLang="zh-CN" sz="3600" b="1" dirty="0">
                <a:ea typeface="楷体_GB2312" pitchFamily="49" charset="-122"/>
              </a:rPr>
              <a:t>    </a:t>
            </a:r>
            <a:r>
              <a:rPr lang="en-US" altLang="zh-CN" sz="2800" b="1" dirty="0">
                <a:solidFill>
                  <a:srgbClr val="005042"/>
                </a:solidFill>
                <a:ea typeface="楷体_GB2312" pitchFamily="49" charset="-122"/>
              </a:rPr>
              <a:t>// The key type is int</a:t>
            </a:r>
          </a:p>
        </p:txBody>
      </p:sp>
      <p:sp>
        <p:nvSpPr>
          <p:cNvPr id="183301" name="Text Box 5"/>
          <p:cNvSpPr txBox="1">
            <a:spLocks noChangeArrowheads="1"/>
          </p:cNvSpPr>
          <p:nvPr/>
        </p:nvSpPr>
        <p:spPr bwMode="auto">
          <a:xfrm>
            <a:off x="609600" y="2060575"/>
            <a:ext cx="6993890" cy="181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dirty="0" err="1">
                <a:solidFill>
                  <a:srgbClr val="008000"/>
                </a:solidFill>
                <a:ea typeface="楷体_GB2312" pitchFamily="49" charset="-122"/>
              </a:rPr>
              <a:t>typedef</a:t>
            </a:r>
            <a:r>
              <a:rPr lang="en-US" altLang="zh-CN" b="1" dirty="0">
                <a:solidFill>
                  <a:srgbClr val="008000"/>
                </a:solidFill>
                <a:ea typeface="楷体_GB2312" pitchFamily="49" charset="-122"/>
              </a:rPr>
              <a:t>  </a:t>
            </a:r>
            <a:r>
              <a:rPr lang="en-US" altLang="zh-CN" b="1" dirty="0" err="1">
                <a:solidFill>
                  <a:srgbClr val="008000"/>
                </a:solidFill>
                <a:ea typeface="楷体_GB2312" pitchFamily="49" charset="-122"/>
              </a:rPr>
              <a:t>struct</a:t>
            </a:r>
            <a:r>
              <a:rPr lang="en-US" altLang="zh-CN" b="1" dirty="0">
                <a:solidFill>
                  <a:srgbClr val="008000"/>
                </a:solidFill>
                <a:ea typeface="楷体_GB2312" pitchFamily="49" charset="-122"/>
              </a:rPr>
              <a:t> {</a:t>
            </a:r>
          </a:p>
          <a:p>
            <a:pPr algn="l"/>
            <a:r>
              <a:rPr lang="en-US" altLang="zh-CN" b="1" dirty="0">
                <a:ea typeface="楷体_GB2312" pitchFamily="49" charset="-122"/>
              </a:rPr>
              <a:t>     </a:t>
            </a:r>
            <a:r>
              <a:rPr lang="en-US" altLang="zh-CN" b="1" dirty="0" err="1">
                <a:ea typeface="楷体_GB2312" pitchFamily="49" charset="-122"/>
              </a:rPr>
              <a:t>KeyType</a:t>
            </a:r>
            <a:r>
              <a:rPr lang="en-US" altLang="zh-CN" b="1" dirty="0">
                <a:ea typeface="楷体_GB2312" pitchFamily="49" charset="-122"/>
              </a:rPr>
              <a:t>   key;              </a:t>
            </a:r>
            <a:r>
              <a:rPr lang="en-US" altLang="zh-CN" sz="2800" b="1" dirty="0">
                <a:solidFill>
                  <a:srgbClr val="005042"/>
                </a:solidFill>
                <a:ea typeface="楷体_GB2312" pitchFamily="49" charset="-122"/>
              </a:rPr>
              <a:t>// Key field</a:t>
            </a:r>
          </a:p>
          <a:p>
            <a:pPr algn="l"/>
            <a:r>
              <a:rPr lang="zh-CN" altLang="en-US" b="1" dirty="0">
                <a:ea typeface="楷体_GB2312" pitchFamily="49" charset="-122"/>
              </a:rPr>
              <a:t>     </a:t>
            </a:r>
            <a:r>
              <a:rPr lang="en-US" altLang="zh-CN" b="1" dirty="0" err="1">
                <a:ea typeface="楷体_GB2312" pitchFamily="49" charset="-122"/>
              </a:rPr>
              <a:t>InfoType</a:t>
            </a:r>
            <a:r>
              <a:rPr lang="en-US" altLang="zh-CN" b="1" dirty="0">
                <a:ea typeface="楷体_GB2312" pitchFamily="49" charset="-122"/>
              </a:rPr>
              <a:t>  </a:t>
            </a:r>
            <a:r>
              <a:rPr lang="en-US" altLang="zh-CN" b="1" dirty="0" err="1">
                <a:ea typeface="楷体_GB2312" pitchFamily="49" charset="-122"/>
              </a:rPr>
              <a:t>otherinfo</a:t>
            </a:r>
            <a:r>
              <a:rPr lang="en-US" altLang="zh-CN" b="1" dirty="0">
                <a:ea typeface="楷体_GB2312" pitchFamily="49" charset="-122"/>
              </a:rPr>
              <a:t>;     </a:t>
            </a:r>
            <a:r>
              <a:rPr lang="en-US" altLang="zh-CN" sz="2800" b="1" dirty="0">
                <a:solidFill>
                  <a:srgbClr val="005042"/>
                </a:solidFill>
                <a:ea typeface="楷体_GB2312" pitchFamily="49" charset="-122"/>
              </a:rPr>
              <a:t>// </a:t>
            </a:r>
            <a:r>
              <a:rPr lang="en-US" altLang="zh-CN" b="1" dirty="0">
                <a:solidFill>
                  <a:srgbClr val="005042"/>
                </a:solidFill>
                <a:ea typeface="楷体_GB2312" pitchFamily="49" charset="-122"/>
              </a:rPr>
              <a:t>Other data fields</a:t>
            </a:r>
          </a:p>
          <a:p>
            <a:pPr algn="l"/>
            <a:r>
              <a:rPr lang="en-US" altLang="zh-CN" b="1" dirty="0">
                <a:ea typeface="楷体_GB2312" pitchFamily="49" charset="-122"/>
              </a:rPr>
              <a:t>} </a:t>
            </a:r>
            <a:r>
              <a:rPr lang="en-US" altLang="zh-CN" b="1" dirty="0" err="1">
                <a:ea typeface="楷体_GB2312" pitchFamily="49" charset="-122"/>
              </a:rPr>
              <a:t>RcdType</a:t>
            </a:r>
            <a:r>
              <a:rPr lang="en-US" altLang="zh-CN" b="1" dirty="0">
                <a:ea typeface="楷体_GB2312" pitchFamily="49" charset="-122"/>
              </a:rPr>
              <a:t>;                         </a:t>
            </a:r>
            <a:r>
              <a:rPr lang="en-US" altLang="zh-CN" sz="2800" b="1" dirty="0">
                <a:solidFill>
                  <a:srgbClr val="005042"/>
                </a:solidFill>
                <a:ea typeface="楷体_GB2312" pitchFamily="49" charset="-122"/>
              </a:rPr>
              <a:t>// Record type</a:t>
            </a:r>
          </a:p>
        </p:txBody>
      </p:sp>
      <p:sp>
        <p:nvSpPr>
          <p:cNvPr id="183302" name="Text Box 6"/>
          <p:cNvSpPr txBox="1">
            <a:spLocks noChangeArrowheads="1"/>
          </p:cNvSpPr>
          <p:nvPr/>
        </p:nvSpPr>
        <p:spPr bwMode="auto">
          <a:xfrm>
            <a:off x="609600" y="4359275"/>
            <a:ext cx="8469630" cy="181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dirty="0" err="1">
                <a:solidFill>
                  <a:srgbClr val="008000"/>
                </a:solidFill>
                <a:ea typeface="楷体_GB2312" pitchFamily="49" charset="-122"/>
              </a:rPr>
              <a:t>typedef</a:t>
            </a:r>
            <a:r>
              <a:rPr lang="en-US" altLang="zh-CN" b="1" dirty="0">
                <a:solidFill>
                  <a:srgbClr val="008000"/>
                </a:solidFill>
                <a:ea typeface="楷体_GB2312" pitchFamily="49" charset="-122"/>
              </a:rPr>
              <a:t>  </a:t>
            </a:r>
            <a:r>
              <a:rPr lang="en-US" altLang="zh-CN" b="1" dirty="0" err="1">
                <a:solidFill>
                  <a:srgbClr val="008000"/>
                </a:solidFill>
                <a:ea typeface="楷体_GB2312" pitchFamily="49" charset="-122"/>
              </a:rPr>
              <a:t>struct</a:t>
            </a:r>
            <a:r>
              <a:rPr lang="en-US" altLang="zh-CN" b="1" dirty="0">
                <a:solidFill>
                  <a:srgbClr val="008000"/>
                </a:solidFill>
                <a:ea typeface="楷体_GB2312" pitchFamily="49" charset="-122"/>
              </a:rPr>
              <a:t> {</a:t>
            </a:r>
          </a:p>
          <a:p>
            <a:pPr algn="l"/>
            <a:r>
              <a:rPr lang="en-US" altLang="zh-CN" b="1" dirty="0">
                <a:ea typeface="楷体_GB2312" pitchFamily="49" charset="-122"/>
              </a:rPr>
              <a:t>     </a:t>
            </a:r>
            <a:r>
              <a:rPr lang="en-US" altLang="zh-CN" b="1" dirty="0" err="1">
                <a:ea typeface="楷体_GB2312" pitchFamily="49" charset="-122"/>
              </a:rPr>
              <a:t>RcdType</a:t>
            </a:r>
            <a:r>
              <a:rPr lang="en-US" altLang="zh-CN" b="1" dirty="0">
                <a:ea typeface="楷体_GB2312" pitchFamily="49" charset="-122"/>
              </a:rPr>
              <a:t>    r[MAXSIZE+1];   </a:t>
            </a:r>
            <a:r>
              <a:rPr lang="en-US" altLang="zh-CN" sz="2800" b="1" dirty="0">
                <a:solidFill>
                  <a:srgbClr val="005042"/>
                </a:solidFill>
                <a:ea typeface="楷体_GB2312" pitchFamily="49" charset="-122"/>
              </a:rPr>
              <a:t>// r[0] is unused</a:t>
            </a:r>
          </a:p>
          <a:p>
            <a:pPr algn="l"/>
            <a:r>
              <a:rPr lang="zh-CN" altLang="en-US" b="1" dirty="0">
                <a:ea typeface="楷体_GB2312" pitchFamily="49" charset="-122"/>
              </a:rPr>
              <a:t>     </a:t>
            </a:r>
            <a:r>
              <a:rPr lang="en-US" altLang="zh-CN" b="1" dirty="0" err="1">
                <a:ea typeface="楷体_GB2312" pitchFamily="49" charset="-122"/>
              </a:rPr>
              <a:t>int</a:t>
            </a:r>
            <a:r>
              <a:rPr lang="en-US" altLang="zh-CN" b="1" dirty="0">
                <a:ea typeface="楷体_GB2312" pitchFamily="49" charset="-122"/>
              </a:rPr>
              <a:t>               length;      </a:t>
            </a:r>
            <a:r>
              <a:rPr lang="en-US" altLang="zh-CN" sz="2800" b="1" dirty="0">
                <a:solidFill>
                  <a:srgbClr val="005042"/>
                </a:solidFill>
                <a:ea typeface="楷体_GB2312" pitchFamily="49" charset="-122"/>
              </a:rPr>
              <a:t>// Length of the sequential list</a:t>
            </a:r>
          </a:p>
          <a:p>
            <a:pPr algn="l"/>
            <a:r>
              <a:rPr lang="en-US" altLang="zh-CN" b="1" dirty="0">
                <a:ea typeface="楷体_GB2312" pitchFamily="49" charset="-122"/>
              </a:rPr>
              <a:t>} </a:t>
            </a:r>
            <a:r>
              <a:rPr lang="en-US" altLang="zh-CN" b="1" dirty="0" err="1">
                <a:ea typeface="楷体_GB2312" pitchFamily="49" charset="-122"/>
              </a:rPr>
              <a:t>SqList</a:t>
            </a:r>
            <a:r>
              <a:rPr lang="en-US" altLang="zh-CN" b="1" dirty="0">
                <a:ea typeface="楷体_GB2312" pitchFamily="49" charset="-122"/>
              </a:rPr>
              <a:t>;                                        </a:t>
            </a:r>
            <a:r>
              <a:rPr lang="en-US" altLang="zh-CN" sz="2800" b="1" dirty="0">
                <a:solidFill>
                  <a:srgbClr val="005042"/>
                </a:solidFill>
                <a:ea typeface="楷体_GB2312" pitchFamily="49" charset="-122"/>
              </a:rPr>
              <a:t>// Sequential list type</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17</a:t>
            </a:fld>
            <a:endParaRPr lang="en-US" altLang="zh-CN"/>
          </a:p>
        </p:txBody>
      </p:sp>
    </p:spTree>
  </p:cSld>
  <p:clrMapOvr>
    <a:masterClrMapping/>
  </p:clrMapOvr>
  <p:transition>
    <p:pull dir="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0" y="116632"/>
            <a:ext cx="7200800" cy="720080"/>
          </a:xfrm>
        </p:spPr>
        <p:txBody>
          <a:bodyPr/>
          <a:lstStyle/>
          <a:p>
            <a:r>
              <a:rPr altLang="zh-CN">
                <a:effectLst/>
                <a:sym typeface="+mn-ea"/>
              </a:rPr>
              <a:t>Chapter Contents</a:t>
            </a:r>
            <a:endParaRPr lang="zh-CN" altLang="en-US" dirty="0">
              <a:ea typeface="宋体" panose="02010600030101010101" pitchFamily="2" charset="-122"/>
              <a:cs typeface="Arial" panose="020B0604020202020204" pitchFamily="34" charset="0"/>
            </a:endParaRPr>
          </a:p>
        </p:txBody>
      </p:sp>
      <p:sp>
        <p:nvSpPr>
          <p:cNvPr id="3" name="内容占位符 2"/>
          <p:cNvSpPr>
            <a:spLocks noGrp="1"/>
          </p:cNvSpPr>
          <p:nvPr>
            <p:ph idx="1"/>
          </p:nvPr>
        </p:nvSpPr>
        <p:spPr>
          <a:xfrm>
            <a:off x="251520" y="836712"/>
            <a:ext cx="8640960" cy="5544616"/>
          </a:xfrm>
        </p:spPr>
        <p:txBody>
          <a:bodyPr/>
          <a:lstStyle/>
          <a:p>
            <a:r>
              <a:rPr lang="en-US" altLang="zh-CN" b="1" dirty="0">
                <a:solidFill>
                  <a:srgbClr val="FF0000"/>
                </a:solidFill>
                <a:cs typeface="Arial" panose="020B0604020202020204" pitchFamily="34" charset="0"/>
              </a:rPr>
              <a:t>I</a:t>
            </a:r>
            <a:r>
              <a:rPr lang="zh-CN" altLang="en-US" b="1" dirty="0">
                <a:solidFill>
                  <a:srgbClr val="FF0000"/>
                </a:solidFill>
                <a:cs typeface="Arial" panose="020B0604020202020204" pitchFamily="34" charset="0"/>
              </a:rPr>
              <a:t>nsertion </a:t>
            </a:r>
            <a:r>
              <a:rPr lang="en-US" altLang="zh-CN" b="1" dirty="0">
                <a:solidFill>
                  <a:srgbClr val="FF0000"/>
                </a:solidFill>
                <a:cs typeface="Arial" panose="020B0604020202020204" pitchFamily="34" charset="0"/>
              </a:rPr>
              <a:t>S</a:t>
            </a:r>
            <a:r>
              <a:rPr lang="zh-CN" altLang="en-US" b="1" dirty="0">
                <a:solidFill>
                  <a:srgbClr val="FF0000"/>
                </a:solidFill>
                <a:cs typeface="Arial" panose="020B0604020202020204" pitchFamily="34" charset="0"/>
              </a:rPr>
              <a:t>ort</a:t>
            </a:r>
            <a:endParaRPr lang="en-US" altLang="zh-CN" b="1" dirty="0">
              <a:solidFill>
                <a:srgbClr val="FF0000"/>
              </a:solidFill>
              <a:cs typeface="Arial" panose="020B0604020202020204" pitchFamily="34" charset="0"/>
            </a:endParaRPr>
          </a:p>
          <a:p>
            <a:r>
              <a:rPr lang="zh-CN" altLang="en-US" dirty="0">
                <a:cs typeface="Arial" panose="020B0604020202020204" pitchFamily="34" charset="0"/>
              </a:rPr>
              <a:t>Exchange </a:t>
            </a:r>
            <a:r>
              <a:rPr lang="en-US" altLang="zh-CN" dirty="0">
                <a:cs typeface="Arial" panose="020B0604020202020204" pitchFamily="34" charset="0"/>
              </a:rPr>
              <a:t>S</a:t>
            </a:r>
            <a:r>
              <a:rPr lang="zh-CN" altLang="en-US" dirty="0">
                <a:cs typeface="Arial" panose="020B0604020202020204" pitchFamily="34" charset="0"/>
              </a:rPr>
              <a:t>ort </a:t>
            </a:r>
            <a:r>
              <a:rPr lang="en-US" altLang="zh-CN" dirty="0">
                <a:cs typeface="Arial" panose="020B0604020202020204" pitchFamily="34" charset="0"/>
              </a:rPr>
              <a:t> </a:t>
            </a:r>
          </a:p>
          <a:p>
            <a:r>
              <a:rPr lang="en-US" altLang="zh-CN" dirty="0">
                <a:cs typeface="Arial" panose="020B0604020202020204" pitchFamily="34" charset="0"/>
              </a:rPr>
              <a:t>Selection Sort</a:t>
            </a:r>
            <a:r>
              <a:rPr lang="zh-CN" altLang="en-US" dirty="0">
                <a:cs typeface="Arial" panose="020B0604020202020204" pitchFamily="34" charset="0"/>
              </a:rPr>
              <a:t> </a:t>
            </a:r>
            <a:r>
              <a:rPr lang="en-US" altLang="zh-CN" dirty="0">
                <a:cs typeface="Arial" panose="020B0604020202020204" pitchFamily="34" charset="0"/>
              </a:rPr>
              <a:t> </a:t>
            </a:r>
          </a:p>
          <a:p>
            <a:r>
              <a:rPr lang="en-US" altLang="zh-CN" dirty="0">
                <a:cs typeface="Arial" panose="020B0604020202020204" pitchFamily="34" charset="0"/>
              </a:rPr>
              <a:t>M</a:t>
            </a:r>
            <a:r>
              <a:rPr lang="zh-CN" altLang="en-US" dirty="0">
                <a:cs typeface="Arial" panose="020B0604020202020204" pitchFamily="34" charset="0"/>
              </a:rPr>
              <a:t>erge </a:t>
            </a:r>
            <a:r>
              <a:rPr lang="en-US" altLang="zh-CN" dirty="0">
                <a:cs typeface="Arial" panose="020B0604020202020204" pitchFamily="34" charset="0"/>
              </a:rPr>
              <a:t>S</a:t>
            </a:r>
            <a:r>
              <a:rPr lang="zh-CN" altLang="en-US" dirty="0">
                <a:cs typeface="Arial" panose="020B0604020202020204" pitchFamily="34" charset="0"/>
              </a:rPr>
              <a:t>ort</a:t>
            </a:r>
            <a:endParaRPr lang="en-US" altLang="zh-CN" dirty="0">
              <a:cs typeface="Arial" panose="020B0604020202020204" pitchFamily="34" charset="0"/>
            </a:endParaRPr>
          </a:p>
          <a:p>
            <a:r>
              <a:rPr lang="en-US" altLang="zh-CN" dirty="0">
                <a:cs typeface="Arial" panose="020B0604020202020204" pitchFamily="34" charset="0"/>
              </a:rPr>
              <a:t>R</a:t>
            </a:r>
            <a:r>
              <a:rPr lang="zh-CN" altLang="en-US" dirty="0">
                <a:cs typeface="Arial" panose="020B0604020202020204" pitchFamily="34" charset="0"/>
              </a:rPr>
              <a:t>adix </a:t>
            </a:r>
            <a:r>
              <a:rPr lang="en-US" altLang="zh-CN" dirty="0">
                <a:cs typeface="Arial" panose="020B0604020202020204" pitchFamily="34" charset="0"/>
              </a:rPr>
              <a:t>S</a:t>
            </a:r>
            <a:r>
              <a:rPr lang="zh-CN" altLang="en-US" dirty="0">
                <a:cs typeface="Arial" panose="020B0604020202020204" pitchFamily="34" charset="0"/>
              </a:rPr>
              <a:t>orting</a:t>
            </a:r>
            <a:endParaRPr lang="en-US" altLang="zh-CN" dirty="0">
              <a:cs typeface="Arial" panose="020B0604020202020204" pitchFamily="34" charset="0"/>
            </a:endParaRPr>
          </a:p>
          <a:p>
            <a:r>
              <a:rPr lang="zh-CN" altLang="en-US" dirty="0">
                <a:cs typeface="Arial" panose="020B0604020202020204" pitchFamily="34" charset="0"/>
              </a:rPr>
              <a:t>A Comprehensive Comparison of Various Sorting Methods</a:t>
            </a:r>
            <a:endParaRPr lang="en-US" altLang="zh-CN" dirty="0">
              <a:cs typeface="Arial" panose="020B0604020202020204" pitchFamily="34" charset="0"/>
            </a:endParaRPr>
          </a:p>
        </p:txBody>
      </p:sp>
      <p:sp>
        <p:nvSpPr>
          <p:cNvPr id="4" name="页脚占位符 3"/>
          <p:cNvSpPr>
            <a:spLocks noGrp="1"/>
          </p:cNvSpPr>
          <p:nvPr>
            <p:ph type="ftr" sz="quarter" idx="10"/>
          </p:nvPr>
        </p:nvSpPr>
        <p:spPr/>
        <p:txBody>
          <a:bodyPr/>
          <a:lstStyle/>
          <a:p>
            <a:pPr>
              <a:defRPr/>
            </a:pPr>
            <a:r>
              <a:rPr lang="en-US" altLang="zh-CN"/>
              <a:t>@ Zhihai Wang, 2025</a:t>
            </a:r>
            <a:endParaRPr lang="en-US" altLang="zh-CN" dirty="0"/>
          </a:p>
        </p:txBody>
      </p:sp>
      <p:sp>
        <p:nvSpPr>
          <p:cNvPr id="5" name="灯片编号占位符 4"/>
          <p:cNvSpPr>
            <a:spLocks noGrp="1"/>
          </p:cNvSpPr>
          <p:nvPr>
            <p:ph type="sldNum" sz="quarter" idx="11"/>
          </p:nvPr>
        </p:nvSpPr>
        <p:spPr/>
        <p:txBody>
          <a:bodyPr/>
          <a:lstStyle/>
          <a:p>
            <a:pPr>
              <a:defRPr/>
            </a:pPr>
            <a:fld id="{B40C3BFD-24D0-4966-81A9-4BDD3454C069}" type="slidenum">
              <a:rPr lang="en-US" altLang="zh-CN" smtClean="0"/>
              <a:t>18</a:t>
            </a:fld>
            <a:endParaRPr lang="en-US" altLang="zh-C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36195" y="441325"/>
            <a:ext cx="8171815" cy="553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3000">
                <a:solidFill>
                  <a:srgbClr val="0000FF"/>
                </a:solidFill>
                <a:latin typeface="Arial" panose="020B0604020202020204" pitchFamily="34" charset="0"/>
                <a:ea typeface="楷体_GB2312" pitchFamily="49" charset="-122"/>
                <a:cs typeface="Arial" panose="020B0604020202020204" pitchFamily="34" charset="0"/>
              </a:rPr>
              <a:t>Basic Idea of One Pass of Direct Insertion Sort:</a:t>
            </a:r>
          </a:p>
        </p:txBody>
      </p:sp>
      <p:sp>
        <p:nvSpPr>
          <p:cNvPr id="19459" name="Rectangle 3"/>
          <p:cNvSpPr>
            <a:spLocks noChangeArrowheads="1"/>
          </p:cNvSpPr>
          <p:nvPr/>
        </p:nvSpPr>
        <p:spPr bwMode="auto">
          <a:xfrm>
            <a:off x="647700" y="1052830"/>
            <a:ext cx="7848600" cy="50476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buSzPct val="80000"/>
            </a:pPr>
            <a:r>
              <a:rPr lang="zh-CN" altLang="en-US" sz="2400" b="1" dirty="0">
                <a:latin typeface="Arial" panose="020B0604020202020204" pitchFamily="34" charset="0"/>
                <a:ea typeface="楷体_GB2312" pitchFamily="49" charset="-122"/>
                <a:cs typeface="Arial" panose="020B0604020202020204" pitchFamily="34" charset="0"/>
              </a:rPr>
              <a:t>divide the sequence of n records into </a:t>
            </a:r>
            <a:r>
              <a:rPr lang="zh-CN" altLang="en-US" sz="2800" b="1" dirty="0">
                <a:solidFill>
                  <a:srgbClr val="993300"/>
                </a:solidFill>
                <a:latin typeface="Arial" panose="020B0604020202020204" pitchFamily="34" charset="0"/>
                <a:ea typeface="楷体_GB2312" pitchFamily="49" charset="-122"/>
                <a:cs typeface="Arial" panose="020B0604020202020204" pitchFamily="34" charset="0"/>
              </a:rPr>
              <a:t>sorted and unsorted parts</a:t>
            </a:r>
            <a:r>
              <a:rPr lang="zh-CN" altLang="en-US" sz="2400" b="1" dirty="0">
                <a:latin typeface="Arial" panose="020B0604020202020204" pitchFamily="34" charset="0"/>
                <a:ea typeface="楷体_GB2312" pitchFamily="49" charset="-122"/>
                <a:cs typeface="Arial" panose="020B0604020202020204" pitchFamily="34" charset="0"/>
              </a:rPr>
              <a:t>, that is, when it involves the i-th record </a:t>
            </a:r>
            <a:r>
              <a:rPr lang="en-US" altLang="zh-CN" sz="2400" b="1" dirty="0" err="1">
                <a:latin typeface="楷体_GB2312" pitchFamily="49" charset="-122"/>
                <a:ea typeface="楷体_GB2312" pitchFamily="49" charset="-122"/>
                <a:sym typeface="+mn-ea"/>
              </a:rPr>
              <a:t>R</a:t>
            </a:r>
            <a:r>
              <a:rPr lang="en-US" altLang="zh-CN" sz="2400" b="1" baseline="-25000" dirty="0" err="1">
                <a:latin typeface="楷体_GB2312" pitchFamily="49" charset="-122"/>
                <a:ea typeface="楷体_GB2312" pitchFamily="49" charset="-122"/>
                <a:sym typeface="+mn-ea"/>
              </a:rPr>
              <a:t>i</a:t>
            </a:r>
            <a:r>
              <a:rPr lang="zh-CN" altLang="en-US" sz="2400" b="1" dirty="0">
                <a:latin typeface="Arial" panose="020B0604020202020204" pitchFamily="34" charset="0"/>
                <a:ea typeface="楷体_GB2312" pitchFamily="49" charset="-122"/>
                <a:cs typeface="Arial" panose="020B0604020202020204" pitchFamily="34" charset="0"/>
              </a:rPr>
              <a:t>,</a:t>
            </a:r>
            <a:endParaRPr lang="en-US" altLang="zh-CN" sz="2400" b="1" dirty="0">
              <a:latin typeface="Arial" panose="020B0604020202020204" pitchFamily="34" charset="0"/>
              <a:ea typeface="楷体_GB2312" pitchFamily="49" charset="-122"/>
              <a:cs typeface="Arial" panose="020B0604020202020204" pitchFamily="34" charset="0"/>
            </a:endParaRPr>
          </a:p>
          <a:p>
            <a:pPr algn="ctr">
              <a:lnSpc>
                <a:spcPct val="130000"/>
              </a:lnSpc>
              <a:buSzPct val="80000"/>
            </a:pPr>
            <a:r>
              <a:rPr lang="zh-CN" altLang="en-US" sz="2400" b="1" dirty="0">
                <a:latin typeface="Arial" panose="020B0604020202020204" pitchFamily="34" charset="0"/>
                <a:ea typeface="楷体_GB2312" pitchFamily="49" charset="-122"/>
                <a:cs typeface="Arial" panose="020B0604020202020204" pitchFamily="34" charset="0"/>
                <a:sym typeface="+mn-ea"/>
              </a:rPr>
              <a:t>（</a:t>
            </a:r>
            <a:r>
              <a:rPr lang="en-US" altLang="zh-CN" sz="2400" b="1" dirty="0">
                <a:latin typeface="Arial" panose="020B0604020202020204" pitchFamily="34" charset="0"/>
                <a:ea typeface="楷体_GB2312" pitchFamily="49" charset="-122"/>
                <a:cs typeface="Arial" panose="020B0604020202020204" pitchFamily="34" charset="0"/>
                <a:sym typeface="+mn-ea"/>
              </a:rPr>
              <a:t>R</a:t>
            </a:r>
            <a:r>
              <a:rPr lang="en-US" altLang="zh-CN" sz="2400" b="1" baseline="-25000" dirty="0">
                <a:latin typeface="Arial" panose="020B0604020202020204" pitchFamily="34" charset="0"/>
                <a:ea typeface="楷体_GB2312" pitchFamily="49" charset="-122"/>
                <a:cs typeface="Arial" panose="020B0604020202020204" pitchFamily="34" charset="0"/>
                <a:sym typeface="+mn-ea"/>
              </a:rPr>
              <a:t>1</a:t>
            </a:r>
            <a:r>
              <a:rPr lang="en-US" altLang="zh-CN" sz="2400" b="1" dirty="0">
                <a:latin typeface="Arial" panose="020B0604020202020204" pitchFamily="34" charset="0"/>
                <a:ea typeface="楷体_GB2312" pitchFamily="49" charset="-122"/>
                <a:cs typeface="Arial" panose="020B0604020202020204" pitchFamily="34" charset="0"/>
                <a:sym typeface="+mn-ea"/>
              </a:rPr>
              <a:t>, . . .  ,R</a:t>
            </a:r>
            <a:r>
              <a:rPr lang="en-US" altLang="zh-CN" sz="2400" b="1" baseline="-25000" dirty="0">
                <a:latin typeface="Arial" panose="020B0604020202020204" pitchFamily="34" charset="0"/>
                <a:ea typeface="楷体_GB2312" pitchFamily="49" charset="-122"/>
                <a:cs typeface="Arial" panose="020B0604020202020204" pitchFamily="34" charset="0"/>
                <a:sym typeface="+mn-ea"/>
              </a:rPr>
              <a:t>i-1</a:t>
            </a:r>
            <a:r>
              <a:rPr lang="zh-CN" altLang="en-US" sz="2400" b="1" dirty="0">
                <a:latin typeface="Arial" panose="020B0604020202020204" pitchFamily="34" charset="0"/>
                <a:ea typeface="楷体_GB2312" pitchFamily="49" charset="-122"/>
                <a:cs typeface="Arial" panose="020B0604020202020204" pitchFamily="34" charset="0"/>
                <a:sym typeface="+mn-ea"/>
              </a:rPr>
              <a:t>）</a:t>
            </a:r>
            <a:endParaRPr lang="en-US" altLang="zh-CN" sz="2400" b="1" dirty="0">
              <a:latin typeface="Arial" panose="020B0604020202020204" pitchFamily="34" charset="0"/>
              <a:ea typeface="楷体_GB2312" pitchFamily="49" charset="-122"/>
              <a:cs typeface="Arial" panose="020B0604020202020204" pitchFamily="34" charset="0"/>
            </a:endParaRPr>
          </a:p>
          <a:p>
            <a:pPr>
              <a:lnSpc>
                <a:spcPct val="130000"/>
              </a:lnSpc>
              <a:buSzPct val="80000"/>
            </a:pPr>
            <a:r>
              <a:rPr lang="zh-CN" altLang="en-US" sz="2400" b="1" dirty="0">
                <a:latin typeface="Arial" panose="020B0604020202020204" pitchFamily="34" charset="0"/>
                <a:ea typeface="楷体_GB2312" pitchFamily="49" charset="-122"/>
                <a:cs typeface="Arial" panose="020B0604020202020204" pitchFamily="34" charset="0"/>
              </a:rPr>
              <a:t>is the ordered portion that has been sorted</a:t>
            </a:r>
            <a:endParaRPr lang="en-US" altLang="zh-CN" sz="2400" b="1" dirty="0">
              <a:latin typeface="Arial" panose="020B0604020202020204" pitchFamily="34" charset="0"/>
              <a:ea typeface="楷体_GB2312" pitchFamily="49" charset="-122"/>
              <a:cs typeface="Arial" panose="020B0604020202020204" pitchFamily="34" charset="0"/>
            </a:endParaRPr>
          </a:p>
          <a:p>
            <a:pPr algn="ctr">
              <a:lnSpc>
                <a:spcPct val="130000"/>
              </a:lnSpc>
              <a:buSzPct val="80000"/>
            </a:pPr>
            <a:r>
              <a:rPr lang="zh-CN" altLang="en-US" sz="2400" b="1" dirty="0">
                <a:latin typeface="Arial" panose="020B0604020202020204" pitchFamily="34" charset="0"/>
                <a:ea typeface="楷体_GB2312" pitchFamily="49" charset="-122"/>
                <a:cs typeface="Arial" panose="020B0604020202020204" pitchFamily="34" charset="0"/>
                <a:sym typeface="+mn-ea"/>
              </a:rPr>
              <a:t>（</a:t>
            </a:r>
            <a:r>
              <a:rPr lang="en-US" altLang="zh-CN" sz="2400" b="1" dirty="0">
                <a:latin typeface="Arial" panose="020B0604020202020204" pitchFamily="34" charset="0"/>
                <a:ea typeface="楷体_GB2312" pitchFamily="49" charset="-122"/>
                <a:cs typeface="Arial" panose="020B0604020202020204" pitchFamily="34" charset="0"/>
                <a:sym typeface="+mn-ea"/>
              </a:rPr>
              <a:t>R</a:t>
            </a:r>
            <a:r>
              <a:rPr lang="en-US" altLang="zh-CN" sz="2400" b="1" baseline="-25000" dirty="0">
                <a:latin typeface="Arial" panose="020B0604020202020204" pitchFamily="34" charset="0"/>
                <a:ea typeface="楷体_GB2312" pitchFamily="49" charset="-122"/>
                <a:cs typeface="Arial" panose="020B0604020202020204" pitchFamily="34" charset="0"/>
                <a:sym typeface="+mn-ea"/>
              </a:rPr>
              <a:t>i</a:t>
            </a:r>
            <a:r>
              <a:rPr lang="en-US" altLang="zh-CN" sz="2400" b="1" dirty="0">
                <a:latin typeface="Arial" panose="020B0604020202020204" pitchFamily="34" charset="0"/>
                <a:ea typeface="楷体_GB2312" pitchFamily="49" charset="-122"/>
                <a:cs typeface="Arial" panose="020B0604020202020204" pitchFamily="34" charset="0"/>
                <a:sym typeface="+mn-ea"/>
              </a:rPr>
              <a:t>,R</a:t>
            </a:r>
            <a:r>
              <a:rPr lang="en-US" altLang="zh-CN" sz="2400" b="1" baseline="-25000" dirty="0">
                <a:latin typeface="Arial" panose="020B0604020202020204" pitchFamily="34" charset="0"/>
                <a:ea typeface="楷体_GB2312" pitchFamily="49" charset="-122"/>
                <a:cs typeface="Arial" panose="020B0604020202020204" pitchFamily="34" charset="0"/>
                <a:sym typeface="+mn-ea"/>
              </a:rPr>
              <a:t>i+1</a:t>
            </a:r>
            <a:r>
              <a:rPr lang="en-US" altLang="zh-CN" sz="2400" b="1" dirty="0">
                <a:latin typeface="Arial" panose="020B0604020202020204" pitchFamily="34" charset="0"/>
                <a:ea typeface="楷体_GB2312" pitchFamily="49" charset="-122"/>
                <a:cs typeface="Arial" panose="020B0604020202020204" pitchFamily="34" charset="0"/>
                <a:sym typeface="+mn-ea"/>
              </a:rPr>
              <a:t>, . . . ,R</a:t>
            </a:r>
            <a:r>
              <a:rPr lang="en-US" altLang="zh-CN" sz="2400" b="1" baseline="-25000" dirty="0">
                <a:latin typeface="Arial" panose="020B0604020202020204" pitchFamily="34" charset="0"/>
                <a:ea typeface="楷体_GB2312" pitchFamily="49" charset="-122"/>
                <a:cs typeface="Arial" panose="020B0604020202020204" pitchFamily="34" charset="0"/>
                <a:sym typeface="+mn-ea"/>
              </a:rPr>
              <a:t>n</a:t>
            </a:r>
            <a:r>
              <a:rPr lang="zh-CN" altLang="en-US" sz="2400" b="1" dirty="0">
                <a:latin typeface="Arial" panose="020B0604020202020204" pitchFamily="34" charset="0"/>
                <a:ea typeface="楷体_GB2312" pitchFamily="49" charset="-122"/>
                <a:cs typeface="Arial" panose="020B0604020202020204" pitchFamily="34" charset="0"/>
                <a:sym typeface="+mn-ea"/>
              </a:rPr>
              <a:t>）</a:t>
            </a:r>
            <a:endParaRPr lang="en-US" altLang="zh-CN" sz="2400" b="1" dirty="0">
              <a:latin typeface="Arial" panose="020B0604020202020204" pitchFamily="34" charset="0"/>
              <a:ea typeface="楷体_GB2312" pitchFamily="49" charset="-122"/>
              <a:cs typeface="Arial" panose="020B0604020202020204" pitchFamily="34" charset="0"/>
            </a:endParaRPr>
          </a:p>
          <a:p>
            <a:pPr>
              <a:lnSpc>
                <a:spcPct val="130000"/>
              </a:lnSpc>
              <a:buSzPct val="80000"/>
            </a:pPr>
            <a:r>
              <a:rPr lang="zh-CN" altLang="en-US" sz="2400" b="1" dirty="0">
                <a:latin typeface="Arial" panose="020B0604020202020204" pitchFamily="34" charset="0"/>
                <a:ea typeface="楷体_GB2312" pitchFamily="49" charset="-122"/>
                <a:cs typeface="Arial" panose="020B0604020202020204" pitchFamily="34" charset="0"/>
              </a:rPr>
              <a:t>This is an unsorted segment. Find the position where R i should be inserted in the ordered sequence, and insert </a:t>
            </a:r>
            <a:r>
              <a:rPr lang="en-US" altLang="zh-CN" sz="2400" b="1" dirty="0" err="1">
                <a:latin typeface="楷体_GB2312" pitchFamily="49" charset="-122"/>
                <a:ea typeface="楷体_GB2312" pitchFamily="49" charset="-122"/>
                <a:sym typeface="+mn-ea"/>
              </a:rPr>
              <a:t>R</a:t>
            </a:r>
            <a:r>
              <a:rPr lang="en-US" altLang="zh-CN" sz="2400" b="1" baseline="-25000" dirty="0" err="1">
                <a:latin typeface="楷体_GB2312" pitchFamily="49" charset="-122"/>
                <a:ea typeface="楷体_GB2312" pitchFamily="49" charset="-122"/>
                <a:sym typeface="+mn-ea"/>
              </a:rPr>
              <a:t>i</a:t>
            </a:r>
            <a:r>
              <a:rPr lang="zh-CN" altLang="en-US" sz="2400" b="1" dirty="0">
                <a:latin typeface="Arial" panose="020B0604020202020204" pitchFamily="34" charset="0"/>
                <a:ea typeface="楷体_GB2312" pitchFamily="49" charset="-122"/>
                <a:cs typeface="Arial" panose="020B0604020202020204" pitchFamily="34" charset="0"/>
              </a:rPr>
              <a:t>. Shift all records from the original position to </a:t>
            </a:r>
            <a:r>
              <a:rPr lang="en-US" altLang="zh-CN" sz="2400" b="1" dirty="0" err="1">
                <a:latin typeface="楷体_GB2312" pitchFamily="49" charset="-122"/>
                <a:ea typeface="楷体_GB2312" pitchFamily="49" charset="-122"/>
                <a:sym typeface="+mn-ea"/>
              </a:rPr>
              <a:t>R</a:t>
            </a:r>
            <a:r>
              <a:rPr lang="en-US" altLang="zh-CN" sz="2400" b="1" baseline="-25000" dirty="0" err="1">
                <a:latin typeface="楷体_GB2312" pitchFamily="49" charset="-122"/>
                <a:ea typeface="楷体_GB2312" pitchFamily="49" charset="-122"/>
                <a:sym typeface="+mn-ea"/>
              </a:rPr>
              <a:t>i</a:t>
            </a:r>
            <a:r>
              <a:rPr lang="zh-CN" altLang="en-US" sz="2400" b="1" dirty="0">
                <a:latin typeface="Arial" panose="020B0604020202020204" pitchFamily="34" charset="0"/>
                <a:ea typeface="楷体_GB2312" pitchFamily="49" charset="-122"/>
                <a:cs typeface="Arial" panose="020B0604020202020204" pitchFamily="34" charset="0"/>
              </a:rPr>
              <a:t> one position to the right.</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19</a:t>
            </a:fld>
            <a:endParaRPr lang="en-US" altLang="zh-CN"/>
          </a:p>
        </p:txBody>
      </p:sp>
    </p:spTree>
  </p:cSld>
  <p:clrMapOvr>
    <a:masterClrMapping/>
  </p:clrMapOvr>
  <p:transition>
    <p:pull dir="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ChangeArrowheads="1"/>
          </p:cNvSpPr>
          <p:nvPr/>
        </p:nvSpPr>
        <p:spPr bwMode="auto">
          <a:xfrm>
            <a:off x="533400" y="1676400"/>
            <a:ext cx="3352800" cy="838200"/>
          </a:xfrm>
          <a:prstGeom prst="rect">
            <a:avLst/>
          </a:prstGeom>
          <a:solidFill>
            <a:srgbClr val="00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a:t>ordered sequence R[1..i-1]</a:t>
            </a:r>
          </a:p>
        </p:txBody>
      </p:sp>
      <p:sp>
        <p:nvSpPr>
          <p:cNvPr id="20483" name="Rectangle 3"/>
          <p:cNvSpPr>
            <a:spLocks noChangeArrowheads="1"/>
          </p:cNvSpPr>
          <p:nvPr/>
        </p:nvSpPr>
        <p:spPr bwMode="auto">
          <a:xfrm>
            <a:off x="3886200" y="2819400"/>
            <a:ext cx="762000" cy="83820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R[i]</a:t>
            </a:r>
            <a:endParaRPr lang="en-US" altLang="zh-CN" sz="3000"/>
          </a:p>
        </p:txBody>
      </p:sp>
      <p:sp>
        <p:nvSpPr>
          <p:cNvPr id="20484" name="Rectangle 4"/>
          <p:cNvSpPr>
            <a:spLocks noChangeArrowheads="1"/>
          </p:cNvSpPr>
          <p:nvPr/>
        </p:nvSpPr>
        <p:spPr bwMode="auto">
          <a:xfrm>
            <a:off x="3886200" y="1676400"/>
            <a:ext cx="4724400" cy="83820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a:t>disordered sequence R[i..n]</a:t>
            </a:r>
          </a:p>
        </p:txBody>
      </p:sp>
      <p:sp>
        <p:nvSpPr>
          <p:cNvPr id="20485" name="Rectangle 5"/>
          <p:cNvSpPr>
            <a:spLocks noChangeArrowheads="1"/>
          </p:cNvSpPr>
          <p:nvPr/>
        </p:nvSpPr>
        <p:spPr bwMode="auto">
          <a:xfrm>
            <a:off x="533400" y="5029200"/>
            <a:ext cx="4114800" cy="838200"/>
          </a:xfrm>
          <a:prstGeom prst="rect">
            <a:avLst/>
          </a:prstGeom>
          <a:solidFill>
            <a:srgbClr val="00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a:t>ordered sequence R[1..i]</a:t>
            </a:r>
          </a:p>
        </p:txBody>
      </p:sp>
      <p:sp>
        <p:nvSpPr>
          <p:cNvPr id="20486" name="Rectangle 6"/>
          <p:cNvSpPr>
            <a:spLocks noChangeArrowheads="1"/>
          </p:cNvSpPr>
          <p:nvPr/>
        </p:nvSpPr>
        <p:spPr bwMode="auto">
          <a:xfrm>
            <a:off x="4648200" y="5029200"/>
            <a:ext cx="3962400" cy="83820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a:t>disordered sequence R[i+1..n]</a:t>
            </a:r>
          </a:p>
        </p:txBody>
      </p:sp>
      <p:cxnSp>
        <p:nvCxnSpPr>
          <p:cNvPr id="20487" name="AutoShape 7"/>
          <p:cNvCxnSpPr>
            <a:cxnSpLocks noChangeShapeType="1"/>
            <a:stCxn id="20483" idx="1"/>
            <a:endCxn id="20482" idx="2"/>
          </p:cNvCxnSpPr>
          <p:nvPr/>
        </p:nvCxnSpPr>
        <p:spPr bwMode="auto">
          <a:xfrm rot="10800000">
            <a:off x="2209800" y="2514600"/>
            <a:ext cx="1676400" cy="723900"/>
          </a:xfrm>
          <a:prstGeom prst="bentConnector2">
            <a:avLst/>
          </a:prstGeom>
          <a:noFill/>
          <a:ln w="57150">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488" name="AutoShape 8"/>
          <p:cNvSpPr>
            <a:spLocks noChangeArrowheads="1"/>
          </p:cNvSpPr>
          <p:nvPr/>
        </p:nvSpPr>
        <p:spPr bwMode="auto">
          <a:xfrm>
            <a:off x="2971800" y="3505200"/>
            <a:ext cx="838200" cy="1371600"/>
          </a:xfrm>
          <a:prstGeom prst="downArrow">
            <a:avLst>
              <a:gd name="adj1" fmla="val 50000"/>
              <a:gd name="adj2" fmla="val 40909"/>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20489" name="Line 9"/>
          <p:cNvSpPr>
            <a:spLocks noChangeShapeType="1"/>
          </p:cNvSpPr>
          <p:nvPr/>
        </p:nvSpPr>
        <p:spPr bwMode="auto">
          <a:xfrm>
            <a:off x="4648200" y="1676400"/>
            <a:ext cx="0" cy="838200"/>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90" name="Line 10"/>
          <p:cNvSpPr>
            <a:spLocks noChangeShapeType="1"/>
          </p:cNvSpPr>
          <p:nvPr/>
        </p:nvSpPr>
        <p:spPr bwMode="auto">
          <a:xfrm>
            <a:off x="4648200" y="3657600"/>
            <a:ext cx="0" cy="1371600"/>
          </a:xfrm>
          <a:prstGeom prst="line">
            <a:avLst/>
          </a:prstGeom>
          <a:noFill/>
          <a:ln w="9525" cap="rnd">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20</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0484"/>
                                        </p:tgtEl>
                                        <p:attrNameLst>
                                          <p:attrName>style.visibility</p:attrName>
                                        </p:attrNameLst>
                                      </p:cBhvr>
                                      <p:to>
                                        <p:strVal val="visible"/>
                                      </p:to>
                                    </p:set>
                                    <p:animEffect transition="in" filter="wipe(left)">
                                      <p:cBhvr>
                                        <p:cTn id="7" dur="500"/>
                                        <p:tgtEl>
                                          <p:spTgt spid="20484"/>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 fill="hold" grpId="0" nodeType="clickEffect">
                                  <p:stCondLst>
                                    <p:cond delay="0"/>
                                  </p:stCondLst>
                                  <p:childTnLst>
                                    <p:set>
                                      <p:cBhvr>
                                        <p:cTn id="11" dur="1" fill="hold">
                                          <p:stCondLst>
                                            <p:cond delay="0"/>
                                          </p:stCondLst>
                                        </p:cTn>
                                        <p:tgtEl>
                                          <p:spTgt spid="20489"/>
                                        </p:tgtEl>
                                        <p:attrNameLst>
                                          <p:attrName>style.visibility</p:attrName>
                                        </p:attrNameLst>
                                      </p:cBhvr>
                                      <p:to>
                                        <p:strVal val="visible"/>
                                      </p:to>
                                    </p:set>
                                    <p:anim calcmode="lin" valueType="num">
                                      <p:cBhvr>
                                        <p:cTn id="12" dur="500" fill="hold"/>
                                        <p:tgtEl>
                                          <p:spTgt spid="20489"/>
                                        </p:tgtEl>
                                        <p:attrNameLst>
                                          <p:attrName>ppt_x</p:attrName>
                                        </p:attrNameLst>
                                      </p:cBhvr>
                                      <p:tavLst>
                                        <p:tav tm="0">
                                          <p:val>
                                            <p:strVal val="#ppt_x"/>
                                          </p:val>
                                        </p:tav>
                                        <p:tav tm="100000">
                                          <p:val>
                                            <p:strVal val="#ppt_x"/>
                                          </p:val>
                                        </p:tav>
                                      </p:tavLst>
                                    </p:anim>
                                    <p:anim calcmode="lin" valueType="num">
                                      <p:cBhvr>
                                        <p:cTn id="13" dur="500" fill="hold"/>
                                        <p:tgtEl>
                                          <p:spTgt spid="20489"/>
                                        </p:tgtEl>
                                        <p:attrNameLst>
                                          <p:attrName>ppt_y</p:attrName>
                                        </p:attrNameLst>
                                      </p:cBhvr>
                                      <p:tavLst>
                                        <p:tav tm="0">
                                          <p:val>
                                            <p:strVal val="#ppt_y-#ppt_h/2"/>
                                          </p:val>
                                        </p:tav>
                                        <p:tav tm="100000">
                                          <p:val>
                                            <p:strVal val="#ppt_y"/>
                                          </p:val>
                                        </p:tav>
                                      </p:tavLst>
                                    </p:anim>
                                    <p:anim calcmode="lin" valueType="num">
                                      <p:cBhvr>
                                        <p:cTn id="14" dur="500" fill="hold"/>
                                        <p:tgtEl>
                                          <p:spTgt spid="20489"/>
                                        </p:tgtEl>
                                        <p:attrNameLst>
                                          <p:attrName>ppt_w</p:attrName>
                                        </p:attrNameLst>
                                      </p:cBhvr>
                                      <p:tavLst>
                                        <p:tav tm="0">
                                          <p:val>
                                            <p:strVal val="#ppt_w"/>
                                          </p:val>
                                        </p:tav>
                                        <p:tav tm="100000">
                                          <p:val>
                                            <p:strVal val="#ppt_w"/>
                                          </p:val>
                                        </p:tav>
                                      </p:tavLst>
                                    </p:anim>
                                    <p:anim calcmode="lin" valueType="num">
                                      <p:cBhvr>
                                        <p:cTn id="15" dur="500" fill="hold"/>
                                        <p:tgtEl>
                                          <p:spTgt spid="20489"/>
                                        </p:tgtEl>
                                        <p:attrNameLst>
                                          <p:attrName>ppt_h</p:attrName>
                                        </p:attrNameLst>
                                      </p:cBhvr>
                                      <p:tavLst>
                                        <p:tav tm="0">
                                          <p:val>
                                            <p:fltVal val="0"/>
                                          </p:val>
                                        </p:tav>
                                        <p:tav tm="100000">
                                          <p:val>
                                            <p:strVal val="#ppt_h"/>
                                          </p:val>
                                        </p:tav>
                                      </p:tavLst>
                                    </p:anim>
                                  </p:childTnLst>
                                </p:cTn>
                              </p:par>
                            </p:childTnLst>
                          </p:cTn>
                        </p:par>
                        <p:par>
                          <p:cTn id="16" fill="hold">
                            <p:stCondLst>
                              <p:cond delay="500"/>
                            </p:stCondLst>
                            <p:childTnLst>
                              <p:par>
                                <p:cTn id="17" presetID="12" presetClass="entr" presetSubtype="1" fill="hold" grpId="0" nodeType="afterEffect">
                                  <p:stCondLst>
                                    <p:cond delay="0"/>
                                  </p:stCondLst>
                                  <p:childTnLst>
                                    <p:set>
                                      <p:cBhvr>
                                        <p:cTn id="18" dur="1" fill="hold">
                                          <p:stCondLst>
                                            <p:cond delay="0"/>
                                          </p:stCondLst>
                                        </p:cTn>
                                        <p:tgtEl>
                                          <p:spTgt spid="20483"/>
                                        </p:tgtEl>
                                        <p:attrNameLst>
                                          <p:attrName>style.visibility</p:attrName>
                                        </p:attrNameLst>
                                      </p:cBhvr>
                                      <p:to>
                                        <p:strVal val="visible"/>
                                      </p:to>
                                    </p:set>
                                    <p:animEffect transition="in" filter="slide(fromTop)">
                                      <p:cBhvr>
                                        <p:cTn id="19" dur="500"/>
                                        <p:tgtEl>
                                          <p:spTgt spid="2048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2" fill="hold" nodeType="clickEffect">
                                  <p:stCondLst>
                                    <p:cond delay="0"/>
                                  </p:stCondLst>
                                  <p:childTnLst>
                                    <p:set>
                                      <p:cBhvr>
                                        <p:cTn id="23" dur="1" fill="hold">
                                          <p:stCondLst>
                                            <p:cond delay="0"/>
                                          </p:stCondLst>
                                        </p:cTn>
                                        <p:tgtEl>
                                          <p:spTgt spid="20487"/>
                                        </p:tgtEl>
                                        <p:attrNameLst>
                                          <p:attrName>style.visibility</p:attrName>
                                        </p:attrNameLst>
                                      </p:cBhvr>
                                      <p:to>
                                        <p:strVal val="visible"/>
                                      </p:to>
                                    </p:set>
                                    <p:animEffect transition="in" filter="wipe(right)">
                                      <p:cBhvr>
                                        <p:cTn id="24" dur="500"/>
                                        <p:tgtEl>
                                          <p:spTgt spid="20487"/>
                                        </p:tgtEl>
                                      </p:cBhvr>
                                    </p:animEffect>
                                  </p:childTnLst>
                                </p:cTn>
                              </p:par>
                            </p:childTnLst>
                          </p:cTn>
                        </p:par>
                      </p:childTnLst>
                    </p:cTn>
                  </p:par>
                  <p:par>
                    <p:cTn id="25" fill="hold">
                      <p:stCondLst>
                        <p:cond delay="indefinite"/>
                      </p:stCondLst>
                      <p:childTnLst>
                        <p:par>
                          <p:cTn id="26" fill="hold">
                            <p:stCondLst>
                              <p:cond delay="0"/>
                            </p:stCondLst>
                            <p:childTnLst>
                              <p:par>
                                <p:cTn id="27" presetID="17" presetClass="entr" presetSubtype="1" fill="hold" grpId="0" nodeType="clickEffect">
                                  <p:stCondLst>
                                    <p:cond delay="0"/>
                                  </p:stCondLst>
                                  <p:childTnLst>
                                    <p:set>
                                      <p:cBhvr>
                                        <p:cTn id="28" dur="1" fill="hold">
                                          <p:stCondLst>
                                            <p:cond delay="0"/>
                                          </p:stCondLst>
                                        </p:cTn>
                                        <p:tgtEl>
                                          <p:spTgt spid="20488"/>
                                        </p:tgtEl>
                                        <p:attrNameLst>
                                          <p:attrName>style.visibility</p:attrName>
                                        </p:attrNameLst>
                                      </p:cBhvr>
                                      <p:to>
                                        <p:strVal val="visible"/>
                                      </p:to>
                                    </p:set>
                                    <p:anim calcmode="lin" valueType="num">
                                      <p:cBhvr>
                                        <p:cTn id="29" dur="500" fill="hold"/>
                                        <p:tgtEl>
                                          <p:spTgt spid="20488"/>
                                        </p:tgtEl>
                                        <p:attrNameLst>
                                          <p:attrName>ppt_x</p:attrName>
                                        </p:attrNameLst>
                                      </p:cBhvr>
                                      <p:tavLst>
                                        <p:tav tm="0">
                                          <p:val>
                                            <p:strVal val="#ppt_x"/>
                                          </p:val>
                                        </p:tav>
                                        <p:tav tm="100000">
                                          <p:val>
                                            <p:strVal val="#ppt_x"/>
                                          </p:val>
                                        </p:tav>
                                      </p:tavLst>
                                    </p:anim>
                                    <p:anim calcmode="lin" valueType="num">
                                      <p:cBhvr>
                                        <p:cTn id="30" dur="500" fill="hold"/>
                                        <p:tgtEl>
                                          <p:spTgt spid="20488"/>
                                        </p:tgtEl>
                                        <p:attrNameLst>
                                          <p:attrName>ppt_y</p:attrName>
                                        </p:attrNameLst>
                                      </p:cBhvr>
                                      <p:tavLst>
                                        <p:tav tm="0">
                                          <p:val>
                                            <p:strVal val="#ppt_y-#ppt_h/2"/>
                                          </p:val>
                                        </p:tav>
                                        <p:tav tm="100000">
                                          <p:val>
                                            <p:strVal val="#ppt_y"/>
                                          </p:val>
                                        </p:tav>
                                      </p:tavLst>
                                    </p:anim>
                                    <p:anim calcmode="lin" valueType="num">
                                      <p:cBhvr>
                                        <p:cTn id="31" dur="500" fill="hold"/>
                                        <p:tgtEl>
                                          <p:spTgt spid="20488"/>
                                        </p:tgtEl>
                                        <p:attrNameLst>
                                          <p:attrName>ppt_w</p:attrName>
                                        </p:attrNameLst>
                                      </p:cBhvr>
                                      <p:tavLst>
                                        <p:tav tm="0">
                                          <p:val>
                                            <p:strVal val="#ppt_w"/>
                                          </p:val>
                                        </p:tav>
                                        <p:tav tm="100000">
                                          <p:val>
                                            <p:strVal val="#ppt_w"/>
                                          </p:val>
                                        </p:tav>
                                      </p:tavLst>
                                    </p:anim>
                                    <p:anim calcmode="lin" valueType="num">
                                      <p:cBhvr>
                                        <p:cTn id="32" dur="500" fill="hold"/>
                                        <p:tgtEl>
                                          <p:spTgt spid="20488"/>
                                        </p:tgtEl>
                                        <p:attrNameLst>
                                          <p:attrName>ppt_h</p:attrName>
                                        </p:attrNameLst>
                                      </p:cBhvr>
                                      <p:tavLst>
                                        <p:tav tm="0">
                                          <p:val>
                                            <p:fltVal val="0"/>
                                          </p:val>
                                        </p:tav>
                                        <p:tav tm="100000">
                                          <p:val>
                                            <p:strVal val="#ppt_h"/>
                                          </p:val>
                                        </p:tav>
                                      </p:tavLst>
                                    </p:anim>
                                  </p:childTnLst>
                                </p:cTn>
                              </p:par>
                            </p:childTnLst>
                          </p:cTn>
                        </p:par>
                        <p:par>
                          <p:cTn id="33" fill="hold">
                            <p:stCondLst>
                              <p:cond delay="500"/>
                            </p:stCondLst>
                            <p:childTnLst>
                              <p:par>
                                <p:cTn id="34" presetID="17" presetClass="entr" presetSubtype="1" fill="hold" grpId="0" nodeType="afterEffect">
                                  <p:stCondLst>
                                    <p:cond delay="0"/>
                                  </p:stCondLst>
                                  <p:childTnLst>
                                    <p:set>
                                      <p:cBhvr>
                                        <p:cTn id="35" dur="1" fill="hold">
                                          <p:stCondLst>
                                            <p:cond delay="0"/>
                                          </p:stCondLst>
                                        </p:cTn>
                                        <p:tgtEl>
                                          <p:spTgt spid="20490"/>
                                        </p:tgtEl>
                                        <p:attrNameLst>
                                          <p:attrName>style.visibility</p:attrName>
                                        </p:attrNameLst>
                                      </p:cBhvr>
                                      <p:to>
                                        <p:strVal val="visible"/>
                                      </p:to>
                                    </p:set>
                                    <p:anim calcmode="lin" valueType="num">
                                      <p:cBhvr>
                                        <p:cTn id="36" dur="500" fill="hold"/>
                                        <p:tgtEl>
                                          <p:spTgt spid="20490"/>
                                        </p:tgtEl>
                                        <p:attrNameLst>
                                          <p:attrName>ppt_x</p:attrName>
                                        </p:attrNameLst>
                                      </p:cBhvr>
                                      <p:tavLst>
                                        <p:tav tm="0">
                                          <p:val>
                                            <p:strVal val="#ppt_x"/>
                                          </p:val>
                                        </p:tav>
                                        <p:tav tm="100000">
                                          <p:val>
                                            <p:strVal val="#ppt_x"/>
                                          </p:val>
                                        </p:tav>
                                      </p:tavLst>
                                    </p:anim>
                                    <p:anim calcmode="lin" valueType="num">
                                      <p:cBhvr>
                                        <p:cTn id="37" dur="500" fill="hold"/>
                                        <p:tgtEl>
                                          <p:spTgt spid="20490"/>
                                        </p:tgtEl>
                                        <p:attrNameLst>
                                          <p:attrName>ppt_y</p:attrName>
                                        </p:attrNameLst>
                                      </p:cBhvr>
                                      <p:tavLst>
                                        <p:tav tm="0">
                                          <p:val>
                                            <p:strVal val="#ppt_y-#ppt_h/2"/>
                                          </p:val>
                                        </p:tav>
                                        <p:tav tm="100000">
                                          <p:val>
                                            <p:strVal val="#ppt_y"/>
                                          </p:val>
                                        </p:tav>
                                      </p:tavLst>
                                    </p:anim>
                                    <p:anim calcmode="lin" valueType="num">
                                      <p:cBhvr>
                                        <p:cTn id="38" dur="500" fill="hold"/>
                                        <p:tgtEl>
                                          <p:spTgt spid="20490"/>
                                        </p:tgtEl>
                                        <p:attrNameLst>
                                          <p:attrName>ppt_w</p:attrName>
                                        </p:attrNameLst>
                                      </p:cBhvr>
                                      <p:tavLst>
                                        <p:tav tm="0">
                                          <p:val>
                                            <p:strVal val="#ppt_w"/>
                                          </p:val>
                                        </p:tav>
                                        <p:tav tm="100000">
                                          <p:val>
                                            <p:strVal val="#ppt_w"/>
                                          </p:val>
                                        </p:tav>
                                      </p:tavLst>
                                    </p:anim>
                                    <p:anim calcmode="lin" valueType="num">
                                      <p:cBhvr>
                                        <p:cTn id="39" dur="500" fill="hold"/>
                                        <p:tgtEl>
                                          <p:spTgt spid="20490"/>
                                        </p:tgtEl>
                                        <p:attrNameLst>
                                          <p:attrName>ppt_h</p:attrName>
                                        </p:attrNameLst>
                                      </p:cBhvr>
                                      <p:tavLst>
                                        <p:tav tm="0">
                                          <p:val>
                                            <p:fltVal val="0"/>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20485"/>
                                        </p:tgtEl>
                                        <p:attrNameLst>
                                          <p:attrName>style.visibility</p:attrName>
                                        </p:attrNameLst>
                                      </p:cBhvr>
                                      <p:to>
                                        <p:strVal val="visible"/>
                                      </p:to>
                                    </p:set>
                                    <p:animEffect transition="in" filter="wipe(left)">
                                      <p:cBhvr>
                                        <p:cTn id="44" dur="500"/>
                                        <p:tgtEl>
                                          <p:spTgt spid="20485"/>
                                        </p:tgtEl>
                                      </p:cBhvr>
                                    </p:animEffect>
                                  </p:childTnLst>
                                </p:cTn>
                              </p:par>
                            </p:childTnLst>
                          </p:cTn>
                        </p:par>
                        <p:par>
                          <p:cTn id="45" fill="hold">
                            <p:stCondLst>
                              <p:cond delay="500"/>
                            </p:stCondLst>
                            <p:childTnLst>
                              <p:par>
                                <p:cTn id="46" presetID="22" presetClass="entr" presetSubtype="8" fill="hold" grpId="0" nodeType="afterEffect">
                                  <p:stCondLst>
                                    <p:cond delay="0"/>
                                  </p:stCondLst>
                                  <p:childTnLst>
                                    <p:set>
                                      <p:cBhvr>
                                        <p:cTn id="47" dur="1" fill="hold">
                                          <p:stCondLst>
                                            <p:cond delay="0"/>
                                          </p:stCondLst>
                                        </p:cTn>
                                        <p:tgtEl>
                                          <p:spTgt spid="20486"/>
                                        </p:tgtEl>
                                        <p:attrNameLst>
                                          <p:attrName>style.visibility</p:attrName>
                                        </p:attrNameLst>
                                      </p:cBhvr>
                                      <p:to>
                                        <p:strVal val="visible"/>
                                      </p:to>
                                    </p:set>
                                    <p:animEffect transition="in" filter="wipe(left)">
                                      <p:cBhvr>
                                        <p:cTn id="48" dur="500"/>
                                        <p:tgtEl>
                                          <p:spTgt spid="204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ldLvl="0" animBg="1" autoUpdateAnimBg="0"/>
      <p:bldP spid="20484" grpId="0" bldLvl="0" animBg="1" autoUpdateAnimBg="0"/>
      <p:bldP spid="20485" grpId="0" bldLvl="0" animBg="1" autoUpdateAnimBg="0"/>
      <p:bldP spid="20486" grpId="0" bldLvl="0" animBg="1" autoUpdateAnimBg="0"/>
      <p:bldP spid="20488" grpId="0" bldLvl="0" animBg="1"/>
      <p:bldP spid="20489" grpId="0" bldLvl="0" animBg="1"/>
      <p:bldP spid="20490"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p:cNvSpPr txBox="1">
            <a:spLocks noChangeArrowheads="1"/>
          </p:cNvSpPr>
          <p:nvPr/>
        </p:nvSpPr>
        <p:spPr bwMode="auto">
          <a:xfrm>
            <a:off x="467995" y="404495"/>
            <a:ext cx="8210550" cy="1124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zh-CN" altLang="en-US" b="1">
                <a:latin typeface="Arial" panose="020B0604020202020204" pitchFamily="34" charset="0"/>
                <a:ea typeface="楷体_GB2312" pitchFamily="49" charset="-122"/>
                <a:cs typeface="Arial" panose="020B0604020202020204" pitchFamily="34" charset="0"/>
              </a:rPr>
              <a:t>Implementing "one-pass insertion sort" can be done in three steps:</a:t>
            </a:r>
            <a:endParaRPr lang="zh-CN" altLang="en-US">
              <a:solidFill>
                <a:srgbClr val="0000FF"/>
              </a:solidFill>
              <a:latin typeface="Arial" panose="020B0604020202020204" pitchFamily="34" charset="0"/>
              <a:ea typeface="楷体_GB2312" pitchFamily="49" charset="-122"/>
              <a:cs typeface="Arial" panose="020B0604020202020204" pitchFamily="34" charset="0"/>
            </a:endParaRPr>
          </a:p>
        </p:txBody>
      </p:sp>
      <p:sp>
        <p:nvSpPr>
          <p:cNvPr id="21507" name="Text Box 3"/>
          <p:cNvSpPr txBox="1">
            <a:spLocks noChangeArrowheads="1"/>
          </p:cNvSpPr>
          <p:nvPr/>
        </p:nvSpPr>
        <p:spPr bwMode="auto">
          <a:xfrm>
            <a:off x="838200" y="5073650"/>
            <a:ext cx="7910513"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dirty="0">
                <a:solidFill>
                  <a:srgbClr val="0000FF"/>
                </a:solidFill>
                <a:latin typeface="Arial" panose="020B0604020202020204" pitchFamily="34" charset="0"/>
                <a:ea typeface="楷体_GB2312" pitchFamily="49" charset="-122"/>
                <a:cs typeface="Arial" panose="020B0604020202020204" pitchFamily="34" charset="0"/>
              </a:rPr>
              <a:t>3.</a:t>
            </a:r>
            <a:r>
              <a:rPr lang="zh-CN" altLang="en-US" b="1" dirty="0">
                <a:solidFill>
                  <a:srgbClr val="FF3300"/>
                </a:solidFill>
                <a:latin typeface="Arial" panose="020B0604020202020204" pitchFamily="34" charset="0"/>
                <a:ea typeface="楷体_GB2312" pitchFamily="49" charset="-122"/>
                <a:cs typeface="Arial" panose="020B0604020202020204" pitchFamily="34" charset="0"/>
              </a:rPr>
              <a:t> Insert</a:t>
            </a:r>
            <a:r>
              <a:rPr lang="en-US" altLang="zh-CN" b="1" dirty="0">
                <a:solidFill>
                  <a:srgbClr val="0000FF"/>
                </a:solidFill>
                <a:latin typeface="Arial" panose="020B0604020202020204" pitchFamily="34" charset="0"/>
                <a:ea typeface="楷体_GB2312" pitchFamily="49" charset="-122"/>
                <a:cs typeface="Arial" panose="020B0604020202020204" pitchFamily="34" charset="0"/>
              </a:rPr>
              <a:t> (copy) R[i] into the position of R[j+1].</a:t>
            </a:r>
            <a:endParaRPr lang="zh-CN" altLang="en-US" dirty="0">
              <a:solidFill>
                <a:srgbClr val="0000FF"/>
              </a:solidFill>
              <a:latin typeface="Arial" panose="020B0604020202020204" pitchFamily="34" charset="0"/>
              <a:ea typeface="楷体_GB2312" pitchFamily="49" charset="-122"/>
              <a:cs typeface="Arial" panose="020B0604020202020204" pitchFamily="34" charset="0"/>
            </a:endParaRPr>
          </a:p>
        </p:txBody>
      </p:sp>
      <p:sp>
        <p:nvSpPr>
          <p:cNvPr id="21508" name="Rectangle 4"/>
          <p:cNvSpPr>
            <a:spLocks noChangeArrowheads="1"/>
          </p:cNvSpPr>
          <p:nvPr/>
        </p:nvSpPr>
        <p:spPr bwMode="auto">
          <a:xfrm>
            <a:off x="838200" y="3276600"/>
            <a:ext cx="7010400" cy="1210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pPr>
            <a:r>
              <a:rPr lang="en-US" altLang="zh-CN" b="1" dirty="0">
                <a:solidFill>
                  <a:srgbClr val="0000FF"/>
                </a:solidFill>
                <a:latin typeface="Arial" panose="020B0604020202020204" pitchFamily="34" charset="0"/>
                <a:ea typeface="楷体_GB2312" pitchFamily="49" charset="-122"/>
                <a:cs typeface="Arial" panose="020B0604020202020204" pitchFamily="34" charset="0"/>
              </a:rPr>
              <a:t>2. Replace R[j+1..</a:t>
            </a:r>
            <a:r>
              <a:rPr lang="en-US" altLang="zh-CN" dirty="0">
                <a:solidFill>
                  <a:srgbClr val="0000FF"/>
                </a:solidFill>
                <a:latin typeface="Arial" panose="020B0604020202020204" pitchFamily="34" charset="0"/>
                <a:ea typeface="楷体_GB2312" pitchFamily="49" charset="-122"/>
                <a:cs typeface="Arial" panose="020B0604020202020204" pitchFamily="34" charset="0"/>
              </a:rPr>
              <a:t>Move all records in [i-1] </a:t>
            </a:r>
            <a:r>
              <a:rPr lang="zh-CN" altLang="en-US" b="1" dirty="0">
                <a:solidFill>
                  <a:srgbClr val="FF3300"/>
                </a:solidFill>
                <a:latin typeface="Arial" panose="020B0604020202020204" pitchFamily="34" charset="0"/>
                <a:ea typeface="楷体_GB2312" pitchFamily="49" charset="-122"/>
                <a:cs typeface="Arial" panose="020B0604020202020204" pitchFamily="34" charset="0"/>
              </a:rPr>
              <a:t>backward</a:t>
            </a:r>
            <a:r>
              <a:rPr lang="en-US" altLang="zh-CN" b="1" dirty="0">
                <a:solidFill>
                  <a:srgbClr val="FF3300"/>
                </a:solidFill>
                <a:latin typeface="Arial" panose="020B0604020202020204" pitchFamily="34" charset="0"/>
                <a:ea typeface="楷体_GB2312" pitchFamily="49" charset="-122"/>
                <a:cs typeface="Arial" panose="020B0604020202020204" pitchFamily="34" charset="0"/>
              </a:rPr>
              <a:t> </a:t>
            </a:r>
            <a:r>
              <a:rPr lang="en-US" altLang="zh-CN" dirty="0">
                <a:solidFill>
                  <a:srgbClr val="0000FF"/>
                </a:solidFill>
                <a:latin typeface="Arial" panose="020B0604020202020204" pitchFamily="34" charset="0"/>
                <a:ea typeface="楷体_GB2312" pitchFamily="49" charset="-122"/>
                <a:cs typeface="Arial" panose="020B0604020202020204" pitchFamily="34" charset="0"/>
              </a:rPr>
              <a:t>one position</a:t>
            </a:r>
            <a:r>
              <a:rPr lang="zh-CN" altLang="en-US" dirty="0">
                <a:solidFill>
                  <a:srgbClr val="0000FF"/>
                </a:solidFill>
                <a:latin typeface="Arial" panose="020B0604020202020204" pitchFamily="34" charset="0"/>
                <a:ea typeface="楷体_GB2312" pitchFamily="49" charset="-122"/>
                <a:cs typeface="Arial" panose="020B0604020202020204" pitchFamily="34" charset="0"/>
              </a:rPr>
              <a:t>;</a:t>
            </a:r>
          </a:p>
        </p:txBody>
      </p:sp>
      <p:sp>
        <p:nvSpPr>
          <p:cNvPr id="21509" name="Rectangle 5"/>
          <p:cNvSpPr>
            <a:spLocks noChangeArrowheads="1"/>
          </p:cNvSpPr>
          <p:nvPr/>
        </p:nvSpPr>
        <p:spPr bwMode="auto">
          <a:xfrm>
            <a:off x="849313" y="1531938"/>
            <a:ext cx="8084185" cy="1210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30000"/>
              </a:lnSpc>
            </a:pPr>
            <a:r>
              <a:rPr lang="en-US" altLang="zh-CN" b="1" dirty="0">
                <a:solidFill>
                  <a:srgbClr val="0000FF"/>
                </a:solidFill>
                <a:latin typeface="Arial" panose="020B0604020202020204" pitchFamily="34" charset="0"/>
                <a:ea typeface="楷体_GB2312" pitchFamily="49" charset="-122"/>
                <a:cs typeface="Arial" panose="020B0604020202020204" pitchFamily="34" charset="0"/>
              </a:rPr>
              <a:t>1. </a:t>
            </a:r>
            <a:r>
              <a:rPr lang="zh-CN" altLang="en-US" b="1" dirty="0">
                <a:solidFill>
                  <a:srgbClr val="FF3300"/>
                </a:solidFill>
                <a:latin typeface="Arial" panose="020B0604020202020204" pitchFamily="34" charset="0"/>
                <a:ea typeface="楷体_GB2312" pitchFamily="49" charset="-122"/>
                <a:cs typeface="Arial" panose="020B0604020202020204" pitchFamily="34" charset="0"/>
              </a:rPr>
              <a:t>Find</a:t>
            </a:r>
            <a:r>
              <a:rPr lang="en-US" altLang="zh-CN" b="1" dirty="0">
                <a:solidFill>
                  <a:srgbClr val="0000FF"/>
                </a:solidFill>
                <a:latin typeface="Arial" panose="020B0604020202020204" pitchFamily="34" charset="0"/>
                <a:ea typeface="楷体_GB2312" pitchFamily="49" charset="-122"/>
                <a:cs typeface="Arial" panose="020B0604020202020204" pitchFamily="34" charset="0"/>
              </a:rPr>
              <a:t> the insertion position of R[i] in R[1..i-1],</a:t>
            </a:r>
            <a:endParaRPr lang="zh-CN" altLang="en-US" dirty="0">
              <a:solidFill>
                <a:srgbClr val="0000FF"/>
              </a:solidFill>
              <a:latin typeface="Arial" panose="020B0604020202020204" pitchFamily="34" charset="0"/>
              <a:ea typeface="楷体_GB2312" pitchFamily="49" charset="-122"/>
              <a:cs typeface="Arial" panose="020B0604020202020204" pitchFamily="34" charset="0"/>
            </a:endParaRPr>
          </a:p>
          <a:p>
            <a:pPr algn="l">
              <a:lnSpc>
                <a:spcPct val="130000"/>
              </a:lnSpc>
            </a:pPr>
            <a:r>
              <a:rPr lang="en-US" altLang="zh-CN" dirty="0">
                <a:solidFill>
                  <a:srgbClr val="0000FF"/>
                </a:solidFill>
                <a:latin typeface="Arial" panose="020B0604020202020204" pitchFamily="34" charset="0"/>
                <a:ea typeface="楷体_GB2312" pitchFamily="49" charset="-122"/>
                <a:cs typeface="Arial" panose="020B0604020202020204" pitchFamily="34" charset="0"/>
                <a:sym typeface="+mn-ea"/>
              </a:rPr>
              <a:t>R[1..j].key </a:t>
            </a:r>
            <a:r>
              <a:rPr lang="en-US" altLang="zh-CN" b="1" dirty="0">
                <a:solidFill>
                  <a:srgbClr val="003366"/>
                </a:solidFill>
                <a:latin typeface="Arial" panose="020B0604020202020204" pitchFamily="34" charset="0"/>
                <a:ea typeface="楷体_GB2312" pitchFamily="49" charset="-122"/>
                <a:cs typeface="Arial" panose="020B0604020202020204" pitchFamily="34" charset="0"/>
                <a:sym typeface="Symbol" panose="05050102010706020507" pitchFamily="18" charset="2"/>
              </a:rPr>
              <a:t></a:t>
            </a:r>
            <a:r>
              <a:rPr lang="en-US" altLang="zh-CN" dirty="0">
                <a:solidFill>
                  <a:srgbClr val="0000FF"/>
                </a:solidFill>
                <a:latin typeface="Arial" panose="020B0604020202020204" pitchFamily="34" charset="0"/>
                <a:ea typeface="楷体_GB2312" pitchFamily="49" charset="-122"/>
                <a:cs typeface="Arial" panose="020B0604020202020204" pitchFamily="34" charset="0"/>
                <a:sym typeface="Symbol" panose="05050102010706020507" pitchFamily="18" charset="2"/>
              </a:rPr>
              <a:t> R[</a:t>
            </a:r>
            <a:r>
              <a:rPr lang="en-US" altLang="zh-CN" dirty="0" err="1">
                <a:solidFill>
                  <a:srgbClr val="0000FF"/>
                </a:solidFill>
                <a:latin typeface="Arial" panose="020B0604020202020204" pitchFamily="34" charset="0"/>
                <a:ea typeface="楷体_GB2312" pitchFamily="49" charset="-122"/>
                <a:cs typeface="Arial" panose="020B0604020202020204" pitchFamily="34" charset="0"/>
                <a:sym typeface="Symbol" panose="05050102010706020507" pitchFamily="18" charset="2"/>
              </a:rPr>
              <a:t>i</a:t>
            </a:r>
            <a:r>
              <a:rPr lang="en-US" altLang="zh-CN" dirty="0">
                <a:solidFill>
                  <a:srgbClr val="0000FF"/>
                </a:solidFill>
                <a:latin typeface="Arial" panose="020B0604020202020204" pitchFamily="34" charset="0"/>
                <a:ea typeface="楷体_GB2312" pitchFamily="49" charset="-122"/>
                <a:cs typeface="Arial" panose="020B0604020202020204" pitchFamily="34" charset="0"/>
                <a:sym typeface="Symbol" panose="05050102010706020507" pitchFamily="18" charset="2"/>
              </a:rPr>
              <a:t>].key </a:t>
            </a:r>
            <a:r>
              <a:rPr lang="en-US" altLang="zh-CN" b="1" dirty="0">
                <a:solidFill>
                  <a:srgbClr val="003366"/>
                </a:solidFill>
                <a:latin typeface="Arial" panose="020B0604020202020204" pitchFamily="34" charset="0"/>
                <a:ea typeface="楷体_GB2312" pitchFamily="49" charset="-122"/>
                <a:cs typeface="Arial" panose="020B0604020202020204" pitchFamily="34" charset="0"/>
                <a:sym typeface="Symbol" panose="05050102010706020507" pitchFamily="18" charset="2"/>
              </a:rPr>
              <a:t>&lt;</a:t>
            </a:r>
            <a:r>
              <a:rPr lang="en-US" altLang="zh-CN" dirty="0">
                <a:solidFill>
                  <a:srgbClr val="0000FF"/>
                </a:solidFill>
                <a:latin typeface="Arial" panose="020B0604020202020204" pitchFamily="34" charset="0"/>
                <a:ea typeface="楷体_GB2312" pitchFamily="49" charset="-122"/>
                <a:cs typeface="Arial" panose="020B0604020202020204" pitchFamily="34" charset="0"/>
                <a:sym typeface="Symbol" panose="05050102010706020507" pitchFamily="18" charset="2"/>
              </a:rPr>
              <a:t> R[j+1..i-1].key</a:t>
            </a:r>
            <a:r>
              <a:rPr lang="zh-CN" altLang="en-US" dirty="0">
                <a:solidFill>
                  <a:srgbClr val="0000FF"/>
                </a:solidFill>
                <a:latin typeface="Arial" panose="020B0604020202020204" pitchFamily="34" charset="0"/>
                <a:ea typeface="楷体_GB2312" pitchFamily="49" charset="-122"/>
                <a:cs typeface="Arial" panose="020B0604020202020204" pitchFamily="34" charset="0"/>
                <a:sym typeface="Symbol" panose="05050102010706020507" pitchFamily="18" charset="2"/>
              </a:rPr>
              <a:t>；</a:t>
            </a:r>
            <a:endParaRPr lang="zh-CN" altLang="en-US" dirty="0">
              <a:solidFill>
                <a:srgbClr val="0000FF"/>
              </a:solidFill>
              <a:latin typeface="Arial" panose="020B0604020202020204" pitchFamily="34" charset="0"/>
              <a:ea typeface="楷体_GB2312" pitchFamily="49" charset="-122"/>
              <a:cs typeface="Arial" panose="020B0604020202020204" pitchFamily="34" charset="0"/>
            </a:endParaRP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21</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21506"/>
                                        </p:tgtEl>
                                        <p:attrNameLst>
                                          <p:attrName>style.visibility</p:attrName>
                                        </p:attrNameLst>
                                      </p:cBhvr>
                                      <p:to>
                                        <p:strVal val="visible"/>
                                      </p:to>
                                    </p:set>
                                    <p:animEffect transition="in" filter="strips(downRight)">
                                      <p:cBhvr>
                                        <p:cTn id="7" dur="500"/>
                                        <p:tgtEl>
                                          <p:spTgt spid="2150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509"/>
                                        </p:tgtEl>
                                        <p:attrNameLst>
                                          <p:attrName>style.visibility</p:attrName>
                                        </p:attrNameLst>
                                      </p:cBhvr>
                                      <p:to>
                                        <p:strVal val="visible"/>
                                      </p:to>
                                    </p:set>
                                    <p:animEffect transition="in" filter="wipe(left)">
                                      <p:cBhvr>
                                        <p:cTn id="12" dur="500"/>
                                        <p:tgtEl>
                                          <p:spTgt spid="2150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1508"/>
                                        </p:tgtEl>
                                        <p:attrNameLst>
                                          <p:attrName>style.visibility</p:attrName>
                                        </p:attrNameLst>
                                      </p:cBhvr>
                                      <p:to>
                                        <p:strVal val="visible"/>
                                      </p:to>
                                    </p:set>
                                    <p:animEffect transition="in" filter="wipe(left)">
                                      <p:cBhvr>
                                        <p:cTn id="17" dur="500"/>
                                        <p:tgtEl>
                                          <p:spTgt spid="2150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1507"/>
                                        </p:tgtEl>
                                        <p:attrNameLst>
                                          <p:attrName>style.visibility</p:attrName>
                                        </p:attrNameLst>
                                      </p:cBhvr>
                                      <p:to>
                                        <p:strVal val="visible"/>
                                      </p:to>
                                    </p:set>
                                    <p:animEffect transition="in" filter="wipe(left)">
                                      <p:cBhvr>
                                        <p:cTn id="22" dur="500"/>
                                        <p:tgtEl>
                                          <p:spTgt spid="215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 grpId="0" bldLvl="0" animBg="1" autoUpdateAnimBg="0"/>
      <p:bldP spid="21507" grpId="0" bldLvl="0" animBg="1" autoUpdateAnimBg="0"/>
      <p:bldP spid="21508" grpId="0" bldLvl="0" animBg="1" autoUpdateAnimBg="0"/>
      <p:bldP spid="21509" grpId="0" bldLvl="0" animBg="1"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Text Box 2">
            <a:hlinkClick r:id="" action="ppaction://hlinkshowjump?jump=nextslide"/>
          </p:cNvPr>
          <p:cNvSpPr txBox="1">
            <a:spLocks noChangeArrowheads="1"/>
          </p:cNvSpPr>
          <p:nvPr/>
        </p:nvSpPr>
        <p:spPr bwMode="auto">
          <a:xfrm>
            <a:off x="1066800" y="1584325"/>
            <a:ext cx="6858000" cy="829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b="1" dirty="0">
                <a:solidFill>
                  <a:srgbClr val="FF00FF"/>
                </a:solidFill>
                <a:latin typeface="Arial" panose="020B0604020202020204" pitchFamily="34" charset="0"/>
                <a:ea typeface="楷体_GB2312" pitchFamily="49" charset="-122"/>
                <a:cs typeface="Arial" panose="020B0604020202020204" pitchFamily="34" charset="0"/>
              </a:rPr>
              <a:t>Direct Insertion Sort</a:t>
            </a:r>
            <a:r>
              <a:rPr lang="zh-CN" altLang="en-US" sz="2400" b="1" dirty="0">
                <a:solidFill>
                  <a:srgbClr val="FF00FF"/>
                </a:solidFill>
                <a:latin typeface="Arial" panose="020B0604020202020204" pitchFamily="34" charset="0"/>
                <a:ea typeface="楷体_GB2312" pitchFamily="49" charset="-122"/>
                <a:cs typeface="Arial" panose="020B0604020202020204" pitchFamily="34" charset="0"/>
              </a:rPr>
              <a:t> (Based on Sequential Search)</a:t>
            </a:r>
          </a:p>
        </p:txBody>
      </p:sp>
      <p:sp>
        <p:nvSpPr>
          <p:cNvPr id="132099" name="Text Box 3">
            <a:hlinkClick r:id="rId2" action="ppaction://hlinksldjump"/>
          </p:cNvPr>
          <p:cNvSpPr txBox="1">
            <a:spLocks noChangeArrowheads="1"/>
          </p:cNvSpPr>
          <p:nvPr/>
        </p:nvSpPr>
        <p:spPr bwMode="auto">
          <a:xfrm>
            <a:off x="1143000" y="4038600"/>
            <a:ext cx="6884988" cy="829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b="1" dirty="0">
                <a:latin typeface="Arial" panose="020B0604020202020204" pitchFamily="34" charset="0"/>
                <a:ea typeface="楷体_GB2312" pitchFamily="49" charset="-122"/>
                <a:cs typeface="Arial" panose="020B0604020202020204" pitchFamily="34" charset="0"/>
              </a:rPr>
              <a:t>List Insertion Sort (based on linked list storage)</a:t>
            </a:r>
          </a:p>
        </p:txBody>
      </p:sp>
      <p:pic>
        <p:nvPicPr>
          <p:cNvPr id="132100" name="Picture 4" descr="Pebble">
            <a:hlinkClick r:id="" action="ppaction://hlinkshowjump?jump=nextslide" highlightClick="1"/>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1584325"/>
            <a:ext cx="457200" cy="434975"/>
          </a:xfrm>
          <a:prstGeom prst="rect">
            <a:avLst/>
          </a:prstGeom>
          <a:noFill/>
          <a:extLst>
            <a:ext uri="{909E8E84-426E-40DD-AFC4-6F175D3DCCD1}">
              <a14:hiddenFill xmlns:a14="http://schemas.microsoft.com/office/drawing/2010/main">
                <a:solidFill>
                  <a:srgbClr val="FFFFFF"/>
                </a:solidFill>
              </a14:hiddenFill>
            </a:ext>
          </a:extLst>
        </p:spPr>
      </p:pic>
      <p:pic>
        <p:nvPicPr>
          <p:cNvPr id="132101" name="Picture 5" descr="Pebble">
            <a:hlinkClick r:id="rId4" action="ppaction://hlinksldjump" highlightClick="1"/>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2824162"/>
            <a:ext cx="457200" cy="434975"/>
          </a:xfrm>
          <a:prstGeom prst="rect">
            <a:avLst/>
          </a:prstGeom>
          <a:noFill/>
          <a:extLst>
            <a:ext uri="{909E8E84-426E-40DD-AFC4-6F175D3DCCD1}">
              <a14:hiddenFill xmlns:a14="http://schemas.microsoft.com/office/drawing/2010/main">
                <a:solidFill>
                  <a:srgbClr val="FFFFFF"/>
                </a:solidFill>
              </a14:hiddenFill>
            </a:ext>
          </a:extLst>
        </p:spPr>
      </p:pic>
      <p:pic>
        <p:nvPicPr>
          <p:cNvPr id="132102" name="Picture 6" descr="Pebble">
            <a:hlinkClick r:id="rId2" action="ppaction://hlinksldjump" highlightClick="1"/>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4038600"/>
            <a:ext cx="457200" cy="434975"/>
          </a:xfrm>
          <a:prstGeom prst="rect">
            <a:avLst/>
          </a:prstGeom>
          <a:noFill/>
          <a:extLst>
            <a:ext uri="{909E8E84-426E-40DD-AFC4-6F175D3DCCD1}">
              <a14:hiddenFill xmlns:a14="http://schemas.microsoft.com/office/drawing/2010/main">
                <a:solidFill>
                  <a:srgbClr val="FFFFFF"/>
                </a:solidFill>
              </a14:hiddenFill>
            </a:ext>
          </a:extLst>
        </p:spPr>
      </p:pic>
      <p:pic>
        <p:nvPicPr>
          <p:cNvPr id="132103" name="Picture 7" descr="Pebble">
            <a:hlinkClick r:id="rId5" action="ppaction://hlinksldjump" highlightClick="1"/>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733" y="5268186"/>
            <a:ext cx="457200" cy="434975"/>
          </a:xfrm>
          <a:prstGeom prst="rect">
            <a:avLst/>
          </a:prstGeom>
          <a:noFill/>
          <a:extLst>
            <a:ext uri="{909E8E84-426E-40DD-AFC4-6F175D3DCCD1}">
              <a14:hiddenFill xmlns:a14="http://schemas.microsoft.com/office/drawing/2010/main">
                <a:solidFill>
                  <a:srgbClr val="FFFFFF"/>
                </a:solidFill>
              </a14:hiddenFill>
            </a:ext>
          </a:extLst>
        </p:spPr>
      </p:pic>
      <p:sp>
        <p:nvSpPr>
          <p:cNvPr id="132104" name="Text Box 8"/>
          <p:cNvSpPr txBox="1">
            <a:spLocks noChangeArrowheads="1"/>
          </p:cNvSpPr>
          <p:nvPr/>
        </p:nvSpPr>
        <p:spPr bwMode="auto">
          <a:xfrm>
            <a:off x="425450" y="425450"/>
            <a:ext cx="8718550" cy="829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a:solidFill>
                  <a:srgbClr val="008784"/>
                </a:solidFill>
                <a:latin typeface="Arial" panose="020B0604020202020204" pitchFamily="34" charset="0"/>
                <a:ea typeface="隶书" panose="02010509060101010101" pitchFamily="49" charset="-122"/>
                <a:cs typeface="Arial" panose="020B0604020202020204" pitchFamily="34" charset="0"/>
              </a:rPr>
              <a:t>Different implementation methods lead to different algorithm descriptions</a:t>
            </a:r>
          </a:p>
        </p:txBody>
      </p:sp>
      <p:sp>
        <p:nvSpPr>
          <p:cNvPr id="132105" name="Text Box 9">
            <a:hlinkClick r:id="rId2" action="ppaction://hlinksldjump"/>
          </p:cNvPr>
          <p:cNvSpPr txBox="1">
            <a:spLocks noChangeArrowheads="1"/>
          </p:cNvSpPr>
          <p:nvPr/>
        </p:nvSpPr>
        <p:spPr bwMode="auto">
          <a:xfrm>
            <a:off x="1143000" y="2819400"/>
            <a:ext cx="68580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b="1" dirty="0">
                <a:solidFill>
                  <a:srgbClr val="FF00FF"/>
                </a:solidFill>
                <a:latin typeface="Arial" panose="020B0604020202020204" pitchFamily="34" charset="0"/>
                <a:ea typeface="楷体_GB2312" pitchFamily="49" charset="-122"/>
                <a:cs typeface="Arial" panose="020B0604020202020204" pitchFamily="34" charset="0"/>
              </a:rPr>
              <a:t>Binary Insertion Sort (based on binary search)</a:t>
            </a:r>
          </a:p>
        </p:txBody>
      </p:sp>
      <p:sp>
        <p:nvSpPr>
          <p:cNvPr id="132106" name="Text Box 10">
            <a:hlinkClick r:id="rId6" action="ppaction://hlinksldjump"/>
          </p:cNvPr>
          <p:cNvSpPr txBox="1">
            <a:spLocks noChangeArrowheads="1"/>
          </p:cNvSpPr>
          <p:nvPr/>
        </p:nvSpPr>
        <p:spPr bwMode="auto">
          <a:xfrm>
            <a:off x="1143000" y="5257800"/>
            <a:ext cx="6858000" cy="829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b="1">
                <a:solidFill>
                  <a:srgbClr val="FF00FF"/>
                </a:solidFill>
                <a:latin typeface="Arial" panose="020B0604020202020204" pitchFamily="34" charset="0"/>
                <a:ea typeface="楷体_GB2312" pitchFamily="49" charset="-122"/>
                <a:cs typeface="Arial" panose="020B0604020202020204" pitchFamily="34" charset="0"/>
              </a:rPr>
              <a:t>Shell Sort (based on incrementally reducing the gap)</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22</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2104"/>
                                        </p:tgtEl>
                                        <p:attrNameLst>
                                          <p:attrName>style.visibility</p:attrName>
                                        </p:attrNameLst>
                                      </p:cBhvr>
                                      <p:to>
                                        <p:strVal val="visible"/>
                                      </p:to>
                                    </p:set>
                                    <p:animEffect transition="in" filter="wipe(left)">
                                      <p:cBhvr>
                                        <p:cTn id="7" dur="500"/>
                                        <p:tgtEl>
                                          <p:spTgt spid="13210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2098"/>
                                        </p:tgtEl>
                                        <p:attrNameLst>
                                          <p:attrName>style.visibility</p:attrName>
                                        </p:attrNameLst>
                                      </p:cBhvr>
                                      <p:to>
                                        <p:strVal val="visible"/>
                                      </p:to>
                                    </p:set>
                                    <p:animEffect transition="in" filter="dissolve">
                                      <p:cBhvr>
                                        <p:cTn id="12" dur="500"/>
                                        <p:tgtEl>
                                          <p:spTgt spid="132098"/>
                                        </p:tgtEl>
                                      </p:cBhvr>
                                    </p:animEffect>
                                  </p:childTnLst>
                                </p:cTn>
                              </p:par>
                            </p:childTnLst>
                          </p:cTn>
                        </p:par>
                        <p:par>
                          <p:cTn id="13" fill="hold">
                            <p:stCondLst>
                              <p:cond delay="500"/>
                            </p:stCondLst>
                            <p:childTnLst>
                              <p:par>
                                <p:cTn id="14" presetID="1" presetClass="entr" presetSubtype="0" fill="hold" nodeType="afterEffect">
                                  <p:stCondLst>
                                    <p:cond delay="0"/>
                                  </p:stCondLst>
                                  <p:childTnLst>
                                    <p:set>
                                      <p:cBhvr>
                                        <p:cTn id="15" dur="1" fill="hold">
                                          <p:stCondLst>
                                            <p:cond delay="499"/>
                                          </p:stCondLst>
                                        </p:cTn>
                                        <p:tgtEl>
                                          <p:spTgt spid="132100"/>
                                        </p:tgtEl>
                                        <p:attrNameLst>
                                          <p:attrName>style.visibility</p:attrName>
                                        </p:attrNameLst>
                                      </p:cBhvr>
                                      <p:to>
                                        <p:strVal val="visible"/>
                                      </p:to>
                                    </p:set>
                                  </p:childTnLst>
                                </p:cTn>
                              </p:par>
                            </p:childTnLst>
                          </p:cTn>
                        </p:par>
                        <p:par>
                          <p:cTn id="16" fill="hold">
                            <p:stCondLst>
                              <p:cond delay="1000"/>
                            </p:stCondLst>
                            <p:childTnLst>
                              <p:par>
                                <p:cTn id="17" presetID="9" presetClass="entr" presetSubtype="0" fill="hold" grpId="0" nodeType="afterEffect">
                                  <p:stCondLst>
                                    <p:cond delay="0"/>
                                  </p:stCondLst>
                                  <p:childTnLst>
                                    <p:set>
                                      <p:cBhvr>
                                        <p:cTn id="18" dur="1" fill="hold">
                                          <p:stCondLst>
                                            <p:cond delay="0"/>
                                          </p:stCondLst>
                                        </p:cTn>
                                        <p:tgtEl>
                                          <p:spTgt spid="132105"/>
                                        </p:tgtEl>
                                        <p:attrNameLst>
                                          <p:attrName>style.visibility</p:attrName>
                                        </p:attrNameLst>
                                      </p:cBhvr>
                                      <p:to>
                                        <p:strVal val="visible"/>
                                      </p:to>
                                    </p:set>
                                    <p:animEffect transition="in" filter="dissolve">
                                      <p:cBhvr>
                                        <p:cTn id="19" dur="500"/>
                                        <p:tgtEl>
                                          <p:spTgt spid="132105"/>
                                        </p:tgtEl>
                                      </p:cBhvr>
                                    </p:animEffect>
                                  </p:childTnLst>
                                </p:cTn>
                              </p:par>
                            </p:childTnLst>
                          </p:cTn>
                        </p:par>
                        <p:par>
                          <p:cTn id="20" fill="hold">
                            <p:stCondLst>
                              <p:cond delay="1500"/>
                            </p:stCondLst>
                            <p:childTnLst>
                              <p:par>
                                <p:cTn id="21" presetID="1" presetClass="entr" presetSubtype="0" fill="hold" nodeType="afterEffect">
                                  <p:stCondLst>
                                    <p:cond delay="0"/>
                                  </p:stCondLst>
                                  <p:childTnLst>
                                    <p:set>
                                      <p:cBhvr>
                                        <p:cTn id="22" dur="1" fill="hold">
                                          <p:stCondLst>
                                            <p:cond delay="499"/>
                                          </p:stCondLst>
                                        </p:cTn>
                                        <p:tgtEl>
                                          <p:spTgt spid="132101"/>
                                        </p:tgtEl>
                                        <p:attrNameLst>
                                          <p:attrName>style.visibility</p:attrName>
                                        </p:attrNameLst>
                                      </p:cBhvr>
                                      <p:to>
                                        <p:strVal val="visible"/>
                                      </p:to>
                                    </p:set>
                                  </p:childTnLst>
                                </p:cTn>
                              </p:par>
                            </p:childTnLst>
                          </p:cTn>
                        </p:par>
                        <p:par>
                          <p:cTn id="23" fill="hold">
                            <p:stCondLst>
                              <p:cond delay="2000"/>
                            </p:stCondLst>
                            <p:childTnLst>
                              <p:par>
                                <p:cTn id="24" presetID="14" presetClass="entr" presetSubtype="5" fill="hold" grpId="0" nodeType="afterEffect">
                                  <p:stCondLst>
                                    <p:cond delay="0"/>
                                  </p:stCondLst>
                                  <p:childTnLst>
                                    <p:set>
                                      <p:cBhvr>
                                        <p:cTn id="25" dur="1" fill="hold">
                                          <p:stCondLst>
                                            <p:cond delay="0"/>
                                          </p:stCondLst>
                                        </p:cTn>
                                        <p:tgtEl>
                                          <p:spTgt spid="132099"/>
                                        </p:tgtEl>
                                        <p:attrNameLst>
                                          <p:attrName>style.visibility</p:attrName>
                                        </p:attrNameLst>
                                      </p:cBhvr>
                                      <p:to>
                                        <p:strVal val="visible"/>
                                      </p:to>
                                    </p:set>
                                    <p:animEffect transition="in" filter="randombar(vertical)">
                                      <p:cBhvr>
                                        <p:cTn id="26" dur="500"/>
                                        <p:tgtEl>
                                          <p:spTgt spid="132099"/>
                                        </p:tgtEl>
                                      </p:cBhvr>
                                    </p:animEffect>
                                  </p:childTnLst>
                                </p:cTn>
                              </p:par>
                            </p:childTnLst>
                          </p:cTn>
                        </p:par>
                        <p:par>
                          <p:cTn id="27" fill="hold">
                            <p:stCondLst>
                              <p:cond delay="2500"/>
                            </p:stCondLst>
                            <p:childTnLst>
                              <p:par>
                                <p:cTn id="28" presetID="1" presetClass="entr" presetSubtype="0" fill="hold" nodeType="afterEffect">
                                  <p:stCondLst>
                                    <p:cond delay="0"/>
                                  </p:stCondLst>
                                  <p:childTnLst>
                                    <p:set>
                                      <p:cBhvr>
                                        <p:cTn id="29" dur="1" fill="hold">
                                          <p:stCondLst>
                                            <p:cond delay="499"/>
                                          </p:stCondLst>
                                        </p:cTn>
                                        <p:tgtEl>
                                          <p:spTgt spid="132102"/>
                                        </p:tgtEl>
                                        <p:attrNameLst>
                                          <p:attrName>style.visibility</p:attrName>
                                        </p:attrNameLst>
                                      </p:cBhvr>
                                      <p:to>
                                        <p:strVal val="visible"/>
                                      </p:to>
                                    </p:set>
                                  </p:childTnLst>
                                </p:cTn>
                              </p:par>
                            </p:childTnLst>
                          </p:cTn>
                        </p:par>
                        <p:par>
                          <p:cTn id="30" fill="hold">
                            <p:stCondLst>
                              <p:cond delay="3000"/>
                            </p:stCondLst>
                            <p:childTnLst>
                              <p:par>
                                <p:cTn id="31" presetID="9" presetClass="entr" presetSubtype="0" fill="hold" grpId="0" nodeType="afterEffect">
                                  <p:stCondLst>
                                    <p:cond delay="0"/>
                                  </p:stCondLst>
                                  <p:childTnLst>
                                    <p:set>
                                      <p:cBhvr>
                                        <p:cTn id="32" dur="1" fill="hold">
                                          <p:stCondLst>
                                            <p:cond delay="0"/>
                                          </p:stCondLst>
                                        </p:cTn>
                                        <p:tgtEl>
                                          <p:spTgt spid="132106"/>
                                        </p:tgtEl>
                                        <p:attrNameLst>
                                          <p:attrName>style.visibility</p:attrName>
                                        </p:attrNameLst>
                                      </p:cBhvr>
                                      <p:to>
                                        <p:strVal val="visible"/>
                                      </p:to>
                                    </p:set>
                                    <p:animEffect transition="in" filter="dissolve">
                                      <p:cBhvr>
                                        <p:cTn id="33" dur="500"/>
                                        <p:tgtEl>
                                          <p:spTgt spid="132106"/>
                                        </p:tgtEl>
                                      </p:cBhvr>
                                    </p:animEffect>
                                  </p:childTnLst>
                                </p:cTn>
                              </p:par>
                            </p:childTnLst>
                          </p:cTn>
                        </p:par>
                        <p:par>
                          <p:cTn id="34" fill="hold">
                            <p:stCondLst>
                              <p:cond delay="3500"/>
                            </p:stCondLst>
                            <p:childTnLst>
                              <p:par>
                                <p:cTn id="35" presetID="1" presetClass="entr" presetSubtype="0" fill="hold" nodeType="afterEffect">
                                  <p:stCondLst>
                                    <p:cond delay="0"/>
                                  </p:stCondLst>
                                  <p:childTnLst>
                                    <p:set>
                                      <p:cBhvr>
                                        <p:cTn id="36" dur="1" fill="hold">
                                          <p:stCondLst>
                                            <p:cond delay="499"/>
                                          </p:stCondLst>
                                        </p:cTn>
                                        <p:tgtEl>
                                          <p:spTgt spid="1321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098" grpId="0" bldLvl="0" animBg="1" autoUpdateAnimBg="0"/>
      <p:bldP spid="132099" grpId="0" bldLvl="0"/>
      <p:bldP spid="132104" grpId="0" bldLvl="0" animBg="1" autoUpdateAnimBg="0"/>
      <p:bldP spid="132105" grpId="0" bldLvl="0" animBg="1" autoUpdateAnimBg="0"/>
      <p:bldP spid="132106" grpId="0" bldLvl="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2"/>
          <p:cNvSpPr txBox="1">
            <a:spLocks noChangeArrowheads="1"/>
          </p:cNvSpPr>
          <p:nvPr/>
        </p:nvSpPr>
        <p:spPr bwMode="auto">
          <a:xfrm>
            <a:off x="762000" y="685800"/>
            <a:ext cx="5919470"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3600" b="1">
                <a:latin typeface="Arial" panose="020B0604020202020204" pitchFamily="34" charset="0"/>
                <a:ea typeface="楷体_GB2312" pitchFamily="49" charset="-122"/>
                <a:cs typeface="Arial" panose="020B0604020202020204" pitchFamily="34" charset="0"/>
              </a:rPr>
              <a:t>1. Direct Insertion Sort</a:t>
            </a:r>
          </a:p>
        </p:txBody>
      </p:sp>
      <p:sp>
        <p:nvSpPr>
          <p:cNvPr id="23555" name="Text Box 3"/>
          <p:cNvSpPr txBox="1">
            <a:spLocks noChangeArrowheads="1"/>
          </p:cNvSpPr>
          <p:nvPr/>
        </p:nvSpPr>
        <p:spPr bwMode="auto">
          <a:xfrm>
            <a:off x="638175" y="1674813"/>
            <a:ext cx="7362825" cy="138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zh-CN" altLang="en-US">
                <a:latin typeface="Arial" panose="020B0604020202020204" pitchFamily="34" charset="0"/>
                <a:ea typeface="楷体_GB2312" pitchFamily="49" charset="-122"/>
                <a:cs typeface="Arial" panose="020B0604020202020204" pitchFamily="34" charset="0"/>
              </a:rPr>
              <a:t>Implementation using </a:t>
            </a:r>
            <a:r>
              <a:rPr lang="zh-CN" altLang="en-US" b="1">
                <a:solidFill>
                  <a:srgbClr val="9900CC"/>
                </a:solidFill>
                <a:latin typeface="Arial" panose="020B0604020202020204" pitchFamily="34" charset="0"/>
                <a:ea typeface="楷体_GB2312" pitchFamily="49" charset="-122"/>
                <a:cs typeface="Arial" panose="020B0604020202020204" pitchFamily="34" charset="0"/>
              </a:rPr>
              <a:t>"sequential search"</a:t>
            </a:r>
            <a:endParaRPr lang="zh-CN" altLang="en-US">
              <a:latin typeface="Arial" panose="020B0604020202020204" pitchFamily="34" charset="0"/>
              <a:ea typeface="楷体_GB2312" pitchFamily="49" charset="-122"/>
              <a:cs typeface="Arial" panose="020B0604020202020204" pitchFamily="34" charset="0"/>
            </a:endParaRPr>
          </a:p>
          <a:p>
            <a:pPr>
              <a:lnSpc>
                <a:spcPct val="150000"/>
              </a:lnSpc>
            </a:pPr>
            <a:r>
              <a:rPr lang="en-US" altLang="zh-CN" b="1">
                <a:solidFill>
                  <a:srgbClr val="0000FF"/>
                </a:solidFill>
                <a:latin typeface="Arial" panose="020B0604020202020204" pitchFamily="34" charset="0"/>
                <a:ea typeface="楷体_GB2312" pitchFamily="49" charset="-122"/>
                <a:cs typeface="Arial" panose="020B0604020202020204" pitchFamily="34" charset="0"/>
              </a:rPr>
              <a:t>“</a:t>
            </a:r>
            <a:r>
              <a:rPr lang="zh-CN" altLang="en-US" b="1">
                <a:solidFill>
                  <a:srgbClr val="0000FF"/>
                </a:solidFill>
                <a:latin typeface="Arial" panose="020B0604020202020204" pitchFamily="34" charset="0"/>
                <a:ea typeface="楷体_GB2312" pitchFamily="49" charset="-122"/>
                <a:cs typeface="Arial" panose="020B0604020202020204" pitchFamily="34" charset="0"/>
              </a:rPr>
              <a:t>Find </a:t>
            </a:r>
            <a:r>
              <a:rPr lang="zh-CN" altLang="en-US">
                <a:latin typeface="Arial" panose="020B0604020202020204" pitchFamily="34" charset="0"/>
                <a:ea typeface="楷体_GB2312" pitchFamily="49" charset="-122"/>
                <a:cs typeface="Arial" panose="020B0604020202020204" pitchFamily="34" charset="0"/>
              </a:rPr>
              <a:t>the insertion position of R[i] in R[1..i-1]"</a:t>
            </a:r>
          </a:p>
        </p:txBody>
      </p:sp>
      <p:sp>
        <p:nvSpPr>
          <p:cNvPr id="23556" name="Text Box 4"/>
          <p:cNvSpPr txBox="1">
            <a:spLocks noChangeArrowheads="1"/>
          </p:cNvSpPr>
          <p:nvPr/>
        </p:nvSpPr>
        <p:spPr bwMode="auto">
          <a:xfrm>
            <a:off x="825500" y="4205605"/>
            <a:ext cx="738568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b="1">
                <a:solidFill>
                  <a:srgbClr val="840C26"/>
                </a:solidFill>
                <a:latin typeface="Arial" panose="020B0604020202020204" pitchFamily="34" charset="0"/>
                <a:ea typeface="楷体_GB2312" pitchFamily="49" charset="-122"/>
                <a:cs typeface="Arial" panose="020B0604020202020204" pitchFamily="34" charset="0"/>
              </a:rPr>
              <a:t>Key points for algorithm implementation:</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23</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3554"/>
                                        </p:tgtEl>
                                        <p:attrNameLst>
                                          <p:attrName>style.visibility</p:attrName>
                                        </p:attrNameLst>
                                      </p:cBhvr>
                                      <p:to>
                                        <p:strVal val="visible"/>
                                      </p:to>
                                    </p:set>
                                    <p:anim calcmode="lin" valueType="num">
                                      <p:cBhvr additive="base">
                                        <p:cTn id="7" dur="500" fill="hold"/>
                                        <p:tgtEl>
                                          <p:spTgt spid="23554"/>
                                        </p:tgtEl>
                                        <p:attrNameLst>
                                          <p:attrName>ppt_x</p:attrName>
                                        </p:attrNameLst>
                                      </p:cBhvr>
                                      <p:tavLst>
                                        <p:tav tm="0">
                                          <p:val>
                                            <p:strVal val="#ppt_x"/>
                                          </p:val>
                                        </p:tav>
                                        <p:tav tm="100000">
                                          <p:val>
                                            <p:strVal val="#ppt_x"/>
                                          </p:val>
                                        </p:tav>
                                      </p:tavLst>
                                    </p:anim>
                                    <p:anim calcmode="lin" valueType="num">
                                      <p:cBhvr additive="base">
                                        <p:cTn id="8" dur="500" fill="hold"/>
                                        <p:tgtEl>
                                          <p:spTgt spid="23554"/>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3555"/>
                                        </p:tgtEl>
                                        <p:attrNameLst>
                                          <p:attrName>style.visibility</p:attrName>
                                        </p:attrNameLst>
                                      </p:cBhvr>
                                      <p:to>
                                        <p:strVal val="visible"/>
                                      </p:to>
                                    </p:set>
                                    <p:animEffect transition="in" filter="wipe(left)">
                                      <p:cBhvr>
                                        <p:cTn id="13" dur="500"/>
                                        <p:tgtEl>
                                          <p:spTgt spid="2355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3556"/>
                                        </p:tgtEl>
                                        <p:attrNameLst>
                                          <p:attrName>style.visibility</p:attrName>
                                        </p:attrNameLst>
                                      </p:cBhvr>
                                      <p:to>
                                        <p:strVal val="visible"/>
                                      </p:to>
                                    </p:set>
                                    <p:animEffect transition="in" filter="wipe(left)">
                                      <p:cBhvr>
                                        <p:cTn id="18" dur="500"/>
                                        <p:tgtEl>
                                          <p:spTgt spid="235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bldLvl="0" animBg="1" autoUpdateAnimBg="0"/>
      <p:bldP spid="23555" grpId="0" bldLvl="0" animBg="1" autoUpdateAnimBg="0"/>
      <p:bldP spid="23556" grpId="0" bldLvl="0" animBg="1"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p:cNvSpPr txBox="1">
            <a:spLocks noChangeArrowheads="1"/>
          </p:cNvSpPr>
          <p:nvPr/>
        </p:nvSpPr>
        <p:spPr bwMode="auto">
          <a:xfrm>
            <a:off x="1127125" y="161290"/>
            <a:ext cx="6792913" cy="1706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zh-CN" altLang="en-US" dirty="0">
                <a:solidFill>
                  <a:srgbClr val="0000FF"/>
                </a:solidFill>
                <a:latin typeface="Arial" panose="020B0604020202020204" pitchFamily="34" charset="0"/>
                <a:ea typeface="楷体_GB2312" pitchFamily="49" charset="-122"/>
                <a:cs typeface="Arial" panose="020B0604020202020204" pitchFamily="34" charset="0"/>
              </a:rPr>
              <a:t>The sequential search is carried out from R[i-1] to R[0], </a:t>
            </a:r>
          </a:p>
          <a:p>
            <a:pPr>
              <a:lnSpc>
                <a:spcPct val="125000"/>
              </a:lnSpc>
            </a:pPr>
            <a:r>
              <a:rPr lang="zh-CN" altLang="en-US" b="1" dirty="0">
                <a:solidFill>
                  <a:srgbClr val="FF0000"/>
                </a:solidFill>
                <a:latin typeface="Arial" panose="020B0604020202020204" pitchFamily="34" charset="0"/>
                <a:ea typeface="楷体_GB2312" pitchFamily="49" charset="-122"/>
                <a:cs typeface="Arial" panose="020B0604020202020204" pitchFamily="34" charset="0"/>
              </a:rPr>
              <a:t>and the sentinel is set at R[0].</a:t>
            </a:r>
          </a:p>
        </p:txBody>
      </p:sp>
      <p:pic>
        <p:nvPicPr>
          <p:cNvPr id="24579" name="Picture 3" descr="Green Ball">
            <a:hlinkClick r:id="rId2" action="ppaction://hlinksldjump" highlightClick="1"/>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322580"/>
            <a:ext cx="304800" cy="304800"/>
          </a:xfrm>
          <a:prstGeom prst="rect">
            <a:avLst/>
          </a:prstGeom>
          <a:noFill/>
          <a:extLst>
            <a:ext uri="{909E8E84-426E-40DD-AFC4-6F175D3DCCD1}">
              <a14:hiddenFill xmlns:a14="http://schemas.microsoft.com/office/drawing/2010/main">
                <a:solidFill>
                  <a:srgbClr val="FFFFFF"/>
                </a:solidFill>
              </a14:hiddenFill>
            </a:ext>
          </a:extLst>
        </p:spPr>
      </p:pic>
      <p:sp>
        <p:nvSpPr>
          <p:cNvPr id="24580" name="Text Box 4"/>
          <p:cNvSpPr txBox="1">
            <a:spLocks noChangeArrowheads="1"/>
          </p:cNvSpPr>
          <p:nvPr/>
        </p:nvSpPr>
        <p:spPr bwMode="auto">
          <a:xfrm>
            <a:off x="1127125" y="3716655"/>
            <a:ext cx="7159625" cy="694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40000"/>
              </a:lnSpc>
            </a:pPr>
            <a:r>
              <a:rPr lang="en-US" altLang="zh-CN" dirty="0">
                <a:latin typeface="Arial" panose="020B0604020202020204" pitchFamily="34" charset="0"/>
                <a:ea typeface="楷体_GB2312" pitchFamily="49" charset="-122"/>
                <a:cs typeface="Arial" panose="020B0604020202020204" pitchFamily="34" charset="0"/>
              </a:rPr>
              <a:t>R[0] = R[i]; </a:t>
            </a:r>
            <a:r>
              <a:rPr lang="zh-CN" altLang="en-US" b="1" dirty="0">
                <a:solidFill>
                  <a:srgbClr val="005042"/>
                </a:solidFill>
                <a:latin typeface="Arial" panose="020B0604020202020204" pitchFamily="34" charset="0"/>
                <a:ea typeface="楷体_GB2312" pitchFamily="49" charset="-122"/>
                <a:cs typeface="Arial" panose="020B0604020202020204" pitchFamily="34" charset="0"/>
              </a:rPr>
              <a:t>// Set the sentinel</a:t>
            </a:r>
          </a:p>
        </p:txBody>
      </p:sp>
      <p:sp>
        <p:nvSpPr>
          <p:cNvPr id="24581" name="Text Box 5"/>
          <p:cNvSpPr txBox="1">
            <a:spLocks noChangeArrowheads="1"/>
          </p:cNvSpPr>
          <p:nvPr/>
        </p:nvSpPr>
        <p:spPr bwMode="auto">
          <a:xfrm>
            <a:off x="1115378" y="5266055"/>
            <a:ext cx="5912485" cy="1038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10000"/>
              </a:lnSpc>
            </a:pPr>
            <a:r>
              <a:rPr lang="zh-CN" altLang="en-US">
                <a:latin typeface="Arial" panose="020B0604020202020204" pitchFamily="34" charset="0"/>
                <a:ea typeface="楷体_GB2312" pitchFamily="49" charset="-122"/>
                <a:cs typeface="Arial" panose="020B0604020202020204" pitchFamily="34" charset="0"/>
              </a:rPr>
              <a:t>The loop ends, indicating that R[i] is </a:t>
            </a:r>
          </a:p>
          <a:p>
            <a:pPr>
              <a:lnSpc>
                <a:spcPct val="110000"/>
              </a:lnSpc>
            </a:pPr>
            <a:r>
              <a:rPr lang="zh-CN" altLang="en-US">
                <a:latin typeface="Arial" panose="020B0604020202020204" pitchFamily="34" charset="0"/>
                <a:ea typeface="楷体_GB2312" pitchFamily="49" charset="-122"/>
                <a:cs typeface="Arial" panose="020B0604020202020204" pitchFamily="34" charset="0"/>
              </a:rPr>
              <a:t>inserted at position j + 1.</a:t>
            </a:r>
            <a:endParaRPr lang="en-US" altLang="zh-CN" sz="2000">
              <a:latin typeface="Arial" panose="020B0604020202020204" pitchFamily="34" charset="0"/>
              <a:cs typeface="Arial" panose="020B0604020202020204" pitchFamily="34" charset="0"/>
            </a:endParaRPr>
          </a:p>
        </p:txBody>
      </p:sp>
      <p:sp>
        <p:nvSpPr>
          <p:cNvPr id="24582" name="Rectangle 6" descr="大棋盘"/>
          <p:cNvSpPr>
            <a:spLocks noChangeArrowheads="1"/>
          </p:cNvSpPr>
          <p:nvPr/>
        </p:nvSpPr>
        <p:spPr bwMode="auto">
          <a:xfrm>
            <a:off x="1828800" y="2362200"/>
            <a:ext cx="3124200" cy="304800"/>
          </a:xfrm>
          <a:prstGeom prst="rect">
            <a:avLst/>
          </a:prstGeom>
          <a:pattFill prst="lgCheck">
            <a:fgClr>
              <a:srgbClr val="CCFFFF"/>
            </a:fgClr>
            <a:bgClr>
              <a:srgbClr val="FFFFFF"/>
            </a:bgClr>
          </a:patt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400"/>
          </a:p>
        </p:txBody>
      </p:sp>
      <p:sp>
        <p:nvSpPr>
          <p:cNvPr id="24583" name="Rectangle 7"/>
          <p:cNvSpPr>
            <a:spLocks noChangeArrowheads="1"/>
          </p:cNvSpPr>
          <p:nvPr/>
        </p:nvSpPr>
        <p:spPr bwMode="auto">
          <a:xfrm>
            <a:off x="1524000" y="2362200"/>
            <a:ext cx="304800" cy="304800"/>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400"/>
          </a:p>
        </p:txBody>
      </p:sp>
      <p:sp>
        <p:nvSpPr>
          <p:cNvPr id="24584" name="Text Box 8"/>
          <p:cNvSpPr txBox="1">
            <a:spLocks noChangeArrowheads="1"/>
          </p:cNvSpPr>
          <p:nvPr/>
        </p:nvSpPr>
        <p:spPr bwMode="auto">
          <a:xfrm>
            <a:off x="1295400" y="1752600"/>
            <a:ext cx="8382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t>R[0]</a:t>
            </a:r>
          </a:p>
        </p:txBody>
      </p:sp>
      <p:sp>
        <p:nvSpPr>
          <p:cNvPr id="24585" name="Line 9"/>
          <p:cNvSpPr>
            <a:spLocks noChangeShapeType="1"/>
          </p:cNvSpPr>
          <p:nvPr/>
        </p:nvSpPr>
        <p:spPr bwMode="auto">
          <a:xfrm>
            <a:off x="4800600" y="2667000"/>
            <a:ext cx="0" cy="762000"/>
          </a:xfrm>
          <a:prstGeom prst="line">
            <a:avLst/>
          </a:prstGeom>
          <a:noFill/>
          <a:ln w="9525">
            <a:solidFill>
              <a:schemeClr val="tx1"/>
            </a:solidFill>
            <a:round/>
            <a:head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6" name="Line 10"/>
          <p:cNvSpPr>
            <a:spLocks noChangeShapeType="1"/>
          </p:cNvSpPr>
          <p:nvPr/>
        </p:nvSpPr>
        <p:spPr bwMode="auto">
          <a:xfrm>
            <a:off x="3505200" y="2667000"/>
            <a:ext cx="0" cy="762000"/>
          </a:xfrm>
          <a:prstGeom prst="line">
            <a:avLst/>
          </a:prstGeom>
          <a:noFill/>
          <a:ln w="9525">
            <a:solidFill>
              <a:schemeClr val="tx1"/>
            </a:solidFill>
            <a:round/>
            <a:head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7" name="Text Box 11"/>
          <p:cNvSpPr txBox="1">
            <a:spLocks noChangeArrowheads="1"/>
          </p:cNvSpPr>
          <p:nvPr/>
        </p:nvSpPr>
        <p:spPr bwMode="auto">
          <a:xfrm>
            <a:off x="3527425" y="2819400"/>
            <a:ext cx="587375"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200"/>
              <a:t>j</a:t>
            </a:r>
          </a:p>
        </p:txBody>
      </p:sp>
      <p:sp>
        <p:nvSpPr>
          <p:cNvPr id="24588" name="Rectangle 12" descr="60%"/>
          <p:cNvSpPr>
            <a:spLocks noChangeArrowheads="1"/>
          </p:cNvSpPr>
          <p:nvPr/>
        </p:nvSpPr>
        <p:spPr bwMode="auto">
          <a:xfrm>
            <a:off x="3657600" y="2362200"/>
            <a:ext cx="1295400" cy="304800"/>
          </a:xfrm>
          <a:prstGeom prst="rect">
            <a:avLst/>
          </a:prstGeom>
          <a:pattFill prst="pct60">
            <a:fgClr>
              <a:srgbClr val="FF99FF"/>
            </a:fgClr>
            <a:bgClr>
              <a:srgbClr val="FFFFFF"/>
            </a:bgClr>
          </a:patt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400"/>
          </a:p>
        </p:txBody>
      </p:sp>
      <p:sp>
        <p:nvSpPr>
          <p:cNvPr id="24589" name="Rectangle 13"/>
          <p:cNvSpPr>
            <a:spLocks noChangeArrowheads="1"/>
          </p:cNvSpPr>
          <p:nvPr/>
        </p:nvSpPr>
        <p:spPr bwMode="auto">
          <a:xfrm>
            <a:off x="4953000" y="2362200"/>
            <a:ext cx="3429000" cy="304800"/>
          </a:xfrm>
          <a:prstGeom prst="rect">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400"/>
          </a:p>
        </p:txBody>
      </p:sp>
      <p:sp>
        <p:nvSpPr>
          <p:cNvPr id="24590" name="Rectangle 14"/>
          <p:cNvSpPr>
            <a:spLocks noChangeArrowheads="1"/>
          </p:cNvSpPr>
          <p:nvPr/>
        </p:nvSpPr>
        <p:spPr bwMode="auto">
          <a:xfrm>
            <a:off x="4953000" y="2362200"/>
            <a:ext cx="304800" cy="304800"/>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400"/>
          </a:p>
        </p:txBody>
      </p:sp>
      <p:sp>
        <p:nvSpPr>
          <p:cNvPr id="24591" name="Rectangle 15"/>
          <p:cNvSpPr>
            <a:spLocks noChangeArrowheads="1"/>
          </p:cNvSpPr>
          <p:nvPr/>
        </p:nvSpPr>
        <p:spPr bwMode="auto">
          <a:xfrm>
            <a:off x="4724400" y="1828800"/>
            <a:ext cx="67373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a:t>R[i]</a:t>
            </a:r>
          </a:p>
        </p:txBody>
      </p:sp>
      <p:sp>
        <p:nvSpPr>
          <p:cNvPr id="24592" name="Rectangle 16"/>
          <p:cNvSpPr>
            <a:spLocks noChangeArrowheads="1"/>
          </p:cNvSpPr>
          <p:nvPr/>
        </p:nvSpPr>
        <p:spPr bwMode="auto">
          <a:xfrm>
            <a:off x="1117600" y="4343400"/>
            <a:ext cx="7126288" cy="1038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en-US" altLang="zh-CN" b="1" dirty="0">
                <a:latin typeface="Arial" panose="020B0604020202020204" pitchFamily="34" charset="0"/>
                <a:ea typeface="楷体_GB2312" pitchFamily="49" charset="-122"/>
                <a:cs typeface="Arial" panose="020B0604020202020204" pitchFamily="34" charset="0"/>
              </a:rPr>
              <a:t>for (j=i-1; R[0].key&lt;R[j].key; --j);</a:t>
            </a:r>
            <a:endParaRPr lang="en-US" altLang="zh-CN" dirty="0">
              <a:latin typeface="Arial" panose="020B0604020202020204" pitchFamily="34" charset="0"/>
              <a:ea typeface="楷体_GB2312" pitchFamily="49" charset="-122"/>
              <a:cs typeface="Arial" panose="020B0604020202020204" pitchFamily="34" charset="0"/>
            </a:endParaRPr>
          </a:p>
          <a:p>
            <a:pPr>
              <a:lnSpc>
                <a:spcPct val="110000"/>
              </a:lnSpc>
            </a:pPr>
            <a:r>
              <a:rPr lang="en-US" altLang="zh-CN" b="1" dirty="0">
                <a:solidFill>
                  <a:srgbClr val="005042"/>
                </a:solidFill>
                <a:latin typeface="Arial" panose="020B0604020202020204" pitchFamily="34" charset="0"/>
                <a:ea typeface="楷体_GB2312" pitchFamily="49" charset="-122"/>
                <a:cs typeface="Arial" panose="020B0604020202020204" pitchFamily="34" charset="0"/>
              </a:rPr>
              <a:t>// Search from back to front</a:t>
            </a:r>
            <a:endParaRPr lang="zh-CN" altLang="en-US" b="1" dirty="0">
              <a:solidFill>
                <a:srgbClr val="005042"/>
              </a:solidFill>
              <a:latin typeface="Arial" panose="020B0604020202020204" pitchFamily="34" charset="0"/>
              <a:ea typeface="楷体_GB2312" pitchFamily="49" charset="-122"/>
              <a:cs typeface="Arial" panose="020B0604020202020204" pitchFamily="34" charset="0"/>
            </a:endParaRPr>
          </a:p>
        </p:txBody>
      </p:sp>
      <p:sp>
        <p:nvSpPr>
          <p:cNvPr id="24593" name="Text Box 17"/>
          <p:cNvSpPr txBox="1">
            <a:spLocks noChangeArrowheads="1"/>
          </p:cNvSpPr>
          <p:nvPr/>
        </p:nvSpPr>
        <p:spPr bwMode="auto">
          <a:xfrm>
            <a:off x="4876800" y="2971800"/>
            <a:ext cx="96837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t>j=i-1</a:t>
            </a:r>
          </a:p>
        </p:txBody>
      </p:sp>
      <p:sp>
        <p:nvSpPr>
          <p:cNvPr id="24594" name="AutoShape 18"/>
          <p:cNvSpPr>
            <a:spLocks noChangeArrowheads="1"/>
          </p:cNvSpPr>
          <p:nvPr/>
        </p:nvSpPr>
        <p:spPr bwMode="auto">
          <a:xfrm>
            <a:off x="3657600" y="3429000"/>
            <a:ext cx="1600200" cy="457200"/>
          </a:xfrm>
          <a:prstGeom prst="wedgeRoundRectCallout">
            <a:avLst>
              <a:gd name="adj1" fmla="val -42560"/>
              <a:gd name="adj2" fmla="val -213194"/>
              <a:gd name="adj3" fmla="val 16667"/>
            </a:avLst>
          </a:prstGeom>
          <a:solidFill>
            <a:srgbClr val="FFFF99">
              <a:alpha val="50000"/>
            </a:srgbClr>
          </a:solidFill>
          <a:ln w="12700">
            <a:solidFill>
              <a:srgbClr val="8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b="1">
                <a:solidFill>
                  <a:srgbClr val="990000"/>
                </a:solidFill>
                <a:ea typeface="楷体_GB2312" pitchFamily="49" charset="-122"/>
              </a:rPr>
              <a:t>on position</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24</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24579"/>
                                        </p:tgtEl>
                                        <p:attrNameLst>
                                          <p:attrName>style.visibility</p:attrName>
                                        </p:attrNameLst>
                                      </p:cBhvr>
                                      <p:to>
                                        <p:strVal val="visible"/>
                                      </p:to>
                                    </p:set>
                                  </p:childTnLst>
                                </p:cTn>
                              </p:par>
                            </p:childTnLst>
                          </p:cTn>
                        </p:par>
                        <p:par>
                          <p:cTn id="7" fill="hold">
                            <p:stCondLst>
                              <p:cond delay="500"/>
                            </p:stCondLst>
                            <p:childTnLst>
                              <p:par>
                                <p:cTn id="8" presetID="18" presetClass="entr" presetSubtype="6" fill="hold" grpId="0" nodeType="afterEffect">
                                  <p:stCondLst>
                                    <p:cond delay="0"/>
                                  </p:stCondLst>
                                  <p:childTnLst>
                                    <p:set>
                                      <p:cBhvr>
                                        <p:cTn id="9" dur="1" fill="hold">
                                          <p:stCondLst>
                                            <p:cond delay="0"/>
                                          </p:stCondLst>
                                        </p:cTn>
                                        <p:tgtEl>
                                          <p:spTgt spid="24578"/>
                                        </p:tgtEl>
                                        <p:attrNameLst>
                                          <p:attrName>style.visibility</p:attrName>
                                        </p:attrNameLst>
                                      </p:cBhvr>
                                      <p:to>
                                        <p:strVal val="visible"/>
                                      </p:to>
                                    </p:set>
                                    <p:animEffect transition="in" filter="strips(downRight)">
                                      <p:cBhvr>
                                        <p:cTn id="10" dur="500"/>
                                        <p:tgtEl>
                                          <p:spTgt spid="2457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4582"/>
                                        </p:tgtEl>
                                        <p:attrNameLst>
                                          <p:attrName>style.visibility</p:attrName>
                                        </p:attrNameLst>
                                      </p:cBhvr>
                                      <p:to>
                                        <p:strVal val="visible"/>
                                      </p:to>
                                    </p:set>
                                    <p:animEffect transition="in" filter="wipe(left)">
                                      <p:cBhvr>
                                        <p:cTn id="15" dur="500"/>
                                        <p:tgtEl>
                                          <p:spTgt spid="24582"/>
                                        </p:tgtEl>
                                      </p:cBhvr>
                                    </p:animEffect>
                                  </p:childTnLst>
                                </p:cTn>
                              </p:par>
                            </p:childTnLst>
                          </p:cTn>
                        </p:par>
                        <p:par>
                          <p:cTn id="16" fill="hold">
                            <p:stCondLst>
                              <p:cond delay="500"/>
                            </p:stCondLst>
                            <p:childTnLst>
                              <p:par>
                                <p:cTn id="17" presetID="22" presetClass="entr" presetSubtype="8" fill="hold" grpId="0" nodeType="afterEffect">
                                  <p:stCondLst>
                                    <p:cond delay="0"/>
                                  </p:stCondLst>
                                  <p:childTnLst>
                                    <p:set>
                                      <p:cBhvr>
                                        <p:cTn id="18" dur="1" fill="hold">
                                          <p:stCondLst>
                                            <p:cond delay="0"/>
                                          </p:stCondLst>
                                        </p:cTn>
                                        <p:tgtEl>
                                          <p:spTgt spid="24589"/>
                                        </p:tgtEl>
                                        <p:attrNameLst>
                                          <p:attrName>style.visibility</p:attrName>
                                        </p:attrNameLst>
                                      </p:cBhvr>
                                      <p:to>
                                        <p:strVal val="visible"/>
                                      </p:to>
                                    </p:set>
                                    <p:animEffect transition="in" filter="wipe(left)">
                                      <p:cBhvr>
                                        <p:cTn id="19" dur="500"/>
                                        <p:tgtEl>
                                          <p:spTgt spid="24589"/>
                                        </p:tgtEl>
                                      </p:cBhvr>
                                    </p:animEffect>
                                  </p:childTnLst>
                                </p:cTn>
                              </p:par>
                            </p:childTnLst>
                          </p:cTn>
                        </p:par>
                        <p:par>
                          <p:cTn id="20" fill="hold">
                            <p:stCondLst>
                              <p:cond delay="1000"/>
                            </p:stCondLst>
                            <p:childTnLst>
                              <p:par>
                                <p:cTn id="21" presetID="12" presetClass="entr" presetSubtype="1" fill="hold" grpId="0" nodeType="afterEffect">
                                  <p:stCondLst>
                                    <p:cond delay="0"/>
                                  </p:stCondLst>
                                  <p:childTnLst>
                                    <p:set>
                                      <p:cBhvr>
                                        <p:cTn id="22" dur="1" fill="hold">
                                          <p:stCondLst>
                                            <p:cond delay="0"/>
                                          </p:stCondLst>
                                        </p:cTn>
                                        <p:tgtEl>
                                          <p:spTgt spid="24591"/>
                                        </p:tgtEl>
                                        <p:attrNameLst>
                                          <p:attrName>style.visibility</p:attrName>
                                        </p:attrNameLst>
                                      </p:cBhvr>
                                      <p:to>
                                        <p:strVal val="visible"/>
                                      </p:to>
                                    </p:set>
                                    <p:animEffect transition="in" filter="slide(fromTop)">
                                      <p:cBhvr>
                                        <p:cTn id="23" dur="500"/>
                                        <p:tgtEl>
                                          <p:spTgt spid="24591"/>
                                        </p:tgtEl>
                                      </p:cBhvr>
                                    </p:animEffect>
                                  </p:childTnLst>
                                </p:cTn>
                              </p:par>
                            </p:childTnLst>
                          </p:cTn>
                        </p:par>
                        <p:par>
                          <p:cTn id="24" fill="hold">
                            <p:stCondLst>
                              <p:cond delay="1500"/>
                            </p:stCondLst>
                            <p:childTnLst>
                              <p:par>
                                <p:cTn id="25" presetID="9" presetClass="entr" presetSubtype="0" fill="hold" grpId="0" nodeType="afterEffect">
                                  <p:stCondLst>
                                    <p:cond delay="0"/>
                                  </p:stCondLst>
                                  <p:childTnLst>
                                    <p:set>
                                      <p:cBhvr>
                                        <p:cTn id="26" dur="1" fill="hold">
                                          <p:stCondLst>
                                            <p:cond delay="0"/>
                                          </p:stCondLst>
                                        </p:cTn>
                                        <p:tgtEl>
                                          <p:spTgt spid="24590"/>
                                        </p:tgtEl>
                                        <p:attrNameLst>
                                          <p:attrName>style.visibility</p:attrName>
                                        </p:attrNameLst>
                                      </p:cBhvr>
                                      <p:to>
                                        <p:strVal val="visible"/>
                                      </p:to>
                                    </p:set>
                                    <p:animEffect transition="in" filter="dissolve">
                                      <p:cBhvr>
                                        <p:cTn id="27" dur="500"/>
                                        <p:tgtEl>
                                          <p:spTgt spid="24590"/>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24580"/>
                                        </p:tgtEl>
                                        <p:attrNameLst>
                                          <p:attrName>style.visibility</p:attrName>
                                        </p:attrNameLst>
                                      </p:cBhvr>
                                      <p:to>
                                        <p:strVal val="visible"/>
                                      </p:to>
                                    </p:set>
                                    <p:animEffect transition="in" filter="strips(downRight)">
                                      <p:cBhvr>
                                        <p:cTn id="32" dur="500"/>
                                        <p:tgtEl>
                                          <p:spTgt spid="24580"/>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1" fill="hold" grpId="0" nodeType="clickEffect">
                                  <p:stCondLst>
                                    <p:cond delay="0"/>
                                  </p:stCondLst>
                                  <p:childTnLst>
                                    <p:set>
                                      <p:cBhvr>
                                        <p:cTn id="36" dur="1" fill="hold">
                                          <p:stCondLst>
                                            <p:cond delay="0"/>
                                          </p:stCondLst>
                                        </p:cTn>
                                        <p:tgtEl>
                                          <p:spTgt spid="24584"/>
                                        </p:tgtEl>
                                        <p:attrNameLst>
                                          <p:attrName>style.visibility</p:attrName>
                                        </p:attrNameLst>
                                      </p:cBhvr>
                                      <p:to>
                                        <p:strVal val="visible"/>
                                      </p:to>
                                    </p:set>
                                    <p:animEffect transition="in" filter="slide(fromTop)">
                                      <p:cBhvr>
                                        <p:cTn id="37" dur="500"/>
                                        <p:tgtEl>
                                          <p:spTgt spid="24584"/>
                                        </p:tgtEl>
                                      </p:cBhvr>
                                    </p:animEffect>
                                  </p:childTnLst>
                                </p:cTn>
                              </p:par>
                            </p:childTnLst>
                          </p:cTn>
                        </p:par>
                        <p:par>
                          <p:cTn id="38" fill="hold">
                            <p:stCondLst>
                              <p:cond delay="500"/>
                            </p:stCondLst>
                            <p:childTnLst>
                              <p:par>
                                <p:cTn id="39" presetID="9" presetClass="entr" presetSubtype="0" fill="hold" grpId="0" nodeType="afterEffect">
                                  <p:stCondLst>
                                    <p:cond delay="0"/>
                                  </p:stCondLst>
                                  <p:childTnLst>
                                    <p:set>
                                      <p:cBhvr>
                                        <p:cTn id="40" dur="1" fill="hold">
                                          <p:stCondLst>
                                            <p:cond delay="0"/>
                                          </p:stCondLst>
                                        </p:cTn>
                                        <p:tgtEl>
                                          <p:spTgt spid="24583"/>
                                        </p:tgtEl>
                                        <p:attrNameLst>
                                          <p:attrName>style.visibility</p:attrName>
                                        </p:attrNameLst>
                                      </p:cBhvr>
                                      <p:to>
                                        <p:strVal val="visible"/>
                                      </p:to>
                                    </p:set>
                                    <p:animEffect transition="in" filter="dissolve">
                                      <p:cBhvr>
                                        <p:cTn id="41" dur="500"/>
                                        <p:tgtEl>
                                          <p:spTgt spid="24583"/>
                                        </p:tgtEl>
                                      </p:cBhvr>
                                    </p:animEffect>
                                  </p:childTnLst>
                                </p:cTn>
                              </p:par>
                            </p:childTnLst>
                          </p:cTn>
                        </p:par>
                      </p:childTnLst>
                    </p:cTn>
                  </p:par>
                  <p:par>
                    <p:cTn id="42" fill="hold">
                      <p:stCondLst>
                        <p:cond delay="indefinite"/>
                      </p:stCondLst>
                      <p:childTnLst>
                        <p:par>
                          <p:cTn id="43" fill="hold">
                            <p:stCondLst>
                              <p:cond delay="0"/>
                            </p:stCondLst>
                            <p:childTnLst>
                              <p:par>
                                <p:cTn id="44" presetID="18" presetClass="entr" presetSubtype="6" fill="hold" grpId="0" nodeType="clickEffect">
                                  <p:stCondLst>
                                    <p:cond delay="0"/>
                                  </p:stCondLst>
                                  <p:childTnLst>
                                    <p:set>
                                      <p:cBhvr>
                                        <p:cTn id="45" dur="1" fill="hold">
                                          <p:stCondLst>
                                            <p:cond delay="0"/>
                                          </p:stCondLst>
                                        </p:cTn>
                                        <p:tgtEl>
                                          <p:spTgt spid="24592"/>
                                        </p:tgtEl>
                                        <p:attrNameLst>
                                          <p:attrName>style.visibility</p:attrName>
                                        </p:attrNameLst>
                                      </p:cBhvr>
                                      <p:to>
                                        <p:strVal val="visible"/>
                                      </p:to>
                                    </p:set>
                                    <p:animEffect transition="in" filter="strips(downRight)">
                                      <p:cBhvr>
                                        <p:cTn id="46" dur="500"/>
                                        <p:tgtEl>
                                          <p:spTgt spid="24592"/>
                                        </p:tgtEl>
                                      </p:cBhvr>
                                    </p:animEffect>
                                  </p:childTnLst>
                                </p:cTn>
                              </p:par>
                            </p:childTnLst>
                          </p:cTn>
                        </p:par>
                      </p:childTnLst>
                    </p:cTn>
                  </p:par>
                  <p:par>
                    <p:cTn id="47" fill="hold">
                      <p:stCondLst>
                        <p:cond delay="indefinite"/>
                      </p:stCondLst>
                      <p:childTnLst>
                        <p:par>
                          <p:cTn id="48" fill="hold">
                            <p:stCondLst>
                              <p:cond delay="0"/>
                            </p:stCondLst>
                            <p:childTnLst>
                              <p:par>
                                <p:cTn id="49" presetID="17" presetClass="entr" presetSubtype="4" fill="hold" grpId="0" nodeType="clickEffect">
                                  <p:stCondLst>
                                    <p:cond delay="0"/>
                                  </p:stCondLst>
                                  <p:childTnLst>
                                    <p:set>
                                      <p:cBhvr>
                                        <p:cTn id="50" dur="1" fill="hold">
                                          <p:stCondLst>
                                            <p:cond delay="0"/>
                                          </p:stCondLst>
                                        </p:cTn>
                                        <p:tgtEl>
                                          <p:spTgt spid="24585"/>
                                        </p:tgtEl>
                                        <p:attrNameLst>
                                          <p:attrName>style.visibility</p:attrName>
                                        </p:attrNameLst>
                                      </p:cBhvr>
                                      <p:to>
                                        <p:strVal val="visible"/>
                                      </p:to>
                                    </p:set>
                                    <p:anim calcmode="lin" valueType="num">
                                      <p:cBhvr>
                                        <p:cTn id="51" dur="500" fill="hold"/>
                                        <p:tgtEl>
                                          <p:spTgt spid="24585"/>
                                        </p:tgtEl>
                                        <p:attrNameLst>
                                          <p:attrName>ppt_x</p:attrName>
                                        </p:attrNameLst>
                                      </p:cBhvr>
                                      <p:tavLst>
                                        <p:tav tm="0">
                                          <p:val>
                                            <p:strVal val="#ppt_x"/>
                                          </p:val>
                                        </p:tav>
                                        <p:tav tm="100000">
                                          <p:val>
                                            <p:strVal val="#ppt_x"/>
                                          </p:val>
                                        </p:tav>
                                      </p:tavLst>
                                    </p:anim>
                                    <p:anim calcmode="lin" valueType="num">
                                      <p:cBhvr>
                                        <p:cTn id="52" dur="500" fill="hold"/>
                                        <p:tgtEl>
                                          <p:spTgt spid="24585"/>
                                        </p:tgtEl>
                                        <p:attrNameLst>
                                          <p:attrName>ppt_y</p:attrName>
                                        </p:attrNameLst>
                                      </p:cBhvr>
                                      <p:tavLst>
                                        <p:tav tm="0">
                                          <p:val>
                                            <p:strVal val="#ppt_y+#ppt_h/2"/>
                                          </p:val>
                                        </p:tav>
                                        <p:tav tm="100000">
                                          <p:val>
                                            <p:strVal val="#ppt_y"/>
                                          </p:val>
                                        </p:tav>
                                      </p:tavLst>
                                    </p:anim>
                                    <p:anim calcmode="lin" valueType="num">
                                      <p:cBhvr>
                                        <p:cTn id="53" dur="500" fill="hold"/>
                                        <p:tgtEl>
                                          <p:spTgt spid="24585"/>
                                        </p:tgtEl>
                                        <p:attrNameLst>
                                          <p:attrName>ppt_w</p:attrName>
                                        </p:attrNameLst>
                                      </p:cBhvr>
                                      <p:tavLst>
                                        <p:tav tm="0">
                                          <p:val>
                                            <p:strVal val="#ppt_w"/>
                                          </p:val>
                                        </p:tav>
                                        <p:tav tm="100000">
                                          <p:val>
                                            <p:strVal val="#ppt_w"/>
                                          </p:val>
                                        </p:tav>
                                      </p:tavLst>
                                    </p:anim>
                                    <p:anim calcmode="lin" valueType="num">
                                      <p:cBhvr>
                                        <p:cTn id="54" dur="500" fill="hold"/>
                                        <p:tgtEl>
                                          <p:spTgt spid="24585"/>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24585"/>
                                        </p:tgtEl>
                                        <p:attrNameLst>
                                          <p:attrName>style.visibility</p:attrName>
                                        </p:attrNameLst>
                                      </p:cBhvr>
                                      <p:to>
                                        <p:strVal val="hidden"/>
                                      </p:to>
                                    </p:set>
                                  </p:subTnLst>
                                </p:cTn>
                              </p:par>
                            </p:childTnLst>
                          </p:cTn>
                        </p:par>
                        <p:par>
                          <p:cTn id="55" fill="hold">
                            <p:stCondLst>
                              <p:cond delay="500"/>
                            </p:stCondLst>
                            <p:childTnLst>
                              <p:par>
                                <p:cTn id="56" presetID="22" presetClass="entr" presetSubtype="8" fill="hold" grpId="0" nodeType="afterEffect">
                                  <p:stCondLst>
                                    <p:cond delay="0"/>
                                  </p:stCondLst>
                                  <p:childTnLst>
                                    <p:set>
                                      <p:cBhvr>
                                        <p:cTn id="57" dur="1" fill="hold">
                                          <p:stCondLst>
                                            <p:cond delay="0"/>
                                          </p:stCondLst>
                                        </p:cTn>
                                        <p:tgtEl>
                                          <p:spTgt spid="24593"/>
                                        </p:tgtEl>
                                        <p:attrNameLst>
                                          <p:attrName>style.visibility</p:attrName>
                                        </p:attrNameLst>
                                      </p:cBhvr>
                                      <p:to>
                                        <p:strVal val="visible"/>
                                      </p:to>
                                    </p:set>
                                    <p:animEffect transition="in" filter="wipe(left)">
                                      <p:cBhvr>
                                        <p:cTn id="58" dur="500"/>
                                        <p:tgtEl>
                                          <p:spTgt spid="24593"/>
                                        </p:tgtEl>
                                      </p:cBhvr>
                                    </p:animEffect>
                                  </p:childTnLst>
                                  <p:subTnLst>
                                    <p:set>
                                      <p:cBhvr override="childStyle">
                                        <p:cTn dur="1" fill="hold" display="0" masterRel="nextClick" afterEffect="1"/>
                                        <p:tgtEl>
                                          <p:spTgt spid="24593"/>
                                        </p:tgtEl>
                                        <p:attrNameLst>
                                          <p:attrName>style.visibility</p:attrName>
                                        </p:attrNameLst>
                                      </p:cBhvr>
                                      <p:to>
                                        <p:strVal val="hidden"/>
                                      </p:to>
                                    </p:set>
                                  </p:subTnLst>
                                </p:cTn>
                              </p:par>
                            </p:childTnLst>
                          </p:cTn>
                        </p:par>
                      </p:childTnLst>
                    </p:cTn>
                  </p:par>
                  <p:par>
                    <p:cTn id="59" fill="hold">
                      <p:stCondLst>
                        <p:cond delay="indefinite"/>
                      </p:stCondLst>
                      <p:childTnLst>
                        <p:par>
                          <p:cTn id="60" fill="hold">
                            <p:stCondLst>
                              <p:cond delay="0"/>
                            </p:stCondLst>
                            <p:childTnLst>
                              <p:par>
                                <p:cTn id="61" presetID="17" presetClass="entr" presetSubtype="4" fill="hold" grpId="0" nodeType="clickEffect">
                                  <p:stCondLst>
                                    <p:cond delay="0"/>
                                  </p:stCondLst>
                                  <p:childTnLst>
                                    <p:set>
                                      <p:cBhvr>
                                        <p:cTn id="62" dur="1" fill="hold">
                                          <p:stCondLst>
                                            <p:cond delay="0"/>
                                          </p:stCondLst>
                                        </p:cTn>
                                        <p:tgtEl>
                                          <p:spTgt spid="24586"/>
                                        </p:tgtEl>
                                        <p:attrNameLst>
                                          <p:attrName>style.visibility</p:attrName>
                                        </p:attrNameLst>
                                      </p:cBhvr>
                                      <p:to>
                                        <p:strVal val="visible"/>
                                      </p:to>
                                    </p:set>
                                    <p:anim calcmode="lin" valueType="num">
                                      <p:cBhvr>
                                        <p:cTn id="63" dur="500" fill="hold"/>
                                        <p:tgtEl>
                                          <p:spTgt spid="24586"/>
                                        </p:tgtEl>
                                        <p:attrNameLst>
                                          <p:attrName>ppt_x</p:attrName>
                                        </p:attrNameLst>
                                      </p:cBhvr>
                                      <p:tavLst>
                                        <p:tav tm="0">
                                          <p:val>
                                            <p:strVal val="#ppt_x"/>
                                          </p:val>
                                        </p:tav>
                                        <p:tav tm="100000">
                                          <p:val>
                                            <p:strVal val="#ppt_x"/>
                                          </p:val>
                                        </p:tav>
                                      </p:tavLst>
                                    </p:anim>
                                    <p:anim calcmode="lin" valueType="num">
                                      <p:cBhvr>
                                        <p:cTn id="64" dur="500" fill="hold"/>
                                        <p:tgtEl>
                                          <p:spTgt spid="24586"/>
                                        </p:tgtEl>
                                        <p:attrNameLst>
                                          <p:attrName>ppt_y</p:attrName>
                                        </p:attrNameLst>
                                      </p:cBhvr>
                                      <p:tavLst>
                                        <p:tav tm="0">
                                          <p:val>
                                            <p:strVal val="#ppt_y+#ppt_h/2"/>
                                          </p:val>
                                        </p:tav>
                                        <p:tav tm="100000">
                                          <p:val>
                                            <p:strVal val="#ppt_y"/>
                                          </p:val>
                                        </p:tav>
                                      </p:tavLst>
                                    </p:anim>
                                    <p:anim calcmode="lin" valueType="num">
                                      <p:cBhvr>
                                        <p:cTn id="65" dur="500" fill="hold"/>
                                        <p:tgtEl>
                                          <p:spTgt spid="24586"/>
                                        </p:tgtEl>
                                        <p:attrNameLst>
                                          <p:attrName>ppt_w</p:attrName>
                                        </p:attrNameLst>
                                      </p:cBhvr>
                                      <p:tavLst>
                                        <p:tav tm="0">
                                          <p:val>
                                            <p:strVal val="#ppt_w"/>
                                          </p:val>
                                        </p:tav>
                                        <p:tav tm="100000">
                                          <p:val>
                                            <p:strVal val="#ppt_w"/>
                                          </p:val>
                                        </p:tav>
                                      </p:tavLst>
                                    </p:anim>
                                    <p:anim calcmode="lin" valueType="num">
                                      <p:cBhvr>
                                        <p:cTn id="66" dur="500" fill="hold"/>
                                        <p:tgtEl>
                                          <p:spTgt spid="24586"/>
                                        </p:tgtEl>
                                        <p:attrNameLst>
                                          <p:attrName>ppt_h</p:attrName>
                                        </p:attrNameLst>
                                      </p:cBhvr>
                                      <p:tavLst>
                                        <p:tav tm="0">
                                          <p:val>
                                            <p:fltVal val="0"/>
                                          </p:val>
                                        </p:tav>
                                        <p:tav tm="100000">
                                          <p:val>
                                            <p:strVal val="#ppt_h"/>
                                          </p:val>
                                        </p:tav>
                                      </p:tavLst>
                                    </p:anim>
                                  </p:childTnLst>
                                </p:cTn>
                              </p:par>
                            </p:childTnLst>
                          </p:cTn>
                        </p:par>
                        <p:par>
                          <p:cTn id="67" fill="hold">
                            <p:stCondLst>
                              <p:cond delay="500"/>
                            </p:stCondLst>
                            <p:childTnLst>
                              <p:par>
                                <p:cTn id="68" presetID="9" presetClass="entr" presetSubtype="0" fill="hold" grpId="0" nodeType="afterEffect">
                                  <p:stCondLst>
                                    <p:cond delay="0"/>
                                  </p:stCondLst>
                                  <p:childTnLst>
                                    <p:set>
                                      <p:cBhvr>
                                        <p:cTn id="69" dur="1" fill="hold">
                                          <p:stCondLst>
                                            <p:cond delay="0"/>
                                          </p:stCondLst>
                                        </p:cTn>
                                        <p:tgtEl>
                                          <p:spTgt spid="24587"/>
                                        </p:tgtEl>
                                        <p:attrNameLst>
                                          <p:attrName>style.visibility</p:attrName>
                                        </p:attrNameLst>
                                      </p:cBhvr>
                                      <p:to>
                                        <p:strVal val="visible"/>
                                      </p:to>
                                    </p:set>
                                    <p:animEffect transition="in" filter="dissolve">
                                      <p:cBhvr>
                                        <p:cTn id="70" dur="500"/>
                                        <p:tgtEl>
                                          <p:spTgt spid="24587"/>
                                        </p:tgtEl>
                                      </p:cBhvr>
                                    </p:animEffect>
                                  </p:childTnLst>
                                </p:cTn>
                              </p:par>
                            </p:childTnLst>
                          </p:cTn>
                        </p:par>
                        <p:par>
                          <p:cTn id="71" fill="hold">
                            <p:stCondLst>
                              <p:cond delay="1000"/>
                            </p:stCondLst>
                            <p:childTnLst>
                              <p:par>
                                <p:cTn id="72" presetID="22" presetClass="entr" presetSubtype="2" fill="hold" grpId="0" nodeType="afterEffect">
                                  <p:stCondLst>
                                    <p:cond delay="0"/>
                                  </p:stCondLst>
                                  <p:childTnLst>
                                    <p:set>
                                      <p:cBhvr>
                                        <p:cTn id="73" dur="1" fill="hold">
                                          <p:stCondLst>
                                            <p:cond delay="0"/>
                                          </p:stCondLst>
                                        </p:cTn>
                                        <p:tgtEl>
                                          <p:spTgt spid="24588"/>
                                        </p:tgtEl>
                                        <p:attrNameLst>
                                          <p:attrName>style.visibility</p:attrName>
                                        </p:attrNameLst>
                                      </p:cBhvr>
                                      <p:to>
                                        <p:strVal val="visible"/>
                                      </p:to>
                                    </p:set>
                                    <p:animEffect transition="in" filter="wipe(right)">
                                      <p:cBhvr>
                                        <p:cTn id="74" dur="500"/>
                                        <p:tgtEl>
                                          <p:spTgt spid="24588"/>
                                        </p:tgtEl>
                                      </p:cBhvr>
                                    </p:animEffect>
                                  </p:childTnLst>
                                </p:cTn>
                              </p:par>
                            </p:childTnLst>
                          </p:cTn>
                        </p:par>
                      </p:childTnLst>
                    </p:cTn>
                  </p:par>
                  <p:par>
                    <p:cTn id="75" fill="hold">
                      <p:stCondLst>
                        <p:cond delay="indefinite"/>
                      </p:stCondLst>
                      <p:childTnLst>
                        <p:par>
                          <p:cTn id="76" fill="hold">
                            <p:stCondLst>
                              <p:cond delay="0"/>
                            </p:stCondLst>
                            <p:childTnLst>
                              <p:par>
                                <p:cTn id="77" presetID="18" presetClass="entr" presetSubtype="6" fill="hold" grpId="0" nodeType="clickEffect">
                                  <p:stCondLst>
                                    <p:cond delay="0"/>
                                  </p:stCondLst>
                                  <p:childTnLst>
                                    <p:set>
                                      <p:cBhvr>
                                        <p:cTn id="78" dur="1" fill="hold">
                                          <p:stCondLst>
                                            <p:cond delay="0"/>
                                          </p:stCondLst>
                                        </p:cTn>
                                        <p:tgtEl>
                                          <p:spTgt spid="24581"/>
                                        </p:tgtEl>
                                        <p:attrNameLst>
                                          <p:attrName>style.visibility</p:attrName>
                                        </p:attrNameLst>
                                      </p:cBhvr>
                                      <p:to>
                                        <p:strVal val="visible"/>
                                      </p:to>
                                    </p:set>
                                    <p:animEffect transition="in" filter="strips(downRight)">
                                      <p:cBhvr>
                                        <p:cTn id="79" dur="500"/>
                                        <p:tgtEl>
                                          <p:spTgt spid="24581"/>
                                        </p:tgtEl>
                                      </p:cBhvr>
                                    </p:animEffect>
                                  </p:childTnLst>
                                </p:cTn>
                              </p:par>
                            </p:childTnLst>
                          </p:cTn>
                        </p:par>
                        <p:par>
                          <p:cTn id="80" fill="hold">
                            <p:stCondLst>
                              <p:cond delay="500"/>
                            </p:stCondLst>
                            <p:childTnLst>
                              <p:par>
                                <p:cTn id="81" presetID="12" presetClass="entr" presetSubtype="2" fill="hold" grpId="0" nodeType="afterEffect">
                                  <p:stCondLst>
                                    <p:cond delay="0"/>
                                  </p:stCondLst>
                                  <p:childTnLst>
                                    <p:set>
                                      <p:cBhvr>
                                        <p:cTn id="82" dur="1" fill="hold">
                                          <p:stCondLst>
                                            <p:cond delay="0"/>
                                          </p:stCondLst>
                                        </p:cTn>
                                        <p:tgtEl>
                                          <p:spTgt spid="24594"/>
                                        </p:tgtEl>
                                        <p:attrNameLst>
                                          <p:attrName>style.visibility</p:attrName>
                                        </p:attrNameLst>
                                      </p:cBhvr>
                                      <p:to>
                                        <p:strVal val="visible"/>
                                      </p:to>
                                    </p:set>
                                    <p:animEffect transition="in" filter="slide(fromRight)">
                                      <p:cBhvr>
                                        <p:cTn id="83" dur="500"/>
                                        <p:tgtEl>
                                          <p:spTgt spid="245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 grpId="0" bldLvl="0" animBg="1" autoUpdateAnimBg="0"/>
      <p:bldP spid="24580" grpId="0" bldLvl="0" animBg="1" autoUpdateAnimBg="0"/>
      <p:bldP spid="24581" grpId="0" bldLvl="0" animBg="1" autoUpdateAnimBg="0"/>
      <p:bldP spid="24582" grpId="0" bldLvl="0" animBg="1"/>
      <p:bldP spid="24583" grpId="0" bldLvl="0" animBg="1"/>
      <p:bldP spid="24584" grpId="0" bldLvl="0" animBg="1" autoUpdateAnimBg="0"/>
      <p:bldP spid="24585" grpId="0" bldLvl="0" animBg="1"/>
      <p:bldP spid="24586" grpId="0" bldLvl="0" animBg="1"/>
      <p:bldP spid="24587" grpId="0" bldLvl="0" animBg="1" autoUpdateAnimBg="0"/>
      <p:bldP spid="24588" grpId="0" bldLvl="0" animBg="1"/>
      <p:bldP spid="24589" grpId="0" bldLvl="0" animBg="1"/>
      <p:bldP spid="24590" grpId="0" bldLvl="0" animBg="1"/>
      <p:bldP spid="24591" grpId="0" bldLvl="0" animBg="1" autoUpdateAnimBg="0"/>
      <p:bldP spid="24592" grpId="0" bldLvl="0" animBg="1" autoUpdateAnimBg="0"/>
      <p:bldP spid="24593" grpId="0" bldLvl="0" animBg="1" autoUpdateAnimBg="0"/>
      <p:bldP spid="24594" grpId="0" bldLvl="0" animBg="1"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descr="Green Ball">
            <a:hlinkClick r:id="rId2" action="ppaction://hlinksldjump" highlightClick="1"/>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1830" y="476672"/>
            <a:ext cx="304800" cy="304800"/>
          </a:xfrm>
          <a:prstGeom prst="rect">
            <a:avLst/>
          </a:prstGeom>
          <a:noFill/>
          <a:extLst>
            <a:ext uri="{909E8E84-426E-40DD-AFC4-6F175D3DCCD1}">
              <a14:hiddenFill xmlns:a14="http://schemas.microsoft.com/office/drawing/2010/main">
                <a:solidFill>
                  <a:srgbClr val="FFFFFF"/>
                </a:solidFill>
              </a14:hiddenFill>
            </a:ext>
          </a:extLst>
        </p:spPr>
      </p:pic>
      <p:sp>
        <p:nvSpPr>
          <p:cNvPr id="25603" name="Text Box 3"/>
          <p:cNvSpPr txBox="1">
            <a:spLocks noChangeArrowheads="1"/>
          </p:cNvSpPr>
          <p:nvPr/>
        </p:nvSpPr>
        <p:spPr bwMode="auto">
          <a:xfrm>
            <a:off x="1117600" y="327025"/>
            <a:ext cx="7354570" cy="2065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25000"/>
              </a:lnSpc>
            </a:pPr>
            <a:r>
              <a:rPr lang="zh-CN" altLang="en-US" dirty="0">
                <a:solidFill>
                  <a:srgbClr val="0000FF"/>
                </a:solidFill>
                <a:latin typeface="Arial" panose="020B0604020202020204" pitchFamily="34" charset="0"/>
                <a:ea typeface="楷体_GB2312" pitchFamily="49" charset="-122"/>
                <a:cs typeface="Arial" panose="020B0604020202020204" pitchFamily="34" charset="0"/>
              </a:rPr>
              <a:t>for the records whose </a:t>
            </a:r>
            <a:r>
              <a:rPr lang="zh-CN" altLang="en-US" b="1" dirty="0">
                <a:solidFill>
                  <a:srgbClr val="993300"/>
                </a:solidFill>
                <a:latin typeface="Arial" panose="020B0604020202020204" pitchFamily="34" charset="0"/>
                <a:ea typeface="楷体_GB2312" pitchFamily="49" charset="-122"/>
                <a:cs typeface="Arial" panose="020B0604020202020204" pitchFamily="34" charset="0"/>
              </a:rPr>
              <a:t>keywords are not less than R[i].key</a:t>
            </a:r>
            <a:r>
              <a:rPr lang="zh-CN" altLang="en-US" dirty="0">
                <a:solidFill>
                  <a:srgbClr val="0000FF"/>
                </a:solidFill>
                <a:latin typeface="Arial" panose="020B0604020202020204" pitchFamily="34" charset="0"/>
                <a:ea typeface="楷体_GB2312" pitchFamily="49" charset="-122"/>
                <a:cs typeface="Arial" panose="020B0604020202020204" pitchFamily="34" charset="0"/>
              </a:rPr>
              <a:t> found in the search process, and </a:t>
            </a:r>
            <a:r>
              <a:rPr lang="zh-CN" altLang="en-US" b="1" dirty="0">
                <a:solidFill>
                  <a:srgbClr val="993300"/>
                </a:solidFill>
                <a:latin typeface="Arial" panose="020B0604020202020204" pitchFamily="34" charset="0"/>
                <a:ea typeface="楷体_GB2312" pitchFamily="49" charset="-122"/>
                <a:cs typeface="Arial" panose="020B0604020202020204" pitchFamily="34" charset="0"/>
              </a:rPr>
              <a:t>move the records backward</a:t>
            </a:r>
            <a:r>
              <a:rPr lang="zh-CN" altLang="en-US" dirty="0">
                <a:solidFill>
                  <a:srgbClr val="0000FF"/>
                </a:solidFill>
                <a:latin typeface="Arial" panose="020B0604020202020204" pitchFamily="34" charset="0"/>
                <a:ea typeface="楷体_GB2312" pitchFamily="49" charset="-122"/>
                <a:cs typeface="Arial" panose="020B0604020202020204" pitchFamily="34" charset="0"/>
              </a:rPr>
              <a:t> during the search;</a:t>
            </a:r>
          </a:p>
        </p:txBody>
      </p:sp>
      <p:sp>
        <p:nvSpPr>
          <p:cNvPr id="25604" name="Text Box 4"/>
          <p:cNvSpPr txBox="1">
            <a:spLocks noChangeArrowheads="1"/>
          </p:cNvSpPr>
          <p:nvPr/>
        </p:nvSpPr>
        <p:spPr bwMode="auto">
          <a:xfrm>
            <a:off x="1117600" y="2347615"/>
            <a:ext cx="5325497" cy="1126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lang="en-US" altLang="zh-CN" b="1" dirty="0">
                <a:ea typeface="楷体_GB2312" pitchFamily="49" charset="-122"/>
              </a:rPr>
              <a:t>for (j=i-1; R[0].key&lt;R[j].key; --j);</a:t>
            </a:r>
            <a:endParaRPr lang="en-US" altLang="zh-CN" dirty="0">
              <a:ea typeface="楷体_GB2312" pitchFamily="49" charset="-122"/>
            </a:endParaRPr>
          </a:p>
          <a:p>
            <a:pPr>
              <a:lnSpc>
                <a:spcPct val="120000"/>
              </a:lnSpc>
            </a:pPr>
            <a:r>
              <a:rPr lang="en-US" altLang="zh-CN" b="1" dirty="0">
                <a:solidFill>
                  <a:srgbClr val="840C26"/>
                </a:solidFill>
                <a:ea typeface="楷体_GB2312" pitchFamily="49" charset="-122"/>
              </a:rPr>
              <a:t>R[j+1] = R[j]</a:t>
            </a:r>
            <a:endParaRPr lang="en-US" altLang="zh-CN" b="1" dirty="0"/>
          </a:p>
        </p:txBody>
      </p:sp>
      <p:sp>
        <p:nvSpPr>
          <p:cNvPr id="25605" name="Rectangle 5" descr="大棋盘"/>
          <p:cNvSpPr>
            <a:spLocks noChangeArrowheads="1"/>
          </p:cNvSpPr>
          <p:nvPr/>
        </p:nvSpPr>
        <p:spPr bwMode="auto">
          <a:xfrm>
            <a:off x="1828800" y="4147185"/>
            <a:ext cx="3124200" cy="457200"/>
          </a:xfrm>
          <a:prstGeom prst="rect">
            <a:avLst/>
          </a:prstGeom>
          <a:pattFill prst="lgCheck">
            <a:fgClr>
              <a:srgbClr val="CCFFCC"/>
            </a:fgClr>
            <a:bgClr>
              <a:srgbClr val="FFFFFF"/>
            </a:bgClr>
          </a:patt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06" name="Rectangle 6"/>
          <p:cNvSpPr>
            <a:spLocks noChangeArrowheads="1"/>
          </p:cNvSpPr>
          <p:nvPr/>
        </p:nvSpPr>
        <p:spPr bwMode="auto">
          <a:xfrm>
            <a:off x="1524000" y="4147185"/>
            <a:ext cx="304800" cy="457200"/>
          </a:xfrm>
          <a:prstGeom prst="rect">
            <a:avLst/>
          </a:prstGeom>
          <a:solidFill>
            <a:srgbClr val="00FF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07" name="Text Box 7"/>
          <p:cNvSpPr txBox="1">
            <a:spLocks noChangeArrowheads="1"/>
          </p:cNvSpPr>
          <p:nvPr/>
        </p:nvSpPr>
        <p:spPr bwMode="auto">
          <a:xfrm>
            <a:off x="1295400" y="3537585"/>
            <a:ext cx="838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t>R[0]</a:t>
            </a:r>
          </a:p>
        </p:txBody>
      </p:sp>
      <p:sp>
        <p:nvSpPr>
          <p:cNvPr id="25608" name="Line 8"/>
          <p:cNvSpPr>
            <a:spLocks noChangeShapeType="1"/>
          </p:cNvSpPr>
          <p:nvPr/>
        </p:nvSpPr>
        <p:spPr bwMode="auto">
          <a:xfrm>
            <a:off x="4800600" y="4680585"/>
            <a:ext cx="0" cy="762000"/>
          </a:xfrm>
          <a:prstGeom prst="line">
            <a:avLst/>
          </a:prstGeom>
          <a:noFill/>
          <a:ln w="9525">
            <a:solidFill>
              <a:schemeClr val="tx1"/>
            </a:solidFill>
            <a:round/>
            <a:head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09" name="Line 9"/>
          <p:cNvSpPr>
            <a:spLocks noChangeShapeType="1"/>
          </p:cNvSpPr>
          <p:nvPr/>
        </p:nvSpPr>
        <p:spPr bwMode="auto">
          <a:xfrm>
            <a:off x="3505200" y="4604385"/>
            <a:ext cx="0" cy="762000"/>
          </a:xfrm>
          <a:prstGeom prst="line">
            <a:avLst/>
          </a:prstGeom>
          <a:noFill/>
          <a:ln w="9525">
            <a:solidFill>
              <a:schemeClr val="tx1"/>
            </a:solidFill>
            <a:round/>
            <a:head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10" name="Text Box 10"/>
          <p:cNvSpPr txBox="1">
            <a:spLocks noChangeArrowheads="1"/>
          </p:cNvSpPr>
          <p:nvPr/>
        </p:nvSpPr>
        <p:spPr bwMode="auto">
          <a:xfrm>
            <a:off x="3527425" y="4680585"/>
            <a:ext cx="58737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t>j</a:t>
            </a:r>
          </a:p>
        </p:txBody>
      </p:sp>
      <p:sp>
        <p:nvSpPr>
          <p:cNvPr id="25611" name="Rectangle 11"/>
          <p:cNvSpPr>
            <a:spLocks noChangeArrowheads="1"/>
          </p:cNvSpPr>
          <p:nvPr/>
        </p:nvSpPr>
        <p:spPr bwMode="auto">
          <a:xfrm>
            <a:off x="4953000" y="4147185"/>
            <a:ext cx="3429000" cy="457200"/>
          </a:xfrm>
          <a:prstGeom prst="rect">
            <a:avLst/>
          </a:prstGeom>
          <a:solidFill>
            <a:schemeClr va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12" name="Rectangle 12"/>
          <p:cNvSpPr>
            <a:spLocks noChangeArrowheads="1"/>
          </p:cNvSpPr>
          <p:nvPr/>
        </p:nvSpPr>
        <p:spPr bwMode="auto">
          <a:xfrm>
            <a:off x="4953000" y="4147185"/>
            <a:ext cx="304800" cy="457200"/>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13" name="Rectangle 13"/>
          <p:cNvSpPr>
            <a:spLocks noChangeArrowheads="1"/>
          </p:cNvSpPr>
          <p:nvPr/>
        </p:nvSpPr>
        <p:spPr bwMode="auto">
          <a:xfrm>
            <a:off x="4724400" y="3613785"/>
            <a:ext cx="7572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t>R[i]</a:t>
            </a:r>
          </a:p>
        </p:txBody>
      </p:sp>
      <p:sp>
        <p:nvSpPr>
          <p:cNvPr id="25614" name="Rectangle 14" descr="60%"/>
          <p:cNvSpPr>
            <a:spLocks noChangeArrowheads="1"/>
          </p:cNvSpPr>
          <p:nvPr/>
        </p:nvSpPr>
        <p:spPr bwMode="auto">
          <a:xfrm>
            <a:off x="3962400" y="4147185"/>
            <a:ext cx="1295400" cy="457200"/>
          </a:xfrm>
          <a:prstGeom prst="rect">
            <a:avLst/>
          </a:prstGeom>
          <a:pattFill prst="pct60">
            <a:fgClr>
              <a:srgbClr val="FF99FF"/>
            </a:fgClr>
            <a:bgClr>
              <a:srgbClr val="FFFFFF"/>
            </a:bgClr>
          </a:patt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15" name="Rectangle 15" descr="大棋盘"/>
          <p:cNvSpPr>
            <a:spLocks noChangeArrowheads="1"/>
          </p:cNvSpPr>
          <p:nvPr/>
        </p:nvSpPr>
        <p:spPr bwMode="auto">
          <a:xfrm>
            <a:off x="3657600" y="4147185"/>
            <a:ext cx="304800" cy="457200"/>
          </a:xfrm>
          <a:prstGeom prst="rect">
            <a:avLst/>
          </a:prstGeom>
          <a:pattFill prst="lgCheck">
            <a:fgClr>
              <a:srgbClr val="CCFFCC"/>
            </a:fgClr>
            <a:bgClr>
              <a:srgbClr val="FFFFFF"/>
            </a:bgClr>
          </a:patt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16" name="Text Box 16"/>
          <p:cNvSpPr txBox="1">
            <a:spLocks noChangeArrowheads="1"/>
          </p:cNvSpPr>
          <p:nvPr/>
        </p:nvSpPr>
        <p:spPr bwMode="auto">
          <a:xfrm>
            <a:off x="4876800" y="4680585"/>
            <a:ext cx="119697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t>j= i-1</a:t>
            </a:r>
          </a:p>
        </p:txBody>
      </p:sp>
      <p:sp>
        <p:nvSpPr>
          <p:cNvPr id="25617" name="Line 17"/>
          <p:cNvSpPr>
            <a:spLocks noChangeShapeType="1"/>
          </p:cNvSpPr>
          <p:nvPr/>
        </p:nvSpPr>
        <p:spPr bwMode="auto">
          <a:xfrm>
            <a:off x="4953000" y="4147185"/>
            <a:ext cx="1588" cy="457200"/>
          </a:xfrm>
          <a:prstGeom prst="line">
            <a:avLst/>
          </a:prstGeom>
          <a:noFill/>
          <a:ln w="12700" cap="rnd">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18" name="Text Box 18"/>
          <p:cNvSpPr txBox="1">
            <a:spLocks noChangeArrowheads="1"/>
          </p:cNvSpPr>
          <p:nvPr/>
        </p:nvSpPr>
        <p:spPr bwMode="auto">
          <a:xfrm>
            <a:off x="1186543" y="5648305"/>
            <a:ext cx="628890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dirty="0">
                <a:solidFill>
                  <a:srgbClr val="FF0000"/>
                </a:solidFill>
                <a:ea typeface="楷体_GB2312" pitchFamily="49" charset="-122"/>
              </a:rPr>
              <a:t>You can insert directly after the loop ends</a:t>
            </a:r>
          </a:p>
        </p:txBody>
      </p:sp>
      <p:sp>
        <p:nvSpPr>
          <p:cNvPr id="25620" name="AutoShape 20"/>
          <p:cNvSpPr>
            <a:spLocks noChangeArrowheads="1"/>
          </p:cNvSpPr>
          <p:nvPr/>
        </p:nvSpPr>
        <p:spPr bwMode="auto">
          <a:xfrm>
            <a:off x="3733800" y="5213985"/>
            <a:ext cx="1447800" cy="457200"/>
          </a:xfrm>
          <a:prstGeom prst="wedgeRoundRectCallout">
            <a:avLst>
              <a:gd name="adj1" fmla="val -44407"/>
              <a:gd name="adj2" fmla="val -229861"/>
              <a:gd name="adj3" fmla="val 16667"/>
            </a:avLst>
          </a:prstGeom>
          <a:solidFill>
            <a:srgbClr val="FFFF99">
              <a:alpha val="50000"/>
            </a:srgbClr>
          </a:solidFill>
          <a:ln w="12700">
            <a:solidFill>
              <a:srgbClr val="8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b="1">
                <a:solidFill>
                  <a:srgbClr val="990000"/>
                </a:solidFill>
                <a:ea typeface="楷体_GB2312" pitchFamily="49" charset="-122"/>
              </a:rPr>
              <a:t>on position</a:t>
            </a:r>
            <a:endParaRPr lang="zh-CN" altLang="en-US"/>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25</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25602"/>
                                        </p:tgtEl>
                                        <p:attrNameLst>
                                          <p:attrName>style.visibility</p:attrName>
                                        </p:attrNameLst>
                                      </p:cBhvr>
                                      <p:to>
                                        <p:strVal val="visible"/>
                                      </p:to>
                                    </p:set>
                                    <p:animEffect transition="in" filter="slide(fromLeft)">
                                      <p:cBhvr>
                                        <p:cTn id="7" dur="500"/>
                                        <p:tgtEl>
                                          <p:spTgt spid="25602"/>
                                        </p:tgtEl>
                                      </p:cBhvr>
                                    </p:animEffect>
                                  </p:childTnLst>
                                </p:cTn>
                              </p:par>
                            </p:childTnLst>
                          </p:cTn>
                        </p:par>
                        <p:par>
                          <p:cTn id="8" fill="hold">
                            <p:stCondLst>
                              <p:cond delay="500"/>
                            </p:stCondLst>
                            <p:childTnLst>
                              <p:par>
                                <p:cTn id="9" presetID="18" presetClass="entr" presetSubtype="6" fill="hold" grpId="0" nodeType="afterEffect">
                                  <p:stCondLst>
                                    <p:cond delay="0"/>
                                  </p:stCondLst>
                                  <p:childTnLst>
                                    <p:set>
                                      <p:cBhvr>
                                        <p:cTn id="10" dur="1" fill="hold">
                                          <p:stCondLst>
                                            <p:cond delay="0"/>
                                          </p:stCondLst>
                                        </p:cTn>
                                        <p:tgtEl>
                                          <p:spTgt spid="25603"/>
                                        </p:tgtEl>
                                        <p:attrNameLst>
                                          <p:attrName>style.visibility</p:attrName>
                                        </p:attrNameLst>
                                      </p:cBhvr>
                                      <p:to>
                                        <p:strVal val="visible"/>
                                      </p:to>
                                    </p:set>
                                    <p:animEffect transition="in" filter="strips(downRight)">
                                      <p:cBhvr>
                                        <p:cTn id="11" dur="500"/>
                                        <p:tgtEl>
                                          <p:spTgt spid="25603"/>
                                        </p:tgtEl>
                                      </p:cBhvr>
                                    </p:animEffect>
                                  </p:childTnLst>
                                </p:cTn>
                              </p:par>
                            </p:childTnLst>
                          </p:cTn>
                        </p:par>
                      </p:childTnLst>
                    </p:cTn>
                  </p:par>
                  <p:par>
                    <p:cTn id="12" fill="hold">
                      <p:stCondLst>
                        <p:cond delay="indefinite"/>
                      </p:stCondLst>
                      <p:childTnLst>
                        <p:par>
                          <p:cTn id="13" fill="hold">
                            <p:stCondLst>
                              <p:cond delay="0"/>
                            </p:stCondLst>
                            <p:childTnLst>
                              <p:par>
                                <p:cTn id="14" presetID="18" presetClass="entr" presetSubtype="6" fill="hold" grpId="0" nodeType="clickEffect">
                                  <p:stCondLst>
                                    <p:cond delay="0"/>
                                  </p:stCondLst>
                                  <p:childTnLst>
                                    <p:set>
                                      <p:cBhvr>
                                        <p:cTn id="15" dur="1" fill="hold">
                                          <p:stCondLst>
                                            <p:cond delay="0"/>
                                          </p:stCondLst>
                                        </p:cTn>
                                        <p:tgtEl>
                                          <p:spTgt spid="25604"/>
                                        </p:tgtEl>
                                        <p:attrNameLst>
                                          <p:attrName>style.visibility</p:attrName>
                                        </p:attrNameLst>
                                      </p:cBhvr>
                                      <p:to>
                                        <p:strVal val="visible"/>
                                      </p:to>
                                    </p:set>
                                    <p:animEffect transition="in" filter="strips(downRight)">
                                      <p:cBhvr>
                                        <p:cTn id="16" dur="500"/>
                                        <p:tgtEl>
                                          <p:spTgt spid="2560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5605"/>
                                        </p:tgtEl>
                                        <p:attrNameLst>
                                          <p:attrName>style.visibility</p:attrName>
                                        </p:attrNameLst>
                                      </p:cBhvr>
                                      <p:to>
                                        <p:strVal val="visible"/>
                                      </p:to>
                                    </p:set>
                                    <p:animEffect transition="in" filter="wipe(left)">
                                      <p:cBhvr>
                                        <p:cTn id="21" dur="500"/>
                                        <p:tgtEl>
                                          <p:spTgt spid="25605"/>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25611"/>
                                        </p:tgtEl>
                                        <p:attrNameLst>
                                          <p:attrName>style.visibility</p:attrName>
                                        </p:attrNameLst>
                                      </p:cBhvr>
                                      <p:to>
                                        <p:strVal val="visible"/>
                                      </p:to>
                                    </p:set>
                                    <p:animEffect transition="in" filter="wipe(left)">
                                      <p:cBhvr>
                                        <p:cTn id="25" dur="500"/>
                                        <p:tgtEl>
                                          <p:spTgt spid="25611"/>
                                        </p:tgtEl>
                                      </p:cBhvr>
                                    </p:animEffect>
                                  </p:childTnLst>
                                </p:cTn>
                              </p:par>
                            </p:childTnLst>
                          </p:cTn>
                        </p:par>
                        <p:par>
                          <p:cTn id="26" fill="hold">
                            <p:stCondLst>
                              <p:cond delay="1000"/>
                            </p:stCondLst>
                            <p:childTnLst>
                              <p:par>
                                <p:cTn id="27" presetID="12" presetClass="entr" presetSubtype="1" fill="hold" grpId="0" nodeType="afterEffect">
                                  <p:stCondLst>
                                    <p:cond delay="0"/>
                                  </p:stCondLst>
                                  <p:childTnLst>
                                    <p:set>
                                      <p:cBhvr>
                                        <p:cTn id="28" dur="1" fill="hold">
                                          <p:stCondLst>
                                            <p:cond delay="0"/>
                                          </p:stCondLst>
                                        </p:cTn>
                                        <p:tgtEl>
                                          <p:spTgt spid="25613"/>
                                        </p:tgtEl>
                                        <p:attrNameLst>
                                          <p:attrName>style.visibility</p:attrName>
                                        </p:attrNameLst>
                                      </p:cBhvr>
                                      <p:to>
                                        <p:strVal val="visible"/>
                                      </p:to>
                                    </p:set>
                                    <p:animEffect transition="in" filter="slide(fromTop)">
                                      <p:cBhvr>
                                        <p:cTn id="29" dur="500"/>
                                        <p:tgtEl>
                                          <p:spTgt spid="25613"/>
                                        </p:tgtEl>
                                      </p:cBhvr>
                                    </p:animEffect>
                                  </p:childTnLst>
                                </p:cTn>
                              </p:par>
                            </p:childTnLst>
                          </p:cTn>
                        </p:par>
                        <p:par>
                          <p:cTn id="30" fill="hold">
                            <p:stCondLst>
                              <p:cond delay="1500"/>
                            </p:stCondLst>
                            <p:childTnLst>
                              <p:par>
                                <p:cTn id="31" presetID="9" presetClass="entr" presetSubtype="0" fill="hold" grpId="0" nodeType="afterEffect">
                                  <p:stCondLst>
                                    <p:cond delay="0"/>
                                  </p:stCondLst>
                                  <p:childTnLst>
                                    <p:set>
                                      <p:cBhvr>
                                        <p:cTn id="32" dur="1" fill="hold">
                                          <p:stCondLst>
                                            <p:cond delay="0"/>
                                          </p:stCondLst>
                                        </p:cTn>
                                        <p:tgtEl>
                                          <p:spTgt spid="25612"/>
                                        </p:tgtEl>
                                        <p:attrNameLst>
                                          <p:attrName>style.visibility</p:attrName>
                                        </p:attrNameLst>
                                      </p:cBhvr>
                                      <p:to>
                                        <p:strVal val="visible"/>
                                      </p:to>
                                    </p:set>
                                    <p:animEffect transition="in" filter="dissolve">
                                      <p:cBhvr>
                                        <p:cTn id="33" dur="500"/>
                                        <p:tgtEl>
                                          <p:spTgt spid="25612"/>
                                        </p:tgtEl>
                                      </p:cBhvr>
                                    </p:animEffect>
                                  </p:childTnLst>
                                </p:cTn>
                              </p:par>
                            </p:childTnLst>
                          </p:cTn>
                        </p:par>
                        <p:par>
                          <p:cTn id="34" fill="hold">
                            <p:stCondLst>
                              <p:cond delay="2000"/>
                            </p:stCondLst>
                            <p:childTnLst>
                              <p:par>
                                <p:cTn id="35" presetID="12" presetClass="entr" presetSubtype="1" fill="hold" grpId="0" nodeType="afterEffect">
                                  <p:stCondLst>
                                    <p:cond delay="0"/>
                                  </p:stCondLst>
                                  <p:childTnLst>
                                    <p:set>
                                      <p:cBhvr>
                                        <p:cTn id="36" dur="1" fill="hold">
                                          <p:stCondLst>
                                            <p:cond delay="0"/>
                                          </p:stCondLst>
                                        </p:cTn>
                                        <p:tgtEl>
                                          <p:spTgt spid="25607"/>
                                        </p:tgtEl>
                                        <p:attrNameLst>
                                          <p:attrName>style.visibility</p:attrName>
                                        </p:attrNameLst>
                                      </p:cBhvr>
                                      <p:to>
                                        <p:strVal val="visible"/>
                                      </p:to>
                                    </p:set>
                                    <p:animEffect transition="in" filter="slide(fromTop)">
                                      <p:cBhvr>
                                        <p:cTn id="37" dur="500"/>
                                        <p:tgtEl>
                                          <p:spTgt spid="25607"/>
                                        </p:tgtEl>
                                      </p:cBhvr>
                                    </p:animEffect>
                                  </p:childTnLst>
                                </p:cTn>
                              </p:par>
                            </p:childTnLst>
                          </p:cTn>
                        </p:par>
                        <p:par>
                          <p:cTn id="38" fill="hold">
                            <p:stCondLst>
                              <p:cond delay="2500"/>
                            </p:stCondLst>
                            <p:childTnLst>
                              <p:par>
                                <p:cTn id="39" presetID="9" presetClass="entr" presetSubtype="0" fill="hold" grpId="0" nodeType="afterEffect">
                                  <p:stCondLst>
                                    <p:cond delay="0"/>
                                  </p:stCondLst>
                                  <p:childTnLst>
                                    <p:set>
                                      <p:cBhvr>
                                        <p:cTn id="40" dur="1" fill="hold">
                                          <p:stCondLst>
                                            <p:cond delay="0"/>
                                          </p:stCondLst>
                                        </p:cTn>
                                        <p:tgtEl>
                                          <p:spTgt spid="25606"/>
                                        </p:tgtEl>
                                        <p:attrNameLst>
                                          <p:attrName>style.visibility</p:attrName>
                                        </p:attrNameLst>
                                      </p:cBhvr>
                                      <p:to>
                                        <p:strVal val="visible"/>
                                      </p:to>
                                    </p:set>
                                    <p:animEffect transition="in" filter="dissolve">
                                      <p:cBhvr>
                                        <p:cTn id="41" dur="500"/>
                                        <p:tgtEl>
                                          <p:spTgt spid="25606"/>
                                        </p:tgtEl>
                                      </p:cBhvr>
                                    </p:animEffect>
                                  </p:childTnLst>
                                </p:cTn>
                              </p:par>
                            </p:childTnLst>
                          </p:cTn>
                        </p:par>
                      </p:childTnLst>
                    </p:cTn>
                  </p:par>
                  <p:par>
                    <p:cTn id="42" fill="hold">
                      <p:stCondLst>
                        <p:cond delay="indefinite"/>
                      </p:stCondLst>
                      <p:childTnLst>
                        <p:par>
                          <p:cTn id="43" fill="hold">
                            <p:stCondLst>
                              <p:cond delay="0"/>
                            </p:stCondLst>
                            <p:childTnLst>
                              <p:par>
                                <p:cTn id="44" presetID="17" presetClass="entr" presetSubtype="4" fill="hold" grpId="0" nodeType="clickEffect">
                                  <p:stCondLst>
                                    <p:cond delay="0"/>
                                  </p:stCondLst>
                                  <p:childTnLst>
                                    <p:set>
                                      <p:cBhvr>
                                        <p:cTn id="45" dur="1" fill="hold">
                                          <p:stCondLst>
                                            <p:cond delay="0"/>
                                          </p:stCondLst>
                                        </p:cTn>
                                        <p:tgtEl>
                                          <p:spTgt spid="25608"/>
                                        </p:tgtEl>
                                        <p:attrNameLst>
                                          <p:attrName>style.visibility</p:attrName>
                                        </p:attrNameLst>
                                      </p:cBhvr>
                                      <p:to>
                                        <p:strVal val="visible"/>
                                      </p:to>
                                    </p:set>
                                    <p:anim calcmode="lin" valueType="num">
                                      <p:cBhvr>
                                        <p:cTn id="46" dur="500" fill="hold"/>
                                        <p:tgtEl>
                                          <p:spTgt spid="25608"/>
                                        </p:tgtEl>
                                        <p:attrNameLst>
                                          <p:attrName>ppt_x</p:attrName>
                                        </p:attrNameLst>
                                      </p:cBhvr>
                                      <p:tavLst>
                                        <p:tav tm="0">
                                          <p:val>
                                            <p:strVal val="#ppt_x"/>
                                          </p:val>
                                        </p:tav>
                                        <p:tav tm="100000">
                                          <p:val>
                                            <p:strVal val="#ppt_x"/>
                                          </p:val>
                                        </p:tav>
                                      </p:tavLst>
                                    </p:anim>
                                    <p:anim calcmode="lin" valueType="num">
                                      <p:cBhvr>
                                        <p:cTn id="47" dur="500" fill="hold"/>
                                        <p:tgtEl>
                                          <p:spTgt spid="25608"/>
                                        </p:tgtEl>
                                        <p:attrNameLst>
                                          <p:attrName>ppt_y</p:attrName>
                                        </p:attrNameLst>
                                      </p:cBhvr>
                                      <p:tavLst>
                                        <p:tav tm="0">
                                          <p:val>
                                            <p:strVal val="#ppt_y+#ppt_h/2"/>
                                          </p:val>
                                        </p:tav>
                                        <p:tav tm="100000">
                                          <p:val>
                                            <p:strVal val="#ppt_y"/>
                                          </p:val>
                                        </p:tav>
                                      </p:tavLst>
                                    </p:anim>
                                    <p:anim calcmode="lin" valueType="num">
                                      <p:cBhvr>
                                        <p:cTn id="48" dur="500" fill="hold"/>
                                        <p:tgtEl>
                                          <p:spTgt spid="25608"/>
                                        </p:tgtEl>
                                        <p:attrNameLst>
                                          <p:attrName>ppt_w</p:attrName>
                                        </p:attrNameLst>
                                      </p:cBhvr>
                                      <p:tavLst>
                                        <p:tav tm="0">
                                          <p:val>
                                            <p:strVal val="#ppt_w"/>
                                          </p:val>
                                        </p:tav>
                                        <p:tav tm="100000">
                                          <p:val>
                                            <p:strVal val="#ppt_w"/>
                                          </p:val>
                                        </p:tav>
                                      </p:tavLst>
                                    </p:anim>
                                    <p:anim calcmode="lin" valueType="num">
                                      <p:cBhvr>
                                        <p:cTn id="49" dur="500" fill="hold"/>
                                        <p:tgtEl>
                                          <p:spTgt spid="25608"/>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25608"/>
                                        </p:tgtEl>
                                        <p:attrNameLst>
                                          <p:attrName>style.visibility</p:attrName>
                                        </p:attrNameLst>
                                      </p:cBhvr>
                                      <p:to>
                                        <p:strVal val="hidden"/>
                                      </p:to>
                                    </p:set>
                                  </p:subTnLst>
                                </p:cTn>
                              </p:par>
                            </p:childTnLst>
                          </p:cTn>
                        </p:par>
                        <p:par>
                          <p:cTn id="50" fill="hold">
                            <p:stCondLst>
                              <p:cond delay="500"/>
                            </p:stCondLst>
                            <p:childTnLst>
                              <p:par>
                                <p:cTn id="51" presetID="9" presetClass="entr" presetSubtype="0" fill="hold" grpId="0" nodeType="afterEffect">
                                  <p:stCondLst>
                                    <p:cond delay="0"/>
                                  </p:stCondLst>
                                  <p:childTnLst>
                                    <p:set>
                                      <p:cBhvr>
                                        <p:cTn id="52" dur="1" fill="hold">
                                          <p:stCondLst>
                                            <p:cond delay="0"/>
                                          </p:stCondLst>
                                        </p:cTn>
                                        <p:tgtEl>
                                          <p:spTgt spid="25616"/>
                                        </p:tgtEl>
                                        <p:attrNameLst>
                                          <p:attrName>style.visibility</p:attrName>
                                        </p:attrNameLst>
                                      </p:cBhvr>
                                      <p:to>
                                        <p:strVal val="visible"/>
                                      </p:to>
                                    </p:set>
                                    <p:animEffect transition="in" filter="dissolve">
                                      <p:cBhvr>
                                        <p:cTn id="53" dur="500"/>
                                        <p:tgtEl>
                                          <p:spTgt spid="25616"/>
                                        </p:tgtEl>
                                      </p:cBhvr>
                                    </p:animEffect>
                                  </p:childTnLst>
                                  <p:subTnLst>
                                    <p:set>
                                      <p:cBhvr override="childStyle">
                                        <p:cTn dur="1" fill="hold" display="0" masterRel="nextClick" afterEffect="1"/>
                                        <p:tgtEl>
                                          <p:spTgt spid="25616"/>
                                        </p:tgtEl>
                                        <p:attrNameLst>
                                          <p:attrName>style.visibility</p:attrName>
                                        </p:attrNameLst>
                                      </p:cBhvr>
                                      <p:to>
                                        <p:strVal val="hidden"/>
                                      </p:to>
                                    </p:set>
                                  </p:subTnLst>
                                </p:cTn>
                              </p:par>
                            </p:childTnLst>
                          </p:cTn>
                        </p:par>
                      </p:childTnLst>
                    </p:cTn>
                  </p:par>
                  <p:par>
                    <p:cTn id="54" fill="hold">
                      <p:stCondLst>
                        <p:cond delay="indefinite"/>
                      </p:stCondLst>
                      <p:childTnLst>
                        <p:par>
                          <p:cTn id="55" fill="hold">
                            <p:stCondLst>
                              <p:cond delay="0"/>
                            </p:stCondLst>
                            <p:childTnLst>
                              <p:par>
                                <p:cTn id="56" presetID="17" presetClass="entr" presetSubtype="4" fill="hold" grpId="0" nodeType="clickEffect">
                                  <p:stCondLst>
                                    <p:cond delay="0"/>
                                  </p:stCondLst>
                                  <p:childTnLst>
                                    <p:set>
                                      <p:cBhvr>
                                        <p:cTn id="57" dur="1" fill="hold">
                                          <p:stCondLst>
                                            <p:cond delay="0"/>
                                          </p:stCondLst>
                                        </p:cTn>
                                        <p:tgtEl>
                                          <p:spTgt spid="25609"/>
                                        </p:tgtEl>
                                        <p:attrNameLst>
                                          <p:attrName>style.visibility</p:attrName>
                                        </p:attrNameLst>
                                      </p:cBhvr>
                                      <p:to>
                                        <p:strVal val="visible"/>
                                      </p:to>
                                    </p:set>
                                    <p:anim calcmode="lin" valueType="num">
                                      <p:cBhvr>
                                        <p:cTn id="58" dur="500" fill="hold"/>
                                        <p:tgtEl>
                                          <p:spTgt spid="25609"/>
                                        </p:tgtEl>
                                        <p:attrNameLst>
                                          <p:attrName>ppt_x</p:attrName>
                                        </p:attrNameLst>
                                      </p:cBhvr>
                                      <p:tavLst>
                                        <p:tav tm="0">
                                          <p:val>
                                            <p:strVal val="#ppt_x"/>
                                          </p:val>
                                        </p:tav>
                                        <p:tav tm="100000">
                                          <p:val>
                                            <p:strVal val="#ppt_x"/>
                                          </p:val>
                                        </p:tav>
                                      </p:tavLst>
                                    </p:anim>
                                    <p:anim calcmode="lin" valueType="num">
                                      <p:cBhvr>
                                        <p:cTn id="59" dur="500" fill="hold"/>
                                        <p:tgtEl>
                                          <p:spTgt spid="25609"/>
                                        </p:tgtEl>
                                        <p:attrNameLst>
                                          <p:attrName>ppt_y</p:attrName>
                                        </p:attrNameLst>
                                      </p:cBhvr>
                                      <p:tavLst>
                                        <p:tav tm="0">
                                          <p:val>
                                            <p:strVal val="#ppt_y+#ppt_h/2"/>
                                          </p:val>
                                        </p:tav>
                                        <p:tav tm="100000">
                                          <p:val>
                                            <p:strVal val="#ppt_y"/>
                                          </p:val>
                                        </p:tav>
                                      </p:tavLst>
                                    </p:anim>
                                    <p:anim calcmode="lin" valueType="num">
                                      <p:cBhvr>
                                        <p:cTn id="60" dur="500" fill="hold"/>
                                        <p:tgtEl>
                                          <p:spTgt spid="25609"/>
                                        </p:tgtEl>
                                        <p:attrNameLst>
                                          <p:attrName>ppt_w</p:attrName>
                                        </p:attrNameLst>
                                      </p:cBhvr>
                                      <p:tavLst>
                                        <p:tav tm="0">
                                          <p:val>
                                            <p:strVal val="#ppt_w"/>
                                          </p:val>
                                        </p:tav>
                                        <p:tav tm="100000">
                                          <p:val>
                                            <p:strVal val="#ppt_w"/>
                                          </p:val>
                                        </p:tav>
                                      </p:tavLst>
                                    </p:anim>
                                    <p:anim calcmode="lin" valueType="num">
                                      <p:cBhvr>
                                        <p:cTn id="61" dur="500" fill="hold"/>
                                        <p:tgtEl>
                                          <p:spTgt spid="25609"/>
                                        </p:tgtEl>
                                        <p:attrNameLst>
                                          <p:attrName>ppt_h</p:attrName>
                                        </p:attrNameLst>
                                      </p:cBhvr>
                                      <p:tavLst>
                                        <p:tav tm="0">
                                          <p:val>
                                            <p:fltVal val="0"/>
                                          </p:val>
                                        </p:tav>
                                        <p:tav tm="100000">
                                          <p:val>
                                            <p:strVal val="#ppt_h"/>
                                          </p:val>
                                        </p:tav>
                                      </p:tavLst>
                                    </p:anim>
                                  </p:childTnLst>
                                </p:cTn>
                              </p:par>
                            </p:childTnLst>
                          </p:cTn>
                        </p:par>
                        <p:par>
                          <p:cTn id="62" fill="hold">
                            <p:stCondLst>
                              <p:cond delay="500"/>
                            </p:stCondLst>
                            <p:childTnLst>
                              <p:par>
                                <p:cTn id="63" presetID="9" presetClass="entr" presetSubtype="0" fill="hold" grpId="0" nodeType="afterEffect">
                                  <p:stCondLst>
                                    <p:cond delay="0"/>
                                  </p:stCondLst>
                                  <p:childTnLst>
                                    <p:set>
                                      <p:cBhvr>
                                        <p:cTn id="64" dur="1" fill="hold">
                                          <p:stCondLst>
                                            <p:cond delay="0"/>
                                          </p:stCondLst>
                                        </p:cTn>
                                        <p:tgtEl>
                                          <p:spTgt spid="25610"/>
                                        </p:tgtEl>
                                        <p:attrNameLst>
                                          <p:attrName>style.visibility</p:attrName>
                                        </p:attrNameLst>
                                      </p:cBhvr>
                                      <p:to>
                                        <p:strVal val="visible"/>
                                      </p:to>
                                    </p:set>
                                    <p:animEffect transition="in" filter="dissolve">
                                      <p:cBhvr>
                                        <p:cTn id="65" dur="500"/>
                                        <p:tgtEl>
                                          <p:spTgt spid="25610"/>
                                        </p:tgtEl>
                                      </p:cBhvr>
                                    </p:animEffect>
                                  </p:childTnLst>
                                </p:cTn>
                              </p:par>
                            </p:childTnLst>
                          </p:cTn>
                        </p:par>
                        <p:par>
                          <p:cTn id="66" fill="hold">
                            <p:stCondLst>
                              <p:cond delay="1000"/>
                            </p:stCondLst>
                            <p:childTnLst>
                              <p:par>
                                <p:cTn id="67" presetID="22" presetClass="entr" presetSubtype="2" fill="hold" grpId="0" nodeType="afterEffect">
                                  <p:stCondLst>
                                    <p:cond delay="0"/>
                                  </p:stCondLst>
                                  <p:childTnLst>
                                    <p:set>
                                      <p:cBhvr>
                                        <p:cTn id="68" dur="1" fill="hold">
                                          <p:stCondLst>
                                            <p:cond delay="0"/>
                                          </p:stCondLst>
                                        </p:cTn>
                                        <p:tgtEl>
                                          <p:spTgt spid="25614"/>
                                        </p:tgtEl>
                                        <p:attrNameLst>
                                          <p:attrName>style.visibility</p:attrName>
                                        </p:attrNameLst>
                                      </p:cBhvr>
                                      <p:to>
                                        <p:strVal val="visible"/>
                                      </p:to>
                                    </p:set>
                                    <p:animEffect transition="in" filter="wipe(right)">
                                      <p:cBhvr>
                                        <p:cTn id="69" dur="500"/>
                                        <p:tgtEl>
                                          <p:spTgt spid="25614"/>
                                        </p:tgtEl>
                                      </p:cBhvr>
                                    </p:animEffect>
                                  </p:childTnLst>
                                </p:cTn>
                              </p:par>
                            </p:childTnLst>
                          </p:cTn>
                        </p:par>
                        <p:par>
                          <p:cTn id="70" fill="hold">
                            <p:stCondLst>
                              <p:cond delay="1500"/>
                            </p:stCondLst>
                            <p:childTnLst>
                              <p:par>
                                <p:cTn id="71" presetID="1" presetClass="entr" presetSubtype="0" fill="hold" grpId="0" nodeType="afterEffect">
                                  <p:stCondLst>
                                    <p:cond delay="0"/>
                                  </p:stCondLst>
                                  <p:childTnLst>
                                    <p:set>
                                      <p:cBhvr>
                                        <p:cTn id="72" dur="1" fill="hold">
                                          <p:stCondLst>
                                            <p:cond delay="499"/>
                                          </p:stCondLst>
                                        </p:cTn>
                                        <p:tgtEl>
                                          <p:spTgt spid="25617"/>
                                        </p:tgtEl>
                                        <p:attrNameLst>
                                          <p:attrName>style.visibility</p:attrName>
                                        </p:attrNameLst>
                                      </p:cBhvr>
                                      <p:to>
                                        <p:strVal val="visible"/>
                                      </p:to>
                                    </p:set>
                                  </p:childTnLst>
                                </p:cTn>
                              </p:par>
                            </p:childTnLst>
                          </p:cTn>
                        </p:par>
                        <p:par>
                          <p:cTn id="73" fill="hold">
                            <p:stCondLst>
                              <p:cond delay="2000"/>
                            </p:stCondLst>
                            <p:childTnLst>
                              <p:par>
                                <p:cTn id="74" presetID="9" presetClass="entr" presetSubtype="0" fill="hold" grpId="0" nodeType="afterEffect">
                                  <p:stCondLst>
                                    <p:cond delay="0"/>
                                  </p:stCondLst>
                                  <p:childTnLst>
                                    <p:set>
                                      <p:cBhvr>
                                        <p:cTn id="75" dur="1" fill="hold">
                                          <p:stCondLst>
                                            <p:cond delay="0"/>
                                          </p:stCondLst>
                                        </p:cTn>
                                        <p:tgtEl>
                                          <p:spTgt spid="25615"/>
                                        </p:tgtEl>
                                        <p:attrNameLst>
                                          <p:attrName>style.visibility</p:attrName>
                                        </p:attrNameLst>
                                      </p:cBhvr>
                                      <p:to>
                                        <p:strVal val="visible"/>
                                      </p:to>
                                    </p:set>
                                    <p:animEffect transition="in" filter="dissolve">
                                      <p:cBhvr>
                                        <p:cTn id="76" dur="500"/>
                                        <p:tgtEl>
                                          <p:spTgt spid="25615"/>
                                        </p:tgtEl>
                                      </p:cBhvr>
                                    </p:animEffect>
                                  </p:childTnLst>
                                </p:cTn>
                              </p:par>
                            </p:childTnLst>
                          </p:cTn>
                        </p:par>
                      </p:childTnLst>
                    </p:cTn>
                  </p:par>
                  <p:par>
                    <p:cTn id="77" fill="hold">
                      <p:stCondLst>
                        <p:cond delay="indefinite"/>
                      </p:stCondLst>
                      <p:childTnLst>
                        <p:par>
                          <p:cTn id="78" fill="hold">
                            <p:stCondLst>
                              <p:cond delay="0"/>
                            </p:stCondLst>
                            <p:childTnLst>
                              <p:par>
                                <p:cTn id="79" presetID="2" presetClass="entr" presetSubtype="4" fill="hold" grpId="0" nodeType="clickEffect">
                                  <p:stCondLst>
                                    <p:cond delay="0"/>
                                  </p:stCondLst>
                                  <p:childTnLst>
                                    <p:set>
                                      <p:cBhvr>
                                        <p:cTn id="80" dur="1" fill="hold">
                                          <p:stCondLst>
                                            <p:cond delay="0"/>
                                          </p:stCondLst>
                                        </p:cTn>
                                        <p:tgtEl>
                                          <p:spTgt spid="25618"/>
                                        </p:tgtEl>
                                        <p:attrNameLst>
                                          <p:attrName>style.visibility</p:attrName>
                                        </p:attrNameLst>
                                      </p:cBhvr>
                                      <p:to>
                                        <p:strVal val="visible"/>
                                      </p:to>
                                    </p:set>
                                    <p:anim calcmode="lin" valueType="num">
                                      <p:cBhvr additive="base">
                                        <p:cTn id="81" dur="500" fill="hold"/>
                                        <p:tgtEl>
                                          <p:spTgt spid="25618"/>
                                        </p:tgtEl>
                                        <p:attrNameLst>
                                          <p:attrName>ppt_x</p:attrName>
                                        </p:attrNameLst>
                                      </p:cBhvr>
                                      <p:tavLst>
                                        <p:tav tm="0">
                                          <p:val>
                                            <p:strVal val="#ppt_x"/>
                                          </p:val>
                                        </p:tav>
                                        <p:tav tm="100000">
                                          <p:val>
                                            <p:strVal val="#ppt_x"/>
                                          </p:val>
                                        </p:tav>
                                      </p:tavLst>
                                    </p:anim>
                                    <p:anim calcmode="lin" valueType="num">
                                      <p:cBhvr additive="base">
                                        <p:cTn id="82" dur="500" fill="hold"/>
                                        <p:tgtEl>
                                          <p:spTgt spid="25618"/>
                                        </p:tgtEl>
                                        <p:attrNameLst>
                                          <p:attrName>ppt_y</p:attrName>
                                        </p:attrNameLst>
                                      </p:cBhvr>
                                      <p:tavLst>
                                        <p:tav tm="0">
                                          <p:val>
                                            <p:strVal val="1+#ppt_h/2"/>
                                          </p:val>
                                        </p:tav>
                                        <p:tav tm="100000">
                                          <p:val>
                                            <p:strVal val="#ppt_y"/>
                                          </p:val>
                                        </p:tav>
                                      </p:tavLst>
                                    </p:anim>
                                  </p:childTnLst>
                                </p:cTn>
                              </p:par>
                            </p:childTnLst>
                          </p:cTn>
                        </p:par>
                        <p:par>
                          <p:cTn id="83" fill="hold">
                            <p:stCondLst>
                              <p:cond delay="500"/>
                            </p:stCondLst>
                            <p:childTnLst>
                              <p:par>
                                <p:cTn id="84" presetID="12" presetClass="entr" presetSubtype="2" fill="hold" grpId="0" nodeType="afterEffect">
                                  <p:stCondLst>
                                    <p:cond delay="0"/>
                                  </p:stCondLst>
                                  <p:childTnLst>
                                    <p:set>
                                      <p:cBhvr>
                                        <p:cTn id="85" dur="1" fill="hold">
                                          <p:stCondLst>
                                            <p:cond delay="0"/>
                                          </p:stCondLst>
                                        </p:cTn>
                                        <p:tgtEl>
                                          <p:spTgt spid="25620"/>
                                        </p:tgtEl>
                                        <p:attrNameLst>
                                          <p:attrName>style.visibility</p:attrName>
                                        </p:attrNameLst>
                                      </p:cBhvr>
                                      <p:to>
                                        <p:strVal val="visible"/>
                                      </p:to>
                                    </p:set>
                                    <p:animEffect transition="in" filter="slide(fromRight)">
                                      <p:cBhvr>
                                        <p:cTn id="86" dur="500"/>
                                        <p:tgtEl>
                                          <p:spTgt spid="256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ldLvl="0" animBg="1" autoUpdateAnimBg="0"/>
      <p:bldP spid="25604" grpId="0" bldLvl="0" animBg="1" autoUpdateAnimBg="0"/>
      <p:bldP spid="25605" grpId="0" bldLvl="0" animBg="1"/>
      <p:bldP spid="25606" grpId="0" bldLvl="0" animBg="1"/>
      <p:bldP spid="25607" grpId="0" bldLvl="0" animBg="1" autoUpdateAnimBg="0"/>
      <p:bldP spid="25608" grpId="0" bldLvl="0" animBg="1"/>
      <p:bldP spid="25609" grpId="0" bldLvl="0" animBg="1"/>
      <p:bldP spid="25610" grpId="0" bldLvl="0" animBg="1" autoUpdateAnimBg="0"/>
      <p:bldP spid="25611" grpId="0" bldLvl="0" animBg="1"/>
      <p:bldP spid="25612" grpId="0" bldLvl="0" animBg="1"/>
      <p:bldP spid="25613" grpId="0" bldLvl="0" animBg="1" autoUpdateAnimBg="0"/>
      <p:bldP spid="25614" grpId="0" bldLvl="0" animBg="1"/>
      <p:bldP spid="25615" grpId="0" bldLvl="0" animBg="1"/>
      <p:bldP spid="25616" grpId="0" bldLvl="0" animBg="1" autoUpdateAnimBg="0"/>
      <p:bldP spid="25617" grpId="0" bldLvl="0" animBg="1"/>
      <p:bldP spid="25618" grpId="0" bldLvl="0" animBg="1" autoUpdateAnimBg="0"/>
      <p:bldP spid="25620" grpId="0" bldLvl="0" animBg="1"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descr="Green Ball">
            <a:hlinkClick r:id="rId2" action="ppaction://hlinksldjump" highlightClick="1"/>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846138"/>
            <a:ext cx="304800" cy="304800"/>
          </a:xfrm>
          <a:prstGeom prst="rect">
            <a:avLst/>
          </a:prstGeom>
          <a:noFill/>
          <a:extLst>
            <a:ext uri="{909E8E84-426E-40DD-AFC4-6F175D3DCCD1}">
              <a14:hiddenFill xmlns:a14="http://schemas.microsoft.com/office/drawing/2010/main">
                <a:solidFill>
                  <a:srgbClr val="FFFFFF"/>
                </a:solidFill>
              </a14:hiddenFill>
            </a:ext>
          </a:extLst>
        </p:spPr>
      </p:pic>
      <p:sp>
        <p:nvSpPr>
          <p:cNvPr id="26627" name="Text Box 3"/>
          <p:cNvSpPr txBox="1">
            <a:spLocks noChangeArrowheads="1"/>
          </p:cNvSpPr>
          <p:nvPr/>
        </p:nvSpPr>
        <p:spPr bwMode="auto">
          <a:xfrm>
            <a:off x="1143000" y="541338"/>
            <a:ext cx="5257800" cy="12988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40000"/>
              </a:lnSpc>
            </a:pPr>
            <a:r>
              <a:rPr lang="zh-CN" altLang="zh-CN" dirty="0">
                <a:solidFill>
                  <a:srgbClr val="0000FF"/>
                </a:solidFill>
                <a:ea typeface="楷体_GB2312" pitchFamily="49" charset="-122"/>
              </a:rPr>
              <a:t>set i to 2, 3,..., n,</a:t>
            </a:r>
            <a:endParaRPr lang="en-US" altLang="zh-CN" dirty="0">
              <a:solidFill>
                <a:srgbClr val="0000FF"/>
              </a:solidFill>
              <a:ea typeface="楷体_GB2312" pitchFamily="49" charset="-122"/>
            </a:endParaRPr>
          </a:p>
          <a:p>
            <a:pPr>
              <a:lnSpc>
                <a:spcPct val="140000"/>
              </a:lnSpc>
            </a:pPr>
            <a:r>
              <a:rPr lang="zh-CN" altLang="en-US" dirty="0">
                <a:solidFill>
                  <a:srgbClr val="0000FF"/>
                </a:solidFill>
                <a:ea typeface="楷体_GB2312" pitchFamily="49" charset="-122"/>
              </a:rPr>
              <a:t>Sort the entire sequence.</a:t>
            </a:r>
            <a:endParaRPr lang="zh-CN" altLang="en-US" dirty="0"/>
          </a:p>
        </p:txBody>
      </p:sp>
      <p:sp>
        <p:nvSpPr>
          <p:cNvPr id="26628" name="Text Box 4"/>
          <p:cNvSpPr txBox="1">
            <a:spLocks noChangeArrowheads="1"/>
          </p:cNvSpPr>
          <p:nvPr/>
        </p:nvSpPr>
        <p:spPr bwMode="auto">
          <a:xfrm>
            <a:off x="1004888" y="2141538"/>
            <a:ext cx="7847330" cy="310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40000"/>
              </a:lnSpc>
            </a:pPr>
            <a:r>
              <a:rPr lang="en-US" altLang="zh-CN" b="1" dirty="0"/>
              <a:t>for (  i=2;   i&lt;=n;  ++ i )</a:t>
            </a:r>
            <a:endParaRPr lang="en-US" altLang="zh-CN" dirty="0"/>
          </a:p>
          <a:p>
            <a:pPr algn="l">
              <a:lnSpc>
                <a:spcPct val="140000"/>
              </a:lnSpc>
            </a:pPr>
            <a:r>
              <a:rPr lang="en-US" altLang="zh-CN" b="1" dirty="0">
                <a:solidFill>
                  <a:srgbClr val="008000"/>
                </a:solidFill>
                <a:ea typeface="楷体_GB2312" pitchFamily="49" charset="-122"/>
                <a:sym typeface="+mn-ea"/>
              </a:rPr>
              <a:t>if (</a:t>
            </a:r>
            <a:r>
              <a:rPr lang="en-US" altLang="zh-CN" b="1" dirty="0">
                <a:solidFill>
                  <a:srgbClr val="FF0000"/>
                </a:solidFill>
                <a:ea typeface="楷体_GB2312" pitchFamily="49" charset="-122"/>
                <a:sym typeface="+mn-ea"/>
              </a:rPr>
              <a:t>R[</a:t>
            </a:r>
            <a:r>
              <a:rPr lang="en-US" altLang="zh-CN" b="1" dirty="0" err="1">
                <a:solidFill>
                  <a:srgbClr val="FF0000"/>
                </a:solidFill>
                <a:ea typeface="楷体_GB2312" pitchFamily="49" charset="-122"/>
                <a:sym typeface="+mn-ea"/>
              </a:rPr>
              <a:t>i</a:t>
            </a:r>
            <a:r>
              <a:rPr lang="en-US" altLang="zh-CN" b="1" dirty="0">
                <a:solidFill>
                  <a:srgbClr val="FF0000"/>
                </a:solidFill>
                <a:ea typeface="楷体_GB2312" pitchFamily="49" charset="-122"/>
                <a:sym typeface="+mn-ea"/>
              </a:rPr>
              <a:t>].key&lt;R[i-1].key</a:t>
            </a:r>
            <a:r>
              <a:rPr lang="en-US" altLang="zh-CN" b="1" dirty="0">
                <a:solidFill>
                  <a:srgbClr val="008000"/>
                </a:solidFill>
                <a:ea typeface="楷体_GB2312" pitchFamily="49" charset="-122"/>
                <a:sym typeface="+mn-ea"/>
              </a:rPr>
              <a:t>) </a:t>
            </a:r>
            <a:endParaRPr lang="en-US" altLang="zh-CN" b="1" dirty="0">
              <a:solidFill>
                <a:srgbClr val="008000"/>
              </a:solidFill>
              <a:ea typeface="楷体_GB2312" pitchFamily="49" charset="-122"/>
            </a:endParaRPr>
          </a:p>
          <a:p>
            <a:pPr algn="l">
              <a:lnSpc>
                <a:spcPct val="140000"/>
              </a:lnSpc>
            </a:pPr>
            <a:r>
              <a:rPr lang="en-US" altLang="zh-CN" b="1" dirty="0">
                <a:solidFill>
                  <a:srgbClr val="008000"/>
                </a:solidFill>
                <a:ea typeface="楷体_GB2312" pitchFamily="49" charset="-122"/>
                <a:sym typeface="+mn-ea"/>
              </a:rPr>
              <a:t>     {  </a:t>
            </a:r>
            <a:r>
              <a:rPr lang="en-US" altLang="zh-CN" b="1" dirty="0">
                <a:solidFill>
                  <a:srgbClr val="008000"/>
                </a:solidFill>
                <a:ea typeface="楷体_GB2312" pitchFamily="49" charset="-122"/>
              </a:rPr>
              <a:t>Find the insertion position of R[i] in R[1..i-1];</a:t>
            </a:r>
          </a:p>
          <a:p>
            <a:pPr algn="l">
              <a:lnSpc>
                <a:spcPct val="140000"/>
              </a:lnSpc>
            </a:pPr>
            <a:r>
              <a:rPr lang="en-US" altLang="zh-CN" b="1" dirty="0">
                <a:solidFill>
                  <a:srgbClr val="008000"/>
                </a:solidFill>
                <a:ea typeface="楷体_GB2312" pitchFamily="49" charset="-122"/>
              </a:rPr>
              <a:t>         </a:t>
            </a:r>
            <a:r>
              <a:rPr lang="zh-CN" altLang="en-US" b="1" dirty="0">
                <a:solidFill>
                  <a:srgbClr val="008000"/>
                </a:solidFill>
                <a:ea typeface="楷体_GB2312" pitchFamily="49" charset="-122"/>
              </a:rPr>
              <a:t>Insert R[i];</a:t>
            </a:r>
          </a:p>
          <a:p>
            <a:pPr algn="l">
              <a:lnSpc>
                <a:spcPct val="140000"/>
              </a:lnSpc>
            </a:pPr>
            <a:r>
              <a:rPr lang="en-US" altLang="zh-CN" b="1" dirty="0">
                <a:solidFill>
                  <a:srgbClr val="008000"/>
                </a:solidFill>
                <a:ea typeface="楷体_GB2312" pitchFamily="49" charset="-122"/>
              </a:rPr>
              <a:t>      }</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26</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26626"/>
                                        </p:tgtEl>
                                        <p:attrNameLst>
                                          <p:attrName>style.visibility</p:attrName>
                                        </p:attrNameLst>
                                      </p:cBhvr>
                                      <p:to>
                                        <p:strVal val="visible"/>
                                      </p:to>
                                    </p:set>
                                  </p:childTnLst>
                                </p:cTn>
                              </p:par>
                            </p:childTnLst>
                          </p:cTn>
                        </p:par>
                        <p:par>
                          <p:cTn id="7" fill="hold">
                            <p:stCondLst>
                              <p:cond delay="500"/>
                            </p:stCondLst>
                            <p:childTnLst>
                              <p:par>
                                <p:cTn id="8" presetID="18" presetClass="entr" presetSubtype="6" fill="hold" grpId="0" nodeType="afterEffect">
                                  <p:stCondLst>
                                    <p:cond delay="0"/>
                                  </p:stCondLst>
                                  <p:childTnLst>
                                    <p:set>
                                      <p:cBhvr>
                                        <p:cTn id="9" dur="1" fill="hold">
                                          <p:stCondLst>
                                            <p:cond delay="0"/>
                                          </p:stCondLst>
                                        </p:cTn>
                                        <p:tgtEl>
                                          <p:spTgt spid="26627"/>
                                        </p:tgtEl>
                                        <p:attrNameLst>
                                          <p:attrName>style.visibility</p:attrName>
                                        </p:attrNameLst>
                                      </p:cBhvr>
                                      <p:to>
                                        <p:strVal val="visible"/>
                                      </p:to>
                                    </p:set>
                                    <p:animEffect transition="in" filter="strips(downRight)">
                                      <p:cBhvr>
                                        <p:cTn id="10" dur="500"/>
                                        <p:tgtEl>
                                          <p:spTgt spid="26627"/>
                                        </p:tgtEl>
                                      </p:cBhvr>
                                    </p:animEffect>
                                  </p:childTnLst>
                                </p:cTn>
                              </p:par>
                            </p:childTnLst>
                          </p:cTn>
                        </p:par>
                      </p:childTnLst>
                    </p:cTn>
                  </p:par>
                  <p:par>
                    <p:cTn id="11" fill="hold">
                      <p:stCondLst>
                        <p:cond delay="indefinite"/>
                      </p:stCondLst>
                      <p:childTnLst>
                        <p:par>
                          <p:cTn id="12" fill="hold">
                            <p:stCondLst>
                              <p:cond delay="0"/>
                            </p:stCondLst>
                            <p:childTnLst>
                              <p:par>
                                <p:cTn id="13" presetID="18" presetClass="entr" presetSubtype="6" fill="hold" grpId="0" nodeType="clickEffect">
                                  <p:stCondLst>
                                    <p:cond delay="0"/>
                                  </p:stCondLst>
                                  <p:childTnLst>
                                    <p:set>
                                      <p:cBhvr>
                                        <p:cTn id="14" dur="1" fill="hold">
                                          <p:stCondLst>
                                            <p:cond delay="0"/>
                                          </p:stCondLst>
                                        </p:cTn>
                                        <p:tgtEl>
                                          <p:spTgt spid="26628"/>
                                        </p:tgtEl>
                                        <p:attrNameLst>
                                          <p:attrName>style.visibility</p:attrName>
                                        </p:attrNameLst>
                                      </p:cBhvr>
                                      <p:to>
                                        <p:strVal val="visible"/>
                                      </p:to>
                                    </p:set>
                                    <p:animEffect transition="in" filter="strips(downRight)">
                                      <p:cBhvr>
                                        <p:cTn id="15" dur="500"/>
                                        <p:tgtEl>
                                          <p:spTgt spid="266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ldLvl="0" animBg="1" autoUpdateAnimBg="0"/>
      <p:bldP spid="26628" grpId="0" bldLvl="0" animBg="1"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ChangeArrowheads="1"/>
          </p:cNvSpPr>
          <p:nvPr/>
        </p:nvSpPr>
        <p:spPr bwMode="auto">
          <a:xfrm>
            <a:off x="685800" y="533400"/>
            <a:ext cx="77724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sz="3600" b="1">
                <a:solidFill>
                  <a:srgbClr val="990000"/>
                </a:solidFill>
                <a:latin typeface="Arial" panose="020B0604020202020204" pitchFamily="34" charset="0"/>
                <a:ea typeface="楷体_GB2312" pitchFamily="49" charset="-122"/>
                <a:cs typeface="Arial" panose="020B0604020202020204" pitchFamily="34" charset="0"/>
              </a:rPr>
              <a:t>Example of Direct Insertion Sort</a:t>
            </a:r>
          </a:p>
        </p:txBody>
      </p:sp>
      <p:sp>
        <p:nvSpPr>
          <p:cNvPr id="27651" name="Rectangle 3"/>
          <p:cNvSpPr>
            <a:spLocks noChangeArrowheads="1"/>
          </p:cNvSpPr>
          <p:nvPr/>
        </p:nvSpPr>
        <p:spPr bwMode="auto">
          <a:xfrm>
            <a:off x="457200" y="2590800"/>
            <a:ext cx="8412480"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pPr>
            <a:r>
              <a:rPr lang="en-US" altLang="zh-CN" sz="2800" dirty="0">
                <a:latin typeface="Arial" panose="020B0604020202020204" pitchFamily="34" charset="0"/>
                <a:cs typeface="Arial" panose="020B0604020202020204" pitchFamily="34" charset="0"/>
              </a:rPr>
              <a:t>	    </a:t>
            </a:r>
            <a:r>
              <a:rPr lang="en-US" altLang="zh-CN" sz="2800" b="1" dirty="0">
                <a:latin typeface="Arial" panose="020B0604020202020204" pitchFamily="34" charset="0"/>
                <a:cs typeface="Arial" panose="020B0604020202020204" pitchFamily="34" charset="0"/>
              </a:rPr>
              <a:t>Initial state</a:t>
            </a:r>
            <a:r>
              <a:rPr lang="zh-CN" altLang="en-US" sz="2800" b="1" dirty="0">
                <a:latin typeface="Arial" panose="020B0604020202020204" pitchFamily="34" charset="0"/>
                <a:cs typeface="Arial" panose="020B0604020202020204" pitchFamily="34" charset="0"/>
              </a:rPr>
              <a:t>              </a:t>
            </a:r>
            <a:r>
              <a:rPr lang="en-US" altLang="zh-CN" sz="2800" b="1" dirty="0">
                <a:latin typeface="Arial" panose="020B0604020202020204" pitchFamily="34" charset="0"/>
                <a:cs typeface="Arial" panose="020B0604020202020204" pitchFamily="34" charset="0"/>
              </a:rPr>
              <a:t> </a:t>
            </a:r>
            <a:r>
              <a:rPr lang="en-US" altLang="zh-CN" sz="2800" b="1" dirty="0">
                <a:solidFill>
                  <a:srgbClr val="008000"/>
                </a:solidFill>
                <a:latin typeface="Arial" panose="020B0604020202020204" pitchFamily="34" charset="0"/>
                <a:cs typeface="Arial" panose="020B0604020202020204" pitchFamily="34" charset="0"/>
              </a:rPr>
              <a:t>[18]  </a:t>
            </a:r>
            <a:r>
              <a:rPr lang="en-US" altLang="zh-CN" sz="2800" b="1" dirty="0">
                <a:latin typeface="Arial" panose="020B0604020202020204" pitchFamily="34" charset="0"/>
                <a:cs typeface="Arial" panose="020B0604020202020204" pitchFamily="34" charset="0"/>
              </a:rPr>
              <a:t>12  10  </a:t>
            </a:r>
            <a:r>
              <a:rPr lang="en-US" altLang="zh-CN" sz="2800" b="1" u="sng" dirty="0">
                <a:latin typeface="Arial" panose="020B0604020202020204" pitchFamily="34" charset="0"/>
                <a:cs typeface="Arial" panose="020B0604020202020204" pitchFamily="34" charset="0"/>
              </a:rPr>
              <a:t>12</a:t>
            </a:r>
            <a:r>
              <a:rPr lang="en-US" altLang="zh-CN" sz="2800" b="1" dirty="0">
                <a:latin typeface="Arial" panose="020B0604020202020204" pitchFamily="34" charset="0"/>
                <a:cs typeface="Arial" panose="020B0604020202020204" pitchFamily="34" charset="0"/>
              </a:rPr>
              <a:t>  30  16</a:t>
            </a:r>
          </a:p>
          <a:p>
            <a:pPr>
              <a:spcBef>
                <a:spcPct val="20000"/>
              </a:spcBef>
            </a:pPr>
            <a:r>
              <a:rPr lang="en-US" altLang="zh-CN" sz="2800" b="1" dirty="0">
                <a:latin typeface="Arial" panose="020B0604020202020204" pitchFamily="34" charset="0"/>
                <a:cs typeface="Arial" panose="020B0604020202020204" pitchFamily="34" charset="0"/>
              </a:rPr>
              <a:t>       Pass 1</a:t>
            </a:r>
            <a:r>
              <a:rPr lang="zh-CN" altLang="en-US" sz="2800" b="1" dirty="0">
                <a:latin typeface="Arial" panose="020B0604020202020204" pitchFamily="34" charset="0"/>
                <a:cs typeface="Arial" panose="020B0604020202020204" pitchFamily="34" charset="0"/>
              </a:rPr>
              <a:t>（</a:t>
            </a:r>
            <a:r>
              <a:rPr lang="en-US" altLang="zh-CN" sz="2800" b="1" dirty="0" err="1">
                <a:latin typeface="Arial" panose="020B0604020202020204" pitchFamily="34" charset="0"/>
                <a:cs typeface="Arial" panose="020B0604020202020204" pitchFamily="34" charset="0"/>
              </a:rPr>
              <a:t>i</a:t>
            </a:r>
            <a:r>
              <a:rPr lang="en-US" altLang="zh-CN" sz="2800" b="1" dirty="0">
                <a:latin typeface="Arial" panose="020B0604020202020204" pitchFamily="34" charset="0"/>
                <a:cs typeface="Arial" panose="020B0604020202020204" pitchFamily="34" charset="0"/>
              </a:rPr>
              <a:t>=2</a:t>
            </a:r>
            <a:r>
              <a:rPr lang="zh-CN" altLang="en-US" sz="2800" b="1" dirty="0">
                <a:latin typeface="Arial" panose="020B0604020202020204" pitchFamily="34" charset="0"/>
                <a:cs typeface="Arial" panose="020B0604020202020204" pitchFamily="34" charset="0"/>
              </a:rPr>
              <a:t>） </a:t>
            </a:r>
            <a:r>
              <a:rPr lang="en-US" altLang="zh-CN" sz="2800" b="1" dirty="0">
                <a:latin typeface="Arial" panose="020B0604020202020204" pitchFamily="34" charset="0"/>
                <a:cs typeface="Arial" panose="020B0604020202020204" pitchFamily="34" charset="0"/>
              </a:rPr>
              <a:t>(12)   </a:t>
            </a:r>
            <a:r>
              <a:rPr lang="en-US" altLang="zh-CN" sz="2800" b="1" dirty="0">
                <a:solidFill>
                  <a:srgbClr val="008000"/>
                </a:solidFill>
                <a:latin typeface="Arial" panose="020B0604020202020204" pitchFamily="34" charset="0"/>
                <a:cs typeface="Arial" panose="020B0604020202020204" pitchFamily="34" charset="0"/>
              </a:rPr>
              <a:t>[12  18]  </a:t>
            </a:r>
            <a:r>
              <a:rPr lang="en-US" altLang="zh-CN" sz="2800" b="1" dirty="0">
                <a:latin typeface="Arial" panose="020B0604020202020204" pitchFamily="34" charset="0"/>
                <a:cs typeface="Arial" panose="020B0604020202020204" pitchFamily="34" charset="0"/>
              </a:rPr>
              <a:t>10  </a:t>
            </a:r>
            <a:r>
              <a:rPr lang="en-US" altLang="zh-CN" sz="2800" b="1" u="sng" dirty="0">
                <a:latin typeface="Arial" panose="020B0604020202020204" pitchFamily="34" charset="0"/>
                <a:cs typeface="Arial" panose="020B0604020202020204" pitchFamily="34" charset="0"/>
              </a:rPr>
              <a:t>12</a:t>
            </a:r>
            <a:r>
              <a:rPr lang="en-US" altLang="zh-CN" sz="2800" b="1" dirty="0">
                <a:latin typeface="Arial" panose="020B0604020202020204" pitchFamily="34" charset="0"/>
                <a:cs typeface="Arial" panose="020B0604020202020204" pitchFamily="34" charset="0"/>
              </a:rPr>
              <a:t>  30  16</a:t>
            </a:r>
          </a:p>
          <a:p>
            <a:pPr>
              <a:spcBef>
                <a:spcPct val="20000"/>
              </a:spcBef>
            </a:pPr>
            <a:r>
              <a:rPr lang="en-US" altLang="zh-CN" sz="2800" b="1" dirty="0">
                <a:latin typeface="Arial" panose="020B0604020202020204" pitchFamily="34" charset="0"/>
                <a:cs typeface="Arial" panose="020B0604020202020204" pitchFamily="34" charset="0"/>
              </a:rPr>
              <a:t>       Pass 2</a:t>
            </a:r>
            <a:r>
              <a:rPr lang="zh-CN" altLang="en-US" sz="2800" b="1" dirty="0">
                <a:latin typeface="Arial" panose="020B0604020202020204" pitchFamily="34" charset="0"/>
                <a:cs typeface="Arial" panose="020B0604020202020204" pitchFamily="34" charset="0"/>
              </a:rPr>
              <a:t>（</a:t>
            </a:r>
            <a:r>
              <a:rPr lang="en-US" altLang="zh-CN" sz="2800" b="1" dirty="0" err="1">
                <a:latin typeface="Arial" panose="020B0604020202020204" pitchFamily="34" charset="0"/>
                <a:cs typeface="Arial" panose="020B0604020202020204" pitchFamily="34" charset="0"/>
              </a:rPr>
              <a:t>i</a:t>
            </a:r>
            <a:r>
              <a:rPr lang="en-US" altLang="zh-CN" sz="2800" b="1" dirty="0">
                <a:latin typeface="Arial" panose="020B0604020202020204" pitchFamily="34" charset="0"/>
                <a:cs typeface="Arial" panose="020B0604020202020204" pitchFamily="34" charset="0"/>
              </a:rPr>
              <a:t>=3</a:t>
            </a:r>
            <a:r>
              <a:rPr lang="zh-CN" altLang="en-US" sz="2800" b="1" dirty="0">
                <a:latin typeface="Arial" panose="020B0604020202020204" pitchFamily="34" charset="0"/>
                <a:cs typeface="Arial" panose="020B0604020202020204" pitchFamily="34" charset="0"/>
              </a:rPr>
              <a:t>） </a:t>
            </a:r>
            <a:r>
              <a:rPr lang="en-US" altLang="zh-CN" sz="2800" b="1" dirty="0">
                <a:latin typeface="Arial" panose="020B0604020202020204" pitchFamily="34" charset="0"/>
                <a:cs typeface="Arial" panose="020B0604020202020204" pitchFamily="34" charset="0"/>
              </a:rPr>
              <a:t>(10)   </a:t>
            </a:r>
            <a:r>
              <a:rPr lang="en-US" altLang="zh-CN" sz="2800" b="1" dirty="0">
                <a:solidFill>
                  <a:srgbClr val="008000"/>
                </a:solidFill>
                <a:latin typeface="Arial" panose="020B0604020202020204" pitchFamily="34" charset="0"/>
                <a:cs typeface="Arial" panose="020B0604020202020204" pitchFamily="34" charset="0"/>
              </a:rPr>
              <a:t>[10  12  18]  </a:t>
            </a:r>
            <a:r>
              <a:rPr lang="en-US" altLang="zh-CN" sz="2800" b="1" u="sng" dirty="0">
                <a:latin typeface="Arial" panose="020B0604020202020204" pitchFamily="34" charset="0"/>
                <a:cs typeface="Arial" panose="020B0604020202020204" pitchFamily="34" charset="0"/>
              </a:rPr>
              <a:t>12</a:t>
            </a:r>
            <a:r>
              <a:rPr lang="en-US" altLang="zh-CN" sz="2800" b="1" dirty="0">
                <a:latin typeface="Arial" panose="020B0604020202020204" pitchFamily="34" charset="0"/>
                <a:cs typeface="Arial" panose="020B0604020202020204" pitchFamily="34" charset="0"/>
              </a:rPr>
              <a:t>  30  16</a:t>
            </a:r>
          </a:p>
          <a:p>
            <a:pPr>
              <a:spcBef>
                <a:spcPct val="20000"/>
              </a:spcBef>
            </a:pPr>
            <a:r>
              <a:rPr lang="en-US" altLang="zh-CN" sz="2800" b="1" dirty="0">
                <a:latin typeface="Arial" panose="020B0604020202020204" pitchFamily="34" charset="0"/>
                <a:cs typeface="Arial" panose="020B0604020202020204" pitchFamily="34" charset="0"/>
              </a:rPr>
              <a:t>       Pass 3</a:t>
            </a:r>
            <a:r>
              <a:rPr lang="zh-CN" altLang="en-US" sz="2800" b="1" dirty="0">
                <a:latin typeface="Arial" panose="020B0604020202020204" pitchFamily="34" charset="0"/>
                <a:cs typeface="Arial" panose="020B0604020202020204" pitchFamily="34" charset="0"/>
              </a:rPr>
              <a:t>（</a:t>
            </a:r>
            <a:r>
              <a:rPr lang="en-US" altLang="zh-CN" sz="2800" b="1" dirty="0" err="1">
                <a:latin typeface="Arial" panose="020B0604020202020204" pitchFamily="34" charset="0"/>
                <a:cs typeface="Arial" panose="020B0604020202020204" pitchFamily="34" charset="0"/>
              </a:rPr>
              <a:t>i</a:t>
            </a:r>
            <a:r>
              <a:rPr lang="en-US" altLang="zh-CN" sz="2800" b="1" dirty="0">
                <a:latin typeface="Arial" panose="020B0604020202020204" pitchFamily="34" charset="0"/>
                <a:cs typeface="Arial" panose="020B0604020202020204" pitchFamily="34" charset="0"/>
              </a:rPr>
              <a:t>=4</a:t>
            </a:r>
            <a:r>
              <a:rPr lang="zh-CN" altLang="en-US" sz="2800" b="1" dirty="0">
                <a:latin typeface="Arial" panose="020B0604020202020204" pitchFamily="34" charset="0"/>
                <a:cs typeface="Arial" panose="020B0604020202020204" pitchFamily="34" charset="0"/>
              </a:rPr>
              <a:t>） </a:t>
            </a:r>
            <a:r>
              <a:rPr lang="en-US" altLang="zh-CN" sz="2800" b="1" dirty="0">
                <a:latin typeface="Arial" panose="020B0604020202020204" pitchFamily="34" charset="0"/>
                <a:cs typeface="Arial" panose="020B0604020202020204" pitchFamily="34" charset="0"/>
              </a:rPr>
              <a:t>(</a:t>
            </a:r>
            <a:r>
              <a:rPr lang="en-US" altLang="zh-CN" sz="2800" b="1" u="sng" dirty="0">
                <a:latin typeface="Arial" panose="020B0604020202020204" pitchFamily="34" charset="0"/>
                <a:cs typeface="Arial" panose="020B0604020202020204" pitchFamily="34" charset="0"/>
              </a:rPr>
              <a:t>12</a:t>
            </a:r>
            <a:r>
              <a:rPr lang="en-US" altLang="zh-CN" sz="2800" b="1" dirty="0">
                <a:latin typeface="Arial" panose="020B0604020202020204" pitchFamily="34" charset="0"/>
                <a:cs typeface="Arial" panose="020B0604020202020204" pitchFamily="34" charset="0"/>
              </a:rPr>
              <a:t>)   </a:t>
            </a:r>
            <a:r>
              <a:rPr lang="en-US" altLang="zh-CN" sz="2800" b="1" dirty="0">
                <a:solidFill>
                  <a:srgbClr val="008000"/>
                </a:solidFill>
                <a:latin typeface="Arial" panose="020B0604020202020204" pitchFamily="34" charset="0"/>
                <a:cs typeface="Arial" panose="020B0604020202020204" pitchFamily="34" charset="0"/>
              </a:rPr>
              <a:t>[10  12  12  18]  </a:t>
            </a:r>
            <a:r>
              <a:rPr lang="en-US" altLang="zh-CN" sz="2800" b="1" dirty="0">
                <a:latin typeface="Arial" panose="020B0604020202020204" pitchFamily="34" charset="0"/>
                <a:cs typeface="Arial" panose="020B0604020202020204" pitchFamily="34" charset="0"/>
              </a:rPr>
              <a:t>30  16</a:t>
            </a:r>
          </a:p>
          <a:p>
            <a:pPr>
              <a:spcBef>
                <a:spcPct val="20000"/>
              </a:spcBef>
            </a:pPr>
            <a:r>
              <a:rPr lang="en-US" altLang="zh-CN" sz="2800" b="1" dirty="0">
                <a:latin typeface="Arial" panose="020B0604020202020204" pitchFamily="34" charset="0"/>
                <a:cs typeface="Arial" panose="020B0604020202020204" pitchFamily="34" charset="0"/>
              </a:rPr>
              <a:t>       Pass 4</a:t>
            </a:r>
            <a:r>
              <a:rPr lang="zh-CN" altLang="en-US" sz="2800" b="1" dirty="0">
                <a:latin typeface="Arial" panose="020B0604020202020204" pitchFamily="34" charset="0"/>
                <a:cs typeface="Arial" panose="020B0604020202020204" pitchFamily="34" charset="0"/>
              </a:rPr>
              <a:t>（</a:t>
            </a:r>
            <a:r>
              <a:rPr lang="en-US" altLang="zh-CN" sz="2800" b="1" dirty="0" err="1">
                <a:latin typeface="Arial" panose="020B0604020202020204" pitchFamily="34" charset="0"/>
                <a:cs typeface="Arial" panose="020B0604020202020204" pitchFamily="34" charset="0"/>
              </a:rPr>
              <a:t>i</a:t>
            </a:r>
            <a:r>
              <a:rPr lang="en-US" altLang="zh-CN" sz="2800" b="1" dirty="0">
                <a:latin typeface="Arial" panose="020B0604020202020204" pitchFamily="34" charset="0"/>
                <a:cs typeface="Arial" panose="020B0604020202020204" pitchFamily="34" charset="0"/>
              </a:rPr>
              <a:t>=5</a:t>
            </a:r>
            <a:r>
              <a:rPr lang="zh-CN" altLang="en-US" sz="2800" b="1" dirty="0">
                <a:latin typeface="Arial" panose="020B0604020202020204" pitchFamily="34" charset="0"/>
                <a:cs typeface="Arial" panose="020B0604020202020204" pitchFamily="34" charset="0"/>
              </a:rPr>
              <a:t>） </a:t>
            </a:r>
            <a:r>
              <a:rPr lang="en-US" altLang="zh-CN" sz="2800" b="1" dirty="0">
                <a:latin typeface="Arial" panose="020B0604020202020204" pitchFamily="34" charset="0"/>
                <a:cs typeface="Arial" panose="020B0604020202020204" pitchFamily="34" charset="0"/>
              </a:rPr>
              <a:t>(30</a:t>
            </a:r>
            <a:r>
              <a:rPr lang="en-US" altLang="zh-CN" sz="2800" b="1" dirty="0">
                <a:solidFill>
                  <a:srgbClr val="008000"/>
                </a:solidFill>
                <a:latin typeface="Arial" panose="020B0604020202020204" pitchFamily="34" charset="0"/>
                <a:cs typeface="Arial" panose="020B0604020202020204" pitchFamily="34" charset="0"/>
              </a:rPr>
              <a:t>)   [10  12  12  18  30]  </a:t>
            </a:r>
            <a:r>
              <a:rPr lang="en-US" altLang="zh-CN" sz="2800" b="1" dirty="0">
                <a:latin typeface="Arial" panose="020B0604020202020204" pitchFamily="34" charset="0"/>
                <a:cs typeface="Arial" panose="020B0604020202020204" pitchFamily="34" charset="0"/>
              </a:rPr>
              <a:t>16</a:t>
            </a:r>
          </a:p>
          <a:p>
            <a:pPr>
              <a:spcBef>
                <a:spcPct val="20000"/>
              </a:spcBef>
            </a:pPr>
            <a:r>
              <a:rPr lang="en-US" altLang="zh-CN" sz="2800" b="1" dirty="0">
                <a:latin typeface="Arial" panose="020B0604020202020204" pitchFamily="34" charset="0"/>
                <a:cs typeface="Arial" panose="020B0604020202020204" pitchFamily="34" charset="0"/>
              </a:rPr>
              <a:t>       Pass 5</a:t>
            </a:r>
            <a:r>
              <a:rPr lang="zh-CN" altLang="en-US" sz="2800" b="1" dirty="0">
                <a:latin typeface="Arial" panose="020B0604020202020204" pitchFamily="34" charset="0"/>
                <a:cs typeface="Arial" panose="020B0604020202020204" pitchFamily="34" charset="0"/>
              </a:rPr>
              <a:t>（</a:t>
            </a:r>
            <a:r>
              <a:rPr lang="en-US" altLang="zh-CN" sz="2800" b="1" dirty="0" err="1">
                <a:latin typeface="Arial" panose="020B0604020202020204" pitchFamily="34" charset="0"/>
                <a:cs typeface="Arial" panose="020B0604020202020204" pitchFamily="34" charset="0"/>
              </a:rPr>
              <a:t>i</a:t>
            </a:r>
            <a:r>
              <a:rPr lang="en-US" altLang="zh-CN" sz="2800" b="1" dirty="0">
                <a:latin typeface="Arial" panose="020B0604020202020204" pitchFamily="34" charset="0"/>
                <a:cs typeface="Arial" panose="020B0604020202020204" pitchFamily="34" charset="0"/>
              </a:rPr>
              <a:t>=6</a:t>
            </a:r>
            <a:r>
              <a:rPr lang="zh-CN" altLang="en-US" sz="2800" b="1" dirty="0">
                <a:latin typeface="Arial" panose="020B0604020202020204" pitchFamily="34" charset="0"/>
                <a:cs typeface="Arial" panose="020B0604020202020204" pitchFamily="34" charset="0"/>
              </a:rPr>
              <a:t>） </a:t>
            </a:r>
            <a:r>
              <a:rPr lang="en-US" altLang="zh-CN" sz="2800" b="1" dirty="0">
                <a:latin typeface="Arial" panose="020B0604020202020204" pitchFamily="34" charset="0"/>
                <a:cs typeface="Arial" panose="020B0604020202020204" pitchFamily="34" charset="0"/>
              </a:rPr>
              <a:t>(16)   </a:t>
            </a:r>
            <a:r>
              <a:rPr lang="en-US" altLang="zh-CN" sz="2800" b="1" dirty="0">
                <a:solidFill>
                  <a:srgbClr val="008000"/>
                </a:solidFill>
                <a:latin typeface="Arial" panose="020B0604020202020204" pitchFamily="34" charset="0"/>
                <a:cs typeface="Arial" panose="020B0604020202020204" pitchFamily="34" charset="0"/>
              </a:rPr>
              <a:t>[10  12  12  16   18  30]</a:t>
            </a:r>
          </a:p>
        </p:txBody>
      </p:sp>
      <p:sp>
        <p:nvSpPr>
          <p:cNvPr id="27652" name="Text Box 4"/>
          <p:cNvSpPr txBox="1">
            <a:spLocks noChangeArrowheads="1"/>
          </p:cNvSpPr>
          <p:nvPr/>
        </p:nvSpPr>
        <p:spPr bwMode="auto">
          <a:xfrm>
            <a:off x="838200" y="1462088"/>
            <a:ext cx="7910513" cy="1198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b="1">
                <a:solidFill>
                  <a:srgbClr val="5736FA"/>
                </a:solidFill>
                <a:latin typeface="Arial" panose="020B0604020202020204" pitchFamily="34" charset="0"/>
                <a:ea typeface="楷体_GB2312" pitchFamily="49" charset="-122"/>
                <a:cs typeface="Arial" panose="020B0604020202020204" pitchFamily="34" charset="0"/>
              </a:rPr>
              <a:t>he sequence to be sorted is (18, 12, 10, 12, 30, 16)Sequence state after each pass of simple insertion sort:</a:t>
            </a:r>
          </a:p>
        </p:txBody>
      </p:sp>
      <p:sp>
        <p:nvSpPr>
          <p:cNvPr id="27653" name="Line 5"/>
          <p:cNvSpPr>
            <a:spLocks noChangeShapeType="1"/>
          </p:cNvSpPr>
          <p:nvPr/>
        </p:nvSpPr>
        <p:spPr bwMode="auto">
          <a:xfrm>
            <a:off x="3619500" y="5715000"/>
            <a:ext cx="0" cy="304800"/>
          </a:xfrm>
          <a:prstGeom prst="line">
            <a:avLst/>
          </a:prstGeom>
          <a:noFill/>
          <a:ln w="38100" cap="sq">
            <a:solidFill>
              <a:srgbClr val="2C2D5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p>
            <a:endParaRPr lang="zh-CN" altLang="en-US"/>
          </a:p>
        </p:txBody>
      </p:sp>
      <p:sp>
        <p:nvSpPr>
          <p:cNvPr id="27654" name="Text Box 6"/>
          <p:cNvSpPr txBox="1">
            <a:spLocks noChangeArrowheads="1"/>
          </p:cNvSpPr>
          <p:nvPr/>
        </p:nvSpPr>
        <p:spPr bwMode="auto">
          <a:xfrm>
            <a:off x="3048000" y="5986780"/>
            <a:ext cx="1722755" cy="460375"/>
          </a:xfrm>
          <a:prstGeom prst="rect">
            <a:avLst/>
          </a:prstGeom>
          <a:noFill/>
          <a:ln w="12700" cap="sq">
            <a:solidFill>
              <a:schemeClr val="bg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400" b="1">
                <a:solidFill>
                  <a:srgbClr val="990000"/>
                </a:solidFill>
                <a:latin typeface="Arial" panose="020B0604020202020204" pitchFamily="34" charset="0"/>
                <a:ea typeface="楷体_GB2312" pitchFamily="49" charset="-122"/>
                <a:cs typeface="Arial" panose="020B0604020202020204" pitchFamily="34" charset="0"/>
              </a:rPr>
              <a:t>Sentinel</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27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 calcmode="lin" valueType="num">
                                      <p:cBhvr additive="base">
                                        <p:cTn id="7" dur="500" fill="hold"/>
                                        <p:tgtEl>
                                          <p:spTgt spid="2765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65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7651">
                                            <p:txEl>
                                              <p:pRg st="1" end="1"/>
                                            </p:txEl>
                                          </p:spTgt>
                                        </p:tgtEl>
                                        <p:attrNameLst>
                                          <p:attrName>style.visibility</p:attrName>
                                        </p:attrNameLst>
                                      </p:cBhvr>
                                      <p:to>
                                        <p:strVal val="visible"/>
                                      </p:to>
                                    </p:set>
                                    <p:anim calcmode="lin" valueType="num">
                                      <p:cBhvr additive="base">
                                        <p:cTn id="13" dur="500" fill="hold"/>
                                        <p:tgtEl>
                                          <p:spTgt spid="2765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765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7651">
                                            <p:txEl>
                                              <p:pRg st="2" end="2"/>
                                            </p:txEl>
                                          </p:spTgt>
                                        </p:tgtEl>
                                        <p:attrNameLst>
                                          <p:attrName>style.visibility</p:attrName>
                                        </p:attrNameLst>
                                      </p:cBhvr>
                                      <p:to>
                                        <p:strVal val="visible"/>
                                      </p:to>
                                    </p:set>
                                    <p:anim calcmode="lin" valueType="num">
                                      <p:cBhvr additive="base">
                                        <p:cTn id="19" dur="500" fill="hold"/>
                                        <p:tgtEl>
                                          <p:spTgt spid="2765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765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7651">
                                            <p:txEl>
                                              <p:pRg st="3" end="3"/>
                                            </p:txEl>
                                          </p:spTgt>
                                        </p:tgtEl>
                                        <p:attrNameLst>
                                          <p:attrName>style.visibility</p:attrName>
                                        </p:attrNameLst>
                                      </p:cBhvr>
                                      <p:to>
                                        <p:strVal val="visible"/>
                                      </p:to>
                                    </p:set>
                                    <p:anim calcmode="lin" valueType="num">
                                      <p:cBhvr additive="base">
                                        <p:cTn id="25" dur="500" fill="hold"/>
                                        <p:tgtEl>
                                          <p:spTgt spid="2765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765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7651">
                                            <p:txEl>
                                              <p:pRg st="4" end="4"/>
                                            </p:txEl>
                                          </p:spTgt>
                                        </p:tgtEl>
                                        <p:attrNameLst>
                                          <p:attrName>style.visibility</p:attrName>
                                        </p:attrNameLst>
                                      </p:cBhvr>
                                      <p:to>
                                        <p:strVal val="visible"/>
                                      </p:to>
                                    </p:set>
                                    <p:anim calcmode="lin" valueType="num">
                                      <p:cBhvr additive="base">
                                        <p:cTn id="31" dur="500" fill="hold"/>
                                        <p:tgtEl>
                                          <p:spTgt spid="27651">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765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7651">
                                            <p:txEl>
                                              <p:pRg st="5" end="5"/>
                                            </p:txEl>
                                          </p:spTgt>
                                        </p:tgtEl>
                                        <p:attrNameLst>
                                          <p:attrName>style.visibility</p:attrName>
                                        </p:attrNameLst>
                                      </p:cBhvr>
                                      <p:to>
                                        <p:strVal val="visible"/>
                                      </p:to>
                                    </p:set>
                                    <p:anim calcmode="lin" valueType="num">
                                      <p:cBhvr additive="base">
                                        <p:cTn id="37" dur="500" fill="hold"/>
                                        <p:tgtEl>
                                          <p:spTgt spid="27651">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7651">
                                            <p:txEl>
                                              <p:pRg st="5" end="5"/>
                                            </p:txEl>
                                          </p:spTgt>
                                        </p:tgtEl>
                                        <p:attrNameLst>
                                          <p:attrName>ppt_y</p:attrName>
                                        </p:attrNameLst>
                                      </p:cBhvr>
                                      <p:tavLst>
                                        <p:tav tm="0">
                                          <p:val>
                                            <p:strVal val="1+#ppt_h/2"/>
                                          </p:val>
                                        </p:tav>
                                        <p:tav tm="100000">
                                          <p:val>
                                            <p:strVal val="#ppt_y"/>
                                          </p:val>
                                        </p:tav>
                                      </p:tavLst>
                                    </p:anim>
                                  </p:childTnLst>
                                </p:cTn>
                              </p:par>
                            </p:childTnLst>
                          </p:cTn>
                        </p:par>
                        <p:par>
                          <p:cTn id="39" fill="hold">
                            <p:stCondLst>
                              <p:cond delay="500"/>
                            </p:stCondLst>
                            <p:childTnLst>
                              <p:par>
                                <p:cTn id="40" presetID="2" presetClass="entr" presetSubtype="8" fill="hold" grpId="0" nodeType="afterEffect">
                                  <p:stCondLst>
                                    <p:cond delay="0"/>
                                  </p:stCondLst>
                                  <p:childTnLst>
                                    <p:set>
                                      <p:cBhvr>
                                        <p:cTn id="41" dur="1" fill="hold">
                                          <p:stCondLst>
                                            <p:cond delay="0"/>
                                          </p:stCondLst>
                                        </p:cTn>
                                        <p:tgtEl>
                                          <p:spTgt spid="27653"/>
                                        </p:tgtEl>
                                        <p:attrNameLst>
                                          <p:attrName>style.visibility</p:attrName>
                                        </p:attrNameLst>
                                      </p:cBhvr>
                                      <p:to>
                                        <p:strVal val="visible"/>
                                      </p:to>
                                    </p:set>
                                    <p:anim calcmode="lin" valueType="num">
                                      <p:cBhvr additive="base">
                                        <p:cTn id="42" dur="500" fill="hold"/>
                                        <p:tgtEl>
                                          <p:spTgt spid="27653"/>
                                        </p:tgtEl>
                                        <p:attrNameLst>
                                          <p:attrName>ppt_x</p:attrName>
                                        </p:attrNameLst>
                                      </p:cBhvr>
                                      <p:tavLst>
                                        <p:tav tm="0">
                                          <p:val>
                                            <p:strVal val="0-#ppt_w/2"/>
                                          </p:val>
                                        </p:tav>
                                        <p:tav tm="100000">
                                          <p:val>
                                            <p:strVal val="#ppt_x"/>
                                          </p:val>
                                        </p:tav>
                                      </p:tavLst>
                                    </p:anim>
                                    <p:anim calcmode="lin" valueType="num">
                                      <p:cBhvr additive="base">
                                        <p:cTn id="43" dur="500" fill="hold"/>
                                        <p:tgtEl>
                                          <p:spTgt spid="27653"/>
                                        </p:tgtEl>
                                        <p:attrNameLst>
                                          <p:attrName>ppt_y</p:attrName>
                                        </p:attrNameLst>
                                      </p:cBhvr>
                                      <p:tavLst>
                                        <p:tav tm="0">
                                          <p:val>
                                            <p:strVal val="#ppt_y"/>
                                          </p:val>
                                        </p:tav>
                                        <p:tav tm="100000">
                                          <p:val>
                                            <p:strVal val="#ppt_y"/>
                                          </p:val>
                                        </p:tav>
                                      </p:tavLst>
                                    </p:anim>
                                  </p:childTnLst>
                                </p:cTn>
                              </p:par>
                            </p:childTnLst>
                          </p:cTn>
                        </p:par>
                        <p:par>
                          <p:cTn id="44" fill="hold">
                            <p:stCondLst>
                              <p:cond delay="1000"/>
                            </p:stCondLst>
                            <p:childTnLst>
                              <p:par>
                                <p:cTn id="45" presetID="2" presetClass="entr" presetSubtype="8" fill="hold" grpId="0" nodeType="afterEffect">
                                  <p:stCondLst>
                                    <p:cond delay="0"/>
                                  </p:stCondLst>
                                  <p:childTnLst>
                                    <p:set>
                                      <p:cBhvr>
                                        <p:cTn id="46" dur="1" fill="hold">
                                          <p:stCondLst>
                                            <p:cond delay="0"/>
                                          </p:stCondLst>
                                        </p:cTn>
                                        <p:tgtEl>
                                          <p:spTgt spid="27654"/>
                                        </p:tgtEl>
                                        <p:attrNameLst>
                                          <p:attrName>style.visibility</p:attrName>
                                        </p:attrNameLst>
                                      </p:cBhvr>
                                      <p:to>
                                        <p:strVal val="visible"/>
                                      </p:to>
                                    </p:set>
                                    <p:anim calcmode="lin" valueType="num">
                                      <p:cBhvr additive="base">
                                        <p:cTn id="47" dur="500" fill="hold"/>
                                        <p:tgtEl>
                                          <p:spTgt spid="27654"/>
                                        </p:tgtEl>
                                        <p:attrNameLst>
                                          <p:attrName>ppt_x</p:attrName>
                                        </p:attrNameLst>
                                      </p:cBhvr>
                                      <p:tavLst>
                                        <p:tav tm="0">
                                          <p:val>
                                            <p:strVal val="0-#ppt_w/2"/>
                                          </p:val>
                                        </p:tav>
                                        <p:tav tm="100000">
                                          <p:val>
                                            <p:strVal val="#ppt_x"/>
                                          </p:val>
                                        </p:tav>
                                      </p:tavLst>
                                    </p:anim>
                                    <p:anim calcmode="lin" valueType="num">
                                      <p:cBhvr additive="base">
                                        <p:cTn id="48" dur="500" fill="hold"/>
                                        <p:tgtEl>
                                          <p:spTgt spid="276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autoUpdateAnimBg="0"/>
      <p:bldP spid="27653" grpId="0" animBg="1"/>
      <p:bldP spid="27654" grpId="0" bldLvl="0" animBg="1"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p:cNvSpPr txBox="1">
            <a:spLocks noChangeArrowheads="1"/>
          </p:cNvSpPr>
          <p:nvPr/>
        </p:nvSpPr>
        <p:spPr bwMode="auto">
          <a:xfrm>
            <a:off x="152400" y="76200"/>
            <a:ext cx="8704263" cy="5928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pPr>
            <a:r>
              <a:rPr lang="en-US" altLang="zh-CN" b="1" dirty="0">
                <a:ea typeface="楷体_GB2312" pitchFamily="49" charset="-122"/>
              </a:rPr>
              <a:t>void</a:t>
            </a:r>
            <a:r>
              <a:rPr lang="en-US" altLang="zh-CN" dirty="0">
                <a:ea typeface="楷体_GB2312" pitchFamily="49" charset="-122"/>
              </a:rPr>
              <a:t> </a:t>
            </a:r>
            <a:r>
              <a:rPr lang="en-US" altLang="zh-CN" dirty="0" err="1">
                <a:ea typeface="楷体_GB2312" pitchFamily="49" charset="-122"/>
              </a:rPr>
              <a:t>InsertionSort</a:t>
            </a:r>
            <a:r>
              <a:rPr lang="en-US" altLang="zh-CN" dirty="0">
                <a:ea typeface="楷体_GB2312" pitchFamily="49" charset="-122"/>
              </a:rPr>
              <a:t> ( </a:t>
            </a:r>
            <a:r>
              <a:rPr lang="en-US" altLang="zh-CN" dirty="0" err="1">
                <a:ea typeface="楷体_GB2312" pitchFamily="49" charset="-122"/>
              </a:rPr>
              <a:t>SqList</a:t>
            </a:r>
            <a:r>
              <a:rPr lang="en-US" altLang="zh-CN" dirty="0">
                <a:ea typeface="楷体_GB2312" pitchFamily="49" charset="-122"/>
              </a:rPr>
              <a:t> &amp;L ) </a:t>
            </a:r>
            <a:r>
              <a:rPr lang="en-US" altLang="zh-CN" b="1" dirty="0">
                <a:ea typeface="楷体_GB2312" pitchFamily="49" charset="-122"/>
              </a:rPr>
              <a:t>{</a:t>
            </a:r>
          </a:p>
          <a:p>
            <a:pPr>
              <a:lnSpc>
                <a:spcPct val="115000"/>
              </a:lnSpc>
            </a:pPr>
            <a:r>
              <a:rPr lang="en-US" altLang="zh-CN" dirty="0">
                <a:ea typeface="楷体_GB2312" pitchFamily="49" charset="-122"/>
              </a:rPr>
              <a:t>                      </a:t>
            </a:r>
            <a:r>
              <a:rPr lang="en-US" altLang="zh-CN" b="1" dirty="0">
                <a:solidFill>
                  <a:srgbClr val="006600"/>
                </a:solidFill>
                <a:ea typeface="楷体_GB2312" pitchFamily="49" charset="-122"/>
                <a:sym typeface="+mn-ea"/>
              </a:rPr>
              <a:t>// Insertion sort for the ordered list L</a:t>
            </a:r>
            <a:endParaRPr lang="zh-CN" altLang="en-US" b="1" dirty="0">
              <a:solidFill>
                <a:srgbClr val="006600"/>
              </a:solidFill>
              <a:ea typeface="楷体_GB2312" pitchFamily="49" charset="-122"/>
            </a:endParaRPr>
          </a:p>
          <a:p>
            <a:pPr>
              <a:lnSpc>
                <a:spcPct val="125000"/>
              </a:lnSpc>
            </a:pPr>
            <a:r>
              <a:rPr lang="zh-CN" altLang="en-US" dirty="0">
                <a:ea typeface="楷体_GB2312" pitchFamily="49" charset="-122"/>
              </a:rPr>
              <a:t>   </a:t>
            </a:r>
            <a:r>
              <a:rPr lang="en-US" altLang="zh-CN" b="1" dirty="0">
                <a:ea typeface="楷体_GB2312" pitchFamily="49" charset="-122"/>
              </a:rPr>
              <a:t>for</a:t>
            </a:r>
            <a:r>
              <a:rPr lang="en-US" altLang="zh-CN" dirty="0">
                <a:ea typeface="楷体_GB2312" pitchFamily="49" charset="-122"/>
              </a:rPr>
              <a:t> ( </a:t>
            </a:r>
            <a:r>
              <a:rPr lang="en-US" altLang="zh-CN" dirty="0" err="1">
                <a:ea typeface="楷体_GB2312" pitchFamily="49" charset="-122"/>
              </a:rPr>
              <a:t>i</a:t>
            </a:r>
            <a:r>
              <a:rPr lang="en-US" altLang="zh-CN" dirty="0">
                <a:ea typeface="楷体_GB2312" pitchFamily="49" charset="-122"/>
              </a:rPr>
              <a:t>=2; </a:t>
            </a:r>
            <a:r>
              <a:rPr lang="en-US" altLang="zh-CN" dirty="0" err="1">
                <a:ea typeface="楷体_GB2312" pitchFamily="49" charset="-122"/>
              </a:rPr>
              <a:t>i</a:t>
            </a:r>
            <a:r>
              <a:rPr lang="en-US" altLang="zh-CN" dirty="0">
                <a:ea typeface="楷体_GB2312" pitchFamily="49" charset="-122"/>
              </a:rPr>
              <a:t>&lt;=</a:t>
            </a:r>
            <a:r>
              <a:rPr lang="en-US" altLang="zh-CN" dirty="0" err="1">
                <a:ea typeface="楷体_GB2312" pitchFamily="49" charset="-122"/>
              </a:rPr>
              <a:t>L.length</a:t>
            </a:r>
            <a:r>
              <a:rPr lang="en-US" altLang="zh-CN" dirty="0">
                <a:ea typeface="楷体_GB2312" pitchFamily="49" charset="-122"/>
              </a:rPr>
              <a:t>; ++</a:t>
            </a:r>
            <a:r>
              <a:rPr lang="en-US" altLang="zh-CN" dirty="0" err="1">
                <a:ea typeface="楷体_GB2312" pitchFamily="49" charset="-122"/>
              </a:rPr>
              <a:t>i</a:t>
            </a:r>
            <a:r>
              <a:rPr lang="en-US" altLang="zh-CN" dirty="0">
                <a:ea typeface="楷体_GB2312" pitchFamily="49" charset="-122"/>
              </a:rPr>
              <a:t> ) </a:t>
            </a:r>
            <a:endParaRPr lang="en-US" altLang="zh-CN" b="1" dirty="0">
              <a:ea typeface="楷体_GB2312" pitchFamily="49" charset="-122"/>
            </a:endParaRPr>
          </a:p>
          <a:p>
            <a:pPr>
              <a:lnSpc>
                <a:spcPct val="125000"/>
              </a:lnSpc>
            </a:pPr>
            <a:r>
              <a:rPr lang="en-US" altLang="zh-CN" b="1" dirty="0">
                <a:ea typeface="楷体_GB2312" pitchFamily="49" charset="-122"/>
              </a:rPr>
              <a:t>       if </a:t>
            </a:r>
            <a:r>
              <a:rPr lang="en-US" altLang="zh-CN" dirty="0">
                <a:ea typeface="楷体_GB2312" pitchFamily="49" charset="-122"/>
              </a:rPr>
              <a:t>(</a:t>
            </a:r>
            <a:r>
              <a:rPr lang="en-US" altLang="zh-CN" dirty="0" err="1">
                <a:ea typeface="楷体_GB2312" pitchFamily="49" charset="-122"/>
              </a:rPr>
              <a:t>L.r</a:t>
            </a:r>
            <a:r>
              <a:rPr lang="en-US" altLang="zh-CN" dirty="0">
                <a:ea typeface="楷体_GB2312" pitchFamily="49" charset="-122"/>
              </a:rPr>
              <a:t>[</a:t>
            </a:r>
            <a:r>
              <a:rPr lang="en-US" altLang="zh-CN" dirty="0" err="1">
                <a:ea typeface="楷体_GB2312" pitchFamily="49" charset="-122"/>
              </a:rPr>
              <a:t>i</a:t>
            </a:r>
            <a:r>
              <a:rPr lang="en-US" altLang="zh-CN" dirty="0">
                <a:ea typeface="楷体_GB2312" pitchFamily="49" charset="-122"/>
              </a:rPr>
              <a:t>].key &lt; </a:t>
            </a:r>
            <a:r>
              <a:rPr lang="en-US" altLang="zh-CN" dirty="0" err="1">
                <a:ea typeface="楷体_GB2312" pitchFamily="49" charset="-122"/>
              </a:rPr>
              <a:t>L.r</a:t>
            </a:r>
            <a:r>
              <a:rPr lang="en-US" altLang="zh-CN" dirty="0">
                <a:ea typeface="楷体_GB2312" pitchFamily="49" charset="-122"/>
              </a:rPr>
              <a:t>[i-1].key) </a:t>
            </a:r>
            <a:r>
              <a:rPr lang="en-US" altLang="zh-CN" b="1" dirty="0">
                <a:ea typeface="楷体_GB2312" pitchFamily="49" charset="-122"/>
              </a:rPr>
              <a:t>{</a:t>
            </a:r>
            <a:endParaRPr lang="en-US" altLang="zh-CN" dirty="0">
              <a:ea typeface="楷体_GB2312" pitchFamily="49" charset="-122"/>
            </a:endParaRPr>
          </a:p>
          <a:p>
            <a:pPr>
              <a:lnSpc>
                <a:spcPct val="125000"/>
              </a:lnSpc>
            </a:pPr>
            <a:endParaRPr lang="en-US" altLang="zh-CN" dirty="0">
              <a:ea typeface="楷体_GB2312" pitchFamily="49" charset="-122"/>
            </a:endParaRPr>
          </a:p>
          <a:p>
            <a:pPr>
              <a:lnSpc>
                <a:spcPct val="125000"/>
              </a:lnSpc>
            </a:pPr>
            <a:endParaRPr lang="en-US" altLang="zh-CN" dirty="0">
              <a:ea typeface="楷体_GB2312" pitchFamily="49" charset="-122"/>
            </a:endParaRPr>
          </a:p>
          <a:p>
            <a:pPr>
              <a:lnSpc>
                <a:spcPct val="125000"/>
              </a:lnSpc>
            </a:pPr>
            <a:endParaRPr lang="en-US" altLang="zh-CN" dirty="0">
              <a:ea typeface="楷体_GB2312" pitchFamily="49" charset="-122"/>
            </a:endParaRPr>
          </a:p>
          <a:p>
            <a:pPr>
              <a:lnSpc>
                <a:spcPct val="125000"/>
              </a:lnSpc>
            </a:pPr>
            <a:endParaRPr lang="en-US" altLang="zh-CN" dirty="0">
              <a:ea typeface="楷体_GB2312" pitchFamily="49" charset="-122"/>
            </a:endParaRPr>
          </a:p>
          <a:p>
            <a:pPr>
              <a:lnSpc>
                <a:spcPct val="125000"/>
              </a:lnSpc>
            </a:pPr>
            <a:endParaRPr lang="en-US" altLang="zh-CN" dirty="0">
              <a:ea typeface="楷体_GB2312" pitchFamily="49" charset="-122"/>
            </a:endParaRPr>
          </a:p>
          <a:p>
            <a:pPr>
              <a:lnSpc>
                <a:spcPct val="125000"/>
              </a:lnSpc>
            </a:pPr>
            <a:endParaRPr lang="en-US" altLang="zh-CN" dirty="0">
              <a:ea typeface="楷体_GB2312" pitchFamily="49" charset="-122"/>
            </a:endParaRPr>
          </a:p>
          <a:p>
            <a:pPr>
              <a:lnSpc>
                <a:spcPct val="125000"/>
              </a:lnSpc>
            </a:pPr>
            <a:r>
              <a:rPr lang="en-US" altLang="zh-CN" b="1" dirty="0">
                <a:ea typeface="楷体_GB2312" pitchFamily="49" charset="-122"/>
              </a:rPr>
              <a:t>} </a:t>
            </a:r>
            <a:r>
              <a:rPr lang="en-US" altLang="zh-CN" dirty="0">
                <a:ea typeface="楷体_GB2312" pitchFamily="49" charset="-122"/>
              </a:rPr>
              <a:t>// </a:t>
            </a:r>
            <a:r>
              <a:rPr lang="en-US" altLang="zh-CN" dirty="0" err="1">
                <a:ea typeface="楷体_GB2312" pitchFamily="49" charset="-122"/>
              </a:rPr>
              <a:t>InsertSort</a:t>
            </a:r>
            <a:endParaRPr lang="en-US" altLang="zh-CN" dirty="0">
              <a:ea typeface="楷体_GB2312" pitchFamily="49" charset="-122"/>
            </a:endParaRPr>
          </a:p>
        </p:txBody>
      </p:sp>
      <p:sp>
        <p:nvSpPr>
          <p:cNvPr id="28675" name="Rectangle 3"/>
          <p:cNvSpPr>
            <a:spLocks noChangeArrowheads="1"/>
          </p:cNvSpPr>
          <p:nvPr/>
        </p:nvSpPr>
        <p:spPr bwMode="auto">
          <a:xfrm>
            <a:off x="1223963" y="2708275"/>
            <a:ext cx="7894320" cy="2245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25000"/>
              </a:lnSpc>
            </a:pPr>
            <a:r>
              <a:rPr lang="en-US" altLang="zh-CN" dirty="0" err="1">
                <a:ea typeface="楷体_GB2312" pitchFamily="49" charset="-122"/>
              </a:rPr>
              <a:t>L.r</a:t>
            </a:r>
            <a:r>
              <a:rPr lang="en-US" altLang="zh-CN" dirty="0">
                <a:ea typeface="楷体_GB2312" pitchFamily="49" charset="-122"/>
              </a:rPr>
              <a:t>[0] = </a:t>
            </a:r>
            <a:r>
              <a:rPr lang="en-US" altLang="zh-CN" dirty="0" err="1">
                <a:ea typeface="楷体_GB2312" pitchFamily="49" charset="-122"/>
              </a:rPr>
              <a:t>L.r</a:t>
            </a:r>
            <a:r>
              <a:rPr lang="en-US" altLang="zh-CN" dirty="0">
                <a:ea typeface="楷体_GB2312" pitchFamily="49" charset="-122"/>
              </a:rPr>
              <a:t>[</a:t>
            </a:r>
            <a:r>
              <a:rPr lang="en-US" altLang="zh-CN" dirty="0" err="1">
                <a:ea typeface="楷体_GB2312" pitchFamily="49" charset="-122"/>
              </a:rPr>
              <a:t>i</a:t>
            </a:r>
            <a:r>
              <a:rPr lang="en-US" altLang="zh-CN" dirty="0">
                <a:ea typeface="楷体_GB2312" pitchFamily="49" charset="-122"/>
              </a:rPr>
              <a:t>];               </a:t>
            </a:r>
            <a:r>
              <a:rPr lang="en-US" altLang="zh-CN" b="1" dirty="0">
                <a:solidFill>
                  <a:srgbClr val="006600"/>
                </a:solidFill>
                <a:ea typeface="楷体_GB2312" pitchFamily="49" charset="-122"/>
              </a:rPr>
              <a:t>// Copy as sentinel</a:t>
            </a:r>
          </a:p>
          <a:p>
            <a:pPr algn="l">
              <a:lnSpc>
                <a:spcPct val="125000"/>
              </a:lnSpc>
            </a:pPr>
            <a:r>
              <a:rPr lang="en-US" altLang="zh-CN" b="1" dirty="0">
                <a:solidFill>
                  <a:srgbClr val="840C26"/>
                </a:solidFill>
                <a:ea typeface="楷体_GB2312" pitchFamily="49" charset="-122"/>
              </a:rPr>
              <a:t>for</a:t>
            </a:r>
            <a:r>
              <a:rPr lang="en-US" altLang="zh-CN" dirty="0">
                <a:solidFill>
                  <a:srgbClr val="840C26"/>
                </a:solidFill>
                <a:ea typeface="楷体_GB2312" pitchFamily="49" charset="-122"/>
              </a:rPr>
              <a:t> ( j=i-1; </a:t>
            </a:r>
            <a:r>
              <a:rPr lang="en-US" altLang="zh-CN" dirty="0" err="1">
                <a:solidFill>
                  <a:srgbClr val="840C26"/>
                </a:solidFill>
                <a:ea typeface="楷体_GB2312" pitchFamily="49" charset="-122"/>
              </a:rPr>
              <a:t>L.r</a:t>
            </a:r>
            <a:r>
              <a:rPr lang="en-US" altLang="zh-CN" dirty="0">
                <a:solidFill>
                  <a:srgbClr val="840C26"/>
                </a:solidFill>
                <a:ea typeface="楷体_GB2312" pitchFamily="49" charset="-122"/>
              </a:rPr>
              <a:t>[0].key &lt; </a:t>
            </a:r>
            <a:r>
              <a:rPr lang="en-US" altLang="zh-CN" dirty="0" err="1">
                <a:solidFill>
                  <a:srgbClr val="840C26"/>
                </a:solidFill>
                <a:ea typeface="楷体_GB2312" pitchFamily="49" charset="-122"/>
              </a:rPr>
              <a:t>L.r</a:t>
            </a:r>
            <a:r>
              <a:rPr lang="en-US" altLang="zh-CN" dirty="0">
                <a:solidFill>
                  <a:srgbClr val="840C26"/>
                </a:solidFill>
                <a:ea typeface="楷体_GB2312" pitchFamily="49" charset="-122"/>
              </a:rPr>
              <a:t>[j].key;  -- j )</a:t>
            </a:r>
          </a:p>
          <a:p>
            <a:pPr algn="l">
              <a:lnSpc>
                <a:spcPct val="125000"/>
              </a:lnSpc>
            </a:pPr>
            <a:r>
              <a:rPr lang="en-US" altLang="zh-CN" dirty="0">
                <a:solidFill>
                  <a:srgbClr val="840C26"/>
                </a:solidFill>
                <a:ea typeface="楷体_GB2312" pitchFamily="49" charset="-122"/>
              </a:rPr>
              <a:t>    </a:t>
            </a:r>
            <a:r>
              <a:rPr lang="en-US" altLang="zh-CN" dirty="0" err="1">
                <a:solidFill>
                  <a:srgbClr val="840C26"/>
                </a:solidFill>
                <a:ea typeface="楷体_GB2312" pitchFamily="49" charset="-122"/>
              </a:rPr>
              <a:t>L.r</a:t>
            </a:r>
            <a:r>
              <a:rPr lang="en-US" altLang="zh-CN" dirty="0">
                <a:solidFill>
                  <a:srgbClr val="840C26"/>
                </a:solidFill>
                <a:ea typeface="楷体_GB2312" pitchFamily="49" charset="-122"/>
              </a:rPr>
              <a:t>[j+1] = </a:t>
            </a:r>
            <a:r>
              <a:rPr lang="en-US" altLang="zh-CN" dirty="0" err="1">
                <a:solidFill>
                  <a:srgbClr val="840C26"/>
                </a:solidFill>
                <a:ea typeface="楷体_GB2312" pitchFamily="49" charset="-122"/>
              </a:rPr>
              <a:t>L.r</a:t>
            </a:r>
            <a:r>
              <a:rPr lang="en-US" altLang="zh-CN" dirty="0">
                <a:solidFill>
                  <a:srgbClr val="840C26"/>
                </a:solidFill>
                <a:ea typeface="楷体_GB2312" pitchFamily="49" charset="-122"/>
              </a:rPr>
              <a:t>[j];</a:t>
            </a:r>
            <a:r>
              <a:rPr lang="en-US" altLang="zh-CN" dirty="0">
                <a:ea typeface="楷体_GB2312" pitchFamily="49" charset="-122"/>
              </a:rPr>
              <a:t>        </a:t>
            </a:r>
            <a:r>
              <a:rPr lang="en-US" altLang="zh-CN" b="1" dirty="0">
                <a:solidFill>
                  <a:srgbClr val="006600"/>
                </a:solidFill>
                <a:ea typeface="楷体_GB2312" pitchFamily="49" charset="-122"/>
              </a:rPr>
              <a:t>// Shift record backward</a:t>
            </a:r>
            <a:endParaRPr lang="zh-CN" altLang="en-US" b="1" dirty="0">
              <a:solidFill>
                <a:srgbClr val="006600"/>
              </a:solidFill>
              <a:ea typeface="楷体_GB2312" pitchFamily="49" charset="-122"/>
            </a:endParaRPr>
          </a:p>
          <a:p>
            <a:pPr algn="l">
              <a:lnSpc>
                <a:spcPct val="125000"/>
              </a:lnSpc>
            </a:pPr>
            <a:r>
              <a:rPr lang="en-US" altLang="zh-CN" dirty="0" err="1">
                <a:ea typeface="楷体_GB2312" pitchFamily="49" charset="-122"/>
              </a:rPr>
              <a:t>L.r</a:t>
            </a:r>
            <a:r>
              <a:rPr lang="en-US" altLang="zh-CN" dirty="0">
                <a:ea typeface="楷体_GB2312" pitchFamily="49" charset="-122"/>
              </a:rPr>
              <a:t>[j+1] = </a:t>
            </a:r>
            <a:r>
              <a:rPr lang="en-US" altLang="zh-CN" dirty="0" err="1">
                <a:ea typeface="楷体_GB2312" pitchFamily="49" charset="-122"/>
              </a:rPr>
              <a:t>L.r</a:t>
            </a:r>
            <a:r>
              <a:rPr lang="en-US" altLang="zh-CN" dirty="0">
                <a:ea typeface="楷体_GB2312" pitchFamily="49" charset="-122"/>
              </a:rPr>
              <a:t>[0];</a:t>
            </a:r>
            <a:r>
              <a:rPr lang="zh-CN" altLang="en-US" dirty="0">
                <a:ea typeface="楷体_GB2312" pitchFamily="49" charset="-122"/>
              </a:rPr>
              <a:t>｝</a:t>
            </a:r>
            <a:r>
              <a:rPr lang="en-US" altLang="zh-CN" b="1" dirty="0">
                <a:solidFill>
                  <a:srgbClr val="006600"/>
                </a:solidFill>
                <a:ea typeface="楷体_GB2312" pitchFamily="49" charset="-122"/>
              </a:rPr>
              <a:t>/</a:t>
            </a:r>
            <a:r>
              <a:rPr lang="zh-CN" altLang="en-US" b="1" dirty="0">
                <a:solidFill>
                  <a:srgbClr val="006600"/>
                </a:solidFill>
                <a:ea typeface="楷体_GB2312" pitchFamily="49" charset="-122"/>
              </a:rPr>
              <a:t>/ </a:t>
            </a:r>
            <a:r>
              <a:rPr lang="zh-CN" altLang="en-US" b="1" dirty="0">
                <a:solidFill>
                  <a:srgbClr val="006600"/>
                </a:solidFill>
                <a:ea typeface="楷体_GB2312" pitchFamily="49" charset="-122"/>
                <a:sym typeface="+mn-ea"/>
              </a:rPr>
              <a:t>Insert into the correct position</a:t>
            </a:r>
            <a:endParaRPr lang="zh-CN" altLang="en-US" b="1" dirty="0">
              <a:solidFill>
                <a:srgbClr val="006600"/>
              </a:solidFill>
              <a:ea typeface="楷体_GB2312" pitchFamily="49" charset="-122"/>
            </a:endParaRP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28</a:t>
            </a:fld>
            <a:endParaRPr lang="en-US" altLang="zh-CN"/>
          </a:p>
        </p:txBody>
      </p:sp>
    </p:spTree>
  </p:cSld>
  <p:clrMapOvr>
    <a:masterClrMapping/>
  </p:clrMapOvr>
  <p:transition>
    <p:pull dir="r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
          <p:cNvSpPr txBox="1">
            <a:spLocks noChangeArrowheads="1"/>
          </p:cNvSpPr>
          <p:nvPr/>
        </p:nvSpPr>
        <p:spPr bwMode="auto">
          <a:xfrm>
            <a:off x="228600" y="85725"/>
            <a:ext cx="52133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200">
                <a:ea typeface="隶书" panose="02010509060101010101" pitchFamily="49" charset="-122"/>
              </a:rPr>
              <a:t>For direct insertion sort:</a:t>
            </a:r>
            <a:endParaRPr lang="zh-CN" altLang="en-US" sz="4800">
              <a:ea typeface="楷体_GB2312" pitchFamily="49" charset="-122"/>
            </a:endParaRPr>
          </a:p>
        </p:txBody>
      </p:sp>
      <p:sp>
        <p:nvSpPr>
          <p:cNvPr id="30723" name="Text Box 3"/>
          <p:cNvSpPr txBox="1">
            <a:spLocks noChangeArrowheads="1"/>
          </p:cNvSpPr>
          <p:nvPr/>
        </p:nvSpPr>
        <p:spPr bwMode="auto">
          <a:xfrm>
            <a:off x="-26035" y="1021080"/>
            <a:ext cx="9057640" cy="1014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000" b="1">
                <a:solidFill>
                  <a:srgbClr val="000080"/>
                </a:solidFill>
                <a:latin typeface="Arial" panose="020B0604020202020204" pitchFamily="34" charset="0"/>
                <a:ea typeface="楷体_GB2312" pitchFamily="49" charset="-122"/>
                <a:cs typeface="Arial" panose="020B0604020202020204" pitchFamily="34" charset="0"/>
              </a:rPr>
              <a:t>Best case scenario</a:t>
            </a:r>
            <a:r>
              <a:rPr lang="en-US" altLang="zh-CN" sz="2000" b="1">
                <a:solidFill>
                  <a:srgbClr val="000080"/>
                </a:solidFill>
                <a:latin typeface="Arial" panose="020B0604020202020204" pitchFamily="34" charset="0"/>
                <a:ea typeface="楷体_GB2312" pitchFamily="49" charset="-122"/>
                <a:cs typeface="Arial" panose="020B0604020202020204" pitchFamily="34" charset="0"/>
              </a:rPr>
              <a:t> </a:t>
            </a:r>
            <a:r>
              <a:rPr lang="zh-CN" altLang="en-US" sz="2000" b="1">
                <a:solidFill>
                  <a:srgbClr val="000080"/>
                </a:solidFill>
                <a:latin typeface="Arial" panose="020B0604020202020204" pitchFamily="34" charset="0"/>
                <a:ea typeface="楷体_GB2312" pitchFamily="49" charset="-122"/>
                <a:cs typeface="Arial" panose="020B0604020202020204" pitchFamily="34" charset="0"/>
                <a:sym typeface="+mn-ea"/>
              </a:rPr>
              <a:t>(Keywords are in </a:t>
            </a:r>
            <a:r>
              <a:rPr lang="zh-CN" altLang="en-US" sz="2000" b="1">
                <a:solidFill>
                  <a:srgbClr val="993300"/>
                </a:solidFill>
                <a:latin typeface="Arial" panose="020B0604020202020204" pitchFamily="34" charset="0"/>
                <a:ea typeface="楷体_GB2312" pitchFamily="49" charset="-122"/>
                <a:cs typeface="Arial" panose="020B0604020202020204" pitchFamily="34" charset="0"/>
                <a:sym typeface="+mn-ea"/>
              </a:rPr>
              <a:t>ascending order</a:t>
            </a:r>
            <a:r>
              <a:rPr lang="zh-CN" altLang="en-US" sz="2000" b="1">
                <a:solidFill>
                  <a:srgbClr val="000080"/>
                </a:solidFill>
                <a:latin typeface="Arial" panose="020B0604020202020204" pitchFamily="34" charset="0"/>
                <a:ea typeface="楷体_GB2312" pitchFamily="49" charset="-122"/>
                <a:cs typeface="Arial" panose="020B0604020202020204" pitchFamily="34" charset="0"/>
                <a:sym typeface="+mn-ea"/>
              </a:rPr>
              <a:t> in the record sequence):</a:t>
            </a:r>
            <a:endParaRPr lang="zh-CN" altLang="en-US" sz="2000" b="1">
              <a:solidFill>
                <a:srgbClr val="000080"/>
              </a:solidFill>
              <a:latin typeface="Arial" panose="020B0604020202020204" pitchFamily="34" charset="0"/>
              <a:ea typeface="楷体_GB2312" pitchFamily="49" charset="-122"/>
              <a:cs typeface="Arial" panose="020B0604020202020204" pitchFamily="34" charset="0"/>
            </a:endParaRPr>
          </a:p>
          <a:p>
            <a:endParaRPr lang="en-US" altLang="zh-CN" sz="2000" b="1">
              <a:solidFill>
                <a:srgbClr val="000080"/>
              </a:solidFill>
              <a:latin typeface="Arial" panose="020B0604020202020204" pitchFamily="34" charset="0"/>
              <a:ea typeface="楷体_GB2312" pitchFamily="49" charset="-122"/>
              <a:cs typeface="Arial" panose="020B0604020202020204" pitchFamily="34" charset="0"/>
            </a:endParaRPr>
          </a:p>
        </p:txBody>
      </p:sp>
      <p:sp>
        <p:nvSpPr>
          <p:cNvPr id="30724" name="Text Box 4"/>
          <p:cNvSpPr txBox="1">
            <a:spLocks noChangeArrowheads="1"/>
          </p:cNvSpPr>
          <p:nvPr/>
        </p:nvSpPr>
        <p:spPr bwMode="auto">
          <a:xfrm>
            <a:off x="1295400" y="1772285"/>
            <a:ext cx="2312035"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a:solidFill>
                  <a:srgbClr val="0000FF"/>
                </a:solidFill>
                <a:latin typeface="Arial" panose="020B0604020202020204" pitchFamily="34" charset="0"/>
                <a:ea typeface="楷体_GB2312" pitchFamily="49" charset="-122"/>
                <a:cs typeface="Arial" panose="020B0604020202020204" pitchFamily="34" charset="0"/>
              </a:rPr>
              <a:t>Comparison</a:t>
            </a:r>
            <a:r>
              <a:rPr lang="en-US" altLang="zh-CN" sz="2000">
                <a:latin typeface="Arial" panose="020B0604020202020204" pitchFamily="34" charset="0"/>
                <a:ea typeface="楷体_GB2312" pitchFamily="49" charset="-122"/>
                <a:cs typeface="Arial" panose="020B0604020202020204" pitchFamily="34" charset="0"/>
              </a:rPr>
              <a:t> count:</a:t>
            </a:r>
            <a:endParaRPr lang="zh-CN" altLang="en-US" sz="2000">
              <a:latin typeface="Arial" panose="020B0604020202020204" pitchFamily="34" charset="0"/>
              <a:cs typeface="Arial" panose="020B0604020202020204" pitchFamily="34" charset="0"/>
            </a:endParaRPr>
          </a:p>
        </p:txBody>
      </p:sp>
      <p:sp>
        <p:nvSpPr>
          <p:cNvPr id="30725" name="Text Box 5"/>
          <p:cNvSpPr txBox="1">
            <a:spLocks noChangeArrowheads="1"/>
          </p:cNvSpPr>
          <p:nvPr/>
        </p:nvSpPr>
        <p:spPr bwMode="auto">
          <a:xfrm>
            <a:off x="381000" y="3611880"/>
            <a:ext cx="8440420" cy="1014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000" b="1">
                <a:solidFill>
                  <a:srgbClr val="000080"/>
                </a:solidFill>
                <a:latin typeface="Arial" panose="020B0604020202020204" pitchFamily="34" charset="0"/>
                <a:ea typeface="楷体_GB2312" pitchFamily="49" charset="-122"/>
                <a:cs typeface="Arial" panose="020B0604020202020204" pitchFamily="34" charset="0"/>
              </a:rPr>
              <a:t>worst case scenario</a:t>
            </a:r>
            <a:r>
              <a:rPr lang="en-US" altLang="zh-CN" sz="2000" b="1">
                <a:solidFill>
                  <a:srgbClr val="000080"/>
                </a:solidFill>
                <a:latin typeface="Arial" panose="020B0604020202020204" pitchFamily="34" charset="0"/>
                <a:ea typeface="楷体_GB2312" pitchFamily="49" charset="-122"/>
                <a:cs typeface="Arial" panose="020B0604020202020204" pitchFamily="34" charset="0"/>
              </a:rPr>
              <a:t> </a:t>
            </a:r>
            <a:r>
              <a:rPr lang="zh-CN" altLang="en-US" sz="2000" b="1">
                <a:solidFill>
                  <a:srgbClr val="000080"/>
                </a:solidFill>
                <a:latin typeface="Arial" panose="020B0604020202020204" pitchFamily="34" charset="0"/>
                <a:ea typeface="楷体_GB2312" pitchFamily="49" charset="-122"/>
                <a:cs typeface="Arial" panose="020B0604020202020204" pitchFamily="34" charset="0"/>
                <a:sym typeface="+mn-ea"/>
              </a:rPr>
              <a:t>(Keywords in descending order in the record sequence):</a:t>
            </a:r>
            <a:endParaRPr lang="zh-CN" altLang="en-US" sz="2000" b="1">
              <a:solidFill>
                <a:srgbClr val="000080"/>
              </a:solidFill>
              <a:latin typeface="Arial" panose="020B0604020202020204" pitchFamily="34" charset="0"/>
              <a:ea typeface="楷体_GB2312" pitchFamily="49" charset="-122"/>
              <a:cs typeface="Arial" panose="020B0604020202020204" pitchFamily="34" charset="0"/>
            </a:endParaRPr>
          </a:p>
          <a:p>
            <a:endParaRPr lang="zh-CN" altLang="en-US" sz="2000" b="1">
              <a:solidFill>
                <a:srgbClr val="000080"/>
              </a:solidFill>
              <a:latin typeface="Arial" panose="020B0604020202020204" pitchFamily="34" charset="0"/>
              <a:ea typeface="楷体_GB2312" pitchFamily="49" charset="-122"/>
              <a:cs typeface="Arial" panose="020B0604020202020204" pitchFamily="34" charset="0"/>
            </a:endParaRPr>
          </a:p>
        </p:txBody>
      </p:sp>
      <p:sp>
        <p:nvSpPr>
          <p:cNvPr id="30726" name="Text Box 6"/>
          <p:cNvSpPr txBox="1">
            <a:spLocks noChangeArrowheads="1"/>
          </p:cNvSpPr>
          <p:nvPr/>
        </p:nvSpPr>
        <p:spPr bwMode="auto">
          <a:xfrm>
            <a:off x="1464310" y="4436745"/>
            <a:ext cx="21005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800">
                <a:solidFill>
                  <a:srgbClr val="0000FF"/>
                </a:solidFill>
                <a:latin typeface="Arial" panose="020B0604020202020204" pitchFamily="34" charset="0"/>
                <a:ea typeface="楷体_GB2312" pitchFamily="49" charset="-122"/>
                <a:cs typeface="Arial" panose="020B0604020202020204" pitchFamily="34" charset="0"/>
                <a:sym typeface="+mn-ea"/>
              </a:rPr>
              <a:t>Comparison</a:t>
            </a:r>
            <a:r>
              <a:rPr lang="en-US" altLang="zh-CN" sz="1800">
                <a:latin typeface="Arial" panose="020B0604020202020204" pitchFamily="34" charset="0"/>
                <a:ea typeface="楷体_GB2312" pitchFamily="49" charset="-122"/>
                <a:cs typeface="Arial" panose="020B0604020202020204" pitchFamily="34" charset="0"/>
                <a:sym typeface="+mn-ea"/>
              </a:rPr>
              <a:t> count:</a:t>
            </a:r>
            <a:endParaRPr lang="zh-CN" altLang="en-US" sz="4000">
              <a:ea typeface="楷体_GB2312" pitchFamily="49" charset="-122"/>
            </a:endParaRPr>
          </a:p>
        </p:txBody>
      </p:sp>
      <p:graphicFrame>
        <p:nvGraphicFramePr>
          <p:cNvPr id="30727" name="Object 7"/>
          <p:cNvGraphicFramePr>
            <a:graphicFrameLocks noChangeAspect="1"/>
          </p:cNvGraphicFramePr>
          <p:nvPr/>
        </p:nvGraphicFramePr>
        <p:xfrm>
          <a:off x="1295400" y="2209800"/>
          <a:ext cx="2438400" cy="1135063"/>
        </p:xfrm>
        <a:graphic>
          <a:graphicData uri="http://schemas.openxmlformats.org/presentationml/2006/ole">
            <mc:AlternateContent xmlns:mc="http://schemas.openxmlformats.org/markup-compatibility/2006">
              <mc:Choice xmlns:v="urn:schemas-microsoft-com:vml" Requires="v">
                <p:oleObj spid="_x0000_s23557" name="公式" r:id="rId3" imgW="1422400" imgH="863600" progId="Equation.3">
                  <p:embed/>
                </p:oleObj>
              </mc:Choice>
              <mc:Fallback>
                <p:oleObj name="公式" r:id="rId3" imgW="1422400" imgH="8636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2209800"/>
                        <a:ext cx="2438400" cy="1135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28" name="Text Box 8"/>
          <p:cNvSpPr txBox="1">
            <a:spLocks noChangeArrowheads="1"/>
          </p:cNvSpPr>
          <p:nvPr/>
        </p:nvSpPr>
        <p:spPr bwMode="auto">
          <a:xfrm>
            <a:off x="6019800" y="2362200"/>
            <a:ext cx="462280" cy="76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4400" b="1">
                <a:solidFill>
                  <a:srgbClr val="FF0000"/>
                </a:solidFill>
              </a:rPr>
              <a:t>0</a:t>
            </a:r>
          </a:p>
        </p:txBody>
      </p:sp>
      <p:graphicFrame>
        <p:nvGraphicFramePr>
          <p:cNvPr id="30729" name="Object 9"/>
          <p:cNvGraphicFramePr>
            <a:graphicFrameLocks noChangeAspect="1"/>
          </p:cNvGraphicFramePr>
          <p:nvPr/>
        </p:nvGraphicFramePr>
        <p:xfrm>
          <a:off x="4953000" y="5029200"/>
          <a:ext cx="3505200" cy="1295400"/>
        </p:xfrm>
        <a:graphic>
          <a:graphicData uri="http://schemas.openxmlformats.org/presentationml/2006/ole">
            <mc:AlternateContent xmlns:mc="http://schemas.openxmlformats.org/markup-compatibility/2006">
              <mc:Choice xmlns:v="urn:schemas-microsoft-com:vml" Requires="v">
                <p:oleObj spid="_x0000_s23558" name="公式" r:id="rId5" imgW="3073400" imgH="863600" progId="Equation.3">
                  <p:embed/>
                </p:oleObj>
              </mc:Choice>
              <mc:Fallback>
                <p:oleObj name="公式" r:id="rId5" imgW="3073400" imgH="8636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53000" y="5029200"/>
                        <a:ext cx="35052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30" name="Rectangle 10"/>
          <p:cNvSpPr>
            <a:spLocks noChangeArrowheads="1"/>
          </p:cNvSpPr>
          <p:nvPr/>
        </p:nvSpPr>
        <p:spPr bwMode="auto">
          <a:xfrm>
            <a:off x="5033010" y="1717675"/>
            <a:ext cx="2435860"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a:latin typeface="Arial" panose="020B0604020202020204" pitchFamily="34" charset="0"/>
                <a:ea typeface="楷体_GB2312" pitchFamily="49" charset="-122"/>
                <a:cs typeface="Arial" panose="020B0604020202020204" pitchFamily="34" charset="0"/>
              </a:rPr>
              <a:t>Number of "</a:t>
            </a:r>
            <a:r>
              <a:rPr lang="zh-CN" altLang="en-US" sz="2000">
                <a:solidFill>
                  <a:srgbClr val="0000FF"/>
                </a:solidFill>
                <a:latin typeface="Arial" panose="020B0604020202020204" pitchFamily="34" charset="0"/>
                <a:ea typeface="楷体_GB2312" pitchFamily="49" charset="-122"/>
                <a:cs typeface="Arial" panose="020B0604020202020204" pitchFamily="34" charset="0"/>
              </a:rPr>
              <a:t>moves</a:t>
            </a:r>
            <a:r>
              <a:rPr lang="en-US" altLang="zh-CN" sz="2000">
                <a:latin typeface="Arial" panose="020B0604020202020204" pitchFamily="34" charset="0"/>
                <a:ea typeface="楷体_GB2312" pitchFamily="49" charset="-122"/>
                <a:cs typeface="Arial" panose="020B0604020202020204" pitchFamily="34" charset="0"/>
              </a:rPr>
              <a:t>":</a:t>
            </a:r>
            <a:endParaRPr lang="zh-CN" altLang="en-US" sz="2000">
              <a:latin typeface="Arial" panose="020B0604020202020204" pitchFamily="34" charset="0"/>
              <a:ea typeface="楷体_GB2312" pitchFamily="49" charset="-122"/>
              <a:cs typeface="Arial" panose="020B0604020202020204" pitchFamily="34" charset="0"/>
            </a:endParaRPr>
          </a:p>
        </p:txBody>
      </p:sp>
      <p:sp>
        <p:nvSpPr>
          <p:cNvPr id="30731" name="Rectangle 11"/>
          <p:cNvSpPr>
            <a:spLocks noChangeArrowheads="1"/>
          </p:cNvSpPr>
          <p:nvPr/>
        </p:nvSpPr>
        <p:spPr bwMode="auto">
          <a:xfrm>
            <a:off x="5144770" y="4311650"/>
            <a:ext cx="221234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800">
                <a:latin typeface="Arial" panose="020B0604020202020204" pitchFamily="34" charset="0"/>
                <a:ea typeface="楷体_GB2312" pitchFamily="49" charset="-122"/>
                <a:cs typeface="Arial" panose="020B0604020202020204" pitchFamily="34" charset="0"/>
                <a:sym typeface="+mn-ea"/>
              </a:rPr>
              <a:t>Number of "</a:t>
            </a:r>
            <a:r>
              <a:rPr lang="zh-CN" altLang="en-US" sz="1800">
                <a:solidFill>
                  <a:srgbClr val="0000FF"/>
                </a:solidFill>
                <a:latin typeface="Arial" panose="020B0604020202020204" pitchFamily="34" charset="0"/>
                <a:ea typeface="楷体_GB2312" pitchFamily="49" charset="-122"/>
                <a:cs typeface="Arial" panose="020B0604020202020204" pitchFamily="34" charset="0"/>
                <a:sym typeface="+mn-ea"/>
              </a:rPr>
              <a:t>moves</a:t>
            </a:r>
            <a:r>
              <a:rPr lang="en-US" altLang="zh-CN" sz="1800">
                <a:latin typeface="Arial" panose="020B0604020202020204" pitchFamily="34" charset="0"/>
                <a:ea typeface="楷体_GB2312" pitchFamily="49" charset="-122"/>
                <a:cs typeface="Arial" panose="020B0604020202020204" pitchFamily="34" charset="0"/>
                <a:sym typeface="+mn-ea"/>
              </a:rPr>
              <a:t>":</a:t>
            </a:r>
            <a:endParaRPr lang="zh-CN" altLang="en-US" sz="4000">
              <a:ea typeface="楷体_GB2312" pitchFamily="49" charset="-122"/>
            </a:endParaRPr>
          </a:p>
        </p:txBody>
      </p:sp>
      <p:graphicFrame>
        <p:nvGraphicFramePr>
          <p:cNvPr id="30732" name="Object 12"/>
          <p:cNvGraphicFramePr>
            <a:graphicFrameLocks noChangeAspect="1"/>
          </p:cNvGraphicFramePr>
          <p:nvPr/>
        </p:nvGraphicFramePr>
        <p:xfrm>
          <a:off x="985838" y="5029200"/>
          <a:ext cx="2752725" cy="1295400"/>
        </p:xfrm>
        <a:graphic>
          <a:graphicData uri="http://schemas.openxmlformats.org/presentationml/2006/ole">
            <mc:AlternateContent xmlns:mc="http://schemas.openxmlformats.org/markup-compatibility/2006">
              <mc:Choice xmlns:v="urn:schemas-microsoft-com:vml" Requires="v">
                <p:oleObj spid="_x0000_s23559" name="Microsoft 公式 3.0" r:id="rId7" imgW="2413000" imgH="863600" progId="Equation.3">
                  <p:embed/>
                </p:oleObj>
              </mc:Choice>
              <mc:Fallback>
                <p:oleObj name="Microsoft 公式 3.0" r:id="rId7" imgW="2413000" imgH="863600" progId="Equation.3">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85838" y="5029200"/>
                        <a:ext cx="2752725"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页脚占位符 4"/>
          <p:cNvSpPr>
            <a:spLocks noGrp="1"/>
          </p:cNvSpPr>
          <p:nvPr>
            <p:ph type="ftr" sz="quarter" idx="10"/>
          </p:nvPr>
        </p:nvSpPr>
        <p:spPr/>
        <p:txBody>
          <a:bodyPr/>
          <a:lstStyle/>
          <a:p>
            <a:pPr>
              <a:defRPr/>
            </a:pPr>
            <a:r>
              <a:rPr lang="en-US" altLang="zh-CN"/>
              <a:t>@ Zhihai Wang, 2025</a:t>
            </a:r>
            <a:endParaRPr lang="en-US" altLang="zh-CN" dirty="0"/>
          </a:p>
        </p:txBody>
      </p:sp>
      <p:sp>
        <p:nvSpPr>
          <p:cNvPr id="6" name="灯片编号占位符 5"/>
          <p:cNvSpPr>
            <a:spLocks noGrp="1"/>
          </p:cNvSpPr>
          <p:nvPr>
            <p:ph type="sldNum" sz="quarter" idx="11"/>
          </p:nvPr>
        </p:nvSpPr>
        <p:spPr/>
        <p:txBody>
          <a:bodyPr/>
          <a:lstStyle/>
          <a:p>
            <a:pPr>
              <a:defRPr/>
            </a:pPr>
            <a:fld id="{FC63145C-71F2-48C1-8DD2-31D6AC142F2A}" type="slidenum">
              <a:rPr lang="en-US" altLang="zh-CN" smtClean="0"/>
              <a:t>29</a:t>
            </a:fld>
            <a:endParaRPr lang="en-US" altLang="zh-CN"/>
          </a:p>
        </p:txBody>
      </p:sp>
    </p:spTree>
  </p:cSld>
  <p:clrMapOvr>
    <a:masterClrMapping/>
  </p:clrMapOvr>
  <p:transition>
    <p:pull dir="r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ChangeArrowheads="1"/>
          </p:cNvSpPr>
          <p:nvPr/>
        </p:nvSpPr>
        <p:spPr bwMode="auto">
          <a:xfrm>
            <a:off x="420688" y="4667250"/>
            <a:ext cx="7311390" cy="423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spcBef>
                <a:spcPct val="20000"/>
              </a:spcBef>
              <a:buSzPct val="80000"/>
            </a:pPr>
            <a:r>
              <a:rPr lang="zh-CN" altLang="en-US" sz="2400">
                <a:latin typeface="Arial" panose="020B0604020202020204" pitchFamily="34" charset="0"/>
                <a:ea typeface="隶书" panose="02010509060101010101" pitchFamily="49" charset="-122"/>
                <a:cs typeface="Arial" panose="020B0604020202020204" pitchFamily="34" charset="0"/>
              </a:rPr>
              <a:t>For direct insertion sort: its </a:t>
            </a:r>
            <a:r>
              <a:rPr lang="zh-CN" altLang="en-US" sz="2400" b="1">
                <a:solidFill>
                  <a:srgbClr val="990000"/>
                </a:solidFill>
                <a:latin typeface="Arial" panose="020B0604020202020204" pitchFamily="34" charset="0"/>
                <a:ea typeface="楷体_GB2312" pitchFamily="49" charset="-122"/>
                <a:cs typeface="Arial" panose="020B0604020202020204" pitchFamily="34" charset="0"/>
              </a:rPr>
              <a:t>time complexity is O(n²)</a:t>
            </a:r>
          </a:p>
        </p:txBody>
      </p:sp>
      <p:sp>
        <p:nvSpPr>
          <p:cNvPr id="31747" name="Rectangle 3"/>
          <p:cNvSpPr>
            <a:spLocks noChangeArrowheads="1"/>
          </p:cNvSpPr>
          <p:nvPr/>
        </p:nvSpPr>
        <p:spPr bwMode="auto">
          <a:xfrm>
            <a:off x="422275" y="5516563"/>
            <a:ext cx="7956550" cy="423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spcBef>
                <a:spcPct val="20000"/>
              </a:spcBef>
              <a:buSzPct val="80000"/>
            </a:pPr>
            <a:r>
              <a:rPr lang="zh-CN" altLang="en-US" sz="2400" dirty="0">
                <a:latin typeface="Arial" panose="020B0604020202020204" pitchFamily="34" charset="0"/>
                <a:ea typeface="隶书" panose="02010509060101010101" pitchFamily="49" charset="-122"/>
                <a:cs typeface="Arial" panose="020B0604020202020204" pitchFamily="34" charset="0"/>
              </a:rPr>
              <a:t>Applicable when </a:t>
            </a:r>
            <a:r>
              <a:rPr lang="zh-CN" altLang="en-US" sz="2400" b="1">
                <a:solidFill>
                  <a:srgbClr val="990000"/>
                </a:solidFill>
                <a:latin typeface="Arial" panose="020B0604020202020204" pitchFamily="34" charset="0"/>
                <a:ea typeface="楷体_GB2312" pitchFamily="49" charset="-122"/>
                <a:cs typeface="Arial" panose="020B0604020202020204" pitchFamily="34" charset="0"/>
              </a:rPr>
              <a:t>the number of records to sort is small</a:t>
            </a:r>
            <a:endParaRPr lang="zh-CN" altLang="en-US" sz="2400" dirty="0">
              <a:latin typeface="Arial" panose="020B0604020202020204" pitchFamily="34" charset="0"/>
              <a:ea typeface="隶书" panose="02010509060101010101" pitchFamily="49" charset="-122"/>
              <a:cs typeface="Arial" panose="020B0604020202020204" pitchFamily="34" charset="0"/>
            </a:endParaRPr>
          </a:p>
        </p:txBody>
      </p:sp>
      <p:sp>
        <p:nvSpPr>
          <p:cNvPr id="31748" name="Text Box 4"/>
          <p:cNvSpPr txBox="1">
            <a:spLocks noChangeArrowheads="1"/>
          </p:cNvSpPr>
          <p:nvPr/>
        </p:nvSpPr>
        <p:spPr bwMode="auto">
          <a:xfrm>
            <a:off x="358775" y="685800"/>
            <a:ext cx="8328025" cy="3709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40000"/>
              </a:lnSpc>
            </a:pPr>
            <a:r>
              <a:rPr lang="zh-CN" altLang="en-US" sz="2400" b="1" dirty="0">
                <a:solidFill>
                  <a:srgbClr val="000080"/>
                </a:solidFill>
                <a:latin typeface="Arial" panose="020B0604020202020204" pitchFamily="34" charset="0"/>
                <a:ea typeface="楷体_GB2312" pitchFamily="49" charset="-122"/>
                <a:cs typeface="Arial" panose="020B0604020202020204" pitchFamily="34" charset="0"/>
              </a:rPr>
              <a:t>Generally, the records to be sorted are random, that is, the probability of various permutations of the records in the column to be sorted is the same, then the average of the minimum value and the maximum value can be taken as the number of times to compare the key and the number of times to move the records in direct insertion sort, which is about n 2/4.</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30</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1746"/>
                                        </p:tgtEl>
                                        <p:attrNameLst>
                                          <p:attrName>style.visibility</p:attrName>
                                        </p:attrNameLst>
                                      </p:cBhvr>
                                      <p:to>
                                        <p:strVal val="visible"/>
                                      </p:to>
                                    </p:set>
                                    <p:anim calcmode="lin" valueType="num">
                                      <p:cBhvr additive="base">
                                        <p:cTn id="7" dur="500" fill="hold"/>
                                        <p:tgtEl>
                                          <p:spTgt spid="31746"/>
                                        </p:tgtEl>
                                        <p:attrNameLst>
                                          <p:attrName>ppt_x</p:attrName>
                                        </p:attrNameLst>
                                      </p:cBhvr>
                                      <p:tavLst>
                                        <p:tav tm="0">
                                          <p:val>
                                            <p:strVal val="0-#ppt_w/2"/>
                                          </p:val>
                                        </p:tav>
                                        <p:tav tm="100000">
                                          <p:val>
                                            <p:strVal val="#ppt_x"/>
                                          </p:val>
                                        </p:tav>
                                      </p:tavLst>
                                    </p:anim>
                                    <p:anim calcmode="lin" valueType="num">
                                      <p:cBhvr additive="base">
                                        <p:cTn id="8" dur="500" fill="hold"/>
                                        <p:tgtEl>
                                          <p:spTgt spid="3174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31747"/>
                                        </p:tgtEl>
                                        <p:attrNameLst>
                                          <p:attrName>style.visibility</p:attrName>
                                        </p:attrNameLst>
                                      </p:cBhvr>
                                      <p:to>
                                        <p:strVal val="visible"/>
                                      </p:to>
                                    </p:set>
                                    <p:anim calcmode="lin" valueType="num">
                                      <p:cBhvr additive="base">
                                        <p:cTn id="12" dur="500" fill="hold"/>
                                        <p:tgtEl>
                                          <p:spTgt spid="31747"/>
                                        </p:tgtEl>
                                        <p:attrNameLst>
                                          <p:attrName>ppt_x</p:attrName>
                                        </p:attrNameLst>
                                      </p:cBhvr>
                                      <p:tavLst>
                                        <p:tav tm="0">
                                          <p:val>
                                            <p:strVal val="0-#ppt_w/2"/>
                                          </p:val>
                                        </p:tav>
                                        <p:tav tm="100000">
                                          <p:val>
                                            <p:strVal val="#ppt_x"/>
                                          </p:val>
                                        </p:tav>
                                      </p:tavLst>
                                    </p:anim>
                                    <p:anim calcmode="lin" valueType="num">
                                      <p:cBhvr additive="base">
                                        <p:cTn id="13" dur="500" fill="hold"/>
                                        <p:tgtEl>
                                          <p:spTgt spid="3174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6" grpId="0" bldLvl="0" animBg="1" autoUpdateAnimBg="0"/>
      <p:bldP spid="31747" grpId="0" bldLvl="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2"/>
          <p:cNvSpPr txBox="1">
            <a:spLocks noChangeArrowheads="1"/>
          </p:cNvSpPr>
          <p:nvPr/>
        </p:nvSpPr>
        <p:spPr bwMode="auto">
          <a:xfrm>
            <a:off x="779463" y="1524000"/>
            <a:ext cx="7831137" cy="33229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a:latin typeface="Arial" panose="020B0604020202020204" pitchFamily="34" charset="0"/>
                <a:cs typeface="Arial" panose="020B0604020202020204" pitchFamily="34" charset="0"/>
              </a:rPr>
              <a:t>Since R[1..i-1] is a sorted sequence ordered by key, we can</a:t>
            </a:r>
            <a:r>
              <a:rPr lang="zh-CN" altLang="en-US" dirty="0">
                <a:solidFill>
                  <a:srgbClr val="0000FF"/>
                </a:solidFill>
                <a:latin typeface="Arial" panose="020B0604020202020204" pitchFamily="34" charset="0"/>
                <a:ea typeface="楷体_GB2312" pitchFamily="49" charset="-122"/>
                <a:cs typeface="Arial" panose="020B0604020202020204" pitchFamily="34" charset="0"/>
              </a:rPr>
              <a:t> use </a:t>
            </a:r>
            <a:r>
              <a:rPr lang="zh-CN" altLang="en-US" b="1" dirty="0">
                <a:solidFill>
                  <a:srgbClr val="993300"/>
                </a:solidFill>
                <a:latin typeface="Arial" panose="020B0604020202020204" pitchFamily="34" charset="0"/>
                <a:ea typeface="楷体_GB2312" pitchFamily="49" charset="-122"/>
                <a:cs typeface="Arial" panose="020B0604020202020204" pitchFamily="34" charset="0"/>
              </a:rPr>
              <a:t>binary search</a:t>
            </a:r>
            <a:r>
              <a:rPr lang="zh-CN" altLang="en-US" dirty="0">
                <a:solidFill>
                  <a:srgbClr val="0000FF"/>
                </a:solidFill>
                <a:latin typeface="Arial" panose="020B0604020202020204" pitchFamily="34" charset="0"/>
                <a:ea typeface="楷体_GB2312" pitchFamily="49" charset="-122"/>
                <a:cs typeface="Arial" panose="020B0604020202020204" pitchFamily="34" charset="0"/>
              </a:rPr>
              <a:t> to </a:t>
            </a:r>
            <a:r>
              <a:rPr lang="zh-CN" altLang="en-US" b="1" dirty="0">
                <a:solidFill>
                  <a:srgbClr val="993300"/>
                </a:solidFill>
                <a:latin typeface="Arial" panose="020B0604020202020204" pitchFamily="34" charset="0"/>
                <a:ea typeface="楷体_GB2312" pitchFamily="49" charset="-122"/>
                <a:cs typeface="Arial" panose="020B0604020202020204" pitchFamily="34" charset="0"/>
              </a:rPr>
              <a:t>find </a:t>
            </a:r>
            <a:r>
              <a:rPr lang="zh-CN" altLang="en-US" dirty="0">
                <a:solidFill>
                  <a:srgbClr val="0000FF"/>
                </a:solidFill>
                <a:latin typeface="Arial" panose="020B0604020202020204" pitchFamily="34" charset="0"/>
                <a:ea typeface="楷体_GB2312" pitchFamily="49" charset="-122"/>
                <a:cs typeface="Arial" panose="020B0604020202020204" pitchFamily="34" charset="0"/>
              </a:rPr>
              <a:t>the </a:t>
            </a:r>
            <a:r>
              <a:rPr lang="zh-CN" altLang="en-US" b="1" dirty="0">
                <a:solidFill>
                  <a:srgbClr val="993300"/>
                </a:solidFill>
                <a:latin typeface="Arial" panose="020B0604020202020204" pitchFamily="34" charset="0"/>
                <a:ea typeface="楷体_GB2312" pitchFamily="49" charset="-122"/>
                <a:cs typeface="Arial" panose="020B0604020202020204" pitchFamily="34" charset="0"/>
              </a:rPr>
              <a:t>insertion position</a:t>
            </a:r>
            <a:r>
              <a:rPr lang="zh-CN" altLang="en-US" dirty="0">
                <a:solidFill>
                  <a:srgbClr val="0000FF"/>
                </a:solidFill>
                <a:latin typeface="Arial" panose="020B0604020202020204" pitchFamily="34" charset="0"/>
                <a:ea typeface="楷体_GB2312" pitchFamily="49" charset="-122"/>
                <a:cs typeface="Arial" panose="020B0604020202020204" pitchFamily="34" charset="0"/>
              </a:rPr>
              <a:t> of R[i] in R[1..i-1].</a:t>
            </a:r>
            <a:r>
              <a:rPr lang="en-US" altLang="zh-CN">
                <a:latin typeface="Arial" panose="020B0604020202020204" pitchFamily="34" charset="0"/>
                <a:cs typeface="Arial" panose="020B0604020202020204" pitchFamily="34" charset="0"/>
              </a:rPr>
              <a:t> The insertion sort implemented in this way is called </a:t>
            </a:r>
            <a:r>
              <a:rPr lang="zh-CN" altLang="en-US" b="1">
                <a:solidFill>
                  <a:srgbClr val="FF0000"/>
                </a:solidFill>
                <a:latin typeface="Arial" panose="020B0604020202020204" pitchFamily="34" charset="0"/>
                <a:ea typeface="楷体_GB2312" pitchFamily="49" charset="-122"/>
                <a:cs typeface="Arial" panose="020B0604020202020204" pitchFamily="34" charset="0"/>
              </a:rPr>
              <a:t>binary insertion sort</a:t>
            </a:r>
            <a:r>
              <a:rPr lang="en-US" altLang="zh-CN">
                <a:latin typeface="Arial" panose="020B0604020202020204" pitchFamily="34" charset="0"/>
                <a:cs typeface="Arial" panose="020B0604020202020204" pitchFamily="34" charset="0"/>
              </a:rPr>
              <a:t>.</a:t>
            </a:r>
          </a:p>
        </p:txBody>
      </p:sp>
      <p:sp>
        <p:nvSpPr>
          <p:cNvPr id="32771" name="Rectangle 3"/>
          <p:cNvSpPr>
            <a:spLocks noChangeArrowheads="1"/>
          </p:cNvSpPr>
          <p:nvPr/>
        </p:nvSpPr>
        <p:spPr bwMode="auto">
          <a:xfrm>
            <a:off x="793750" y="381000"/>
            <a:ext cx="5686425"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600" b="1">
                <a:latin typeface="Arial" panose="020B0604020202020204" pitchFamily="34" charset="0"/>
                <a:ea typeface="楷体_GB2312" pitchFamily="49" charset="-122"/>
                <a:cs typeface="Arial" panose="020B0604020202020204" pitchFamily="34" charset="0"/>
              </a:rPr>
              <a:t>2. </a:t>
            </a:r>
            <a:r>
              <a:rPr lang="en-US" altLang="zh-CN" sz="3600" b="1">
                <a:latin typeface="Arial" panose="020B0604020202020204" pitchFamily="34" charset="0"/>
                <a:ea typeface="楷体_GB2312" pitchFamily="49" charset="-122"/>
                <a:cs typeface="Arial" panose="020B0604020202020204" pitchFamily="34" charset="0"/>
              </a:rPr>
              <a:t>Binary Insertion Sort</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31</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32771"/>
                                        </p:tgtEl>
                                        <p:attrNameLst>
                                          <p:attrName>style.visibility</p:attrName>
                                        </p:attrNameLst>
                                      </p:cBhvr>
                                      <p:to>
                                        <p:strVal val="visible"/>
                                      </p:to>
                                    </p:set>
                                    <p:animEffect transition="in" filter="slide(fromLeft)">
                                      <p:cBhvr>
                                        <p:cTn id="7" dur="500"/>
                                        <p:tgtEl>
                                          <p:spTgt spid="32771"/>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grpId="0" nodeType="clickEffect">
                                  <p:stCondLst>
                                    <p:cond delay="0"/>
                                  </p:stCondLst>
                                  <p:childTnLst>
                                    <p:set>
                                      <p:cBhvr>
                                        <p:cTn id="11" dur="1" fill="hold">
                                          <p:stCondLst>
                                            <p:cond delay="0"/>
                                          </p:stCondLst>
                                        </p:cTn>
                                        <p:tgtEl>
                                          <p:spTgt spid="32770"/>
                                        </p:tgtEl>
                                        <p:attrNameLst>
                                          <p:attrName>style.visibility</p:attrName>
                                        </p:attrNameLst>
                                      </p:cBhvr>
                                      <p:to>
                                        <p:strVal val="visible"/>
                                      </p:to>
                                    </p:set>
                                    <p:animEffect transition="in" filter="strips(upRight)">
                                      <p:cBhvr>
                                        <p:cTn id="12" dur="500"/>
                                        <p:tgtEl>
                                          <p:spTgt spid="327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0" grpId="0" bldLvl="0" animBg="1" autoUpdateAnimBg="0"/>
      <p:bldP spid="32771" grpId="0" bldLvl="0" animBg="1"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2"/>
          <p:cNvSpPr txBox="1">
            <a:spLocks noChangeArrowheads="1"/>
          </p:cNvSpPr>
          <p:nvPr/>
        </p:nvSpPr>
        <p:spPr bwMode="auto">
          <a:xfrm>
            <a:off x="288032" y="116929"/>
            <a:ext cx="8316416" cy="6325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b="1" dirty="0">
                <a:ea typeface="楷体_GB2312" pitchFamily="49" charset="-122"/>
              </a:rPr>
              <a:t>void</a:t>
            </a:r>
            <a:r>
              <a:rPr lang="en-US" altLang="zh-CN" dirty="0">
                <a:ea typeface="楷体_GB2312" pitchFamily="49" charset="-122"/>
              </a:rPr>
              <a:t> </a:t>
            </a:r>
            <a:r>
              <a:rPr lang="en-US" altLang="zh-CN" dirty="0" err="1">
                <a:ea typeface="楷体_GB2312" pitchFamily="49" charset="-122"/>
              </a:rPr>
              <a:t>BiInsertionSort</a:t>
            </a:r>
            <a:r>
              <a:rPr lang="en-US" altLang="zh-CN" dirty="0">
                <a:ea typeface="楷体_GB2312" pitchFamily="49" charset="-122"/>
              </a:rPr>
              <a:t> ( </a:t>
            </a:r>
            <a:r>
              <a:rPr lang="en-US" altLang="zh-CN" dirty="0" err="1">
                <a:ea typeface="楷体_GB2312" pitchFamily="49" charset="-122"/>
              </a:rPr>
              <a:t>SqList</a:t>
            </a:r>
            <a:r>
              <a:rPr lang="en-US" altLang="zh-CN" dirty="0">
                <a:ea typeface="楷体_GB2312" pitchFamily="49" charset="-122"/>
              </a:rPr>
              <a:t> &amp;L ) </a:t>
            </a:r>
            <a:r>
              <a:rPr lang="en-US" altLang="zh-CN" b="1" dirty="0">
                <a:ea typeface="楷体_GB2312" pitchFamily="49" charset="-122"/>
              </a:rPr>
              <a:t>{</a:t>
            </a:r>
          </a:p>
          <a:p>
            <a:r>
              <a:rPr lang="en-US" altLang="zh-CN" sz="3600" b="1" dirty="0">
                <a:ea typeface="楷体_GB2312" pitchFamily="49" charset="-122"/>
              </a:rPr>
              <a:t>  </a:t>
            </a:r>
            <a:r>
              <a:rPr lang="en-US" altLang="zh-CN" sz="2400" b="1" dirty="0">
                <a:solidFill>
                  <a:srgbClr val="006600"/>
                </a:solidFill>
                <a:sym typeface="+mn-ea"/>
              </a:rPr>
              <a:t>// performs a binary insertion sort on the sorted list L</a:t>
            </a:r>
            <a:endParaRPr lang="zh-CN" altLang="en-US" sz="3600" b="1" dirty="0">
              <a:solidFill>
                <a:srgbClr val="006600"/>
              </a:solidFill>
            </a:endParaRPr>
          </a:p>
          <a:p>
            <a:endParaRPr lang="zh-CN" altLang="en-US" sz="2400" b="1" dirty="0">
              <a:solidFill>
                <a:srgbClr val="006600"/>
              </a:solidFill>
            </a:endParaRPr>
          </a:p>
          <a:p>
            <a:pPr>
              <a:lnSpc>
                <a:spcPct val="130000"/>
              </a:lnSpc>
            </a:pPr>
            <a:endParaRPr lang="zh-CN" altLang="en-US" sz="3600" b="1" dirty="0">
              <a:solidFill>
                <a:srgbClr val="005042"/>
              </a:solidFill>
              <a:ea typeface="楷体_GB2312" pitchFamily="49" charset="-122"/>
            </a:endParaRPr>
          </a:p>
          <a:p>
            <a:pPr>
              <a:lnSpc>
                <a:spcPct val="130000"/>
              </a:lnSpc>
            </a:pPr>
            <a:endParaRPr lang="zh-CN" altLang="en-US" sz="3600" b="1" dirty="0">
              <a:solidFill>
                <a:srgbClr val="005042"/>
              </a:solidFill>
              <a:ea typeface="楷体_GB2312" pitchFamily="49" charset="-122"/>
            </a:endParaRPr>
          </a:p>
          <a:p>
            <a:pPr>
              <a:lnSpc>
                <a:spcPct val="130000"/>
              </a:lnSpc>
            </a:pPr>
            <a:endParaRPr lang="zh-CN" altLang="en-US" sz="3600" b="1" dirty="0">
              <a:solidFill>
                <a:srgbClr val="005042"/>
              </a:solidFill>
              <a:ea typeface="楷体_GB2312" pitchFamily="49" charset="-122"/>
            </a:endParaRPr>
          </a:p>
          <a:p>
            <a:pPr>
              <a:lnSpc>
                <a:spcPct val="130000"/>
              </a:lnSpc>
            </a:pPr>
            <a:endParaRPr lang="zh-CN" altLang="en-US" sz="3600" b="1" dirty="0">
              <a:solidFill>
                <a:srgbClr val="005042"/>
              </a:solidFill>
              <a:ea typeface="楷体_GB2312" pitchFamily="49" charset="-122"/>
            </a:endParaRPr>
          </a:p>
          <a:p>
            <a:pPr>
              <a:lnSpc>
                <a:spcPct val="130000"/>
              </a:lnSpc>
            </a:pPr>
            <a:endParaRPr lang="zh-CN" altLang="en-US" sz="3600" b="1" dirty="0">
              <a:solidFill>
                <a:srgbClr val="005042"/>
              </a:solidFill>
              <a:ea typeface="楷体_GB2312" pitchFamily="49" charset="-122"/>
            </a:endParaRPr>
          </a:p>
          <a:p>
            <a:pPr>
              <a:lnSpc>
                <a:spcPct val="130000"/>
              </a:lnSpc>
            </a:pPr>
            <a:endParaRPr lang="zh-CN" altLang="en-US" sz="3600" b="1" dirty="0">
              <a:solidFill>
                <a:srgbClr val="005042"/>
              </a:solidFill>
              <a:ea typeface="楷体_GB2312" pitchFamily="49" charset="-122"/>
            </a:endParaRPr>
          </a:p>
          <a:p>
            <a:pPr>
              <a:lnSpc>
                <a:spcPct val="130000"/>
              </a:lnSpc>
            </a:pPr>
            <a:r>
              <a:rPr lang="en-US" altLang="zh-CN" b="1" dirty="0">
                <a:ea typeface="楷体_GB2312" pitchFamily="49" charset="-122"/>
              </a:rPr>
              <a:t>} </a:t>
            </a:r>
            <a:r>
              <a:rPr lang="en-US" altLang="zh-CN" dirty="0">
                <a:ea typeface="楷体_GB2312" pitchFamily="49" charset="-122"/>
              </a:rPr>
              <a:t>// </a:t>
            </a:r>
            <a:r>
              <a:rPr lang="en-US" altLang="zh-CN" dirty="0" err="1">
                <a:ea typeface="楷体_GB2312" pitchFamily="49" charset="-122"/>
              </a:rPr>
              <a:t>BInsertSort</a:t>
            </a:r>
            <a:endParaRPr lang="en-US" altLang="zh-CN" dirty="0">
              <a:ea typeface="楷体_GB2312" pitchFamily="49" charset="-122"/>
            </a:endParaRPr>
          </a:p>
        </p:txBody>
      </p:sp>
      <p:sp>
        <p:nvSpPr>
          <p:cNvPr id="33795" name="Text Box 3">
            <a:hlinkClick r:id="" action="ppaction://hlinkshowjump?jump=nextslide"/>
          </p:cNvPr>
          <p:cNvSpPr txBox="1">
            <a:spLocks noChangeArrowheads="1"/>
          </p:cNvSpPr>
          <p:nvPr/>
        </p:nvSpPr>
        <p:spPr bwMode="auto">
          <a:xfrm>
            <a:off x="35560" y="2355215"/>
            <a:ext cx="894715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a:solidFill>
                  <a:srgbClr val="FF3300"/>
                </a:solidFill>
                <a:ea typeface="楷体_GB2312" pitchFamily="49" charset="-122"/>
              </a:rPr>
              <a:t>Binary search for the insertion position (high+1) in L.r[1..i-1]</a:t>
            </a:r>
          </a:p>
        </p:txBody>
      </p:sp>
      <p:sp>
        <p:nvSpPr>
          <p:cNvPr id="33796" name="Rectangle 4"/>
          <p:cNvSpPr>
            <a:spLocks noChangeArrowheads="1"/>
          </p:cNvSpPr>
          <p:nvPr/>
        </p:nvSpPr>
        <p:spPr bwMode="auto">
          <a:xfrm>
            <a:off x="611188" y="1049468"/>
            <a:ext cx="7777236" cy="4323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10000"/>
              </a:lnSpc>
            </a:pPr>
            <a:r>
              <a:rPr lang="en-US" altLang="zh-CN" b="1" dirty="0">
                <a:solidFill>
                  <a:srgbClr val="9900CC"/>
                </a:solidFill>
                <a:ea typeface="楷体_GB2312" pitchFamily="49" charset="-122"/>
              </a:rPr>
              <a:t>for</a:t>
            </a:r>
            <a:r>
              <a:rPr lang="en-US" altLang="zh-CN" dirty="0">
                <a:solidFill>
                  <a:srgbClr val="9900CC"/>
                </a:solidFill>
                <a:ea typeface="楷体_GB2312" pitchFamily="49" charset="-122"/>
              </a:rPr>
              <a:t> ( </a:t>
            </a:r>
            <a:r>
              <a:rPr lang="en-US" altLang="zh-CN" dirty="0" err="1">
                <a:solidFill>
                  <a:srgbClr val="9900CC"/>
                </a:solidFill>
                <a:ea typeface="楷体_GB2312" pitchFamily="49" charset="-122"/>
              </a:rPr>
              <a:t>i</a:t>
            </a:r>
            <a:r>
              <a:rPr lang="en-US" altLang="zh-CN" dirty="0">
                <a:solidFill>
                  <a:srgbClr val="9900CC"/>
                </a:solidFill>
                <a:ea typeface="楷体_GB2312" pitchFamily="49" charset="-122"/>
              </a:rPr>
              <a:t>=2; </a:t>
            </a:r>
            <a:r>
              <a:rPr lang="en-US" altLang="zh-CN" dirty="0" err="1">
                <a:solidFill>
                  <a:srgbClr val="9900CC"/>
                </a:solidFill>
                <a:ea typeface="楷体_GB2312" pitchFamily="49" charset="-122"/>
              </a:rPr>
              <a:t>i</a:t>
            </a:r>
            <a:r>
              <a:rPr lang="en-US" altLang="zh-CN" dirty="0">
                <a:solidFill>
                  <a:srgbClr val="9900CC"/>
                </a:solidFill>
                <a:ea typeface="楷体_GB2312" pitchFamily="49" charset="-122"/>
              </a:rPr>
              <a:t>&lt;=</a:t>
            </a:r>
            <a:r>
              <a:rPr lang="en-US" altLang="zh-CN" dirty="0" err="1">
                <a:solidFill>
                  <a:srgbClr val="9900CC"/>
                </a:solidFill>
                <a:ea typeface="楷体_GB2312" pitchFamily="49" charset="-122"/>
              </a:rPr>
              <a:t>L.length</a:t>
            </a:r>
            <a:r>
              <a:rPr lang="en-US" altLang="zh-CN" dirty="0">
                <a:solidFill>
                  <a:srgbClr val="9900CC"/>
                </a:solidFill>
                <a:ea typeface="楷体_GB2312" pitchFamily="49" charset="-122"/>
              </a:rPr>
              <a:t>; </a:t>
            </a:r>
            <a:r>
              <a:rPr lang="en-US" altLang="zh-CN" b="1" dirty="0">
                <a:solidFill>
                  <a:srgbClr val="9900CC"/>
                </a:solidFill>
                <a:ea typeface="楷体_GB2312" pitchFamily="49" charset="-122"/>
              </a:rPr>
              <a:t>++</a:t>
            </a:r>
            <a:r>
              <a:rPr lang="en-US" altLang="zh-CN" dirty="0" err="1">
                <a:solidFill>
                  <a:srgbClr val="9900CC"/>
                </a:solidFill>
                <a:ea typeface="楷体_GB2312" pitchFamily="49" charset="-122"/>
              </a:rPr>
              <a:t>i</a:t>
            </a:r>
            <a:r>
              <a:rPr lang="en-US" altLang="zh-CN" dirty="0">
                <a:solidFill>
                  <a:srgbClr val="9900CC"/>
                </a:solidFill>
                <a:ea typeface="楷体_GB2312" pitchFamily="49" charset="-122"/>
              </a:rPr>
              <a:t> ) </a:t>
            </a:r>
            <a:r>
              <a:rPr lang="en-US" altLang="zh-CN" b="1" dirty="0">
                <a:solidFill>
                  <a:srgbClr val="9900CC"/>
                </a:solidFill>
                <a:ea typeface="楷体_GB2312" pitchFamily="49" charset="-122"/>
              </a:rPr>
              <a:t>{</a:t>
            </a:r>
            <a:endParaRPr lang="en-US" altLang="zh-CN" dirty="0">
              <a:solidFill>
                <a:srgbClr val="9900CC"/>
              </a:solidFill>
              <a:ea typeface="楷体_GB2312" pitchFamily="49" charset="-122"/>
            </a:endParaRPr>
          </a:p>
          <a:p>
            <a:pPr>
              <a:lnSpc>
                <a:spcPct val="110000"/>
              </a:lnSpc>
            </a:pPr>
            <a:endParaRPr lang="en-US" altLang="zh-CN" b="1" dirty="0">
              <a:solidFill>
                <a:srgbClr val="9900CC"/>
              </a:solidFill>
              <a:ea typeface="楷体_GB2312" pitchFamily="49" charset="-122"/>
            </a:endParaRPr>
          </a:p>
          <a:p>
            <a:pPr>
              <a:lnSpc>
                <a:spcPct val="110000"/>
              </a:lnSpc>
            </a:pPr>
            <a:endParaRPr lang="en-US" altLang="zh-CN" b="1" dirty="0">
              <a:solidFill>
                <a:srgbClr val="9900CC"/>
              </a:solidFill>
              <a:ea typeface="楷体_GB2312" pitchFamily="49" charset="-122"/>
            </a:endParaRPr>
          </a:p>
          <a:p>
            <a:pPr>
              <a:lnSpc>
                <a:spcPct val="110000"/>
              </a:lnSpc>
            </a:pPr>
            <a:endParaRPr lang="en-US" altLang="zh-CN" b="1" dirty="0">
              <a:solidFill>
                <a:srgbClr val="9900CC"/>
              </a:solidFill>
              <a:ea typeface="楷体_GB2312" pitchFamily="49" charset="-122"/>
            </a:endParaRPr>
          </a:p>
          <a:p>
            <a:pPr>
              <a:lnSpc>
                <a:spcPct val="110000"/>
              </a:lnSpc>
            </a:pPr>
            <a:endParaRPr lang="en-US" altLang="zh-CN" b="1" dirty="0">
              <a:solidFill>
                <a:srgbClr val="9900CC"/>
              </a:solidFill>
              <a:ea typeface="楷体_GB2312" pitchFamily="49" charset="-122"/>
            </a:endParaRPr>
          </a:p>
          <a:p>
            <a:pPr>
              <a:lnSpc>
                <a:spcPct val="110000"/>
              </a:lnSpc>
            </a:pPr>
            <a:endParaRPr lang="en-US" altLang="zh-CN" b="1" dirty="0">
              <a:solidFill>
                <a:srgbClr val="9900CC"/>
              </a:solidFill>
              <a:ea typeface="楷体_GB2312" pitchFamily="49" charset="-122"/>
            </a:endParaRPr>
          </a:p>
          <a:p>
            <a:pPr>
              <a:lnSpc>
                <a:spcPct val="110000"/>
              </a:lnSpc>
            </a:pPr>
            <a:endParaRPr lang="en-US" altLang="zh-CN" b="1" dirty="0">
              <a:solidFill>
                <a:srgbClr val="9900CC"/>
              </a:solidFill>
              <a:ea typeface="楷体_GB2312" pitchFamily="49" charset="-122"/>
            </a:endParaRPr>
          </a:p>
          <a:p>
            <a:pPr>
              <a:lnSpc>
                <a:spcPct val="110000"/>
              </a:lnSpc>
            </a:pPr>
            <a:endParaRPr lang="en-US" altLang="zh-CN" b="1" dirty="0">
              <a:solidFill>
                <a:srgbClr val="9900CC"/>
              </a:solidFill>
              <a:ea typeface="楷体_GB2312" pitchFamily="49" charset="-122"/>
            </a:endParaRPr>
          </a:p>
          <a:p>
            <a:pPr>
              <a:lnSpc>
                <a:spcPct val="110000"/>
              </a:lnSpc>
            </a:pPr>
            <a:r>
              <a:rPr lang="en-US" altLang="zh-CN" b="1" dirty="0">
                <a:solidFill>
                  <a:srgbClr val="9900CC"/>
                </a:solidFill>
                <a:ea typeface="楷体_GB2312" pitchFamily="49" charset="-122"/>
              </a:rPr>
              <a:t>} // </a:t>
            </a:r>
            <a:r>
              <a:rPr lang="en-US" altLang="zh-CN" dirty="0">
                <a:solidFill>
                  <a:srgbClr val="9900CC"/>
                </a:solidFill>
                <a:ea typeface="楷体_GB2312" pitchFamily="49" charset="-122"/>
              </a:rPr>
              <a:t>for</a:t>
            </a:r>
          </a:p>
        </p:txBody>
      </p:sp>
      <p:sp>
        <p:nvSpPr>
          <p:cNvPr id="33797" name="Rectangle 5"/>
          <p:cNvSpPr>
            <a:spLocks noChangeArrowheads="1"/>
          </p:cNvSpPr>
          <p:nvPr/>
        </p:nvSpPr>
        <p:spPr bwMode="auto">
          <a:xfrm>
            <a:off x="1150938" y="1484313"/>
            <a:ext cx="7905750" cy="7835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25000"/>
              </a:lnSpc>
            </a:pPr>
            <a:r>
              <a:rPr lang="en-US" altLang="zh-CN" dirty="0" err="1">
                <a:solidFill>
                  <a:srgbClr val="000099"/>
                </a:solidFill>
                <a:ea typeface="楷体_GB2312" pitchFamily="49" charset="-122"/>
              </a:rPr>
              <a:t>L.r</a:t>
            </a:r>
            <a:r>
              <a:rPr lang="en-US" altLang="zh-CN" dirty="0">
                <a:solidFill>
                  <a:srgbClr val="000099"/>
                </a:solidFill>
                <a:ea typeface="楷体_GB2312" pitchFamily="49" charset="-122"/>
              </a:rPr>
              <a:t>[0] = </a:t>
            </a:r>
            <a:r>
              <a:rPr lang="en-US" altLang="zh-CN" dirty="0" err="1">
                <a:solidFill>
                  <a:srgbClr val="000099"/>
                </a:solidFill>
                <a:ea typeface="楷体_GB2312" pitchFamily="49" charset="-122"/>
              </a:rPr>
              <a:t>L.r</a:t>
            </a:r>
            <a:r>
              <a:rPr lang="en-US" altLang="zh-CN" dirty="0">
                <a:solidFill>
                  <a:srgbClr val="000099"/>
                </a:solidFill>
                <a:ea typeface="楷体_GB2312" pitchFamily="49" charset="-122"/>
              </a:rPr>
              <a:t>[</a:t>
            </a:r>
            <a:r>
              <a:rPr lang="en-US" altLang="zh-CN" dirty="0" err="1">
                <a:solidFill>
                  <a:srgbClr val="000099"/>
                </a:solidFill>
                <a:ea typeface="楷体_GB2312" pitchFamily="49" charset="-122"/>
              </a:rPr>
              <a:t>i</a:t>
            </a:r>
            <a:r>
              <a:rPr lang="en-US" altLang="zh-CN" dirty="0">
                <a:solidFill>
                  <a:srgbClr val="000099"/>
                </a:solidFill>
                <a:ea typeface="楷体_GB2312" pitchFamily="49" charset="-122"/>
              </a:rPr>
              <a:t>];</a:t>
            </a:r>
            <a:r>
              <a:rPr lang="en-US" altLang="zh-CN" sz="3600" dirty="0">
                <a:solidFill>
                  <a:srgbClr val="000099"/>
                </a:solidFill>
                <a:ea typeface="楷体_GB2312" pitchFamily="49" charset="-122"/>
              </a:rPr>
              <a:t>   </a:t>
            </a:r>
            <a:r>
              <a:rPr lang="en-US" altLang="zh-CN" sz="2800" b="1" dirty="0">
                <a:solidFill>
                  <a:srgbClr val="006600"/>
                </a:solidFill>
                <a:ea typeface="楷体_GB2312" pitchFamily="49" charset="-122"/>
              </a:rPr>
              <a:t>// </a:t>
            </a:r>
            <a:r>
              <a:rPr lang="en-US" altLang="zh-CN" b="1" dirty="0">
                <a:solidFill>
                  <a:srgbClr val="006600"/>
                </a:solidFill>
                <a:ea typeface="楷体_GB2312" pitchFamily="49" charset="-122"/>
              </a:rPr>
              <a:t>Temporarily store L.r[i] in L.r[0]</a:t>
            </a:r>
          </a:p>
        </p:txBody>
      </p:sp>
      <p:sp>
        <p:nvSpPr>
          <p:cNvPr id="33798" name="Rectangle 6"/>
          <p:cNvSpPr>
            <a:spLocks noChangeArrowheads="1"/>
          </p:cNvSpPr>
          <p:nvPr/>
        </p:nvSpPr>
        <p:spPr bwMode="auto">
          <a:xfrm>
            <a:off x="1151255" y="2997200"/>
            <a:ext cx="7491095" cy="11741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10000"/>
              </a:lnSpc>
            </a:pPr>
            <a:r>
              <a:rPr lang="en-US" altLang="zh-CN" b="1" dirty="0">
                <a:solidFill>
                  <a:srgbClr val="000099"/>
                </a:solidFill>
                <a:ea typeface="楷体_GB2312" pitchFamily="49" charset="-122"/>
              </a:rPr>
              <a:t>for</a:t>
            </a:r>
            <a:r>
              <a:rPr lang="en-US" altLang="zh-CN" dirty="0">
                <a:solidFill>
                  <a:srgbClr val="000099"/>
                </a:solidFill>
                <a:ea typeface="楷体_GB2312" pitchFamily="49" charset="-122"/>
              </a:rPr>
              <a:t> ( j=i-1;  j&gt;=</a:t>
            </a:r>
            <a:r>
              <a:rPr lang="en-US" altLang="zh-CN" dirty="0">
                <a:solidFill>
                  <a:srgbClr val="FF3300"/>
                </a:solidFill>
                <a:ea typeface="楷体_GB2312" pitchFamily="49" charset="-122"/>
              </a:rPr>
              <a:t>high+1</a:t>
            </a:r>
            <a:r>
              <a:rPr lang="en-US" altLang="zh-CN" dirty="0">
                <a:solidFill>
                  <a:srgbClr val="000099"/>
                </a:solidFill>
                <a:ea typeface="楷体_GB2312" pitchFamily="49" charset="-122"/>
              </a:rPr>
              <a:t>;  --j )</a:t>
            </a:r>
          </a:p>
          <a:p>
            <a:pPr>
              <a:lnSpc>
                <a:spcPct val="110000"/>
              </a:lnSpc>
            </a:pPr>
            <a:r>
              <a:rPr lang="en-US" altLang="zh-CN" dirty="0">
                <a:solidFill>
                  <a:srgbClr val="000099"/>
                </a:solidFill>
                <a:ea typeface="楷体_GB2312" pitchFamily="49" charset="-122"/>
              </a:rPr>
              <a:t>    </a:t>
            </a:r>
            <a:r>
              <a:rPr lang="en-US" altLang="zh-CN" dirty="0" err="1">
                <a:solidFill>
                  <a:srgbClr val="000099"/>
                </a:solidFill>
                <a:ea typeface="楷体_GB2312" pitchFamily="49" charset="-122"/>
              </a:rPr>
              <a:t>L.r</a:t>
            </a:r>
            <a:r>
              <a:rPr lang="en-US" altLang="zh-CN" dirty="0">
                <a:solidFill>
                  <a:srgbClr val="000099"/>
                </a:solidFill>
                <a:ea typeface="楷体_GB2312" pitchFamily="49" charset="-122"/>
              </a:rPr>
              <a:t>[j+1] = </a:t>
            </a:r>
            <a:r>
              <a:rPr lang="en-US" altLang="zh-CN" dirty="0" err="1">
                <a:solidFill>
                  <a:srgbClr val="000099"/>
                </a:solidFill>
                <a:ea typeface="楷体_GB2312" pitchFamily="49" charset="-122"/>
              </a:rPr>
              <a:t>L.r</a:t>
            </a:r>
            <a:r>
              <a:rPr lang="en-US" altLang="zh-CN" dirty="0">
                <a:solidFill>
                  <a:srgbClr val="000099"/>
                </a:solidFill>
                <a:ea typeface="楷体_GB2312" pitchFamily="49" charset="-122"/>
              </a:rPr>
              <a:t>[j];</a:t>
            </a:r>
            <a:r>
              <a:rPr lang="en-US" altLang="zh-CN" sz="3600" dirty="0">
                <a:solidFill>
                  <a:srgbClr val="000099"/>
                </a:solidFill>
                <a:ea typeface="楷体_GB2312" pitchFamily="49" charset="-122"/>
              </a:rPr>
              <a:t>      </a:t>
            </a:r>
            <a:r>
              <a:rPr lang="en-US" altLang="zh-CN" sz="2800" b="1" dirty="0">
                <a:solidFill>
                  <a:srgbClr val="006600"/>
                </a:solidFill>
                <a:ea typeface="楷体_GB2312" pitchFamily="49" charset="-122"/>
              </a:rPr>
              <a:t>// Shift records backward</a:t>
            </a:r>
          </a:p>
        </p:txBody>
      </p:sp>
      <p:sp>
        <p:nvSpPr>
          <p:cNvPr id="33799" name="Rectangle 7"/>
          <p:cNvSpPr>
            <a:spLocks noChangeArrowheads="1"/>
          </p:cNvSpPr>
          <p:nvPr/>
        </p:nvSpPr>
        <p:spPr bwMode="auto">
          <a:xfrm>
            <a:off x="1150938" y="4149725"/>
            <a:ext cx="6157912" cy="7835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en-US" altLang="zh-CN">
                <a:solidFill>
                  <a:srgbClr val="000099"/>
                </a:solidFill>
                <a:ea typeface="楷体_GB2312" pitchFamily="49" charset="-122"/>
              </a:rPr>
              <a:t>L.r[</a:t>
            </a:r>
            <a:r>
              <a:rPr lang="en-US" altLang="zh-CN">
                <a:solidFill>
                  <a:srgbClr val="FF3300"/>
                </a:solidFill>
                <a:ea typeface="楷体_GB2312" pitchFamily="49" charset="-122"/>
              </a:rPr>
              <a:t>high+1</a:t>
            </a:r>
            <a:r>
              <a:rPr lang="en-US" altLang="zh-CN">
                <a:solidFill>
                  <a:srgbClr val="000099"/>
                </a:solidFill>
                <a:ea typeface="楷体_GB2312" pitchFamily="49" charset="-122"/>
              </a:rPr>
              <a:t>] = L.r[0];</a:t>
            </a:r>
            <a:r>
              <a:rPr lang="en-US" altLang="zh-CN" sz="3600">
                <a:solidFill>
                  <a:srgbClr val="000099"/>
                </a:solidFill>
                <a:ea typeface="楷体_GB2312" pitchFamily="49" charset="-122"/>
              </a:rPr>
              <a:t>   </a:t>
            </a:r>
            <a:r>
              <a:rPr lang="en-US" altLang="zh-CN" sz="2800" b="1">
                <a:solidFill>
                  <a:srgbClr val="006600"/>
                </a:solidFill>
                <a:ea typeface="楷体_GB2312" pitchFamily="49" charset="-122"/>
              </a:rPr>
              <a:t>// Insert</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32</a:t>
            </a:fld>
            <a:endParaRPr lang="en-US" altLang="zh-CN"/>
          </a:p>
        </p:txBody>
      </p:sp>
    </p:spTree>
  </p:cSld>
  <p:clrMapOvr>
    <a:masterClrMapping/>
  </p:clrMapOvr>
  <p:transition>
    <p:pull dir="r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2"/>
          <p:cNvSpPr txBox="1">
            <a:spLocks noChangeArrowheads="1"/>
          </p:cNvSpPr>
          <p:nvPr/>
        </p:nvSpPr>
        <p:spPr bwMode="auto">
          <a:xfrm>
            <a:off x="901700" y="695325"/>
            <a:ext cx="4071938" cy="547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40000"/>
              </a:lnSpc>
            </a:pPr>
            <a:r>
              <a:rPr lang="en-US" altLang="zh-CN" sz="3600">
                <a:ea typeface="楷体_GB2312" pitchFamily="49" charset="-122"/>
              </a:rPr>
              <a:t>low = 1;   high = i-1;</a:t>
            </a:r>
          </a:p>
          <a:p>
            <a:pPr>
              <a:lnSpc>
                <a:spcPct val="140000"/>
              </a:lnSpc>
            </a:pPr>
            <a:r>
              <a:rPr lang="en-US" altLang="zh-CN" sz="3600" b="1">
                <a:ea typeface="楷体_GB2312" pitchFamily="49" charset="-122"/>
              </a:rPr>
              <a:t>while</a:t>
            </a:r>
            <a:r>
              <a:rPr lang="en-US" altLang="zh-CN" sz="3600">
                <a:ea typeface="楷体_GB2312" pitchFamily="49" charset="-122"/>
              </a:rPr>
              <a:t> </a:t>
            </a:r>
            <a:r>
              <a:rPr lang="en-US" altLang="zh-CN" sz="3600">
                <a:solidFill>
                  <a:srgbClr val="840C26"/>
                </a:solidFill>
                <a:ea typeface="楷体_GB2312" pitchFamily="49" charset="-122"/>
              </a:rPr>
              <a:t>(low</a:t>
            </a:r>
            <a:r>
              <a:rPr lang="en-US" altLang="zh-CN" sz="3600" b="1">
                <a:solidFill>
                  <a:srgbClr val="840C26"/>
                </a:solidFill>
                <a:ea typeface="楷体_GB2312" pitchFamily="49" charset="-122"/>
              </a:rPr>
              <a:t>&lt;=</a:t>
            </a:r>
            <a:r>
              <a:rPr lang="en-US" altLang="zh-CN" sz="3600">
                <a:solidFill>
                  <a:srgbClr val="840C26"/>
                </a:solidFill>
                <a:ea typeface="楷体_GB2312" pitchFamily="49" charset="-122"/>
              </a:rPr>
              <a:t>high)</a:t>
            </a:r>
            <a:r>
              <a:rPr lang="en-US" altLang="zh-CN" sz="3600">
                <a:ea typeface="楷体_GB2312" pitchFamily="49" charset="-122"/>
              </a:rPr>
              <a:t> </a:t>
            </a:r>
            <a:r>
              <a:rPr lang="en-US" altLang="zh-CN" sz="3600" b="1">
                <a:ea typeface="楷体_GB2312" pitchFamily="49" charset="-122"/>
              </a:rPr>
              <a:t>{ </a:t>
            </a:r>
            <a:endParaRPr lang="en-US" altLang="zh-CN" sz="3600">
              <a:ea typeface="楷体_GB2312" pitchFamily="49" charset="-122"/>
            </a:endParaRPr>
          </a:p>
          <a:p>
            <a:pPr>
              <a:lnSpc>
                <a:spcPct val="140000"/>
              </a:lnSpc>
            </a:pPr>
            <a:endParaRPr lang="en-US" altLang="zh-CN" sz="3600">
              <a:ea typeface="楷体_GB2312" pitchFamily="49" charset="-122"/>
            </a:endParaRPr>
          </a:p>
          <a:p>
            <a:pPr>
              <a:lnSpc>
                <a:spcPct val="140000"/>
              </a:lnSpc>
            </a:pPr>
            <a:endParaRPr lang="en-US" altLang="zh-CN" sz="3600">
              <a:ea typeface="楷体_GB2312" pitchFamily="49" charset="-122"/>
            </a:endParaRPr>
          </a:p>
          <a:p>
            <a:pPr>
              <a:lnSpc>
                <a:spcPct val="140000"/>
              </a:lnSpc>
            </a:pPr>
            <a:endParaRPr lang="en-US" altLang="zh-CN" sz="3600">
              <a:ea typeface="楷体_GB2312" pitchFamily="49" charset="-122"/>
            </a:endParaRPr>
          </a:p>
          <a:p>
            <a:pPr>
              <a:lnSpc>
                <a:spcPct val="140000"/>
              </a:lnSpc>
            </a:pPr>
            <a:endParaRPr lang="en-US" altLang="zh-CN" sz="3600">
              <a:ea typeface="楷体_GB2312" pitchFamily="49" charset="-122"/>
            </a:endParaRPr>
          </a:p>
          <a:p>
            <a:pPr>
              <a:lnSpc>
                <a:spcPct val="140000"/>
              </a:lnSpc>
            </a:pPr>
            <a:r>
              <a:rPr lang="en-US" altLang="zh-CN" sz="3600" b="1">
                <a:ea typeface="楷体_GB2312" pitchFamily="49" charset="-122"/>
              </a:rPr>
              <a:t>}</a:t>
            </a:r>
            <a:endParaRPr lang="en-US" altLang="zh-CN" sz="3600"/>
          </a:p>
        </p:txBody>
      </p:sp>
      <p:sp>
        <p:nvSpPr>
          <p:cNvPr id="34819" name="Rectangle 3"/>
          <p:cNvSpPr>
            <a:spLocks noChangeArrowheads="1"/>
          </p:cNvSpPr>
          <p:nvPr/>
        </p:nvSpPr>
        <p:spPr bwMode="auto">
          <a:xfrm>
            <a:off x="1358900" y="2214880"/>
            <a:ext cx="7785100" cy="866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40000"/>
              </a:lnSpc>
            </a:pPr>
            <a:r>
              <a:rPr lang="en-US" altLang="zh-CN" sz="3600">
                <a:ea typeface="楷体_GB2312" pitchFamily="49" charset="-122"/>
              </a:rPr>
              <a:t>m = (low+high)/2;      </a:t>
            </a:r>
            <a:r>
              <a:rPr lang="en-US" altLang="zh-CN" sz="2400" b="1">
                <a:solidFill>
                  <a:srgbClr val="006600"/>
                </a:solidFill>
                <a:ea typeface="楷体_GB2312" pitchFamily="49" charset="-122"/>
              </a:rPr>
              <a:t>// Split the interval in half</a:t>
            </a:r>
          </a:p>
        </p:txBody>
      </p:sp>
      <p:sp>
        <p:nvSpPr>
          <p:cNvPr id="34820" name="Rectangle 4"/>
          <p:cNvSpPr>
            <a:spLocks noChangeArrowheads="1"/>
          </p:cNvSpPr>
          <p:nvPr/>
        </p:nvSpPr>
        <p:spPr bwMode="auto">
          <a:xfrm>
            <a:off x="1371600" y="2976880"/>
            <a:ext cx="7924800" cy="24168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40000"/>
              </a:lnSpc>
            </a:pPr>
            <a:r>
              <a:rPr lang="en-US" altLang="zh-CN" sz="3600" b="1">
                <a:ea typeface="楷体_GB2312" pitchFamily="49" charset="-122"/>
              </a:rPr>
              <a:t>if</a:t>
            </a:r>
            <a:r>
              <a:rPr lang="en-US" altLang="zh-CN" sz="3600">
                <a:ea typeface="楷体_GB2312" pitchFamily="49" charset="-122"/>
              </a:rPr>
              <a:t> </a:t>
            </a:r>
            <a:r>
              <a:rPr lang="en-US" altLang="zh-CN" sz="3600">
                <a:solidFill>
                  <a:srgbClr val="990000"/>
                </a:solidFill>
                <a:ea typeface="楷体_GB2312" pitchFamily="49" charset="-122"/>
              </a:rPr>
              <a:t>(L.r[0].key &lt; L.r[m].key)</a:t>
            </a:r>
          </a:p>
          <a:p>
            <a:pPr>
              <a:lnSpc>
                <a:spcPct val="140000"/>
              </a:lnSpc>
            </a:pPr>
            <a:r>
              <a:rPr lang="en-US" altLang="zh-CN" sz="3600">
                <a:ea typeface="楷体_GB2312" pitchFamily="49" charset="-122"/>
              </a:rPr>
              <a:t>        </a:t>
            </a:r>
            <a:r>
              <a:rPr lang="en-US" altLang="zh-CN" sz="3600">
                <a:solidFill>
                  <a:srgbClr val="840C26"/>
                </a:solidFill>
                <a:ea typeface="楷体_GB2312" pitchFamily="49" charset="-122"/>
              </a:rPr>
              <a:t>high = m-1;</a:t>
            </a:r>
            <a:r>
              <a:rPr lang="en-US" altLang="zh-CN" sz="3600">
                <a:ea typeface="楷体_GB2312" pitchFamily="49" charset="-122"/>
              </a:rPr>
              <a:t>  </a:t>
            </a:r>
            <a:r>
              <a:rPr lang="en-US" altLang="zh-CN" sz="2000" b="1">
                <a:solidFill>
                  <a:srgbClr val="006600"/>
                </a:solidFill>
                <a:ea typeface="楷体_GB2312" pitchFamily="49" charset="-122"/>
              </a:rPr>
              <a:t>// Insertion point is in the lower half</a:t>
            </a:r>
            <a:endParaRPr lang="en-US" altLang="zh-CN" sz="3600" b="1">
              <a:solidFill>
                <a:srgbClr val="006600"/>
              </a:solidFill>
              <a:ea typeface="楷体_GB2312" pitchFamily="49" charset="-122"/>
            </a:endParaRPr>
          </a:p>
          <a:p>
            <a:pPr>
              <a:lnSpc>
                <a:spcPct val="140000"/>
              </a:lnSpc>
            </a:pPr>
            <a:r>
              <a:rPr lang="en-US" altLang="zh-CN" sz="3600" b="1">
                <a:ea typeface="楷体_GB2312" pitchFamily="49" charset="-122"/>
              </a:rPr>
              <a:t>else</a:t>
            </a:r>
            <a:r>
              <a:rPr lang="en-US" altLang="zh-CN" sz="3600">
                <a:ea typeface="楷体_GB2312" pitchFamily="49" charset="-122"/>
              </a:rPr>
              <a:t>  </a:t>
            </a:r>
            <a:r>
              <a:rPr lang="en-US" altLang="zh-CN" sz="3600">
                <a:solidFill>
                  <a:srgbClr val="840C26"/>
                </a:solidFill>
                <a:ea typeface="楷体_GB2312" pitchFamily="49" charset="-122"/>
              </a:rPr>
              <a:t>low = m+1;  </a:t>
            </a:r>
            <a:r>
              <a:rPr lang="en-US" altLang="zh-CN" sz="2000" b="1">
                <a:solidFill>
                  <a:srgbClr val="006600"/>
                </a:solidFill>
                <a:ea typeface="楷体_GB2312" pitchFamily="49" charset="-122"/>
              </a:rPr>
              <a:t> // Insertion point is in the upper half</a:t>
            </a:r>
          </a:p>
        </p:txBody>
      </p:sp>
      <p:sp>
        <p:nvSpPr>
          <p:cNvPr id="34821" name="Text Box 5">
            <a:hlinkClick r:id="" action="ppaction://hlinkshowjump?jump=nextslide"/>
          </p:cNvPr>
          <p:cNvSpPr txBox="1">
            <a:spLocks noChangeArrowheads="1"/>
          </p:cNvSpPr>
          <p:nvPr/>
        </p:nvSpPr>
        <p:spPr bwMode="auto">
          <a:xfrm>
            <a:off x="179388" y="188913"/>
            <a:ext cx="7004685"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000" b="1">
                <a:solidFill>
                  <a:srgbClr val="006600"/>
                </a:solidFill>
                <a:ea typeface="楷体_GB2312" pitchFamily="49" charset="-122"/>
              </a:rPr>
              <a:t>// Binary search for the insertion position (high+1) in L.r[1..i-1]</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33</a:t>
            </a:fld>
            <a:endParaRPr lang="en-US" altLang="zh-CN"/>
          </a:p>
        </p:txBody>
      </p:sp>
    </p:spTree>
  </p:cSld>
  <p:clrMapOvr>
    <a:masterClrMapping/>
  </p:clrMapOvr>
  <p:transition>
    <p:pull dir="rd"/>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2"/>
          <p:cNvSpPr txBox="1">
            <a:spLocks noChangeArrowheads="1"/>
          </p:cNvSpPr>
          <p:nvPr/>
        </p:nvSpPr>
        <p:spPr bwMode="auto">
          <a:xfrm>
            <a:off x="1492250" y="1111250"/>
            <a:ext cx="3444875" cy="650875"/>
          </a:xfrm>
          <a:prstGeom prst="rect">
            <a:avLst/>
          </a:prstGeom>
          <a:solidFill>
            <a:srgbClr val="FFFF99">
              <a:alpha val="50000"/>
            </a:srgbClr>
          </a:solidFill>
          <a:ln w="9525">
            <a:solidFill>
              <a:srgbClr val="8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600" b="1">
                <a:solidFill>
                  <a:srgbClr val="800000"/>
                </a:solidFill>
              </a:rPr>
              <a:t>14  36  49  52  80</a:t>
            </a:r>
            <a:endParaRPr lang="en-US" altLang="zh-CN" sz="3600"/>
          </a:p>
        </p:txBody>
      </p:sp>
      <p:sp>
        <p:nvSpPr>
          <p:cNvPr id="35843" name="Line 3"/>
          <p:cNvSpPr>
            <a:spLocks noChangeShapeType="1"/>
          </p:cNvSpPr>
          <p:nvPr/>
        </p:nvSpPr>
        <p:spPr bwMode="auto">
          <a:xfrm>
            <a:off x="2117725" y="1066800"/>
            <a:ext cx="0" cy="685800"/>
          </a:xfrm>
          <a:prstGeom prst="line">
            <a:avLst/>
          </a:prstGeom>
          <a:noFill/>
          <a:ln w="9525">
            <a:solidFill>
              <a:srgbClr val="8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44" name="Line 4"/>
          <p:cNvSpPr>
            <a:spLocks noChangeShapeType="1"/>
          </p:cNvSpPr>
          <p:nvPr/>
        </p:nvSpPr>
        <p:spPr bwMode="auto">
          <a:xfrm>
            <a:off x="2803525" y="1066800"/>
            <a:ext cx="0" cy="685800"/>
          </a:xfrm>
          <a:prstGeom prst="line">
            <a:avLst/>
          </a:prstGeom>
          <a:noFill/>
          <a:ln w="9525">
            <a:solidFill>
              <a:srgbClr val="8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45" name="Line 5"/>
          <p:cNvSpPr>
            <a:spLocks noChangeShapeType="1"/>
          </p:cNvSpPr>
          <p:nvPr/>
        </p:nvSpPr>
        <p:spPr bwMode="auto">
          <a:xfrm>
            <a:off x="3489325" y="1066800"/>
            <a:ext cx="0" cy="685800"/>
          </a:xfrm>
          <a:prstGeom prst="line">
            <a:avLst/>
          </a:prstGeom>
          <a:noFill/>
          <a:ln w="9525">
            <a:solidFill>
              <a:srgbClr val="8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46" name="Line 6"/>
          <p:cNvSpPr>
            <a:spLocks noChangeShapeType="1"/>
          </p:cNvSpPr>
          <p:nvPr/>
        </p:nvSpPr>
        <p:spPr bwMode="auto">
          <a:xfrm>
            <a:off x="4175125" y="1066800"/>
            <a:ext cx="0" cy="685800"/>
          </a:xfrm>
          <a:prstGeom prst="line">
            <a:avLst/>
          </a:prstGeom>
          <a:noFill/>
          <a:ln w="9525">
            <a:solidFill>
              <a:srgbClr val="8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47" name="Text Box 7"/>
          <p:cNvSpPr txBox="1">
            <a:spLocks noChangeArrowheads="1"/>
          </p:cNvSpPr>
          <p:nvPr/>
        </p:nvSpPr>
        <p:spPr bwMode="auto">
          <a:xfrm>
            <a:off x="4937125" y="1101725"/>
            <a:ext cx="3444875" cy="650875"/>
          </a:xfrm>
          <a:prstGeom prst="rect">
            <a:avLst/>
          </a:prstGeom>
          <a:solidFill>
            <a:srgbClr val="CCFFFF">
              <a:alpha val="50000"/>
            </a:srgbClr>
          </a:solidFill>
          <a:ln w="9525">
            <a:solidFill>
              <a:srgbClr val="0000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600" b="1">
                <a:solidFill>
                  <a:srgbClr val="000099"/>
                </a:solidFill>
              </a:rPr>
              <a:t>58  </a:t>
            </a:r>
            <a:r>
              <a:rPr lang="en-US" altLang="zh-CN" sz="3600">
                <a:solidFill>
                  <a:srgbClr val="000099"/>
                </a:solidFill>
              </a:rPr>
              <a:t>61  23  97  75</a:t>
            </a:r>
            <a:endParaRPr lang="en-US" altLang="zh-CN" sz="3600"/>
          </a:p>
        </p:txBody>
      </p:sp>
      <p:sp>
        <p:nvSpPr>
          <p:cNvPr id="35848" name="Line 8"/>
          <p:cNvSpPr>
            <a:spLocks noChangeShapeType="1"/>
          </p:cNvSpPr>
          <p:nvPr/>
        </p:nvSpPr>
        <p:spPr bwMode="auto">
          <a:xfrm>
            <a:off x="5546725" y="1066800"/>
            <a:ext cx="0" cy="685800"/>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49" name="Line 9"/>
          <p:cNvSpPr>
            <a:spLocks noChangeShapeType="1"/>
          </p:cNvSpPr>
          <p:nvPr/>
        </p:nvSpPr>
        <p:spPr bwMode="auto">
          <a:xfrm>
            <a:off x="6232525" y="1066800"/>
            <a:ext cx="0" cy="685800"/>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0" name="Line 10"/>
          <p:cNvSpPr>
            <a:spLocks noChangeShapeType="1"/>
          </p:cNvSpPr>
          <p:nvPr/>
        </p:nvSpPr>
        <p:spPr bwMode="auto">
          <a:xfrm>
            <a:off x="6918325" y="1066800"/>
            <a:ext cx="0" cy="685800"/>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1" name="Line 11"/>
          <p:cNvSpPr>
            <a:spLocks noChangeShapeType="1"/>
          </p:cNvSpPr>
          <p:nvPr/>
        </p:nvSpPr>
        <p:spPr bwMode="auto">
          <a:xfrm>
            <a:off x="7604125" y="1066800"/>
            <a:ext cx="0" cy="685800"/>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2" name="Line 12"/>
          <p:cNvSpPr>
            <a:spLocks noChangeShapeType="1"/>
          </p:cNvSpPr>
          <p:nvPr/>
        </p:nvSpPr>
        <p:spPr bwMode="auto">
          <a:xfrm>
            <a:off x="5165725" y="685800"/>
            <a:ext cx="0" cy="381000"/>
          </a:xfrm>
          <a:prstGeom prst="line">
            <a:avLst/>
          </a:prstGeom>
          <a:noFill/>
          <a:ln w="12700">
            <a:solidFill>
              <a:srgbClr val="000099"/>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3" name="Text Box 13"/>
          <p:cNvSpPr txBox="1">
            <a:spLocks noChangeArrowheads="1"/>
          </p:cNvSpPr>
          <p:nvPr/>
        </p:nvSpPr>
        <p:spPr bwMode="auto">
          <a:xfrm>
            <a:off x="5149850" y="523875"/>
            <a:ext cx="2825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rgbClr val="000099"/>
                </a:solidFill>
              </a:rPr>
              <a:t>i</a:t>
            </a:r>
            <a:endParaRPr lang="en-US" altLang="zh-CN" sz="2800"/>
          </a:p>
        </p:txBody>
      </p:sp>
      <p:sp>
        <p:nvSpPr>
          <p:cNvPr id="35854" name="Line 14"/>
          <p:cNvSpPr>
            <a:spLocks noChangeShapeType="1"/>
          </p:cNvSpPr>
          <p:nvPr/>
        </p:nvSpPr>
        <p:spPr bwMode="auto">
          <a:xfrm flipV="1">
            <a:off x="1736725" y="1828800"/>
            <a:ext cx="0" cy="533400"/>
          </a:xfrm>
          <a:prstGeom prst="line">
            <a:avLst/>
          </a:prstGeom>
          <a:noFill/>
          <a:ln w="19050">
            <a:solidFill>
              <a:srgbClr val="FF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5" name="Text Box 15"/>
          <p:cNvSpPr txBox="1">
            <a:spLocks noChangeArrowheads="1"/>
          </p:cNvSpPr>
          <p:nvPr/>
        </p:nvSpPr>
        <p:spPr bwMode="auto">
          <a:xfrm>
            <a:off x="958850" y="1995488"/>
            <a:ext cx="7175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rgbClr val="FF6600"/>
                </a:solidFill>
              </a:rPr>
              <a:t>low</a:t>
            </a:r>
            <a:endParaRPr lang="en-US" altLang="zh-CN" sz="2800"/>
          </a:p>
        </p:txBody>
      </p:sp>
      <p:sp>
        <p:nvSpPr>
          <p:cNvPr id="35856" name="Line 16"/>
          <p:cNvSpPr>
            <a:spLocks noChangeShapeType="1"/>
          </p:cNvSpPr>
          <p:nvPr/>
        </p:nvSpPr>
        <p:spPr bwMode="auto">
          <a:xfrm flipV="1">
            <a:off x="4708525" y="1828800"/>
            <a:ext cx="0" cy="533400"/>
          </a:xfrm>
          <a:prstGeom prst="line">
            <a:avLst/>
          </a:prstGeom>
          <a:noFill/>
          <a:ln w="19050">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7" name="Text Box 17"/>
          <p:cNvSpPr txBox="1">
            <a:spLocks noChangeArrowheads="1"/>
          </p:cNvSpPr>
          <p:nvPr/>
        </p:nvSpPr>
        <p:spPr bwMode="auto">
          <a:xfrm>
            <a:off x="4746625" y="1981200"/>
            <a:ext cx="8159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rgbClr val="006600"/>
                </a:solidFill>
              </a:rPr>
              <a:t>high</a:t>
            </a:r>
            <a:endParaRPr lang="en-US" altLang="zh-CN" sz="2800"/>
          </a:p>
        </p:txBody>
      </p:sp>
      <p:sp>
        <p:nvSpPr>
          <p:cNvPr id="35858" name="Line 18"/>
          <p:cNvSpPr>
            <a:spLocks noChangeShapeType="1"/>
          </p:cNvSpPr>
          <p:nvPr/>
        </p:nvSpPr>
        <p:spPr bwMode="auto">
          <a:xfrm flipV="1">
            <a:off x="3124200" y="1828800"/>
            <a:ext cx="0" cy="533400"/>
          </a:xfrm>
          <a:prstGeom prst="line">
            <a:avLst/>
          </a:prstGeom>
          <a:noFill/>
          <a:ln w="19050">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9" name="Text Box 19"/>
          <p:cNvSpPr txBox="1">
            <a:spLocks noChangeArrowheads="1"/>
          </p:cNvSpPr>
          <p:nvPr/>
        </p:nvSpPr>
        <p:spPr bwMode="auto">
          <a:xfrm>
            <a:off x="2876550" y="2224088"/>
            <a:ext cx="4603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chemeClr val="accent1"/>
                </a:solidFill>
              </a:rPr>
              <a:t>m</a:t>
            </a:r>
            <a:endParaRPr lang="en-US" altLang="zh-CN" sz="2800"/>
          </a:p>
        </p:txBody>
      </p:sp>
      <p:sp>
        <p:nvSpPr>
          <p:cNvPr id="35860" name="Line 20"/>
          <p:cNvSpPr>
            <a:spLocks noChangeShapeType="1"/>
          </p:cNvSpPr>
          <p:nvPr/>
        </p:nvSpPr>
        <p:spPr bwMode="auto">
          <a:xfrm flipV="1">
            <a:off x="3657600" y="1828800"/>
            <a:ext cx="0" cy="533400"/>
          </a:xfrm>
          <a:prstGeom prst="line">
            <a:avLst/>
          </a:prstGeom>
          <a:noFill/>
          <a:ln w="19050">
            <a:solidFill>
              <a:srgbClr val="FF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useBgFill="1">
        <p:nvSpPr>
          <p:cNvPr id="35861" name="Rectangle 21"/>
          <p:cNvSpPr>
            <a:spLocks noChangeArrowheads="1"/>
          </p:cNvSpPr>
          <p:nvPr/>
        </p:nvSpPr>
        <p:spPr bwMode="auto">
          <a:xfrm>
            <a:off x="990600" y="1828800"/>
            <a:ext cx="914400" cy="6096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2" name="Line 22"/>
          <p:cNvSpPr>
            <a:spLocks noChangeShapeType="1"/>
          </p:cNvSpPr>
          <p:nvPr/>
        </p:nvSpPr>
        <p:spPr bwMode="auto">
          <a:xfrm flipV="1">
            <a:off x="3870325" y="1905000"/>
            <a:ext cx="0" cy="533400"/>
          </a:xfrm>
          <a:prstGeom prst="line">
            <a:avLst/>
          </a:prstGeom>
          <a:noFill/>
          <a:ln w="19050">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3" name="Text Box 23"/>
          <p:cNvSpPr txBox="1">
            <a:spLocks noChangeArrowheads="1"/>
          </p:cNvSpPr>
          <p:nvPr/>
        </p:nvSpPr>
        <p:spPr bwMode="auto">
          <a:xfrm>
            <a:off x="3562350" y="2300288"/>
            <a:ext cx="4603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chemeClr val="accent1"/>
                </a:solidFill>
              </a:rPr>
              <a:t>m</a:t>
            </a:r>
            <a:endParaRPr lang="en-US" altLang="zh-CN" sz="2800"/>
          </a:p>
        </p:txBody>
      </p:sp>
      <p:sp useBgFill="1">
        <p:nvSpPr>
          <p:cNvPr id="35864" name="Rectangle 24"/>
          <p:cNvSpPr>
            <a:spLocks noChangeArrowheads="1"/>
          </p:cNvSpPr>
          <p:nvPr/>
        </p:nvSpPr>
        <p:spPr bwMode="auto">
          <a:xfrm>
            <a:off x="2879725" y="1828800"/>
            <a:ext cx="381000" cy="8382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p>
        </p:txBody>
      </p:sp>
      <p:sp>
        <p:nvSpPr>
          <p:cNvPr id="35865" name="Line 25"/>
          <p:cNvSpPr>
            <a:spLocks noChangeShapeType="1"/>
          </p:cNvSpPr>
          <p:nvPr/>
        </p:nvSpPr>
        <p:spPr bwMode="auto">
          <a:xfrm flipV="1">
            <a:off x="4540250" y="1828800"/>
            <a:ext cx="0" cy="533400"/>
          </a:xfrm>
          <a:prstGeom prst="line">
            <a:avLst/>
          </a:prstGeom>
          <a:noFill/>
          <a:ln w="19050">
            <a:solidFill>
              <a:srgbClr val="FF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6" name="Text Box 26"/>
          <p:cNvSpPr txBox="1">
            <a:spLocks noChangeArrowheads="1"/>
          </p:cNvSpPr>
          <p:nvPr/>
        </p:nvSpPr>
        <p:spPr bwMode="auto">
          <a:xfrm>
            <a:off x="3914775" y="1995488"/>
            <a:ext cx="7175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rgbClr val="FF6600"/>
                </a:solidFill>
              </a:rPr>
              <a:t>low</a:t>
            </a:r>
            <a:endParaRPr lang="en-US" altLang="zh-CN" sz="2800"/>
          </a:p>
        </p:txBody>
      </p:sp>
      <p:sp>
        <p:nvSpPr>
          <p:cNvPr id="35867" name="Text Box 27"/>
          <p:cNvSpPr txBox="1">
            <a:spLocks noChangeArrowheads="1"/>
          </p:cNvSpPr>
          <p:nvPr/>
        </p:nvSpPr>
        <p:spPr bwMode="auto">
          <a:xfrm>
            <a:off x="2955925" y="1995488"/>
            <a:ext cx="7175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rgbClr val="FF6600"/>
                </a:solidFill>
              </a:rPr>
              <a:t>low</a:t>
            </a:r>
            <a:endParaRPr lang="en-US" altLang="zh-CN" sz="2800"/>
          </a:p>
        </p:txBody>
      </p:sp>
      <p:sp useBgFill="1">
        <p:nvSpPr>
          <p:cNvPr id="35868" name="Rectangle 28"/>
          <p:cNvSpPr>
            <a:spLocks noChangeArrowheads="1"/>
          </p:cNvSpPr>
          <p:nvPr/>
        </p:nvSpPr>
        <p:spPr bwMode="auto">
          <a:xfrm>
            <a:off x="2955925" y="1828800"/>
            <a:ext cx="762000" cy="6858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9" name="Line 29"/>
          <p:cNvSpPr>
            <a:spLocks noChangeShapeType="1"/>
          </p:cNvSpPr>
          <p:nvPr/>
        </p:nvSpPr>
        <p:spPr bwMode="auto">
          <a:xfrm flipV="1">
            <a:off x="4632325" y="2514600"/>
            <a:ext cx="0" cy="533400"/>
          </a:xfrm>
          <a:prstGeom prst="line">
            <a:avLst/>
          </a:prstGeom>
          <a:noFill/>
          <a:ln w="9525">
            <a:solidFill>
              <a:srgbClr val="0033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70" name="Text Box 30"/>
          <p:cNvSpPr txBox="1">
            <a:spLocks noChangeArrowheads="1"/>
          </p:cNvSpPr>
          <p:nvPr/>
        </p:nvSpPr>
        <p:spPr bwMode="auto">
          <a:xfrm>
            <a:off x="4324350" y="2909888"/>
            <a:ext cx="4603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rgbClr val="003366"/>
                </a:solidFill>
              </a:rPr>
              <a:t>m</a:t>
            </a:r>
          </a:p>
        </p:txBody>
      </p:sp>
      <p:sp useBgFill="1">
        <p:nvSpPr>
          <p:cNvPr id="35871" name="Rectangle 31"/>
          <p:cNvSpPr>
            <a:spLocks noChangeArrowheads="1"/>
          </p:cNvSpPr>
          <p:nvPr/>
        </p:nvSpPr>
        <p:spPr bwMode="auto">
          <a:xfrm>
            <a:off x="3565525" y="1828800"/>
            <a:ext cx="381000" cy="9144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72" name="Line 32"/>
          <p:cNvSpPr>
            <a:spLocks noChangeShapeType="1"/>
          </p:cNvSpPr>
          <p:nvPr/>
        </p:nvSpPr>
        <p:spPr bwMode="auto">
          <a:xfrm flipV="1">
            <a:off x="3702050" y="1828800"/>
            <a:ext cx="0" cy="533400"/>
          </a:xfrm>
          <a:prstGeom prst="line">
            <a:avLst/>
          </a:prstGeom>
          <a:noFill/>
          <a:ln w="19050">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73" name="Text Box 33"/>
          <p:cNvSpPr txBox="1">
            <a:spLocks noChangeArrowheads="1"/>
          </p:cNvSpPr>
          <p:nvPr/>
        </p:nvSpPr>
        <p:spPr bwMode="auto">
          <a:xfrm>
            <a:off x="2879725" y="1981200"/>
            <a:ext cx="8159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rgbClr val="006600"/>
                </a:solidFill>
              </a:rPr>
              <a:t>high</a:t>
            </a:r>
            <a:endParaRPr lang="en-US" altLang="zh-CN" sz="2800"/>
          </a:p>
        </p:txBody>
      </p:sp>
      <p:sp useBgFill="1">
        <p:nvSpPr>
          <p:cNvPr id="35874" name="Rectangle 34"/>
          <p:cNvSpPr>
            <a:spLocks noChangeArrowheads="1"/>
          </p:cNvSpPr>
          <p:nvPr/>
        </p:nvSpPr>
        <p:spPr bwMode="auto">
          <a:xfrm>
            <a:off x="4632325" y="1828800"/>
            <a:ext cx="914400" cy="6858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75" name="Text Box 35"/>
          <p:cNvSpPr txBox="1">
            <a:spLocks noChangeArrowheads="1"/>
          </p:cNvSpPr>
          <p:nvPr/>
        </p:nvSpPr>
        <p:spPr bwMode="auto">
          <a:xfrm>
            <a:off x="1492250" y="3844925"/>
            <a:ext cx="4740275" cy="650875"/>
          </a:xfrm>
          <a:prstGeom prst="rect">
            <a:avLst/>
          </a:prstGeom>
          <a:solidFill>
            <a:srgbClr val="FFFF99">
              <a:alpha val="50000"/>
            </a:srgbClr>
          </a:solidFill>
          <a:ln w="9525">
            <a:solidFill>
              <a:srgbClr val="8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600" b="1">
                <a:solidFill>
                  <a:srgbClr val="800000"/>
                </a:solidFill>
              </a:rPr>
              <a:t>14  36  49  52  58  61 80</a:t>
            </a:r>
            <a:endParaRPr lang="en-US" altLang="zh-CN" sz="3600"/>
          </a:p>
        </p:txBody>
      </p:sp>
      <p:sp>
        <p:nvSpPr>
          <p:cNvPr id="35876" name="Line 36"/>
          <p:cNvSpPr>
            <a:spLocks noChangeShapeType="1"/>
          </p:cNvSpPr>
          <p:nvPr/>
        </p:nvSpPr>
        <p:spPr bwMode="auto">
          <a:xfrm>
            <a:off x="2117725" y="3800475"/>
            <a:ext cx="0" cy="685800"/>
          </a:xfrm>
          <a:prstGeom prst="line">
            <a:avLst/>
          </a:prstGeom>
          <a:noFill/>
          <a:ln w="9525">
            <a:solidFill>
              <a:srgbClr val="8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77" name="Line 37"/>
          <p:cNvSpPr>
            <a:spLocks noChangeShapeType="1"/>
          </p:cNvSpPr>
          <p:nvPr/>
        </p:nvSpPr>
        <p:spPr bwMode="auto">
          <a:xfrm>
            <a:off x="2803525" y="3800475"/>
            <a:ext cx="0" cy="685800"/>
          </a:xfrm>
          <a:prstGeom prst="line">
            <a:avLst/>
          </a:prstGeom>
          <a:noFill/>
          <a:ln w="9525">
            <a:solidFill>
              <a:srgbClr val="8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78" name="Line 38"/>
          <p:cNvSpPr>
            <a:spLocks noChangeShapeType="1"/>
          </p:cNvSpPr>
          <p:nvPr/>
        </p:nvSpPr>
        <p:spPr bwMode="auto">
          <a:xfrm>
            <a:off x="3489325" y="3800475"/>
            <a:ext cx="0" cy="685800"/>
          </a:xfrm>
          <a:prstGeom prst="line">
            <a:avLst/>
          </a:prstGeom>
          <a:noFill/>
          <a:ln w="9525">
            <a:solidFill>
              <a:srgbClr val="8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79" name="Line 39"/>
          <p:cNvSpPr>
            <a:spLocks noChangeShapeType="1"/>
          </p:cNvSpPr>
          <p:nvPr/>
        </p:nvSpPr>
        <p:spPr bwMode="auto">
          <a:xfrm>
            <a:off x="4175125" y="3800475"/>
            <a:ext cx="0" cy="685800"/>
          </a:xfrm>
          <a:prstGeom prst="line">
            <a:avLst/>
          </a:prstGeom>
          <a:noFill/>
          <a:ln w="9525">
            <a:solidFill>
              <a:srgbClr val="8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80" name="Line 40"/>
          <p:cNvSpPr>
            <a:spLocks noChangeShapeType="1"/>
          </p:cNvSpPr>
          <p:nvPr/>
        </p:nvSpPr>
        <p:spPr bwMode="auto">
          <a:xfrm>
            <a:off x="4860925" y="3810000"/>
            <a:ext cx="0" cy="685800"/>
          </a:xfrm>
          <a:prstGeom prst="line">
            <a:avLst/>
          </a:prstGeom>
          <a:noFill/>
          <a:ln w="9525">
            <a:solidFill>
              <a:srgbClr val="8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81" name="Line 41"/>
          <p:cNvSpPr>
            <a:spLocks noChangeShapeType="1"/>
          </p:cNvSpPr>
          <p:nvPr/>
        </p:nvSpPr>
        <p:spPr bwMode="auto">
          <a:xfrm>
            <a:off x="5546725" y="3810000"/>
            <a:ext cx="0" cy="685800"/>
          </a:xfrm>
          <a:prstGeom prst="line">
            <a:avLst/>
          </a:prstGeom>
          <a:noFill/>
          <a:ln w="9525">
            <a:solidFill>
              <a:srgbClr val="8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82" name="Text Box 42"/>
          <p:cNvSpPr txBox="1">
            <a:spLocks noChangeArrowheads="1"/>
          </p:cNvSpPr>
          <p:nvPr/>
        </p:nvSpPr>
        <p:spPr bwMode="auto">
          <a:xfrm>
            <a:off x="6232525" y="3844925"/>
            <a:ext cx="2225675" cy="650875"/>
          </a:xfrm>
          <a:prstGeom prst="rect">
            <a:avLst/>
          </a:prstGeom>
          <a:solidFill>
            <a:srgbClr val="CCFFFF">
              <a:alpha val="50000"/>
            </a:srgbClr>
          </a:solidFill>
          <a:ln w="9525">
            <a:solidFill>
              <a:srgbClr val="0000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600">
                <a:solidFill>
                  <a:srgbClr val="000099"/>
                </a:solidFill>
              </a:rPr>
              <a:t> 23  97  75</a:t>
            </a:r>
            <a:endParaRPr lang="en-US" altLang="zh-CN" sz="3600"/>
          </a:p>
        </p:txBody>
      </p:sp>
      <p:sp>
        <p:nvSpPr>
          <p:cNvPr id="35883" name="Line 43"/>
          <p:cNvSpPr>
            <a:spLocks noChangeShapeType="1"/>
          </p:cNvSpPr>
          <p:nvPr/>
        </p:nvSpPr>
        <p:spPr bwMode="auto">
          <a:xfrm>
            <a:off x="6994525" y="3810000"/>
            <a:ext cx="0" cy="685800"/>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84" name="Line 44"/>
          <p:cNvSpPr>
            <a:spLocks noChangeShapeType="1"/>
          </p:cNvSpPr>
          <p:nvPr/>
        </p:nvSpPr>
        <p:spPr bwMode="auto">
          <a:xfrm>
            <a:off x="7680325" y="3810000"/>
            <a:ext cx="0" cy="685800"/>
          </a:xfrm>
          <a:prstGeom prst="line">
            <a:avLst/>
          </a:prstGeom>
          <a:noFill/>
          <a:ln w="9525">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85" name="Line 45"/>
          <p:cNvSpPr>
            <a:spLocks noChangeShapeType="1"/>
          </p:cNvSpPr>
          <p:nvPr/>
        </p:nvSpPr>
        <p:spPr bwMode="auto">
          <a:xfrm>
            <a:off x="6537325" y="3352800"/>
            <a:ext cx="0" cy="457200"/>
          </a:xfrm>
          <a:prstGeom prst="line">
            <a:avLst/>
          </a:prstGeom>
          <a:noFill/>
          <a:ln w="12700">
            <a:solidFill>
              <a:srgbClr val="000099"/>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86" name="Text Box 46"/>
          <p:cNvSpPr txBox="1">
            <a:spLocks noChangeArrowheads="1"/>
          </p:cNvSpPr>
          <p:nvPr/>
        </p:nvSpPr>
        <p:spPr bwMode="auto">
          <a:xfrm>
            <a:off x="6521450" y="3114675"/>
            <a:ext cx="2825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rgbClr val="000099"/>
                </a:solidFill>
              </a:rPr>
              <a:t>i</a:t>
            </a:r>
            <a:endParaRPr lang="en-US" altLang="zh-CN" sz="2800"/>
          </a:p>
        </p:txBody>
      </p:sp>
      <p:sp>
        <p:nvSpPr>
          <p:cNvPr id="35887" name="Line 47"/>
          <p:cNvSpPr>
            <a:spLocks noChangeShapeType="1"/>
          </p:cNvSpPr>
          <p:nvPr/>
        </p:nvSpPr>
        <p:spPr bwMode="auto">
          <a:xfrm flipV="1">
            <a:off x="1600200" y="4557713"/>
            <a:ext cx="0" cy="533400"/>
          </a:xfrm>
          <a:prstGeom prst="line">
            <a:avLst/>
          </a:prstGeom>
          <a:noFill/>
          <a:ln w="19050">
            <a:solidFill>
              <a:srgbClr val="FF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88" name="Text Box 48"/>
          <p:cNvSpPr txBox="1">
            <a:spLocks noChangeArrowheads="1"/>
          </p:cNvSpPr>
          <p:nvPr/>
        </p:nvSpPr>
        <p:spPr bwMode="auto">
          <a:xfrm>
            <a:off x="958850" y="4724400"/>
            <a:ext cx="7175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rgbClr val="FF6600"/>
                </a:solidFill>
              </a:rPr>
              <a:t>low</a:t>
            </a:r>
            <a:endParaRPr lang="en-US" altLang="zh-CN" sz="2800"/>
          </a:p>
        </p:txBody>
      </p:sp>
      <p:sp>
        <p:nvSpPr>
          <p:cNvPr id="35889" name="Line 49"/>
          <p:cNvSpPr>
            <a:spLocks noChangeShapeType="1"/>
          </p:cNvSpPr>
          <p:nvPr/>
        </p:nvSpPr>
        <p:spPr bwMode="auto">
          <a:xfrm flipV="1">
            <a:off x="5759450" y="4572000"/>
            <a:ext cx="0" cy="533400"/>
          </a:xfrm>
          <a:prstGeom prst="line">
            <a:avLst/>
          </a:prstGeom>
          <a:noFill/>
          <a:ln w="19050">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90" name="Text Box 50"/>
          <p:cNvSpPr txBox="1">
            <a:spLocks noChangeArrowheads="1"/>
          </p:cNvSpPr>
          <p:nvPr/>
        </p:nvSpPr>
        <p:spPr bwMode="auto">
          <a:xfrm>
            <a:off x="5797550" y="4724400"/>
            <a:ext cx="8159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rgbClr val="006600"/>
                </a:solidFill>
              </a:rPr>
              <a:t>high</a:t>
            </a:r>
            <a:endParaRPr lang="en-US" altLang="zh-CN" sz="2800"/>
          </a:p>
        </p:txBody>
      </p:sp>
      <p:sp>
        <p:nvSpPr>
          <p:cNvPr id="35891" name="Line 51"/>
          <p:cNvSpPr>
            <a:spLocks noChangeShapeType="1"/>
          </p:cNvSpPr>
          <p:nvPr/>
        </p:nvSpPr>
        <p:spPr bwMode="auto">
          <a:xfrm flipV="1">
            <a:off x="3870325" y="4724400"/>
            <a:ext cx="0" cy="609600"/>
          </a:xfrm>
          <a:prstGeom prst="line">
            <a:avLst/>
          </a:prstGeom>
          <a:noFill/>
          <a:ln w="9525">
            <a:solidFill>
              <a:srgbClr val="0033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92" name="Text Box 52"/>
          <p:cNvSpPr txBox="1">
            <a:spLocks noChangeArrowheads="1"/>
          </p:cNvSpPr>
          <p:nvPr/>
        </p:nvSpPr>
        <p:spPr bwMode="auto">
          <a:xfrm>
            <a:off x="3641725" y="5181600"/>
            <a:ext cx="4603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rgbClr val="003366"/>
                </a:solidFill>
              </a:rPr>
              <a:t>m</a:t>
            </a:r>
            <a:endParaRPr lang="en-US" altLang="zh-CN" sz="2800"/>
          </a:p>
        </p:txBody>
      </p:sp>
      <p:sp>
        <p:nvSpPr>
          <p:cNvPr id="35893" name="Line 53"/>
          <p:cNvSpPr>
            <a:spLocks noChangeShapeType="1"/>
          </p:cNvSpPr>
          <p:nvPr/>
        </p:nvSpPr>
        <p:spPr bwMode="auto">
          <a:xfrm flipV="1">
            <a:off x="3016250" y="4572000"/>
            <a:ext cx="0" cy="533400"/>
          </a:xfrm>
          <a:prstGeom prst="line">
            <a:avLst/>
          </a:prstGeom>
          <a:noFill/>
          <a:ln w="19050">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94" name="Text Box 54"/>
          <p:cNvSpPr txBox="1">
            <a:spLocks noChangeArrowheads="1"/>
          </p:cNvSpPr>
          <p:nvPr/>
        </p:nvSpPr>
        <p:spPr bwMode="auto">
          <a:xfrm>
            <a:off x="2955925" y="4724400"/>
            <a:ext cx="8159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rgbClr val="006600"/>
                </a:solidFill>
              </a:rPr>
              <a:t>high</a:t>
            </a:r>
            <a:endParaRPr lang="en-US" altLang="zh-CN" sz="2800"/>
          </a:p>
        </p:txBody>
      </p:sp>
      <p:sp useBgFill="1">
        <p:nvSpPr>
          <p:cNvPr id="35895" name="Rectangle 55"/>
          <p:cNvSpPr>
            <a:spLocks noChangeArrowheads="1"/>
          </p:cNvSpPr>
          <p:nvPr/>
        </p:nvSpPr>
        <p:spPr bwMode="auto">
          <a:xfrm>
            <a:off x="5622925" y="4572000"/>
            <a:ext cx="990600" cy="6858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96" name="Line 56"/>
          <p:cNvSpPr>
            <a:spLocks noChangeShapeType="1"/>
          </p:cNvSpPr>
          <p:nvPr/>
        </p:nvSpPr>
        <p:spPr bwMode="auto">
          <a:xfrm flipV="1">
            <a:off x="2574925" y="4800600"/>
            <a:ext cx="0" cy="609600"/>
          </a:xfrm>
          <a:prstGeom prst="line">
            <a:avLst/>
          </a:prstGeom>
          <a:noFill/>
          <a:ln w="9525">
            <a:solidFill>
              <a:srgbClr val="0033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97" name="Text Box 57"/>
          <p:cNvSpPr txBox="1">
            <a:spLocks noChangeArrowheads="1"/>
          </p:cNvSpPr>
          <p:nvPr/>
        </p:nvSpPr>
        <p:spPr bwMode="auto">
          <a:xfrm>
            <a:off x="2419350" y="5257800"/>
            <a:ext cx="4603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rgbClr val="003366"/>
                </a:solidFill>
              </a:rPr>
              <a:t>m</a:t>
            </a:r>
            <a:endParaRPr lang="en-US" altLang="zh-CN" sz="2800"/>
          </a:p>
        </p:txBody>
      </p:sp>
      <p:sp>
        <p:nvSpPr>
          <p:cNvPr id="35898" name="Line 58"/>
          <p:cNvSpPr>
            <a:spLocks noChangeShapeType="1"/>
          </p:cNvSpPr>
          <p:nvPr/>
        </p:nvSpPr>
        <p:spPr bwMode="auto">
          <a:xfrm flipV="1">
            <a:off x="1797050" y="4572000"/>
            <a:ext cx="0" cy="533400"/>
          </a:xfrm>
          <a:prstGeom prst="line">
            <a:avLst/>
          </a:prstGeom>
          <a:noFill/>
          <a:ln w="19050">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99" name="Text Box 59"/>
          <p:cNvSpPr txBox="1">
            <a:spLocks noChangeArrowheads="1"/>
          </p:cNvSpPr>
          <p:nvPr/>
        </p:nvSpPr>
        <p:spPr bwMode="auto">
          <a:xfrm>
            <a:off x="1736725" y="4724400"/>
            <a:ext cx="8159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rgbClr val="006600"/>
                </a:solidFill>
              </a:rPr>
              <a:t>high</a:t>
            </a:r>
            <a:endParaRPr lang="en-US" altLang="zh-CN" sz="2800"/>
          </a:p>
        </p:txBody>
      </p:sp>
      <p:sp useBgFill="1">
        <p:nvSpPr>
          <p:cNvPr id="35900" name="Rectangle 60"/>
          <p:cNvSpPr>
            <a:spLocks noChangeArrowheads="1"/>
          </p:cNvSpPr>
          <p:nvPr/>
        </p:nvSpPr>
        <p:spPr bwMode="auto">
          <a:xfrm>
            <a:off x="3717925" y="4648200"/>
            <a:ext cx="304800" cy="9906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useBgFill="1">
        <p:nvSpPr>
          <p:cNvPr id="35901" name="Rectangle 61"/>
          <p:cNvSpPr>
            <a:spLocks noChangeArrowheads="1"/>
          </p:cNvSpPr>
          <p:nvPr/>
        </p:nvSpPr>
        <p:spPr bwMode="auto">
          <a:xfrm>
            <a:off x="2879725" y="4572000"/>
            <a:ext cx="914400" cy="6858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02" name="Line 62"/>
          <p:cNvSpPr>
            <a:spLocks noChangeShapeType="1"/>
          </p:cNvSpPr>
          <p:nvPr/>
        </p:nvSpPr>
        <p:spPr bwMode="auto">
          <a:xfrm flipV="1">
            <a:off x="1739900" y="4800600"/>
            <a:ext cx="0" cy="609600"/>
          </a:xfrm>
          <a:prstGeom prst="line">
            <a:avLst/>
          </a:prstGeom>
          <a:noFill/>
          <a:ln w="9525">
            <a:solidFill>
              <a:srgbClr val="0033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03" name="Text Box 63"/>
          <p:cNvSpPr txBox="1">
            <a:spLocks noChangeArrowheads="1"/>
          </p:cNvSpPr>
          <p:nvPr/>
        </p:nvSpPr>
        <p:spPr bwMode="auto">
          <a:xfrm>
            <a:off x="1508125" y="5257800"/>
            <a:ext cx="4603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rgbClr val="003366"/>
                </a:solidFill>
              </a:rPr>
              <a:t>m</a:t>
            </a:r>
            <a:endParaRPr lang="en-US" altLang="zh-CN" sz="2800"/>
          </a:p>
        </p:txBody>
      </p:sp>
      <p:sp useBgFill="1">
        <p:nvSpPr>
          <p:cNvPr id="35904" name="Rectangle 64"/>
          <p:cNvSpPr>
            <a:spLocks noChangeArrowheads="1"/>
          </p:cNvSpPr>
          <p:nvPr/>
        </p:nvSpPr>
        <p:spPr bwMode="auto">
          <a:xfrm>
            <a:off x="2498725" y="4800600"/>
            <a:ext cx="304800" cy="9144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05" name="Line 65"/>
          <p:cNvSpPr>
            <a:spLocks noChangeShapeType="1"/>
          </p:cNvSpPr>
          <p:nvPr/>
        </p:nvSpPr>
        <p:spPr bwMode="auto">
          <a:xfrm flipV="1">
            <a:off x="2559050" y="4572000"/>
            <a:ext cx="0" cy="533400"/>
          </a:xfrm>
          <a:prstGeom prst="line">
            <a:avLst/>
          </a:prstGeom>
          <a:noFill/>
          <a:ln w="19050">
            <a:solidFill>
              <a:srgbClr val="FF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06" name="Text Box 66"/>
          <p:cNvSpPr txBox="1">
            <a:spLocks noChangeArrowheads="1"/>
          </p:cNvSpPr>
          <p:nvPr/>
        </p:nvSpPr>
        <p:spPr bwMode="auto">
          <a:xfrm>
            <a:off x="2543175" y="4738688"/>
            <a:ext cx="7175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rgbClr val="FF6600"/>
                </a:solidFill>
              </a:rPr>
              <a:t>low</a:t>
            </a:r>
            <a:endParaRPr lang="en-US" altLang="zh-CN" sz="2800"/>
          </a:p>
        </p:txBody>
      </p:sp>
      <p:sp useBgFill="1">
        <p:nvSpPr>
          <p:cNvPr id="35907" name="Rectangle 67"/>
          <p:cNvSpPr>
            <a:spLocks noChangeArrowheads="1"/>
          </p:cNvSpPr>
          <p:nvPr/>
        </p:nvSpPr>
        <p:spPr bwMode="auto">
          <a:xfrm>
            <a:off x="990600" y="4572000"/>
            <a:ext cx="685800" cy="6858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08" name="Text Box 68"/>
          <p:cNvSpPr txBox="1">
            <a:spLocks noChangeArrowheads="1"/>
          </p:cNvSpPr>
          <p:nvPr/>
        </p:nvSpPr>
        <p:spPr bwMode="auto">
          <a:xfrm>
            <a:off x="149860" y="196850"/>
            <a:ext cx="2900680"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3600">
                <a:solidFill>
                  <a:srgbClr val="000099"/>
                </a:solidFill>
                <a:ea typeface="楷体_GB2312" pitchFamily="49" charset="-122"/>
                <a:sym typeface="+mn-ea"/>
              </a:rPr>
              <a:t>for instance ：</a:t>
            </a:r>
            <a:endParaRPr lang="en-US" altLang="zh-CN" sz="3600">
              <a:ea typeface="楷体_GB2312" pitchFamily="49" charset="-122"/>
            </a:endParaRPr>
          </a:p>
        </p:txBody>
      </p:sp>
      <p:sp>
        <p:nvSpPr>
          <p:cNvPr id="35909" name="Text Box 69"/>
          <p:cNvSpPr txBox="1">
            <a:spLocks noChangeArrowheads="1"/>
          </p:cNvSpPr>
          <p:nvPr/>
        </p:nvSpPr>
        <p:spPr bwMode="auto">
          <a:xfrm>
            <a:off x="0" y="2968625"/>
            <a:ext cx="237426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400">
                <a:solidFill>
                  <a:srgbClr val="000099"/>
                </a:solidFill>
                <a:ea typeface="楷体_GB2312" pitchFamily="49" charset="-122"/>
              </a:rPr>
              <a:t>Another example:</a:t>
            </a:r>
          </a:p>
        </p:txBody>
      </p:sp>
      <p:sp>
        <p:nvSpPr>
          <p:cNvPr id="35910" name="Line 70"/>
          <p:cNvSpPr>
            <a:spLocks noChangeShapeType="1"/>
          </p:cNvSpPr>
          <p:nvPr/>
        </p:nvSpPr>
        <p:spPr bwMode="auto">
          <a:xfrm>
            <a:off x="4479925" y="228600"/>
            <a:ext cx="0" cy="838200"/>
          </a:xfrm>
          <a:prstGeom prst="line">
            <a:avLst/>
          </a:prstGeom>
          <a:noFill/>
          <a:ln w="2857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11" name="Text Box 71"/>
          <p:cNvSpPr txBox="1">
            <a:spLocks noChangeArrowheads="1"/>
          </p:cNvSpPr>
          <p:nvPr/>
        </p:nvSpPr>
        <p:spPr bwMode="auto">
          <a:xfrm>
            <a:off x="2877185" y="68580"/>
            <a:ext cx="1484630" cy="953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zh-CN">
                <a:solidFill>
                  <a:srgbClr val="FF0000"/>
                </a:solidFill>
              </a:rPr>
              <a:t>Insertion position</a:t>
            </a:r>
          </a:p>
        </p:txBody>
      </p:sp>
      <p:sp>
        <p:nvSpPr>
          <p:cNvPr id="35912" name="Line 72"/>
          <p:cNvSpPr>
            <a:spLocks noChangeShapeType="1"/>
          </p:cNvSpPr>
          <p:nvPr/>
        </p:nvSpPr>
        <p:spPr bwMode="auto">
          <a:xfrm>
            <a:off x="2422525" y="2979738"/>
            <a:ext cx="0" cy="838200"/>
          </a:xfrm>
          <a:prstGeom prst="line">
            <a:avLst/>
          </a:prstGeom>
          <a:noFill/>
          <a:ln w="2857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13" name="Text Box 73"/>
          <p:cNvSpPr txBox="1">
            <a:spLocks noChangeArrowheads="1"/>
          </p:cNvSpPr>
          <p:nvPr/>
        </p:nvSpPr>
        <p:spPr bwMode="auto">
          <a:xfrm>
            <a:off x="2416175" y="2819400"/>
            <a:ext cx="2169160" cy="953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zh-CN">
                <a:solidFill>
                  <a:srgbClr val="FF0000"/>
                </a:solidFill>
                <a:sym typeface="+mn-ea"/>
              </a:rPr>
              <a:t>Insertion position</a:t>
            </a:r>
            <a:endParaRPr lang="zh-CN" altLang="en-US"/>
          </a:p>
        </p:txBody>
      </p:sp>
      <p:sp>
        <p:nvSpPr>
          <p:cNvPr id="35914" name="Text Box 74"/>
          <p:cNvSpPr txBox="1">
            <a:spLocks noChangeArrowheads="1"/>
          </p:cNvSpPr>
          <p:nvPr/>
        </p:nvSpPr>
        <p:spPr bwMode="auto">
          <a:xfrm>
            <a:off x="609600" y="1111250"/>
            <a:ext cx="7302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solidFill>
                  <a:srgbClr val="005042"/>
                </a:solidFill>
              </a:rPr>
              <a:t>L.r</a:t>
            </a:r>
            <a:endParaRPr lang="en-US" altLang="zh-CN" sz="3600"/>
          </a:p>
        </p:txBody>
      </p:sp>
      <p:sp>
        <p:nvSpPr>
          <p:cNvPr id="35915" name="Text Box 75"/>
          <p:cNvSpPr txBox="1">
            <a:spLocks noChangeArrowheads="1"/>
          </p:cNvSpPr>
          <p:nvPr/>
        </p:nvSpPr>
        <p:spPr bwMode="auto">
          <a:xfrm>
            <a:off x="609600" y="3854450"/>
            <a:ext cx="7302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solidFill>
                  <a:srgbClr val="005042"/>
                </a:solidFill>
              </a:rPr>
              <a:t>L.r</a:t>
            </a:r>
            <a:endParaRPr lang="en-US" altLang="zh-CN" sz="3600"/>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34</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5908"/>
                                        </p:tgtEl>
                                        <p:attrNameLst>
                                          <p:attrName>style.visibility</p:attrName>
                                        </p:attrNameLst>
                                      </p:cBhvr>
                                      <p:to>
                                        <p:strVal val="visible"/>
                                      </p:to>
                                    </p:set>
                                    <p:anim calcmode="lin" valueType="num">
                                      <p:cBhvr additive="base">
                                        <p:cTn id="7" dur="500" fill="hold"/>
                                        <p:tgtEl>
                                          <p:spTgt spid="35908"/>
                                        </p:tgtEl>
                                        <p:attrNameLst>
                                          <p:attrName>ppt_x</p:attrName>
                                        </p:attrNameLst>
                                      </p:cBhvr>
                                      <p:tavLst>
                                        <p:tav tm="0">
                                          <p:val>
                                            <p:strVal val="0-#ppt_w/2"/>
                                          </p:val>
                                        </p:tav>
                                        <p:tav tm="100000">
                                          <p:val>
                                            <p:strVal val="#ppt_x"/>
                                          </p:val>
                                        </p:tav>
                                      </p:tavLst>
                                    </p:anim>
                                    <p:anim calcmode="lin" valueType="num">
                                      <p:cBhvr additive="base">
                                        <p:cTn id="8" dur="500" fill="hold"/>
                                        <p:tgtEl>
                                          <p:spTgt spid="3590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5914"/>
                                        </p:tgtEl>
                                        <p:attrNameLst>
                                          <p:attrName>style.visibility</p:attrName>
                                        </p:attrNameLst>
                                      </p:cBhvr>
                                      <p:to>
                                        <p:strVal val="visible"/>
                                      </p:to>
                                    </p:set>
                                    <p:anim calcmode="lin" valueType="num">
                                      <p:cBhvr additive="base">
                                        <p:cTn id="13" dur="500" fill="hold"/>
                                        <p:tgtEl>
                                          <p:spTgt spid="35914"/>
                                        </p:tgtEl>
                                        <p:attrNameLst>
                                          <p:attrName>ppt_x</p:attrName>
                                        </p:attrNameLst>
                                      </p:cBhvr>
                                      <p:tavLst>
                                        <p:tav tm="0">
                                          <p:val>
                                            <p:strVal val="0-#ppt_w/2"/>
                                          </p:val>
                                        </p:tav>
                                        <p:tav tm="100000">
                                          <p:val>
                                            <p:strVal val="#ppt_x"/>
                                          </p:val>
                                        </p:tav>
                                      </p:tavLst>
                                    </p:anim>
                                    <p:anim calcmode="lin" valueType="num">
                                      <p:cBhvr additive="base">
                                        <p:cTn id="14" dur="500" fill="hold"/>
                                        <p:tgtEl>
                                          <p:spTgt spid="35914"/>
                                        </p:tgtEl>
                                        <p:attrNameLst>
                                          <p:attrName>ppt_y</p:attrName>
                                        </p:attrNameLst>
                                      </p:cBhvr>
                                      <p:tavLst>
                                        <p:tav tm="0">
                                          <p:val>
                                            <p:strVal val="#ppt_y"/>
                                          </p:val>
                                        </p:tav>
                                        <p:tav tm="100000">
                                          <p:val>
                                            <p:strVal val="#ppt_y"/>
                                          </p:val>
                                        </p:tav>
                                      </p:tavLst>
                                    </p:anim>
                                  </p:childTnLst>
                                </p:cTn>
                              </p:par>
                            </p:childTnLst>
                          </p:cTn>
                        </p:par>
                        <p:par>
                          <p:cTn id="15" fill="hold">
                            <p:stCondLst>
                              <p:cond delay="500"/>
                            </p:stCondLst>
                            <p:childTnLst>
                              <p:par>
                                <p:cTn id="16" presetID="22" presetClass="entr" presetSubtype="8" fill="hold" grpId="0" nodeType="afterEffect">
                                  <p:stCondLst>
                                    <p:cond delay="0"/>
                                  </p:stCondLst>
                                  <p:childTnLst>
                                    <p:set>
                                      <p:cBhvr>
                                        <p:cTn id="17" dur="1" fill="hold">
                                          <p:stCondLst>
                                            <p:cond delay="0"/>
                                          </p:stCondLst>
                                        </p:cTn>
                                        <p:tgtEl>
                                          <p:spTgt spid="35842"/>
                                        </p:tgtEl>
                                        <p:attrNameLst>
                                          <p:attrName>style.visibility</p:attrName>
                                        </p:attrNameLst>
                                      </p:cBhvr>
                                      <p:to>
                                        <p:strVal val="visible"/>
                                      </p:to>
                                    </p:set>
                                    <p:animEffect transition="in" filter="wipe(left)">
                                      <p:cBhvr>
                                        <p:cTn id="18" dur="500"/>
                                        <p:tgtEl>
                                          <p:spTgt spid="35842"/>
                                        </p:tgtEl>
                                      </p:cBhvr>
                                    </p:animEffect>
                                  </p:childTnLst>
                                </p:cTn>
                              </p:par>
                            </p:childTnLst>
                          </p:cTn>
                        </p:par>
                        <p:par>
                          <p:cTn id="19" fill="hold">
                            <p:stCondLst>
                              <p:cond delay="1000"/>
                            </p:stCondLst>
                            <p:childTnLst>
                              <p:par>
                                <p:cTn id="20" presetID="22" presetClass="entr" presetSubtype="8" fill="hold" grpId="0" nodeType="afterEffect">
                                  <p:stCondLst>
                                    <p:cond delay="0"/>
                                  </p:stCondLst>
                                  <p:childTnLst>
                                    <p:set>
                                      <p:cBhvr>
                                        <p:cTn id="21" dur="1" fill="hold">
                                          <p:stCondLst>
                                            <p:cond delay="0"/>
                                          </p:stCondLst>
                                        </p:cTn>
                                        <p:tgtEl>
                                          <p:spTgt spid="35847"/>
                                        </p:tgtEl>
                                        <p:attrNameLst>
                                          <p:attrName>style.visibility</p:attrName>
                                        </p:attrNameLst>
                                      </p:cBhvr>
                                      <p:to>
                                        <p:strVal val="visible"/>
                                      </p:to>
                                    </p:set>
                                    <p:animEffect transition="in" filter="wipe(left)">
                                      <p:cBhvr>
                                        <p:cTn id="22" dur="500"/>
                                        <p:tgtEl>
                                          <p:spTgt spid="35847"/>
                                        </p:tgtEl>
                                      </p:cBhvr>
                                    </p:animEffect>
                                  </p:childTnLst>
                                </p:cTn>
                              </p:par>
                            </p:childTnLst>
                          </p:cTn>
                        </p:par>
                        <p:par>
                          <p:cTn id="23" fill="hold">
                            <p:stCondLst>
                              <p:cond delay="1500"/>
                            </p:stCondLst>
                            <p:childTnLst>
                              <p:par>
                                <p:cTn id="24" presetID="1" presetClass="entr" presetSubtype="0" fill="hold" grpId="0" nodeType="afterEffect">
                                  <p:stCondLst>
                                    <p:cond delay="0"/>
                                  </p:stCondLst>
                                  <p:childTnLst>
                                    <p:set>
                                      <p:cBhvr>
                                        <p:cTn id="25" dur="1" fill="hold">
                                          <p:stCondLst>
                                            <p:cond delay="499"/>
                                          </p:stCondLst>
                                        </p:cTn>
                                        <p:tgtEl>
                                          <p:spTgt spid="35843"/>
                                        </p:tgtEl>
                                        <p:attrNameLst>
                                          <p:attrName>style.visibility</p:attrName>
                                        </p:attrNameLst>
                                      </p:cBhvr>
                                      <p:to>
                                        <p:strVal val="visible"/>
                                      </p:to>
                                    </p:set>
                                  </p:childTnLst>
                                </p:cTn>
                              </p:par>
                            </p:childTnLst>
                          </p:cTn>
                        </p:par>
                        <p:par>
                          <p:cTn id="26" fill="hold">
                            <p:stCondLst>
                              <p:cond delay="2000"/>
                            </p:stCondLst>
                            <p:childTnLst>
                              <p:par>
                                <p:cTn id="27" presetID="1" presetClass="entr" presetSubtype="0" fill="hold" grpId="0" nodeType="afterEffect">
                                  <p:stCondLst>
                                    <p:cond delay="0"/>
                                  </p:stCondLst>
                                  <p:childTnLst>
                                    <p:set>
                                      <p:cBhvr>
                                        <p:cTn id="28" dur="1" fill="hold">
                                          <p:stCondLst>
                                            <p:cond delay="499"/>
                                          </p:stCondLst>
                                        </p:cTn>
                                        <p:tgtEl>
                                          <p:spTgt spid="35844"/>
                                        </p:tgtEl>
                                        <p:attrNameLst>
                                          <p:attrName>style.visibility</p:attrName>
                                        </p:attrNameLst>
                                      </p:cBhvr>
                                      <p:to>
                                        <p:strVal val="visible"/>
                                      </p:to>
                                    </p:set>
                                  </p:childTnLst>
                                </p:cTn>
                              </p:par>
                            </p:childTnLst>
                          </p:cTn>
                        </p:par>
                        <p:par>
                          <p:cTn id="29" fill="hold">
                            <p:stCondLst>
                              <p:cond delay="2500"/>
                            </p:stCondLst>
                            <p:childTnLst>
                              <p:par>
                                <p:cTn id="30" presetID="1" presetClass="entr" presetSubtype="0" fill="hold" grpId="0" nodeType="afterEffect">
                                  <p:stCondLst>
                                    <p:cond delay="0"/>
                                  </p:stCondLst>
                                  <p:childTnLst>
                                    <p:set>
                                      <p:cBhvr>
                                        <p:cTn id="31" dur="1" fill="hold">
                                          <p:stCondLst>
                                            <p:cond delay="499"/>
                                          </p:stCondLst>
                                        </p:cTn>
                                        <p:tgtEl>
                                          <p:spTgt spid="35845"/>
                                        </p:tgtEl>
                                        <p:attrNameLst>
                                          <p:attrName>style.visibility</p:attrName>
                                        </p:attrNameLst>
                                      </p:cBhvr>
                                      <p:to>
                                        <p:strVal val="visible"/>
                                      </p:to>
                                    </p:set>
                                  </p:childTnLst>
                                </p:cTn>
                              </p:par>
                            </p:childTnLst>
                          </p:cTn>
                        </p:par>
                        <p:par>
                          <p:cTn id="32" fill="hold">
                            <p:stCondLst>
                              <p:cond delay="3000"/>
                            </p:stCondLst>
                            <p:childTnLst>
                              <p:par>
                                <p:cTn id="33" presetID="1" presetClass="entr" presetSubtype="0" fill="hold" grpId="0" nodeType="afterEffect">
                                  <p:stCondLst>
                                    <p:cond delay="0"/>
                                  </p:stCondLst>
                                  <p:childTnLst>
                                    <p:set>
                                      <p:cBhvr>
                                        <p:cTn id="34" dur="1" fill="hold">
                                          <p:stCondLst>
                                            <p:cond delay="499"/>
                                          </p:stCondLst>
                                        </p:cTn>
                                        <p:tgtEl>
                                          <p:spTgt spid="35846"/>
                                        </p:tgtEl>
                                        <p:attrNameLst>
                                          <p:attrName>style.visibility</p:attrName>
                                        </p:attrNameLst>
                                      </p:cBhvr>
                                      <p:to>
                                        <p:strVal val="visible"/>
                                      </p:to>
                                    </p:set>
                                  </p:childTnLst>
                                </p:cTn>
                              </p:par>
                            </p:childTnLst>
                          </p:cTn>
                        </p:par>
                        <p:par>
                          <p:cTn id="35" fill="hold">
                            <p:stCondLst>
                              <p:cond delay="3500"/>
                            </p:stCondLst>
                            <p:childTnLst>
                              <p:par>
                                <p:cTn id="36" presetID="1" presetClass="entr" presetSubtype="0" fill="hold" grpId="0" nodeType="afterEffect">
                                  <p:stCondLst>
                                    <p:cond delay="0"/>
                                  </p:stCondLst>
                                  <p:childTnLst>
                                    <p:set>
                                      <p:cBhvr>
                                        <p:cTn id="37" dur="1" fill="hold">
                                          <p:stCondLst>
                                            <p:cond delay="499"/>
                                          </p:stCondLst>
                                        </p:cTn>
                                        <p:tgtEl>
                                          <p:spTgt spid="35848"/>
                                        </p:tgtEl>
                                        <p:attrNameLst>
                                          <p:attrName>style.visibility</p:attrName>
                                        </p:attrNameLst>
                                      </p:cBhvr>
                                      <p:to>
                                        <p:strVal val="visible"/>
                                      </p:to>
                                    </p:set>
                                  </p:childTnLst>
                                </p:cTn>
                              </p:par>
                            </p:childTnLst>
                          </p:cTn>
                        </p:par>
                        <p:par>
                          <p:cTn id="38" fill="hold">
                            <p:stCondLst>
                              <p:cond delay="4000"/>
                            </p:stCondLst>
                            <p:childTnLst>
                              <p:par>
                                <p:cTn id="39" presetID="1" presetClass="entr" presetSubtype="0" fill="hold" grpId="0" nodeType="afterEffect">
                                  <p:stCondLst>
                                    <p:cond delay="0"/>
                                  </p:stCondLst>
                                  <p:childTnLst>
                                    <p:set>
                                      <p:cBhvr>
                                        <p:cTn id="40" dur="1" fill="hold">
                                          <p:stCondLst>
                                            <p:cond delay="499"/>
                                          </p:stCondLst>
                                        </p:cTn>
                                        <p:tgtEl>
                                          <p:spTgt spid="35849"/>
                                        </p:tgtEl>
                                        <p:attrNameLst>
                                          <p:attrName>style.visibility</p:attrName>
                                        </p:attrNameLst>
                                      </p:cBhvr>
                                      <p:to>
                                        <p:strVal val="visible"/>
                                      </p:to>
                                    </p:set>
                                  </p:childTnLst>
                                </p:cTn>
                              </p:par>
                            </p:childTnLst>
                          </p:cTn>
                        </p:par>
                        <p:par>
                          <p:cTn id="41" fill="hold">
                            <p:stCondLst>
                              <p:cond delay="4500"/>
                            </p:stCondLst>
                            <p:childTnLst>
                              <p:par>
                                <p:cTn id="42" presetID="1" presetClass="entr" presetSubtype="0" fill="hold" grpId="0" nodeType="afterEffect">
                                  <p:stCondLst>
                                    <p:cond delay="0"/>
                                  </p:stCondLst>
                                  <p:childTnLst>
                                    <p:set>
                                      <p:cBhvr>
                                        <p:cTn id="43" dur="1" fill="hold">
                                          <p:stCondLst>
                                            <p:cond delay="499"/>
                                          </p:stCondLst>
                                        </p:cTn>
                                        <p:tgtEl>
                                          <p:spTgt spid="35850"/>
                                        </p:tgtEl>
                                        <p:attrNameLst>
                                          <p:attrName>style.visibility</p:attrName>
                                        </p:attrNameLst>
                                      </p:cBhvr>
                                      <p:to>
                                        <p:strVal val="visible"/>
                                      </p:to>
                                    </p:set>
                                  </p:childTnLst>
                                </p:cTn>
                              </p:par>
                            </p:childTnLst>
                          </p:cTn>
                        </p:par>
                        <p:par>
                          <p:cTn id="44" fill="hold">
                            <p:stCondLst>
                              <p:cond delay="5000"/>
                            </p:stCondLst>
                            <p:childTnLst>
                              <p:par>
                                <p:cTn id="45" presetID="1" presetClass="entr" presetSubtype="0" fill="hold" grpId="0" nodeType="afterEffect">
                                  <p:stCondLst>
                                    <p:cond delay="0"/>
                                  </p:stCondLst>
                                  <p:childTnLst>
                                    <p:set>
                                      <p:cBhvr>
                                        <p:cTn id="46" dur="1" fill="hold">
                                          <p:stCondLst>
                                            <p:cond delay="499"/>
                                          </p:stCondLst>
                                        </p:cTn>
                                        <p:tgtEl>
                                          <p:spTgt spid="3585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grpId="0" nodeType="clickEffect">
                                  <p:stCondLst>
                                    <p:cond delay="0"/>
                                  </p:stCondLst>
                                  <p:childTnLst>
                                    <p:set>
                                      <p:cBhvr>
                                        <p:cTn id="50" dur="1" fill="hold">
                                          <p:stCondLst>
                                            <p:cond delay="0"/>
                                          </p:stCondLst>
                                        </p:cTn>
                                        <p:tgtEl>
                                          <p:spTgt spid="35852"/>
                                        </p:tgtEl>
                                        <p:attrNameLst>
                                          <p:attrName>style.visibility</p:attrName>
                                        </p:attrNameLst>
                                      </p:cBhvr>
                                      <p:to>
                                        <p:strVal val="visible"/>
                                      </p:to>
                                    </p:set>
                                    <p:animEffect transition="in" filter="wipe(up)">
                                      <p:cBhvr>
                                        <p:cTn id="51" dur="500"/>
                                        <p:tgtEl>
                                          <p:spTgt spid="35852"/>
                                        </p:tgtEl>
                                      </p:cBhvr>
                                    </p:animEffect>
                                  </p:childTnLst>
                                </p:cTn>
                              </p:par>
                            </p:childTnLst>
                          </p:cTn>
                        </p:par>
                        <p:par>
                          <p:cTn id="52" fill="hold">
                            <p:stCondLst>
                              <p:cond delay="500"/>
                            </p:stCondLst>
                            <p:childTnLst>
                              <p:par>
                                <p:cTn id="53" presetID="22" presetClass="entr" presetSubtype="1" fill="hold" grpId="0" nodeType="afterEffect">
                                  <p:stCondLst>
                                    <p:cond delay="0"/>
                                  </p:stCondLst>
                                  <p:childTnLst>
                                    <p:set>
                                      <p:cBhvr>
                                        <p:cTn id="54" dur="1" fill="hold">
                                          <p:stCondLst>
                                            <p:cond delay="0"/>
                                          </p:stCondLst>
                                        </p:cTn>
                                        <p:tgtEl>
                                          <p:spTgt spid="35853"/>
                                        </p:tgtEl>
                                        <p:attrNameLst>
                                          <p:attrName>style.visibility</p:attrName>
                                        </p:attrNameLst>
                                      </p:cBhvr>
                                      <p:to>
                                        <p:strVal val="visible"/>
                                      </p:to>
                                    </p:set>
                                    <p:animEffect transition="in" filter="wipe(up)">
                                      <p:cBhvr>
                                        <p:cTn id="55" dur="500"/>
                                        <p:tgtEl>
                                          <p:spTgt spid="35853"/>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1" fill="hold" grpId="0" nodeType="clickEffect">
                                  <p:stCondLst>
                                    <p:cond delay="0"/>
                                  </p:stCondLst>
                                  <p:childTnLst>
                                    <p:set>
                                      <p:cBhvr>
                                        <p:cTn id="59" dur="1" fill="hold">
                                          <p:stCondLst>
                                            <p:cond delay="0"/>
                                          </p:stCondLst>
                                        </p:cTn>
                                        <p:tgtEl>
                                          <p:spTgt spid="35854"/>
                                        </p:tgtEl>
                                        <p:attrNameLst>
                                          <p:attrName>style.visibility</p:attrName>
                                        </p:attrNameLst>
                                      </p:cBhvr>
                                      <p:to>
                                        <p:strVal val="visible"/>
                                      </p:to>
                                    </p:set>
                                    <p:animEffect transition="in" filter="wipe(up)">
                                      <p:cBhvr>
                                        <p:cTn id="60" dur="500"/>
                                        <p:tgtEl>
                                          <p:spTgt spid="35854"/>
                                        </p:tgtEl>
                                      </p:cBhvr>
                                    </p:animEffect>
                                  </p:childTnLst>
                                </p:cTn>
                              </p:par>
                            </p:childTnLst>
                          </p:cTn>
                        </p:par>
                        <p:par>
                          <p:cTn id="61" fill="hold">
                            <p:stCondLst>
                              <p:cond delay="500"/>
                            </p:stCondLst>
                            <p:childTnLst>
                              <p:par>
                                <p:cTn id="62" presetID="22" presetClass="entr" presetSubtype="1" fill="hold" grpId="0" nodeType="afterEffect">
                                  <p:stCondLst>
                                    <p:cond delay="0"/>
                                  </p:stCondLst>
                                  <p:childTnLst>
                                    <p:set>
                                      <p:cBhvr>
                                        <p:cTn id="63" dur="1" fill="hold">
                                          <p:stCondLst>
                                            <p:cond delay="0"/>
                                          </p:stCondLst>
                                        </p:cTn>
                                        <p:tgtEl>
                                          <p:spTgt spid="35855"/>
                                        </p:tgtEl>
                                        <p:attrNameLst>
                                          <p:attrName>style.visibility</p:attrName>
                                        </p:attrNameLst>
                                      </p:cBhvr>
                                      <p:to>
                                        <p:strVal val="visible"/>
                                      </p:to>
                                    </p:set>
                                    <p:animEffect transition="in" filter="wipe(up)">
                                      <p:cBhvr>
                                        <p:cTn id="64" dur="500"/>
                                        <p:tgtEl>
                                          <p:spTgt spid="35855"/>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1" fill="hold" grpId="0" nodeType="clickEffect">
                                  <p:stCondLst>
                                    <p:cond delay="0"/>
                                  </p:stCondLst>
                                  <p:childTnLst>
                                    <p:set>
                                      <p:cBhvr>
                                        <p:cTn id="68" dur="1" fill="hold">
                                          <p:stCondLst>
                                            <p:cond delay="0"/>
                                          </p:stCondLst>
                                        </p:cTn>
                                        <p:tgtEl>
                                          <p:spTgt spid="35856"/>
                                        </p:tgtEl>
                                        <p:attrNameLst>
                                          <p:attrName>style.visibility</p:attrName>
                                        </p:attrNameLst>
                                      </p:cBhvr>
                                      <p:to>
                                        <p:strVal val="visible"/>
                                      </p:to>
                                    </p:set>
                                    <p:animEffect transition="in" filter="wipe(up)">
                                      <p:cBhvr>
                                        <p:cTn id="69" dur="500"/>
                                        <p:tgtEl>
                                          <p:spTgt spid="35856"/>
                                        </p:tgtEl>
                                      </p:cBhvr>
                                    </p:animEffect>
                                  </p:childTnLst>
                                </p:cTn>
                              </p:par>
                            </p:childTnLst>
                          </p:cTn>
                        </p:par>
                        <p:par>
                          <p:cTn id="70" fill="hold">
                            <p:stCondLst>
                              <p:cond delay="500"/>
                            </p:stCondLst>
                            <p:childTnLst>
                              <p:par>
                                <p:cTn id="71" presetID="22" presetClass="entr" presetSubtype="1" fill="hold" grpId="0" nodeType="afterEffect">
                                  <p:stCondLst>
                                    <p:cond delay="0"/>
                                  </p:stCondLst>
                                  <p:childTnLst>
                                    <p:set>
                                      <p:cBhvr>
                                        <p:cTn id="72" dur="1" fill="hold">
                                          <p:stCondLst>
                                            <p:cond delay="0"/>
                                          </p:stCondLst>
                                        </p:cTn>
                                        <p:tgtEl>
                                          <p:spTgt spid="35857"/>
                                        </p:tgtEl>
                                        <p:attrNameLst>
                                          <p:attrName>style.visibility</p:attrName>
                                        </p:attrNameLst>
                                      </p:cBhvr>
                                      <p:to>
                                        <p:strVal val="visible"/>
                                      </p:to>
                                    </p:set>
                                    <p:animEffect transition="in" filter="wipe(up)">
                                      <p:cBhvr>
                                        <p:cTn id="73" dur="500"/>
                                        <p:tgtEl>
                                          <p:spTgt spid="35857"/>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1" fill="hold" grpId="0" nodeType="clickEffect">
                                  <p:stCondLst>
                                    <p:cond delay="0"/>
                                  </p:stCondLst>
                                  <p:childTnLst>
                                    <p:set>
                                      <p:cBhvr>
                                        <p:cTn id="77" dur="1" fill="hold">
                                          <p:stCondLst>
                                            <p:cond delay="0"/>
                                          </p:stCondLst>
                                        </p:cTn>
                                        <p:tgtEl>
                                          <p:spTgt spid="35858"/>
                                        </p:tgtEl>
                                        <p:attrNameLst>
                                          <p:attrName>style.visibility</p:attrName>
                                        </p:attrNameLst>
                                      </p:cBhvr>
                                      <p:to>
                                        <p:strVal val="visible"/>
                                      </p:to>
                                    </p:set>
                                    <p:animEffect transition="in" filter="wipe(up)">
                                      <p:cBhvr>
                                        <p:cTn id="78" dur="500"/>
                                        <p:tgtEl>
                                          <p:spTgt spid="35858"/>
                                        </p:tgtEl>
                                      </p:cBhvr>
                                    </p:animEffect>
                                  </p:childTnLst>
                                </p:cTn>
                              </p:par>
                            </p:childTnLst>
                          </p:cTn>
                        </p:par>
                        <p:par>
                          <p:cTn id="79" fill="hold">
                            <p:stCondLst>
                              <p:cond delay="500"/>
                            </p:stCondLst>
                            <p:childTnLst>
                              <p:par>
                                <p:cTn id="80" presetID="22" presetClass="entr" presetSubtype="1" fill="hold" grpId="0" nodeType="afterEffect">
                                  <p:stCondLst>
                                    <p:cond delay="0"/>
                                  </p:stCondLst>
                                  <p:childTnLst>
                                    <p:set>
                                      <p:cBhvr>
                                        <p:cTn id="81" dur="1" fill="hold">
                                          <p:stCondLst>
                                            <p:cond delay="0"/>
                                          </p:stCondLst>
                                        </p:cTn>
                                        <p:tgtEl>
                                          <p:spTgt spid="35859"/>
                                        </p:tgtEl>
                                        <p:attrNameLst>
                                          <p:attrName>style.visibility</p:attrName>
                                        </p:attrNameLst>
                                      </p:cBhvr>
                                      <p:to>
                                        <p:strVal val="visible"/>
                                      </p:to>
                                    </p:set>
                                    <p:animEffect transition="in" filter="wipe(up)">
                                      <p:cBhvr>
                                        <p:cTn id="82" dur="500"/>
                                        <p:tgtEl>
                                          <p:spTgt spid="35859"/>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1" fill="hold" grpId="0" nodeType="clickEffect">
                                  <p:stCondLst>
                                    <p:cond delay="0"/>
                                  </p:stCondLst>
                                  <p:childTnLst>
                                    <p:set>
                                      <p:cBhvr>
                                        <p:cTn id="86" dur="1" fill="hold">
                                          <p:stCondLst>
                                            <p:cond delay="0"/>
                                          </p:stCondLst>
                                        </p:cTn>
                                        <p:tgtEl>
                                          <p:spTgt spid="35861"/>
                                        </p:tgtEl>
                                        <p:attrNameLst>
                                          <p:attrName>style.visibility</p:attrName>
                                        </p:attrNameLst>
                                      </p:cBhvr>
                                      <p:to>
                                        <p:strVal val="visible"/>
                                      </p:to>
                                    </p:set>
                                    <p:animEffect transition="in" filter="wipe(up)">
                                      <p:cBhvr>
                                        <p:cTn id="87" dur="500"/>
                                        <p:tgtEl>
                                          <p:spTgt spid="35861"/>
                                        </p:tgtEl>
                                      </p:cBhvr>
                                    </p:animEffect>
                                  </p:childTnLst>
                                </p:cTn>
                              </p:par>
                            </p:childTnLst>
                          </p:cTn>
                        </p:par>
                        <p:par>
                          <p:cTn id="88" fill="hold">
                            <p:stCondLst>
                              <p:cond delay="500"/>
                            </p:stCondLst>
                            <p:childTnLst>
                              <p:par>
                                <p:cTn id="89" presetID="22" presetClass="entr" presetSubtype="1" fill="hold" grpId="0" nodeType="afterEffect">
                                  <p:stCondLst>
                                    <p:cond delay="0"/>
                                  </p:stCondLst>
                                  <p:childTnLst>
                                    <p:set>
                                      <p:cBhvr>
                                        <p:cTn id="90" dur="1" fill="hold">
                                          <p:stCondLst>
                                            <p:cond delay="0"/>
                                          </p:stCondLst>
                                        </p:cTn>
                                        <p:tgtEl>
                                          <p:spTgt spid="35860"/>
                                        </p:tgtEl>
                                        <p:attrNameLst>
                                          <p:attrName>style.visibility</p:attrName>
                                        </p:attrNameLst>
                                      </p:cBhvr>
                                      <p:to>
                                        <p:strVal val="visible"/>
                                      </p:to>
                                    </p:set>
                                    <p:animEffect transition="in" filter="wipe(up)">
                                      <p:cBhvr>
                                        <p:cTn id="91" dur="500"/>
                                        <p:tgtEl>
                                          <p:spTgt spid="35860"/>
                                        </p:tgtEl>
                                      </p:cBhvr>
                                    </p:animEffect>
                                  </p:childTnLst>
                                </p:cTn>
                              </p:par>
                            </p:childTnLst>
                          </p:cTn>
                        </p:par>
                        <p:par>
                          <p:cTn id="92" fill="hold">
                            <p:stCondLst>
                              <p:cond delay="1000"/>
                            </p:stCondLst>
                            <p:childTnLst>
                              <p:par>
                                <p:cTn id="93" presetID="22" presetClass="entr" presetSubtype="1" fill="hold" grpId="0" nodeType="afterEffect">
                                  <p:stCondLst>
                                    <p:cond delay="0"/>
                                  </p:stCondLst>
                                  <p:childTnLst>
                                    <p:set>
                                      <p:cBhvr>
                                        <p:cTn id="94" dur="1" fill="hold">
                                          <p:stCondLst>
                                            <p:cond delay="0"/>
                                          </p:stCondLst>
                                        </p:cTn>
                                        <p:tgtEl>
                                          <p:spTgt spid="35867"/>
                                        </p:tgtEl>
                                        <p:attrNameLst>
                                          <p:attrName>style.visibility</p:attrName>
                                        </p:attrNameLst>
                                      </p:cBhvr>
                                      <p:to>
                                        <p:strVal val="visible"/>
                                      </p:to>
                                    </p:set>
                                    <p:animEffect transition="in" filter="wipe(up)">
                                      <p:cBhvr>
                                        <p:cTn id="95" dur="500"/>
                                        <p:tgtEl>
                                          <p:spTgt spid="35867"/>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1" fill="hold" grpId="0" nodeType="clickEffect">
                                  <p:stCondLst>
                                    <p:cond delay="0"/>
                                  </p:stCondLst>
                                  <p:childTnLst>
                                    <p:set>
                                      <p:cBhvr>
                                        <p:cTn id="99" dur="1" fill="hold">
                                          <p:stCondLst>
                                            <p:cond delay="0"/>
                                          </p:stCondLst>
                                        </p:cTn>
                                        <p:tgtEl>
                                          <p:spTgt spid="35864"/>
                                        </p:tgtEl>
                                        <p:attrNameLst>
                                          <p:attrName>style.visibility</p:attrName>
                                        </p:attrNameLst>
                                      </p:cBhvr>
                                      <p:to>
                                        <p:strVal val="visible"/>
                                      </p:to>
                                    </p:set>
                                    <p:animEffect transition="in" filter="wipe(up)">
                                      <p:cBhvr>
                                        <p:cTn id="100" dur="500"/>
                                        <p:tgtEl>
                                          <p:spTgt spid="35864"/>
                                        </p:tgtEl>
                                      </p:cBhvr>
                                    </p:animEffect>
                                  </p:childTnLst>
                                </p:cTn>
                              </p:par>
                            </p:childTnLst>
                          </p:cTn>
                        </p:par>
                        <p:par>
                          <p:cTn id="101" fill="hold">
                            <p:stCondLst>
                              <p:cond delay="500"/>
                            </p:stCondLst>
                            <p:childTnLst>
                              <p:par>
                                <p:cTn id="102" presetID="22" presetClass="entr" presetSubtype="1" fill="hold" grpId="0" nodeType="afterEffect">
                                  <p:stCondLst>
                                    <p:cond delay="0"/>
                                  </p:stCondLst>
                                  <p:childTnLst>
                                    <p:set>
                                      <p:cBhvr>
                                        <p:cTn id="103" dur="1" fill="hold">
                                          <p:stCondLst>
                                            <p:cond delay="0"/>
                                          </p:stCondLst>
                                        </p:cTn>
                                        <p:tgtEl>
                                          <p:spTgt spid="35862"/>
                                        </p:tgtEl>
                                        <p:attrNameLst>
                                          <p:attrName>style.visibility</p:attrName>
                                        </p:attrNameLst>
                                      </p:cBhvr>
                                      <p:to>
                                        <p:strVal val="visible"/>
                                      </p:to>
                                    </p:set>
                                    <p:animEffect transition="in" filter="wipe(up)">
                                      <p:cBhvr>
                                        <p:cTn id="104" dur="500"/>
                                        <p:tgtEl>
                                          <p:spTgt spid="35862"/>
                                        </p:tgtEl>
                                      </p:cBhvr>
                                    </p:animEffect>
                                  </p:childTnLst>
                                </p:cTn>
                              </p:par>
                            </p:childTnLst>
                          </p:cTn>
                        </p:par>
                        <p:par>
                          <p:cTn id="105" fill="hold">
                            <p:stCondLst>
                              <p:cond delay="1000"/>
                            </p:stCondLst>
                            <p:childTnLst>
                              <p:par>
                                <p:cTn id="106" presetID="22" presetClass="entr" presetSubtype="1" fill="hold" grpId="0" nodeType="afterEffect">
                                  <p:stCondLst>
                                    <p:cond delay="0"/>
                                  </p:stCondLst>
                                  <p:childTnLst>
                                    <p:set>
                                      <p:cBhvr>
                                        <p:cTn id="107" dur="1" fill="hold">
                                          <p:stCondLst>
                                            <p:cond delay="0"/>
                                          </p:stCondLst>
                                        </p:cTn>
                                        <p:tgtEl>
                                          <p:spTgt spid="35863"/>
                                        </p:tgtEl>
                                        <p:attrNameLst>
                                          <p:attrName>style.visibility</p:attrName>
                                        </p:attrNameLst>
                                      </p:cBhvr>
                                      <p:to>
                                        <p:strVal val="visible"/>
                                      </p:to>
                                    </p:set>
                                    <p:animEffect transition="in" filter="wipe(up)">
                                      <p:cBhvr>
                                        <p:cTn id="108" dur="500"/>
                                        <p:tgtEl>
                                          <p:spTgt spid="35863"/>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1" fill="hold" grpId="0" nodeType="clickEffect">
                                  <p:stCondLst>
                                    <p:cond delay="0"/>
                                  </p:stCondLst>
                                  <p:childTnLst>
                                    <p:set>
                                      <p:cBhvr>
                                        <p:cTn id="112" dur="1" fill="hold">
                                          <p:stCondLst>
                                            <p:cond delay="0"/>
                                          </p:stCondLst>
                                        </p:cTn>
                                        <p:tgtEl>
                                          <p:spTgt spid="35868"/>
                                        </p:tgtEl>
                                        <p:attrNameLst>
                                          <p:attrName>style.visibility</p:attrName>
                                        </p:attrNameLst>
                                      </p:cBhvr>
                                      <p:to>
                                        <p:strVal val="visible"/>
                                      </p:to>
                                    </p:set>
                                    <p:animEffect transition="in" filter="wipe(up)">
                                      <p:cBhvr>
                                        <p:cTn id="113" dur="500"/>
                                        <p:tgtEl>
                                          <p:spTgt spid="35868"/>
                                        </p:tgtEl>
                                      </p:cBhvr>
                                    </p:animEffect>
                                  </p:childTnLst>
                                </p:cTn>
                              </p:par>
                            </p:childTnLst>
                          </p:cTn>
                        </p:par>
                        <p:par>
                          <p:cTn id="114" fill="hold">
                            <p:stCondLst>
                              <p:cond delay="500"/>
                            </p:stCondLst>
                            <p:childTnLst>
                              <p:par>
                                <p:cTn id="115" presetID="22" presetClass="entr" presetSubtype="1" fill="hold" grpId="0" nodeType="afterEffect">
                                  <p:stCondLst>
                                    <p:cond delay="0"/>
                                  </p:stCondLst>
                                  <p:childTnLst>
                                    <p:set>
                                      <p:cBhvr>
                                        <p:cTn id="116" dur="1" fill="hold">
                                          <p:stCondLst>
                                            <p:cond delay="0"/>
                                          </p:stCondLst>
                                        </p:cTn>
                                        <p:tgtEl>
                                          <p:spTgt spid="35865"/>
                                        </p:tgtEl>
                                        <p:attrNameLst>
                                          <p:attrName>style.visibility</p:attrName>
                                        </p:attrNameLst>
                                      </p:cBhvr>
                                      <p:to>
                                        <p:strVal val="visible"/>
                                      </p:to>
                                    </p:set>
                                    <p:animEffect transition="in" filter="wipe(up)">
                                      <p:cBhvr>
                                        <p:cTn id="117" dur="500"/>
                                        <p:tgtEl>
                                          <p:spTgt spid="35865"/>
                                        </p:tgtEl>
                                      </p:cBhvr>
                                    </p:animEffect>
                                  </p:childTnLst>
                                </p:cTn>
                              </p:par>
                            </p:childTnLst>
                          </p:cTn>
                        </p:par>
                        <p:par>
                          <p:cTn id="118" fill="hold">
                            <p:stCondLst>
                              <p:cond delay="1000"/>
                            </p:stCondLst>
                            <p:childTnLst>
                              <p:par>
                                <p:cTn id="119" presetID="22" presetClass="entr" presetSubtype="1" fill="hold" grpId="0" nodeType="afterEffect">
                                  <p:stCondLst>
                                    <p:cond delay="0"/>
                                  </p:stCondLst>
                                  <p:childTnLst>
                                    <p:set>
                                      <p:cBhvr>
                                        <p:cTn id="120" dur="1" fill="hold">
                                          <p:stCondLst>
                                            <p:cond delay="0"/>
                                          </p:stCondLst>
                                        </p:cTn>
                                        <p:tgtEl>
                                          <p:spTgt spid="35866"/>
                                        </p:tgtEl>
                                        <p:attrNameLst>
                                          <p:attrName>style.visibility</p:attrName>
                                        </p:attrNameLst>
                                      </p:cBhvr>
                                      <p:to>
                                        <p:strVal val="visible"/>
                                      </p:to>
                                    </p:set>
                                    <p:animEffect transition="in" filter="wipe(up)">
                                      <p:cBhvr>
                                        <p:cTn id="121" dur="500"/>
                                        <p:tgtEl>
                                          <p:spTgt spid="35866"/>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1" fill="hold" grpId="0" nodeType="clickEffect">
                                  <p:stCondLst>
                                    <p:cond delay="0"/>
                                  </p:stCondLst>
                                  <p:childTnLst>
                                    <p:set>
                                      <p:cBhvr>
                                        <p:cTn id="125" dur="1" fill="hold">
                                          <p:stCondLst>
                                            <p:cond delay="0"/>
                                          </p:stCondLst>
                                        </p:cTn>
                                        <p:tgtEl>
                                          <p:spTgt spid="35871"/>
                                        </p:tgtEl>
                                        <p:attrNameLst>
                                          <p:attrName>style.visibility</p:attrName>
                                        </p:attrNameLst>
                                      </p:cBhvr>
                                      <p:to>
                                        <p:strVal val="visible"/>
                                      </p:to>
                                    </p:set>
                                    <p:animEffect transition="in" filter="wipe(up)">
                                      <p:cBhvr>
                                        <p:cTn id="126" dur="500"/>
                                        <p:tgtEl>
                                          <p:spTgt spid="35871"/>
                                        </p:tgtEl>
                                      </p:cBhvr>
                                    </p:animEffect>
                                  </p:childTnLst>
                                </p:cTn>
                              </p:par>
                            </p:childTnLst>
                          </p:cTn>
                        </p:par>
                        <p:par>
                          <p:cTn id="127" fill="hold">
                            <p:stCondLst>
                              <p:cond delay="500"/>
                            </p:stCondLst>
                            <p:childTnLst>
                              <p:par>
                                <p:cTn id="128" presetID="22" presetClass="entr" presetSubtype="1" fill="hold" grpId="0" nodeType="afterEffect">
                                  <p:stCondLst>
                                    <p:cond delay="0"/>
                                  </p:stCondLst>
                                  <p:childTnLst>
                                    <p:set>
                                      <p:cBhvr>
                                        <p:cTn id="129" dur="1" fill="hold">
                                          <p:stCondLst>
                                            <p:cond delay="0"/>
                                          </p:stCondLst>
                                        </p:cTn>
                                        <p:tgtEl>
                                          <p:spTgt spid="35869"/>
                                        </p:tgtEl>
                                        <p:attrNameLst>
                                          <p:attrName>style.visibility</p:attrName>
                                        </p:attrNameLst>
                                      </p:cBhvr>
                                      <p:to>
                                        <p:strVal val="visible"/>
                                      </p:to>
                                    </p:set>
                                    <p:animEffect transition="in" filter="wipe(up)">
                                      <p:cBhvr>
                                        <p:cTn id="130" dur="500"/>
                                        <p:tgtEl>
                                          <p:spTgt spid="35869"/>
                                        </p:tgtEl>
                                      </p:cBhvr>
                                    </p:animEffect>
                                  </p:childTnLst>
                                </p:cTn>
                              </p:par>
                            </p:childTnLst>
                          </p:cTn>
                        </p:par>
                        <p:par>
                          <p:cTn id="131" fill="hold">
                            <p:stCondLst>
                              <p:cond delay="1000"/>
                            </p:stCondLst>
                            <p:childTnLst>
                              <p:par>
                                <p:cTn id="132" presetID="22" presetClass="entr" presetSubtype="1" fill="hold" grpId="0" nodeType="afterEffect">
                                  <p:stCondLst>
                                    <p:cond delay="0"/>
                                  </p:stCondLst>
                                  <p:childTnLst>
                                    <p:set>
                                      <p:cBhvr>
                                        <p:cTn id="133" dur="1" fill="hold">
                                          <p:stCondLst>
                                            <p:cond delay="0"/>
                                          </p:stCondLst>
                                        </p:cTn>
                                        <p:tgtEl>
                                          <p:spTgt spid="35870"/>
                                        </p:tgtEl>
                                        <p:attrNameLst>
                                          <p:attrName>style.visibility</p:attrName>
                                        </p:attrNameLst>
                                      </p:cBhvr>
                                      <p:to>
                                        <p:strVal val="visible"/>
                                      </p:to>
                                    </p:set>
                                    <p:animEffect transition="in" filter="wipe(up)">
                                      <p:cBhvr>
                                        <p:cTn id="134" dur="500"/>
                                        <p:tgtEl>
                                          <p:spTgt spid="35870"/>
                                        </p:tgtEl>
                                      </p:cBhvr>
                                    </p:animEffect>
                                  </p:childTnLst>
                                </p:cTn>
                              </p:par>
                            </p:childTnLst>
                          </p:cTn>
                        </p:par>
                      </p:childTnLst>
                    </p:cTn>
                  </p:par>
                  <p:par>
                    <p:cTn id="135" fill="hold">
                      <p:stCondLst>
                        <p:cond delay="indefinite"/>
                      </p:stCondLst>
                      <p:childTnLst>
                        <p:par>
                          <p:cTn id="136" fill="hold">
                            <p:stCondLst>
                              <p:cond delay="0"/>
                            </p:stCondLst>
                            <p:childTnLst>
                              <p:par>
                                <p:cTn id="137" presetID="22" presetClass="entr" presetSubtype="1" fill="hold" grpId="0" nodeType="clickEffect">
                                  <p:stCondLst>
                                    <p:cond delay="0"/>
                                  </p:stCondLst>
                                  <p:childTnLst>
                                    <p:set>
                                      <p:cBhvr>
                                        <p:cTn id="138" dur="1" fill="hold">
                                          <p:stCondLst>
                                            <p:cond delay="0"/>
                                          </p:stCondLst>
                                        </p:cTn>
                                        <p:tgtEl>
                                          <p:spTgt spid="35874"/>
                                        </p:tgtEl>
                                        <p:attrNameLst>
                                          <p:attrName>style.visibility</p:attrName>
                                        </p:attrNameLst>
                                      </p:cBhvr>
                                      <p:to>
                                        <p:strVal val="visible"/>
                                      </p:to>
                                    </p:set>
                                    <p:animEffect transition="in" filter="wipe(up)">
                                      <p:cBhvr>
                                        <p:cTn id="139" dur="500"/>
                                        <p:tgtEl>
                                          <p:spTgt spid="35874"/>
                                        </p:tgtEl>
                                      </p:cBhvr>
                                    </p:animEffect>
                                  </p:childTnLst>
                                </p:cTn>
                              </p:par>
                            </p:childTnLst>
                          </p:cTn>
                        </p:par>
                        <p:par>
                          <p:cTn id="140" fill="hold">
                            <p:stCondLst>
                              <p:cond delay="500"/>
                            </p:stCondLst>
                            <p:childTnLst>
                              <p:par>
                                <p:cTn id="141" presetID="22" presetClass="entr" presetSubtype="1" fill="hold" grpId="0" nodeType="afterEffect">
                                  <p:stCondLst>
                                    <p:cond delay="0"/>
                                  </p:stCondLst>
                                  <p:childTnLst>
                                    <p:set>
                                      <p:cBhvr>
                                        <p:cTn id="142" dur="1" fill="hold">
                                          <p:stCondLst>
                                            <p:cond delay="0"/>
                                          </p:stCondLst>
                                        </p:cTn>
                                        <p:tgtEl>
                                          <p:spTgt spid="35872"/>
                                        </p:tgtEl>
                                        <p:attrNameLst>
                                          <p:attrName>style.visibility</p:attrName>
                                        </p:attrNameLst>
                                      </p:cBhvr>
                                      <p:to>
                                        <p:strVal val="visible"/>
                                      </p:to>
                                    </p:set>
                                    <p:animEffect transition="in" filter="wipe(up)">
                                      <p:cBhvr>
                                        <p:cTn id="143" dur="500"/>
                                        <p:tgtEl>
                                          <p:spTgt spid="35872"/>
                                        </p:tgtEl>
                                      </p:cBhvr>
                                    </p:animEffect>
                                  </p:childTnLst>
                                </p:cTn>
                              </p:par>
                            </p:childTnLst>
                          </p:cTn>
                        </p:par>
                        <p:par>
                          <p:cTn id="144" fill="hold">
                            <p:stCondLst>
                              <p:cond delay="1000"/>
                            </p:stCondLst>
                            <p:childTnLst>
                              <p:par>
                                <p:cTn id="145" presetID="22" presetClass="entr" presetSubtype="1" fill="hold" grpId="0" nodeType="afterEffect">
                                  <p:stCondLst>
                                    <p:cond delay="0"/>
                                  </p:stCondLst>
                                  <p:childTnLst>
                                    <p:set>
                                      <p:cBhvr>
                                        <p:cTn id="146" dur="1" fill="hold">
                                          <p:stCondLst>
                                            <p:cond delay="0"/>
                                          </p:stCondLst>
                                        </p:cTn>
                                        <p:tgtEl>
                                          <p:spTgt spid="35873"/>
                                        </p:tgtEl>
                                        <p:attrNameLst>
                                          <p:attrName>style.visibility</p:attrName>
                                        </p:attrNameLst>
                                      </p:cBhvr>
                                      <p:to>
                                        <p:strVal val="visible"/>
                                      </p:to>
                                    </p:set>
                                    <p:animEffect transition="in" filter="wipe(up)">
                                      <p:cBhvr>
                                        <p:cTn id="147" dur="500"/>
                                        <p:tgtEl>
                                          <p:spTgt spid="35873"/>
                                        </p:tgtEl>
                                      </p:cBhvr>
                                    </p:animEffect>
                                  </p:childTnLst>
                                </p:cTn>
                              </p:par>
                            </p:childTnLst>
                          </p:cTn>
                        </p:par>
                      </p:childTnLst>
                    </p:cTn>
                  </p:par>
                  <p:par>
                    <p:cTn id="148" fill="hold">
                      <p:stCondLst>
                        <p:cond delay="indefinite"/>
                      </p:stCondLst>
                      <p:childTnLst>
                        <p:par>
                          <p:cTn id="149" fill="hold">
                            <p:stCondLst>
                              <p:cond delay="0"/>
                            </p:stCondLst>
                            <p:childTnLst>
                              <p:par>
                                <p:cTn id="150" presetID="22" presetClass="entr" presetSubtype="1" fill="hold" grpId="0" nodeType="clickEffect">
                                  <p:stCondLst>
                                    <p:cond delay="0"/>
                                  </p:stCondLst>
                                  <p:childTnLst>
                                    <p:set>
                                      <p:cBhvr>
                                        <p:cTn id="151" dur="1" fill="hold">
                                          <p:stCondLst>
                                            <p:cond delay="0"/>
                                          </p:stCondLst>
                                        </p:cTn>
                                        <p:tgtEl>
                                          <p:spTgt spid="35910"/>
                                        </p:tgtEl>
                                        <p:attrNameLst>
                                          <p:attrName>style.visibility</p:attrName>
                                        </p:attrNameLst>
                                      </p:cBhvr>
                                      <p:to>
                                        <p:strVal val="visible"/>
                                      </p:to>
                                    </p:set>
                                    <p:animEffect transition="in" filter="wipe(up)">
                                      <p:cBhvr>
                                        <p:cTn id="152" dur="500"/>
                                        <p:tgtEl>
                                          <p:spTgt spid="35910"/>
                                        </p:tgtEl>
                                      </p:cBhvr>
                                    </p:animEffect>
                                  </p:childTnLst>
                                </p:cTn>
                              </p:par>
                            </p:childTnLst>
                          </p:cTn>
                        </p:par>
                        <p:par>
                          <p:cTn id="153" fill="hold">
                            <p:stCondLst>
                              <p:cond delay="500"/>
                            </p:stCondLst>
                            <p:childTnLst>
                              <p:par>
                                <p:cTn id="154" presetID="22" presetClass="entr" presetSubtype="1" fill="hold" grpId="0" nodeType="afterEffect">
                                  <p:stCondLst>
                                    <p:cond delay="0"/>
                                  </p:stCondLst>
                                  <p:childTnLst>
                                    <p:set>
                                      <p:cBhvr>
                                        <p:cTn id="155" dur="1" fill="hold">
                                          <p:stCondLst>
                                            <p:cond delay="0"/>
                                          </p:stCondLst>
                                        </p:cTn>
                                        <p:tgtEl>
                                          <p:spTgt spid="35911"/>
                                        </p:tgtEl>
                                        <p:attrNameLst>
                                          <p:attrName>style.visibility</p:attrName>
                                        </p:attrNameLst>
                                      </p:cBhvr>
                                      <p:to>
                                        <p:strVal val="visible"/>
                                      </p:to>
                                    </p:set>
                                    <p:animEffect transition="in" filter="wipe(up)">
                                      <p:cBhvr>
                                        <p:cTn id="156" dur="500"/>
                                        <p:tgtEl>
                                          <p:spTgt spid="35911"/>
                                        </p:tgtEl>
                                      </p:cBhvr>
                                    </p:animEffect>
                                  </p:childTnLst>
                                </p:cTn>
                              </p:par>
                            </p:childTnLst>
                          </p:cTn>
                        </p:par>
                      </p:childTnLst>
                    </p:cTn>
                  </p:par>
                  <p:par>
                    <p:cTn id="157" fill="hold">
                      <p:stCondLst>
                        <p:cond delay="indefinite"/>
                      </p:stCondLst>
                      <p:childTnLst>
                        <p:par>
                          <p:cTn id="158" fill="hold">
                            <p:stCondLst>
                              <p:cond delay="0"/>
                            </p:stCondLst>
                            <p:childTnLst>
                              <p:par>
                                <p:cTn id="159" presetID="2" presetClass="entr" presetSubtype="8" fill="hold" grpId="0" nodeType="clickEffect">
                                  <p:stCondLst>
                                    <p:cond delay="0"/>
                                  </p:stCondLst>
                                  <p:childTnLst>
                                    <p:set>
                                      <p:cBhvr>
                                        <p:cTn id="160" dur="1" fill="hold">
                                          <p:stCondLst>
                                            <p:cond delay="0"/>
                                          </p:stCondLst>
                                        </p:cTn>
                                        <p:tgtEl>
                                          <p:spTgt spid="35909"/>
                                        </p:tgtEl>
                                        <p:attrNameLst>
                                          <p:attrName>style.visibility</p:attrName>
                                        </p:attrNameLst>
                                      </p:cBhvr>
                                      <p:to>
                                        <p:strVal val="visible"/>
                                      </p:to>
                                    </p:set>
                                    <p:anim calcmode="lin" valueType="num">
                                      <p:cBhvr additive="base">
                                        <p:cTn id="161" dur="500" fill="hold"/>
                                        <p:tgtEl>
                                          <p:spTgt spid="35909"/>
                                        </p:tgtEl>
                                        <p:attrNameLst>
                                          <p:attrName>ppt_x</p:attrName>
                                        </p:attrNameLst>
                                      </p:cBhvr>
                                      <p:tavLst>
                                        <p:tav tm="0">
                                          <p:val>
                                            <p:strVal val="0-#ppt_w/2"/>
                                          </p:val>
                                        </p:tav>
                                        <p:tav tm="100000">
                                          <p:val>
                                            <p:strVal val="#ppt_x"/>
                                          </p:val>
                                        </p:tav>
                                      </p:tavLst>
                                    </p:anim>
                                    <p:anim calcmode="lin" valueType="num">
                                      <p:cBhvr additive="base">
                                        <p:cTn id="162" dur="500" fill="hold"/>
                                        <p:tgtEl>
                                          <p:spTgt spid="35909"/>
                                        </p:tgtEl>
                                        <p:attrNameLst>
                                          <p:attrName>ppt_y</p:attrName>
                                        </p:attrNameLst>
                                      </p:cBhvr>
                                      <p:tavLst>
                                        <p:tav tm="0">
                                          <p:val>
                                            <p:strVal val="#ppt_y"/>
                                          </p:val>
                                        </p:tav>
                                        <p:tav tm="100000">
                                          <p:val>
                                            <p:strVal val="#ppt_y"/>
                                          </p:val>
                                        </p:tav>
                                      </p:tavLst>
                                    </p:anim>
                                  </p:childTnLst>
                                </p:cTn>
                              </p:par>
                            </p:childTnLst>
                          </p:cTn>
                        </p:par>
                      </p:childTnLst>
                    </p:cTn>
                  </p:par>
                  <p:par>
                    <p:cTn id="163" fill="hold">
                      <p:stCondLst>
                        <p:cond delay="indefinite"/>
                      </p:stCondLst>
                      <p:childTnLst>
                        <p:par>
                          <p:cTn id="164" fill="hold">
                            <p:stCondLst>
                              <p:cond delay="0"/>
                            </p:stCondLst>
                            <p:childTnLst>
                              <p:par>
                                <p:cTn id="165" presetID="2" presetClass="entr" presetSubtype="8" fill="hold" grpId="0" nodeType="clickEffect">
                                  <p:stCondLst>
                                    <p:cond delay="0"/>
                                  </p:stCondLst>
                                  <p:childTnLst>
                                    <p:set>
                                      <p:cBhvr>
                                        <p:cTn id="166" dur="1" fill="hold">
                                          <p:stCondLst>
                                            <p:cond delay="0"/>
                                          </p:stCondLst>
                                        </p:cTn>
                                        <p:tgtEl>
                                          <p:spTgt spid="35915"/>
                                        </p:tgtEl>
                                        <p:attrNameLst>
                                          <p:attrName>style.visibility</p:attrName>
                                        </p:attrNameLst>
                                      </p:cBhvr>
                                      <p:to>
                                        <p:strVal val="visible"/>
                                      </p:to>
                                    </p:set>
                                    <p:anim calcmode="lin" valueType="num">
                                      <p:cBhvr additive="base">
                                        <p:cTn id="167" dur="500" fill="hold"/>
                                        <p:tgtEl>
                                          <p:spTgt spid="35915"/>
                                        </p:tgtEl>
                                        <p:attrNameLst>
                                          <p:attrName>ppt_x</p:attrName>
                                        </p:attrNameLst>
                                      </p:cBhvr>
                                      <p:tavLst>
                                        <p:tav tm="0">
                                          <p:val>
                                            <p:strVal val="0-#ppt_w/2"/>
                                          </p:val>
                                        </p:tav>
                                        <p:tav tm="100000">
                                          <p:val>
                                            <p:strVal val="#ppt_x"/>
                                          </p:val>
                                        </p:tav>
                                      </p:tavLst>
                                    </p:anim>
                                    <p:anim calcmode="lin" valueType="num">
                                      <p:cBhvr additive="base">
                                        <p:cTn id="168" dur="500" fill="hold"/>
                                        <p:tgtEl>
                                          <p:spTgt spid="35915"/>
                                        </p:tgtEl>
                                        <p:attrNameLst>
                                          <p:attrName>ppt_y</p:attrName>
                                        </p:attrNameLst>
                                      </p:cBhvr>
                                      <p:tavLst>
                                        <p:tav tm="0">
                                          <p:val>
                                            <p:strVal val="#ppt_y"/>
                                          </p:val>
                                        </p:tav>
                                        <p:tav tm="100000">
                                          <p:val>
                                            <p:strVal val="#ppt_y"/>
                                          </p:val>
                                        </p:tav>
                                      </p:tavLst>
                                    </p:anim>
                                  </p:childTnLst>
                                </p:cTn>
                              </p:par>
                            </p:childTnLst>
                          </p:cTn>
                        </p:par>
                        <p:par>
                          <p:cTn id="169" fill="hold">
                            <p:stCondLst>
                              <p:cond delay="500"/>
                            </p:stCondLst>
                            <p:childTnLst>
                              <p:par>
                                <p:cTn id="170" presetID="22" presetClass="entr" presetSubtype="8" fill="hold" grpId="0" nodeType="afterEffect">
                                  <p:stCondLst>
                                    <p:cond delay="0"/>
                                  </p:stCondLst>
                                  <p:childTnLst>
                                    <p:set>
                                      <p:cBhvr>
                                        <p:cTn id="171" dur="1" fill="hold">
                                          <p:stCondLst>
                                            <p:cond delay="0"/>
                                          </p:stCondLst>
                                        </p:cTn>
                                        <p:tgtEl>
                                          <p:spTgt spid="35875"/>
                                        </p:tgtEl>
                                        <p:attrNameLst>
                                          <p:attrName>style.visibility</p:attrName>
                                        </p:attrNameLst>
                                      </p:cBhvr>
                                      <p:to>
                                        <p:strVal val="visible"/>
                                      </p:to>
                                    </p:set>
                                    <p:animEffect transition="in" filter="wipe(left)">
                                      <p:cBhvr>
                                        <p:cTn id="172" dur="500"/>
                                        <p:tgtEl>
                                          <p:spTgt spid="35875"/>
                                        </p:tgtEl>
                                      </p:cBhvr>
                                    </p:animEffect>
                                  </p:childTnLst>
                                </p:cTn>
                              </p:par>
                            </p:childTnLst>
                          </p:cTn>
                        </p:par>
                        <p:par>
                          <p:cTn id="173" fill="hold">
                            <p:stCondLst>
                              <p:cond delay="1000"/>
                            </p:stCondLst>
                            <p:childTnLst>
                              <p:par>
                                <p:cTn id="174" presetID="22" presetClass="entr" presetSubtype="8" fill="hold" grpId="0" nodeType="afterEffect">
                                  <p:stCondLst>
                                    <p:cond delay="0"/>
                                  </p:stCondLst>
                                  <p:childTnLst>
                                    <p:set>
                                      <p:cBhvr>
                                        <p:cTn id="175" dur="1" fill="hold">
                                          <p:stCondLst>
                                            <p:cond delay="0"/>
                                          </p:stCondLst>
                                        </p:cTn>
                                        <p:tgtEl>
                                          <p:spTgt spid="35882"/>
                                        </p:tgtEl>
                                        <p:attrNameLst>
                                          <p:attrName>style.visibility</p:attrName>
                                        </p:attrNameLst>
                                      </p:cBhvr>
                                      <p:to>
                                        <p:strVal val="visible"/>
                                      </p:to>
                                    </p:set>
                                    <p:animEffect transition="in" filter="wipe(left)">
                                      <p:cBhvr>
                                        <p:cTn id="176" dur="500"/>
                                        <p:tgtEl>
                                          <p:spTgt spid="35882"/>
                                        </p:tgtEl>
                                      </p:cBhvr>
                                    </p:animEffect>
                                  </p:childTnLst>
                                </p:cTn>
                              </p:par>
                            </p:childTnLst>
                          </p:cTn>
                        </p:par>
                        <p:par>
                          <p:cTn id="177" fill="hold">
                            <p:stCondLst>
                              <p:cond delay="1500"/>
                            </p:stCondLst>
                            <p:childTnLst>
                              <p:par>
                                <p:cTn id="178" presetID="1" presetClass="entr" presetSubtype="0" fill="hold" grpId="0" nodeType="afterEffect">
                                  <p:stCondLst>
                                    <p:cond delay="0"/>
                                  </p:stCondLst>
                                  <p:childTnLst>
                                    <p:set>
                                      <p:cBhvr>
                                        <p:cTn id="179" dur="1" fill="hold">
                                          <p:stCondLst>
                                            <p:cond delay="499"/>
                                          </p:stCondLst>
                                        </p:cTn>
                                        <p:tgtEl>
                                          <p:spTgt spid="35876"/>
                                        </p:tgtEl>
                                        <p:attrNameLst>
                                          <p:attrName>style.visibility</p:attrName>
                                        </p:attrNameLst>
                                      </p:cBhvr>
                                      <p:to>
                                        <p:strVal val="visible"/>
                                      </p:to>
                                    </p:set>
                                  </p:childTnLst>
                                </p:cTn>
                              </p:par>
                            </p:childTnLst>
                          </p:cTn>
                        </p:par>
                        <p:par>
                          <p:cTn id="180" fill="hold">
                            <p:stCondLst>
                              <p:cond delay="2000"/>
                            </p:stCondLst>
                            <p:childTnLst>
                              <p:par>
                                <p:cTn id="181" presetID="1" presetClass="entr" presetSubtype="0" fill="hold" grpId="0" nodeType="afterEffect">
                                  <p:stCondLst>
                                    <p:cond delay="0"/>
                                  </p:stCondLst>
                                  <p:childTnLst>
                                    <p:set>
                                      <p:cBhvr>
                                        <p:cTn id="182" dur="1" fill="hold">
                                          <p:stCondLst>
                                            <p:cond delay="499"/>
                                          </p:stCondLst>
                                        </p:cTn>
                                        <p:tgtEl>
                                          <p:spTgt spid="35877"/>
                                        </p:tgtEl>
                                        <p:attrNameLst>
                                          <p:attrName>style.visibility</p:attrName>
                                        </p:attrNameLst>
                                      </p:cBhvr>
                                      <p:to>
                                        <p:strVal val="visible"/>
                                      </p:to>
                                    </p:set>
                                  </p:childTnLst>
                                </p:cTn>
                              </p:par>
                            </p:childTnLst>
                          </p:cTn>
                        </p:par>
                        <p:par>
                          <p:cTn id="183" fill="hold">
                            <p:stCondLst>
                              <p:cond delay="2500"/>
                            </p:stCondLst>
                            <p:childTnLst>
                              <p:par>
                                <p:cTn id="184" presetID="1" presetClass="entr" presetSubtype="0" fill="hold" grpId="0" nodeType="afterEffect">
                                  <p:stCondLst>
                                    <p:cond delay="0"/>
                                  </p:stCondLst>
                                  <p:childTnLst>
                                    <p:set>
                                      <p:cBhvr>
                                        <p:cTn id="185" dur="1" fill="hold">
                                          <p:stCondLst>
                                            <p:cond delay="499"/>
                                          </p:stCondLst>
                                        </p:cTn>
                                        <p:tgtEl>
                                          <p:spTgt spid="35878"/>
                                        </p:tgtEl>
                                        <p:attrNameLst>
                                          <p:attrName>style.visibility</p:attrName>
                                        </p:attrNameLst>
                                      </p:cBhvr>
                                      <p:to>
                                        <p:strVal val="visible"/>
                                      </p:to>
                                    </p:set>
                                  </p:childTnLst>
                                </p:cTn>
                              </p:par>
                            </p:childTnLst>
                          </p:cTn>
                        </p:par>
                        <p:par>
                          <p:cTn id="186" fill="hold">
                            <p:stCondLst>
                              <p:cond delay="3000"/>
                            </p:stCondLst>
                            <p:childTnLst>
                              <p:par>
                                <p:cTn id="187" presetID="1" presetClass="entr" presetSubtype="0" fill="hold" grpId="0" nodeType="afterEffect">
                                  <p:stCondLst>
                                    <p:cond delay="0"/>
                                  </p:stCondLst>
                                  <p:childTnLst>
                                    <p:set>
                                      <p:cBhvr>
                                        <p:cTn id="188" dur="1" fill="hold">
                                          <p:stCondLst>
                                            <p:cond delay="499"/>
                                          </p:stCondLst>
                                        </p:cTn>
                                        <p:tgtEl>
                                          <p:spTgt spid="35879"/>
                                        </p:tgtEl>
                                        <p:attrNameLst>
                                          <p:attrName>style.visibility</p:attrName>
                                        </p:attrNameLst>
                                      </p:cBhvr>
                                      <p:to>
                                        <p:strVal val="visible"/>
                                      </p:to>
                                    </p:set>
                                  </p:childTnLst>
                                </p:cTn>
                              </p:par>
                            </p:childTnLst>
                          </p:cTn>
                        </p:par>
                        <p:par>
                          <p:cTn id="189" fill="hold">
                            <p:stCondLst>
                              <p:cond delay="3500"/>
                            </p:stCondLst>
                            <p:childTnLst>
                              <p:par>
                                <p:cTn id="190" presetID="1" presetClass="entr" presetSubtype="0" fill="hold" grpId="0" nodeType="afterEffect">
                                  <p:stCondLst>
                                    <p:cond delay="0"/>
                                  </p:stCondLst>
                                  <p:childTnLst>
                                    <p:set>
                                      <p:cBhvr>
                                        <p:cTn id="191" dur="1" fill="hold">
                                          <p:stCondLst>
                                            <p:cond delay="499"/>
                                          </p:stCondLst>
                                        </p:cTn>
                                        <p:tgtEl>
                                          <p:spTgt spid="35880"/>
                                        </p:tgtEl>
                                        <p:attrNameLst>
                                          <p:attrName>style.visibility</p:attrName>
                                        </p:attrNameLst>
                                      </p:cBhvr>
                                      <p:to>
                                        <p:strVal val="visible"/>
                                      </p:to>
                                    </p:set>
                                  </p:childTnLst>
                                </p:cTn>
                              </p:par>
                            </p:childTnLst>
                          </p:cTn>
                        </p:par>
                        <p:par>
                          <p:cTn id="192" fill="hold">
                            <p:stCondLst>
                              <p:cond delay="4000"/>
                            </p:stCondLst>
                            <p:childTnLst>
                              <p:par>
                                <p:cTn id="193" presetID="1" presetClass="entr" presetSubtype="0" fill="hold" grpId="0" nodeType="afterEffect">
                                  <p:stCondLst>
                                    <p:cond delay="0"/>
                                  </p:stCondLst>
                                  <p:childTnLst>
                                    <p:set>
                                      <p:cBhvr>
                                        <p:cTn id="194" dur="1" fill="hold">
                                          <p:stCondLst>
                                            <p:cond delay="499"/>
                                          </p:stCondLst>
                                        </p:cTn>
                                        <p:tgtEl>
                                          <p:spTgt spid="35881"/>
                                        </p:tgtEl>
                                        <p:attrNameLst>
                                          <p:attrName>style.visibility</p:attrName>
                                        </p:attrNameLst>
                                      </p:cBhvr>
                                      <p:to>
                                        <p:strVal val="visible"/>
                                      </p:to>
                                    </p:set>
                                  </p:childTnLst>
                                </p:cTn>
                              </p:par>
                            </p:childTnLst>
                          </p:cTn>
                        </p:par>
                        <p:par>
                          <p:cTn id="195" fill="hold">
                            <p:stCondLst>
                              <p:cond delay="4500"/>
                            </p:stCondLst>
                            <p:childTnLst>
                              <p:par>
                                <p:cTn id="196" presetID="1" presetClass="entr" presetSubtype="0" fill="hold" grpId="0" nodeType="afterEffect">
                                  <p:stCondLst>
                                    <p:cond delay="0"/>
                                  </p:stCondLst>
                                  <p:childTnLst>
                                    <p:set>
                                      <p:cBhvr>
                                        <p:cTn id="197" dur="1" fill="hold">
                                          <p:stCondLst>
                                            <p:cond delay="499"/>
                                          </p:stCondLst>
                                        </p:cTn>
                                        <p:tgtEl>
                                          <p:spTgt spid="35883"/>
                                        </p:tgtEl>
                                        <p:attrNameLst>
                                          <p:attrName>style.visibility</p:attrName>
                                        </p:attrNameLst>
                                      </p:cBhvr>
                                      <p:to>
                                        <p:strVal val="visible"/>
                                      </p:to>
                                    </p:set>
                                  </p:childTnLst>
                                </p:cTn>
                              </p:par>
                            </p:childTnLst>
                          </p:cTn>
                        </p:par>
                        <p:par>
                          <p:cTn id="198" fill="hold">
                            <p:stCondLst>
                              <p:cond delay="5000"/>
                            </p:stCondLst>
                            <p:childTnLst>
                              <p:par>
                                <p:cTn id="199" presetID="1" presetClass="entr" presetSubtype="0" fill="hold" grpId="0" nodeType="afterEffect">
                                  <p:stCondLst>
                                    <p:cond delay="0"/>
                                  </p:stCondLst>
                                  <p:childTnLst>
                                    <p:set>
                                      <p:cBhvr>
                                        <p:cTn id="200" dur="1" fill="hold">
                                          <p:stCondLst>
                                            <p:cond delay="499"/>
                                          </p:stCondLst>
                                        </p:cTn>
                                        <p:tgtEl>
                                          <p:spTgt spid="35884"/>
                                        </p:tgtEl>
                                        <p:attrNameLst>
                                          <p:attrName>style.visibility</p:attrName>
                                        </p:attrNameLst>
                                      </p:cBhvr>
                                      <p:to>
                                        <p:strVal val="visible"/>
                                      </p:to>
                                    </p:set>
                                  </p:childTnLst>
                                </p:cTn>
                              </p:par>
                            </p:childTnLst>
                          </p:cTn>
                        </p:par>
                      </p:childTnLst>
                    </p:cTn>
                  </p:par>
                  <p:par>
                    <p:cTn id="201" fill="hold">
                      <p:stCondLst>
                        <p:cond delay="indefinite"/>
                      </p:stCondLst>
                      <p:childTnLst>
                        <p:par>
                          <p:cTn id="202" fill="hold">
                            <p:stCondLst>
                              <p:cond delay="0"/>
                            </p:stCondLst>
                            <p:childTnLst>
                              <p:par>
                                <p:cTn id="203" presetID="22" presetClass="entr" presetSubtype="1" fill="hold" grpId="0" nodeType="clickEffect">
                                  <p:stCondLst>
                                    <p:cond delay="0"/>
                                  </p:stCondLst>
                                  <p:childTnLst>
                                    <p:set>
                                      <p:cBhvr>
                                        <p:cTn id="204" dur="1" fill="hold">
                                          <p:stCondLst>
                                            <p:cond delay="0"/>
                                          </p:stCondLst>
                                        </p:cTn>
                                        <p:tgtEl>
                                          <p:spTgt spid="35885"/>
                                        </p:tgtEl>
                                        <p:attrNameLst>
                                          <p:attrName>style.visibility</p:attrName>
                                        </p:attrNameLst>
                                      </p:cBhvr>
                                      <p:to>
                                        <p:strVal val="visible"/>
                                      </p:to>
                                    </p:set>
                                    <p:animEffect transition="in" filter="wipe(up)">
                                      <p:cBhvr>
                                        <p:cTn id="205" dur="500"/>
                                        <p:tgtEl>
                                          <p:spTgt spid="35885"/>
                                        </p:tgtEl>
                                      </p:cBhvr>
                                    </p:animEffect>
                                  </p:childTnLst>
                                </p:cTn>
                              </p:par>
                            </p:childTnLst>
                          </p:cTn>
                        </p:par>
                        <p:par>
                          <p:cTn id="206" fill="hold">
                            <p:stCondLst>
                              <p:cond delay="500"/>
                            </p:stCondLst>
                            <p:childTnLst>
                              <p:par>
                                <p:cTn id="207" presetID="22" presetClass="entr" presetSubtype="1" fill="hold" grpId="0" nodeType="afterEffect">
                                  <p:stCondLst>
                                    <p:cond delay="0"/>
                                  </p:stCondLst>
                                  <p:childTnLst>
                                    <p:set>
                                      <p:cBhvr>
                                        <p:cTn id="208" dur="1" fill="hold">
                                          <p:stCondLst>
                                            <p:cond delay="0"/>
                                          </p:stCondLst>
                                        </p:cTn>
                                        <p:tgtEl>
                                          <p:spTgt spid="35886"/>
                                        </p:tgtEl>
                                        <p:attrNameLst>
                                          <p:attrName>style.visibility</p:attrName>
                                        </p:attrNameLst>
                                      </p:cBhvr>
                                      <p:to>
                                        <p:strVal val="visible"/>
                                      </p:to>
                                    </p:set>
                                    <p:animEffect transition="in" filter="wipe(up)">
                                      <p:cBhvr>
                                        <p:cTn id="209" dur="500"/>
                                        <p:tgtEl>
                                          <p:spTgt spid="35886"/>
                                        </p:tgtEl>
                                      </p:cBhvr>
                                    </p:animEffect>
                                  </p:childTnLst>
                                </p:cTn>
                              </p:par>
                            </p:childTnLst>
                          </p:cTn>
                        </p:par>
                      </p:childTnLst>
                    </p:cTn>
                  </p:par>
                  <p:par>
                    <p:cTn id="210" fill="hold">
                      <p:stCondLst>
                        <p:cond delay="indefinite"/>
                      </p:stCondLst>
                      <p:childTnLst>
                        <p:par>
                          <p:cTn id="211" fill="hold">
                            <p:stCondLst>
                              <p:cond delay="0"/>
                            </p:stCondLst>
                            <p:childTnLst>
                              <p:par>
                                <p:cTn id="212" presetID="22" presetClass="entr" presetSubtype="1" fill="hold" grpId="0" nodeType="clickEffect">
                                  <p:stCondLst>
                                    <p:cond delay="0"/>
                                  </p:stCondLst>
                                  <p:childTnLst>
                                    <p:set>
                                      <p:cBhvr>
                                        <p:cTn id="213" dur="1" fill="hold">
                                          <p:stCondLst>
                                            <p:cond delay="0"/>
                                          </p:stCondLst>
                                        </p:cTn>
                                        <p:tgtEl>
                                          <p:spTgt spid="35887"/>
                                        </p:tgtEl>
                                        <p:attrNameLst>
                                          <p:attrName>style.visibility</p:attrName>
                                        </p:attrNameLst>
                                      </p:cBhvr>
                                      <p:to>
                                        <p:strVal val="visible"/>
                                      </p:to>
                                    </p:set>
                                    <p:animEffect transition="in" filter="wipe(up)">
                                      <p:cBhvr>
                                        <p:cTn id="214" dur="500"/>
                                        <p:tgtEl>
                                          <p:spTgt spid="35887"/>
                                        </p:tgtEl>
                                      </p:cBhvr>
                                    </p:animEffect>
                                  </p:childTnLst>
                                </p:cTn>
                              </p:par>
                            </p:childTnLst>
                          </p:cTn>
                        </p:par>
                        <p:par>
                          <p:cTn id="215" fill="hold">
                            <p:stCondLst>
                              <p:cond delay="500"/>
                            </p:stCondLst>
                            <p:childTnLst>
                              <p:par>
                                <p:cTn id="216" presetID="22" presetClass="entr" presetSubtype="1" fill="hold" grpId="0" nodeType="afterEffect">
                                  <p:stCondLst>
                                    <p:cond delay="0"/>
                                  </p:stCondLst>
                                  <p:childTnLst>
                                    <p:set>
                                      <p:cBhvr>
                                        <p:cTn id="217" dur="1" fill="hold">
                                          <p:stCondLst>
                                            <p:cond delay="0"/>
                                          </p:stCondLst>
                                        </p:cTn>
                                        <p:tgtEl>
                                          <p:spTgt spid="35888"/>
                                        </p:tgtEl>
                                        <p:attrNameLst>
                                          <p:attrName>style.visibility</p:attrName>
                                        </p:attrNameLst>
                                      </p:cBhvr>
                                      <p:to>
                                        <p:strVal val="visible"/>
                                      </p:to>
                                    </p:set>
                                    <p:animEffect transition="in" filter="wipe(up)">
                                      <p:cBhvr>
                                        <p:cTn id="218" dur="500"/>
                                        <p:tgtEl>
                                          <p:spTgt spid="35888"/>
                                        </p:tgtEl>
                                      </p:cBhvr>
                                    </p:animEffect>
                                  </p:childTnLst>
                                </p:cTn>
                              </p:par>
                            </p:childTnLst>
                          </p:cTn>
                        </p:par>
                      </p:childTnLst>
                    </p:cTn>
                  </p:par>
                  <p:par>
                    <p:cTn id="219" fill="hold">
                      <p:stCondLst>
                        <p:cond delay="indefinite"/>
                      </p:stCondLst>
                      <p:childTnLst>
                        <p:par>
                          <p:cTn id="220" fill="hold">
                            <p:stCondLst>
                              <p:cond delay="0"/>
                            </p:stCondLst>
                            <p:childTnLst>
                              <p:par>
                                <p:cTn id="221" presetID="22" presetClass="entr" presetSubtype="1" fill="hold" grpId="0" nodeType="clickEffect">
                                  <p:stCondLst>
                                    <p:cond delay="0"/>
                                  </p:stCondLst>
                                  <p:childTnLst>
                                    <p:set>
                                      <p:cBhvr>
                                        <p:cTn id="222" dur="1" fill="hold">
                                          <p:stCondLst>
                                            <p:cond delay="0"/>
                                          </p:stCondLst>
                                        </p:cTn>
                                        <p:tgtEl>
                                          <p:spTgt spid="35889"/>
                                        </p:tgtEl>
                                        <p:attrNameLst>
                                          <p:attrName>style.visibility</p:attrName>
                                        </p:attrNameLst>
                                      </p:cBhvr>
                                      <p:to>
                                        <p:strVal val="visible"/>
                                      </p:to>
                                    </p:set>
                                    <p:animEffect transition="in" filter="wipe(up)">
                                      <p:cBhvr>
                                        <p:cTn id="223" dur="500"/>
                                        <p:tgtEl>
                                          <p:spTgt spid="35889"/>
                                        </p:tgtEl>
                                      </p:cBhvr>
                                    </p:animEffect>
                                  </p:childTnLst>
                                </p:cTn>
                              </p:par>
                            </p:childTnLst>
                          </p:cTn>
                        </p:par>
                        <p:par>
                          <p:cTn id="224" fill="hold">
                            <p:stCondLst>
                              <p:cond delay="500"/>
                            </p:stCondLst>
                            <p:childTnLst>
                              <p:par>
                                <p:cTn id="225" presetID="22" presetClass="entr" presetSubtype="1" fill="hold" grpId="0" nodeType="afterEffect">
                                  <p:stCondLst>
                                    <p:cond delay="0"/>
                                  </p:stCondLst>
                                  <p:childTnLst>
                                    <p:set>
                                      <p:cBhvr>
                                        <p:cTn id="226" dur="1" fill="hold">
                                          <p:stCondLst>
                                            <p:cond delay="0"/>
                                          </p:stCondLst>
                                        </p:cTn>
                                        <p:tgtEl>
                                          <p:spTgt spid="35890"/>
                                        </p:tgtEl>
                                        <p:attrNameLst>
                                          <p:attrName>style.visibility</p:attrName>
                                        </p:attrNameLst>
                                      </p:cBhvr>
                                      <p:to>
                                        <p:strVal val="visible"/>
                                      </p:to>
                                    </p:set>
                                    <p:animEffect transition="in" filter="wipe(up)">
                                      <p:cBhvr>
                                        <p:cTn id="227" dur="500"/>
                                        <p:tgtEl>
                                          <p:spTgt spid="35890"/>
                                        </p:tgtEl>
                                      </p:cBhvr>
                                    </p:animEffect>
                                  </p:childTnLst>
                                </p:cTn>
                              </p:par>
                            </p:childTnLst>
                          </p:cTn>
                        </p:par>
                      </p:childTnLst>
                    </p:cTn>
                  </p:par>
                  <p:par>
                    <p:cTn id="228" fill="hold">
                      <p:stCondLst>
                        <p:cond delay="indefinite"/>
                      </p:stCondLst>
                      <p:childTnLst>
                        <p:par>
                          <p:cTn id="229" fill="hold">
                            <p:stCondLst>
                              <p:cond delay="0"/>
                            </p:stCondLst>
                            <p:childTnLst>
                              <p:par>
                                <p:cTn id="230" presetID="22" presetClass="entr" presetSubtype="1" fill="hold" grpId="0" nodeType="clickEffect">
                                  <p:stCondLst>
                                    <p:cond delay="0"/>
                                  </p:stCondLst>
                                  <p:childTnLst>
                                    <p:set>
                                      <p:cBhvr>
                                        <p:cTn id="231" dur="1" fill="hold">
                                          <p:stCondLst>
                                            <p:cond delay="0"/>
                                          </p:stCondLst>
                                        </p:cTn>
                                        <p:tgtEl>
                                          <p:spTgt spid="35891"/>
                                        </p:tgtEl>
                                        <p:attrNameLst>
                                          <p:attrName>style.visibility</p:attrName>
                                        </p:attrNameLst>
                                      </p:cBhvr>
                                      <p:to>
                                        <p:strVal val="visible"/>
                                      </p:to>
                                    </p:set>
                                    <p:animEffect transition="in" filter="wipe(up)">
                                      <p:cBhvr>
                                        <p:cTn id="232" dur="500"/>
                                        <p:tgtEl>
                                          <p:spTgt spid="35891"/>
                                        </p:tgtEl>
                                      </p:cBhvr>
                                    </p:animEffect>
                                  </p:childTnLst>
                                </p:cTn>
                              </p:par>
                            </p:childTnLst>
                          </p:cTn>
                        </p:par>
                        <p:par>
                          <p:cTn id="233" fill="hold">
                            <p:stCondLst>
                              <p:cond delay="500"/>
                            </p:stCondLst>
                            <p:childTnLst>
                              <p:par>
                                <p:cTn id="234" presetID="22" presetClass="entr" presetSubtype="1" fill="hold" grpId="0" nodeType="afterEffect">
                                  <p:stCondLst>
                                    <p:cond delay="0"/>
                                  </p:stCondLst>
                                  <p:childTnLst>
                                    <p:set>
                                      <p:cBhvr>
                                        <p:cTn id="235" dur="1" fill="hold">
                                          <p:stCondLst>
                                            <p:cond delay="0"/>
                                          </p:stCondLst>
                                        </p:cTn>
                                        <p:tgtEl>
                                          <p:spTgt spid="35892"/>
                                        </p:tgtEl>
                                        <p:attrNameLst>
                                          <p:attrName>style.visibility</p:attrName>
                                        </p:attrNameLst>
                                      </p:cBhvr>
                                      <p:to>
                                        <p:strVal val="visible"/>
                                      </p:to>
                                    </p:set>
                                    <p:animEffect transition="in" filter="wipe(up)">
                                      <p:cBhvr>
                                        <p:cTn id="236" dur="500"/>
                                        <p:tgtEl>
                                          <p:spTgt spid="35892"/>
                                        </p:tgtEl>
                                      </p:cBhvr>
                                    </p:animEffect>
                                  </p:childTnLst>
                                </p:cTn>
                              </p:par>
                            </p:childTnLst>
                          </p:cTn>
                        </p:par>
                      </p:childTnLst>
                    </p:cTn>
                  </p:par>
                  <p:par>
                    <p:cTn id="237" fill="hold">
                      <p:stCondLst>
                        <p:cond delay="indefinite"/>
                      </p:stCondLst>
                      <p:childTnLst>
                        <p:par>
                          <p:cTn id="238" fill="hold">
                            <p:stCondLst>
                              <p:cond delay="0"/>
                            </p:stCondLst>
                            <p:childTnLst>
                              <p:par>
                                <p:cTn id="239" presetID="22" presetClass="entr" presetSubtype="1" fill="hold" grpId="0" nodeType="clickEffect">
                                  <p:stCondLst>
                                    <p:cond delay="0"/>
                                  </p:stCondLst>
                                  <p:childTnLst>
                                    <p:set>
                                      <p:cBhvr>
                                        <p:cTn id="240" dur="1" fill="hold">
                                          <p:stCondLst>
                                            <p:cond delay="0"/>
                                          </p:stCondLst>
                                        </p:cTn>
                                        <p:tgtEl>
                                          <p:spTgt spid="35895"/>
                                        </p:tgtEl>
                                        <p:attrNameLst>
                                          <p:attrName>style.visibility</p:attrName>
                                        </p:attrNameLst>
                                      </p:cBhvr>
                                      <p:to>
                                        <p:strVal val="visible"/>
                                      </p:to>
                                    </p:set>
                                    <p:animEffect transition="in" filter="wipe(up)">
                                      <p:cBhvr>
                                        <p:cTn id="241" dur="500"/>
                                        <p:tgtEl>
                                          <p:spTgt spid="35895"/>
                                        </p:tgtEl>
                                      </p:cBhvr>
                                    </p:animEffect>
                                  </p:childTnLst>
                                </p:cTn>
                              </p:par>
                            </p:childTnLst>
                          </p:cTn>
                        </p:par>
                        <p:par>
                          <p:cTn id="242" fill="hold">
                            <p:stCondLst>
                              <p:cond delay="500"/>
                            </p:stCondLst>
                            <p:childTnLst>
                              <p:par>
                                <p:cTn id="243" presetID="22" presetClass="entr" presetSubtype="1" fill="hold" grpId="0" nodeType="afterEffect">
                                  <p:stCondLst>
                                    <p:cond delay="0"/>
                                  </p:stCondLst>
                                  <p:childTnLst>
                                    <p:set>
                                      <p:cBhvr>
                                        <p:cTn id="244" dur="1" fill="hold">
                                          <p:stCondLst>
                                            <p:cond delay="0"/>
                                          </p:stCondLst>
                                        </p:cTn>
                                        <p:tgtEl>
                                          <p:spTgt spid="35893"/>
                                        </p:tgtEl>
                                        <p:attrNameLst>
                                          <p:attrName>style.visibility</p:attrName>
                                        </p:attrNameLst>
                                      </p:cBhvr>
                                      <p:to>
                                        <p:strVal val="visible"/>
                                      </p:to>
                                    </p:set>
                                    <p:animEffect transition="in" filter="wipe(up)">
                                      <p:cBhvr>
                                        <p:cTn id="245" dur="500"/>
                                        <p:tgtEl>
                                          <p:spTgt spid="35893"/>
                                        </p:tgtEl>
                                      </p:cBhvr>
                                    </p:animEffect>
                                  </p:childTnLst>
                                </p:cTn>
                              </p:par>
                            </p:childTnLst>
                          </p:cTn>
                        </p:par>
                        <p:par>
                          <p:cTn id="246" fill="hold">
                            <p:stCondLst>
                              <p:cond delay="1000"/>
                            </p:stCondLst>
                            <p:childTnLst>
                              <p:par>
                                <p:cTn id="247" presetID="22" presetClass="entr" presetSubtype="1" fill="hold" grpId="0" nodeType="afterEffect">
                                  <p:stCondLst>
                                    <p:cond delay="0"/>
                                  </p:stCondLst>
                                  <p:childTnLst>
                                    <p:set>
                                      <p:cBhvr>
                                        <p:cTn id="248" dur="1" fill="hold">
                                          <p:stCondLst>
                                            <p:cond delay="0"/>
                                          </p:stCondLst>
                                        </p:cTn>
                                        <p:tgtEl>
                                          <p:spTgt spid="35894"/>
                                        </p:tgtEl>
                                        <p:attrNameLst>
                                          <p:attrName>style.visibility</p:attrName>
                                        </p:attrNameLst>
                                      </p:cBhvr>
                                      <p:to>
                                        <p:strVal val="visible"/>
                                      </p:to>
                                    </p:set>
                                    <p:animEffect transition="in" filter="wipe(up)">
                                      <p:cBhvr>
                                        <p:cTn id="249" dur="500"/>
                                        <p:tgtEl>
                                          <p:spTgt spid="35894"/>
                                        </p:tgtEl>
                                      </p:cBhvr>
                                    </p:animEffect>
                                  </p:childTnLst>
                                </p:cTn>
                              </p:par>
                            </p:childTnLst>
                          </p:cTn>
                        </p:par>
                      </p:childTnLst>
                    </p:cTn>
                  </p:par>
                  <p:par>
                    <p:cTn id="250" fill="hold">
                      <p:stCondLst>
                        <p:cond delay="indefinite"/>
                      </p:stCondLst>
                      <p:childTnLst>
                        <p:par>
                          <p:cTn id="251" fill="hold">
                            <p:stCondLst>
                              <p:cond delay="0"/>
                            </p:stCondLst>
                            <p:childTnLst>
                              <p:par>
                                <p:cTn id="252" presetID="22" presetClass="entr" presetSubtype="1" fill="hold" grpId="0" nodeType="clickEffect">
                                  <p:stCondLst>
                                    <p:cond delay="0"/>
                                  </p:stCondLst>
                                  <p:childTnLst>
                                    <p:set>
                                      <p:cBhvr>
                                        <p:cTn id="253" dur="1" fill="hold">
                                          <p:stCondLst>
                                            <p:cond delay="0"/>
                                          </p:stCondLst>
                                        </p:cTn>
                                        <p:tgtEl>
                                          <p:spTgt spid="35900"/>
                                        </p:tgtEl>
                                        <p:attrNameLst>
                                          <p:attrName>style.visibility</p:attrName>
                                        </p:attrNameLst>
                                      </p:cBhvr>
                                      <p:to>
                                        <p:strVal val="visible"/>
                                      </p:to>
                                    </p:set>
                                    <p:animEffect transition="in" filter="wipe(up)">
                                      <p:cBhvr>
                                        <p:cTn id="254" dur="500"/>
                                        <p:tgtEl>
                                          <p:spTgt spid="35900"/>
                                        </p:tgtEl>
                                      </p:cBhvr>
                                    </p:animEffect>
                                  </p:childTnLst>
                                </p:cTn>
                              </p:par>
                            </p:childTnLst>
                          </p:cTn>
                        </p:par>
                        <p:par>
                          <p:cTn id="255" fill="hold">
                            <p:stCondLst>
                              <p:cond delay="500"/>
                            </p:stCondLst>
                            <p:childTnLst>
                              <p:par>
                                <p:cTn id="256" presetID="22" presetClass="entr" presetSubtype="1" fill="hold" grpId="0" nodeType="afterEffect">
                                  <p:stCondLst>
                                    <p:cond delay="0"/>
                                  </p:stCondLst>
                                  <p:childTnLst>
                                    <p:set>
                                      <p:cBhvr>
                                        <p:cTn id="257" dur="1" fill="hold">
                                          <p:stCondLst>
                                            <p:cond delay="0"/>
                                          </p:stCondLst>
                                        </p:cTn>
                                        <p:tgtEl>
                                          <p:spTgt spid="35896"/>
                                        </p:tgtEl>
                                        <p:attrNameLst>
                                          <p:attrName>style.visibility</p:attrName>
                                        </p:attrNameLst>
                                      </p:cBhvr>
                                      <p:to>
                                        <p:strVal val="visible"/>
                                      </p:to>
                                    </p:set>
                                    <p:animEffect transition="in" filter="wipe(up)">
                                      <p:cBhvr>
                                        <p:cTn id="258" dur="500"/>
                                        <p:tgtEl>
                                          <p:spTgt spid="35896"/>
                                        </p:tgtEl>
                                      </p:cBhvr>
                                    </p:animEffect>
                                  </p:childTnLst>
                                </p:cTn>
                              </p:par>
                            </p:childTnLst>
                          </p:cTn>
                        </p:par>
                        <p:par>
                          <p:cTn id="259" fill="hold">
                            <p:stCondLst>
                              <p:cond delay="1000"/>
                            </p:stCondLst>
                            <p:childTnLst>
                              <p:par>
                                <p:cTn id="260" presetID="22" presetClass="entr" presetSubtype="1" fill="hold" grpId="0" nodeType="afterEffect">
                                  <p:stCondLst>
                                    <p:cond delay="0"/>
                                  </p:stCondLst>
                                  <p:childTnLst>
                                    <p:set>
                                      <p:cBhvr>
                                        <p:cTn id="261" dur="1" fill="hold">
                                          <p:stCondLst>
                                            <p:cond delay="0"/>
                                          </p:stCondLst>
                                        </p:cTn>
                                        <p:tgtEl>
                                          <p:spTgt spid="35897"/>
                                        </p:tgtEl>
                                        <p:attrNameLst>
                                          <p:attrName>style.visibility</p:attrName>
                                        </p:attrNameLst>
                                      </p:cBhvr>
                                      <p:to>
                                        <p:strVal val="visible"/>
                                      </p:to>
                                    </p:set>
                                    <p:animEffect transition="in" filter="wipe(up)">
                                      <p:cBhvr>
                                        <p:cTn id="262" dur="500"/>
                                        <p:tgtEl>
                                          <p:spTgt spid="35897"/>
                                        </p:tgtEl>
                                      </p:cBhvr>
                                    </p:animEffect>
                                  </p:childTnLst>
                                </p:cTn>
                              </p:par>
                            </p:childTnLst>
                          </p:cTn>
                        </p:par>
                      </p:childTnLst>
                    </p:cTn>
                  </p:par>
                  <p:par>
                    <p:cTn id="263" fill="hold">
                      <p:stCondLst>
                        <p:cond delay="indefinite"/>
                      </p:stCondLst>
                      <p:childTnLst>
                        <p:par>
                          <p:cTn id="264" fill="hold">
                            <p:stCondLst>
                              <p:cond delay="0"/>
                            </p:stCondLst>
                            <p:childTnLst>
                              <p:par>
                                <p:cTn id="265" presetID="22" presetClass="entr" presetSubtype="1" fill="hold" grpId="0" nodeType="clickEffect">
                                  <p:stCondLst>
                                    <p:cond delay="0"/>
                                  </p:stCondLst>
                                  <p:childTnLst>
                                    <p:set>
                                      <p:cBhvr>
                                        <p:cTn id="266" dur="1" fill="hold">
                                          <p:stCondLst>
                                            <p:cond delay="0"/>
                                          </p:stCondLst>
                                        </p:cTn>
                                        <p:tgtEl>
                                          <p:spTgt spid="35901"/>
                                        </p:tgtEl>
                                        <p:attrNameLst>
                                          <p:attrName>style.visibility</p:attrName>
                                        </p:attrNameLst>
                                      </p:cBhvr>
                                      <p:to>
                                        <p:strVal val="visible"/>
                                      </p:to>
                                    </p:set>
                                    <p:animEffect transition="in" filter="wipe(up)">
                                      <p:cBhvr>
                                        <p:cTn id="267" dur="500"/>
                                        <p:tgtEl>
                                          <p:spTgt spid="35901"/>
                                        </p:tgtEl>
                                      </p:cBhvr>
                                    </p:animEffect>
                                  </p:childTnLst>
                                </p:cTn>
                              </p:par>
                            </p:childTnLst>
                          </p:cTn>
                        </p:par>
                        <p:par>
                          <p:cTn id="268" fill="hold">
                            <p:stCondLst>
                              <p:cond delay="500"/>
                            </p:stCondLst>
                            <p:childTnLst>
                              <p:par>
                                <p:cTn id="269" presetID="22" presetClass="entr" presetSubtype="1" fill="hold" grpId="0" nodeType="afterEffect">
                                  <p:stCondLst>
                                    <p:cond delay="0"/>
                                  </p:stCondLst>
                                  <p:childTnLst>
                                    <p:set>
                                      <p:cBhvr>
                                        <p:cTn id="270" dur="1" fill="hold">
                                          <p:stCondLst>
                                            <p:cond delay="0"/>
                                          </p:stCondLst>
                                        </p:cTn>
                                        <p:tgtEl>
                                          <p:spTgt spid="35898"/>
                                        </p:tgtEl>
                                        <p:attrNameLst>
                                          <p:attrName>style.visibility</p:attrName>
                                        </p:attrNameLst>
                                      </p:cBhvr>
                                      <p:to>
                                        <p:strVal val="visible"/>
                                      </p:to>
                                    </p:set>
                                    <p:animEffect transition="in" filter="wipe(up)">
                                      <p:cBhvr>
                                        <p:cTn id="271" dur="500"/>
                                        <p:tgtEl>
                                          <p:spTgt spid="35898"/>
                                        </p:tgtEl>
                                      </p:cBhvr>
                                    </p:animEffect>
                                  </p:childTnLst>
                                </p:cTn>
                              </p:par>
                            </p:childTnLst>
                          </p:cTn>
                        </p:par>
                        <p:par>
                          <p:cTn id="272" fill="hold">
                            <p:stCondLst>
                              <p:cond delay="1000"/>
                            </p:stCondLst>
                            <p:childTnLst>
                              <p:par>
                                <p:cTn id="273" presetID="22" presetClass="entr" presetSubtype="1" fill="hold" grpId="0" nodeType="afterEffect">
                                  <p:stCondLst>
                                    <p:cond delay="0"/>
                                  </p:stCondLst>
                                  <p:childTnLst>
                                    <p:set>
                                      <p:cBhvr>
                                        <p:cTn id="274" dur="1" fill="hold">
                                          <p:stCondLst>
                                            <p:cond delay="0"/>
                                          </p:stCondLst>
                                        </p:cTn>
                                        <p:tgtEl>
                                          <p:spTgt spid="35899"/>
                                        </p:tgtEl>
                                        <p:attrNameLst>
                                          <p:attrName>style.visibility</p:attrName>
                                        </p:attrNameLst>
                                      </p:cBhvr>
                                      <p:to>
                                        <p:strVal val="visible"/>
                                      </p:to>
                                    </p:set>
                                    <p:animEffect transition="in" filter="wipe(up)">
                                      <p:cBhvr>
                                        <p:cTn id="275" dur="500"/>
                                        <p:tgtEl>
                                          <p:spTgt spid="35899"/>
                                        </p:tgtEl>
                                      </p:cBhvr>
                                    </p:animEffect>
                                  </p:childTnLst>
                                </p:cTn>
                              </p:par>
                            </p:childTnLst>
                          </p:cTn>
                        </p:par>
                      </p:childTnLst>
                    </p:cTn>
                  </p:par>
                  <p:par>
                    <p:cTn id="276" fill="hold">
                      <p:stCondLst>
                        <p:cond delay="indefinite"/>
                      </p:stCondLst>
                      <p:childTnLst>
                        <p:par>
                          <p:cTn id="277" fill="hold">
                            <p:stCondLst>
                              <p:cond delay="0"/>
                            </p:stCondLst>
                            <p:childTnLst>
                              <p:par>
                                <p:cTn id="278" presetID="22" presetClass="entr" presetSubtype="1" fill="hold" grpId="0" nodeType="clickEffect">
                                  <p:stCondLst>
                                    <p:cond delay="0"/>
                                  </p:stCondLst>
                                  <p:childTnLst>
                                    <p:set>
                                      <p:cBhvr>
                                        <p:cTn id="279" dur="1" fill="hold">
                                          <p:stCondLst>
                                            <p:cond delay="0"/>
                                          </p:stCondLst>
                                        </p:cTn>
                                        <p:tgtEl>
                                          <p:spTgt spid="35904"/>
                                        </p:tgtEl>
                                        <p:attrNameLst>
                                          <p:attrName>style.visibility</p:attrName>
                                        </p:attrNameLst>
                                      </p:cBhvr>
                                      <p:to>
                                        <p:strVal val="visible"/>
                                      </p:to>
                                    </p:set>
                                    <p:animEffect transition="in" filter="wipe(up)">
                                      <p:cBhvr>
                                        <p:cTn id="280" dur="500"/>
                                        <p:tgtEl>
                                          <p:spTgt spid="35904"/>
                                        </p:tgtEl>
                                      </p:cBhvr>
                                    </p:animEffect>
                                  </p:childTnLst>
                                </p:cTn>
                              </p:par>
                            </p:childTnLst>
                          </p:cTn>
                        </p:par>
                        <p:par>
                          <p:cTn id="281" fill="hold">
                            <p:stCondLst>
                              <p:cond delay="500"/>
                            </p:stCondLst>
                            <p:childTnLst>
                              <p:par>
                                <p:cTn id="282" presetID="22" presetClass="entr" presetSubtype="1" fill="hold" grpId="0" nodeType="afterEffect">
                                  <p:stCondLst>
                                    <p:cond delay="0"/>
                                  </p:stCondLst>
                                  <p:childTnLst>
                                    <p:set>
                                      <p:cBhvr>
                                        <p:cTn id="283" dur="1" fill="hold">
                                          <p:stCondLst>
                                            <p:cond delay="0"/>
                                          </p:stCondLst>
                                        </p:cTn>
                                        <p:tgtEl>
                                          <p:spTgt spid="35902"/>
                                        </p:tgtEl>
                                        <p:attrNameLst>
                                          <p:attrName>style.visibility</p:attrName>
                                        </p:attrNameLst>
                                      </p:cBhvr>
                                      <p:to>
                                        <p:strVal val="visible"/>
                                      </p:to>
                                    </p:set>
                                    <p:animEffect transition="in" filter="wipe(up)">
                                      <p:cBhvr>
                                        <p:cTn id="284" dur="500"/>
                                        <p:tgtEl>
                                          <p:spTgt spid="35902"/>
                                        </p:tgtEl>
                                      </p:cBhvr>
                                    </p:animEffect>
                                  </p:childTnLst>
                                </p:cTn>
                              </p:par>
                            </p:childTnLst>
                          </p:cTn>
                        </p:par>
                        <p:par>
                          <p:cTn id="285" fill="hold">
                            <p:stCondLst>
                              <p:cond delay="1000"/>
                            </p:stCondLst>
                            <p:childTnLst>
                              <p:par>
                                <p:cTn id="286" presetID="22" presetClass="entr" presetSubtype="1" fill="hold" grpId="0" nodeType="afterEffect">
                                  <p:stCondLst>
                                    <p:cond delay="0"/>
                                  </p:stCondLst>
                                  <p:childTnLst>
                                    <p:set>
                                      <p:cBhvr>
                                        <p:cTn id="287" dur="1" fill="hold">
                                          <p:stCondLst>
                                            <p:cond delay="0"/>
                                          </p:stCondLst>
                                        </p:cTn>
                                        <p:tgtEl>
                                          <p:spTgt spid="35903"/>
                                        </p:tgtEl>
                                        <p:attrNameLst>
                                          <p:attrName>style.visibility</p:attrName>
                                        </p:attrNameLst>
                                      </p:cBhvr>
                                      <p:to>
                                        <p:strVal val="visible"/>
                                      </p:to>
                                    </p:set>
                                    <p:animEffect transition="in" filter="wipe(up)">
                                      <p:cBhvr>
                                        <p:cTn id="288" dur="500"/>
                                        <p:tgtEl>
                                          <p:spTgt spid="35903"/>
                                        </p:tgtEl>
                                      </p:cBhvr>
                                    </p:animEffect>
                                  </p:childTnLst>
                                </p:cTn>
                              </p:par>
                            </p:childTnLst>
                          </p:cTn>
                        </p:par>
                      </p:childTnLst>
                    </p:cTn>
                  </p:par>
                  <p:par>
                    <p:cTn id="289" fill="hold">
                      <p:stCondLst>
                        <p:cond delay="indefinite"/>
                      </p:stCondLst>
                      <p:childTnLst>
                        <p:par>
                          <p:cTn id="290" fill="hold">
                            <p:stCondLst>
                              <p:cond delay="0"/>
                            </p:stCondLst>
                            <p:childTnLst>
                              <p:par>
                                <p:cTn id="291" presetID="22" presetClass="entr" presetSubtype="1" fill="hold" grpId="0" nodeType="clickEffect">
                                  <p:stCondLst>
                                    <p:cond delay="0"/>
                                  </p:stCondLst>
                                  <p:childTnLst>
                                    <p:set>
                                      <p:cBhvr>
                                        <p:cTn id="292" dur="1" fill="hold">
                                          <p:stCondLst>
                                            <p:cond delay="0"/>
                                          </p:stCondLst>
                                        </p:cTn>
                                        <p:tgtEl>
                                          <p:spTgt spid="35907"/>
                                        </p:tgtEl>
                                        <p:attrNameLst>
                                          <p:attrName>style.visibility</p:attrName>
                                        </p:attrNameLst>
                                      </p:cBhvr>
                                      <p:to>
                                        <p:strVal val="visible"/>
                                      </p:to>
                                    </p:set>
                                    <p:animEffect transition="in" filter="wipe(up)">
                                      <p:cBhvr>
                                        <p:cTn id="293" dur="500"/>
                                        <p:tgtEl>
                                          <p:spTgt spid="35907"/>
                                        </p:tgtEl>
                                      </p:cBhvr>
                                    </p:animEffect>
                                  </p:childTnLst>
                                </p:cTn>
                              </p:par>
                            </p:childTnLst>
                          </p:cTn>
                        </p:par>
                        <p:par>
                          <p:cTn id="294" fill="hold">
                            <p:stCondLst>
                              <p:cond delay="500"/>
                            </p:stCondLst>
                            <p:childTnLst>
                              <p:par>
                                <p:cTn id="295" presetID="22" presetClass="entr" presetSubtype="1" fill="hold" grpId="0" nodeType="afterEffect">
                                  <p:stCondLst>
                                    <p:cond delay="0"/>
                                  </p:stCondLst>
                                  <p:childTnLst>
                                    <p:set>
                                      <p:cBhvr>
                                        <p:cTn id="296" dur="1" fill="hold">
                                          <p:stCondLst>
                                            <p:cond delay="0"/>
                                          </p:stCondLst>
                                        </p:cTn>
                                        <p:tgtEl>
                                          <p:spTgt spid="35905"/>
                                        </p:tgtEl>
                                        <p:attrNameLst>
                                          <p:attrName>style.visibility</p:attrName>
                                        </p:attrNameLst>
                                      </p:cBhvr>
                                      <p:to>
                                        <p:strVal val="visible"/>
                                      </p:to>
                                    </p:set>
                                    <p:animEffect transition="in" filter="wipe(up)">
                                      <p:cBhvr>
                                        <p:cTn id="297" dur="500"/>
                                        <p:tgtEl>
                                          <p:spTgt spid="35905"/>
                                        </p:tgtEl>
                                      </p:cBhvr>
                                    </p:animEffect>
                                  </p:childTnLst>
                                </p:cTn>
                              </p:par>
                            </p:childTnLst>
                          </p:cTn>
                        </p:par>
                        <p:par>
                          <p:cTn id="298" fill="hold">
                            <p:stCondLst>
                              <p:cond delay="1000"/>
                            </p:stCondLst>
                            <p:childTnLst>
                              <p:par>
                                <p:cTn id="299" presetID="22" presetClass="entr" presetSubtype="1" fill="hold" grpId="0" nodeType="afterEffect">
                                  <p:stCondLst>
                                    <p:cond delay="0"/>
                                  </p:stCondLst>
                                  <p:childTnLst>
                                    <p:set>
                                      <p:cBhvr>
                                        <p:cTn id="300" dur="1" fill="hold">
                                          <p:stCondLst>
                                            <p:cond delay="0"/>
                                          </p:stCondLst>
                                        </p:cTn>
                                        <p:tgtEl>
                                          <p:spTgt spid="35906"/>
                                        </p:tgtEl>
                                        <p:attrNameLst>
                                          <p:attrName>style.visibility</p:attrName>
                                        </p:attrNameLst>
                                      </p:cBhvr>
                                      <p:to>
                                        <p:strVal val="visible"/>
                                      </p:to>
                                    </p:set>
                                    <p:animEffect transition="in" filter="wipe(up)">
                                      <p:cBhvr>
                                        <p:cTn id="301" dur="500"/>
                                        <p:tgtEl>
                                          <p:spTgt spid="35906"/>
                                        </p:tgtEl>
                                      </p:cBhvr>
                                    </p:animEffect>
                                  </p:childTnLst>
                                </p:cTn>
                              </p:par>
                            </p:childTnLst>
                          </p:cTn>
                        </p:par>
                      </p:childTnLst>
                    </p:cTn>
                  </p:par>
                  <p:par>
                    <p:cTn id="302" fill="hold">
                      <p:stCondLst>
                        <p:cond delay="indefinite"/>
                      </p:stCondLst>
                      <p:childTnLst>
                        <p:par>
                          <p:cTn id="303" fill="hold">
                            <p:stCondLst>
                              <p:cond delay="0"/>
                            </p:stCondLst>
                            <p:childTnLst>
                              <p:par>
                                <p:cTn id="304" presetID="22" presetClass="entr" presetSubtype="1" fill="hold" grpId="0" nodeType="clickEffect">
                                  <p:stCondLst>
                                    <p:cond delay="0"/>
                                  </p:stCondLst>
                                  <p:childTnLst>
                                    <p:set>
                                      <p:cBhvr>
                                        <p:cTn id="305" dur="1" fill="hold">
                                          <p:stCondLst>
                                            <p:cond delay="0"/>
                                          </p:stCondLst>
                                        </p:cTn>
                                        <p:tgtEl>
                                          <p:spTgt spid="35912"/>
                                        </p:tgtEl>
                                        <p:attrNameLst>
                                          <p:attrName>style.visibility</p:attrName>
                                        </p:attrNameLst>
                                      </p:cBhvr>
                                      <p:to>
                                        <p:strVal val="visible"/>
                                      </p:to>
                                    </p:set>
                                    <p:animEffect transition="in" filter="wipe(up)">
                                      <p:cBhvr>
                                        <p:cTn id="306" dur="500"/>
                                        <p:tgtEl>
                                          <p:spTgt spid="35912"/>
                                        </p:tgtEl>
                                      </p:cBhvr>
                                    </p:animEffect>
                                  </p:childTnLst>
                                </p:cTn>
                              </p:par>
                            </p:childTnLst>
                          </p:cTn>
                        </p:par>
                        <p:par>
                          <p:cTn id="307" fill="hold">
                            <p:stCondLst>
                              <p:cond delay="500"/>
                            </p:stCondLst>
                            <p:childTnLst>
                              <p:par>
                                <p:cTn id="308" presetID="22" presetClass="entr" presetSubtype="1" fill="hold" grpId="0" nodeType="afterEffect">
                                  <p:stCondLst>
                                    <p:cond delay="0"/>
                                  </p:stCondLst>
                                  <p:childTnLst>
                                    <p:set>
                                      <p:cBhvr>
                                        <p:cTn id="309" dur="1" fill="hold">
                                          <p:stCondLst>
                                            <p:cond delay="0"/>
                                          </p:stCondLst>
                                        </p:cTn>
                                        <p:tgtEl>
                                          <p:spTgt spid="35913"/>
                                        </p:tgtEl>
                                        <p:attrNameLst>
                                          <p:attrName>style.visibility</p:attrName>
                                        </p:attrNameLst>
                                      </p:cBhvr>
                                      <p:to>
                                        <p:strVal val="visible"/>
                                      </p:to>
                                    </p:set>
                                    <p:animEffect transition="in" filter="wipe(up)">
                                      <p:cBhvr>
                                        <p:cTn id="310" dur="500"/>
                                        <p:tgtEl>
                                          <p:spTgt spid="359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animBg="1" autoUpdateAnimBg="0"/>
      <p:bldP spid="35843" grpId="0" animBg="1"/>
      <p:bldP spid="35844" grpId="0" animBg="1"/>
      <p:bldP spid="35845" grpId="0" animBg="1"/>
      <p:bldP spid="35846" grpId="0" animBg="1"/>
      <p:bldP spid="35847" grpId="0" animBg="1" autoUpdateAnimBg="0"/>
      <p:bldP spid="35848" grpId="0" animBg="1"/>
      <p:bldP spid="35849" grpId="0" animBg="1"/>
      <p:bldP spid="35850" grpId="0" animBg="1"/>
      <p:bldP spid="35851" grpId="0" animBg="1"/>
      <p:bldP spid="35852" grpId="0" animBg="1"/>
      <p:bldP spid="35853" grpId="0" autoUpdateAnimBg="0"/>
      <p:bldP spid="35854" grpId="0" animBg="1"/>
      <p:bldP spid="35855" grpId="0" autoUpdateAnimBg="0"/>
      <p:bldP spid="35856" grpId="0" animBg="1"/>
      <p:bldP spid="35857" grpId="0" autoUpdateAnimBg="0"/>
      <p:bldP spid="35858" grpId="0" animBg="1"/>
      <p:bldP spid="35859" grpId="0" autoUpdateAnimBg="0"/>
      <p:bldP spid="35860" grpId="0" animBg="1"/>
      <p:bldP spid="35861" grpId="0" animBg="1"/>
      <p:bldP spid="35862" grpId="0" animBg="1"/>
      <p:bldP spid="35863" grpId="0" autoUpdateAnimBg="0"/>
      <p:bldP spid="35864" grpId="0" animBg="1" autoUpdateAnimBg="0"/>
      <p:bldP spid="35865" grpId="0" animBg="1"/>
      <p:bldP spid="35866" grpId="0" autoUpdateAnimBg="0"/>
      <p:bldP spid="35867" grpId="0" autoUpdateAnimBg="0"/>
      <p:bldP spid="35868" grpId="0" animBg="1"/>
      <p:bldP spid="35869" grpId="0" animBg="1"/>
      <p:bldP spid="35870" grpId="0" autoUpdateAnimBg="0"/>
      <p:bldP spid="35871" grpId="0" animBg="1"/>
      <p:bldP spid="35872" grpId="0" animBg="1"/>
      <p:bldP spid="35873" grpId="0" autoUpdateAnimBg="0"/>
      <p:bldP spid="35874" grpId="0" animBg="1"/>
      <p:bldP spid="35875" grpId="0" animBg="1" autoUpdateAnimBg="0"/>
      <p:bldP spid="35876" grpId="0" animBg="1"/>
      <p:bldP spid="35877" grpId="0" animBg="1"/>
      <p:bldP spid="35878" grpId="0" animBg="1"/>
      <p:bldP spid="35879" grpId="0" animBg="1"/>
      <p:bldP spid="35880" grpId="0" animBg="1"/>
      <p:bldP spid="35881" grpId="0" animBg="1"/>
      <p:bldP spid="35882" grpId="0" animBg="1" autoUpdateAnimBg="0"/>
      <p:bldP spid="35883" grpId="0" animBg="1"/>
      <p:bldP spid="35884" grpId="0" animBg="1"/>
      <p:bldP spid="35885" grpId="0" animBg="1"/>
      <p:bldP spid="35886" grpId="0" autoUpdateAnimBg="0"/>
      <p:bldP spid="35887" grpId="0" animBg="1"/>
      <p:bldP spid="35888" grpId="0" autoUpdateAnimBg="0"/>
      <p:bldP spid="35889" grpId="0" animBg="1"/>
      <p:bldP spid="35890" grpId="0" autoUpdateAnimBg="0"/>
      <p:bldP spid="35891" grpId="0" animBg="1"/>
      <p:bldP spid="35892" grpId="0" autoUpdateAnimBg="0"/>
      <p:bldP spid="35893" grpId="0" animBg="1"/>
      <p:bldP spid="35894" grpId="0" autoUpdateAnimBg="0"/>
      <p:bldP spid="35895" grpId="0" animBg="1"/>
      <p:bldP spid="35896" grpId="0" animBg="1"/>
      <p:bldP spid="35897" grpId="0" autoUpdateAnimBg="0"/>
      <p:bldP spid="35898" grpId="0" animBg="1"/>
      <p:bldP spid="35899" grpId="0" autoUpdateAnimBg="0"/>
      <p:bldP spid="35900" grpId="0" animBg="1"/>
      <p:bldP spid="35901" grpId="0" animBg="1"/>
      <p:bldP spid="35902" grpId="0" animBg="1"/>
      <p:bldP spid="35903" grpId="0" autoUpdateAnimBg="0"/>
      <p:bldP spid="35904" grpId="0" animBg="1"/>
      <p:bldP spid="35905" grpId="0" animBg="1"/>
      <p:bldP spid="35906" grpId="0" autoUpdateAnimBg="0"/>
      <p:bldP spid="35907" grpId="0" animBg="1"/>
      <p:bldP spid="35908" grpId="0" bldLvl="0" animBg="1" autoUpdateAnimBg="0"/>
      <p:bldP spid="35909" grpId="0" bldLvl="0" animBg="1" autoUpdateAnimBg="0"/>
      <p:bldP spid="35910" grpId="0" animBg="1"/>
      <p:bldP spid="35911" grpId="0" bldLvl="0" animBg="1" autoUpdateAnimBg="0"/>
      <p:bldP spid="35912" grpId="0" animBg="1"/>
      <p:bldP spid="35913" grpId="0" bldLvl="0" animBg="1" autoUpdateAnimBg="0"/>
      <p:bldP spid="35914" grpId="0" autoUpdateAnimBg="0"/>
      <p:bldP spid="35915"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ChangeArrowheads="1"/>
          </p:cNvSpPr>
          <p:nvPr/>
        </p:nvSpPr>
        <p:spPr bwMode="auto">
          <a:xfrm>
            <a:off x="228600" y="1700213"/>
            <a:ext cx="8915400" cy="2545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spcBef>
                <a:spcPct val="50000"/>
              </a:spcBef>
              <a:buSzPct val="80000"/>
            </a:pPr>
            <a:r>
              <a:rPr lang="zh-CN" altLang="en-US" b="1">
                <a:solidFill>
                  <a:srgbClr val="990000"/>
                </a:solidFill>
                <a:latin typeface="Arial" panose="020B0604020202020204" pitchFamily="34" charset="0"/>
                <a:ea typeface="楷体_GB2312" pitchFamily="49" charset="-122"/>
                <a:cs typeface="Arial" panose="020B0604020202020204" pitchFamily="34" charset="0"/>
              </a:rPr>
              <a:t>The time complexity of half-insertion sort is O(n²).</a:t>
            </a:r>
            <a:endParaRPr lang="en-US" altLang="zh-CN" b="1">
              <a:solidFill>
                <a:srgbClr val="990000"/>
              </a:solidFill>
              <a:latin typeface="Arial" panose="020B0604020202020204" pitchFamily="34" charset="0"/>
              <a:ea typeface="楷体_GB2312" pitchFamily="49" charset="-122"/>
              <a:cs typeface="Arial" panose="020B0604020202020204" pitchFamily="34" charset="0"/>
            </a:endParaRPr>
          </a:p>
          <a:p>
            <a:pPr>
              <a:lnSpc>
                <a:spcPct val="130000"/>
              </a:lnSpc>
              <a:spcBef>
                <a:spcPct val="50000"/>
              </a:spcBef>
              <a:buSzPct val="80000"/>
            </a:pPr>
            <a:r>
              <a:rPr lang="zh-CN" altLang="en-US">
                <a:latin typeface="Arial" panose="020B0604020202020204" pitchFamily="34" charset="0"/>
                <a:ea typeface="隶书" panose="02010509060101010101" pitchFamily="49" charset="-122"/>
                <a:cs typeface="Arial" panose="020B0604020202020204" pitchFamily="34" charset="0"/>
              </a:rPr>
              <a:t>The split insertion sort is suitable for </a:t>
            </a:r>
            <a:r>
              <a:rPr lang="zh-CN" altLang="en-US">
                <a:solidFill>
                  <a:srgbClr val="990000"/>
                </a:solidFill>
                <a:latin typeface="Arial" panose="020B0604020202020204" pitchFamily="34" charset="0"/>
                <a:ea typeface="隶书" panose="02010509060101010101" pitchFamily="49" charset="-122"/>
                <a:cs typeface="Arial" panose="020B0604020202020204" pitchFamily="34" charset="0"/>
              </a:rPr>
              <a:t>the large number of records to be sorted</a:t>
            </a:r>
            <a:r>
              <a:rPr lang="zh-CN" altLang="en-US">
                <a:latin typeface="Arial" panose="020B0604020202020204" pitchFamily="34" charset="0"/>
                <a:ea typeface="隶书" panose="02010509060101010101" pitchFamily="49" charset="-122"/>
                <a:cs typeface="Arial" panose="020B0604020202020204" pitchFamily="34" charset="0"/>
              </a:rPr>
              <a:t>, and can greatly reduce the number of key words comparison.</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35</a:t>
            </a:fld>
            <a:endParaRPr lang="en-US" altLang="zh-CN"/>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Text Box 2"/>
          <p:cNvSpPr txBox="1">
            <a:spLocks noChangeArrowheads="1"/>
          </p:cNvSpPr>
          <p:nvPr/>
        </p:nvSpPr>
        <p:spPr bwMode="auto">
          <a:xfrm>
            <a:off x="533400" y="685800"/>
            <a:ext cx="4867275"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dirty="0">
                <a:solidFill>
                  <a:srgbClr val="FF00FF"/>
                </a:solidFill>
                <a:latin typeface="Arial" panose="020B0604020202020204" pitchFamily="34" charset="0"/>
                <a:ea typeface="楷体_GB2312" pitchFamily="49" charset="-122"/>
                <a:cs typeface="Arial" panose="020B0604020202020204" pitchFamily="34" charset="0"/>
              </a:rPr>
              <a:t>3</a:t>
            </a:r>
            <a:r>
              <a:rPr lang="zh-CN" altLang="en-US" sz="3200" b="1" dirty="0">
                <a:solidFill>
                  <a:srgbClr val="FF00FF"/>
                </a:solidFill>
                <a:latin typeface="Arial" panose="020B0604020202020204" pitchFamily="34" charset="0"/>
                <a:ea typeface="楷体_GB2312" pitchFamily="49" charset="-122"/>
                <a:cs typeface="Arial" panose="020B0604020202020204" pitchFamily="34" charset="0"/>
              </a:rPr>
              <a:t>. </a:t>
            </a:r>
            <a:r>
              <a:rPr lang="en-US" altLang="zh-CN" sz="3200" b="1" dirty="0">
                <a:solidFill>
                  <a:srgbClr val="FF00FF"/>
                </a:solidFill>
                <a:latin typeface="Arial" panose="020B0604020202020204" pitchFamily="34" charset="0"/>
                <a:ea typeface="楷体_GB2312" pitchFamily="49" charset="-122"/>
                <a:cs typeface="Arial" panose="020B0604020202020204" pitchFamily="34" charset="0"/>
              </a:rPr>
              <a:t>List Insertion Sort</a:t>
            </a:r>
          </a:p>
        </p:txBody>
      </p:sp>
      <p:sp>
        <p:nvSpPr>
          <p:cNvPr id="133123" name="Text Box 3"/>
          <p:cNvSpPr txBox="1">
            <a:spLocks noChangeArrowheads="1"/>
          </p:cNvSpPr>
          <p:nvPr/>
        </p:nvSpPr>
        <p:spPr bwMode="auto">
          <a:xfrm>
            <a:off x="560800" y="1628775"/>
            <a:ext cx="7993583" cy="4030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dirty="0">
                <a:latin typeface="Arial" panose="020B0604020202020204" pitchFamily="34" charset="0"/>
                <a:ea typeface="楷体_GB2312" pitchFamily="49" charset="-122"/>
                <a:cs typeface="Arial" panose="020B0604020202020204" pitchFamily="34" charset="0"/>
              </a:rPr>
              <a:t>To reduce the "shifting" of records during the sorting process, we need to change the storage structure used in sorting.</a:t>
            </a:r>
          </a:p>
          <a:p>
            <a:r>
              <a:rPr lang="en-US" altLang="zh-CN" sz="3200" dirty="0">
                <a:latin typeface="Arial" panose="020B0604020202020204" pitchFamily="34" charset="0"/>
                <a:ea typeface="楷体_GB2312" pitchFamily="49" charset="-122"/>
                <a:cs typeface="Arial" panose="020B0604020202020204" pitchFamily="34" charset="0"/>
              </a:rPr>
              <a:t>We perform sorting using a </a:t>
            </a:r>
            <a:r>
              <a:rPr lang="zh-CN" altLang="en-US" sz="3200" b="1" dirty="0">
                <a:solidFill>
                  <a:srgbClr val="FF0000"/>
                </a:solidFill>
                <a:latin typeface="Arial" panose="020B0604020202020204" pitchFamily="34" charset="0"/>
                <a:ea typeface="楷体_GB2312" pitchFamily="49" charset="-122"/>
                <a:cs typeface="Arial" panose="020B0604020202020204" pitchFamily="34" charset="0"/>
              </a:rPr>
              <a:t>static linked list</a:t>
            </a:r>
            <a:r>
              <a:rPr lang="en-US" altLang="zh-CN" sz="3200" dirty="0">
                <a:latin typeface="Arial" panose="020B0604020202020204" pitchFamily="34" charset="0"/>
                <a:ea typeface="楷体_GB2312" pitchFamily="49" charset="-122"/>
                <a:cs typeface="Arial" panose="020B0604020202020204" pitchFamily="34" charset="0"/>
              </a:rPr>
              <a:t>, and </a:t>
            </a:r>
            <a:r>
              <a:rPr lang="zh-CN" altLang="en-US" sz="3200" dirty="0">
                <a:solidFill>
                  <a:srgbClr val="0000FF"/>
                </a:solidFill>
                <a:latin typeface="Arial" panose="020B0604020202020204" pitchFamily="34" charset="0"/>
                <a:ea typeface="楷体_GB2312" pitchFamily="49" charset="-122"/>
                <a:cs typeface="Arial" panose="020B0604020202020204" pitchFamily="34" charset="0"/>
              </a:rPr>
              <a:t>after sorting is complete, we adjust the positions of all records in one batch</a:t>
            </a:r>
            <a:r>
              <a:rPr lang="en-US" altLang="zh-CN" sz="3200" dirty="0">
                <a:latin typeface="Arial" panose="020B0604020202020204" pitchFamily="34" charset="0"/>
                <a:ea typeface="楷体_GB2312" pitchFamily="49" charset="-122"/>
                <a:cs typeface="Arial" panose="020B0604020202020204" pitchFamily="34" charset="0"/>
              </a:rPr>
              <a:t>—moving each record to its correct position.</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36</a:t>
            </a:fld>
            <a:endParaRPr lang="en-US" altLang="zh-CN"/>
          </a:p>
        </p:txBody>
      </p:sp>
    </p:spTree>
  </p:cSld>
  <p:clrMapOvr>
    <a:masterClrMapping/>
  </p:clrMapOvr>
  <p:transition>
    <p:pull dir="rd"/>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9436" name="Group 172"/>
          <p:cNvGraphicFramePr>
            <a:graphicFrameLocks noGrp="1"/>
          </p:cNvGraphicFramePr>
          <p:nvPr/>
        </p:nvGraphicFramePr>
        <p:xfrm>
          <a:off x="1447800" y="533400"/>
          <a:ext cx="6553200" cy="1036320"/>
        </p:xfrm>
        <a:graphic>
          <a:graphicData uri="http://schemas.openxmlformats.org/drawingml/2006/table">
            <a:tbl>
              <a:tblPr/>
              <a:tblGrid>
                <a:gridCol w="16764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tblGrid>
              <a:tr h="3683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MAXINT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83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1" lang="en-US" altLang="zh-CN" sz="2800" b="1" i="0" u="none" strike="noStrike" cap="none" normalizeH="0" baseline="0">
                          <a:ln>
                            <a:noFill/>
                          </a:ln>
                          <a:solidFill>
                            <a:srgbClr val="993300"/>
                          </a:solidFill>
                          <a:effectLst/>
                          <a:latin typeface="Times New Roman" panose="02020603050405020304" pitchFamily="18" charset="0"/>
                          <a:ea typeface="宋体" panose="02010600030101010101" pitchFamily="2" charset="-122"/>
                        </a:rPr>
                        <a:t> </a:t>
                      </a:r>
                      <a:r>
                        <a:rPr kumimoji="1" lang="en-US" altLang="zh-CN" sz="2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1" lang="en-US" altLang="zh-CN" sz="2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39300" name="Text Box 36"/>
          <p:cNvSpPr txBox="1">
            <a:spLocks noChangeArrowheads="1"/>
          </p:cNvSpPr>
          <p:nvPr/>
        </p:nvSpPr>
        <p:spPr bwMode="auto">
          <a:xfrm>
            <a:off x="1447800" y="0"/>
            <a:ext cx="6934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t>        </a:t>
            </a:r>
            <a:r>
              <a:rPr lang="en-US" altLang="zh-CN" sz="2400" b="1"/>
              <a:t>0              1      2      3      4      5      6     7      8</a:t>
            </a:r>
          </a:p>
        </p:txBody>
      </p:sp>
      <p:sp>
        <p:nvSpPr>
          <p:cNvPr id="139329" name="Text Box 65"/>
          <p:cNvSpPr txBox="1">
            <a:spLocks noChangeArrowheads="1"/>
          </p:cNvSpPr>
          <p:nvPr/>
        </p:nvSpPr>
        <p:spPr bwMode="auto">
          <a:xfrm>
            <a:off x="0" y="762000"/>
            <a:ext cx="1447800" cy="829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sym typeface="+mn-ea"/>
              </a:rPr>
              <a:t>initial status</a:t>
            </a:r>
            <a:endParaRPr lang="zh-CN" altLang="en-US" sz="2400" b="1"/>
          </a:p>
        </p:txBody>
      </p:sp>
      <p:sp>
        <p:nvSpPr>
          <p:cNvPr id="139330" name="Text Box 66"/>
          <p:cNvSpPr txBox="1">
            <a:spLocks noChangeArrowheads="1"/>
          </p:cNvSpPr>
          <p:nvPr/>
        </p:nvSpPr>
        <p:spPr bwMode="auto">
          <a:xfrm>
            <a:off x="8100060" y="1772553"/>
            <a:ext cx="1066800" cy="706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dirty="0"/>
              <a:t>Key field</a:t>
            </a:r>
          </a:p>
        </p:txBody>
      </p:sp>
      <p:sp>
        <p:nvSpPr>
          <p:cNvPr id="139331" name="Text Box 67"/>
          <p:cNvSpPr txBox="1">
            <a:spLocks noChangeArrowheads="1"/>
          </p:cNvSpPr>
          <p:nvPr/>
        </p:nvSpPr>
        <p:spPr bwMode="auto">
          <a:xfrm>
            <a:off x="8001000" y="2420888"/>
            <a:ext cx="1143000" cy="706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dirty="0"/>
              <a:t>Next field</a:t>
            </a:r>
          </a:p>
        </p:txBody>
      </p:sp>
      <p:graphicFrame>
        <p:nvGraphicFramePr>
          <p:cNvPr id="139364" name="Group 100"/>
          <p:cNvGraphicFramePr>
            <a:graphicFrameLocks noGrp="1"/>
          </p:cNvGraphicFramePr>
          <p:nvPr/>
        </p:nvGraphicFramePr>
        <p:xfrm>
          <a:off x="1447800" y="1905000"/>
          <a:ext cx="6553200" cy="1036320"/>
        </p:xfrm>
        <a:graphic>
          <a:graphicData uri="http://schemas.openxmlformats.org/drawingml/2006/table">
            <a:tbl>
              <a:tblPr/>
              <a:tblGrid>
                <a:gridCol w="16764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tblGrid>
              <a:tr h="5175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MAXINT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75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1" lang="en-US" altLang="zh-CN" sz="2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1" lang="en-US" altLang="zh-CN" sz="2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39397" name="Group 133"/>
          <p:cNvGraphicFramePr>
            <a:graphicFrameLocks noGrp="1"/>
          </p:cNvGraphicFramePr>
          <p:nvPr/>
        </p:nvGraphicFramePr>
        <p:xfrm>
          <a:off x="1447800" y="3308350"/>
          <a:ext cx="6553200" cy="1036320"/>
        </p:xfrm>
        <a:graphic>
          <a:graphicData uri="http://schemas.openxmlformats.org/drawingml/2006/table">
            <a:tbl>
              <a:tblPr/>
              <a:tblGrid>
                <a:gridCol w="16764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tblGrid>
              <a:tr h="5175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MAXINT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75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1" lang="en-US" altLang="zh-CN" sz="2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1" lang="en-US" altLang="zh-CN" sz="2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39431" name="Group 167"/>
          <p:cNvGraphicFramePr>
            <a:graphicFrameLocks noGrp="1"/>
          </p:cNvGraphicFramePr>
          <p:nvPr/>
        </p:nvGraphicFramePr>
        <p:xfrm>
          <a:off x="1447800" y="4816475"/>
          <a:ext cx="6553200" cy="1051560"/>
        </p:xfrm>
        <a:graphic>
          <a:graphicData uri="http://schemas.openxmlformats.org/drawingml/2006/table">
            <a:tbl>
              <a:tblPr/>
              <a:tblGrid>
                <a:gridCol w="16764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tblGrid>
              <a:tr h="5175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MAXINT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34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1" lang="en-US" altLang="zh-CN" sz="2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1" lang="en-US" altLang="zh-CN" sz="2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39432" name="Text Box 168"/>
          <p:cNvSpPr txBox="1">
            <a:spLocks noChangeArrowheads="1"/>
          </p:cNvSpPr>
          <p:nvPr/>
        </p:nvSpPr>
        <p:spPr bwMode="auto">
          <a:xfrm>
            <a:off x="228600" y="2286000"/>
            <a:ext cx="990600" cy="4572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t>i=2</a:t>
            </a:r>
          </a:p>
        </p:txBody>
      </p:sp>
      <p:sp>
        <p:nvSpPr>
          <p:cNvPr id="139433" name="Text Box 169"/>
          <p:cNvSpPr txBox="1">
            <a:spLocks noChangeArrowheads="1"/>
          </p:cNvSpPr>
          <p:nvPr/>
        </p:nvSpPr>
        <p:spPr bwMode="auto">
          <a:xfrm>
            <a:off x="228600" y="3581400"/>
            <a:ext cx="914400" cy="4572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t>i=3</a:t>
            </a:r>
          </a:p>
        </p:txBody>
      </p:sp>
      <p:sp>
        <p:nvSpPr>
          <p:cNvPr id="139434" name="Text Box 170"/>
          <p:cNvSpPr txBox="1">
            <a:spLocks noChangeArrowheads="1"/>
          </p:cNvSpPr>
          <p:nvPr/>
        </p:nvSpPr>
        <p:spPr bwMode="auto">
          <a:xfrm>
            <a:off x="228600" y="5105400"/>
            <a:ext cx="990600" cy="4572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t>i=4</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37</a:t>
            </a:fld>
            <a:endParaRPr lang="en-US" altLang="zh-CN"/>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0322" name="Group 34"/>
          <p:cNvGraphicFramePr>
            <a:graphicFrameLocks noGrp="1"/>
          </p:cNvGraphicFramePr>
          <p:nvPr/>
        </p:nvGraphicFramePr>
        <p:xfrm>
          <a:off x="1295400" y="641350"/>
          <a:ext cx="6553200" cy="1036320"/>
        </p:xfrm>
        <a:graphic>
          <a:graphicData uri="http://schemas.openxmlformats.org/drawingml/2006/table">
            <a:tbl>
              <a:tblPr/>
              <a:tblGrid>
                <a:gridCol w="16764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tblGrid>
              <a:tr h="5175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MAXINT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75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1" lang="en-US" altLang="zh-CN" sz="2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1" lang="en-US" altLang="zh-CN" sz="2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4</a:t>
                      </a: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40323" name="Rectangle 35"/>
          <p:cNvSpPr>
            <a:spLocks noChangeArrowheads="1"/>
          </p:cNvSpPr>
          <p:nvPr/>
        </p:nvSpPr>
        <p:spPr bwMode="auto">
          <a:xfrm>
            <a:off x="1873250" y="152400"/>
            <a:ext cx="5746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t>0              1      2      3      4      5      6     7      8</a:t>
            </a:r>
          </a:p>
        </p:txBody>
      </p:sp>
      <p:graphicFrame>
        <p:nvGraphicFramePr>
          <p:cNvPr id="140356" name="Group 68"/>
          <p:cNvGraphicFramePr>
            <a:graphicFrameLocks noGrp="1"/>
          </p:cNvGraphicFramePr>
          <p:nvPr/>
        </p:nvGraphicFramePr>
        <p:xfrm>
          <a:off x="1295400" y="2133600"/>
          <a:ext cx="6553200" cy="1036320"/>
        </p:xfrm>
        <a:graphic>
          <a:graphicData uri="http://schemas.openxmlformats.org/drawingml/2006/table">
            <a:tbl>
              <a:tblPr/>
              <a:tblGrid>
                <a:gridCol w="16764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tblGrid>
              <a:tr h="5175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MAXINT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75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1" lang="en-US" altLang="zh-CN" sz="2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4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 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40389" name="Group 101"/>
          <p:cNvGraphicFramePr>
            <a:graphicFrameLocks noGrp="1"/>
          </p:cNvGraphicFramePr>
          <p:nvPr/>
        </p:nvGraphicFramePr>
        <p:xfrm>
          <a:off x="1295400" y="3613150"/>
          <a:ext cx="6553200" cy="1036320"/>
        </p:xfrm>
        <a:graphic>
          <a:graphicData uri="http://schemas.openxmlformats.org/drawingml/2006/table">
            <a:tbl>
              <a:tblPr/>
              <a:tblGrid>
                <a:gridCol w="16764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tblGrid>
              <a:tr h="5175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MAXINT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75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4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1" lang="en-US" altLang="zh-CN" sz="2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1" lang="en-US" altLang="zh-CN" sz="2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40422" name="Group 134"/>
          <p:cNvGraphicFramePr>
            <a:graphicFrameLocks noGrp="1"/>
          </p:cNvGraphicFramePr>
          <p:nvPr/>
        </p:nvGraphicFramePr>
        <p:xfrm>
          <a:off x="1295400" y="5060950"/>
          <a:ext cx="6553200" cy="1036320"/>
        </p:xfrm>
        <a:graphic>
          <a:graphicData uri="http://schemas.openxmlformats.org/drawingml/2006/table">
            <a:tbl>
              <a:tblPr/>
              <a:tblGrid>
                <a:gridCol w="16764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tblGrid>
              <a:tr h="5175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MAXINT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75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1" lang="en-US" altLang="zh-CN" sz="2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4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1" lang="en-US" altLang="zh-CN" sz="2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40423" name="Text Box 135"/>
          <p:cNvSpPr txBox="1">
            <a:spLocks noChangeArrowheads="1"/>
          </p:cNvSpPr>
          <p:nvPr/>
        </p:nvSpPr>
        <p:spPr bwMode="auto">
          <a:xfrm>
            <a:off x="228600" y="914400"/>
            <a:ext cx="838200" cy="4572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t>i=5</a:t>
            </a:r>
          </a:p>
        </p:txBody>
      </p:sp>
      <p:sp>
        <p:nvSpPr>
          <p:cNvPr id="140424" name="Text Box 136"/>
          <p:cNvSpPr txBox="1">
            <a:spLocks noChangeArrowheads="1"/>
          </p:cNvSpPr>
          <p:nvPr/>
        </p:nvSpPr>
        <p:spPr bwMode="auto">
          <a:xfrm>
            <a:off x="228600" y="2438400"/>
            <a:ext cx="838200" cy="4572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t>i=6</a:t>
            </a:r>
          </a:p>
        </p:txBody>
      </p:sp>
      <p:sp>
        <p:nvSpPr>
          <p:cNvPr id="140425" name="Text Box 137"/>
          <p:cNvSpPr txBox="1">
            <a:spLocks noChangeArrowheads="1"/>
          </p:cNvSpPr>
          <p:nvPr/>
        </p:nvSpPr>
        <p:spPr bwMode="auto">
          <a:xfrm>
            <a:off x="228600" y="3886200"/>
            <a:ext cx="838200" cy="4572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t>i=7</a:t>
            </a:r>
          </a:p>
        </p:txBody>
      </p:sp>
      <p:sp>
        <p:nvSpPr>
          <p:cNvPr id="140426" name="Text Box 138"/>
          <p:cNvSpPr txBox="1">
            <a:spLocks noChangeArrowheads="1"/>
          </p:cNvSpPr>
          <p:nvPr/>
        </p:nvSpPr>
        <p:spPr bwMode="auto">
          <a:xfrm>
            <a:off x="228600" y="5257800"/>
            <a:ext cx="838200" cy="4572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t>i=8</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38</a:t>
            </a:fld>
            <a:endParaRPr lang="en-US" altLang="zh-CN"/>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Text Box 2"/>
          <p:cNvSpPr txBox="1">
            <a:spLocks noChangeArrowheads="1"/>
          </p:cNvSpPr>
          <p:nvPr/>
        </p:nvSpPr>
        <p:spPr bwMode="auto">
          <a:xfrm>
            <a:off x="381000" y="76200"/>
            <a:ext cx="8610600" cy="6587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en-US" altLang="zh-CN" sz="3200" b="1" dirty="0">
                <a:ea typeface="楷体_GB2312" pitchFamily="49" charset="-122"/>
              </a:rPr>
              <a:t>void</a:t>
            </a:r>
            <a:r>
              <a:rPr lang="en-US" altLang="zh-CN" sz="3200" dirty="0">
                <a:ea typeface="楷体_GB2312" pitchFamily="49" charset="-122"/>
              </a:rPr>
              <a:t> </a:t>
            </a:r>
            <a:r>
              <a:rPr lang="en-US" altLang="zh-CN" sz="3200" dirty="0" err="1">
                <a:ea typeface="楷体_GB2312" pitchFamily="49" charset="-122"/>
              </a:rPr>
              <a:t>LInsertionSort</a:t>
            </a:r>
            <a:r>
              <a:rPr lang="en-US" altLang="zh-CN" sz="3200" dirty="0">
                <a:ea typeface="楷体_GB2312" pitchFamily="49" charset="-122"/>
              </a:rPr>
              <a:t> (Elem SL[ ]</a:t>
            </a:r>
            <a:r>
              <a:rPr lang="zh-CN" altLang="en-US" sz="3200" dirty="0">
                <a:ea typeface="楷体_GB2312" pitchFamily="49" charset="-122"/>
              </a:rPr>
              <a:t>， </a:t>
            </a:r>
            <a:r>
              <a:rPr lang="en-US" altLang="zh-CN" sz="3200" dirty="0" err="1">
                <a:ea typeface="楷体_GB2312" pitchFamily="49" charset="-122"/>
              </a:rPr>
              <a:t>int</a:t>
            </a:r>
            <a:r>
              <a:rPr lang="en-US" altLang="zh-CN" sz="3200" dirty="0">
                <a:ea typeface="楷体_GB2312" pitchFamily="49" charset="-122"/>
              </a:rPr>
              <a:t> n</a:t>
            </a:r>
            <a:r>
              <a:rPr lang="en-US" altLang="zh-CN" sz="3200">
                <a:ea typeface="楷体_GB2312" pitchFamily="49" charset="-122"/>
              </a:rPr>
              <a:t>)</a:t>
            </a:r>
            <a:r>
              <a:rPr lang="en-US" altLang="zh-CN" sz="3200" b="1">
                <a:ea typeface="楷体_GB2312" pitchFamily="49" charset="-122"/>
              </a:rPr>
              <a:t>{  </a:t>
            </a:r>
            <a:endParaRPr lang="en-US" altLang="zh-CN" sz="3200" dirty="0">
              <a:ea typeface="楷体_GB2312" pitchFamily="49" charset="-122"/>
            </a:endParaRPr>
          </a:p>
          <a:p>
            <a:pPr>
              <a:lnSpc>
                <a:spcPct val="120000"/>
              </a:lnSpc>
            </a:pPr>
            <a:r>
              <a:rPr lang="en-US" altLang="zh-CN" sz="3200" dirty="0">
                <a:ea typeface="楷体_GB2312" pitchFamily="49" charset="-122"/>
              </a:rPr>
              <a:t>     </a:t>
            </a:r>
            <a:r>
              <a:rPr lang="en-US" altLang="zh-CN" sz="3200" b="1" dirty="0">
                <a:solidFill>
                  <a:srgbClr val="006600"/>
                </a:solidFill>
                <a:ea typeface="楷体_GB2312" pitchFamily="49" charset="-122"/>
              </a:rPr>
              <a:t>// </a:t>
            </a:r>
            <a:r>
              <a:rPr lang="en-US" altLang="zh-CN" sz="3200" b="1" dirty="0">
                <a:solidFill>
                  <a:srgbClr val="006600"/>
                </a:solidFill>
                <a:ea typeface="楷体_GB2312" pitchFamily="49" charset="-122"/>
                <a:sym typeface="+mn-ea"/>
              </a:rPr>
              <a:t>Insertion sort for record sequence SL[1..n]</a:t>
            </a:r>
            <a:endParaRPr lang="zh-CN" altLang="en-US" sz="3200" b="1" dirty="0">
              <a:solidFill>
                <a:srgbClr val="006600"/>
              </a:solidFill>
              <a:ea typeface="楷体_GB2312" pitchFamily="49" charset="-122"/>
            </a:endParaRPr>
          </a:p>
          <a:p>
            <a:pPr>
              <a:lnSpc>
                <a:spcPct val="120000"/>
              </a:lnSpc>
            </a:pPr>
            <a:r>
              <a:rPr lang="zh-CN" altLang="en-US" sz="3200" dirty="0">
                <a:ea typeface="楷体_GB2312" pitchFamily="49" charset="-122"/>
              </a:rPr>
              <a:t>  </a:t>
            </a:r>
            <a:r>
              <a:rPr lang="en-US" altLang="zh-CN" sz="3200" dirty="0">
                <a:ea typeface="楷体_GB2312" pitchFamily="49" charset="-122"/>
              </a:rPr>
              <a:t>SL[0].key = MAXINT ;   </a:t>
            </a:r>
          </a:p>
          <a:p>
            <a:pPr>
              <a:lnSpc>
                <a:spcPct val="120000"/>
              </a:lnSpc>
            </a:pPr>
            <a:r>
              <a:rPr lang="en-US" altLang="zh-CN" sz="3200" b="1" dirty="0">
                <a:solidFill>
                  <a:srgbClr val="006600"/>
                </a:solidFill>
                <a:ea typeface="楷体_GB2312" pitchFamily="49" charset="-122"/>
              </a:rPr>
              <a:t>//</a:t>
            </a:r>
            <a:r>
              <a:rPr lang="en-US" altLang="zh-CN" sz="3200" b="1" dirty="0">
                <a:solidFill>
                  <a:srgbClr val="006600"/>
                </a:solidFill>
                <a:ea typeface="楷体_GB2312" pitchFamily="49" charset="-122"/>
                <a:sym typeface="+mn-ea"/>
              </a:rPr>
              <a:t>The 0th component is the header node</a:t>
            </a:r>
            <a:endParaRPr lang="zh-CN" altLang="en-US" sz="3200" b="1" dirty="0">
              <a:solidFill>
                <a:srgbClr val="006600"/>
              </a:solidFill>
              <a:ea typeface="楷体_GB2312" pitchFamily="49" charset="-122"/>
            </a:endParaRPr>
          </a:p>
          <a:p>
            <a:pPr>
              <a:lnSpc>
                <a:spcPct val="120000"/>
              </a:lnSpc>
            </a:pPr>
            <a:r>
              <a:rPr lang="zh-CN" altLang="en-US" sz="3200" dirty="0">
                <a:ea typeface="楷体_GB2312" pitchFamily="49" charset="-122"/>
              </a:rPr>
              <a:t>  </a:t>
            </a:r>
            <a:r>
              <a:rPr lang="en-US" altLang="zh-CN" sz="3200" dirty="0">
                <a:ea typeface="楷体_GB2312" pitchFamily="49" charset="-122"/>
              </a:rPr>
              <a:t>SL[0].next = 1;  SL[1].next = 0;</a:t>
            </a:r>
          </a:p>
          <a:p>
            <a:pPr>
              <a:lnSpc>
                <a:spcPct val="120000"/>
              </a:lnSpc>
            </a:pPr>
            <a:r>
              <a:rPr lang="en-US" altLang="zh-CN" sz="3200" dirty="0">
                <a:ea typeface="楷体_GB2312" pitchFamily="49" charset="-122"/>
              </a:rPr>
              <a:t>  </a:t>
            </a:r>
            <a:r>
              <a:rPr lang="en-US" altLang="zh-CN" sz="3200" b="1" dirty="0">
                <a:solidFill>
                  <a:srgbClr val="0000FF"/>
                </a:solidFill>
                <a:ea typeface="楷体_GB2312" pitchFamily="49" charset="-122"/>
              </a:rPr>
              <a:t>for</a:t>
            </a:r>
            <a:r>
              <a:rPr lang="en-US" altLang="zh-CN" sz="3200" dirty="0">
                <a:solidFill>
                  <a:srgbClr val="0000FF"/>
                </a:solidFill>
                <a:ea typeface="楷体_GB2312" pitchFamily="49" charset="-122"/>
              </a:rPr>
              <a:t> ( </a:t>
            </a:r>
            <a:r>
              <a:rPr lang="en-US" altLang="zh-CN" sz="3200" dirty="0" err="1">
                <a:solidFill>
                  <a:srgbClr val="0000FF"/>
                </a:solidFill>
                <a:ea typeface="楷体_GB2312" pitchFamily="49" charset="-122"/>
              </a:rPr>
              <a:t>i</a:t>
            </a:r>
            <a:r>
              <a:rPr lang="en-US" altLang="zh-CN" sz="3200" dirty="0">
                <a:solidFill>
                  <a:srgbClr val="0000FF"/>
                </a:solidFill>
                <a:ea typeface="楷体_GB2312" pitchFamily="49" charset="-122"/>
              </a:rPr>
              <a:t>=2; </a:t>
            </a:r>
            <a:r>
              <a:rPr lang="en-US" altLang="zh-CN" sz="3200" dirty="0" err="1">
                <a:solidFill>
                  <a:srgbClr val="0000FF"/>
                </a:solidFill>
                <a:ea typeface="楷体_GB2312" pitchFamily="49" charset="-122"/>
              </a:rPr>
              <a:t>i</a:t>
            </a:r>
            <a:r>
              <a:rPr lang="en-US" altLang="zh-CN" sz="3200" dirty="0">
                <a:solidFill>
                  <a:srgbClr val="0000FF"/>
                </a:solidFill>
                <a:ea typeface="楷体_GB2312" pitchFamily="49" charset="-122"/>
              </a:rPr>
              <a:t>&lt;=n; </a:t>
            </a:r>
            <a:r>
              <a:rPr lang="en-US" altLang="zh-CN" sz="3200" b="1" dirty="0">
                <a:solidFill>
                  <a:srgbClr val="0000FF"/>
                </a:solidFill>
                <a:ea typeface="楷体_GB2312" pitchFamily="49" charset="-122"/>
              </a:rPr>
              <a:t>++</a:t>
            </a:r>
            <a:r>
              <a:rPr lang="en-US" altLang="zh-CN" sz="3200" dirty="0" err="1">
                <a:solidFill>
                  <a:srgbClr val="0000FF"/>
                </a:solidFill>
                <a:ea typeface="楷体_GB2312" pitchFamily="49" charset="-122"/>
              </a:rPr>
              <a:t>i</a:t>
            </a:r>
            <a:r>
              <a:rPr lang="en-US" altLang="zh-CN" sz="3200" dirty="0">
                <a:solidFill>
                  <a:srgbClr val="0000FF"/>
                </a:solidFill>
                <a:ea typeface="楷体_GB2312" pitchFamily="49" charset="-122"/>
              </a:rPr>
              <a:t> )</a:t>
            </a:r>
            <a:endParaRPr lang="en-US" altLang="zh-CN" sz="3200" dirty="0">
              <a:ea typeface="楷体_GB2312" pitchFamily="49" charset="-122"/>
            </a:endParaRPr>
          </a:p>
          <a:p>
            <a:pPr>
              <a:lnSpc>
                <a:spcPct val="120000"/>
              </a:lnSpc>
            </a:pPr>
            <a:r>
              <a:rPr lang="en-US" altLang="zh-CN" sz="3200" b="1" dirty="0">
                <a:ea typeface="楷体_GB2312" pitchFamily="49" charset="-122"/>
              </a:rPr>
              <a:t>      for </a:t>
            </a:r>
            <a:r>
              <a:rPr lang="en-US" altLang="zh-CN" sz="3200" dirty="0">
                <a:ea typeface="楷体_GB2312" pitchFamily="49" charset="-122"/>
              </a:rPr>
              <a:t>( j=0, k = SL[0].</a:t>
            </a:r>
            <a:r>
              <a:rPr lang="en-US" altLang="zh-CN" sz="3200" dirty="0" err="1">
                <a:ea typeface="楷体_GB2312" pitchFamily="49" charset="-122"/>
              </a:rPr>
              <a:t>next;</a:t>
            </a:r>
            <a:r>
              <a:rPr lang="en-US" altLang="zh-CN" sz="3200" b="1" dirty="0" err="1">
                <a:solidFill>
                  <a:srgbClr val="840C26"/>
                </a:solidFill>
                <a:ea typeface="楷体_GB2312" pitchFamily="49" charset="-122"/>
              </a:rPr>
              <a:t>SL</a:t>
            </a:r>
            <a:r>
              <a:rPr lang="en-US" altLang="zh-CN" sz="3200" b="1" dirty="0">
                <a:solidFill>
                  <a:srgbClr val="840C26"/>
                </a:solidFill>
                <a:ea typeface="楷体_GB2312" pitchFamily="49" charset="-122"/>
              </a:rPr>
              <a:t>[k].key&lt;</a:t>
            </a:r>
            <a:endParaRPr lang="en-US" altLang="zh-CN" sz="3200" dirty="0">
              <a:ea typeface="楷体_GB2312" pitchFamily="49" charset="-122"/>
            </a:endParaRPr>
          </a:p>
          <a:p>
            <a:pPr>
              <a:lnSpc>
                <a:spcPct val="120000"/>
              </a:lnSpc>
            </a:pPr>
            <a:r>
              <a:rPr lang="en-US" altLang="zh-CN" sz="3200" dirty="0">
                <a:ea typeface="楷体_GB2312" pitchFamily="49" charset="-122"/>
              </a:rPr>
              <a:t>                </a:t>
            </a:r>
            <a:r>
              <a:rPr lang="en-US" altLang="zh-CN" sz="3200" b="1" dirty="0">
                <a:solidFill>
                  <a:srgbClr val="840C26"/>
                </a:solidFill>
                <a:ea typeface="楷体_GB2312" pitchFamily="49" charset="-122"/>
              </a:rPr>
              <a:t>SL[</a:t>
            </a:r>
            <a:r>
              <a:rPr lang="en-US" altLang="zh-CN" sz="3200" b="1" dirty="0" err="1">
                <a:solidFill>
                  <a:srgbClr val="840C26"/>
                </a:solidFill>
                <a:ea typeface="楷体_GB2312" pitchFamily="49" charset="-122"/>
              </a:rPr>
              <a:t>i</a:t>
            </a:r>
            <a:r>
              <a:rPr lang="en-US" altLang="zh-CN" sz="3200" b="1" dirty="0">
                <a:solidFill>
                  <a:srgbClr val="840C26"/>
                </a:solidFill>
                <a:ea typeface="楷体_GB2312" pitchFamily="49" charset="-122"/>
              </a:rPr>
              <a:t>].key</a:t>
            </a:r>
            <a:r>
              <a:rPr lang="en-US" altLang="zh-CN" sz="3200" dirty="0">
                <a:ea typeface="楷体_GB2312" pitchFamily="49" charset="-122"/>
              </a:rPr>
              <a:t> </a:t>
            </a:r>
            <a:r>
              <a:rPr lang="en-US" altLang="zh-CN" sz="3200" b="1" dirty="0">
                <a:ea typeface="楷体_GB2312" pitchFamily="49" charset="-122"/>
              </a:rPr>
              <a:t>; j=k, k=SL[k].next );</a:t>
            </a:r>
          </a:p>
          <a:p>
            <a:pPr>
              <a:lnSpc>
                <a:spcPct val="120000"/>
              </a:lnSpc>
            </a:pPr>
            <a:r>
              <a:rPr lang="en-US" altLang="zh-CN" sz="3200" b="1" dirty="0">
                <a:solidFill>
                  <a:srgbClr val="004644"/>
                </a:solidFill>
                <a:ea typeface="楷体_GB2312" pitchFamily="49" charset="-122"/>
              </a:rPr>
              <a:t>      SL[j].next = </a:t>
            </a:r>
            <a:r>
              <a:rPr lang="en-US" altLang="zh-CN" sz="3200" b="1" dirty="0" err="1">
                <a:solidFill>
                  <a:srgbClr val="004644"/>
                </a:solidFill>
                <a:ea typeface="楷体_GB2312" pitchFamily="49" charset="-122"/>
              </a:rPr>
              <a:t>i</a:t>
            </a:r>
            <a:r>
              <a:rPr lang="en-US" altLang="zh-CN" sz="3200" b="1" dirty="0">
                <a:solidFill>
                  <a:srgbClr val="004644"/>
                </a:solidFill>
                <a:ea typeface="楷体_GB2312" pitchFamily="49" charset="-122"/>
              </a:rPr>
              <a:t>;  SL[</a:t>
            </a:r>
            <a:r>
              <a:rPr lang="en-US" altLang="zh-CN" sz="3200" b="1" dirty="0" err="1">
                <a:solidFill>
                  <a:srgbClr val="004644"/>
                </a:solidFill>
                <a:ea typeface="楷体_GB2312" pitchFamily="49" charset="-122"/>
              </a:rPr>
              <a:t>i</a:t>
            </a:r>
            <a:r>
              <a:rPr lang="en-US" altLang="zh-CN" sz="3200" b="1" dirty="0">
                <a:solidFill>
                  <a:srgbClr val="004644"/>
                </a:solidFill>
                <a:ea typeface="楷体_GB2312" pitchFamily="49" charset="-122"/>
              </a:rPr>
              <a:t>].next = k;</a:t>
            </a:r>
            <a:r>
              <a:rPr lang="en-US" altLang="zh-CN" sz="3200" dirty="0">
                <a:solidFill>
                  <a:srgbClr val="004644"/>
                </a:solidFill>
                <a:ea typeface="楷体_GB2312" pitchFamily="49" charset="-122"/>
              </a:rPr>
              <a:t> </a:t>
            </a:r>
            <a:endParaRPr lang="en-US" altLang="zh-CN" sz="3200" b="1" dirty="0">
              <a:ea typeface="楷体_GB2312" pitchFamily="49" charset="-122"/>
            </a:endParaRPr>
          </a:p>
          <a:p>
            <a:pPr>
              <a:lnSpc>
                <a:spcPct val="120000"/>
              </a:lnSpc>
            </a:pPr>
            <a:r>
              <a:rPr lang="en-US" altLang="zh-CN" sz="3200" dirty="0">
                <a:ea typeface="楷体_GB2312" pitchFamily="49" charset="-122"/>
              </a:rPr>
              <a:t>                    </a:t>
            </a:r>
            <a:r>
              <a:rPr lang="en-US" altLang="zh-CN" sz="3200" b="1" dirty="0">
                <a:solidFill>
                  <a:srgbClr val="006600"/>
                </a:solidFill>
                <a:ea typeface="楷体_GB2312" pitchFamily="49" charset="-122"/>
              </a:rPr>
              <a:t>//</a:t>
            </a:r>
            <a:r>
              <a:rPr lang="en-US" altLang="zh-CN" sz="3200" b="1" dirty="0">
                <a:solidFill>
                  <a:srgbClr val="006600"/>
                </a:solidFill>
                <a:ea typeface="楷体_GB2312" pitchFamily="49" charset="-122"/>
                <a:sym typeface="+mn-ea"/>
              </a:rPr>
              <a:t>Insert node i between nodes j and k</a:t>
            </a:r>
            <a:endParaRPr lang="zh-CN" altLang="en-US" sz="3200" b="1" dirty="0">
              <a:solidFill>
                <a:srgbClr val="006600"/>
              </a:solidFill>
              <a:ea typeface="楷体_GB2312" pitchFamily="49" charset="-122"/>
            </a:endParaRPr>
          </a:p>
          <a:p>
            <a:pPr>
              <a:lnSpc>
                <a:spcPct val="120000"/>
              </a:lnSpc>
            </a:pPr>
            <a:r>
              <a:rPr lang="en-US" altLang="zh-CN" sz="3200" b="1" dirty="0">
                <a:ea typeface="楷体_GB2312" pitchFamily="49" charset="-122"/>
              </a:rPr>
              <a:t>}</a:t>
            </a:r>
            <a:r>
              <a:rPr lang="en-US" altLang="zh-CN" sz="3200" dirty="0">
                <a:ea typeface="楷体_GB2312" pitchFamily="49" charset="-122"/>
              </a:rPr>
              <a:t>// </a:t>
            </a:r>
            <a:r>
              <a:rPr lang="en-US" altLang="zh-CN" sz="3200" dirty="0" err="1">
                <a:ea typeface="楷体_GB2312" pitchFamily="49" charset="-122"/>
              </a:rPr>
              <a:t>LinsertionSort</a:t>
            </a:r>
            <a:endParaRPr lang="en-US" altLang="zh-CN" sz="3200" dirty="0">
              <a:ea typeface="楷体_GB2312" pitchFamily="49" charset="-122"/>
            </a:endParaRP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39</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34146"/>
                                        </p:tgtEl>
                                        <p:attrNameLst>
                                          <p:attrName>style.visibility</p:attrName>
                                        </p:attrNameLst>
                                      </p:cBhvr>
                                      <p:to>
                                        <p:strVal val="visible"/>
                                      </p:to>
                                    </p:set>
                                    <p:animEffect transition="in" filter="strips(downRight)">
                                      <p:cBhvr>
                                        <p:cTn id="7" dur="500"/>
                                        <p:tgtEl>
                                          <p:spTgt spid="134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6" grpId="0" bldLvl="0" animBg="1"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Text Box 2"/>
          <p:cNvSpPr txBox="1">
            <a:spLocks noChangeArrowheads="1"/>
          </p:cNvSpPr>
          <p:nvPr/>
        </p:nvSpPr>
        <p:spPr bwMode="auto">
          <a:xfrm>
            <a:off x="533400" y="3533775"/>
            <a:ext cx="8411210" cy="2158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20000"/>
              </a:lnSpc>
            </a:pPr>
            <a:r>
              <a:rPr lang="en-US" altLang="zh-CN">
                <a:latin typeface="Arial" panose="020B0604020202020204" pitchFamily="34" charset="0"/>
                <a:cs typeface="Arial" panose="020B0604020202020204" pitchFamily="34" charset="0"/>
              </a:rPr>
              <a:t>The algorithm uses three pointers:</a:t>
            </a:r>
          </a:p>
          <a:p>
            <a:pPr algn="l">
              <a:lnSpc>
                <a:spcPct val="120000"/>
              </a:lnSpc>
            </a:pPr>
            <a:r>
              <a:rPr lang="en-US" altLang="zh-CN">
                <a:solidFill>
                  <a:srgbClr val="9933FF"/>
                </a:solidFill>
                <a:latin typeface="Arial" panose="020B0604020202020204" pitchFamily="34" charset="0"/>
                <a:ea typeface="楷体_GB2312" pitchFamily="49" charset="-122"/>
                <a:cs typeface="Arial" panose="020B0604020202020204" pitchFamily="34" charset="0"/>
              </a:rPr>
              <a:t>p</a:t>
            </a:r>
            <a:r>
              <a:rPr lang="en-US" altLang="zh-CN">
                <a:latin typeface="Arial" panose="020B0604020202020204" pitchFamily="34" charset="0"/>
                <a:cs typeface="Arial" panose="020B0604020202020204" pitchFamily="34" charset="0"/>
              </a:rPr>
              <a:t>: Points to the current position of the i-th record</a:t>
            </a:r>
          </a:p>
          <a:p>
            <a:pPr algn="l">
              <a:lnSpc>
                <a:spcPct val="120000"/>
              </a:lnSpc>
            </a:pPr>
            <a:r>
              <a:rPr lang="en-US" altLang="zh-CN">
                <a:solidFill>
                  <a:srgbClr val="FF6600"/>
                </a:solidFill>
                <a:latin typeface="Arial" panose="020B0604020202020204" pitchFamily="34" charset="0"/>
                <a:ea typeface="楷体_GB2312" pitchFamily="49" charset="-122"/>
                <a:cs typeface="Arial" panose="020B0604020202020204" pitchFamily="34" charset="0"/>
                <a:sym typeface="+mn-ea"/>
              </a:rPr>
              <a:t>i</a:t>
            </a:r>
            <a:r>
              <a:rPr lang="en-US" altLang="zh-CN">
                <a:latin typeface="Arial" panose="020B0604020202020204" pitchFamily="34" charset="0"/>
                <a:cs typeface="Arial" panose="020B0604020202020204" pitchFamily="34" charset="0"/>
              </a:rPr>
              <a:t>: Points to the target position of the i-th record</a:t>
            </a:r>
          </a:p>
          <a:p>
            <a:pPr algn="l">
              <a:lnSpc>
                <a:spcPct val="120000"/>
              </a:lnSpc>
            </a:pPr>
            <a:r>
              <a:rPr lang="en-US" altLang="zh-CN">
                <a:solidFill>
                  <a:srgbClr val="FF00FF"/>
                </a:solidFill>
                <a:latin typeface="Arial" panose="020B0604020202020204" pitchFamily="34" charset="0"/>
                <a:ea typeface="楷体_GB2312" pitchFamily="49" charset="-122"/>
                <a:cs typeface="Arial" panose="020B0604020202020204" pitchFamily="34" charset="0"/>
              </a:rPr>
              <a:t>q</a:t>
            </a:r>
            <a:r>
              <a:rPr lang="en-US" altLang="zh-CN">
                <a:latin typeface="Arial" panose="020B0604020202020204" pitchFamily="34" charset="0"/>
                <a:cs typeface="Arial" panose="020B0604020202020204" pitchFamily="34" charset="0"/>
              </a:rPr>
              <a:t>: Points to the current position of the (i+1)-th record</a:t>
            </a:r>
          </a:p>
        </p:txBody>
      </p:sp>
      <p:sp>
        <p:nvSpPr>
          <p:cNvPr id="135171" name="Text Box 3"/>
          <p:cNvSpPr txBox="1">
            <a:spLocks noChangeArrowheads="1"/>
          </p:cNvSpPr>
          <p:nvPr/>
        </p:nvSpPr>
        <p:spPr bwMode="auto">
          <a:xfrm>
            <a:off x="457200" y="2803525"/>
            <a:ext cx="7786688" cy="46037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dirty="0">
                <a:solidFill>
                  <a:srgbClr val="993300"/>
                </a:solidFill>
                <a:latin typeface="Arial" panose="020B0604020202020204" pitchFamily="34" charset="0"/>
                <a:ea typeface="楷体_GB2312" pitchFamily="49" charset="-122"/>
                <a:cs typeface="Arial" panose="020B0604020202020204" pitchFamily="34" charset="0"/>
              </a:rPr>
              <a:t>How to adjust the record sequence after sorting?</a:t>
            </a:r>
          </a:p>
        </p:txBody>
      </p:sp>
      <p:sp>
        <p:nvSpPr>
          <p:cNvPr id="135172" name="Text Box 4"/>
          <p:cNvSpPr txBox="1">
            <a:spLocks noChangeArrowheads="1"/>
          </p:cNvSpPr>
          <p:nvPr/>
        </p:nvSpPr>
        <p:spPr bwMode="auto">
          <a:xfrm>
            <a:off x="533401" y="358785"/>
            <a:ext cx="7639000" cy="2245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b="1" dirty="0">
                <a:latin typeface="Arial" panose="020B0604020202020204" pitchFamily="34" charset="0"/>
                <a:ea typeface="楷体_GB2312" pitchFamily="49" charset="-122"/>
                <a:cs typeface="Arial" panose="020B0604020202020204" pitchFamily="34" charset="0"/>
              </a:rPr>
              <a:t>The result of list insertion sort is an ordered linked list, which </a:t>
            </a:r>
            <a:r>
              <a:rPr lang="zh-CN" altLang="en-US" b="1" dirty="0">
                <a:solidFill>
                  <a:srgbClr val="993300"/>
                </a:solidFill>
                <a:latin typeface="Arial" panose="020B0604020202020204" pitchFamily="34" charset="0"/>
                <a:ea typeface="楷体_GB2312" pitchFamily="49" charset="-122"/>
                <a:cs typeface="Arial" panose="020B0604020202020204" pitchFamily="34" charset="0"/>
              </a:rPr>
              <a:t>only supports sequential search (not random access)</a:t>
            </a:r>
            <a:r>
              <a:rPr lang="en-US" altLang="zh-CN" b="1" dirty="0">
                <a:latin typeface="Arial" panose="020B0604020202020204" pitchFamily="34" charset="0"/>
                <a:ea typeface="楷体_GB2312" pitchFamily="49" charset="-122"/>
                <a:cs typeface="Arial" panose="020B0604020202020204" pitchFamily="34" charset="0"/>
              </a:rPr>
              <a:t>. To enable binary search on the ordered list, we must </a:t>
            </a:r>
            <a:r>
              <a:rPr lang="zh-CN" altLang="en-US" b="1" dirty="0">
                <a:solidFill>
                  <a:srgbClr val="993300"/>
                </a:solidFill>
                <a:latin typeface="Arial" panose="020B0604020202020204" pitchFamily="34" charset="0"/>
                <a:ea typeface="楷体_GB2312" pitchFamily="49" charset="-122"/>
                <a:cs typeface="Arial" panose="020B0604020202020204" pitchFamily="34" charset="0"/>
              </a:rPr>
              <a:t>reorder</a:t>
            </a:r>
            <a:r>
              <a:rPr lang="en-US" altLang="zh-CN" b="1" dirty="0">
                <a:latin typeface="Arial" panose="020B0604020202020204" pitchFamily="34" charset="0"/>
                <a:ea typeface="楷体_GB2312" pitchFamily="49" charset="-122"/>
                <a:cs typeface="Arial" panose="020B0604020202020204" pitchFamily="34" charset="0"/>
              </a:rPr>
              <a:t> the records.</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40</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5171"/>
                                        </p:tgtEl>
                                        <p:attrNameLst>
                                          <p:attrName>style.visibility</p:attrName>
                                        </p:attrNameLst>
                                      </p:cBhvr>
                                      <p:to>
                                        <p:strVal val="visible"/>
                                      </p:to>
                                    </p:set>
                                    <p:animEffect transition="in" filter="wipe(left)">
                                      <p:cBhvr>
                                        <p:cTn id="7" dur="500"/>
                                        <p:tgtEl>
                                          <p:spTgt spid="135171"/>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4" fill="hold" grpId="0" nodeType="clickEffect">
                                  <p:stCondLst>
                                    <p:cond delay="0"/>
                                  </p:stCondLst>
                                  <p:childTnLst>
                                    <p:set>
                                      <p:cBhvr>
                                        <p:cTn id="11" dur="1" fill="hold">
                                          <p:stCondLst>
                                            <p:cond delay="0"/>
                                          </p:stCondLst>
                                        </p:cTn>
                                        <p:tgtEl>
                                          <p:spTgt spid="135170"/>
                                        </p:tgtEl>
                                        <p:attrNameLst>
                                          <p:attrName>style.visibility</p:attrName>
                                        </p:attrNameLst>
                                      </p:cBhvr>
                                      <p:to>
                                        <p:strVal val="visible"/>
                                      </p:to>
                                    </p:set>
                                    <p:anim calcmode="lin" valueType="num">
                                      <p:cBhvr>
                                        <p:cTn id="12" dur="500" fill="hold"/>
                                        <p:tgtEl>
                                          <p:spTgt spid="135170"/>
                                        </p:tgtEl>
                                        <p:attrNameLst>
                                          <p:attrName>ppt_x</p:attrName>
                                        </p:attrNameLst>
                                      </p:cBhvr>
                                      <p:tavLst>
                                        <p:tav tm="0">
                                          <p:val>
                                            <p:strVal val="#ppt_x"/>
                                          </p:val>
                                        </p:tav>
                                        <p:tav tm="100000">
                                          <p:val>
                                            <p:strVal val="#ppt_x"/>
                                          </p:val>
                                        </p:tav>
                                      </p:tavLst>
                                    </p:anim>
                                    <p:anim calcmode="lin" valueType="num">
                                      <p:cBhvr>
                                        <p:cTn id="13" dur="500" fill="hold"/>
                                        <p:tgtEl>
                                          <p:spTgt spid="135170"/>
                                        </p:tgtEl>
                                        <p:attrNameLst>
                                          <p:attrName>ppt_y</p:attrName>
                                        </p:attrNameLst>
                                      </p:cBhvr>
                                      <p:tavLst>
                                        <p:tav tm="0">
                                          <p:val>
                                            <p:strVal val="#ppt_y+#ppt_h/2"/>
                                          </p:val>
                                        </p:tav>
                                        <p:tav tm="100000">
                                          <p:val>
                                            <p:strVal val="#ppt_y"/>
                                          </p:val>
                                        </p:tav>
                                      </p:tavLst>
                                    </p:anim>
                                    <p:anim calcmode="lin" valueType="num">
                                      <p:cBhvr>
                                        <p:cTn id="14" dur="500" fill="hold"/>
                                        <p:tgtEl>
                                          <p:spTgt spid="135170"/>
                                        </p:tgtEl>
                                        <p:attrNameLst>
                                          <p:attrName>ppt_w</p:attrName>
                                        </p:attrNameLst>
                                      </p:cBhvr>
                                      <p:tavLst>
                                        <p:tav tm="0">
                                          <p:val>
                                            <p:strVal val="#ppt_w"/>
                                          </p:val>
                                        </p:tav>
                                        <p:tav tm="100000">
                                          <p:val>
                                            <p:strVal val="#ppt_w"/>
                                          </p:val>
                                        </p:tav>
                                      </p:tavLst>
                                    </p:anim>
                                    <p:anim calcmode="lin" valueType="num">
                                      <p:cBhvr>
                                        <p:cTn id="15" dur="500" fill="hold"/>
                                        <p:tgtEl>
                                          <p:spTgt spid="13517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0" grpId="0" bldLvl="0" animBg="1" autoUpdateAnimBg="0"/>
      <p:bldP spid="135171" grpId="0" bldLvl="0" animBg="1"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1314" name="Group 2"/>
          <p:cNvGraphicFramePr>
            <a:graphicFrameLocks noGrp="1"/>
          </p:cNvGraphicFramePr>
          <p:nvPr/>
        </p:nvGraphicFramePr>
        <p:xfrm>
          <a:off x="1447800" y="533400"/>
          <a:ext cx="6553200" cy="1036320"/>
        </p:xfrm>
        <a:graphic>
          <a:graphicData uri="http://schemas.openxmlformats.org/drawingml/2006/table">
            <a:tbl>
              <a:tblPr/>
              <a:tblGrid>
                <a:gridCol w="16764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tblGrid>
              <a:tr h="3683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MAXINT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83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4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41346" name="Text Box 34"/>
          <p:cNvSpPr txBox="1">
            <a:spLocks noChangeArrowheads="1"/>
          </p:cNvSpPr>
          <p:nvPr/>
        </p:nvSpPr>
        <p:spPr bwMode="auto">
          <a:xfrm>
            <a:off x="1447800" y="0"/>
            <a:ext cx="6934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dirty="0"/>
              <a:t>        </a:t>
            </a:r>
            <a:r>
              <a:rPr lang="en-US" altLang="zh-CN" sz="2400" b="1" dirty="0"/>
              <a:t>0              1      2      3      4      5      6     7      8</a:t>
            </a:r>
          </a:p>
        </p:txBody>
      </p:sp>
      <p:sp>
        <p:nvSpPr>
          <p:cNvPr id="141347" name="Text Box 35"/>
          <p:cNvSpPr txBox="1">
            <a:spLocks noChangeArrowheads="1"/>
          </p:cNvSpPr>
          <p:nvPr/>
        </p:nvSpPr>
        <p:spPr bwMode="auto">
          <a:xfrm>
            <a:off x="0" y="762000"/>
            <a:ext cx="1447800" cy="829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sym typeface="+mn-ea"/>
              </a:rPr>
              <a:t>initial status</a:t>
            </a:r>
            <a:endParaRPr lang="zh-CN" altLang="en-US" sz="2400" b="1"/>
          </a:p>
        </p:txBody>
      </p:sp>
      <p:sp>
        <p:nvSpPr>
          <p:cNvPr id="141348" name="Text Box 36"/>
          <p:cNvSpPr txBox="1">
            <a:spLocks noChangeArrowheads="1"/>
          </p:cNvSpPr>
          <p:nvPr/>
        </p:nvSpPr>
        <p:spPr bwMode="auto">
          <a:xfrm>
            <a:off x="8039257" y="1772180"/>
            <a:ext cx="1066800" cy="829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dirty="0">
                <a:sym typeface="+mn-ea"/>
              </a:rPr>
              <a:t>Key field</a:t>
            </a:r>
            <a:endParaRPr lang="zh-CN" altLang="en-US" sz="2400" b="1" dirty="0"/>
          </a:p>
        </p:txBody>
      </p:sp>
      <p:sp>
        <p:nvSpPr>
          <p:cNvPr id="141349" name="Text Box 37"/>
          <p:cNvSpPr txBox="1">
            <a:spLocks noChangeArrowheads="1"/>
          </p:cNvSpPr>
          <p:nvPr/>
        </p:nvSpPr>
        <p:spPr bwMode="auto">
          <a:xfrm>
            <a:off x="8039100" y="2469356"/>
            <a:ext cx="1143000" cy="829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dirty="0">
                <a:sym typeface="+mn-ea"/>
              </a:rPr>
              <a:t>Next field</a:t>
            </a:r>
            <a:endParaRPr lang="zh-CN" altLang="en-US" sz="2400" b="1" dirty="0"/>
          </a:p>
        </p:txBody>
      </p:sp>
      <p:graphicFrame>
        <p:nvGraphicFramePr>
          <p:cNvPr id="141456" name="Group 144"/>
          <p:cNvGraphicFramePr>
            <a:graphicFrameLocks noGrp="1"/>
          </p:cNvGraphicFramePr>
          <p:nvPr/>
        </p:nvGraphicFramePr>
        <p:xfrm>
          <a:off x="1447800" y="1905000"/>
          <a:ext cx="6553200" cy="1036320"/>
        </p:xfrm>
        <a:graphic>
          <a:graphicData uri="http://schemas.openxmlformats.org/drawingml/2006/table">
            <a:tbl>
              <a:tblPr/>
              <a:tblGrid>
                <a:gridCol w="16764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tblGrid>
              <a:tr h="5175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MAXINT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49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75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 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4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 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41458" name="Group 146"/>
          <p:cNvGraphicFramePr>
            <a:graphicFrameLocks noGrp="1"/>
          </p:cNvGraphicFramePr>
          <p:nvPr/>
        </p:nvGraphicFramePr>
        <p:xfrm>
          <a:off x="1447800" y="3308350"/>
          <a:ext cx="6553200" cy="1036320"/>
        </p:xfrm>
        <a:graphic>
          <a:graphicData uri="http://schemas.openxmlformats.org/drawingml/2006/table">
            <a:tbl>
              <a:tblPr/>
              <a:tblGrid>
                <a:gridCol w="16764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tblGrid>
              <a:tr h="5175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MAXINT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27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38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75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 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4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 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41460" name="Group 148"/>
          <p:cNvGraphicFramePr>
            <a:graphicFrameLocks noGrp="1"/>
          </p:cNvGraphicFramePr>
          <p:nvPr/>
        </p:nvGraphicFramePr>
        <p:xfrm>
          <a:off x="1447800" y="4816475"/>
          <a:ext cx="6553200" cy="1051560"/>
        </p:xfrm>
        <a:graphic>
          <a:graphicData uri="http://schemas.openxmlformats.org/drawingml/2006/table">
            <a:tbl>
              <a:tblPr/>
              <a:tblGrid>
                <a:gridCol w="16764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tblGrid>
              <a:tr h="5175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MAXINT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38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65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34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 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4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 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41446" name="Text Box 134"/>
          <p:cNvSpPr txBox="1">
            <a:spLocks noChangeArrowheads="1"/>
          </p:cNvSpPr>
          <p:nvPr/>
        </p:nvSpPr>
        <p:spPr bwMode="auto">
          <a:xfrm>
            <a:off x="228600" y="1966913"/>
            <a:ext cx="762000" cy="1004887"/>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50000"/>
              </a:lnSpc>
              <a:spcBef>
                <a:spcPct val="50000"/>
              </a:spcBef>
            </a:pPr>
            <a:r>
              <a:rPr lang="en-US" altLang="zh-CN" sz="2400" b="1"/>
              <a:t>i=1</a:t>
            </a:r>
          </a:p>
          <a:p>
            <a:pPr>
              <a:lnSpc>
                <a:spcPct val="50000"/>
              </a:lnSpc>
              <a:spcBef>
                <a:spcPct val="50000"/>
              </a:spcBef>
            </a:pPr>
            <a:r>
              <a:rPr lang="en-US" altLang="zh-CN" sz="2400" b="1"/>
              <a:t>p=6</a:t>
            </a:r>
          </a:p>
          <a:p>
            <a:pPr>
              <a:lnSpc>
                <a:spcPct val="50000"/>
              </a:lnSpc>
              <a:spcBef>
                <a:spcPct val="50000"/>
              </a:spcBef>
            </a:pPr>
            <a:r>
              <a:rPr lang="en-US" altLang="zh-CN" sz="2400" b="1"/>
              <a:t>q=7</a:t>
            </a:r>
          </a:p>
        </p:txBody>
      </p:sp>
      <p:sp>
        <p:nvSpPr>
          <p:cNvPr id="141447" name="Text Box 135"/>
          <p:cNvSpPr txBox="1">
            <a:spLocks noChangeArrowheads="1"/>
          </p:cNvSpPr>
          <p:nvPr/>
        </p:nvSpPr>
        <p:spPr bwMode="auto">
          <a:xfrm>
            <a:off x="228600" y="3276600"/>
            <a:ext cx="838200" cy="1004888"/>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50000"/>
              </a:lnSpc>
              <a:spcBef>
                <a:spcPct val="50000"/>
              </a:spcBef>
            </a:pPr>
            <a:r>
              <a:rPr lang="en-US" altLang="zh-CN" sz="2400" b="1"/>
              <a:t>i=2</a:t>
            </a:r>
          </a:p>
          <a:p>
            <a:pPr>
              <a:lnSpc>
                <a:spcPct val="50000"/>
              </a:lnSpc>
              <a:spcBef>
                <a:spcPct val="50000"/>
              </a:spcBef>
            </a:pPr>
            <a:r>
              <a:rPr lang="en-US" altLang="zh-CN" sz="2400" b="1"/>
              <a:t>p=7</a:t>
            </a:r>
          </a:p>
          <a:p>
            <a:pPr>
              <a:lnSpc>
                <a:spcPct val="50000"/>
              </a:lnSpc>
              <a:spcBef>
                <a:spcPct val="50000"/>
              </a:spcBef>
            </a:pPr>
            <a:r>
              <a:rPr lang="en-US" altLang="zh-CN" sz="2400" b="1"/>
              <a:t>q=2</a:t>
            </a:r>
          </a:p>
        </p:txBody>
      </p:sp>
      <p:sp>
        <p:nvSpPr>
          <p:cNvPr id="141448" name="Text Box 136"/>
          <p:cNvSpPr txBox="1">
            <a:spLocks noChangeArrowheads="1"/>
          </p:cNvSpPr>
          <p:nvPr/>
        </p:nvSpPr>
        <p:spPr bwMode="auto">
          <a:xfrm>
            <a:off x="228600" y="4724400"/>
            <a:ext cx="914400" cy="1370013"/>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50000"/>
              </a:lnSpc>
              <a:spcBef>
                <a:spcPct val="50000"/>
              </a:spcBef>
            </a:pPr>
            <a:r>
              <a:rPr lang="en-US" altLang="zh-CN" sz="2400" b="1"/>
              <a:t>i=3</a:t>
            </a:r>
          </a:p>
          <a:p>
            <a:pPr>
              <a:lnSpc>
                <a:spcPct val="50000"/>
              </a:lnSpc>
              <a:spcBef>
                <a:spcPct val="50000"/>
              </a:spcBef>
            </a:pPr>
            <a:r>
              <a:rPr lang="en-US" altLang="zh-CN" sz="2400" b="1"/>
              <a:t>p=(2)</a:t>
            </a:r>
          </a:p>
          <a:p>
            <a:pPr>
              <a:lnSpc>
                <a:spcPct val="50000"/>
              </a:lnSpc>
              <a:spcBef>
                <a:spcPct val="50000"/>
              </a:spcBef>
            </a:pPr>
            <a:r>
              <a:rPr lang="en-US" altLang="zh-CN" sz="2400" b="1"/>
              <a:t>p=7</a:t>
            </a:r>
          </a:p>
          <a:p>
            <a:pPr>
              <a:lnSpc>
                <a:spcPct val="50000"/>
              </a:lnSpc>
              <a:spcBef>
                <a:spcPct val="50000"/>
              </a:spcBef>
            </a:pPr>
            <a:r>
              <a:rPr lang="en-US" altLang="zh-CN" sz="2400" b="1"/>
              <a:t>q=1</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41</a:t>
            </a:fld>
            <a:endParaRPr lang="en-US" altLang="zh-CN"/>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2472" name="Group 136"/>
          <p:cNvGraphicFramePr>
            <a:graphicFrameLocks noGrp="1"/>
          </p:cNvGraphicFramePr>
          <p:nvPr/>
        </p:nvGraphicFramePr>
        <p:xfrm>
          <a:off x="1295400" y="641350"/>
          <a:ext cx="6553200" cy="1036320"/>
        </p:xfrm>
        <a:graphic>
          <a:graphicData uri="http://schemas.openxmlformats.org/drawingml/2006/table">
            <a:tbl>
              <a:tblPr/>
              <a:tblGrid>
                <a:gridCol w="16764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tblGrid>
              <a:tr h="5175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MAXINT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49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97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75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 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4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 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42370" name="Rectangle 34"/>
          <p:cNvSpPr>
            <a:spLocks noChangeArrowheads="1"/>
          </p:cNvSpPr>
          <p:nvPr/>
        </p:nvSpPr>
        <p:spPr bwMode="auto">
          <a:xfrm>
            <a:off x="1873250" y="152400"/>
            <a:ext cx="5746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t>0              1      2      3      4      5      6     7      8</a:t>
            </a:r>
          </a:p>
        </p:txBody>
      </p:sp>
      <p:graphicFrame>
        <p:nvGraphicFramePr>
          <p:cNvPr id="142474" name="Group 138"/>
          <p:cNvGraphicFramePr>
            <a:graphicFrameLocks noGrp="1"/>
          </p:cNvGraphicFramePr>
          <p:nvPr/>
        </p:nvGraphicFramePr>
        <p:xfrm>
          <a:off x="1295400" y="2133600"/>
          <a:ext cx="6553200" cy="1036320"/>
        </p:xfrm>
        <a:graphic>
          <a:graphicData uri="http://schemas.openxmlformats.org/drawingml/2006/table">
            <a:tbl>
              <a:tblPr/>
              <a:tblGrid>
                <a:gridCol w="16764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tblGrid>
              <a:tr h="5175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MAXINT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52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76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5175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 8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 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bl>
          </a:graphicData>
        </a:graphic>
      </p:graphicFrame>
      <p:graphicFrame>
        <p:nvGraphicFramePr>
          <p:cNvPr id="142476" name="Group 140"/>
          <p:cNvGraphicFramePr>
            <a:graphicFrameLocks noGrp="1"/>
          </p:cNvGraphicFramePr>
          <p:nvPr/>
        </p:nvGraphicFramePr>
        <p:xfrm>
          <a:off x="1295400" y="3613150"/>
          <a:ext cx="6553200" cy="1036320"/>
        </p:xfrm>
        <a:graphic>
          <a:graphicData uri="http://schemas.openxmlformats.org/drawingml/2006/table">
            <a:tbl>
              <a:tblPr/>
              <a:tblGrid>
                <a:gridCol w="16764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tblGrid>
              <a:tr h="5175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MAXINT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65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97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75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8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 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 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42477" name="Group 141"/>
          <p:cNvGraphicFramePr>
            <a:graphicFrameLocks noGrp="1"/>
          </p:cNvGraphicFramePr>
          <p:nvPr/>
        </p:nvGraphicFramePr>
        <p:xfrm>
          <a:off x="1295400" y="5060950"/>
          <a:ext cx="6553200" cy="1036320"/>
        </p:xfrm>
        <a:graphic>
          <a:graphicData uri="http://schemas.openxmlformats.org/drawingml/2006/table">
            <a:tbl>
              <a:tblPr/>
              <a:tblGrid>
                <a:gridCol w="16764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tblGrid>
              <a:tr h="5175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MAXINT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76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97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5175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8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 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 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bl>
          </a:graphicData>
        </a:graphic>
      </p:graphicFrame>
      <p:sp>
        <p:nvSpPr>
          <p:cNvPr id="142467" name="Text Box 131"/>
          <p:cNvSpPr txBox="1">
            <a:spLocks noChangeArrowheads="1"/>
          </p:cNvSpPr>
          <p:nvPr/>
        </p:nvSpPr>
        <p:spPr bwMode="auto">
          <a:xfrm>
            <a:off x="228600" y="457200"/>
            <a:ext cx="990600" cy="1370013"/>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50000"/>
              </a:lnSpc>
              <a:spcBef>
                <a:spcPct val="50000"/>
              </a:spcBef>
            </a:pPr>
            <a:r>
              <a:rPr lang="en-US" altLang="zh-CN" sz="2400" b="1"/>
              <a:t>i=4</a:t>
            </a:r>
          </a:p>
          <a:p>
            <a:pPr>
              <a:lnSpc>
                <a:spcPct val="50000"/>
              </a:lnSpc>
              <a:spcBef>
                <a:spcPct val="50000"/>
              </a:spcBef>
            </a:pPr>
            <a:r>
              <a:rPr lang="en-US" altLang="zh-CN" sz="2400" b="1"/>
              <a:t>p=(1)</a:t>
            </a:r>
          </a:p>
          <a:p>
            <a:pPr>
              <a:lnSpc>
                <a:spcPct val="50000"/>
              </a:lnSpc>
              <a:spcBef>
                <a:spcPct val="50000"/>
              </a:spcBef>
            </a:pPr>
            <a:r>
              <a:rPr lang="en-US" altLang="zh-CN" sz="2400" b="1"/>
              <a:t>p=6</a:t>
            </a:r>
          </a:p>
          <a:p>
            <a:pPr>
              <a:lnSpc>
                <a:spcPct val="50000"/>
              </a:lnSpc>
              <a:spcBef>
                <a:spcPct val="50000"/>
              </a:spcBef>
            </a:pPr>
            <a:r>
              <a:rPr lang="en-US" altLang="zh-CN" sz="2400" b="1"/>
              <a:t>q=8</a:t>
            </a:r>
          </a:p>
        </p:txBody>
      </p:sp>
      <p:sp>
        <p:nvSpPr>
          <p:cNvPr id="142468" name="Text Box 132"/>
          <p:cNvSpPr txBox="1">
            <a:spLocks noChangeArrowheads="1"/>
          </p:cNvSpPr>
          <p:nvPr/>
        </p:nvSpPr>
        <p:spPr bwMode="auto">
          <a:xfrm>
            <a:off x="228600" y="2133600"/>
            <a:ext cx="914400" cy="1004888"/>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50000"/>
              </a:lnSpc>
              <a:spcBef>
                <a:spcPct val="50000"/>
              </a:spcBef>
            </a:pPr>
            <a:r>
              <a:rPr lang="en-US" altLang="zh-CN" sz="2400" b="1"/>
              <a:t>i=5</a:t>
            </a:r>
          </a:p>
          <a:p>
            <a:pPr>
              <a:lnSpc>
                <a:spcPct val="50000"/>
              </a:lnSpc>
              <a:spcBef>
                <a:spcPct val="50000"/>
              </a:spcBef>
            </a:pPr>
            <a:r>
              <a:rPr lang="en-US" altLang="zh-CN" sz="2400" b="1"/>
              <a:t>p=8</a:t>
            </a:r>
          </a:p>
          <a:p>
            <a:pPr>
              <a:lnSpc>
                <a:spcPct val="50000"/>
              </a:lnSpc>
              <a:spcBef>
                <a:spcPct val="50000"/>
              </a:spcBef>
            </a:pPr>
            <a:r>
              <a:rPr lang="en-US" altLang="zh-CN" sz="2400" b="1"/>
              <a:t>q=3</a:t>
            </a:r>
          </a:p>
        </p:txBody>
      </p:sp>
      <p:sp>
        <p:nvSpPr>
          <p:cNvPr id="142469" name="Text Box 133"/>
          <p:cNvSpPr txBox="1">
            <a:spLocks noChangeArrowheads="1"/>
          </p:cNvSpPr>
          <p:nvPr/>
        </p:nvSpPr>
        <p:spPr bwMode="auto">
          <a:xfrm>
            <a:off x="228600" y="3505200"/>
            <a:ext cx="914400" cy="1370013"/>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50000"/>
              </a:lnSpc>
              <a:spcBef>
                <a:spcPct val="50000"/>
              </a:spcBef>
            </a:pPr>
            <a:r>
              <a:rPr lang="en-US" altLang="zh-CN" sz="2400" b="1"/>
              <a:t>i=6</a:t>
            </a:r>
          </a:p>
          <a:p>
            <a:pPr>
              <a:lnSpc>
                <a:spcPct val="50000"/>
              </a:lnSpc>
              <a:spcBef>
                <a:spcPct val="50000"/>
              </a:spcBef>
            </a:pPr>
            <a:r>
              <a:rPr lang="en-US" altLang="zh-CN" sz="2400" b="1"/>
              <a:t>p=(3)</a:t>
            </a:r>
          </a:p>
          <a:p>
            <a:pPr>
              <a:lnSpc>
                <a:spcPct val="50000"/>
              </a:lnSpc>
              <a:spcBef>
                <a:spcPct val="50000"/>
              </a:spcBef>
            </a:pPr>
            <a:r>
              <a:rPr lang="en-US" altLang="zh-CN" sz="2400" b="1"/>
              <a:t>p=7</a:t>
            </a:r>
          </a:p>
          <a:p>
            <a:pPr>
              <a:lnSpc>
                <a:spcPct val="50000"/>
              </a:lnSpc>
              <a:spcBef>
                <a:spcPct val="50000"/>
              </a:spcBef>
            </a:pPr>
            <a:r>
              <a:rPr lang="en-US" altLang="zh-CN" sz="2400" b="1"/>
              <a:t>q=5</a:t>
            </a:r>
          </a:p>
        </p:txBody>
      </p:sp>
      <p:sp>
        <p:nvSpPr>
          <p:cNvPr id="142470" name="Text Box 134"/>
          <p:cNvSpPr txBox="1">
            <a:spLocks noChangeArrowheads="1"/>
          </p:cNvSpPr>
          <p:nvPr/>
        </p:nvSpPr>
        <p:spPr bwMode="auto">
          <a:xfrm>
            <a:off x="228600" y="5029200"/>
            <a:ext cx="914400" cy="1370013"/>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50000"/>
              </a:lnSpc>
              <a:spcBef>
                <a:spcPct val="50000"/>
              </a:spcBef>
            </a:pPr>
            <a:r>
              <a:rPr lang="en-US" altLang="zh-CN" sz="2400" b="1"/>
              <a:t>i=7</a:t>
            </a:r>
          </a:p>
          <a:p>
            <a:pPr>
              <a:lnSpc>
                <a:spcPct val="50000"/>
              </a:lnSpc>
              <a:spcBef>
                <a:spcPct val="50000"/>
              </a:spcBef>
            </a:pPr>
            <a:r>
              <a:rPr lang="en-US" altLang="zh-CN" sz="2400" b="1"/>
              <a:t>p=(5)</a:t>
            </a:r>
          </a:p>
          <a:p>
            <a:pPr>
              <a:lnSpc>
                <a:spcPct val="50000"/>
              </a:lnSpc>
              <a:spcBef>
                <a:spcPct val="50000"/>
              </a:spcBef>
            </a:pPr>
            <a:r>
              <a:rPr lang="en-US" altLang="zh-CN" sz="2400" b="1"/>
              <a:t>p=8</a:t>
            </a:r>
          </a:p>
          <a:p>
            <a:pPr>
              <a:lnSpc>
                <a:spcPct val="50000"/>
              </a:lnSpc>
              <a:spcBef>
                <a:spcPct val="50000"/>
              </a:spcBef>
            </a:pPr>
            <a:r>
              <a:rPr lang="en-US" altLang="zh-CN" sz="2400" b="1"/>
              <a:t>q=4</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42</a:t>
            </a:fld>
            <a:endParaRPr lang="en-US" altLang="zh-CN"/>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Text Box 2"/>
          <p:cNvSpPr txBox="1">
            <a:spLocks noChangeArrowheads="1"/>
          </p:cNvSpPr>
          <p:nvPr/>
        </p:nvSpPr>
        <p:spPr bwMode="auto">
          <a:xfrm>
            <a:off x="152400" y="228600"/>
            <a:ext cx="7918450" cy="5902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lang="en-US" altLang="zh-CN" b="1" dirty="0">
                <a:ea typeface="楷体_GB2312" pitchFamily="49" charset="-122"/>
              </a:rPr>
              <a:t>void</a:t>
            </a:r>
            <a:r>
              <a:rPr lang="en-US" altLang="zh-CN" dirty="0">
                <a:ea typeface="楷体_GB2312" pitchFamily="49" charset="-122"/>
              </a:rPr>
              <a:t> Arrange ( Elem SL[ ], </a:t>
            </a:r>
            <a:r>
              <a:rPr lang="en-US" altLang="zh-CN" b="1" dirty="0" err="1">
                <a:ea typeface="楷体_GB2312" pitchFamily="49" charset="-122"/>
              </a:rPr>
              <a:t>int</a:t>
            </a:r>
            <a:r>
              <a:rPr lang="en-US" altLang="zh-CN" dirty="0">
                <a:ea typeface="楷体_GB2312" pitchFamily="49" charset="-122"/>
              </a:rPr>
              <a:t> n ) </a:t>
            </a:r>
            <a:r>
              <a:rPr lang="en-US" altLang="zh-CN" b="1" dirty="0">
                <a:ea typeface="楷体_GB2312" pitchFamily="49" charset="-122"/>
              </a:rPr>
              <a:t>{</a:t>
            </a:r>
            <a:endParaRPr lang="en-US" altLang="zh-CN" dirty="0">
              <a:ea typeface="楷体_GB2312" pitchFamily="49" charset="-122"/>
            </a:endParaRPr>
          </a:p>
          <a:p>
            <a:pPr algn="l">
              <a:lnSpc>
                <a:spcPct val="90000"/>
              </a:lnSpc>
            </a:pPr>
            <a:r>
              <a:rPr lang="en-US" altLang="zh-CN" dirty="0">
                <a:ea typeface="楷体_GB2312" pitchFamily="49" charset="-122"/>
              </a:rPr>
              <a:t>  p = SL[0].next;   </a:t>
            </a:r>
          </a:p>
          <a:p>
            <a:pPr algn="l">
              <a:lnSpc>
                <a:spcPct val="90000"/>
              </a:lnSpc>
            </a:pPr>
            <a:r>
              <a:rPr lang="en-US" altLang="zh-CN" sz="2000" b="1" dirty="0">
                <a:solidFill>
                  <a:srgbClr val="006600"/>
                </a:solidFill>
                <a:ea typeface="楷体_GB2312" pitchFamily="49" charset="-122"/>
              </a:rPr>
              <a:t>                                 // </a:t>
            </a:r>
            <a:r>
              <a:rPr lang="en-US" altLang="zh-CN" sz="2000" b="1" dirty="0">
                <a:solidFill>
                  <a:srgbClr val="006600"/>
                </a:solidFill>
                <a:ea typeface="楷体_GB2312" pitchFamily="49" charset="-122"/>
                <a:sym typeface="+mn-ea"/>
              </a:rPr>
              <a:t>p indicates the current position of the first record</a:t>
            </a:r>
            <a:endParaRPr lang="zh-CN" altLang="en-US" sz="2000" b="1" dirty="0">
              <a:solidFill>
                <a:srgbClr val="006600"/>
              </a:solidFill>
              <a:ea typeface="楷体_GB2312" pitchFamily="49" charset="-122"/>
            </a:endParaRPr>
          </a:p>
          <a:p>
            <a:pPr algn="l">
              <a:lnSpc>
                <a:spcPct val="90000"/>
              </a:lnSpc>
            </a:pPr>
            <a:r>
              <a:rPr lang="zh-CN" altLang="en-US" dirty="0">
                <a:ea typeface="楷体_GB2312" pitchFamily="49" charset="-122"/>
              </a:rPr>
              <a:t>  </a:t>
            </a:r>
            <a:r>
              <a:rPr lang="en-US" altLang="zh-CN" b="1" dirty="0">
                <a:ea typeface="楷体_GB2312" pitchFamily="49" charset="-122"/>
              </a:rPr>
              <a:t>for</a:t>
            </a:r>
            <a:r>
              <a:rPr lang="en-US" altLang="zh-CN" dirty="0">
                <a:ea typeface="楷体_GB2312" pitchFamily="49" charset="-122"/>
              </a:rPr>
              <a:t> ( </a:t>
            </a:r>
            <a:r>
              <a:rPr lang="en-US" altLang="zh-CN" dirty="0" err="1">
                <a:ea typeface="楷体_GB2312" pitchFamily="49" charset="-122"/>
              </a:rPr>
              <a:t>i</a:t>
            </a:r>
            <a:r>
              <a:rPr lang="en-US" altLang="zh-CN" dirty="0">
                <a:ea typeface="楷体_GB2312" pitchFamily="49" charset="-122"/>
              </a:rPr>
              <a:t>=1; </a:t>
            </a:r>
            <a:r>
              <a:rPr lang="en-US" altLang="zh-CN" dirty="0" err="1">
                <a:ea typeface="楷体_GB2312" pitchFamily="49" charset="-122"/>
              </a:rPr>
              <a:t>i</a:t>
            </a:r>
            <a:r>
              <a:rPr lang="en-US" altLang="zh-CN" dirty="0">
                <a:ea typeface="楷体_GB2312" pitchFamily="49" charset="-122"/>
              </a:rPr>
              <a:t>&lt;n; </a:t>
            </a:r>
            <a:r>
              <a:rPr lang="en-US" altLang="zh-CN" b="1" dirty="0">
                <a:ea typeface="楷体_GB2312" pitchFamily="49" charset="-122"/>
              </a:rPr>
              <a:t>++</a:t>
            </a:r>
            <a:r>
              <a:rPr lang="en-US" altLang="zh-CN" dirty="0" err="1">
                <a:ea typeface="楷体_GB2312" pitchFamily="49" charset="-122"/>
              </a:rPr>
              <a:t>i</a:t>
            </a:r>
            <a:r>
              <a:rPr lang="en-US" altLang="zh-CN" dirty="0">
                <a:ea typeface="楷体_GB2312" pitchFamily="49" charset="-122"/>
              </a:rPr>
              <a:t> ) </a:t>
            </a:r>
            <a:r>
              <a:rPr lang="en-US" altLang="zh-CN" b="1" dirty="0">
                <a:ea typeface="楷体_GB2312" pitchFamily="49" charset="-122"/>
              </a:rPr>
              <a:t>{</a:t>
            </a:r>
            <a:r>
              <a:rPr lang="en-US" altLang="zh-CN" dirty="0">
                <a:ea typeface="楷体_GB2312" pitchFamily="49" charset="-122"/>
              </a:rPr>
              <a:t>      </a:t>
            </a:r>
          </a:p>
          <a:p>
            <a:pPr algn="l">
              <a:lnSpc>
                <a:spcPct val="90000"/>
              </a:lnSpc>
            </a:pPr>
            <a:r>
              <a:rPr lang="en-US" altLang="zh-CN" dirty="0">
                <a:ea typeface="楷体_GB2312" pitchFamily="49" charset="-122"/>
              </a:rPr>
              <a:t>    </a:t>
            </a:r>
            <a:r>
              <a:rPr lang="en-US" altLang="zh-CN" dirty="0">
                <a:solidFill>
                  <a:srgbClr val="008000"/>
                </a:solidFill>
                <a:ea typeface="楷体_GB2312" pitchFamily="49" charset="-122"/>
              </a:rPr>
              <a:t>while (p&lt;</a:t>
            </a:r>
            <a:r>
              <a:rPr lang="en-US" altLang="zh-CN" dirty="0" err="1">
                <a:solidFill>
                  <a:srgbClr val="008000"/>
                </a:solidFill>
                <a:ea typeface="楷体_GB2312" pitchFamily="49" charset="-122"/>
              </a:rPr>
              <a:t>i</a:t>
            </a:r>
            <a:r>
              <a:rPr lang="en-US" altLang="zh-CN" dirty="0">
                <a:solidFill>
                  <a:srgbClr val="008000"/>
                </a:solidFill>
                <a:ea typeface="楷体_GB2312" pitchFamily="49" charset="-122"/>
              </a:rPr>
              <a:t>)  p = SL[p].next</a:t>
            </a:r>
            <a:r>
              <a:rPr lang="en-US" altLang="zh-CN" dirty="0">
                <a:solidFill>
                  <a:schemeClr val="accent2"/>
                </a:solidFill>
                <a:ea typeface="楷体_GB2312" pitchFamily="49" charset="-122"/>
              </a:rPr>
              <a:t>;</a:t>
            </a:r>
          </a:p>
          <a:p>
            <a:pPr algn="l">
              <a:lnSpc>
                <a:spcPct val="90000"/>
              </a:lnSpc>
            </a:pPr>
            <a:r>
              <a:rPr lang="en-US" altLang="zh-CN" sz="2000" b="1" dirty="0">
                <a:solidFill>
                  <a:srgbClr val="006600"/>
                </a:solidFill>
                <a:ea typeface="楷体_GB2312" pitchFamily="49" charset="-122"/>
              </a:rPr>
              <a:t>                                                  //</a:t>
            </a:r>
            <a:r>
              <a:rPr lang="en-US" altLang="zh-CN" sz="2000" b="1" dirty="0">
                <a:solidFill>
                  <a:srgbClr val="006600"/>
                </a:solidFill>
                <a:ea typeface="楷体_GB2312" pitchFamily="49" charset="-122"/>
                <a:sym typeface="+mn-ea"/>
              </a:rPr>
              <a:t>All elements less than i have been sorted</a:t>
            </a:r>
            <a:endParaRPr lang="en-US" altLang="zh-CN" sz="2000" b="1" dirty="0">
              <a:solidFill>
                <a:srgbClr val="006600"/>
              </a:solidFill>
              <a:ea typeface="楷体_GB2312" pitchFamily="49" charset="-122"/>
            </a:endParaRPr>
          </a:p>
          <a:p>
            <a:pPr algn="l">
              <a:lnSpc>
                <a:spcPct val="90000"/>
              </a:lnSpc>
            </a:pPr>
            <a:r>
              <a:rPr lang="zh-CN" altLang="en-US" dirty="0">
                <a:ea typeface="楷体_GB2312" pitchFamily="49" charset="-122"/>
              </a:rPr>
              <a:t>    </a:t>
            </a:r>
            <a:r>
              <a:rPr lang="en-US" altLang="zh-CN" b="1" dirty="0">
                <a:solidFill>
                  <a:srgbClr val="FF6600"/>
                </a:solidFill>
                <a:ea typeface="楷体_GB2312" pitchFamily="49" charset="-122"/>
              </a:rPr>
              <a:t>q</a:t>
            </a:r>
            <a:r>
              <a:rPr lang="en-US" altLang="zh-CN" dirty="0">
                <a:solidFill>
                  <a:srgbClr val="FF6600"/>
                </a:solidFill>
                <a:ea typeface="楷体_GB2312" pitchFamily="49" charset="-122"/>
              </a:rPr>
              <a:t> = SL[</a:t>
            </a:r>
            <a:r>
              <a:rPr lang="en-US" altLang="zh-CN" b="1" dirty="0">
                <a:solidFill>
                  <a:srgbClr val="FF6600"/>
                </a:solidFill>
                <a:ea typeface="楷体_GB2312" pitchFamily="49" charset="-122"/>
              </a:rPr>
              <a:t>p</a:t>
            </a:r>
            <a:r>
              <a:rPr lang="en-US" altLang="zh-CN" dirty="0">
                <a:solidFill>
                  <a:srgbClr val="FF6600"/>
                </a:solidFill>
                <a:ea typeface="楷体_GB2312" pitchFamily="49" charset="-122"/>
              </a:rPr>
              <a:t>].next;</a:t>
            </a:r>
            <a:r>
              <a:rPr lang="en-US" altLang="zh-CN" dirty="0">
                <a:ea typeface="楷体_GB2312" pitchFamily="49" charset="-122"/>
              </a:rPr>
              <a:t>     </a:t>
            </a:r>
          </a:p>
          <a:p>
            <a:pPr algn="l">
              <a:lnSpc>
                <a:spcPct val="90000"/>
              </a:lnSpc>
            </a:pPr>
            <a:r>
              <a:rPr lang="en-US" altLang="zh-CN" sz="2000" b="1" dirty="0">
                <a:solidFill>
                  <a:srgbClr val="006600"/>
                </a:solidFill>
                <a:ea typeface="楷体_GB2312" pitchFamily="49" charset="-122"/>
              </a:rPr>
              <a:t>                 // </a:t>
            </a:r>
            <a:r>
              <a:rPr lang="en-US" altLang="zh-CN" sz="2000" b="1" dirty="0">
                <a:solidFill>
                  <a:srgbClr val="006600"/>
                </a:solidFill>
                <a:ea typeface="楷体_GB2312" pitchFamily="49" charset="-122"/>
                <a:sym typeface="+mn-ea"/>
              </a:rPr>
              <a:t>q points to the end of the table that hasnt been adjusted yet</a:t>
            </a:r>
            <a:endParaRPr lang="zh-CN" altLang="en-US" sz="2000" b="1" dirty="0">
              <a:solidFill>
                <a:srgbClr val="006600"/>
              </a:solidFill>
              <a:ea typeface="楷体_GB2312" pitchFamily="49" charset="-122"/>
            </a:endParaRPr>
          </a:p>
          <a:p>
            <a:pPr algn="l">
              <a:lnSpc>
                <a:spcPct val="90000"/>
              </a:lnSpc>
            </a:pPr>
            <a:r>
              <a:rPr lang="zh-CN" altLang="en-US" sz="2000" b="1" dirty="0">
                <a:solidFill>
                  <a:srgbClr val="006600"/>
                </a:solidFill>
                <a:ea typeface="楷体_GB2312" pitchFamily="49" charset="-122"/>
              </a:rPr>
              <a:t>    </a:t>
            </a:r>
            <a:r>
              <a:rPr lang="en-US" altLang="zh-CN" sz="2000" b="1" dirty="0">
                <a:ea typeface="楷体_GB2312" pitchFamily="49" charset="-122"/>
              </a:rPr>
              <a:t>if ( p!= </a:t>
            </a:r>
            <a:r>
              <a:rPr lang="en-US" altLang="zh-CN" sz="2000" b="1" dirty="0" err="1">
                <a:ea typeface="楷体_GB2312" pitchFamily="49" charset="-122"/>
              </a:rPr>
              <a:t>i</a:t>
            </a:r>
            <a:r>
              <a:rPr lang="en-US" altLang="zh-CN" sz="2000" b="1" dirty="0">
                <a:ea typeface="楷体_GB2312" pitchFamily="49" charset="-122"/>
              </a:rPr>
              <a:t> ) {</a:t>
            </a:r>
          </a:p>
          <a:p>
            <a:pPr algn="l">
              <a:lnSpc>
                <a:spcPct val="90000"/>
              </a:lnSpc>
            </a:pPr>
            <a:r>
              <a:rPr lang="en-US" altLang="zh-CN" dirty="0">
                <a:ea typeface="楷体_GB2312" pitchFamily="49" charset="-122"/>
              </a:rPr>
              <a:t>      </a:t>
            </a:r>
            <a:r>
              <a:rPr lang="en-US" altLang="zh-CN" b="1" dirty="0">
                <a:solidFill>
                  <a:srgbClr val="840C26"/>
                </a:solidFill>
                <a:ea typeface="楷体_GB2312" pitchFamily="49" charset="-122"/>
              </a:rPr>
              <a:t>SL[p]←→SL[</a:t>
            </a:r>
            <a:r>
              <a:rPr lang="en-US" altLang="zh-CN" b="1" dirty="0" err="1">
                <a:solidFill>
                  <a:srgbClr val="840C26"/>
                </a:solidFill>
                <a:ea typeface="楷体_GB2312" pitchFamily="49" charset="-122"/>
              </a:rPr>
              <a:t>i</a:t>
            </a:r>
            <a:r>
              <a:rPr lang="en-US" altLang="zh-CN" b="1" dirty="0">
                <a:solidFill>
                  <a:srgbClr val="840C26"/>
                </a:solidFill>
                <a:ea typeface="楷体_GB2312" pitchFamily="49" charset="-122"/>
              </a:rPr>
              <a:t>];</a:t>
            </a:r>
            <a:r>
              <a:rPr lang="en-US" altLang="zh-CN" b="1" dirty="0">
                <a:ea typeface="楷体_GB2312" pitchFamily="49" charset="-122"/>
              </a:rPr>
              <a:t> </a:t>
            </a:r>
          </a:p>
          <a:p>
            <a:pPr algn="l">
              <a:lnSpc>
                <a:spcPct val="90000"/>
              </a:lnSpc>
            </a:pPr>
            <a:r>
              <a:rPr lang="en-US" altLang="zh-CN" sz="2000" b="1" dirty="0">
                <a:solidFill>
                  <a:srgbClr val="006600"/>
                </a:solidFill>
                <a:ea typeface="楷体_GB2312" pitchFamily="49" charset="-122"/>
              </a:rPr>
              <a:t>                                   //</a:t>
            </a:r>
            <a:r>
              <a:rPr lang="en-US" altLang="zh-CN" sz="2000" b="1" dirty="0">
                <a:solidFill>
                  <a:srgbClr val="006600"/>
                </a:solidFill>
                <a:ea typeface="楷体_GB2312" pitchFamily="49" charset="-122"/>
                <a:sym typeface="+mn-ea"/>
              </a:rPr>
              <a:t>Swap records to move the i-th record to the front</a:t>
            </a:r>
            <a:endParaRPr lang="en-US" altLang="zh-CN" sz="2000" b="1" dirty="0">
              <a:solidFill>
                <a:srgbClr val="006600"/>
              </a:solidFill>
              <a:ea typeface="楷体_GB2312" pitchFamily="49" charset="-122"/>
            </a:endParaRPr>
          </a:p>
          <a:p>
            <a:pPr algn="l">
              <a:lnSpc>
                <a:spcPct val="90000"/>
              </a:lnSpc>
            </a:pPr>
            <a:r>
              <a:rPr lang="zh-CN" altLang="en-US" b="1" dirty="0">
                <a:ea typeface="楷体_GB2312" pitchFamily="49" charset="-122"/>
              </a:rPr>
              <a:t>      </a:t>
            </a:r>
            <a:r>
              <a:rPr lang="en-US" altLang="zh-CN" b="1" dirty="0">
                <a:solidFill>
                  <a:srgbClr val="840C26"/>
                </a:solidFill>
                <a:ea typeface="楷体_GB2312" pitchFamily="49" charset="-122"/>
              </a:rPr>
              <a:t>SL[</a:t>
            </a:r>
            <a:r>
              <a:rPr lang="en-US" altLang="zh-CN" b="1" dirty="0" err="1">
                <a:solidFill>
                  <a:srgbClr val="840C26"/>
                </a:solidFill>
                <a:ea typeface="楷体_GB2312" pitchFamily="49" charset="-122"/>
              </a:rPr>
              <a:t>i</a:t>
            </a:r>
            <a:r>
              <a:rPr lang="en-US" altLang="zh-CN" b="1" dirty="0">
                <a:solidFill>
                  <a:srgbClr val="840C26"/>
                </a:solidFill>
                <a:ea typeface="楷体_GB2312" pitchFamily="49" charset="-122"/>
              </a:rPr>
              <a:t>].next = p;</a:t>
            </a:r>
            <a:r>
              <a:rPr lang="en-US" altLang="zh-CN" b="1" dirty="0">
                <a:ea typeface="楷体_GB2312" pitchFamily="49" charset="-122"/>
              </a:rPr>
              <a:t>   </a:t>
            </a:r>
            <a:r>
              <a:rPr lang="en-US" altLang="zh-CN" sz="2000" b="1" dirty="0">
                <a:solidFill>
                  <a:srgbClr val="006600"/>
                </a:solidFill>
                <a:ea typeface="楷体_GB2312" pitchFamily="49" charset="-122"/>
              </a:rPr>
              <a:t> // </a:t>
            </a:r>
            <a:r>
              <a:rPr lang="en-US" altLang="zh-CN" sz="2000" b="1" dirty="0">
                <a:solidFill>
                  <a:srgbClr val="006600"/>
                </a:solidFill>
                <a:ea typeface="楷体_GB2312" pitchFamily="49" charset="-122"/>
                <a:sym typeface="+mn-ea"/>
              </a:rPr>
              <a:t>Pointer to the removed record</a:t>
            </a:r>
          </a:p>
          <a:p>
            <a:pPr algn="l">
              <a:lnSpc>
                <a:spcPct val="90000"/>
              </a:lnSpc>
            </a:pPr>
            <a:r>
              <a:rPr lang="zh-CN" altLang="en-US" b="1" dirty="0">
                <a:ea typeface="楷体_GB2312" pitchFamily="49" charset="-122"/>
              </a:rPr>
              <a:t>    </a:t>
            </a:r>
            <a:r>
              <a:rPr lang="en-US" altLang="zh-CN" b="1" dirty="0">
                <a:ea typeface="楷体_GB2312" pitchFamily="49" charset="-122"/>
              </a:rPr>
              <a:t>}</a:t>
            </a:r>
            <a:endParaRPr lang="en-US" altLang="zh-CN" dirty="0">
              <a:ea typeface="楷体_GB2312" pitchFamily="49" charset="-122"/>
            </a:endParaRPr>
          </a:p>
          <a:p>
            <a:pPr algn="l">
              <a:lnSpc>
                <a:spcPct val="90000"/>
              </a:lnSpc>
            </a:pPr>
            <a:r>
              <a:rPr lang="en-US" altLang="zh-CN" dirty="0">
                <a:ea typeface="楷体_GB2312" pitchFamily="49" charset="-122"/>
              </a:rPr>
              <a:t>    </a:t>
            </a:r>
            <a:r>
              <a:rPr lang="en-US" altLang="zh-CN" dirty="0">
                <a:solidFill>
                  <a:srgbClr val="FF6600"/>
                </a:solidFill>
                <a:ea typeface="楷体_GB2312" pitchFamily="49" charset="-122"/>
              </a:rPr>
              <a:t>p = q;</a:t>
            </a:r>
            <a:r>
              <a:rPr lang="en-US" altLang="zh-CN" dirty="0">
                <a:ea typeface="楷体_GB2312" pitchFamily="49" charset="-122"/>
              </a:rPr>
              <a:t>                 </a:t>
            </a:r>
            <a:r>
              <a:rPr lang="en-US" altLang="zh-CN" sz="2000" b="1" dirty="0">
                <a:solidFill>
                  <a:srgbClr val="006600"/>
                </a:solidFill>
                <a:ea typeface="楷体_GB2312" pitchFamily="49" charset="-122"/>
              </a:rPr>
              <a:t>   // </a:t>
            </a:r>
            <a:r>
              <a:rPr lang="en-US" altLang="zh-CN" sz="2000" b="1" dirty="0">
                <a:solidFill>
                  <a:srgbClr val="006600"/>
                </a:solidFill>
                <a:ea typeface="楷体_GB2312" pitchFamily="49" charset="-122"/>
                <a:sym typeface="+mn-ea"/>
              </a:rPr>
              <a:t>p indicates the unadjusted end of the table,</a:t>
            </a:r>
            <a:endParaRPr lang="en-US" altLang="zh-CN" sz="2000" b="1" dirty="0">
              <a:solidFill>
                <a:srgbClr val="006600"/>
              </a:solidFill>
              <a:ea typeface="楷体_GB2312" pitchFamily="49" charset="-122"/>
            </a:endParaRPr>
          </a:p>
          <a:p>
            <a:pPr algn="l">
              <a:lnSpc>
                <a:spcPct val="90000"/>
              </a:lnSpc>
            </a:pPr>
            <a:r>
              <a:rPr lang="en-US" altLang="zh-CN" sz="2000" b="1" dirty="0">
                <a:solidFill>
                  <a:srgbClr val="006600"/>
                </a:solidFill>
                <a:ea typeface="楷体_GB2312" pitchFamily="49" charset="-122"/>
                <a:sym typeface="+mn-ea"/>
              </a:rPr>
              <a:t>                                              // Prepare to find the i+1th record</a:t>
            </a:r>
            <a:endParaRPr lang="zh-CN" altLang="en-US" sz="2000" b="1" dirty="0">
              <a:solidFill>
                <a:srgbClr val="006600"/>
              </a:solidFill>
              <a:ea typeface="楷体_GB2312" pitchFamily="49" charset="-122"/>
            </a:endParaRPr>
          </a:p>
          <a:p>
            <a:pPr algn="l">
              <a:lnSpc>
                <a:spcPct val="90000"/>
              </a:lnSpc>
            </a:pPr>
            <a:r>
              <a:rPr lang="zh-CN" altLang="en-US" dirty="0">
                <a:ea typeface="楷体_GB2312" pitchFamily="49" charset="-122"/>
              </a:rPr>
              <a:t>  </a:t>
            </a:r>
            <a:r>
              <a:rPr lang="en-US" altLang="zh-CN" b="1" dirty="0">
                <a:ea typeface="楷体_GB2312" pitchFamily="49" charset="-122"/>
              </a:rPr>
              <a:t>}</a:t>
            </a:r>
            <a:endParaRPr lang="en-US" altLang="zh-CN" dirty="0">
              <a:ea typeface="楷体_GB2312" pitchFamily="49" charset="-122"/>
            </a:endParaRPr>
          </a:p>
          <a:p>
            <a:pPr algn="l">
              <a:lnSpc>
                <a:spcPct val="90000"/>
              </a:lnSpc>
            </a:pPr>
            <a:r>
              <a:rPr lang="en-US" altLang="zh-CN" sz="2000" b="1" dirty="0">
                <a:ea typeface="楷体_GB2312" pitchFamily="49" charset="-122"/>
              </a:rPr>
              <a:t>}</a:t>
            </a:r>
            <a:r>
              <a:rPr lang="en-US" altLang="zh-CN" sz="2000" dirty="0">
                <a:ea typeface="楷体_GB2312" pitchFamily="49" charset="-122"/>
              </a:rPr>
              <a:t> // Arrange</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43</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61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4" grpId="0" bldLvl="0" animBg="1"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p:cNvSpPr txBox="1">
            <a:spLocks noChangeArrowheads="1"/>
          </p:cNvSpPr>
          <p:nvPr/>
        </p:nvSpPr>
        <p:spPr bwMode="auto">
          <a:xfrm>
            <a:off x="0" y="44450"/>
            <a:ext cx="8126095" cy="1198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3600" b="1" dirty="0">
                <a:latin typeface="Arial" panose="020B0604020202020204" pitchFamily="34" charset="0"/>
                <a:ea typeface="楷体_GB2312" pitchFamily="49" charset="-122"/>
                <a:cs typeface="Arial" panose="020B0604020202020204" pitchFamily="34" charset="0"/>
              </a:rPr>
              <a:t>4. </a:t>
            </a:r>
            <a:r>
              <a:rPr lang="en-US" altLang="zh-CN" sz="3600" b="1" dirty="0">
                <a:latin typeface="Arial" panose="020B0604020202020204" pitchFamily="34" charset="0"/>
                <a:ea typeface="楷体_GB2312" pitchFamily="49" charset="-122"/>
                <a:cs typeface="Arial" panose="020B0604020202020204" pitchFamily="34" charset="0"/>
              </a:rPr>
              <a:t>Shell Sort (Also Known as Diminishing Increment Sort)</a:t>
            </a:r>
          </a:p>
        </p:txBody>
      </p:sp>
      <p:sp>
        <p:nvSpPr>
          <p:cNvPr id="37891" name="Text Box 3"/>
          <p:cNvSpPr txBox="1">
            <a:spLocks noChangeArrowheads="1"/>
          </p:cNvSpPr>
          <p:nvPr/>
        </p:nvSpPr>
        <p:spPr bwMode="auto">
          <a:xfrm>
            <a:off x="381000" y="1447800"/>
            <a:ext cx="8534400" cy="5041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pPr>
            <a:r>
              <a:rPr lang="en-US" altLang="zh-CN" b="1" dirty="0">
                <a:latin typeface="Arial" panose="020B0604020202020204" pitchFamily="34" charset="0"/>
                <a:ea typeface="楷体_GB2312" pitchFamily="49" charset="-122"/>
                <a:cs typeface="Arial" panose="020B0604020202020204" pitchFamily="34" charset="0"/>
              </a:rPr>
              <a:t>Basic Idea: First perform a "</a:t>
            </a:r>
            <a:r>
              <a:rPr lang="zh-CN" altLang="en-US" b="1" dirty="0">
                <a:solidFill>
                  <a:srgbClr val="990000"/>
                </a:solidFill>
                <a:latin typeface="Arial" panose="020B0604020202020204" pitchFamily="34" charset="0"/>
                <a:ea typeface="楷体_GB2312" pitchFamily="49" charset="-122"/>
                <a:cs typeface="Arial" panose="020B0604020202020204" pitchFamily="34" charset="0"/>
              </a:rPr>
              <a:t>macro</a:t>
            </a:r>
            <a:r>
              <a:rPr lang="en-US" altLang="zh-CN" b="1" dirty="0">
                <a:latin typeface="Arial" panose="020B0604020202020204" pitchFamily="34" charset="0"/>
                <a:ea typeface="楷体_GB2312" pitchFamily="49" charset="-122"/>
                <a:cs typeface="Arial" panose="020B0604020202020204" pitchFamily="34" charset="0"/>
              </a:rPr>
              <a:t>" adjustment on the sequence of records to be sorted, then a "</a:t>
            </a:r>
            <a:r>
              <a:rPr lang="zh-CN" altLang="en-US" b="1" dirty="0">
                <a:solidFill>
                  <a:srgbClr val="990000"/>
                </a:solidFill>
                <a:latin typeface="Arial" panose="020B0604020202020204" pitchFamily="34" charset="0"/>
                <a:ea typeface="楷体_GB2312" pitchFamily="49" charset="-122"/>
                <a:cs typeface="Arial" panose="020B0604020202020204" pitchFamily="34" charset="0"/>
              </a:rPr>
              <a:t>micro</a:t>
            </a:r>
            <a:r>
              <a:rPr lang="en-US" altLang="zh-CN" b="1" dirty="0">
                <a:latin typeface="Arial" panose="020B0604020202020204" pitchFamily="34" charset="0"/>
                <a:ea typeface="楷体_GB2312" pitchFamily="49" charset="-122"/>
                <a:cs typeface="Arial" panose="020B0604020202020204" pitchFamily="34" charset="0"/>
              </a:rPr>
              <a:t>" adjustment.</a:t>
            </a:r>
          </a:p>
          <a:p>
            <a:pPr>
              <a:lnSpc>
                <a:spcPct val="115000"/>
              </a:lnSpc>
            </a:pPr>
            <a:r>
              <a:rPr lang="en-US" altLang="zh-CN" b="1" dirty="0">
                <a:latin typeface="Arial" panose="020B0604020202020204" pitchFamily="34" charset="0"/>
                <a:ea typeface="楷体_GB2312" pitchFamily="49" charset="-122"/>
                <a:cs typeface="Arial" panose="020B0604020202020204" pitchFamily="34" charset="0"/>
              </a:rPr>
              <a:t>The so-called "macro" adjustment refers to</a:t>
            </a:r>
            <a:r>
              <a:rPr lang="zh-CN" altLang="en-US" b="1" dirty="0">
                <a:solidFill>
                  <a:srgbClr val="990000"/>
                </a:solidFill>
                <a:latin typeface="Arial" panose="020B0604020202020204" pitchFamily="34" charset="0"/>
                <a:ea typeface="楷体_GB2312" pitchFamily="49" charset="-122"/>
                <a:cs typeface="Arial" panose="020B0604020202020204" pitchFamily="34" charset="0"/>
              </a:rPr>
              <a:t> jump-style insertion sort</a:t>
            </a:r>
            <a:r>
              <a:rPr lang="en-US" altLang="zh-CN" b="1" dirty="0">
                <a:latin typeface="Arial" panose="020B0604020202020204" pitchFamily="34" charset="0"/>
                <a:ea typeface="楷体_GB2312" pitchFamily="49" charset="-122"/>
                <a:cs typeface="Arial" panose="020B0604020202020204" pitchFamily="34" charset="0"/>
              </a:rPr>
              <a:t>: split the entire sequence into several sub-sequences, perform direct insertion sort on each sub-sequence separately. When the entire sequence becomes </a:t>
            </a:r>
            <a:r>
              <a:rPr lang="zh-CN" altLang="en-US" b="1" dirty="0">
                <a:solidFill>
                  <a:srgbClr val="990000"/>
                </a:solidFill>
                <a:latin typeface="Arial" panose="020B0604020202020204" pitchFamily="34" charset="0"/>
                <a:ea typeface="楷体_GB2312" pitchFamily="49" charset="-122"/>
                <a:cs typeface="Arial" panose="020B0604020202020204" pitchFamily="34" charset="0"/>
              </a:rPr>
              <a:t>basically ordered</a:t>
            </a:r>
            <a:r>
              <a:rPr lang="en-US" altLang="zh-CN" b="1" dirty="0">
                <a:latin typeface="Arial" panose="020B0604020202020204" pitchFamily="34" charset="0"/>
                <a:ea typeface="楷体_GB2312" pitchFamily="49" charset="-122"/>
                <a:cs typeface="Arial" panose="020B0604020202020204" pitchFamily="34" charset="0"/>
              </a:rPr>
              <a:t>, perform a final direct insertion sort on all records.</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44</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37891"/>
                                        </p:tgtEl>
                                        <p:attrNameLst>
                                          <p:attrName>style.visibility</p:attrName>
                                        </p:attrNameLst>
                                      </p:cBhvr>
                                      <p:to>
                                        <p:strVal val="visible"/>
                                      </p:to>
                                    </p:set>
                                    <p:animEffect transition="in" filter="box(out)">
                                      <p:cBhvr>
                                        <p:cTn id="7" dur="500"/>
                                        <p:tgtEl>
                                          <p:spTgt spid="378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bldLvl="0" animBg="1"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2"/>
          <p:cNvSpPr txBox="1">
            <a:spLocks noChangeArrowheads="1"/>
          </p:cNvSpPr>
          <p:nvPr/>
        </p:nvSpPr>
        <p:spPr bwMode="auto">
          <a:xfrm>
            <a:off x="395288" y="333375"/>
            <a:ext cx="7633096" cy="138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b="1" dirty="0">
                <a:solidFill>
                  <a:srgbClr val="FF0000"/>
                </a:solidFill>
                <a:latin typeface="Arial" panose="020B0604020202020204" pitchFamily="34" charset="0"/>
                <a:cs typeface="Arial" panose="020B0604020202020204" pitchFamily="34" charset="0"/>
              </a:rPr>
              <a:t>The specific method </a:t>
            </a:r>
            <a:r>
              <a:rPr lang="zh-CN" altLang="en-US" dirty="0">
                <a:latin typeface="Arial" panose="020B0604020202020204" pitchFamily="34" charset="0"/>
                <a:ea typeface="楷体_GB2312" pitchFamily="49" charset="-122"/>
                <a:cs typeface="Arial" panose="020B0604020202020204" pitchFamily="34" charset="0"/>
              </a:rPr>
              <a:t>is to divide the record sequence into several sub-sequences and then perform insertion sort on each sub-sequence.</a:t>
            </a:r>
          </a:p>
        </p:txBody>
      </p:sp>
      <p:sp>
        <p:nvSpPr>
          <p:cNvPr id="38915" name="Text Box 3"/>
          <p:cNvSpPr txBox="1">
            <a:spLocks noChangeArrowheads="1"/>
          </p:cNvSpPr>
          <p:nvPr/>
        </p:nvSpPr>
        <p:spPr bwMode="auto">
          <a:xfrm>
            <a:off x="107950" y="4478655"/>
            <a:ext cx="8778875" cy="1640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pPr>
            <a:r>
              <a:rPr lang="zh-CN" altLang="en-US" b="1" dirty="0">
                <a:latin typeface="Arial" panose="020B0604020202020204" pitchFamily="34" charset="0"/>
                <a:ea typeface="楷体_GB2312" pitchFamily="49" charset="-122"/>
                <a:cs typeface="Arial" panose="020B0604020202020204" pitchFamily="34" charset="0"/>
              </a:rPr>
              <a:t>Here, </a:t>
            </a:r>
            <a:r>
              <a:rPr lang="en-US" altLang="zh-CN" b="1" dirty="0">
                <a:solidFill>
                  <a:srgbClr val="0000FF"/>
                </a:solidFill>
                <a:latin typeface="Arial" panose="020B0604020202020204" pitchFamily="34" charset="0"/>
                <a:ea typeface="楷体_GB2312" pitchFamily="49" charset="-122"/>
                <a:cs typeface="Arial" panose="020B0604020202020204" pitchFamily="34" charset="0"/>
              </a:rPr>
              <a:t>d</a:t>
            </a:r>
            <a:r>
              <a:rPr lang="zh-CN" altLang="en-US" b="1" dirty="0">
                <a:latin typeface="Arial" panose="020B0604020202020204" pitchFamily="34" charset="0"/>
                <a:ea typeface="楷体_GB2312" pitchFamily="49" charset="-122"/>
                <a:cs typeface="Arial" panose="020B0604020202020204" pitchFamily="34" charset="0"/>
              </a:rPr>
              <a:t> is the increment, whose value decreases progressively from largest to smallest during the sorting process until it is </a:t>
            </a:r>
            <a:r>
              <a:rPr lang="en-US" altLang="zh-CN" b="1" dirty="0">
                <a:solidFill>
                  <a:srgbClr val="0000FF"/>
                </a:solidFill>
                <a:latin typeface="Arial" panose="020B0604020202020204" pitchFamily="34" charset="0"/>
                <a:ea typeface="楷体_GB2312" pitchFamily="49" charset="-122"/>
                <a:cs typeface="Arial" panose="020B0604020202020204" pitchFamily="34" charset="0"/>
              </a:rPr>
              <a:t>reduced to 1</a:t>
            </a:r>
            <a:r>
              <a:rPr lang="zh-CN" altLang="en-US" b="1" dirty="0">
                <a:latin typeface="Arial" panose="020B0604020202020204" pitchFamily="34" charset="0"/>
                <a:ea typeface="楷体_GB2312" pitchFamily="49" charset="-122"/>
                <a:cs typeface="Arial" panose="020B0604020202020204" pitchFamily="34" charset="0"/>
              </a:rPr>
              <a:t> in the final pass.</a:t>
            </a:r>
            <a:endParaRPr lang="zh-CN" altLang="en-US" sz="1800" b="1" dirty="0">
              <a:latin typeface="Arial" panose="020B0604020202020204" pitchFamily="34" charset="0"/>
              <a:ea typeface="楷体_GB2312" pitchFamily="49" charset="-122"/>
              <a:cs typeface="Arial" panose="020B0604020202020204" pitchFamily="34" charset="0"/>
            </a:endParaRPr>
          </a:p>
        </p:txBody>
      </p:sp>
      <p:sp>
        <p:nvSpPr>
          <p:cNvPr id="38916" name="Text Box 4"/>
          <p:cNvSpPr txBox="1">
            <a:spLocks noChangeArrowheads="1"/>
          </p:cNvSpPr>
          <p:nvPr/>
        </p:nvSpPr>
        <p:spPr bwMode="auto">
          <a:xfrm>
            <a:off x="395288" y="2079666"/>
            <a:ext cx="7391767" cy="2267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lang="zh-CN" altLang="en-US" sz="2400" dirty="0">
                <a:latin typeface="Arial" panose="020B0604020202020204" pitchFamily="34" charset="0"/>
                <a:ea typeface="楷体_GB2312" pitchFamily="49" charset="-122"/>
                <a:cs typeface="Arial" panose="020B0604020202020204" pitchFamily="34" charset="0"/>
              </a:rPr>
              <a:t>For example: Divide n records into d sub-sequences:</a:t>
            </a:r>
          </a:p>
          <a:p>
            <a:pPr>
              <a:lnSpc>
                <a:spcPct val="120000"/>
              </a:lnSpc>
            </a:pPr>
            <a:r>
              <a:rPr lang="en-US" altLang="zh-CN" sz="2400" dirty="0">
                <a:latin typeface="Arial" panose="020B0604020202020204" pitchFamily="34" charset="0"/>
                <a:ea typeface="楷体_GB2312" pitchFamily="49" charset="-122"/>
                <a:cs typeface="Arial" panose="020B0604020202020204" pitchFamily="34" charset="0"/>
              </a:rPr>
              <a:t>{ R[1], R[1+d], R[1+2d], …, R[1+kd] }</a:t>
            </a:r>
          </a:p>
          <a:p>
            <a:pPr>
              <a:lnSpc>
                <a:spcPct val="120000"/>
              </a:lnSpc>
            </a:pPr>
            <a:r>
              <a:rPr lang="en-US" altLang="zh-CN" sz="2400" dirty="0">
                <a:latin typeface="Arial" panose="020B0604020202020204" pitchFamily="34" charset="0"/>
                <a:ea typeface="楷体_GB2312" pitchFamily="49" charset="-122"/>
                <a:cs typeface="Arial" panose="020B0604020202020204" pitchFamily="34" charset="0"/>
              </a:rPr>
              <a:t>{ R[2], R[2+d], R[2+2d],  …, R[2+kd] }</a:t>
            </a:r>
          </a:p>
          <a:p>
            <a:pPr>
              <a:lnSpc>
                <a:spcPct val="120000"/>
              </a:lnSpc>
            </a:pPr>
            <a:r>
              <a:rPr lang="en-US" altLang="zh-CN" sz="2400" dirty="0">
                <a:latin typeface="Arial" panose="020B0604020202020204" pitchFamily="34" charset="0"/>
                <a:ea typeface="楷体_GB2312" pitchFamily="49" charset="-122"/>
                <a:cs typeface="Arial" panose="020B0604020202020204" pitchFamily="34" charset="0"/>
              </a:rPr>
              <a:t>…</a:t>
            </a:r>
          </a:p>
          <a:p>
            <a:pPr>
              <a:lnSpc>
                <a:spcPct val="120000"/>
              </a:lnSpc>
            </a:pPr>
            <a:r>
              <a:rPr lang="en-US" altLang="zh-CN" sz="2400" dirty="0">
                <a:latin typeface="Arial" panose="020B0604020202020204" pitchFamily="34" charset="0"/>
                <a:ea typeface="楷体_GB2312" pitchFamily="49" charset="-122"/>
                <a:cs typeface="Arial" panose="020B0604020202020204" pitchFamily="34" charset="0"/>
              </a:rPr>
              <a:t>{ R[d], R[2d], R[3d], …, R[ kd], R[(k+1)d] }</a:t>
            </a:r>
            <a:endParaRPr lang="en-US" altLang="zh-CN" sz="2400" dirty="0">
              <a:latin typeface="Arial" panose="020B0604020202020204" pitchFamily="34" charset="0"/>
              <a:cs typeface="Arial" panose="020B0604020202020204" pitchFamily="34" charset="0"/>
            </a:endParaRP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45</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38916"/>
                                        </p:tgtEl>
                                        <p:attrNameLst>
                                          <p:attrName>style.visibility</p:attrName>
                                        </p:attrNameLst>
                                      </p:cBhvr>
                                      <p:to>
                                        <p:strVal val="visible"/>
                                      </p:to>
                                    </p:set>
                                    <p:animEffect transition="in" filter="blinds(vertical)">
                                      <p:cBhvr>
                                        <p:cTn id="7" dur="500"/>
                                        <p:tgtEl>
                                          <p:spTgt spid="3891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38915"/>
                                        </p:tgtEl>
                                        <p:attrNameLst>
                                          <p:attrName>style.visibility</p:attrName>
                                        </p:attrNameLst>
                                      </p:cBhvr>
                                      <p:to>
                                        <p:strVal val="visible"/>
                                      </p:to>
                                    </p:set>
                                    <p:animEffect transition="in" filter="blinds(vertical)">
                                      <p:cBhvr>
                                        <p:cTn id="12" dur="500"/>
                                        <p:tgtEl>
                                          <p:spTgt spid="389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bldLvl="0" animBg="1" autoUpdateAnimBg="0"/>
      <p:bldP spid="38916" grpId="0" bldLvl="0" animBg="1"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82" name="Rectangle 46"/>
          <p:cNvSpPr>
            <a:spLocks noChangeArrowheads="1"/>
          </p:cNvSpPr>
          <p:nvPr/>
        </p:nvSpPr>
        <p:spPr bwMode="auto">
          <a:xfrm>
            <a:off x="219075" y="2903855"/>
            <a:ext cx="8924925" cy="1943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10000"/>
              </a:spcBef>
              <a:buSzPct val="80000"/>
            </a:pPr>
            <a:r>
              <a:rPr lang="zh-CN" altLang="en-US" b="1">
                <a:solidFill>
                  <a:srgbClr val="5736FA"/>
                </a:solidFill>
                <a:latin typeface="Arial" panose="020B0604020202020204" pitchFamily="34" charset="0"/>
                <a:ea typeface="楷体_GB2312" pitchFamily="49" charset="-122"/>
                <a:sym typeface="+mn-ea"/>
              </a:rPr>
              <a:t>A sorted result:</a:t>
            </a:r>
            <a:r>
              <a:rPr lang="zh-CN" altLang="en-US" sz="2800" b="1">
                <a:solidFill>
                  <a:srgbClr val="5736FA"/>
                </a:solidFill>
                <a:latin typeface="Arial" panose="020B0604020202020204" pitchFamily="34" charset="0"/>
                <a:ea typeface="楷体_GB2312" pitchFamily="49" charset="-122"/>
              </a:rPr>
              <a:t> </a:t>
            </a:r>
            <a:r>
              <a:rPr lang="en-US" altLang="zh-CN" sz="2800" b="1">
                <a:latin typeface="Arial" panose="020B0604020202020204" pitchFamily="34" charset="0"/>
                <a:ea typeface="楷体_GB2312" pitchFamily="49" charset="-122"/>
              </a:rPr>
              <a:t>13  27  49  55  04  49  38  65  97  76</a:t>
            </a:r>
            <a:r>
              <a:rPr lang="en-US" altLang="zh-CN" sz="2800" b="1">
                <a:solidFill>
                  <a:srgbClr val="5736FA"/>
                </a:solidFill>
                <a:latin typeface="Arial" panose="020B0604020202020204" pitchFamily="34" charset="0"/>
                <a:ea typeface="楷体_GB2312" pitchFamily="49" charset="-122"/>
              </a:rPr>
              <a:t> </a:t>
            </a:r>
          </a:p>
          <a:p>
            <a:pPr>
              <a:spcBef>
                <a:spcPct val="10000"/>
              </a:spcBef>
              <a:buSzPct val="80000"/>
            </a:pPr>
            <a:r>
              <a:rPr lang="en-US" altLang="zh-CN" sz="2800" b="1">
                <a:solidFill>
                  <a:srgbClr val="5736FA"/>
                </a:solidFill>
                <a:latin typeface="Arial" panose="020B0604020202020204" pitchFamily="34" charset="0"/>
                <a:ea typeface="楷体_GB2312" pitchFamily="49" charset="-122"/>
              </a:rPr>
              <a:t>                       </a:t>
            </a:r>
            <a:r>
              <a:rPr lang="en-US" altLang="zh-CN" sz="2800" b="1">
                <a:latin typeface="Arial" panose="020B0604020202020204" pitchFamily="34" charset="0"/>
                <a:ea typeface="楷体_GB2312" pitchFamily="49" charset="-122"/>
              </a:rPr>
              <a:t>13              55              38              76</a:t>
            </a:r>
          </a:p>
          <a:p>
            <a:pPr>
              <a:spcBef>
                <a:spcPct val="10000"/>
              </a:spcBef>
              <a:buSzPct val="80000"/>
            </a:pPr>
            <a:r>
              <a:rPr lang="en-US" altLang="zh-CN" sz="2800" b="1">
                <a:latin typeface="Arial" panose="020B0604020202020204" pitchFamily="34" charset="0"/>
                <a:ea typeface="楷体_GB2312" pitchFamily="49" charset="-122"/>
              </a:rPr>
              <a:t>                             27              04              65 </a:t>
            </a:r>
          </a:p>
          <a:p>
            <a:pPr>
              <a:spcBef>
                <a:spcPct val="10000"/>
              </a:spcBef>
              <a:buSzPct val="80000"/>
            </a:pPr>
            <a:r>
              <a:rPr lang="en-US" altLang="zh-CN" sz="2800" b="1">
                <a:latin typeface="Arial" panose="020B0604020202020204" pitchFamily="34" charset="0"/>
                <a:ea typeface="楷体_GB2312" pitchFamily="49" charset="-122"/>
              </a:rPr>
              <a:t>                                   </a:t>
            </a:r>
            <a:r>
              <a:rPr lang="en-US" altLang="zh-CN" sz="2800" b="1" u="sng">
                <a:latin typeface="Arial" panose="020B0604020202020204" pitchFamily="34" charset="0"/>
                <a:ea typeface="楷体_GB2312" pitchFamily="49" charset="-122"/>
              </a:rPr>
              <a:t>49</a:t>
            </a:r>
            <a:r>
              <a:rPr lang="en-US" altLang="zh-CN" sz="2800" b="1">
                <a:latin typeface="Arial" panose="020B0604020202020204" pitchFamily="34" charset="0"/>
                <a:ea typeface="楷体_GB2312" pitchFamily="49" charset="-122"/>
              </a:rPr>
              <a:t>              49              97</a:t>
            </a:r>
          </a:p>
        </p:txBody>
      </p:sp>
      <p:sp>
        <p:nvSpPr>
          <p:cNvPr id="39938" name="Rectangle 2"/>
          <p:cNvSpPr>
            <a:spLocks noChangeArrowheads="1"/>
          </p:cNvSpPr>
          <p:nvPr/>
        </p:nvSpPr>
        <p:spPr bwMode="auto">
          <a:xfrm>
            <a:off x="120015" y="-23495"/>
            <a:ext cx="8795385" cy="287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10000"/>
              </a:spcBef>
              <a:buSzPct val="80000"/>
            </a:pPr>
            <a:r>
              <a:rPr lang="zh-CN" altLang="en-US" sz="2800" b="1" dirty="0">
                <a:solidFill>
                  <a:srgbClr val="5736FA"/>
                </a:solidFill>
                <a:latin typeface="Arial" panose="020B0604020202020204" pitchFamily="34" charset="0"/>
                <a:ea typeface="楷体_GB2312" pitchFamily="49" charset="-122"/>
                <a:sym typeface="+mn-ea"/>
              </a:rPr>
              <a:t>Initial keywords</a:t>
            </a:r>
            <a:r>
              <a:rPr lang="zh-CN" altLang="en-US" sz="2800" b="1" dirty="0">
                <a:solidFill>
                  <a:srgbClr val="5736FA"/>
                </a:solidFill>
                <a:latin typeface="Arial" panose="020B0604020202020204" pitchFamily="34" charset="0"/>
                <a:ea typeface="楷体_GB2312" pitchFamily="49" charset="-122"/>
              </a:rPr>
              <a:t> </a:t>
            </a:r>
            <a:r>
              <a:rPr lang="en-US" altLang="zh-CN" sz="2800" b="1" dirty="0">
                <a:solidFill>
                  <a:srgbClr val="FF0000"/>
                </a:solidFill>
                <a:latin typeface="Arial" panose="020B0604020202020204" pitchFamily="34" charset="0"/>
                <a:ea typeface="楷体_GB2312" pitchFamily="49" charset="-122"/>
              </a:rPr>
              <a:t>49  38  65  97  76  13  27  </a:t>
            </a:r>
            <a:r>
              <a:rPr lang="en-US" altLang="zh-CN" sz="2800" b="1" u="sng" dirty="0">
                <a:solidFill>
                  <a:srgbClr val="FF0000"/>
                </a:solidFill>
                <a:latin typeface="Arial" panose="020B0604020202020204" pitchFamily="34" charset="0"/>
                <a:ea typeface="楷体_GB2312" pitchFamily="49" charset="-122"/>
              </a:rPr>
              <a:t>49</a:t>
            </a:r>
            <a:r>
              <a:rPr lang="en-US" altLang="zh-CN" sz="2800" b="1" dirty="0">
                <a:solidFill>
                  <a:srgbClr val="FF0000"/>
                </a:solidFill>
                <a:latin typeface="Arial" panose="020B0604020202020204" pitchFamily="34" charset="0"/>
                <a:ea typeface="楷体_GB2312" pitchFamily="49" charset="-122"/>
              </a:rPr>
              <a:t>  55  04  </a:t>
            </a:r>
          </a:p>
          <a:p>
            <a:pPr>
              <a:spcBef>
                <a:spcPct val="10000"/>
              </a:spcBef>
              <a:buSzPct val="80000"/>
            </a:pPr>
            <a:r>
              <a:rPr lang="en-US" altLang="zh-CN" sz="2800" b="1" dirty="0">
                <a:solidFill>
                  <a:srgbClr val="5736FA"/>
                </a:solidFill>
                <a:latin typeface="Arial" panose="020B0604020202020204" pitchFamily="34" charset="0"/>
                <a:ea typeface="楷体_GB2312" pitchFamily="49" charset="-122"/>
              </a:rPr>
              <a:t>                       </a:t>
            </a:r>
            <a:r>
              <a:rPr lang="en-US" altLang="zh-CN" sz="2800" b="1" dirty="0">
                <a:latin typeface="Arial" panose="020B0604020202020204" pitchFamily="34" charset="0"/>
                <a:ea typeface="楷体_GB2312" pitchFamily="49" charset="-122"/>
              </a:rPr>
              <a:t>49                          13</a:t>
            </a:r>
          </a:p>
          <a:p>
            <a:pPr>
              <a:spcBef>
                <a:spcPct val="10000"/>
              </a:spcBef>
              <a:buSzPct val="80000"/>
            </a:pPr>
            <a:r>
              <a:rPr lang="en-US" altLang="zh-CN" sz="2800" b="1" dirty="0">
                <a:latin typeface="Arial" panose="020B0604020202020204" pitchFamily="34" charset="0"/>
                <a:ea typeface="楷体_GB2312" pitchFamily="49" charset="-122"/>
              </a:rPr>
              <a:t>                             38                          27  </a:t>
            </a:r>
          </a:p>
          <a:p>
            <a:pPr>
              <a:spcBef>
                <a:spcPct val="10000"/>
              </a:spcBef>
              <a:buSzPct val="80000"/>
            </a:pPr>
            <a:r>
              <a:rPr lang="en-US" altLang="zh-CN" sz="2800" b="1" dirty="0">
                <a:latin typeface="Arial" panose="020B0604020202020204" pitchFamily="34" charset="0"/>
                <a:ea typeface="楷体_GB2312" pitchFamily="49" charset="-122"/>
              </a:rPr>
              <a:t>                                   65                          </a:t>
            </a:r>
            <a:r>
              <a:rPr lang="en-US" altLang="zh-CN" sz="2800" b="1" u="sng" dirty="0">
                <a:latin typeface="Arial" panose="020B0604020202020204" pitchFamily="34" charset="0"/>
                <a:ea typeface="楷体_GB2312" pitchFamily="49" charset="-122"/>
              </a:rPr>
              <a:t>49</a:t>
            </a:r>
          </a:p>
          <a:p>
            <a:pPr>
              <a:spcBef>
                <a:spcPct val="10000"/>
              </a:spcBef>
              <a:buSzPct val="80000"/>
            </a:pPr>
            <a:r>
              <a:rPr lang="en-US" altLang="zh-CN" sz="2800" b="1" dirty="0">
                <a:latin typeface="Arial" panose="020B0604020202020204" pitchFamily="34" charset="0"/>
                <a:ea typeface="楷体_GB2312" pitchFamily="49" charset="-122"/>
              </a:rPr>
              <a:t>                                         97                          55</a:t>
            </a:r>
          </a:p>
          <a:p>
            <a:pPr>
              <a:spcBef>
                <a:spcPct val="10000"/>
              </a:spcBef>
              <a:buSzPct val="80000"/>
            </a:pPr>
            <a:r>
              <a:rPr lang="en-US" altLang="zh-CN" sz="2800" b="1" dirty="0">
                <a:latin typeface="Arial" panose="020B0604020202020204" pitchFamily="34" charset="0"/>
                <a:ea typeface="楷体_GB2312" pitchFamily="49" charset="-122"/>
              </a:rPr>
              <a:t>                                               76                          04</a:t>
            </a:r>
          </a:p>
          <a:p>
            <a:pPr>
              <a:spcBef>
                <a:spcPct val="20000"/>
              </a:spcBef>
              <a:buSzPct val="80000"/>
            </a:pPr>
            <a:r>
              <a:rPr lang="en-US" altLang="zh-CN" sz="2800" b="1" dirty="0">
                <a:solidFill>
                  <a:srgbClr val="5736FA"/>
                </a:solidFill>
                <a:latin typeface="Arial" panose="020B0604020202020204" pitchFamily="34" charset="0"/>
                <a:ea typeface="楷体_GB2312" pitchFamily="49" charset="-122"/>
              </a:rPr>
              <a:t> </a:t>
            </a:r>
          </a:p>
          <a:p>
            <a:pPr>
              <a:spcBef>
                <a:spcPct val="20000"/>
              </a:spcBef>
              <a:buSzPct val="80000"/>
            </a:pPr>
            <a:endParaRPr lang="en-US" altLang="zh-CN" sz="2800" b="1" dirty="0">
              <a:solidFill>
                <a:srgbClr val="5736FA"/>
              </a:solidFill>
              <a:latin typeface="Arial" panose="020B0604020202020204" pitchFamily="34" charset="0"/>
              <a:ea typeface="楷体_GB2312" pitchFamily="49" charset="-122"/>
            </a:endParaRPr>
          </a:p>
          <a:p>
            <a:pPr>
              <a:spcBef>
                <a:spcPct val="20000"/>
              </a:spcBef>
              <a:buSzPct val="80000"/>
            </a:pPr>
            <a:endParaRPr lang="en-US" altLang="zh-CN" sz="2800" b="1" dirty="0">
              <a:latin typeface="Arial" panose="020B0604020202020204" pitchFamily="34" charset="0"/>
              <a:ea typeface="楷体_GB2312" pitchFamily="49" charset="-122"/>
            </a:endParaRPr>
          </a:p>
        </p:txBody>
      </p:sp>
      <p:sp>
        <p:nvSpPr>
          <p:cNvPr id="39939" name="Rectangle 3"/>
          <p:cNvSpPr>
            <a:spLocks noChangeArrowheads="1"/>
          </p:cNvSpPr>
          <p:nvPr/>
        </p:nvSpPr>
        <p:spPr bwMode="auto">
          <a:xfrm>
            <a:off x="635" y="4859655"/>
            <a:ext cx="9143365" cy="995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10000"/>
              </a:spcBef>
              <a:buSzPct val="80000"/>
            </a:pPr>
            <a:r>
              <a:rPr lang="zh-CN" altLang="en-US" b="1" dirty="0">
                <a:solidFill>
                  <a:srgbClr val="5736FA"/>
                </a:solidFill>
                <a:latin typeface="Arial" panose="020B0604020202020204" pitchFamily="34" charset="0"/>
                <a:ea typeface="楷体_GB2312" pitchFamily="49" charset="-122"/>
                <a:sym typeface="+mn-ea"/>
              </a:rPr>
              <a:t>Second sort result</a:t>
            </a:r>
            <a:r>
              <a:rPr lang="zh-CN" altLang="en-US" sz="2800" b="1" dirty="0">
                <a:solidFill>
                  <a:srgbClr val="5736FA"/>
                </a:solidFill>
                <a:latin typeface="Arial" panose="020B0604020202020204" pitchFamily="34" charset="0"/>
                <a:ea typeface="楷体_GB2312" pitchFamily="49" charset="-122"/>
              </a:rPr>
              <a:t> </a:t>
            </a:r>
            <a:r>
              <a:rPr lang="en-US" altLang="zh-CN" sz="2600" b="1" dirty="0">
                <a:latin typeface="Arial" panose="020B0604020202020204" pitchFamily="34" charset="0"/>
                <a:ea typeface="楷体_GB2312" pitchFamily="49" charset="-122"/>
              </a:rPr>
              <a:t>13  04  </a:t>
            </a:r>
            <a:r>
              <a:rPr lang="en-US" altLang="zh-CN" sz="2600" b="1" u="sng" dirty="0">
                <a:latin typeface="Arial" panose="020B0604020202020204" pitchFamily="34" charset="0"/>
                <a:ea typeface="楷体_GB2312" pitchFamily="49" charset="-122"/>
              </a:rPr>
              <a:t>49</a:t>
            </a:r>
            <a:r>
              <a:rPr lang="en-US" altLang="zh-CN" sz="2600" b="1" dirty="0">
                <a:latin typeface="Arial" panose="020B0604020202020204" pitchFamily="34" charset="0"/>
                <a:ea typeface="楷体_GB2312" pitchFamily="49" charset="-122"/>
              </a:rPr>
              <a:t>  38  27  49  55  65  97  76</a:t>
            </a:r>
          </a:p>
          <a:p>
            <a:pPr>
              <a:spcBef>
                <a:spcPct val="10000"/>
              </a:spcBef>
              <a:buSzPct val="80000"/>
            </a:pPr>
            <a:endParaRPr lang="en-US" altLang="zh-CN" sz="2800" b="1" dirty="0">
              <a:latin typeface="Arial" panose="020B0604020202020204" pitchFamily="34" charset="0"/>
              <a:ea typeface="楷体_GB2312" pitchFamily="49" charset="-122"/>
            </a:endParaRPr>
          </a:p>
        </p:txBody>
      </p:sp>
      <p:grpSp>
        <p:nvGrpSpPr>
          <p:cNvPr id="39940" name="Group 4"/>
          <p:cNvGrpSpPr/>
          <p:nvPr/>
        </p:nvGrpSpPr>
        <p:grpSpPr bwMode="auto">
          <a:xfrm>
            <a:off x="2967038" y="831850"/>
            <a:ext cx="2971800" cy="80963"/>
            <a:chOff x="1968" y="1056"/>
            <a:chExt cx="1872" cy="51"/>
          </a:xfrm>
        </p:grpSpPr>
        <p:sp>
          <p:nvSpPr>
            <p:cNvPr id="39941" name="Line 5"/>
            <p:cNvSpPr>
              <a:spLocks noChangeShapeType="1"/>
            </p:cNvSpPr>
            <p:nvPr/>
          </p:nvSpPr>
          <p:spPr bwMode="auto">
            <a:xfrm>
              <a:off x="1968" y="1107"/>
              <a:ext cx="1872" cy="0"/>
            </a:xfrm>
            <a:prstGeom prst="line">
              <a:avLst/>
            </a:prstGeom>
            <a:noFill/>
            <a:ln w="127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p>
              <a:endParaRPr lang="zh-CN" altLang="en-US"/>
            </a:p>
          </p:txBody>
        </p:sp>
        <p:grpSp>
          <p:nvGrpSpPr>
            <p:cNvPr id="39942" name="Group 6"/>
            <p:cNvGrpSpPr/>
            <p:nvPr/>
          </p:nvGrpSpPr>
          <p:grpSpPr bwMode="auto">
            <a:xfrm>
              <a:off x="1968" y="1056"/>
              <a:ext cx="1872" cy="48"/>
              <a:chOff x="1968" y="1056"/>
              <a:chExt cx="1872" cy="96"/>
            </a:xfrm>
          </p:grpSpPr>
          <p:sp>
            <p:nvSpPr>
              <p:cNvPr id="39943" name="Line 7"/>
              <p:cNvSpPr>
                <a:spLocks noChangeShapeType="1"/>
              </p:cNvSpPr>
              <p:nvPr/>
            </p:nvSpPr>
            <p:spPr bwMode="auto">
              <a:xfrm>
                <a:off x="1968" y="1056"/>
                <a:ext cx="0" cy="96"/>
              </a:xfrm>
              <a:prstGeom prst="line">
                <a:avLst/>
              </a:prstGeom>
              <a:noFill/>
              <a:ln w="127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p>
                <a:endParaRPr lang="zh-CN" altLang="en-US"/>
              </a:p>
            </p:txBody>
          </p:sp>
          <p:sp>
            <p:nvSpPr>
              <p:cNvPr id="39944" name="Line 8"/>
              <p:cNvSpPr>
                <a:spLocks noChangeShapeType="1"/>
              </p:cNvSpPr>
              <p:nvPr/>
            </p:nvSpPr>
            <p:spPr bwMode="auto">
              <a:xfrm flipV="1">
                <a:off x="3840" y="1056"/>
                <a:ext cx="0" cy="96"/>
              </a:xfrm>
              <a:prstGeom prst="line">
                <a:avLst/>
              </a:prstGeom>
              <a:noFill/>
              <a:ln w="127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p>
                <a:endParaRPr lang="zh-CN" altLang="en-US"/>
              </a:p>
            </p:txBody>
          </p:sp>
        </p:grpSp>
      </p:grpSp>
      <p:grpSp>
        <p:nvGrpSpPr>
          <p:cNvPr id="39945" name="Group 9"/>
          <p:cNvGrpSpPr/>
          <p:nvPr/>
        </p:nvGrpSpPr>
        <p:grpSpPr bwMode="auto">
          <a:xfrm>
            <a:off x="3576638" y="1289050"/>
            <a:ext cx="2971800" cy="80963"/>
            <a:chOff x="1968" y="1056"/>
            <a:chExt cx="1872" cy="51"/>
          </a:xfrm>
        </p:grpSpPr>
        <p:sp>
          <p:nvSpPr>
            <p:cNvPr id="39946" name="Line 10"/>
            <p:cNvSpPr>
              <a:spLocks noChangeShapeType="1"/>
            </p:cNvSpPr>
            <p:nvPr/>
          </p:nvSpPr>
          <p:spPr bwMode="auto">
            <a:xfrm>
              <a:off x="1968" y="1107"/>
              <a:ext cx="1872" cy="0"/>
            </a:xfrm>
            <a:prstGeom prst="line">
              <a:avLst/>
            </a:prstGeom>
            <a:noFill/>
            <a:ln w="127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p>
              <a:endParaRPr lang="zh-CN" altLang="en-US"/>
            </a:p>
          </p:txBody>
        </p:sp>
        <p:grpSp>
          <p:nvGrpSpPr>
            <p:cNvPr id="39947" name="Group 11"/>
            <p:cNvGrpSpPr/>
            <p:nvPr/>
          </p:nvGrpSpPr>
          <p:grpSpPr bwMode="auto">
            <a:xfrm>
              <a:off x="1968" y="1056"/>
              <a:ext cx="1872" cy="48"/>
              <a:chOff x="1968" y="1056"/>
              <a:chExt cx="1872" cy="96"/>
            </a:xfrm>
          </p:grpSpPr>
          <p:sp>
            <p:nvSpPr>
              <p:cNvPr id="39948" name="Line 12"/>
              <p:cNvSpPr>
                <a:spLocks noChangeShapeType="1"/>
              </p:cNvSpPr>
              <p:nvPr/>
            </p:nvSpPr>
            <p:spPr bwMode="auto">
              <a:xfrm>
                <a:off x="1968" y="1056"/>
                <a:ext cx="0" cy="96"/>
              </a:xfrm>
              <a:prstGeom prst="line">
                <a:avLst/>
              </a:prstGeom>
              <a:noFill/>
              <a:ln w="127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p>
                <a:endParaRPr lang="zh-CN" altLang="en-US"/>
              </a:p>
            </p:txBody>
          </p:sp>
          <p:sp>
            <p:nvSpPr>
              <p:cNvPr id="39949" name="Line 13"/>
              <p:cNvSpPr>
                <a:spLocks noChangeShapeType="1"/>
              </p:cNvSpPr>
              <p:nvPr/>
            </p:nvSpPr>
            <p:spPr bwMode="auto">
              <a:xfrm flipV="1">
                <a:off x="3840" y="1056"/>
                <a:ext cx="0" cy="96"/>
              </a:xfrm>
              <a:prstGeom prst="line">
                <a:avLst/>
              </a:prstGeom>
              <a:noFill/>
              <a:ln w="127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p>
                <a:endParaRPr lang="zh-CN" altLang="en-US"/>
              </a:p>
            </p:txBody>
          </p:sp>
        </p:grpSp>
      </p:grpSp>
      <p:grpSp>
        <p:nvGrpSpPr>
          <p:cNvPr id="39950" name="Group 14"/>
          <p:cNvGrpSpPr/>
          <p:nvPr/>
        </p:nvGrpSpPr>
        <p:grpSpPr bwMode="auto">
          <a:xfrm>
            <a:off x="4133850" y="1746250"/>
            <a:ext cx="2971800" cy="80963"/>
            <a:chOff x="1968" y="1056"/>
            <a:chExt cx="1872" cy="51"/>
          </a:xfrm>
        </p:grpSpPr>
        <p:sp>
          <p:nvSpPr>
            <p:cNvPr id="39951" name="Line 15"/>
            <p:cNvSpPr>
              <a:spLocks noChangeShapeType="1"/>
            </p:cNvSpPr>
            <p:nvPr/>
          </p:nvSpPr>
          <p:spPr bwMode="auto">
            <a:xfrm>
              <a:off x="1968" y="1107"/>
              <a:ext cx="1872" cy="0"/>
            </a:xfrm>
            <a:prstGeom prst="line">
              <a:avLst/>
            </a:prstGeom>
            <a:noFill/>
            <a:ln w="127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p>
              <a:endParaRPr lang="zh-CN" altLang="en-US"/>
            </a:p>
          </p:txBody>
        </p:sp>
        <p:grpSp>
          <p:nvGrpSpPr>
            <p:cNvPr id="39952" name="Group 16"/>
            <p:cNvGrpSpPr/>
            <p:nvPr/>
          </p:nvGrpSpPr>
          <p:grpSpPr bwMode="auto">
            <a:xfrm>
              <a:off x="1968" y="1056"/>
              <a:ext cx="1872" cy="48"/>
              <a:chOff x="1968" y="1056"/>
              <a:chExt cx="1872" cy="96"/>
            </a:xfrm>
          </p:grpSpPr>
          <p:sp>
            <p:nvSpPr>
              <p:cNvPr id="39953" name="Line 17"/>
              <p:cNvSpPr>
                <a:spLocks noChangeShapeType="1"/>
              </p:cNvSpPr>
              <p:nvPr/>
            </p:nvSpPr>
            <p:spPr bwMode="auto">
              <a:xfrm>
                <a:off x="1968" y="1056"/>
                <a:ext cx="0" cy="96"/>
              </a:xfrm>
              <a:prstGeom prst="line">
                <a:avLst/>
              </a:prstGeom>
              <a:noFill/>
              <a:ln w="127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p>
                <a:endParaRPr lang="zh-CN" altLang="en-US"/>
              </a:p>
            </p:txBody>
          </p:sp>
          <p:sp>
            <p:nvSpPr>
              <p:cNvPr id="39954" name="Line 18"/>
              <p:cNvSpPr>
                <a:spLocks noChangeShapeType="1"/>
              </p:cNvSpPr>
              <p:nvPr/>
            </p:nvSpPr>
            <p:spPr bwMode="auto">
              <a:xfrm flipV="1">
                <a:off x="3840" y="1056"/>
                <a:ext cx="0" cy="96"/>
              </a:xfrm>
              <a:prstGeom prst="line">
                <a:avLst/>
              </a:prstGeom>
              <a:noFill/>
              <a:ln w="127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p>
                <a:endParaRPr lang="zh-CN" altLang="en-US"/>
              </a:p>
            </p:txBody>
          </p:sp>
        </p:grpSp>
      </p:grpSp>
      <p:grpSp>
        <p:nvGrpSpPr>
          <p:cNvPr id="39955" name="Group 19"/>
          <p:cNvGrpSpPr/>
          <p:nvPr/>
        </p:nvGrpSpPr>
        <p:grpSpPr bwMode="auto">
          <a:xfrm>
            <a:off x="4710113" y="2203450"/>
            <a:ext cx="2971800" cy="80963"/>
            <a:chOff x="1968" y="1056"/>
            <a:chExt cx="1872" cy="51"/>
          </a:xfrm>
        </p:grpSpPr>
        <p:sp>
          <p:nvSpPr>
            <p:cNvPr id="39956" name="Line 20"/>
            <p:cNvSpPr>
              <a:spLocks noChangeShapeType="1"/>
            </p:cNvSpPr>
            <p:nvPr/>
          </p:nvSpPr>
          <p:spPr bwMode="auto">
            <a:xfrm>
              <a:off x="1968" y="1107"/>
              <a:ext cx="1872" cy="0"/>
            </a:xfrm>
            <a:prstGeom prst="line">
              <a:avLst/>
            </a:prstGeom>
            <a:noFill/>
            <a:ln w="127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p>
              <a:endParaRPr lang="zh-CN" altLang="en-US"/>
            </a:p>
          </p:txBody>
        </p:sp>
        <p:grpSp>
          <p:nvGrpSpPr>
            <p:cNvPr id="39957" name="Group 21"/>
            <p:cNvGrpSpPr/>
            <p:nvPr/>
          </p:nvGrpSpPr>
          <p:grpSpPr bwMode="auto">
            <a:xfrm>
              <a:off x="1968" y="1056"/>
              <a:ext cx="1872" cy="48"/>
              <a:chOff x="1968" y="1056"/>
              <a:chExt cx="1872" cy="96"/>
            </a:xfrm>
          </p:grpSpPr>
          <p:sp>
            <p:nvSpPr>
              <p:cNvPr id="39958" name="Line 22"/>
              <p:cNvSpPr>
                <a:spLocks noChangeShapeType="1"/>
              </p:cNvSpPr>
              <p:nvPr/>
            </p:nvSpPr>
            <p:spPr bwMode="auto">
              <a:xfrm>
                <a:off x="1968" y="1056"/>
                <a:ext cx="0" cy="96"/>
              </a:xfrm>
              <a:prstGeom prst="line">
                <a:avLst/>
              </a:prstGeom>
              <a:noFill/>
              <a:ln w="127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p>
                <a:endParaRPr lang="zh-CN" altLang="en-US"/>
              </a:p>
            </p:txBody>
          </p:sp>
          <p:sp>
            <p:nvSpPr>
              <p:cNvPr id="39959" name="Line 23"/>
              <p:cNvSpPr>
                <a:spLocks noChangeShapeType="1"/>
              </p:cNvSpPr>
              <p:nvPr/>
            </p:nvSpPr>
            <p:spPr bwMode="auto">
              <a:xfrm flipV="1">
                <a:off x="3840" y="1056"/>
                <a:ext cx="0" cy="96"/>
              </a:xfrm>
              <a:prstGeom prst="line">
                <a:avLst/>
              </a:prstGeom>
              <a:noFill/>
              <a:ln w="127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p>
                <a:endParaRPr lang="zh-CN" altLang="en-US"/>
              </a:p>
            </p:txBody>
          </p:sp>
        </p:grpSp>
      </p:grpSp>
      <p:grpSp>
        <p:nvGrpSpPr>
          <p:cNvPr id="39960" name="Group 24"/>
          <p:cNvGrpSpPr/>
          <p:nvPr/>
        </p:nvGrpSpPr>
        <p:grpSpPr bwMode="auto">
          <a:xfrm>
            <a:off x="5334000" y="2660650"/>
            <a:ext cx="2971800" cy="80963"/>
            <a:chOff x="1968" y="1056"/>
            <a:chExt cx="1872" cy="51"/>
          </a:xfrm>
        </p:grpSpPr>
        <p:sp>
          <p:nvSpPr>
            <p:cNvPr id="39961" name="Line 25"/>
            <p:cNvSpPr>
              <a:spLocks noChangeShapeType="1"/>
            </p:cNvSpPr>
            <p:nvPr/>
          </p:nvSpPr>
          <p:spPr bwMode="auto">
            <a:xfrm>
              <a:off x="1968" y="1107"/>
              <a:ext cx="1872" cy="0"/>
            </a:xfrm>
            <a:prstGeom prst="line">
              <a:avLst/>
            </a:prstGeom>
            <a:noFill/>
            <a:ln w="127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p>
              <a:endParaRPr lang="zh-CN" altLang="en-US"/>
            </a:p>
          </p:txBody>
        </p:sp>
        <p:grpSp>
          <p:nvGrpSpPr>
            <p:cNvPr id="39962" name="Group 26"/>
            <p:cNvGrpSpPr/>
            <p:nvPr/>
          </p:nvGrpSpPr>
          <p:grpSpPr bwMode="auto">
            <a:xfrm>
              <a:off x="1968" y="1056"/>
              <a:ext cx="1872" cy="48"/>
              <a:chOff x="1968" y="1056"/>
              <a:chExt cx="1872" cy="96"/>
            </a:xfrm>
          </p:grpSpPr>
          <p:sp>
            <p:nvSpPr>
              <p:cNvPr id="39963" name="Line 27"/>
              <p:cNvSpPr>
                <a:spLocks noChangeShapeType="1"/>
              </p:cNvSpPr>
              <p:nvPr/>
            </p:nvSpPr>
            <p:spPr bwMode="auto">
              <a:xfrm>
                <a:off x="1968" y="1056"/>
                <a:ext cx="0" cy="96"/>
              </a:xfrm>
              <a:prstGeom prst="line">
                <a:avLst/>
              </a:prstGeom>
              <a:noFill/>
              <a:ln w="127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p>
                <a:endParaRPr lang="zh-CN" altLang="en-US"/>
              </a:p>
            </p:txBody>
          </p:sp>
          <p:sp>
            <p:nvSpPr>
              <p:cNvPr id="39964" name="Line 28"/>
              <p:cNvSpPr>
                <a:spLocks noChangeShapeType="1"/>
              </p:cNvSpPr>
              <p:nvPr/>
            </p:nvSpPr>
            <p:spPr bwMode="auto">
              <a:xfrm flipV="1">
                <a:off x="3840" y="1056"/>
                <a:ext cx="0" cy="96"/>
              </a:xfrm>
              <a:prstGeom prst="line">
                <a:avLst/>
              </a:prstGeom>
              <a:noFill/>
              <a:ln w="127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p>
                <a:endParaRPr lang="zh-CN" altLang="en-US"/>
              </a:p>
            </p:txBody>
          </p:sp>
        </p:grpSp>
      </p:grpSp>
      <p:sp>
        <p:nvSpPr>
          <p:cNvPr id="39965" name="Line 29"/>
          <p:cNvSpPr>
            <a:spLocks noChangeShapeType="1"/>
          </p:cNvSpPr>
          <p:nvPr/>
        </p:nvSpPr>
        <p:spPr bwMode="auto">
          <a:xfrm>
            <a:off x="2952750" y="3822700"/>
            <a:ext cx="5353050" cy="0"/>
          </a:xfrm>
          <a:prstGeom prst="line">
            <a:avLst/>
          </a:prstGeom>
          <a:noFill/>
          <a:ln w="127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p>
            <a:endParaRPr lang="zh-CN" altLang="en-US"/>
          </a:p>
        </p:txBody>
      </p:sp>
      <p:sp>
        <p:nvSpPr>
          <p:cNvPr id="39966" name="Line 30"/>
          <p:cNvSpPr>
            <a:spLocks noChangeShapeType="1"/>
          </p:cNvSpPr>
          <p:nvPr/>
        </p:nvSpPr>
        <p:spPr bwMode="auto">
          <a:xfrm flipV="1">
            <a:off x="2952750" y="3746500"/>
            <a:ext cx="0" cy="76200"/>
          </a:xfrm>
          <a:prstGeom prst="line">
            <a:avLst/>
          </a:prstGeom>
          <a:noFill/>
          <a:ln w="127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p>
            <a:endParaRPr lang="zh-CN" altLang="en-US"/>
          </a:p>
        </p:txBody>
      </p:sp>
      <p:sp>
        <p:nvSpPr>
          <p:cNvPr id="39967" name="Line 31"/>
          <p:cNvSpPr>
            <a:spLocks noChangeShapeType="1"/>
          </p:cNvSpPr>
          <p:nvPr/>
        </p:nvSpPr>
        <p:spPr bwMode="auto">
          <a:xfrm flipV="1">
            <a:off x="8286750" y="3727450"/>
            <a:ext cx="0" cy="76200"/>
          </a:xfrm>
          <a:prstGeom prst="line">
            <a:avLst/>
          </a:prstGeom>
          <a:noFill/>
          <a:ln w="127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p>
            <a:endParaRPr lang="zh-CN" altLang="en-US"/>
          </a:p>
        </p:txBody>
      </p:sp>
      <p:sp>
        <p:nvSpPr>
          <p:cNvPr id="39968" name="Line 32"/>
          <p:cNvSpPr>
            <a:spLocks noChangeShapeType="1"/>
          </p:cNvSpPr>
          <p:nvPr/>
        </p:nvSpPr>
        <p:spPr bwMode="auto">
          <a:xfrm flipV="1">
            <a:off x="4705350" y="3727450"/>
            <a:ext cx="0" cy="76200"/>
          </a:xfrm>
          <a:prstGeom prst="line">
            <a:avLst/>
          </a:prstGeom>
          <a:noFill/>
          <a:ln w="127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p>
            <a:endParaRPr lang="zh-CN" altLang="en-US"/>
          </a:p>
        </p:txBody>
      </p:sp>
      <p:sp>
        <p:nvSpPr>
          <p:cNvPr id="39969" name="Line 33"/>
          <p:cNvSpPr>
            <a:spLocks noChangeShapeType="1"/>
          </p:cNvSpPr>
          <p:nvPr/>
        </p:nvSpPr>
        <p:spPr bwMode="auto">
          <a:xfrm flipV="1">
            <a:off x="6534150" y="3746500"/>
            <a:ext cx="0" cy="76200"/>
          </a:xfrm>
          <a:prstGeom prst="line">
            <a:avLst/>
          </a:prstGeom>
          <a:noFill/>
          <a:ln w="127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p>
            <a:endParaRPr lang="zh-CN" altLang="en-US"/>
          </a:p>
        </p:txBody>
      </p:sp>
      <p:sp>
        <p:nvSpPr>
          <p:cNvPr id="39970" name="Line 34"/>
          <p:cNvSpPr>
            <a:spLocks noChangeShapeType="1"/>
          </p:cNvSpPr>
          <p:nvPr/>
        </p:nvSpPr>
        <p:spPr bwMode="auto">
          <a:xfrm>
            <a:off x="3505200" y="4289425"/>
            <a:ext cx="3657600" cy="0"/>
          </a:xfrm>
          <a:prstGeom prst="line">
            <a:avLst/>
          </a:prstGeom>
          <a:noFill/>
          <a:ln w="127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p>
            <a:endParaRPr lang="zh-CN" altLang="en-US"/>
          </a:p>
        </p:txBody>
      </p:sp>
      <p:sp>
        <p:nvSpPr>
          <p:cNvPr id="39971" name="Line 35"/>
          <p:cNvSpPr>
            <a:spLocks noChangeShapeType="1"/>
          </p:cNvSpPr>
          <p:nvPr/>
        </p:nvSpPr>
        <p:spPr bwMode="auto">
          <a:xfrm flipV="1">
            <a:off x="3495675" y="4198938"/>
            <a:ext cx="0" cy="76200"/>
          </a:xfrm>
          <a:prstGeom prst="line">
            <a:avLst/>
          </a:prstGeom>
          <a:noFill/>
          <a:ln w="127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p>
            <a:endParaRPr lang="zh-CN" altLang="en-US"/>
          </a:p>
        </p:txBody>
      </p:sp>
      <p:sp>
        <p:nvSpPr>
          <p:cNvPr id="39972" name="Line 36"/>
          <p:cNvSpPr>
            <a:spLocks noChangeShapeType="1"/>
          </p:cNvSpPr>
          <p:nvPr/>
        </p:nvSpPr>
        <p:spPr bwMode="auto">
          <a:xfrm flipV="1">
            <a:off x="5334000" y="4184650"/>
            <a:ext cx="0" cy="76200"/>
          </a:xfrm>
          <a:prstGeom prst="line">
            <a:avLst/>
          </a:prstGeom>
          <a:noFill/>
          <a:ln w="127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p>
            <a:endParaRPr lang="zh-CN" altLang="en-US"/>
          </a:p>
        </p:txBody>
      </p:sp>
      <p:sp>
        <p:nvSpPr>
          <p:cNvPr id="39973" name="Line 37"/>
          <p:cNvSpPr>
            <a:spLocks noChangeShapeType="1"/>
          </p:cNvSpPr>
          <p:nvPr/>
        </p:nvSpPr>
        <p:spPr bwMode="auto">
          <a:xfrm>
            <a:off x="7162800" y="4489450"/>
            <a:ext cx="0" cy="0"/>
          </a:xfrm>
          <a:prstGeom prst="line">
            <a:avLst/>
          </a:prstGeom>
          <a:noFill/>
          <a:ln w="127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p>
            <a:endParaRPr lang="zh-CN" altLang="en-US"/>
          </a:p>
        </p:txBody>
      </p:sp>
      <p:sp>
        <p:nvSpPr>
          <p:cNvPr id="39974" name="Line 38"/>
          <p:cNvSpPr>
            <a:spLocks noChangeShapeType="1"/>
          </p:cNvSpPr>
          <p:nvPr/>
        </p:nvSpPr>
        <p:spPr bwMode="auto">
          <a:xfrm>
            <a:off x="7086600" y="4184650"/>
            <a:ext cx="0" cy="76200"/>
          </a:xfrm>
          <a:prstGeom prst="line">
            <a:avLst/>
          </a:prstGeom>
          <a:noFill/>
          <a:ln w="127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p>
            <a:endParaRPr lang="zh-CN" altLang="en-US"/>
          </a:p>
        </p:txBody>
      </p:sp>
      <p:sp>
        <p:nvSpPr>
          <p:cNvPr id="39975" name="Line 39"/>
          <p:cNvSpPr>
            <a:spLocks noChangeShapeType="1"/>
          </p:cNvSpPr>
          <p:nvPr/>
        </p:nvSpPr>
        <p:spPr bwMode="auto">
          <a:xfrm>
            <a:off x="4114800" y="4794250"/>
            <a:ext cx="3505200" cy="0"/>
          </a:xfrm>
          <a:prstGeom prst="line">
            <a:avLst/>
          </a:prstGeom>
          <a:noFill/>
          <a:ln w="127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p>
            <a:endParaRPr lang="zh-CN" altLang="en-US"/>
          </a:p>
        </p:txBody>
      </p:sp>
      <p:sp>
        <p:nvSpPr>
          <p:cNvPr id="39976" name="Line 40"/>
          <p:cNvSpPr>
            <a:spLocks noChangeShapeType="1"/>
          </p:cNvSpPr>
          <p:nvPr/>
        </p:nvSpPr>
        <p:spPr bwMode="auto">
          <a:xfrm>
            <a:off x="4114800" y="4718050"/>
            <a:ext cx="0" cy="76200"/>
          </a:xfrm>
          <a:prstGeom prst="line">
            <a:avLst/>
          </a:prstGeom>
          <a:noFill/>
          <a:ln w="127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p>
            <a:endParaRPr lang="zh-CN" altLang="en-US"/>
          </a:p>
        </p:txBody>
      </p:sp>
      <p:sp>
        <p:nvSpPr>
          <p:cNvPr id="39977" name="Line 41"/>
          <p:cNvSpPr>
            <a:spLocks noChangeShapeType="1"/>
          </p:cNvSpPr>
          <p:nvPr/>
        </p:nvSpPr>
        <p:spPr bwMode="auto">
          <a:xfrm>
            <a:off x="5867400" y="4718050"/>
            <a:ext cx="0" cy="76200"/>
          </a:xfrm>
          <a:prstGeom prst="line">
            <a:avLst/>
          </a:prstGeom>
          <a:noFill/>
          <a:ln w="127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p>
            <a:endParaRPr lang="zh-CN" altLang="en-US"/>
          </a:p>
        </p:txBody>
      </p:sp>
      <p:sp>
        <p:nvSpPr>
          <p:cNvPr id="39978" name="Line 42"/>
          <p:cNvSpPr>
            <a:spLocks noChangeShapeType="1"/>
          </p:cNvSpPr>
          <p:nvPr/>
        </p:nvSpPr>
        <p:spPr bwMode="auto">
          <a:xfrm>
            <a:off x="7620000" y="4718050"/>
            <a:ext cx="0" cy="76200"/>
          </a:xfrm>
          <a:prstGeom prst="line">
            <a:avLst/>
          </a:prstGeom>
          <a:noFill/>
          <a:ln w="127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p>
            <a:endParaRPr lang="zh-CN" altLang="en-US"/>
          </a:p>
        </p:txBody>
      </p:sp>
      <p:sp>
        <p:nvSpPr>
          <p:cNvPr id="39979" name="Text Box 43"/>
          <p:cNvSpPr txBox="1">
            <a:spLocks noChangeArrowheads="1"/>
          </p:cNvSpPr>
          <p:nvPr/>
        </p:nvSpPr>
        <p:spPr bwMode="auto">
          <a:xfrm>
            <a:off x="35560" y="862330"/>
            <a:ext cx="328739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66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zh-CN">
                <a:solidFill>
                  <a:schemeClr val="tx1"/>
                </a:solidFill>
                <a:ea typeface="隶书" panose="02010509060101010101" pitchFamily="49" charset="-122"/>
              </a:rPr>
              <a:t>Set increment</a:t>
            </a:r>
            <a:r>
              <a:rPr lang="zh-CN" altLang="en-US">
                <a:solidFill>
                  <a:srgbClr val="005042"/>
                </a:solidFill>
                <a:ea typeface="隶书" panose="02010509060101010101" pitchFamily="49" charset="-122"/>
              </a:rPr>
              <a:t> </a:t>
            </a:r>
            <a:r>
              <a:rPr lang="en-US" altLang="zh-CN" b="1">
                <a:solidFill>
                  <a:srgbClr val="A50021"/>
                </a:solidFill>
                <a:ea typeface="楷体_GB2312" pitchFamily="49" charset="-122"/>
              </a:rPr>
              <a:t>d =5</a:t>
            </a:r>
            <a:endParaRPr lang="en-US" altLang="zh-CN" sz="3600" b="1">
              <a:solidFill>
                <a:schemeClr val="tx2"/>
              </a:solidFill>
              <a:ea typeface="楷体_GB2312" pitchFamily="49" charset="-122"/>
            </a:endParaRPr>
          </a:p>
        </p:txBody>
      </p:sp>
      <p:sp>
        <p:nvSpPr>
          <p:cNvPr id="39980" name="Text Box 44"/>
          <p:cNvSpPr txBox="1">
            <a:spLocks noChangeArrowheads="1"/>
          </p:cNvSpPr>
          <p:nvPr/>
        </p:nvSpPr>
        <p:spPr bwMode="auto">
          <a:xfrm>
            <a:off x="107950" y="3933190"/>
            <a:ext cx="290512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66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a:ea typeface="隶书" panose="02010509060101010101" pitchFamily="49" charset="-122"/>
                <a:sym typeface="+mn-ea"/>
              </a:rPr>
              <a:t>Set increment</a:t>
            </a:r>
            <a:r>
              <a:rPr lang="zh-CN" altLang="en-US">
                <a:solidFill>
                  <a:srgbClr val="005042"/>
                </a:solidFill>
                <a:ea typeface="隶书" panose="02010509060101010101" pitchFamily="49" charset="-122"/>
              </a:rPr>
              <a:t> </a:t>
            </a:r>
            <a:r>
              <a:rPr lang="en-US" altLang="zh-CN" b="1">
                <a:solidFill>
                  <a:srgbClr val="A50021"/>
                </a:solidFill>
                <a:ea typeface="楷体_GB2312" pitchFamily="49" charset="-122"/>
              </a:rPr>
              <a:t>d =3</a:t>
            </a:r>
            <a:endParaRPr lang="en-US" altLang="zh-CN" sz="3600" b="1">
              <a:solidFill>
                <a:schemeClr val="tx2"/>
              </a:solidFill>
              <a:ea typeface="楷体_GB2312" pitchFamily="49" charset="-122"/>
            </a:endParaRPr>
          </a:p>
        </p:txBody>
      </p:sp>
      <p:sp>
        <p:nvSpPr>
          <p:cNvPr id="39981" name="Text Box 45"/>
          <p:cNvSpPr txBox="1">
            <a:spLocks noChangeArrowheads="1"/>
          </p:cNvSpPr>
          <p:nvPr/>
        </p:nvSpPr>
        <p:spPr bwMode="auto">
          <a:xfrm>
            <a:off x="381000" y="5327650"/>
            <a:ext cx="290512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66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a:ea typeface="隶书" panose="02010509060101010101" pitchFamily="49" charset="-122"/>
                <a:sym typeface="+mn-ea"/>
              </a:rPr>
              <a:t>Set increment</a:t>
            </a:r>
            <a:r>
              <a:rPr lang="zh-CN" altLang="en-US">
                <a:solidFill>
                  <a:srgbClr val="005042"/>
                </a:solidFill>
                <a:ea typeface="隶书" panose="02010509060101010101" pitchFamily="49" charset="-122"/>
              </a:rPr>
              <a:t> </a:t>
            </a:r>
            <a:r>
              <a:rPr lang="en-US" altLang="zh-CN" b="1">
                <a:solidFill>
                  <a:srgbClr val="A50021"/>
                </a:solidFill>
                <a:ea typeface="楷体_GB2312" pitchFamily="49" charset="-122"/>
              </a:rPr>
              <a:t>d =1</a:t>
            </a:r>
            <a:endParaRPr lang="en-US" altLang="zh-CN" sz="3600" b="1">
              <a:solidFill>
                <a:schemeClr val="tx2"/>
              </a:solidFill>
              <a:ea typeface="楷体_GB2312" pitchFamily="49" charset="-122"/>
            </a:endParaRPr>
          </a:p>
        </p:txBody>
      </p:sp>
      <p:sp>
        <p:nvSpPr>
          <p:cNvPr id="39983" name="Rectangle 47"/>
          <p:cNvSpPr>
            <a:spLocks noChangeArrowheads="1"/>
          </p:cNvSpPr>
          <p:nvPr/>
        </p:nvSpPr>
        <p:spPr bwMode="auto">
          <a:xfrm>
            <a:off x="120015" y="5875655"/>
            <a:ext cx="896683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10000"/>
              </a:spcBef>
              <a:buSzPct val="80000"/>
            </a:pPr>
            <a:r>
              <a:rPr lang="en-US" altLang="zh-CN" sz="2800" b="1">
                <a:solidFill>
                  <a:srgbClr val="5736FA"/>
                </a:solidFill>
                <a:latin typeface="Arial" panose="020B0604020202020204" pitchFamily="34" charset="0"/>
                <a:ea typeface="楷体_GB2312" pitchFamily="49" charset="-122"/>
              </a:rPr>
              <a:t>Third </a:t>
            </a:r>
            <a:r>
              <a:rPr lang="zh-CN" altLang="en-US" b="1">
                <a:solidFill>
                  <a:srgbClr val="5736FA"/>
                </a:solidFill>
                <a:latin typeface="Arial" panose="020B0604020202020204" pitchFamily="34" charset="0"/>
                <a:ea typeface="楷体_GB2312" pitchFamily="49" charset="-122"/>
                <a:sym typeface="+mn-ea"/>
              </a:rPr>
              <a:t>sort result</a:t>
            </a:r>
            <a:r>
              <a:rPr lang="zh-CN" altLang="en-US" sz="2800" b="1">
                <a:solidFill>
                  <a:srgbClr val="5736FA"/>
                </a:solidFill>
                <a:latin typeface="Arial" panose="020B0604020202020204" pitchFamily="34" charset="0"/>
                <a:ea typeface="楷体_GB2312" pitchFamily="49" charset="-122"/>
              </a:rPr>
              <a:t> </a:t>
            </a:r>
            <a:r>
              <a:rPr lang="en-US" altLang="zh-CN" sz="2800" b="1">
                <a:latin typeface="Arial" panose="020B0604020202020204" pitchFamily="34" charset="0"/>
                <a:ea typeface="楷体_GB2312" pitchFamily="49" charset="-122"/>
              </a:rPr>
              <a:t>04  13  27  38  </a:t>
            </a:r>
            <a:r>
              <a:rPr lang="en-US" altLang="zh-CN" sz="2800" b="1" u="sng">
                <a:latin typeface="Arial" panose="020B0604020202020204" pitchFamily="34" charset="0"/>
                <a:ea typeface="楷体_GB2312" pitchFamily="49" charset="-122"/>
              </a:rPr>
              <a:t>49</a:t>
            </a:r>
            <a:r>
              <a:rPr lang="en-US" altLang="zh-CN" sz="2800" b="1">
                <a:latin typeface="Arial" panose="020B0604020202020204" pitchFamily="34" charset="0"/>
                <a:ea typeface="楷体_GB2312" pitchFamily="49" charset="-122"/>
              </a:rPr>
              <a:t>  49  55  65  76  97</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46</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9979"/>
                                        </p:tgtEl>
                                        <p:attrNameLst>
                                          <p:attrName>style.visibility</p:attrName>
                                        </p:attrNameLst>
                                      </p:cBhvr>
                                      <p:to>
                                        <p:strVal val="visible"/>
                                      </p:to>
                                    </p:set>
                                    <p:animEffect transition="in" filter="wipe(left)">
                                      <p:cBhvr>
                                        <p:cTn id="7" dur="500"/>
                                        <p:tgtEl>
                                          <p:spTgt spid="39979"/>
                                        </p:tgtEl>
                                      </p:cBhvr>
                                    </p:animEffect>
                                  </p:childTnLst>
                                </p:cTn>
                              </p:par>
                            </p:childTnLst>
                          </p:cTn>
                        </p:par>
                        <p:par>
                          <p:cTn id="8" fill="hold">
                            <p:stCondLst>
                              <p:cond delay="500"/>
                            </p:stCondLst>
                            <p:childTnLst>
                              <p:par>
                                <p:cTn id="9" presetID="2" presetClass="entr" presetSubtype="8" fill="hold" nodeType="afterEffect">
                                  <p:stCondLst>
                                    <p:cond delay="0"/>
                                  </p:stCondLst>
                                  <p:childTnLst>
                                    <p:set>
                                      <p:cBhvr>
                                        <p:cTn id="10" dur="1" fill="hold">
                                          <p:stCondLst>
                                            <p:cond delay="0"/>
                                          </p:stCondLst>
                                        </p:cTn>
                                        <p:tgtEl>
                                          <p:spTgt spid="39940"/>
                                        </p:tgtEl>
                                        <p:attrNameLst>
                                          <p:attrName>style.visibility</p:attrName>
                                        </p:attrNameLst>
                                      </p:cBhvr>
                                      <p:to>
                                        <p:strVal val="visible"/>
                                      </p:to>
                                    </p:set>
                                    <p:anim calcmode="lin" valueType="num">
                                      <p:cBhvr additive="base">
                                        <p:cTn id="11" dur="500" fill="hold"/>
                                        <p:tgtEl>
                                          <p:spTgt spid="39940"/>
                                        </p:tgtEl>
                                        <p:attrNameLst>
                                          <p:attrName>ppt_x</p:attrName>
                                        </p:attrNameLst>
                                      </p:cBhvr>
                                      <p:tavLst>
                                        <p:tav tm="0">
                                          <p:val>
                                            <p:strVal val="0-#ppt_w/2"/>
                                          </p:val>
                                        </p:tav>
                                        <p:tav tm="100000">
                                          <p:val>
                                            <p:strVal val="#ppt_x"/>
                                          </p:val>
                                        </p:tav>
                                      </p:tavLst>
                                    </p:anim>
                                    <p:anim calcmode="lin" valueType="num">
                                      <p:cBhvr additive="base">
                                        <p:cTn id="12" dur="500" fill="hold"/>
                                        <p:tgtEl>
                                          <p:spTgt spid="39940"/>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2" presetClass="entr" presetSubtype="8" fill="hold" nodeType="afterEffect">
                                  <p:stCondLst>
                                    <p:cond delay="0"/>
                                  </p:stCondLst>
                                  <p:childTnLst>
                                    <p:set>
                                      <p:cBhvr>
                                        <p:cTn id="15" dur="1" fill="hold">
                                          <p:stCondLst>
                                            <p:cond delay="0"/>
                                          </p:stCondLst>
                                        </p:cTn>
                                        <p:tgtEl>
                                          <p:spTgt spid="39945"/>
                                        </p:tgtEl>
                                        <p:attrNameLst>
                                          <p:attrName>style.visibility</p:attrName>
                                        </p:attrNameLst>
                                      </p:cBhvr>
                                      <p:to>
                                        <p:strVal val="visible"/>
                                      </p:to>
                                    </p:set>
                                    <p:anim calcmode="lin" valueType="num">
                                      <p:cBhvr additive="base">
                                        <p:cTn id="16" dur="500" fill="hold"/>
                                        <p:tgtEl>
                                          <p:spTgt spid="39945"/>
                                        </p:tgtEl>
                                        <p:attrNameLst>
                                          <p:attrName>ppt_x</p:attrName>
                                        </p:attrNameLst>
                                      </p:cBhvr>
                                      <p:tavLst>
                                        <p:tav tm="0">
                                          <p:val>
                                            <p:strVal val="0-#ppt_w/2"/>
                                          </p:val>
                                        </p:tav>
                                        <p:tav tm="100000">
                                          <p:val>
                                            <p:strVal val="#ppt_x"/>
                                          </p:val>
                                        </p:tav>
                                      </p:tavLst>
                                    </p:anim>
                                    <p:anim calcmode="lin" valueType="num">
                                      <p:cBhvr additive="base">
                                        <p:cTn id="17" dur="500" fill="hold"/>
                                        <p:tgtEl>
                                          <p:spTgt spid="39945"/>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2" presetClass="entr" presetSubtype="8" fill="hold" nodeType="afterEffect">
                                  <p:stCondLst>
                                    <p:cond delay="0"/>
                                  </p:stCondLst>
                                  <p:childTnLst>
                                    <p:set>
                                      <p:cBhvr>
                                        <p:cTn id="20" dur="1" fill="hold">
                                          <p:stCondLst>
                                            <p:cond delay="0"/>
                                          </p:stCondLst>
                                        </p:cTn>
                                        <p:tgtEl>
                                          <p:spTgt spid="39950"/>
                                        </p:tgtEl>
                                        <p:attrNameLst>
                                          <p:attrName>style.visibility</p:attrName>
                                        </p:attrNameLst>
                                      </p:cBhvr>
                                      <p:to>
                                        <p:strVal val="visible"/>
                                      </p:to>
                                    </p:set>
                                    <p:anim calcmode="lin" valueType="num">
                                      <p:cBhvr additive="base">
                                        <p:cTn id="21" dur="500" fill="hold"/>
                                        <p:tgtEl>
                                          <p:spTgt spid="39950"/>
                                        </p:tgtEl>
                                        <p:attrNameLst>
                                          <p:attrName>ppt_x</p:attrName>
                                        </p:attrNameLst>
                                      </p:cBhvr>
                                      <p:tavLst>
                                        <p:tav tm="0">
                                          <p:val>
                                            <p:strVal val="0-#ppt_w/2"/>
                                          </p:val>
                                        </p:tav>
                                        <p:tav tm="100000">
                                          <p:val>
                                            <p:strVal val="#ppt_x"/>
                                          </p:val>
                                        </p:tav>
                                      </p:tavLst>
                                    </p:anim>
                                    <p:anim calcmode="lin" valueType="num">
                                      <p:cBhvr additive="base">
                                        <p:cTn id="22" dur="500" fill="hold"/>
                                        <p:tgtEl>
                                          <p:spTgt spid="39950"/>
                                        </p:tgtEl>
                                        <p:attrNameLst>
                                          <p:attrName>ppt_y</p:attrName>
                                        </p:attrNameLst>
                                      </p:cBhvr>
                                      <p:tavLst>
                                        <p:tav tm="0">
                                          <p:val>
                                            <p:strVal val="#ppt_y"/>
                                          </p:val>
                                        </p:tav>
                                        <p:tav tm="100000">
                                          <p:val>
                                            <p:strVal val="#ppt_y"/>
                                          </p:val>
                                        </p:tav>
                                      </p:tavLst>
                                    </p:anim>
                                  </p:childTnLst>
                                </p:cTn>
                              </p:par>
                            </p:childTnLst>
                          </p:cTn>
                        </p:par>
                        <p:par>
                          <p:cTn id="23" fill="hold">
                            <p:stCondLst>
                              <p:cond delay="2000"/>
                            </p:stCondLst>
                            <p:childTnLst>
                              <p:par>
                                <p:cTn id="24" presetID="2" presetClass="entr" presetSubtype="8" fill="hold" nodeType="afterEffect">
                                  <p:stCondLst>
                                    <p:cond delay="0"/>
                                  </p:stCondLst>
                                  <p:childTnLst>
                                    <p:set>
                                      <p:cBhvr>
                                        <p:cTn id="25" dur="1" fill="hold">
                                          <p:stCondLst>
                                            <p:cond delay="0"/>
                                          </p:stCondLst>
                                        </p:cTn>
                                        <p:tgtEl>
                                          <p:spTgt spid="39955"/>
                                        </p:tgtEl>
                                        <p:attrNameLst>
                                          <p:attrName>style.visibility</p:attrName>
                                        </p:attrNameLst>
                                      </p:cBhvr>
                                      <p:to>
                                        <p:strVal val="visible"/>
                                      </p:to>
                                    </p:set>
                                    <p:anim calcmode="lin" valueType="num">
                                      <p:cBhvr additive="base">
                                        <p:cTn id="26" dur="500" fill="hold"/>
                                        <p:tgtEl>
                                          <p:spTgt spid="39955"/>
                                        </p:tgtEl>
                                        <p:attrNameLst>
                                          <p:attrName>ppt_x</p:attrName>
                                        </p:attrNameLst>
                                      </p:cBhvr>
                                      <p:tavLst>
                                        <p:tav tm="0">
                                          <p:val>
                                            <p:strVal val="0-#ppt_w/2"/>
                                          </p:val>
                                        </p:tav>
                                        <p:tav tm="100000">
                                          <p:val>
                                            <p:strVal val="#ppt_x"/>
                                          </p:val>
                                        </p:tav>
                                      </p:tavLst>
                                    </p:anim>
                                    <p:anim calcmode="lin" valueType="num">
                                      <p:cBhvr additive="base">
                                        <p:cTn id="27" dur="500" fill="hold"/>
                                        <p:tgtEl>
                                          <p:spTgt spid="39955"/>
                                        </p:tgtEl>
                                        <p:attrNameLst>
                                          <p:attrName>ppt_y</p:attrName>
                                        </p:attrNameLst>
                                      </p:cBhvr>
                                      <p:tavLst>
                                        <p:tav tm="0">
                                          <p:val>
                                            <p:strVal val="#ppt_y"/>
                                          </p:val>
                                        </p:tav>
                                        <p:tav tm="100000">
                                          <p:val>
                                            <p:strVal val="#ppt_y"/>
                                          </p:val>
                                        </p:tav>
                                      </p:tavLst>
                                    </p:anim>
                                  </p:childTnLst>
                                </p:cTn>
                              </p:par>
                            </p:childTnLst>
                          </p:cTn>
                        </p:par>
                        <p:par>
                          <p:cTn id="28" fill="hold">
                            <p:stCondLst>
                              <p:cond delay="2500"/>
                            </p:stCondLst>
                            <p:childTnLst>
                              <p:par>
                                <p:cTn id="29" presetID="2" presetClass="entr" presetSubtype="8" fill="hold" nodeType="afterEffect">
                                  <p:stCondLst>
                                    <p:cond delay="0"/>
                                  </p:stCondLst>
                                  <p:childTnLst>
                                    <p:set>
                                      <p:cBhvr>
                                        <p:cTn id="30" dur="1" fill="hold">
                                          <p:stCondLst>
                                            <p:cond delay="0"/>
                                          </p:stCondLst>
                                        </p:cTn>
                                        <p:tgtEl>
                                          <p:spTgt spid="39960"/>
                                        </p:tgtEl>
                                        <p:attrNameLst>
                                          <p:attrName>style.visibility</p:attrName>
                                        </p:attrNameLst>
                                      </p:cBhvr>
                                      <p:to>
                                        <p:strVal val="visible"/>
                                      </p:to>
                                    </p:set>
                                    <p:anim calcmode="lin" valueType="num">
                                      <p:cBhvr additive="base">
                                        <p:cTn id="31" dur="500" fill="hold"/>
                                        <p:tgtEl>
                                          <p:spTgt spid="39960"/>
                                        </p:tgtEl>
                                        <p:attrNameLst>
                                          <p:attrName>ppt_x</p:attrName>
                                        </p:attrNameLst>
                                      </p:cBhvr>
                                      <p:tavLst>
                                        <p:tav tm="0">
                                          <p:val>
                                            <p:strVal val="0-#ppt_w/2"/>
                                          </p:val>
                                        </p:tav>
                                        <p:tav tm="100000">
                                          <p:val>
                                            <p:strVal val="#ppt_x"/>
                                          </p:val>
                                        </p:tav>
                                      </p:tavLst>
                                    </p:anim>
                                    <p:anim calcmode="lin" valueType="num">
                                      <p:cBhvr additive="base">
                                        <p:cTn id="32" dur="500" fill="hold"/>
                                        <p:tgtEl>
                                          <p:spTgt spid="39960"/>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3998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39980"/>
                                        </p:tgtEl>
                                        <p:attrNameLst>
                                          <p:attrName>style.visibility</p:attrName>
                                        </p:attrNameLst>
                                      </p:cBhvr>
                                      <p:to>
                                        <p:strVal val="visible"/>
                                      </p:to>
                                    </p:set>
                                    <p:animEffect transition="in" filter="wipe(left)">
                                      <p:cBhvr>
                                        <p:cTn id="41" dur="500"/>
                                        <p:tgtEl>
                                          <p:spTgt spid="39980"/>
                                        </p:tgtEl>
                                      </p:cBhvr>
                                    </p:animEffect>
                                  </p:childTnLst>
                                </p:cTn>
                              </p:par>
                            </p:childTnLst>
                          </p:cTn>
                        </p:par>
                        <p:par>
                          <p:cTn id="42" fill="hold">
                            <p:stCondLst>
                              <p:cond delay="500"/>
                            </p:stCondLst>
                            <p:childTnLst>
                              <p:par>
                                <p:cTn id="43" presetID="2" presetClass="entr" presetSubtype="8" fill="hold" grpId="0" nodeType="afterEffect">
                                  <p:stCondLst>
                                    <p:cond delay="0"/>
                                  </p:stCondLst>
                                  <p:childTnLst>
                                    <p:set>
                                      <p:cBhvr>
                                        <p:cTn id="44" dur="1" fill="hold">
                                          <p:stCondLst>
                                            <p:cond delay="0"/>
                                          </p:stCondLst>
                                        </p:cTn>
                                        <p:tgtEl>
                                          <p:spTgt spid="39965"/>
                                        </p:tgtEl>
                                        <p:attrNameLst>
                                          <p:attrName>style.visibility</p:attrName>
                                        </p:attrNameLst>
                                      </p:cBhvr>
                                      <p:to>
                                        <p:strVal val="visible"/>
                                      </p:to>
                                    </p:set>
                                    <p:anim calcmode="lin" valueType="num">
                                      <p:cBhvr additive="base">
                                        <p:cTn id="45" dur="500" fill="hold"/>
                                        <p:tgtEl>
                                          <p:spTgt spid="39965"/>
                                        </p:tgtEl>
                                        <p:attrNameLst>
                                          <p:attrName>ppt_x</p:attrName>
                                        </p:attrNameLst>
                                      </p:cBhvr>
                                      <p:tavLst>
                                        <p:tav tm="0">
                                          <p:val>
                                            <p:strVal val="0-#ppt_w/2"/>
                                          </p:val>
                                        </p:tav>
                                        <p:tav tm="100000">
                                          <p:val>
                                            <p:strVal val="#ppt_x"/>
                                          </p:val>
                                        </p:tav>
                                      </p:tavLst>
                                    </p:anim>
                                    <p:anim calcmode="lin" valueType="num">
                                      <p:cBhvr additive="base">
                                        <p:cTn id="46" dur="500" fill="hold"/>
                                        <p:tgtEl>
                                          <p:spTgt spid="39965"/>
                                        </p:tgtEl>
                                        <p:attrNameLst>
                                          <p:attrName>ppt_y</p:attrName>
                                        </p:attrNameLst>
                                      </p:cBhvr>
                                      <p:tavLst>
                                        <p:tav tm="0">
                                          <p:val>
                                            <p:strVal val="#ppt_y"/>
                                          </p:val>
                                        </p:tav>
                                        <p:tav tm="100000">
                                          <p:val>
                                            <p:strVal val="#ppt_y"/>
                                          </p:val>
                                        </p:tav>
                                      </p:tavLst>
                                    </p:anim>
                                  </p:childTnLst>
                                </p:cTn>
                              </p:par>
                            </p:childTnLst>
                          </p:cTn>
                        </p:par>
                        <p:par>
                          <p:cTn id="47" fill="hold">
                            <p:stCondLst>
                              <p:cond delay="1000"/>
                            </p:stCondLst>
                            <p:childTnLst>
                              <p:par>
                                <p:cTn id="48" presetID="2" presetClass="entr" presetSubtype="8" fill="hold" grpId="0" nodeType="afterEffect">
                                  <p:stCondLst>
                                    <p:cond delay="0"/>
                                  </p:stCondLst>
                                  <p:childTnLst>
                                    <p:set>
                                      <p:cBhvr>
                                        <p:cTn id="49" dur="1" fill="hold">
                                          <p:stCondLst>
                                            <p:cond delay="0"/>
                                          </p:stCondLst>
                                        </p:cTn>
                                        <p:tgtEl>
                                          <p:spTgt spid="39966"/>
                                        </p:tgtEl>
                                        <p:attrNameLst>
                                          <p:attrName>style.visibility</p:attrName>
                                        </p:attrNameLst>
                                      </p:cBhvr>
                                      <p:to>
                                        <p:strVal val="visible"/>
                                      </p:to>
                                    </p:set>
                                    <p:anim calcmode="lin" valueType="num">
                                      <p:cBhvr additive="base">
                                        <p:cTn id="50" dur="500" fill="hold"/>
                                        <p:tgtEl>
                                          <p:spTgt spid="39966"/>
                                        </p:tgtEl>
                                        <p:attrNameLst>
                                          <p:attrName>ppt_x</p:attrName>
                                        </p:attrNameLst>
                                      </p:cBhvr>
                                      <p:tavLst>
                                        <p:tav tm="0">
                                          <p:val>
                                            <p:strVal val="0-#ppt_w/2"/>
                                          </p:val>
                                        </p:tav>
                                        <p:tav tm="100000">
                                          <p:val>
                                            <p:strVal val="#ppt_x"/>
                                          </p:val>
                                        </p:tav>
                                      </p:tavLst>
                                    </p:anim>
                                    <p:anim calcmode="lin" valueType="num">
                                      <p:cBhvr additive="base">
                                        <p:cTn id="51" dur="500" fill="hold"/>
                                        <p:tgtEl>
                                          <p:spTgt spid="39966"/>
                                        </p:tgtEl>
                                        <p:attrNameLst>
                                          <p:attrName>ppt_y</p:attrName>
                                        </p:attrNameLst>
                                      </p:cBhvr>
                                      <p:tavLst>
                                        <p:tav tm="0">
                                          <p:val>
                                            <p:strVal val="#ppt_y"/>
                                          </p:val>
                                        </p:tav>
                                        <p:tav tm="100000">
                                          <p:val>
                                            <p:strVal val="#ppt_y"/>
                                          </p:val>
                                        </p:tav>
                                      </p:tavLst>
                                    </p:anim>
                                  </p:childTnLst>
                                </p:cTn>
                              </p:par>
                            </p:childTnLst>
                          </p:cTn>
                        </p:par>
                        <p:par>
                          <p:cTn id="52" fill="hold">
                            <p:stCondLst>
                              <p:cond delay="1500"/>
                            </p:stCondLst>
                            <p:childTnLst>
                              <p:par>
                                <p:cTn id="53" presetID="2" presetClass="entr" presetSubtype="8" fill="hold" grpId="0" nodeType="afterEffect">
                                  <p:stCondLst>
                                    <p:cond delay="0"/>
                                  </p:stCondLst>
                                  <p:childTnLst>
                                    <p:set>
                                      <p:cBhvr>
                                        <p:cTn id="54" dur="1" fill="hold">
                                          <p:stCondLst>
                                            <p:cond delay="0"/>
                                          </p:stCondLst>
                                        </p:cTn>
                                        <p:tgtEl>
                                          <p:spTgt spid="39967"/>
                                        </p:tgtEl>
                                        <p:attrNameLst>
                                          <p:attrName>style.visibility</p:attrName>
                                        </p:attrNameLst>
                                      </p:cBhvr>
                                      <p:to>
                                        <p:strVal val="visible"/>
                                      </p:to>
                                    </p:set>
                                    <p:anim calcmode="lin" valueType="num">
                                      <p:cBhvr additive="base">
                                        <p:cTn id="55" dur="500" fill="hold"/>
                                        <p:tgtEl>
                                          <p:spTgt spid="39967"/>
                                        </p:tgtEl>
                                        <p:attrNameLst>
                                          <p:attrName>ppt_x</p:attrName>
                                        </p:attrNameLst>
                                      </p:cBhvr>
                                      <p:tavLst>
                                        <p:tav tm="0">
                                          <p:val>
                                            <p:strVal val="0-#ppt_w/2"/>
                                          </p:val>
                                        </p:tav>
                                        <p:tav tm="100000">
                                          <p:val>
                                            <p:strVal val="#ppt_x"/>
                                          </p:val>
                                        </p:tav>
                                      </p:tavLst>
                                    </p:anim>
                                    <p:anim calcmode="lin" valueType="num">
                                      <p:cBhvr additive="base">
                                        <p:cTn id="56" dur="500" fill="hold"/>
                                        <p:tgtEl>
                                          <p:spTgt spid="39967"/>
                                        </p:tgtEl>
                                        <p:attrNameLst>
                                          <p:attrName>ppt_y</p:attrName>
                                        </p:attrNameLst>
                                      </p:cBhvr>
                                      <p:tavLst>
                                        <p:tav tm="0">
                                          <p:val>
                                            <p:strVal val="#ppt_y"/>
                                          </p:val>
                                        </p:tav>
                                        <p:tav tm="100000">
                                          <p:val>
                                            <p:strVal val="#ppt_y"/>
                                          </p:val>
                                        </p:tav>
                                      </p:tavLst>
                                    </p:anim>
                                  </p:childTnLst>
                                </p:cTn>
                              </p:par>
                            </p:childTnLst>
                          </p:cTn>
                        </p:par>
                        <p:par>
                          <p:cTn id="57" fill="hold">
                            <p:stCondLst>
                              <p:cond delay="2000"/>
                            </p:stCondLst>
                            <p:childTnLst>
                              <p:par>
                                <p:cTn id="58" presetID="2" presetClass="entr" presetSubtype="8" fill="hold" grpId="0" nodeType="afterEffect">
                                  <p:stCondLst>
                                    <p:cond delay="0"/>
                                  </p:stCondLst>
                                  <p:childTnLst>
                                    <p:set>
                                      <p:cBhvr>
                                        <p:cTn id="59" dur="1" fill="hold">
                                          <p:stCondLst>
                                            <p:cond delay="0"/>
                                          </p:stCondLst>
                                        </p:cTn>
                                        <p:tgtEl>
                                          <p:spTgt spid="39968"/>
                                        </p:tgtEl>
                                        <p:attrNameLst>
                                          <p:attrName>style.visibility</p:attrName>
                                        </p:attrNameLst>
                                      </p:cBhvr>
                                      <p:to>
                                        <p:strVal val="visible"/>
                                      </p:to>
                                    </p:set>
                                    <p:anim calcmode="lin" valueType="num">
                                      <p:cBhvr additive="base">
                                        <p:cTn id="60" dur="500" fill="hold"/>
                                        <p:tgtEl>
                                          <p:spTgt spid="39968"/>
                                        </p:tgtEl>
                                        <p:attrNameLst>
                                          <p:attrName>ppt_x</p:attrName>
                                        </p:attrNameLst>
                                      </p:cBhvr>
                                      <p:tavLst>
                                        <p:tav tm="0">
                                          <p:val>
                                            <p:strVal val="0-#ppt_w/2"/>
                                          </p:val>
                                        </p:tav>
                                        <p:tav tm="100000">
                                          <p:val>
                                            <p:strVal val="#ppt_x"/>
                                          </p:val>
                                        </p:tav>
                                      </p:tavLst>
                                    </p:anim>
                                    <p:anim calcmode="lin" valueType="num">
                                      <p:cBhvr additive="base">
                                        <p:cTn id="61" dur="500" fill="hold"/>
                                        <p:tgtEl>
                                          <p:spTgt spid="39968"/>
                                        </p:tgtEl>
                                        <p:attrNameLst>
                                          <p:attrName>ppt_y</p:attrName>
                                        </p:attrNameLst>
                                      </p:cBhvr>
                                      <p:tavLst>
                                        <p:tav tm="0">
                                          <p:val>
                                            <p:strVal val="#ppt_y"/>
                                          </p:val>
                                        </p:tav>
                                        <p:tav tm="100000">
                                          <p:val>
                                            <p:strVal val="#ppt_y"/>
                                          </p:val>
                                        </p:tav>
                                      </p:tavLst>
                                    </p:anim>
                                  </p:childTnLst>
                                </p:cTn>
                              </p:par>
                            </p:childTnLst>
                          </p:cTn>
                        </p:par>
                        <p:par>
                          <p:cTn id="62" fill="hold">
                            <p:stCondLst>
                              <p:cond delay="2500"/>
                            </p:stCondLst>
                            <p:childTnLst>
                              <p:par>
                                <p:cTn id="63" presetID="2" presetClass="entr" presetSubtype="8" fill="hold" grpId="0" nodeType="afterEffect">
                                  <p:stCondLst>
                                    <p:cond delay="0"/>
                                  </p:stCondLst>
                                  <p:childTnLst>
                                    <p:set>
                                      <p:cBhvr>
                                        <p:cTn id="64" dur="1" fill="hold">
                                          <p:stCondLst>
                                            <p:cond delay="0"/>
                                          </p:stCondLst>
                                        </p:cTn>
                                        <p:tgtEl>
                                          <p:spTgt spid="39969"/>
                                        </p:tgtEl>
                                        <p:attrNameLst>
                                          <p:attrName>style.visibility</p:attrName>
                                        </p:attrNameLst>
                                      </p:cBhvr>
                                      <p:to>
                                        <p:strVal val="visible"/>
                                      </p:to>
                                    </p:set>
                                    <p:anim calcmode="lin" valueType="num">
                                      <p:cBhvr additive="base">
                                        <p:cTn id="65" dur="500" fill="hold"/>
                                        <p:tgtEl>
                                          <p:spTgt spid="39969"/>
                                        </p:tgtEl>
                                        <p:attrNameLst>
                                          <p:attrName>ppt_x</p:attrName>
                                        </p:attrNameLst>
                                      </p:cBhvr>
                                      <p:tavLst>
                                        <p:tav tm="0">
                                          <p:val>
                                            <p:strVal val="0-#ppt_w/2"/>
                                          </p:val>
                                        </p:tav>
                                        <p:tav tm="100000">
                                          <p:val>
                                            <p:strVal val="#ppt_x"/>
                                          </p:val>
                                        </p:tav>
                                      </p:tavLst>
                                    </p:anim>
                                    <p:anim calcmode="lin" valueType="num">
                                      <p:cBhvr additive="base">
                                        <p:cTn id="66" dur="500" fill="hold"/>
                                        <p:tgtEl>
                                          <p:spTgt spid="39969"/>
                                        </p:tgtEl>
                                        <p:attrNameLst>
                                          <p:attrName>ppt_y</p:attrName>
                                        </p:attrNameLst>
                                      </p:cBhvr>
                                      <p:tavLst>
                                        <p:tav tm="0">
                                          <p:val>
                                            <p:strVal val="#ppt_y"/>
                                          </p:val>
                                        </p:tav>
                                        <p:tav tm="100000">
                                          <p:val>
                                            <p:strVal val="#ppt_y"/>
                                          </p:val>
                                        </p:tav>
                                      </p:tavLst>
                                    </p:anim>
                                  </p:childTnLst>
                                </p:cTn>
                              </p:par>
                            </p:childTnLst>
                          </p:cTn>
                        </p:par>
                        <p:par>
                          <p:cTn id="67" fill="hold">
                            <p:stCondLst>
                              <p:cond delay="3000"/>
                            </p:stCondLst>
                            <p:childTnLst>
                              <p:par>
                                <p:cTn id="68" presetID="2" presetClass="entr" presetSubtype="8" fill="hold" grpId="0" nodeType="afterEffect">
                                  <p:stCondLst>
                                    <p:cond delay="0"/>
                                  </p:stCondLst>
                                  <p:childTnLst>
                                    <p:set>
                                      <p:cBhvr>
                                        <p:cTn id="69" dur="1" fill="hold">
                                          <p:stCondLst>
                                            <p:cond delay="0"/>
                                          </p:stCondLst>
                                        </p:cTn>
                                        <p:tgtEl>
                                          <p:spTgt spid="39970"/>
                                        </p:tgtEl>
                                        <p:attrNameLst>
                                          <p:attrName>style.visibility</p:attrName>
                                        </p:attrNameLst>
                                      </p:cBhvr>
                                      <p:to>
                                        <p:strVal val="visible"/>
                                      </p:to>
                                    </p:set>
                                    <p:anim calcmode="lin" valueType="num">
                                      <p:cBhvr additive="base">
                                        <p:cTn id="70" dur="500" fill="hold"/>
                                        <p:tgtEl>
                                          <p:spTgt spid="39970"/>
                                        </p:tgtEl>
                                        <p:attrNameLst>
                                          <p:attrName>ppt_x</p:attrName>
                                        </p:attrNameLst>
                                      </p:cBhvr>
                                      <p:tavLst>
                                        <p:tav tm="0">
                                          <p:val>
                                            <p:strVal val="0-#ppt_w/2"/>
                                          </p:val>
                                        </p:tav>
                                        <p:tav tm="100000">
                                          <p:val>
                                            <p:strVal val="#ppt_x"/>
                                          </p:val>
                                        </p:tav>
                                      </p:tavLst>
                                    </p:anim>
                                    <p:anim calcmode="lin" valueType="num">
                                      <p:cBhvr additive="base">
                                        <p:cTn id="71" dur="500" fill="hold"/>
                                        <p:tgtEl>
                                          <p:spTgt spid="39970"/>
                                        </p:tgtEl>
                                        <p:attrNameLst>
                                          <p:attrName>ppt_y</p:attrName>
                                        </p:attrNameLst>
                                      </p:cBhvr>
                                      <p:tavLst>
                                        <p:tav tm="0">
                                          <p:val>
                                            <p:strVal val="#ppt_y"/>
                                          </p:val>
                                        </p:tav>
                                        <p:tav tm="100000">
                                          <p:val>
                                            <p:strVal val="#ppt_y"/>
                                          </p:val>
                                        </p:tav>
                                      </p:tavLst>
                                    </p:anim>
                                  </p:childTnLst>
                                </p:cTn>
                              </p:par>
                            </p:childTnLst>
                          </p:cTn>
                        </p:par>
                        <p:par>
                          <p:cTn id="72" fill="hold">
                            <p:stCondLst>
                              <p:cond delay="3500"/>
                            </p:stCondLst>
                            <p:childTnLst>
                              <p:par>
                                <p:cTn id="73" presetID="2" presetClass="entr" presetSubtype="8" fill="hold" grpId="0" nodeType="afterEffect">
                                  <p:stCondLst>
                                    <p:cond delay="0"/>
                                  </p:stCondLst>
                                  <p:childTnLst>
                                    <p:set>
                                      <p:cBhvr>
                                        <p:cTn id="74" dur="1" fill="hold">
                                          <p:stCondLst>
                                            <p:cond delay="0"/>
                                          </p:stCondLst>
                                        </p:cTn>
                                        <p:tgtEl>
                                          <p:spTgt spid="39971"/>
                                        </p:tgtEl>
                                        <p:attrNameLst>
                                          <p:attrName>style.visibility</p:attrName>
                                        </p:attrNameLst>
                                      </p:cBhvr>
                                      <p:to>
                                        <p:strVal val="visible"/>
                                      </p:to>
                                    </p:set>
                                    <p:anim calcmode="lin" valueType="num">
                                      <p:cBhvr additive="base">
                                        <p:cTn id="75" dur="500" fill="hold"/>
                                        <p:tgtEl>
                                          <p:spTgt spid="39971"/>
                                        </p:tgtEl>
                                        <p:attrNameLst>
                                          <p:attrName>ppt_x</p:attrName>
                                        </p:attrNameLst>
                                      </p:cBhvr>
                                      <p:tavLst>
                                        <p:tav tm="0">
                                          <p:val>
                                            <p:strVal val="0-#ppt_w/2"/>
                                          </p:val>
                                        </p:tav>
                                        <p:tav tm="100000">
                                          <p:val>
                                            <p:strVal val="#ppt_x"/>
                                          </p:val>
                                        </p:tav>
                                      </p:tavLst>
                                    </p:anim>
                                    <p:anim calcmode="lin" valueType="num">
                                      <p:cBhvr additive="base">
                                        <p:cTn id="76" dur="500" fill="hold"/>
                                        <p:tgtEl>
                                          <p:spTgt spid="39971"/>
                                        </p:tgtEl>
                                        <p:attrNameLst>
                                          <p:attrName>ppt_y</p:attrName>
                                        </p:attrNameLst>
                                      </p:cBhvr>
                                      <p:tavLst>
                                        <p:tav tm="0">
                                          <p:val>
                                            <p:strVal val="#ppt_y"/>
                                          </p:val>
                                        </p:tav>
                                        <p:tav tm="100000">
                                          <p:val>
                                            <p:strVal val="#ppt_y"/>
                                          </p:val>
                                        </p:tav>
                                      </p:tavLst>
                                    </p:anim>
                                  </p:childTnLst>
                                </p:cTn>
                              </p:par>
                            </p:childTnLst>
                          </p:cTn>
                        </p:par>
                        <p:par>
                          <p:cTn id="77" fill="hold">
                            <p:stCondLst>
                              <p:cond delay="4000"/>
                            </p:stCondLst>
                            <p:childTnLst>
                              <p:par>
                                <p:cTn id="78" presetID="2" presetClass="entr" presetSubtype="8" fill="hold" grpId="0" nodeType="afterEffect">
                                  <p:stCondLst>
                                    <p:cond delay="0"/>
                                  </p:stCondLst>
                                  <p:childTnLst>
                                    <p:set>
                                      <p:cBhvr>
                                        <p:cTn id="79" dur="1" fill="hold">
                                          <p:stCondLst>
                                            <p:cond delay="0"/>
                                          </p:stCondLst>
                                        </p:cTn>
                                        <p:tgtEl>
                                          <p:spTgt spid="39972"/>
                                        </p:tgtEl>
                                        <p:attrNameLst>
                                          <p:attrName>style.visibility</p:attrName>
                                        </p:attrNameLst>
                                      </p:cBhvr>
                                      <p:to>
                                        <p:strVal val="visible"/>
                                      </p:to>
                                    </p:set>
                                    <p:anim calcmode="lin" valueType="num">
                                      <p:cBhvr additive="base">
                                        <p:cTn id="80" dur="500" fill="hold"/>
                                        <p:tgtEl>
                                          <p:spTgt spid="39972"/>
                                        </p:tgtEl>
                                        <p:attrNameLst>
                                          <p:attrName>ppt_x</p:attrName>
                                        </p:attrNameLst>
                                      </p:cBhvr>
                                      <p:tavLst>
                                        <p:tav tm="0">
                                          <p:val>
                                            <p:strVal val="0-#ppt_w/2"/>
                                          </p:val>
                                        </p:tav>
                                        <p:tav tm="100000">
                                          <p:val>
                                            <p:strVal val="#ppt_x"/>
                                          </p:val>
                                        </p:tav>
                                      </p:tavLst>
                                    </p:anim>
                                    <p:anim calcmode="lin" valueType="num">
                                      <p:cBhvr additive="base">
                                        <p:cTn id="81" dur="500" fill="hold"/>
                                        <p:tgtEl>
                                          <p:spTgt spid="39972"/>
                                        </p:tgtEl>
                                        <p:attrNameLst>
                                          <p:attrName>ppt_y</p:attrName>
                                        </p:attrNameLst>
                                      </p:cBhvr>
                                      <p:tavLst>
                                        <p:tav tm="0">
                                          <p:val>
                                            <p:strVal val="#ppt_y"/>
                                          </p:val>
                                        </p:tav>
                                        <p:tav tm="100000">
                                          <p:val>
                                            <p:strVal val="#ppt_y"/>
                                          </p:val>
                                        </p:tav>
                                      </p:tavLst>
                                    </p:anim>
                                  </p:childTnLst>
                                </p:cTn>
                              </p:par>
                            </p:childTnLst>
                          </p:cTn>
                        </p:par>
                        <p:par>
                          <p:cTn id="82" fill="hold">
                            <p:stCondLst>
                              <p:cond delay="4500"/>
                            </p:stCondLst>
                            <p:childTnLst>
                              <p:par>
                                <p:cTn id="83" presetID="2" presetClass="entr" presetSubtype="8" fill="hold" grpId="0" nodeType="afterEffect">
                                  <p:stCondLst>
                                    <p:cond delay="0"/>
                                  </p:stCondLst>
                                  <p:childTnLst>
                                    <p:set>
                                      <p:cBhvr>
                                        <p:cTn id="84" dur="1" fill="hold">
                                          <p:stCondLst>
                                            <p:cond delay="0"/>
                                          </p:stCondLst>
                                        </p:cTn>
                                        <p:tgtEl>
                                          <p:spTgt spid="39973"/>
                                        </p:tgtEl>
                                        <p:attrNameLst>
                                          <p:attrName>style.visibility</p:attrName>
                                        </p:attrNameLst>
                                      </p:cBhvr>
                                      <p:to>
                                        <p:strVal val="visible"/>
                                      </p:to>
                                    </p:set>
                                    <p:anim calcmode="lin" valueType="num">
                                      <p:cBhvr additive="base">
                                        <p:cTn id="85" dur="500" fill="hold"/>
                                        <p:tgtEl>
                                          <p:spTgt spid="39973"/>
                                        </p:tgtEl>
                                        <p:attrNameLst>
                                          <p:attrName>ppt_x</p:attrName>
                                        </p:attrNameLst>
                                      </p:cBhvr>
                                      <p:tavLst>
                                        <p:tav tm="0">
                                          <p:val>
                                            <p:strVal val="0-#ppt_w/2"/>
                                          </p:val>
                                        </p:tav>
                                        <p:tav tm="100000">
                                          <p:val>
                                            <p:strVal val="#ppt_x"/>
                                          </p:val>
                                        </p:tav>
                                      </p:tavLst>
                                    </p:anim>
                                    <p:anim calcmode="lin" valueType="num">
                                      <p:cBhvr additive="base">
                                        <p:cTn id="86" dur="500" fill="hold"/>
                                        <p:tgtEl>
                                          <p:spTgt spid="39973"/>
                                        </p:tgtEl>
                                        <p:attrNameLst>
                                          <p:attrName>ppt_y</p:attrName>
                                        </p:attrNameLst>
                                      </p:cBhvr>
                                      <p:tavLst>
                                        <p:tav tm="0">
                                          <p:val>
                                            <p:strVal val="#ppt_y"/>
                                          </p:val>
                                        </p:tav>
                                        <p:tav tm="100000">
                                          <p:val>
                                            <p:strVal val="#ppt_y"/>
                                          </p:val>
                                        </p:tav>
                                      </p:tavLst>
                                    </p:anim>
                                  </p:childTnLst>
                                </p:cTn>
                              </p:par>
                            </p:childTnLst>
                          </p:cTn>
                        </p:par>
                        <p:par>
                          <p:cTn id="87" fill="hold">
                            <p:stCondLst>
                              <p:cond delay="5000"/>
                            </p:stCondLst>
                            <p:childTnLst>
                              <p:par>
                                <p:cTn id="88" presetID="2" presetClass="entr" presetSubtype="8" fill="hold" grpId="0" nodeType="afterEffect">
                                  <p:stCondLst>
                                    <p:cond delay="0"/>
                                  </p:stCondLst>
                                  <p:childTnLst>
                                    <p:set>
                                      <p:cBhvr>
                                        <p:cTn id="89" dur="1" fill="hold">
                                          <p:stCondLst>
                                            <p:cond delay="0"/>
                                          </p:stCondLst>
                                        </p:cTn>
                                        <p:tgtEl>
                                          <p:spTgt spid="39974"/>
                                        </p:tgtEl>
                                        <p:attrNameLst>
                                          <p:attrName>style.visibility</p:attrName>
                                        </p:attrNameLst>
                                      </p:cBhvr>
                                      <p:to>
                                        <p:strVal val="visible"/>
                                      </p:to>
                                    </p:set>
                                    <p:anim calcmode="lin" valueType="num">
                                      <p:cBhvr additive="base">
                                        <p:cTn id="90" dur="500" fill="hold"/>
                                        <p:tgtEl>
                                          <p:spTgt spid="39974"/>
                                        </p:tgtEl>
                                        <p:attrNameLst>
                                          <p:attrName>ppt_x</p:attrName>
                                        </p:attrNameLst>
                                      </p:cBhvr>
                                      <p:tavLst>
                                        <p:tav tm="0">
                                          <p:val>
                                            <p:strVal val="0-#ppt_w/2"/>
                                          </p:val>
                                        </p:tav>
                                        <p:tav tm="100000">
                                          <p:val>
                                            <p:strVal val="#ppt_x"/>
                                          </p:val>
                                        </p:tav>
                                      </p:tavLst>
                                    </p:anim>
                                    <p:anim calcmode="lin" valueType="num">
                                      <p:cBhvr additive="base">
                                        <p:cTn id="91" dur="500" fill="hold"/>
                                        <p:tgtEl>
                                          <p:spTgt spid="39974"/>
                                        </p:tgtEl>
                                        <p:attrNameLst>
                                          <p:attrName>ppt_y</p:attrName>
                                        </p:attrNameLst>
                                      </p:cBhvr>
                                      <p:tavLst>
                                        <p:tav tm="0">
                                          <p:val>
                                            <p:strVal val="#ppt_y"/>
                                          </p:val>
                                        </p:tav>
                                        <p:tav tm="100000">
                                          <p:val>
                                            <p:strVal val="#ppt_y"/>
                                          </p:val>
                                        </p:tav>
                                      </p:tavLst>
                                    </p:anim>
                                  </p:childTnLst>
                                </p:cTn>
                              </p:par>
                            </p:childTnLst>
                          </p:cTn>
                        </p:par>
                        <p:par>
                          <p:cTn id="92" fill="hold">
                            <p:stCondLst>
                              <p:cond delay="5500"/>
                            </p:stCondLst>
                            <p:childTnLst>
                              <p:par>
                                <p:cTn id="93" presetID="2" presetClass="entr" presetSubtype="8" fill="hold" grpId="0" nodeType="afterEffect">
                                  <p:stCondLst>
                                    <p:cond delay="0"/>
                                  </p:stCondLst>
                                  <p:childTnLst>
                                    <p:set>
                                      <p:cBhvr>
                                        <p:cTn id="94" dur="1" fill="hold">
                                          <p:stCondLst>
                                            <p:cond delay="0"/>
                                          </p:stCondLst>
                                        </p:cTn>
                                        <p:tgtEl>
                                          <p:spTgt spid="39975"/>
                                        </p:tgtEl>
                                        <p:attrNameLst>
                                          <p:attrName>style.visibility</p:attrName>
                                        </p:attrNameLst>
                                      </p:cBhvr>
                                      <p:to>
                                        <p:strVal val="visible"/>
                                      </p:to>
                                    </p:set>
                                    <p:anim calcmode="lin" valueType="num">
                                      <p:cBhvr additive="base">
                                        <p:cTn id="95" dur="500" fill="hold"/>
                                        <p:tgtEl>
                                          <p:spTgt spid="39975"/>
                                        </p:tgtEl>
                                        <p:attrNameLst>
                                          <p:attrName>ppt_x</p:attrName>
                                        </p:attrNameLst>
                                      </p:cBhvr>
                                      <p:tavLst>
                                        <p:tav tm="0">
                                          <p:val>
                                            <p:strVal val="0-#ppt_w/2"/>
                                          </p:val>
                                        </p:tav>
                                        <p:tav tm="100000">
                                          <p:val>
                                            <p:strVal val="#ppt_x"/>
                                          </p:val>
                                        </p:tav>
                                      </p:tavLst>
                                    </p:anim>
                                    <p:anim calcmode="lin" valueType="num">
                                      <p:cBhvr additive="base">
                                        <p:cTn id="96" dur="500" fill="hold"/>
                                        <p:tgtEl>
                                          <p:spTgt spid="39975"/>
                                        </p:tgtEl>
                                        <p:attrNameLst>
                                          <p:attrName>ppt_y</p:attrName>
                                        </p:attrNameLst>
                                      </p:cBhvr>
                                      <p:tavLst>
                                        <p:tav tm="0">
                                          <p:val>
                                            <p:strVal val="#ppt_y"/>
                                          </p:val>
                                        </p:tav>
                                        <p:tav tm="100000">
                                          <p:val>
                                            <p:strVal val="#ppt_y"/>
                                          </p:val>
                                        </p:tav>
                                      </p:tavLst>
                                    </p:anim>
                                  </p:childTnLst>
                                </p:cTn>
                              </p:par>
                            </p:childTnLst>
                          </p:cTn>
                        </p:par>
                        <p:par>
                          <p:cTn id="97" fill="hold">
                            <p:stCondLst>
                              <p:cond delay="6000"/>
                            </p:stCondLst>
                            <p:childTnLst>
                              <p:par>
                                <p:cTn id="98" presetID="2" presetClass="entr" presetSubtype="8" fill="hold" grpId="0" nodeType="afterEffect">
                                  <p:stCondLst>
                                    <p:cond delay="0"/>
                                  </p:stCondLst>
                                  <p:childTnLst>
                                    <p:set>
                                      <p:cBhvr>
                                        <p:cTn id="99" dur="1" fill="hold">
                                          <p:stCondLst>
                                            <p:cond delay="0"/>
                                          </p:stCondLst>
                                        </p:cTn>
                                        <p:tgtEl>
                                          <p:spTgt spid="39976"/>
                                        </p:tgtEl>
                                        <p:attrNameLst>
                                          <p:attrName>style.visibility</p:attrName>
                                        </p:attrNameLst>
                                      </p:cBhvr>
                                      <p:to>
                                        <p:strVal val="visible"/>
                                      </p:to>
                                    </p:set>
                                    <p:anim calcmode="lin" valueType="num">
                                      <p:cBhvr additive="base">
                                        <p:cTn id="100" dur="500" fill="hold"/>
                                        <p:tgtEl>
                                          <p:spTgt spid="39976"/>
                                        </p:tgtEl>
                                        <p:attrNameLst>
                                          <p:attrName>ppt_x</p:attrName>
                                        </p:attrNameLst>
                                      </p:cBhvr>
                                      <p:tavLst>
                                        <p:tav tm="0">
                                          <p:val>
                                            <p:strVal val="0-#ppt_w/2"/>
                                          </p:val>
                                        </p:tav>
                                        <p:tav tm="100000">
                                          <p:val>
                                            <p:strVal val="#ppt_x"/>
                                          </p:val>
                                        </p:tav>
                                      </p:tavLst>
                                    </p:anim>
                                    <p:anim calcmode="lin" valueType="num">
                                      <p:cBhvr additive="base">
                                        <p:cTn id="101" dur="500" fill="hold"/>
                                        <p:tgtEl>
                                          <p:spTgt spid="39976"/>
                                        </p:tgtEl>
                                        <p:attrNameLst>
                                          <p:attrName>ppt_y</p:attrName>
                                        </p:attrNameLst>
                                      </p:cBhvr>
                                      <p:tavLst>
                                        <p:tav tm="0">
                                          <p:val>
                                            <p:strVal val="#ppt_y"/>
                                          </p:val>
                                        </p:tav>
                                        <p:tav tm="100000">
                                          <p:val>
                                            <p:strVal val="#ppt_y"/>
                                          </p:val>
                                        </p:tav>
                                      </p:tavLst>
                                    </p:anim>
                                  </p:childTnLst>
                                </p:cTn>
                              </p:par>
                            </p:childTnLst>
                          </p:cTn>
                        </p:par>
                        <p:par>
                          <p:cTn id="102" fill="hold">
                            <p:stCondLst>
                              <p:cond delay="6500"/>
                            </p:stCondLst>
                            <p:childTnLst>
                              <p:par>
                                <p:cTn id="103" presetID="2" presetClass="entr" presetSubtype="8" fill="hold" grpId="0" nodeType="afterEffect">
                                  <p:stCondLst>
                                    <p:cond delay="0"/>
                                  </p:stCondLst>
                                  <p:childTnLst>
                                    <p:set>
                                      <p:cBhvr>
                                        <p:cTn id="104" dur="1" fill="hold">
                                          <p:stCondLst>
                                            <p:cond delay="0"/>
                                          </p:stCondLst>
                                        </p:cTn>
                                        <p:tgtEl>
                                          <p:spTgt spid="39977"/>
                                        </p:tgtEl>
                                        <p:attrNameLst>
                                          <p:attrName>style.visibility</p:attrName>
                                        </p:attrNameLst>
                                      </p:cBhvr>
                                      <p:to>
                                        <p:strVal val="visible"/>
                                      </p:to>
                                    </p:set>
                                    <p:anim calcmode="lin" valueType="num">
                                      <p:cBhvr additive="base">
                                        <p:cTn id="105" dur="500" fill="hold"/>
                                        <p:tgtEl>
                                          <p:spTgt spid="39977"/>
                                        </p:tgtEl>
                                        <p:attrNameLst>
                                          <p:attrName>ppt_x</p:attrName>
                                        </p:attrNameLst>
                                      </p:cBhvr>
                                      <p:tavLst>
                                        <p:tav tm="0">
                                          <p:val>
                                            <p:strVal val="0-#ppt_w/2"/>
                                          </p:val>
                                        </p:tav>
                                        <p:tav tm="100000">
                                          <p:val>
                                            <p:strVal val="#ppt_x"/>
                                          </p:val>
                                        </p:tav>
                                      </p:tavLst>
                                    </p:anim>
                                    <p:anim calcmode="lin" valueType="num">
                                      <p:cBhvr additive="base">
                                        <p:cTn id="106" dur="500" fill="hold"/>
                                        <p:tgtEl>
                                          <p:spTgt spid="39977"/>
                                        </p:tgtEl>
                                        <p:attrNameLst>
                                          <p:attrName>ppt_y</p:attrName>
                                        </p:attrNameLst>
                                      </p:cBhvr>
                                      <p:tavLst>
                                        <p:tav tm="0">
                                          <p:val>
                                            <p:strVal val="#ppt_y"/>
                                          </p:val>
                                        </p:tav>
                                        <p:tav tm="100000">
                                          <p:val>
                                            <p:strVal val="#ppt_y"/>
                                          </p:val>
                                        </p:tav>
                                      </p:tavLst>
                                    </p:anim>
                                  </p:childTnLst>
                                </p:cTn>
                              </p:par>
                            </p:childTnLst>
                          </p:cTn>
                        </p:par>
                        <p:par>
                          <p:cTn id="107" fill="hold">
                            <p:stCondLst>
                              <p:cond delay="7000"/>
                            </p:stCondLst>
                            <p:childTnLst>
                              <p:par>
                                <p:cTn id="108" presetID="2" presetClass="entr" presetSubtype="8" fill="hold" grpId="0" nodeType="afterEffect">
                                  <p:stCondLst>
                                    <p:cond delay="0"/>
                                  </p:stCondLst>
                                  <p:childTnLst>
                                    <p:set>
                                      <p:cBhvr>
                                        <p:cTn id="109" dur="1" fill="hold">
                                          <p:stCondLst>
                                            <p:cond delay="0"/>
                                          </p:stCondLst>
                                        </p:cTn>
                                        <p:tgtEl>
                                          <p:spTgt spid="39978"/>
                                        </p:tgtEl>
                                        <p:attrNameLst>
                                          <p:attrName>style.visibility</p:attrName>
                                        </p:attrNameLst>
                                      </p:cBhvr>
                                      <p:to>
                                        <p:strVal val="visible"/>
                                      </p:to>
                                    </p:set>
                                    <p:anim calcmode="lin" valueType="num">
                                      <p:cBhvr additive="base">
                                        <p:cTn id="110" dur="500" fill="hold"/>
                                        <p:tgtEl>
                                          <p:spTgt spid="39978"/>
                                        </p:tgtEl>
                                        <p:attrNameLst>
                                          <p:attrName>ppt_x</p:attrName>
                                        </p:attrNameLst>
                                      </p:cBhvr>
                                      <p:tavLst>
                                        <p:tav tm="0">
                                          <p:val>
                                            <p:strVal val="0-#ppt_w/2"/>
                                          </p:val>
                                        </p:tav>
                                        <p:tav tm="100000">
                                          <p:val>
                                            <p:strVal val="#ppt_x"/>
                                          </p:val>
                                        </p:tav>
                                      </p:tavLst>
                                    </p:anim>
                                    <p:anim calcmode="lin" valueType="num">
                                      <p:cBhvr additive="base">
                                        <p:cTn id="111" dur="500" fill="hold"/>
                                        <p:tgtEl>
                                          <p:spTgt spid="39978"/>
                                        </p:tgtEl>
                                        <p:attrNameLst>
                                          <p:attrName>ppt_y</p:attrName>
                                        </p:attrNameLst>
                                      </p:cBhvr>
                                      <p:tavLst>
                                        <p:tav tm="0">
                                          <p:val>
                                            <p:strVal val="#ppt_y"/>
                                          </p:val>
                                        </p:tav>
                                        <p:tav tm="100000">
                                          <p:val>
                                            <p:strVal val="#ppt_y"/>
                                          </p:val>
                                        </p:tav>
                                      </p:tavLst>
                                    </p:anim>
                                  </p:childTnLst>
                                </p:cTn>
                              </p:par>
                            </p:childTnLst>
                          </p:cTn>
                        </p:par>
                      </p:childTnLst>
                    </p:cTn>
                  </p:par>
                  <p:par>
                    <p:cTn id="112" fill="hold">
                      <p:stCondLst>
                        <p:cond delay="indefinite"/>
                      </p:stCondLst>
                      <p:childTnLst>
                        <p:par>
                          <p:cTn id="113" fill="hold">
                            <p:stCondLst>
                              <p:cond delay="0"/>
                            </p:stCondLst>
                            <p:childTnLst>
                              <p:par>
                                <p:cTn id="114" presetID="1" presetClass="entr" presetSubtype="0" fill="hold" grpId="0" nodeType="clickEffect">
                                  <p:stCondLst>
                                    <p:cond delay="0"/>
                                  </p:stCondLst>
                                  <p:childTnLst>
                                    <p:set>
                                      <p:cBhvr>
                                        <p:cTn id="115" dur="1" fill="hold">
                                          <p:stCondLst>
                                            <p:cond delay="499"/>
                                          </p:stCondLst>
                                        </p:cTn>
                                        <p:tgtEl>
                                          <p:spTgt spid="39939"/>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22" presetClass="entr" presetSubtype="8" fill="hold" grpId="0" nodeType="clickEffect">
                                  <p:stCondLst>
                                    <p:cond delay="0"/>
                                  </p:stCondLst>
                                  <p:childTnLst>
                                    <p:set>
                                      <p:cBhvr>
                                        <p:cTn id="119" dur="1" fill="hold">
                                          <p:stCondLst>
                                            <p:cond delay="0"/>
                                          </p:stCondLst>
                                        </p:cTn>
                                        <p:tgtEl>
                                          <p:spTgt spid="39981"/>
                                        </p:tgtEl>
                                        <p:attrNameLst>
                                          <p:attrName>style.visibility</p:attrName>
                                        </p:attrNameLst>
                                      </p:cBhvr>
                                      <p:to>
                                        <p:strVal val="visible"/>
                                      </p:to>
                                    </p:set>
                                    <p:animEffect transition="in" filter="wipe(left)">
                                      <p:cBhvr>
                                        <p:cTn id="120" dur="500"/>
                                        <p:tgtEl>
                                          <p:spTgt spid="39981"/>
                                        </p:tgtEl>
                                      </p:cBhvr>
                                    </p:animEffec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499"/>
                                          </p:stCondLst>
                                        </p:cTn>
                                        <p:tgtEl>
                                          <p:spTgt spid="399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82" grpId="0" bldLvl="0" animBg="1" autoUpdateAnimBg="0"/>
      <p:bldP spid="39939" grpId="0" bldLvl="0" animBg="1" autoUpdateAnimBg="0"/>
      <p:bldP spid="39965" grpId="0" animBg="1"/>
      <p:bldP spid="39966" grpId="0" animBg="1"/>
      <p:bldP spid="39967" grpId="0" animBg="1"/>
      <p:bldP spid="39968" grpId="0" animBg="1"/>
      <p:bldP spid="39969" grpId="0" animBg="1"/>
      <p:bldP spid="39970" grpId="0" animBg="1"/>
      <p:bldP spid="39971" grpId="0" animBg="1"/>
      <p:bldP spid="39972" grpId="0" animBg="1"/>
      <p:bldP spid="39973" grpId="0" animBg="1"/>
      <p:bldP spid="39974" grpId="0" animBg="1"/>
      <p:bldP spid="39975" grpId="0" animBg="1"/>
      <p:bldP spid="39976" grpId="0" animBg="1"/>
      <p:bldP spid="39977" grpId="0" animBg="1"/>
      <p:bldP spid="39978" grpId="0" animBg="1"/>
      <p:bldP spid="39979" grpId="0" bldLvl="0" animBg="1" autoUpdateAnimBg="0"/>
      <p:bldP spid="39980" grpId="0" bldLvl="0" animBg="1" autoUpdateAnimBg="0"/>
      <p:bldP spid="39981" grpId="0" bldLvl="0" animBg="1" autoUpdateAnimBg="0"/>
      <p:bldP spid="39983" grpId="0" bldLvl="0" animBg="1"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2"/>
          <p:cNvSpPr txBox="1">
            <a:spLocks noChangeArrowheads="1"/>
          </p:cNvSpPr>
          <p:nvPr/>
        </p:nvSpPr>
        <p:spPr bwMode="auto">
          <a:xfrm>
            <a:off x="-69" y="44237"/>
            <a:ext cx="7408545" cy="6231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dirty="0">
                <a:ea typeface="楷体_GB2312" pitchFamily="49" charset="-122"/>
              </a:rPr>
              <a:t>void</a:t>
            </a:r>
            <a:r>
              <a:rPr lang="en-US" altLang="zh-CN" sz="2400" dirty="0">
                <a:ea typeface="楷体_GB2312" pitchFamily="49" charset="-122"/>
              </a:rPr>
              <a:t> </a:t>
            </a:r>
            <a:r>
              <a:rPr lang="en-US" altLang="zh-CN" sz="2400" dirty="0" err="1">
                <a:ea typeface="楷体_GB2312" pitchFamily="49" charset="-122"/>
              </a:rPr>
              <a:t>ShellInsert</a:t>
            </a:r>
            <a:r>
              <a:rPr lang="en-US" altLang="zh-CN" sz="2400" dirty="0">
                <a:ea typeface="楷体_GB2312" pitchFamily="49" charset="-122"/>
              </a:rPr>
              <a:t> ( </a:t>
            </a:r>
            <a:r>
              <a:rPr lang="en-US" altLang="zh-CN" sz="2400" dirty="0" err="1">
                <a:ea typeface="楷体_GB2312" pitchFamily="49" charset="-122"/>
              </a:rPr>
              <a:t>SqList</a:t>
            </a:r>
            <a:r>
              <a:rPr lang="en-US" altLang="zh-CN" sz="2400" dirty="0">
                <a:ea typeface="楷体_GB2312" pitchFamily="49" charset="-122"/>
              </a:rPr>
              <a:t> </a:t>
            </a:r>
            <a:r>
              <a:rPr lang="en-US" altLang="zh-CN" sz="2400" b="1" dirty="0">
                <a:ea typeface="楷体_GB2312" pitchFamily="49" charset="-122"/>
              </a:rPr>
              <a:t>&amp;</a:t>
            </a:r>
            <a:r>
              <a:rPr lang="en-US" altLang="zh-CN" sz="2400" dirty="0">
                <a:ea typeface="楷体_GB2312" pitchFamily="49" charset="-122"/>
              </a:rPr>
              <a:t>L, </a:t>
            </a:r>
            <a:r>
              <a:rPr lang="en-US" altLang="zh-CN" sz="2400" b="1" dirty="0" err="1">
                <a:ea typeface="楷体_GB2312" pitchFamily="49" charset="-122"/>
              </a:rPr>
              <a:t>int</a:t>
            </a:r>
            <a:r>
              <a:rPr lang="en-US" altLang="zh-CN" sz="2400" dirty="0">
                <a:ea typeface="楷体_GB2312" pitchFamily="49" charset="-122"/>
              </a:rPr>
              <a:t> </a:t>
            </a:r>
            <a:r>
              <a:rPr lang="en-US" altLang="zh-CN" sz="2400" dirty="0" err="1">
                <a:ea typeface="楷体_GB2312" pitchFamily="49" charset="-122"/>
              </a:rPr>
              <a:t>dk</a:t>
            </a:r>
            <a:r>
              <a:rPr lang="en-US" altLang="zh-CN" sz="2400" dirty="0">
                <a:ea typeface="楷体_GB2312" pitchFamily="49" charset="-122"/>
              </a:rPr>
              <a:t> ) </a:t>
            </a:r>
            <a:r>
              <a:rPr lang="en-US" altLang="zh-CN" sz="2400" b="1" dirty="0">
                <a:ea typeface="楷体_GB2312" pitchFamily="49" charset="-122"/>
              </a:rPr>
              <a:t>{</a:t>
            </a:r>
          </a:p>
          <a:p>
            <a:pPr algn="l"/>
            <a:r>
              <a:rPr lang="en-US" altLang="zh-CN" sz="2000" b="1" dirty="0">
                <a:solidFill>
                  <a:srgbClr val="006600"/>
                </a:solidFill>
              </a:rPr>
              <a:t>           </a:t>
            </a:r>
            <a:r>
              <a:rPr lang="en-US" altLang="zh-CN" sz="2000" b="1" dirty="0">
                <a:solidFill>
                  <a:srgbClr val="006600"/>
                </a:solidFill>
                <a:sym typeface="+mn-ea"/>
              </a:rPr>
              <a:t>// Perform a heap sort with increment dk on the sorted list L</a:t>
            </a:r>
            <a:endParaRPr lang="zh-CN" altLang="en-US" sz="2000" b="1" dirty="0">
              <a:solidFill>
                <a:srgbClr val="006600"/>
              </a:solidFill>
            </a:endParaRPr>
          </a:p>
          <a:p>
            <a:pPr algn="l">
              <a:lnSpc>
                <a:spcPct val="120000"/>
              </a:lnSpc>
            </a:pPr>
            <a:r>
              <a:rPr lang="zh-CN" altLang="en-US" sz="3200" dirty="0">
                <a:ea typeface="楷体_GB2312" pitchFamily="49" charset="-122"/>
              </a:rPr>
              <a:t>  </a:t>
            </a:r>
            <a:r>
              <a:rPr lang="en-US" altLang="zh-CN" sz="3200" b="1" dirty="0">
                <a:ea typeface="楷体_GB2312" pitchFamily="49" charset="-122"/>
              </a:rPr>
              <a:t>for</a:t>
            </a:r>
            <a:r>
              <a:rPr lang="en-US" altLang="zh-CN" sz="3200" dirty="0">
                <a:ea typeface="楷体_GB2312" pitchFamily="49" charset="-122"/>
              </a:rPr>
              <a:t> ( </a:t>
            </a:r>
            <a:r>
              <a:rPr lang="en-US" altLang="zh-CN" sz="3200" dirty="0" err="1">
                <a:solidFill>
                  <a:srgbClr val="840C26"/>
                </a:solidFill>
                <a:ea typeface="楷体_GB2312" pitchFamily="49" charset="-122"/>
              </a:rPr>
              <a:t>i</a:t>
            </a:r>
            <a:r>
              <a:rPr lang="en-US" altLang="zh-CN" sz="3200" dirty="0">
                <a:solidFill>
                  <a:srgbClr val="840C26"/>
                </a:solidFill>
                <a:ea typeface="楷体_GB2312" pitchFamily="49" charset="-122"/>
              </a:rPr>
              <a:t>=dk+1</a:t>
            </a:r>
            <a:r>
              <a:rPr lang="en-US" altLang="zh-CN" sz="3200" dirty="0">
                <a:ea typeface="楷体_GB2312" pitchFamily="49" charset="-122"/>
              </a:rPr>
              <a:t>; </a:t>
            </a:r>
            <a:r>
              <a:rPr lang="en-US" altLang="zh-CN" sz="3200" dirty="0" err="1">
                <a:ea typeface="楷体_GB2312" pitchFamily="49" charset="-122"/>
              </a:rPr>
              <a:t>i</a:t>
            </a:r>
            <a:r>
              <a:rPr lang="en-US" altLang="zh-CN" sz="3200" dirty="0">
                <a:ea typeface="楷体_GB2312" pitchFamily="49" charset="-122"/>
              </a:rPr>
              <a:t>&lt;=n; </a:t>
            </a:r>
            <a:r>
              <a:rPr lang="en-US" altLang="zh-CN" sz="3200" b="1" dirty="0">
                <a:ea typeface="楷体_GB2312" pitchFamily="49" charset="-122"/>
              </a:rPr>
              <a:t>++</a:t>
            </a:r>
            <a:r>
              <a:rPr lang="en-US" altLang="zh-CN" sz="3200" dirty="0" err="1">
                <a:ea typeface="楷体_GB2312" pitchFamily="49" charset="-122"/>
              </a:rPr>
              <a:t>i</a:t>
            </a:r>
            <a:r>
              <a:rPr lang="en-US" altLang="zh-CN" sz="3200" dirty="0">
                <a:ea typeface="楷体_GB2312" pitchFamily="49" charset="-122"/>
              </a:rPr>
              <a:t> )</a:t>
            </a:r>
          </a:p>
          <a:p>
            <a:pPr algn="l">
              <a:lnSpc>
                <a:spcPct val="120000"/>
              </a:lnSpc>
            </a:pPr>
            <a:r>
              <a:rPr lang="en-US" altLang="zh-CN" sz="3200" dirty="0">
                <a:solidFill>
                  <a:srgbClr val="FF0000"/>
                </a:solidFill>
                <a:ea typeface="楷体_GB2312" pitchFamily="49" charset="-122"/>
              </a:rPr>
              <a:t>     </a:t>
            </a:r>
            <a:r>
              <a:rPr lang="en-US" altLang="zh-CN" sz="3200" b="1" dirty="0">
                <a:solidFill>
                  <a:srgbClr val="FF0000"/>
                </a:solidFill>
                <a:ea typeface="楷体_GB2312" pitchFamily="49" charset="-122"/>
              </a:rPr>
              <a:t>if</a:t>
            </a:r>
            <a:r>
              <a:rPr lang="en-US" altLang="zh-CN" sz="3200" dirty="0">
                <a:solidFill>
                  <a:srgbClr val="FF0000"/>
                </a:solidFill>
                <a:ea typeface="楷体_GB2312" pitchFamily="49" charset="-122"/>
              </a:rPr>
              <a:t> ( </a:t>
            </a:r>
            <a:r>
              <a:rPr lang="en-US" altLang="zh-CN" sz="3200" dirty="0" err="1">
                <a:solidFill>
                  <a:srgbClr val="FF0000"/>
                </a:solidFill>
                <a:ea typeface="楷体_GB2312" pitchFamily="49" charset="-122"/>
              </a:rPr>
              <a:t>L.r</a:t>
            </a:r>
            <a:r>
              <a:rPr lang="en-US" altLang="zh-CN" sz="3200" dirty="0">
                <a:solidFill>
                  <a:srgbClr val="FF0000"/>
                </a:solidFill>
                <a:ea typeface="楷体_GB2312" pitchFamily="49" charset="-122"/>
              </a:rPr>
              <a:t>[</a:t>
            </a:r>
            <a:r>
              <a:rPr lang="en-US" altLang="zh-CN" sz="3200" dirty="0" err="1">
                <a:solidFill>
                  <a:srgbClr val="FF0000"/>
                </a:solidFill>
                <a:ea typeface="楷体_GB2312" pitchFamily="49" charset="-122"/>
              </a:rPr>
              <a:t>i</a:t>
            </a:r>
            <a:r>
              <a:rPr lang="en-US" altLang="zh-CN" sz="3200" dirty="0">
                <a:solidFill>
                  <a:srgbClr val="FF0000"/>
                </a:solidFill>
                <a:ea typeface="楷体_GB2312" pitchFamily="49" charset="-122"/>
              </a:rPr>
              <a:t>].key&lt; </a:t>
            </a:r>
            <a:r>
              <a:rPr lang="en-US" altLang="zh-CN" sz="3200" dirty="0" err="1">
                <a:solidFill>
                  <a:srgbClr val="FF0000"/>
                </a:solidFill>
                <a:ea typeface="楷体_GB2312" pitchFamily="49" charset="-122"/>
              </a:rPr>
              <a:t>L.r</a:t>
            </a:r>
            <a:r>
              <a:rPr lang="en-US" altLang="zh-CN" sz="3200" dirty="0">
                <a:solidFill>
                  <a:srgbClr val="FF0000"/>
                </a:solidFill>
                <a:ea typeface="楷体_GB2312" pitchFamily="49" charset="-122"/>
              </a:rPr>
              <a:t>[</a:t>
            </a:r>
            <a:r>
              <a:rPr lang="en-US" altLang="zh-CN" sz="3200" dirty="0" err="1">
                <a:solidFill>
                  <a:srgbClr val="FF0000"/>
                </a:solidFill>
                <a:ea typeface="楷体_GB2312" pitchFamily="49" charset="-122"/>
              </a:rPr>
              <a:t>i-dk</a:t>
            </a:r>
            <a:r>
              <a:rPr lang="en-US" altLang="zh-CN" sz="3200" dirty="0">
                <a:solidFill>
                  <a:srgbClr val="FF0000"/>
                </a:solidFill>
                <a:ea typeface="楷体_GB2312" pitchFamily="49" charset="-122"/>
              </a:rPr>
              <a:t>].key) </a:t>
            </a:r>
          </a:p>
          <a:p>
            <a:pPr algn="l">
              <a:lnSpc>
                <a:spcPct val="120000"/>
              </a:lnSpc>
            </a:pPr>
            <a:r>
              <a:rPr lang="en-US" altLang="zh-CN" sz="3200" dirty="0">
                <a:solidFill>
                  <a:srgbClr val="FF0000"/>
                </a:solidFill>
                <a:ea typeface="楷体_GB2312" pitchFamily="49" charset="-122"/>
              </a:rPr>
              <a:t>    </a:t>
            </a:r>
            <a:r>
              <a:rPr lang="en-US" altLang="zh-CN" sz="3200" b="1" dirty="0">
                <a:solidFill>
                  <a:srgbClr val="FF0000"/>
                </a:solidFill>
                <a:ea typeface="楷体_GB2312" pitchFamily="49" charset="-122"/>
              </a:rPr>
              <a:t>{</a:t>
            </a:r>
            <a:r>
              <a:rPr lang="en-US" altLang="zh-CN" sz="3200" b="1" dirty="0">
                <a:solidFill>
                  <a:schemeClr val="accent2"/>
                </a:solidFill>
                <a:ea typeface="楷体_GB2312" pitchFamily="49" charset="-122"/>
              </a:rPr>
              <a:t> </a:t>
            </a:r>
            <a:r>
              <a:rPr lang="en-US" altLang="zh-CN" sz="3200" dirty="0" err="1">
                <a:ea typeface="楷体_GB2312" pitchFamily="49" charset="-122"/>
              </a:rPr>
              <a:t>L.r</a:t>
            </a:r>
            <a:r>
              <a:rPr lang="en-US" altLang="zh-CN" sz="3200" dirty="0">
                <a:ea typeface="楷体_GB2312" pitchFamily="49" charset="-122"/>
              </a:rPr>
              <a:t>[0] = </a:t>
            </a:r>
            <a:r>
              <a:rPr lang="en-US" altLang="zh-CN" sz="3200" dirty="0" err="1">
                <a:ea typeface="楷体_GB2312" pitchFamily="49" charset="-122"/>
              </a:rPr>
              <a:t>L.r</a:t>
            </a:r>
            <a:r>
              <a:rPr lang="en-US" altLang="zh-CN" sz="3200" dirty="0">
                <a:ea typeface="楷体_GB2312" pitchFamily="49" charset="-122"/>
              </a:rPr>
              <a:t>[</a:t>
            </a:r>
            <a:r>
              <a:rPr lang="en-US" altLang="zh-CN" sz="3200" dirty="0" err="1">
                <a:ea typeface="楷体_GB2312" pitchFamily="49" charset="-122"/>
              </a:rPr>
              <a:t>i</a:t>
            </a:r>
            <a:r>
              <a:rPr lang="en-US" altLang="zh-CN" sz="3200" dirty="0">
                <a:ea typeface="楷体_GB2312" pitchFamily="49" charset="-122"/>
              </a:rPr>
              <a:t>];            </a:t>
            </a:r>
          </a:p>
          <a:p>
            <a:pPr algn="l">
              <a:lnSpc>
                <a:spcPct val="120000"/>
              </a:lnSpc>
            </a:pPr>
            <a:r>
              <a:rPr lang="en-US" altLang="zh-CN" sz="2400" b="1" dirty="0">
                <a:solidFill>
                  <a:srgbClr val="006600"/>
                </a:solidFill>
                <a:ea typeface="楷体_GB2312" pitchFamily="49" charset="-122"/>
              </a:rPr>
              <a:t>// Temporarily store the current element in R[0]</a:t>
            </a:r>
          </a:p>
          <a:p>
            <a:pPr algn="l">
              <a:lnSpc>
                <a:spcPct val="120000"/>
              </a:lnSpc>
            </a:pPr>
            <a:r>
              <a:rPr lang="en-US" altLang="zh-CN" sz="3200" dirty="0">
                <a:ea typeface="楷体_GB2312" pitchFamily="49" charset="-122"/>
              </a:rPr>
              <a:t>      </a:t>
            </a:r>
            <a:r>
              <a:rPr lang="en-US" altLang="zh-CN" sz="2400" b="1" dirty="0">
                <a:ea typeface="楷体_GB2312" pitchFamily="49" charset="-122"/>
              </a:rPr>
              <a:t>for</a:t>
            </a:r>
            <a:r>
              <a:rPr lang="en-US" altLang="zh-CN" sz="2400" dirty="0">
                <a:ea typeface="楷体_GB2312" pitchFamily="49" charset="-122"/>
              </a:rPr>
              <a:t> (</a:t>
            </a:r>
            <a:r>
              <a:rPr lang="en-US" altLang="zh-CN" sz="2400" dirty="0">
                <a:solidFill>
                  <a:srgbClr val="840C26"/>
                </a:solidFill>
                <a:ea typeface="楷体_GB2312" pitchFamily="49" charset="-122"/>
              </a:rPr>
              <a:t>j=</a:t>
            </a:r>
            <a:r>
              <a:rPr lang="en-US" altLang="zh-CN" sz="2400" dirty="0" err="1">
                <a:solidFill>
                  <a:srgbClr val="840C26"/>
                </a:solidFill>
                <a:ea typeface="楷体_GB2312" pitchFamily="49" charset="-122"/>
              </a:rPr>
              <a:t>i-dk</a:t>
            </a:r>
            <a:r>
              <a:rPr lang="en-US" altLang="zh-CN" sz="2400" dirty="0">
                <a:ea typeface="楷体_GB2312" pitchFamily="49" charset="-122"/>
              </a:rPr>
              <a:t>;  j&gt;0</a:t>
            </a:r>
            <a:r>
              <a:rPr lang="en-US" altLang="zh-CN" sz="2400" b="1" dirty="0">
                <a:ea typeface="楷体_GB2312" pitchFamily="49" charset="-122"/>
              </a:rPr>
              <a:t>&amp;&amp;</a:t>
            </a:r>
            <a:r>
              <a:rPr lang="en-US" altLang="zh-CN" sz="2400" dirty="0">
                <a:ea typeface="楷体_GB2312" pitchFamily="49" charset="-122"/>
              </a:rPr>
              <a:t>(</a:t>
            </a:r>
            <a:r>
              <a:rPr lang="en-US" altLang="zh-CN" sz="2400" dirty="0" err="1">
                <a:ea typeface="楷体_GB2312" pitchFamily="49" charset="-122"/>
              </a:rPr>
              <a:t>L.r</a:t>
            </a:r>
            <a:r>
              <a:rPr lang="en-US" altLang="zh-CN" sz="2400" dirty="0">
                <a:ea typeface="楷体_GB2312" pitchFamily="49" charset="-122"/>
              </a:rPr>
              <a:t>[0].key&lt;</a:t>
            </a:r>
            <a:r>
              <a:rPr lang="en-US" altLang="zh-CN" sz="2400" dirty="0" err="1">
                <a:ea typeface="楷体_GB2312" pitchFamily="49" charset="-122"/>
              </a:rPr>
              <a:t>L.r</a:t>
            </a:r>
            <a:r>
              <a:rPr lang="en-US" altLang="zh-CN" sz="2400" dirty="0">
                <a:ea typeface="楷体_GB2312" pitchFamily="49" charset="-122"/>
              </a:rPr>
              <a:t>[j].key); </a:t>
            </a:r>
            <a:r>
              <a:rPr lang="en-US" altLang="zh-CN" sz="2400" dirty="0">
                <a:solidFill>
                  <a:srgbClr val="840C26"/>
                </a:solidFill>
                <a:ea typeface="楷体_GB2312" pitchFamily="49" charset="-122"/>
              </a:rPr>
              <a:t>j-=</a:t>
            </a:r>
            <a:r>
              <a:rPr lang="en-US" altLang="zh-CN" sz="2400" dirty="0" err="1">
                <a:solidFill>
                  <a:srgbClr val="840C26"/>
                </a:solidFill>
                <a:ea typeface="楷体_GB2312" pitchFamily="49" charset="-122"/>
              </a:rPr>
              <a:t>dk</a:t>
            </a:r>
            <a:r>
              <a:rPr lang="en-US" altLang="zh-CN" sz="2400" dirty="0">
                <a:ea typeface="楷体_GB2312" pitchFamily="49" charset="-122"/>
              </a:rPr>
              <a:t>)</a:t>
            </a:r>
          </a:p>
          <a:p>
            <a:pPr algn="l">
              <a:lnSpc>
                <a:spcPct val="120000"/>
              </a:lnSpc>
            </a:pPr>
            <a:r>
              <a:rPr lang="en-US" altLang="zh-CN" sz="3200" dirty="0">
                <a:ea typeface="楷体_GB2312" pitchFamily="49" charset="-122"/>
              </a:rPr>
              <a:t>          </a:t>
            </a:r>
            <a:r>
              <a:rPr lang="en-US" altLang="zh-CN" sz="3200" dirty="0" err="1">
                <a:ea typeface="楷体_GB2312" pitchFamily="49" charset="-122"/>
              </a:rPr>
              <a:t>L.r</a:t>
            </a:r>
            <a:r>
              <a:rPr lang="en-US" altLang="zh-CN" sz="3200" dirty="0">
                <a:ea typeface="楷体_GB2312" pitchFamily="49" charset="-122"/>
              </a:rPr>
              <a:t>[</a:t>
            </a:r>
            <a:r>
              <a:rPr lang="en-US" altLang="zh-CN" sz="3200" dirty="0" err="1">
                <a:solidFill>
                  <a:srgbClr val="840C26"/>
                </a:solidFill>
                <a:ea typeface="楷体_GB2312" pitchFamily="49" charset="-122"/>
              </a:rPr>
              <a:t>j+dk</a:t>
            </a:r>
            <a:r>
              <a:rPr lang="en-US" altLang="zh-CN" sz="3200" dirty="0">
                <a:ea typeface="楷体_GB2312" pitchFamily="49" charset="-122"/>
              </a:rPr>
              <a:t>] = </a:t>
            </a:r>
            <a:r>
              <a:rPr lang="en-US" altLang="zh-CN" sz="3200" dirty="0" err="1">
                <a:ea typeface="楷体_GB2312" pitchFamily="49" charset="-122"/>
              </a:rPr>
              <a:t>L.r</a:t>
            </a:r>
            <a:r>
              <a:rPr lang="en-US" altLang="zh-CN" sz="3200" dirty="0">
                <a:ea typeface="楷体_GB2312" pitchFamily="49" charset="-122"/>
              </a:rPr>
              <a:t>[j];  </a:t>
            </a:r>
          </a:p>
          <a:p>
            <a:pPr algn="l">
              <a:lnSpc>
                <a:spcPct val="120000"/>
              </a:lnSpc>
            </a:pPr>
            <a:r>
              <a:rPr lang="en-US" altLang="zh-CN" sz="2400" b="1" dirty="0">
                <a:solidFill>
                  <a:srgbClr val="006600"/>
                </a:solidFill>
                <a:ea typeface="楷体_GB2312" pitchFamily="49" charset="-122"/>
              </a:rPr>
              <a:t>// Shift elements backward to find the insertion position</a:t>
            </a:r>
          </a:p>
          <a:p>
            <a:pPr algn="l">
              <a:lnSpc>
                <a:spcPct val="120000"/>
              </a:lnSpc>
            </a:pPr>
            <a:r>
              <a:rPr lang="zh-CN" altLang="en-US" sz="3200" dirty="0">
                <a:ea typeface="楷体_GB2312" pitchFamily="49" charset="-122"/>
              </a:rPr>
              <a:t>      </a:t>
            </a:r>
            <a:r>
              <a:rPr lang="en-US" altLang="zh-CN" sz="3200" dirty="0" err="1">
                <a:ea typeface="楷体_GB2312" pitchFamily="49" charset="-122"/>
              </a:rPr>
              <a:t>L.r</a:t>
            </a:r>
            <a:r>
              <a:rPr lang="en-US" altLang="zh-CN" sz="3200" dirty="0">
                <a:ea typeface="楷体_GB2312" pitchFamily="49" charset="-122"/>
              </a:rPr>
              <a:t>[</a:t>
            </a:r>
            <a:r>
              <a:rPr lang="en-US" altLang="zh-CN" sz="3200" dirty="0" err="1">
                <a:solidFill>
                  <a:srgbClr val="840C26"/>
                </a:solidFill>
                <a:ea typeface="楷体_GB2312" pitchFamily="49" charset="-122"/>
              </a:rPr>
              <a:t>j+dk</a:t>
            </a:r>
            <a:r>
              <a:rPr lang="en-US" altLang="zh-CN" sz="3200" dirty="0">
                <a:ea typeface="楷体_GB2312" pitchFamily="49" charset="-122"/>
              </a:rPr>
              <a:t>] = </a:t>
            </a:r>
            <a:r>
              <a:rPr lang="en-US" altLang="zh-CN" sz="3200" dirty="0" err="1">
                <a:ea typeface="楷体_GB2312" pitchFamily="49" charset="-122"/>
              </a:rPr>
              <a:t>L.r</a:t>
            </a:r>
            <a:r>
              <a:rPr lang="en-US" altLang="zh-CN" sz="3200" dirty="0">
                <a:ea typeface="楷体_GB2312" pitchFamily="49" charset="-122"/>
              </a:rPr>
              <a:t>[0];    </a:t>
            </a:r>
            <a:r>
              <a:rPr lang="en-US" altLang="zh-CN" sz="2400" b="1" dirty="0">
                <a:solidFill>
                  <a:srgbClr val="006600"/>
                </a:solidFill>
                <a:ea typeface="楷体_GB2312" pitchFamily="49" charset="-122"/>
              </a:rPr>
              <a:t>// Insert the element</a:t>
            </a:r>
          </a:p>
          <a:p>
            <a:pPr algn="l">
              <a:lnSpc>
                <a:spcPct val="120000"/>
              </a:lnSpc>
            </a:pPr>
            <a:r>
              <a:rPr lang="zh-CN" altLang="en-US" sz="3200" dirty="0">
                <a:solidFill>
                  <a:srgbClr val="FF0000"/>
                </a:solidFill>
                <a:ea typeface="楷体_GB2312" pitchFamily="49" charset="-122"/>
              </a:rPr>
              <a:t>     </a:t>
            </a:r>
            <a:r>
              <a:rPr lang="en-US" altLang="zh-CN" sz="3200" dirty="0">
                <a:solidFill>
                  <a:srgbClr val="FF0000"/>
                </a:solidFill>
                <a:ea typeface="楷体_GB2312" pitchFamily="49" charset="-122"/>
              </a:rPr>
              <a:t>} // if</a:t>
            </a:r>
          </a:p>
          <a:p>
            <a:pPr algn="l">
              <a:lnSpc>
                <a:spcPct val="120000"/>
              </a:lnSpc>
            </a:pPr>
            <a:r>
              <a:rPr lang="en-US" altLang="zh-CN" sz="2400" b="1" dirty="0">
                <a:ea typeface="楷体_GB2312" pitchFamily="49" charset="-122"/>
              </a:rPr>
              <a:t>}</a:t>
            </a:r>
            <a:r>
              <a:rPr lang="en-US" altLang="zh-CN" sz="2400" dirty="0">
                <a:ea typeface="楷体_GB2312" pitchFamily="49" charset="-122"/>
              </a:rPr>
              <a:t> // </a:t>
            </a:r>
            <a:r>
              <a:rPr lang="en-US" altLang="zh-CN" sz="2400" dirty="0" err="1">
                <a:ea typeface="楷体_GB2312" pitchFamily="49" charset="-122"/>
              </a:rPr>
              <a:t>ShellInsert</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47</a:t>
            </a:fld>
            <a:endParaRPr lang="en-US" altLang="zh-CN"/>
          </a:p>
        </p:txBody>
      </p:sp>
    </p:spTree>
  </p:cSld>
  <p:clrMapOvr>
    <a:masterClrMapping/>
  </p:clrMapOvr>
  <p:transition>
    <p:pull dir="rd"/>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2"/>
          <p:cNvSpPr txBox="1">
            <a:spLocks noChangeArrowheads="1"/>
          </p:cNvSpPr>
          <p:nvPr/>
        </p:nvSpPr>
        <p:spPr bwMode="auto">
          <a:xfrm>
            <a:off x="0" y="711200"/>
            <a:ext cx="9224963" cy="5107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en-US" altLang="zh-CN" sz="3600" b="1">
                <a:ea typeface="楷体_GB2312" pitchFamily="49" charset="-122"/>
              </a:rPr>
              <a:t>void</a:t>
            </a:r>
            <a:r>
              <a:rPr lang="en-US" altLang="zh-CN" sz="3600">
                <a:ea typeface="楷体_GB2312" pitchFamily="49" charset="-122"/>
              </a:rPr>
              <a:t> ShellSort (SqList </a:t>
            </a:r>
            <a:r>
              <a:rPr lang="en-US" altLang="zh-CN" sz="3600" b="1">
                <a:ea typeface="楷体_GB2312" pitchFamily="49" charset="-122"/>
              </a:rPr>
              <a:t>&amp;</a:t>
            </a:r>
            <a:r>
              <a:rPr lang="en-US" altLang="zh-CN" sz="3600">
                <a:ea typeface="楷体_GB2312" pitchFamily="49" charset="-122"/>
              </a:rPr>
              <a:t>L, </a:t>
            </a:r>
            <a:r>
              <a:rPr lang="en-US" altLang="zh-CN" sz="3600" b="1">
                <a:ea typeface="楷体_GB2312" pitchFamily="49" charset="-122"/>
              </a:rPr>
              <a:t>int</a:t>
            </a:r>
            <a:r>
              <a:rPr lang="en-US" altLang="zh-CN" sz="3600">
                <a:ea typeface="楷体_GB2312" pitchFamily="49" charset="-122"/>
              </a:rPr>
              <a:t> dlta[], </a:t>
            </a:r>
            <a:r>
              <a:rPr lang="en-US" altLang="zh-CN" sz="3600" b="1">
                <a:ea typeface="楷体_GB2312" pitchFamily="49" charset="-122"/>
              </a:rPr>
              <a:t>int</a:t>
            </a:r>
            <a:r>
              <a:rPr lang="en-US" altLang="zh-CN" sz="3600">
                <a:ea typeface="楷体_GB2312" pitchFamily="49" charset="-122"/>
              </a:rPr>
              <a:t> t)</a:t>
            </a:r>
          </a:p>
          <a:p>
            <a:pPr>
              <a:lnSpc>
                <a:spcPct val="110000"/>
              </a:lnSpc>
            </a:pPr>
            <a:r>
              <a:rPr lang="en-US" altLang="zh-CN" sz="3600" b="1">
                <a:ea typeface="楷体_GB2312" pitchFamily="49" charset="-122"/>
              </a:rPr>
              <a:t>{    </a:t>
            </a:r>
            <a:r>
              <a:rPr lang="en-US" altLang="zh-CN" sz="2800" b="1">
                <a:solidFill>
                  <a:srgbClr val="006600"/>
                </a:solidFill>
                <a:ea typeface="楷体_GB2312" pitchFamily="49" charset="-122"/>
              </a:rPr>
              <a:t>// Perform Shell Sort on the sequential list L.</a:t>
            </a:r>
            <a:r>
              <a:rPr lang="zh-CN" altLang="en-US" sz="2800" b="1">
                <a:solidFill>
                  <a:srgbClr val="006600"/>
                </a:solidFill>
                <a:ea typeface="楷体_GB2312" pitchFamily="49" charset="-122"/>
              </a:rPr>
              <a:t>，</a:t>
            </a:r>
          </a:p>
          <a:p>
            <a:pPr>
              <a:lnSpc>
                <a:spcPct val="110000"/>
              </a:lnSpc>
            </a:pPr>
            <a:r>
              <a:rPr lang="zh-CN" altLang="en-US" sz="2800" b="1">
                <a:solidFill>
                  <a:srgbClr val="006600"/>
                </a:solidFill>
                <a:ea typeface="楷体_GB2312" pitchFamily="49" charset="-122"/>
              </a:rPr>
              <a:t>    </a:t>
            </a:r>
            <a:r>
              <a:rPr lang="en-US" altLang="zh-CN" sz="2800" b="1">
                <a:solidFill>
                  <a:srgbClr val="006600"/>
                </a:solidFill>
                <a:ea typeface="楷体_GB2312" pitchFamily="49" charset="-122"/>
              </a:rPr>
              <a:t>// dlta[0..t-1] stores the increment sequence (e.g., 5, 3, 2, 1)</a:t>
            </a:r>
          </a:p>
          <a:p>
            <a:pPr>
              <a:lnSpc>
                <a:spcPct val="150000"/>
              </a:lnSpc>
            </a:pPr>
            <a:r>
              <a:rPr lang="en-US" altLang="zh-CN" sz="3600">
                <a:ea typeface="楷体_GB2312" pitchFamily="49" charset="-122"/>
              </a:rPr>
              <a:t>     </a:t>
            </a:r>
            <a:r>
              <a:rPr lang="en-US" altLang="zh-CN" sz="3600" b="1">
                <a:ea typeface="楷体_GB2312" pitchFamily="49" charset="-122"/>
              </a:rPr>
              <a:t>for</a:t>
            </a:r>
            <a:r>
              <a:rPr lang="en-US" altLang="zh-CN" sz="3600">
                <a:ea typeface="楷体_GB2312" pitchFamily="49" charset="-122"/>
              </a:rPr>
              <a:t> (k=0; k&lt;t; ++k)</a:t>
            </a:r>
          </a:p>
          <a:p>
            <a:pPr>
              <a:lnSpc>
                <a:spcPct val="150000"/>
              </a:lnSpc>
            </a:pPr>
            <a:r>
              <a:rPr lang="en-US" altLang="zh-CN" sz="3600">
                <a:ea typeface="楷体_GB2312" pitchFamily="49" charset="-122"/>
              </a:rPr>
              <a:t>         ShellInsert(L, dlta[k]);</a:t>
            </a:r>
          </a:p>
          <a:p>
            <a:pPr>
              <a:lnSpc>
                <a:spcPct val="150000"/>
              </a:lnSpc>
            </a:pPr>
            <a:r>
              <a:rPr lang="en-US" altLang="zh-CN" sz="3600">
                <a:ea typeface="楷体_GB2312" pitchFamily="49" charset="-122"/>
              </a:rPr>
              <a:t> </a:t>
            </a:r>
            <a:r>
              <a:rPr lang="en-US" altLang="zh-CN" sz="2800" b="1">
                <a:solidFill>
                  <a:srgbClr val="006600"/>
                </a:solidFill>
                <a:ea typeface="楷体_GB2312" pitchFamily="49" charset="-122"/>
              </a:rPr>
              <a:t>//Perform one pass of insertion sort with increment dlta[k]</a:t>
            </a:r>
          </a:p>
          <a:p>
            <a:pPr>
              <a:lnSpc>
                <a:spcPct val="150000"/>
              </a:lnSpc>
            </a:pPr>
            <a:r>
              <a:rPr lang="en-US" altLang="zh-CN" sz="3600" b="1">
                <a:ea typeface="楷体_GB2312" pitchFamily="49" charset="-122"/>
              </a:rPr>
              <a:t>}</a:t>
            </a:r>
            <a:r>
              <a:rPr lang="en-US" altLang="zh-CN" sz="3600">
                <a:ea typeface="楷体_GB2312" pitchFamily="49" charset="-122"/>
              </a:rPr>
              <a:t> // ShellSort</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48</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9" fill="hold" grpId="0" nodeType="afterEffect">
                                  <p:stCondLst>
                                    <p:cond delay="0"/>
                                  </p:stCondLst>
                                  <p:childTnLst>
                                    <p:set>
                                      <p:cBhvr>
                                        <p:cTn id="6" dur="1" fill="hold">
                                          <p:stCondLst>
                                            <p:cond delay="0"/>
                                          </p:stCondLst>
                                        </p:cTn>
                                        <p:tgtEl>
                                          <p:spTgt spid="41986"/>
                                        </p:tgtEl>
                                        <p:attrNameLst>
                                          <p:attrName>style.visibility</p:attrName>
                                        </p:attrNameLst>
                                      </p:cBhvr>
                                      <p:to>
                                        <p:strVal val="visible"/>
                                      </p:to>
                                    </p:set>
                                    <p:animEffect transition="in" filter="strips(upLeft)">
                                      <p:cBhvr>
                                        <p:cTn id="7" dur="500"/>
                                        <p:tgtEl>
                                          <p:spTgt spid="419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6" grpId="0" bldLvl="0" animBg="1"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0" y="188640"/>
            <a:ext cx="7848872" cy="720080"/>
          </a:xfrm>
        </p:spPr>
        <p:txBody>
          <a:bodyPr/>
          <a:lstStyle/>
          <a:p>
            <a:r>
              <a:rPr lang="en-US" altLang="zh-CN" dirty="0"/>
              <a:t>Analysis of Shell Sort</a:t>
            </a:r>
          </a:p>
        </p:txBody>
      </p:sp>
      <p:sp>
        <p:nvSpPr>
          <p:cNvPr id="3" name="内容占位符 2"/>
          <p:cNvSpPr>
            <a:spLocks noGrp="1"/>
          </p:cNvSpPr>
          <p:nvPr>
            <p:ph idx="1"/>
          </p:nvPr>
        </p:nvSpPr>
        <p:spPr/>
        <p:txBody>
          <a:bodyPr/>
          <a:lstStyle/>
          <a:p>
            <a:pPr>
              <a:lnSpc>
                <a:spcPct val="120000"/>
              </a:lnSpc>
            </a:pPr>
            <a:r>
              <a:rPr lang="zh-CN" altLang="en-US" sz="2200" b="1" dirty="0">
                <a:solidFill>
                  <a:srgbClr val="000080"/>
                </a:solidFill>
                <a:ea typeface="楷体_GB2312" pitchFamily="49" charset="-122"/>
                <a:cs typeface="Arial" panose="020B0604020202020204" pitchFamily="34" charset="0"/>
              </a:rPr>
              <a:t>From the above sorting process, it can be seen that the sub-sequences in Shell Sort are not formed by simply "segmenting sequentially". Instead, a sub-sequence consists of records separated by a certain "increment".Records with smaller keys are moved forward in a leapfrog manner (rather than step by step). This means that when the final pass (with increment = 1, which is a standard insertion sort) is performed, the sequence is already nearly ordered. Only a small number of comparisons and moves are needed to complete the sorting.Thus, the </a:t>
            </a:r>
            <a:r>
              <a:rPr lang="zh-CN" altLang="en-US" sz="2200" b="1" dirty="0">
                <a:solidFill>
                  <a:srgbClr val="990000"/>
                </a:solidFill>
                <a:ea typeface="楷体_GB2312" pitchFamily="49" charset="-122"/>
                <a:cs typeface="Arial" panose="020B0604020202020204" pitchFamily="34" charset="0"/>
              </a:rPr>
              <a:t>time complexity of Shell Sort is lower than that of direct insertion sort</a:t>
            </a:r>
            <a:r>
              <a:rPr lang="zh-CN" altLang="en-US" sz="2200" b="1" dirty="0">
                <a:solidFill>
                  <a:srgbClr val="000080"/>
                </a:solidFill>
                <a:ea typeface="楷体_GB2312" pitchFamily="49" charset="-122"/>
                <a:cs typeface="Arial" panose="020B0604020202020204" pitchFamily="34" charset="0"/>
              </a:rPr>
              <a:t>. Its time efficiency is a function of the chosen increment sequence.</a:t>
            </a:r>
          </a:p>
        </p:txBody>
      </p:sp>
      <p:sp>
        <p:nvSpPr>
          <p:cNvPr id="4" name="页脚占位符 3"/>
          <p:cNvSpPr>
            <a:spLocks noGrp="1"/>
          </p:cNvSpPr>
          <p:nvPr>
            <p:ph type="ftr" sz="quarter" idx="10"/>
          </p:nvPr>
        </p:nvSpPr>
        <p:spPr/>
        <p:txBody>
          <a:bodyPr/>
          <a:lstStyle/>
          <a:p>
            <a:pPr>
              <a:defRPr/>
            </a:pPr>
            <a:r>
              <a:rPr lang="en-US" altLang="zh-CN"/>
              <a:t>@ Zhihai Wang, 2025</a:t>
            </a:r>
            <a:endParaRPr lang="en-US" altLang="zh-CN" dirty="0"/>
          </a:p>
        </p:txBody>
      </p:sp>
      <p:sp>
        <p:nvSpPr>
          <p:cNvPr id="5" name="灯片编号占位符 4"/>
          <p:cNvSpPr>
            <a:spLocks noGrp="1"/>
          </p:cNvSpPr>
          <p:nvPr>
            <p:ph type="sldNum" sz="quarter" idx="11"/>
          </p:nvPr>
        </p:nvSpPr>
        <p:spPr/>
        <p:txBody>
          <a:bodyPr/>
          <a:lstStyle/>
          <a:p>
            <a:pPr>
              <a:defRPr/>
            </a:pPr>
            <a:fld id="{B40C3BFD-24D0-4966-81A9-4BDD3454C069}" type="slidenum">
              <a:rPr lang="en-US" altLang="zh-CN" smtClean="0"/>
              <a:t>49</a:t>
            </a:fld>
            <a:endParaRPr lang="en-US" altLang="zh-CN"/>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0" y="116632"/>
            <a:ext cx="7200800" cy="720080"/>
          </a:xfrm>
        </p:spPr>
        <p:txBody>
          <a:bodyPr/>
          <a:lstStyle/>
          <a:p>
            <a:r>
              <a:rPr altLang="zh-CN">
                <a:effectLst/>
                <a:sym typeface="+mn-ea"/>
              </a:rPr>
              <a:t>Chapter Contents</a:t>
            </a:r>
            <a:endParaRPr lang="zh-CN" altLang="en-US" dirty="0">
              <a:ea typeface="宋体" panose="02010600030101010101" pitchFamily="2" charset="-122"/>
              <a:cs typeface="Arial" panose="020B0604020202020204" pitchFamily="34" charset="0"/>
            </a:endParaRPr>
          </a:p>
        </p:txBody>
      </p:sp>
      <p:sp>
        <p:nvSpPr>
          <p:cNvPr id="3" name="内容占位符 2"/>
          <p:cNvSpPr>
            <a:spLocks noGrp="1"/>
          </p:cNvSpPr>
          <p:nvPr>
            <p:ph idx="1"/>
          </p:nvPr>
        </p:nvSpPr>
        <p:spPr>
          <a:xfrm>
            <a:off x="20320" y="836930"/>
            <a:ext cx="9123680" cy="5544820"/>
          </a:xfrm>
        </p:spPr>
        <p:txBody>
          <a:bodyPr/>
          <a:lstStyle/>
          <a:p>
            <a:pPr>
              <a:lnSpc>
                <a:spcPct val="100000"/>
              </a:lnSpc>
            </a:pPr>
            <a:r>
              <a:rPr lang="en-US" altLang="zh-CN" sz="2800" b="1" dirty="0">
                <a:cs typeface="Arial" panose="020B0604020202020204" pitchFamily="34" charset="0"/>
              </a:rPr>
              <a:t>Insertion Sort</a:t>
            </a:r>
          </a:p>
          <a:p>
            <a:pPr>
              <a:lnSpc>
                <a:spcPct val="100000"/>
              </a:lnSpc>
            </a:pPr>
            <a:r>
              <a:rPr lang="zh-CN" altLang="en-US" sz="2800" b="1" dirty="0">
                <a:solidFill>
                  <a:srgbClr val="FF0000"/>
                </a:solidFill>
                <a:cs typeface="Arial" panose="020B0604020202020204" pitchFamily="34" charset="0"/>
              </a:rPr>
              <a:t>Exchange Sort  </a:t>
            </a:r>
          </a:p>
          <a:p>
            <a:pPr lvl="1">
              <a:lnSpc>
                <a:spcPct val="100000"/>
              </a:lnSpc>
            </a:pPr>
            <a:r>
              <a:rPr lang="en-US" altLang="zh-CN" sz="2800" b="1" dirty="0">
                <a:cs typeface="Arial" panose="020B0604020202020204" pitchFamily="34" charset="0"/>
              </a:rPr>
              <a:t>Bubble Sort</a:t>
            </a:r>
          </a:p>
          <a:p>
            <a:pPr lvl="1">
              <a:lnSpc>
                <a:spcPct val="100000"/>
              </a:lnSpc>
            </a:pPr>
            <a:r>
              <a:rPr lang="en-US" altLang="zh-CN" sz="2800" b="1" dirty="0">
                <a:cs typeface="Arial" panose="020B0604020202020204" pitchFamily="34" charset="0"/>
              </a:rPr>
              <a:t>One-Pass Quick Sort</a:t>
            </a:r>
          </a:p>
          <a:p>
            <a:pPr lvl="1">
              <a:lnSpc>
                <a:spcPct val="100000"/>
              </a:lnSpc>
            </a:pPr>
            <a:r>
              <a:rPr lang="en-US" altLang="zh-CN" sz="2800" b="1" dirty="0">
                <a:cs typeface="Arial" panose="020B0604020202020204" pitchFamily="34" charset="0"/>
              </a:rPr>
              <a:t>Quick Sort and Its Analysis</a:t>
            </a:r>
          </a:p>
          <a:p>
            <a:pPr>
              <a:lnSpc>
                <a:spcPct val="100000"/>
              </a:lnSpc>
            </a:pPr>
            <a:r>
              <a:rPr lang="en-US" altLang="zh-CN" sz="2800" dirty="0">
                <a:cs typeface="Arial" panose="020B0604020202020204" pitchFamily="34" charset="0"/>
              </a:rPr>
              <a:t>Selection Sort</a:t>
            </a:r>
            <a:r>
              <a:rPr lang="zh-CN" altLang="en-US" sz="2800" dirty="0">
                <a:cs typeface="Arial" panose="020B0604020202020204" pitchFamily="34" charset="0"/>
              </a:rPr>
              <a:t> </a:t>
            </a:r>
            <a:r>
              <a:rPr lang="en-US" altLang="zh-CN" sz="2800" dirty="0">
                <a:cs typeface="Arial" panose="020B0604020202020204" pitchFamily="34" charset="0"/>
              </a:rPr>
              <a:t> </a:t>
            </a:r>
          </a:p>
          <a:p>
            <a:pPr>
              <a:lnSpc>
                <a:spcPct val="100000"/>
              </a:lnSpc>
            </a:pPr>
            <a:r>
              <a:rPr lang="en-US" altLang="zh-CN" sz="2800" dirty="0">
                <a:cs typeface="Arial" panose="020B0604020202020204" pitchFamily="34" charset="0"/>
              </a:rPr>
              <a:t>M</a:t>
            </a:r>
            <a:r>
              <a:rPr lang="zh-CN" altLang="en-US" sz="2800" dirty="0">
                <a:cs typeface="Arial" panose="020B0604020202020204" pitchFamily="34" charset="0"/>
              </a:rPr>
              <a:t>erge </a:t>
            </a:r>
            <a:r>
              <a:rPr lang="en-US" altLang="zh-CN" sz="2800" dirty="0">
                <a:cs typeface="Arial" panose="020B0604020202020204" pitchFamily="34" charset="0"/>
              </a:rPr>
              <a:t>S</a:t>
            </a:r>
            <a:r>
              <a:rPr lang="zh-CN" altLang="en-US" sz="2800" dirty="0">
                <a:cs typeface="Arial" panose="020B0604020202020204" pitchFamily="34" charset="0"/>
              </a:rPr>
              <a:t>ort</a:t>
            </a:r>
            <a:endParaRPr lang="en-US" altLang="zh-CN" sz="2800" dirty="0">
              <a:cs typeface="Arial" panose="020B0604020202020204" pitchFamily="34" charset="0"/>
            </a:endParaRPr>
          </a:p>
          <a:p>
            <a:pPr>
              <a:lnSpc>
                <a:spcPct val="100000"/>
              </a:lnSpc>
            </a:pPr>
            <a:r>
              <a:rPr lang="en-US" altLang="zh-CN" sz="2800" dirty="0">
                <a:cs typeface="Arial" panose="020B0604020202020204" pitchFamily="34" charset="0"/>
              </a:rPr>
              <a:t>R</a:t>
            </a:r>
            <a:r>
              <a:rPr lang="zh-CN" altLang="en-US" sz="2800" dirty="0">
                <a:cs typeface="Arial" panose="020B0604020202020204" pitchFamily="34" charset="0"/>
              </a:rPr>
              <a:t>adix </a:t>
            </a:r>
            <a:r>
              <a:rPr lang="en-US" altLang="zh-CN" sz="2800" dirty="0">
                <a:cs typeface="Arial" panose="020B0604020202020204" pitchFamily="34" charset="0"/>
              </a:rPr>
              <a:t>S</a:t>
            </a:r>
            <a:r>
              <a:rPr lang="zh-CN" altLang="en-US" sz="2800" dirty="0">
                <a:cs typeface="Arial" panose="020B0604020202020204" pitchFamily="34" charset="0"/>
              </a:rPr>
              <a:t>orting</a:t>
            </a:r>
            <a:endParaRPr lang="en-US" altLang="zh-CN" sz="2800" dirty="0">
              <a:cs typeface="Arial" panose="020B0604020202020204" pitchFamily="34" charset="0"/>
            </a:endParaRPr>
          </a:p>
          <a:p>
            <a:pPr>
              <a:lnSpc>
                <a:spcPct val="100000"/>
              </a:lnSpc>
            </a:pPr>
            <a:r>
              <a:rPr lang="zh-CN" altLang="en-US" sz="2800" dirty="0">
                <a:cs typeface="Arial" panose="020B0604020202020204" pitchFamily="34" charset="0"/>
              </a:rPr>
              <a:t>A Comprehensive Comparison of Various Sorting Methods</a:t>
            </a:r>
            <a:endParaRPr lang="en-US" altLang="zh-CN" sz="2800" dirty="0">
              <a:cs typeface="Arial" panose="020B0604020202020204" pitchFamily="34" charset="0"/>
            </a:endParaRPr>
          </a:p>
          <a:p>
            <a:pPr>
              <a:lnSpc>
                <a:spcPct val="100000"/>
              </a:lnSpc>
            </a:pPr>
            <a:r>
              <a:rPr lang="en-US" altLang="zh-CN" sz="2800" dirty="0">
                <a:cs typeface="Arial" panose="020B0604020202020204" pitchFamily="34" charset="0"/>
              </a:rPr>
              <a:t>E</a:t>
            </a:r>
            <a:r>
              <a:rPr lang="zh-CN" altLang="en-US" sz="2800" dirty="0">
                <a:cs typeface="Arial" panose="020B0604020202020204" pitchFamily="34" charset="0"/>
              </a:rPr>
              <a:t>xternal </a:t>
            </a:r>
            <a:r>
              <a:rPr lang="en-US" altLang="zh-CN" sz="2800" dirty="0">
                <a:cs typeface="Arial" panose="020B0604020202020204" pitchFamily="34" charset="0"/>
              </a:rPr>
              <a:t>S</a:t>
            </a:r>
            <a:r>
              <a:rPr lang="zh-CN" altLang="en-US" sz="2800" dirty="0">
                <a:cs typeface="Arial" panose="020B0604020202020204" pitchFamily="34" charset="0"/>
              </a:rPr>
              <a:t>ort</a:t>
            </a:r>
          </a:p>
        </p:txBody>
      </p:sp>
      <p:sp>
        <p:nvSpPr>
          <p:cNvPr id="4" name="页脚占位符 3"/>
          <p:cNvSpPr>
            <a:spLocks noGrp="1"/>
          </p:cNvSpPr>
          <p:nvPr>
            <p:ph type="ftr" sz="quarter" idx="10"/>
          </p:nvPr>
        </p:nvSpPr>
        <p:spPr/>
        <p:txBody>
          <a:bodyPr/>
          <a:lstStyle/>
          <a:p>
            <a:pPr>
              <a:defRPr/>
            </a:pPr>
            <a:r>
              <a:rPr lang="en-US" altLang="zh-CN"/>
              <a:t>@ Zhihai Wang, 2025</a:t>
            </a:r>
            <a:endParaRPr lang="en-US" altLang="zh-CN" dirty="0"/>
          </a:p>
        </p:txBody>
      </p:sp>
      <p:sp>
        <p:nvSpPr>
          <p:cNvPr id="5" name="灯片编号占位符 4"/>
          <p:cNvSpPr>
            <a:spLocks noGrp="1"/>
          </p:cNvSpPr>
          <p:nvPr>
            <p:ph type="sldNum" sz="quarter" idx="11"/>
          </p:nvPr>
        </p:nvSpPr>
        <p:spPr/>
        <p:txBody>
          <a:bodyPr/>
          <a:lstStyle/>
          <a:p>
            <a:pPr>
              <a:defRPr/>
            </a:pPr>
            <a:fld id="{B40C3BFD-24D0-4966-81A9-4BDD3454C069}" type="slidenum">
              <a:rPr lang="en-US" altLang="zh-CN" smtClean="0"/>
              <a:t>50</a:t>
            </a:fld>
            <a:endParaRPr lang="en-US" altLang="zh-CN"/>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a:t>
            </a:r>
            <a:r>
              <a:rPr lang="zh-CN" altLang="en-US" dirty="0"/>
              <a:t>ubble </a:t>
            </a:r>
            <a:r>
              <a:rPr lang="en-US" altLang="zh-CN" dirty="0"/>
              <a:t>S</a:t>
            </a:r>
            <a:r>
              <a:rPr lang="zh-CN" altLang="en-US" dirty="0"/>
              <a:t>ort</a:t>
            </a:r>
          </a:p>
        </p:txBody>
      </p:sp>
      <p:sp>
        <p:nvSpPr>
          <p:cNvPr id="3" name="内容占位符 2"/>
          <p:cNvSpPr>
            <a:spLocks noGrp="1"/>
          </p:cNvSpPr>
          <p:nvPr>
            <p:ph idx="1"/>
          </p:nvPr>
        </p:nvSpPr>
        <p:spPr/>
        <p:txBody>
          <a:bodyPr/>
          <a:lstStyle/>
          <a:p>
            <a:r>
              <a:rPr lang="zh-CN" altLang="en-US" sz="2400" dirty="0">
                <a:cs typeface="Arial" panose="020B0604020202020204" pitchFamily="34" charset="0"/>
              </a:rPr>
              <a:t>Starting from R[1], </a:t>
            </a:r>
            <a:r>
              <a:rPr lang="zh-CN" altLang="en-US" sz="2400" b="1" dirty="0">
                <a:solidFill>
                  <a:srgbClr val="FF0000"/>
                </a:solidFill>
                <a:cs typeface="Arial" panose="020B0604020202020204" pitchFamily="34" charset="0"/>
              </a:rPr>
              <a:t>pairwise compare</a:t>
            </a:r>
            <a:r>
              <a:rPr lang="zh-CN" altLang="en-US" sz="2400" dirty="0">
                <a:cs typeface="Arial" panose="020B0604020202020204" pitchFamily="34" charset="0"/>
              </a:rPr>
              <a:t> the keys of R[i] and R[i+1]. If R[i].key&gt; R[i+1].key, swap R[i] and R[i+1].key. After the first round of comparisons, R[n] is the</a:t>
            </a:r>
            <a:r>
              <a:rPr lang="zh-CN" altLang="en-US" sz="2400" b="1" dirty="0">
                <a:solidFill>
                  <a:srgbClr val="FF0000"/>
                </a:solidFill>
                <a:cs typeface="Arial" panose="020B0604020202020204" pitchFamily="34" charset="0"/>
              </a:rPr>
              <a:t> largest</a:t>
            </a:r>
            <a:r>
              <a:rPr lang="zh-CN" altLang="en-US" sz="2400" dirty="0">
                <a:cs typeface="Arial" panose="020B0604020202020204" pitchFamily="34" charset="0"/>
              </a:rPr>
              <a:t> record in the sequence.</a:t>
            </a:r>
          </a:p>
          <a:p>
            <a:r>
              <a:rPr lang="zh-CN" altLang="en-US" sz="2400" dirty="0">
                <a:cs typeface="Arial" panose="020B0604020202020204" pitchFamily="34" charset="0"/>
              </a:rPr>
              <a:t>Then, starting from R[1], compare R[i] with R[i+1] (i=1,2,...,n-2) in pairs. If R[i].key&gt; R[i+1].key, swap R[i] and R[i+1].key. After the second round of comparisons, R[n-1] becomes the</a:t>
            </a:r>
            <a:r>
              <a:rPr lang="zh-CN" altLang="en-US" sz="2400" b="1" dirty="0">
                <a:solidFill>
                  <a:srgbClr val="FF0000"/>
                </a:solidFill>
                <a:cs typeface="Arial" panose="020B0604020202020204" pitchFamily="34" charset="0"/>
              </a:rPr>
              <a:t> second-largest </a:t>
            </a:r>
            <a:r>
              <a:rPr lang="zh-CN" altLang="en-US" sz="2400" dirty="0">
                <a:cs typeface="Arial" panose="020B0604020202020204" pitchFamily="34" charset="0"/>
              </a:rPr>
              <a:t>record in the sequence.</a:t>
            </a:r>
            <a:endParaRPr lang="en-US" altLang="zh-CN" sz="2400" dirty="0">
              <a:cs typeface="Arial" panose="020B0604020202020204" pitchFamily="34" charset="0"/>
            </a:endParaRPr>
          </a:p>
          <a:p>
            <a:r>
              <a:rPr lang="zh-CN" altLang="en-US" sz="2400" b="1" dirty="0">
                <a:solidFill>
                  <a:srgbClr val="FF0000"/>
                </a:solidFill>
                <a:cs typeface="Arial" panose="020B0604020202020204" pitchFamily="34" charset="0"/>
              </a:rPr>
              <a:t>After n-1 iterations of bubble sort, </a:t>
            </a:r>
            <a:r>
              <a:rPr lang="zh-CN" altLang="en-US" sz="2400" dirty="0">
                <a:cs typeface="Arial" panose="020B0604020202020204" pitchFamily="34" charset="0"/>
              </a:rPr>
              <a:t>the n records to be sorted will be in order of their keys.</a:t>
            </a:r>
          </a:p>
        </p:txBody>
      </p:sp>
      <p:sp>
        <p:nvSpPr>
          <p:cNvPr id="4" name="页脚占位符 3"/>
          <p:cNvSpPr>
            <a:spLocks noGrp="1"/>
          </p:cNvSpPr>
          <p:nvPr>
            <p:ph type="ftr" sz="quarter" idx="10"/>
          </p:nvPr>
        </p:nvSpPr>
        <p:spPr/>
        <p:txBody>
          <a:bodyPr/>
          <a:lstStyle/>
          <a:p>
            <a:pPr>
              <a:defRPr/>
            </a:pPr>
            <a:r>
              <a:rPr lang="en-US" altLang="zh-CN"/>
              <a:t>@ Zhihai Wang, 2025</a:t>
            </a:r>
            <a:endParaRPr lang="en-US" altLang="zh-CN" dirty="0"/>
          </a:p>
        </p:txBody>
      </p:sp>
      <p:sp>
        <p:nvSpPr>
          <p:cNvPr id="5" name="灯片编号占位符 4"/>
          <p:cNvSpPr>
            <a:spLocks noGrp="1"/>
          </p:cNvSpPr>
          <p:nvPr>
            <p:ph type="sldNum" sz="quarter" idx="11"/>
          </p:nvPr>
        </p:nvSpPr>
        <p:spPr/>
        <p:txBody>
          <a:bodyPr/>
          <a:lstStyle/>
          <a:p>
            <a:pPr>
              <a:defRPr/>
            </a:pPr>
            <a:fld id="{B40C3BFD-24D0-4966-81A9-4BDD3454C069}" type="slidenum">
              <a:rPr lang="en-US" altLang="zh-CN" smtClean="0"/>
              <a:t>51</a:t>
            </a:fld>
            <a:endParaRPr lang="en-US" altLang="zh-CN"/>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2"/>
          <p:cNvSpPr txBox="1">
            <a:spLocks noChangeArrowheads="1"/>
          </p:cNvSpPr>
          <p:nvPr/>
        </p:nvSpPr>
        <p:spPr bwMode="auto">
          <a:xfrm>
            <a:off x="179705" y="476885"/>
            <a:ext cx="8558213" cy="902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zh-CN" altLang="en-US" sz="2400">
                <a:latin typeface="Arial" panose="020B0604020202020204" pitchFamily="34" charset="0"/>
                <a:ea typeface="楷体_GB2312" pitchFamily="49" charset="-122"/>
                <a:cs typeface="Arial" panose="020B0604020202020204" pitchFamily="34" charset="0"/>
              </a:rPr>
              <a:t>Assume that during the sorting process, the status of the record sequence </a:t>
            </a:r>
            <a:r>
              <a:rPr lang="en-US" altLang="zh-CN" sz="2400">
                <a:solidFill>
                  <a:srgbClr val="A50021"/>
                </a:solidFill>
                <a:latin typeface="Arial" panose="020B0604020202020204" pitchFamily="34" charset="0"/>
                <a:ea typeface="楷体_GB2312" pitchFamily="49" charset="-122"/>
                <a:cs typeface="Arial" panose="020B0604020202020204" pitchFamily="34" charset="0"/>
              </a:rPr>
              <a:t>R[1..n] </a:t>
            </a:r>
            <a:r>
              <a:rPr lang="zh-CN" altLang="en-US" sz="2400">
                <a:latin typeface="Arial" panose="020B0604020202020204" pitchFamily="34" charset="0"/>
                <a:ea typeface="楷体_GB2312" pitchFamily="49" charset="-122"/>
                <a:cs typeface="Arial" panose="020B0604020202020204" pitchFamily="34" charset="0"/>
              </a:rPr>
              <a:t>is:</a:t>
            </a:r>
          </a:p>
        </p:txBody>
      </p:sp>
      <p:sp>
        <p:nvSpPr>
          <p:cNvPr id="46083" name="Text Box 3"/>
          <p:cNvSpPr txBox="1">
            <a:spLocks noChangeArrowheads="1"/>
          </p:cNvSpPr>
          <p:nvPr/>
        </p:nvSpPr>
        <p:spPr bwMode="auto">
          <a:xfrm>
            <a:off x="5791200" y="3290888"/>
            <a:ext cx="3352800" cy="515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pPr>
            <a:r>
              <a:rPr lang="en-US" altLang="zh-CN" sz="2400">
                <a:solidFill>
                  <a:srgbClr val="000080"/>
                </a:solidFill>
                <a:latin typeface="Arial" panose="020B0604020202020204" pitchFamily="34" charset="0"/>
                <a:ea typeface="楷体_GB2312" pitchFamily="49" charset="-122"/>
                <a:cs typeface="Arial" panose="020B0604020202020204" pitchFamily="34" charset="0"/>
              </a:rPr>
              <a:t>i-th pass of Bubble Sort</a:t>
            </a:r>
          </a:p>
        </p:txBody>
      </p:sp>
      <p:sp>
        <p:nvSpPr>
          <p:cNvPr id="46084" name="Rectangle 4"/>
          <p:cNvSpPr>
            <a:spLocks noChangeArrowheads="1"/>
          </p:cNvSpPr>
          <p:nvPr/>
        </p:nvSpPr>
        <p:spPr bwMode="auto">
          <a:xfrm>
            <a:off x="762000" y="2147888"/>
            <a:ext cx="4191000" cy="533400"/>
          </a:xfrm>
          <a:prstGeom prst="rect">
            <a:avLst/>
          </a:prstGeom>
          <a:solidFill>
            <a:srgbClr val="CCFFFF"/>
          </a:solidFill>
          <a:ln w="952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t>disordered sequence R[1..n-i+1]</a:t>
            </a:r>
          </a:p>
        </p:txBody>
      </p:sp>
      <p:sp>
        <p:nvSpPr>
          <p:cNvPr id="46085" name="Rectangle 5"/>
          <p:cNvSpPr>
            <a:spLocks noChangeArrowheads="1"/>
          </p:cNvSpPr>
          <p:nvPr/>
        </p:nvSpPr>
        <p:spPr bwMode="auto">
          <a:xfrm>
            <a:off x="4953000" y="2147888"/>
            <a:ext cx="3505200" cy="533400"/>
          </a:xfrm>
          <a:prstGeom prst="rect">
            <a:avLst/>
          </a:prstGeom>
          <a:solidFill>
            <a:srgbClr val="FF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zh-CN" sz="2000"/>
          </a:p>
          <a:p>
            <a:pPr algn="ctr"/>
            <a:r>
              <a:rPr lang="zh-CN" altLang="en-US" sz="2000"/>
              <a:t>Ascending sequence R[n-i+2..n]</a:t>
            </a:r>
            <a:endParaRPr lang="en-US" altLang="zh-CN" sz="2000"/>
          </a:p>
          <a:p>
            <a:pPr algn="ctr"/>
            <a:endParaRPr lang="en-US" altLang="zh-CN" sz="2000"/>
          </a:p>
        </p:txBody>
      </p:sp>
      <p:sp>
        <p:nvSpPr>
          <p:cNvPr id="46086" name="Line 6"/>
          <p:cNvSpPr>
            <a:spLocks noChangeShapeType="1"/>
          </p:cNvSpPr>
          <p:nvPr/>
        </p:nvSpPr>
        <p:spPr bwMode="auto">
          <a:xfrm>
            <a:off x="4800600" y="1614488"/>
            <a:ext cx="0" cy="533400"/>
          </a:xfrm>
          <a:prstGeom prst="line">
            <a:avLst/>
          </a:prstGeom>
          <a:noFill/>
          <a:ln w="19050">
            <a:solidFill>
              <a:schemeClr val="tx1"/>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87" name="Text Box 7"/>
          <p:cNvSpPr txBox="1">
            <a:spLocks noChangeArrowheads="1"/>
          </p:cNvSpPr>
          <p:nvPr/>
        </p:nvSpPr>
        <p:spPr bwMode="auto">
          <a:xfrm>
            <a:off x="4876800" y="1385888"/>
            <a:ext cx="735330"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a:ea typeface="楷体_GB2312" pitchFamily="49" charset="-122"/>
              </a:rPr>
              <a:t>n-i+1</a:t>
            </a:r>
          </a:p>
        </p:txBody>
      </p:sp>
      <p:sp>
        <p:nvSpPr>
          <p:cNvPr id="46088" name="Rectangle 8"/>
          <p:cNvSpPr>
            <a:spLocks noChangeArrowheads="1"/>
          </p:cNvSpPr>
          <p:nvPr/>
        </p:nvSpPr>
        <p:spPr bwMode="auto">
          <a:xfrm>
            <a:off x="762000" y="5119688"/>
            <a:ext cx="3810000" cy="533400"/>
          </a:xfrm>
          <a:prstGeom prst="rect">
            <a:avLst/>
          </a:prstGeom>
          <a:solidFill>
            <a:srgbClr val="CCFFFF"/>
          </a:solidFill>
          <a:ln w="952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t>disordered sequence R[1..n-i]</a:t>
            </a:r>
          </a:p>
        </p:txBody>
      </p:sp>
      <p:sp>
        <p:nvSpPr>
          <p:cNvPr id="46089" name="Rectangle 9"/>
          <p:cNvSpPr>
            <a:spLocks noChangeArrowheads="1"/>
          </p:cNvSpPr>
          <p:nvPr/>
        </p:nvSpPr>
        <p:spPr bwMode="auto">
          <a:xfrm>
            <a:off x="4572000" y="5119688"/>
            <a:ext cx="3886200" cy="533400"/>
          </a:xfrm>
          <a:prstGeom prst="rect">
            <a:avLst/>
          </a:prstGeom>
          <a:solidFill>
            <a:srgbClr val="FF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zh-CN" sz="2000"/>
          </a:p>
          <a:p>
            <a:pPr algn="ctr"/>
            <a:r>
              <a:rPr lang="zh-CN" altLang="en-US" sz="2000"/>
              <a:t>Ascending sequence R[n-i+1..n]</a:t>
            </a:r>
            <a:endParaRPr lang="en-US" altLang="zh-CN" sz="2000"/>
          </a:p>
          <a:p>
            <a:pPr algn="ctr"/>
            <a:endParaRPr lang="en-US" altLang="zh-CN" sz="2000"/>
          </a:p>
        </p:txBody>
      </p:sp>
      <p:sp>
        <p:nvSpPr>
          <p:cNvPr id="46090" name="AutoShape 10"/>
          <p:cNvSpPr>
            <a:spLocks noChangeArrowheads="1"/>
          </p:cNvSpPr>
          <p:nvPr/>
        </p:nvSpPr>
        <p:spPr bwMode="auto">
          <a:xfrm>
            <a:off x="5105400" y="3062288"/>
            <a:ext cx="914400" cy="1828800"/>
          </a:xfrm>
          <a:prstGeom prst="downArrow">
            <a:avLst>
              <a:gd name="adj1" fmla="val 50000"/>
              <a:gd name="adj2" fmla="val 50000"/>
            </a:avLst>
          </a:prstGeom>
          <a:solidFill>
            <a:srgbClr val="00CC99"/>
          </a:solidFill>
          <a:ln w="9525">
            <a:solidFill>
              <a:srgbClr val="0066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sz="2000"/>
          </a:p>
        </p:txBody>
      </p:sp>
      <p:sp>
        <p:nvSpPr>
          <p:cNvPr id="46091" name="Text Box 11"/>
          <p:cNvSpPr txBox="1">
            <a:spLocks noChangeArrowheads="1"/>
          </p:cNvSpPr>
          <p:nvPr/>
        </p:nvSpPr>
        <p:spPr bwMode="auto">
          <a:xfrm>
            <a:off x="212725" y="3214688"/>
            <a:ext cx="4206875" cy="171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zh-CN" altLang="en-US" sz="2400" dirty="0">
                <a:solidFill>
                  <a:srgbClr val="000000"/>
                </a:solidFill>
                <a:latin typeface="Arial" panose="020B0604020202020204" pitchFamily="34" charset="0"/>
                <a:ea typeface="楷体_GB2312" pitchFamily="49" charset="-122"/>
                <a:cs typeface="Arial" panose="020B0604020202020204" pitchFamily="34" charset="0"/>
              </a:rPr>
              <a:t>Compare adjacent records and </a:t>
            </a:r>
            <a:r>
              <a:rPr lang="zh-CN" altLang="en-US" sz="2400" b="1" dirty="0">
                <a:solidFill>
                  <a:srgbClr val="FF0000"/>
                </a:solidFill>
                <a:latin typeface="Arial" panose="020B0604020202020204" pitchFamily="34" charset="0"/>
                <a:ea typeface="楷体_GB2312" pitchFamily="49" charset="-122"/>
                <a:cs typeface="Arial" panose="020B0604020202020204" pitchFamily="34" charset="0"/>
              </a:rPr>
              <a:t>swap the record with the largest key to position n-i+1</a:t>
            </a:r>
          </a:p>
        </p:txBody>
      </p:sp>
      <p:sp>
        <p:nvSpPr>
          <p:cNvPr id="46092" name="AutoShape 12"/>
          <p:cNvSpPr>
            <a:spLocks noChangeArrowheads="1"/>
          </p:cNvSpPr>
          <p:nvPr/>
        </p:nvSpPr>
        <p:spPr bwMode="auto">
          <a:xfrm>
            <a:off x="2743200" y="2681288"/>
            <a:ext cx="533400" cy="304800"/>
          </a:xfrm>
          <a:prstGeom prst="curvedUpArrow">
            <a:avLst>
              <a:gd name="adj1" fmla="val 22288"/>
              <a:gd name="adj2" fmla="val 57288"/>
              <a:gd name="adj3" fmla="val 33333"/>
            </a:avLst>
          </a:prstGeom>
          <a:solidFill>
            <a:schemeClr val="accent1"/>
          </a:solidFill>
          <a:ln w="9525">
            <a:solidFill>
              <a:srgbClr val="00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46093" name="AutoShape 13"/>
          <p:cNvSpPr>
            <a:spLocks noChangeArrowheads="1"/>
          </p:cNvSpPr>
          <p:nvPr/>
        </p:nvSpPr>
        <p:spPr bwMode="auto">
          <a:xfrm>
            <a:off x="4343400" y="2681288"/>
            <a:ext cx="533400" cy="304800"/>
          </a:xfrm>
          <a:prstGeom prst="curvedUpArrow">
            <a:avLst>
              <a:gd name="adj1" fmla="val 22288"/>
              <a:gd name="adj2" fmla="val 57288"/>
              <a:gd name="adj3" fmla="val 33333"/>
            </a:avLst>
          </a:prstGeom>
          <a:solidFill>
            <a:schemeClr val="accent1"/>
          </a:solidFill>
          <a:ln w="9525">
            <a:solidFill>
              <a:srgbClr val="00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46094" name="AutoShape 14"/>
          <p:cNvSpPr>
            <a:spLocks noChangeArrowheads="1"/>
          </p:cNvSpPr>
          <p:nvPr/>
        </p:nvSpPr>
        <p:spPr bwMode="auto">
          <a:xfrm>
            <a:off x="3810000" y="2681288"/>
            <a:ext cx="533400" cy="304800"/>
          </a:xfrm>
          <a:prstGeom prst="curvedUpArrow">
            <a:avLst>
              <a:gd name="adj1" fmla="val 22288"/>
              <a:gd name="adj2" fmla="val 57288"/>
              <a:gd name="adj3" fmla="val 33333"/>
            </a:avLst>
          </a:prstGeom>
          <a:solidFill>
            <a:schemeClr val="accent1"/>
          </a:solidFill>
          <a:ln w="9525">
            <a:solidFill>
              <a:srgbClr val="00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46095" name="AutoShape 15"/>
          <p:cNvSpPr>
            <a:spLocks noChangeArrowheads="1"/>
          </p:cNvSpPr>
          <p:nvPr/>
        </p:nvSpPr>
        <p:spPr bwMode="auto">
          <a:xfrm>
            <a:off x="3276600" y="2681288"/>
            <a:ext cx="533400" cy="304800"/>
          </a:xfrm>
          <a:prstGeom prst="curvedUpArrow">
            <a:avLst>
              <a:gd name="adj1" fmla="val 22288"/>
              <a:gd name="adj2" fmla="val 57288"/>
              <a:gd name="adj3" fmla="val 33333"/>
            </a:avLst>
          </a:prstGeom>
          <a:solidFill>
            <a:schemeClr val="accent1"/>
          </a:solidFill>
          <a:ln w="9525">
            <a:solidFill>
              <a:srgbClr val="00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46096" name="AutoShape 16"/>
          <p:cNvSpPr>
            <a:spLocks noChangeArrowheads="1"/>
          </p:cNvSpPr>
          <p:nvPr/>
        </p:nvSpPr>
        <p:spPr bwMode="auto">
          <a:xfrm>
            <a:off x="2286000" y="2681288"/>
            <a:ext cx="533400" cy="304800"/>
          </a:xfrm>
          <a:prstGeom prst="curvedUpArrow">
            <a:avLst>
              <a:gd name="adj1" fmla="val 22288"/>
              <a:gd name="adj2" fmla="val 57288"/>
              <a:gd name="adj3" fmla="val 33333"/>
            </a:avLst>
          </a:prstGeom>
          <a:solidFill>
            <a:schemeClr val="accent1"/>
          </a:solidFill>
          <a:ln w="9525">
            <a:solidFill>
              <a:srgbClr val="00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46097" name="AutoShape 17"/>
          <p:cNvSpPr>
            <a:spLocks noChangeArrowheads="1"/>
          </p:cNvSpPr>
          <p:nvPr/>
        </p:nvSpPr>
        <p:spPr bwMode="auto">
          <a:xfrm>
            <a:off x="1828800" y="2681288"/>
            <a:ext cx="533400" cy="304800"/>
          </a:xfrm>
          <a:prstGeom prst="curvedUpArrow">
            <a:avLst>
              <a:gd name="adj1" fmla="val 22288"/>
              <a:gd name="adj2" fmla="val 57288"/>
              <a:gd name="adj3" fmla="val 33333"/>
            </a:avLst>
          </a:prstGeom>
          <a:solidFill>
            <a:schemeClr val="accent1"/>
          </a:solidFill>
          <a:ln w="9525">
            <a:solidFill>
              <a:srgbClr val="00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46098" name="AutoShape 18"/>
          <p:cNvSpPr>
            <a:spLocks noChangeArrowheads="1"/>
          </p:cNvSpPr>
          <p:nvPr/>
        </p:nvSpPr>
        <p:spPr bwMode="auto">
          <a:xfrm>
            <a:off x="1371600" y="2681288"/>
            <a:ext cx="533400" cy="304800"/>
          </a:xfrm>
          <a:prstGeom prst="curvedUpArrow">
            <a:avLst>
              <a:gd name="adj1" fmla="val 22288"/>
              <a:gd name="adj2" fmla="val 57288"/>
              <a:gd name="adj3" fmla="val 33333"/>
            </a:avLst>
          </a:prstGeom>
          <a:solidFill>
            <a:schemeClr val="accent1"/>
          </a:solidFill>
          <a:ln w="9525">
            <a:solidFill>
              <a:srgbClr val="00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46099" name="AutoShape 19"/>
          <p:cNvSpPr>
            <a:spLocks noChangeArrowheads="1"/>
          </p:cNvSpPr>
          <p:nvPr/>
        </p:nvSpPr>
        <p:spPr bwMode="auto">
          <a:xfrm>
            <a:off x="838200" y="2681288"/>
            <a:ext cx="533400" cy="304800"/>
          </a:xfrm>
          <a:prstGeom prst="curvedUpArrow">
            <a:avLst>
              <a:gd name="adj1" fmla="val 22288"/>
              <a:gd name="adj2" fmla="val 57288"/>
              <a:gd name="adj3" fmla="val 33333"/>
            </a:avLst>
          </a:prstGeom>
          <a:solidFill>
            <a:schemeClr val="accent1"/>
          </a:solidFill>
          <a:ln w="9525">
            <a:solidFill>
              <a:srgbClr val="00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46100" name="Line 20"/>
          <p:cNvSpPr>
            <a:spLocks noChangeShapeType="1"/>
          </p:cNvSpPr>
          <p:nvPr/>
        </p:nvSpPr>
        <p:spPr bwMode="auto">
          <a:xfrm>
            <a:off x="4953000" y="2681288"/>
            <a:ext cx="0" cy="2971800"/>
          </a:xfrm>
          <a:prstGeom prst="line">
            <a:avLst/>
          </a:prstGeom>
          <a:noFill/>
          <a:ln w="9525" cap="rnd">
            <a:solidFill>
              <a:srgbClr val="FF66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01" name="Line 21"/>
          <p:cNvSpPr>
            <a:spLocks noChangeShapeType="1"/>
          </p:cNvSpPr>
          <p:nvPr/>
        </p:nvSpPr>
        <p:spPr bwMode="auto">
          <a:xfrm>
            <a:off x="4572000" y="2147888"/>
            <a:ext cx="0" cy="2971800"/>
          </a:xfrm>
          <a:prstGeom prst="line">
            <a:avLst/>
          </a:prstGeom>
          <a:noFill/>
          <a:ln w="9525" cap="rnd">
            <a:solidFill>
              <a:srgbClr val="FF66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52</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6082"/>
                                        </p:tgtEl>
                                        <p:attrNameLst>
                                          <p:attrName>style.visibility</p:attrName>
                                        </p:attrNameLst>
                                      </p:cBhvr>
                                      <p:to>
                                        <p:strVal val="visible"/>
                                      </p:to>
                                    </p:set>
                                    <p:animEffect transition="in" filter="wipe(left)">
                                      <p:cBhvr>
                                        <p:cTn id="7" dur="500"/>
                                        <p:tgtEl>
                                          <p:spTgt spid="4608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6084"/>
                                        </p:tgtEl>
                                        <p:attrNameLst>
                                          <p:attrName>style.visibility</p:attrName>
                                        </p:attrNameLst>
                                      </p:cBhvr>
                                      <p:to>
                                        <p:strVal val="visible"/>
                                      </p:to>
                                    </p:set>
                                    <p:animEffect transition="in" filter="wipe(left)">
                                      <p:cBhvr>
                                        <p:cTn id="11" dur="500"/>
                                        <p:tgtEl>
                                          <p:spTgt spid="46084"/>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46085"/>
                                        </p:tgtEl>
                                        <p:attrNameLst>
                                          <p:attrName>style.visibility</p:attrName>
                                        </p:attrNameLst>
                                      </p:cBhvr>
                                      <p:to>
                                        <p:strVal val="visible"/>
                                      </p:to>
                                    </p:set>
                                    <p:animEffect transition="in" filter="wipe(left)">
                                      <p:cBhvr>
                                        <p:cTn id="15" dur="500"/>
                                        <p:tgtEl>
                                          <p:spTgt spid="46085"/>
                                        </p:tgtEl>
                                      </p:cBhvr>
                                    </p:animEffect>
                                  </p:childTnLst>
                                </p:cTn>
                              </p:par>
                            </p:childTnLst>
                          </p:cTn>
                        </p:par>
                        <p:par>
                          <p:cTn id="16" fill="hold">
                            <p:stCondLst>
                              <p:cond delay="1500"/>
                            </p:stCondLst>
                            <p:childTnLst>
                              <p:par>
                                <p:cTn id="17" presetID="1" presetClass="entr" presetSubtype="0" fill="hold" grpId="0" nodeType="afterEffect">
                                  <p:stCondLst>
                                    <p:cond delay="0"/>
                                  </p:stCondLst>
                                  <p:childTnLst>
                                    <p:set>
                                      <p:cBhvr>
                                        <p:cTn id="18" dur="1" fill="hold">
                                          <p:stCondLst>
                                            <p:cond delay="499"/>
                                          </p:stCondLst>
                                        </p:cTn>
                                        <p:tgtEl>
                                          <p:spTgt spid="46086"/>
                                        </p:tgtEl>
                                        <p:attrNameLst>
                                          <p:attrName>style.visibility</p:attrName>
                                        </p:attrNameLst>
                                      </p:cBhvr>
                                      <p:to>
                                        <p:strVal val="visible"/>
                                      </p:to>
                                    </p:set>
                                  </p:childTnLst>
                                </p:cTn>
                              </p:par>
                            </p:childTnLst>
                          </p:cTn>
                        </p:par>
                        <p:par>
                          <p:cTn id="19" fill="hold">
                            <p:stCondLst>
                              <p:cond delay="2000"/>
                            </p:stCondLst>
                            <p:childTnLst>
                              <p:par>
                                <p:cTn id="20" presetID="1" presetClass="entr" presetSubtype="0" fill="hold" grpId="0" nodeType="afterEffect">
                                  <p:stCondLst>
                                    <p:cond delay="0"/>
                                  </p:stCondLst>
                                  <p:childTnLst>
                                    <p:set>
                                      <p:cBhvr>
                                        <p:cTn id="21" dur="1" fill="hold">
                                          <p:stCondLst>
                                            <p:cond delay="499"/>
                                          </p:stCondLst>
                                        </p:cTn>
                                        <p:tgtEl>
                                          <p:spTgt spid="4608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 presetClass="entr" presetSubtype="2" fill="hold" grpId="0" nodeType="clickEffect">
                                  <p:stCondLst>
                                    <p:cond delay="0"/>
                                  </p:stCondLst>
                                  <p:childTnLst>
                                    <p:set>
                                      <p:cBhvr>
                                        <p:cTn id="25" dur="1" fill="hold">
                                          <p:stCondLst>
                                            <p:cond delay="0"/>
                                          </p:stCondLst>
                                        </p:cTn>
                                        <p:tgtEl>
                                          <p:spTgt spid="46083"/>
                                        </p:tgtEl>
                                        <p:attrNameLst>
                                          <p:attrName>style.visibility</p:attrName>
                                        </p:attrNameLst>
                                      </p:cBhvr>
                                      <p:to>
                                        <p:strVal val="visible"/>
                                      </p:to>
                                    </p:set>
                                    <p:anim calcmode="lin" valueType="num">
                                      <p:cBhvr additive="base">
                                        <p:cTn id="26" dur="500" fill="hold"/>
                                        <p:tgtEl>
                                          <p:spTgt spid="46083"/>
                                        </p:tgtEl>
                                        <p:attrNameLst>
                                          <p:attrName>ppt_x</p:attrName>
                                        </p:attrNameLst>
                                      </p:cBhvr>
                                      <p:tavLst>
                                        <p:tav tm="0">
                                          <p:val>
                                            <p:strVal val="1+#ppt_w/2"/>
                                          </p:val>
                                        </p:tav>
                                        <p:tav tm="100000">
                                          <p:val>
                                            <p:strVal val="#ppt_x"/>
                                          </p:val>
                                        </p:tav>
                                      </p:tavLst>
                                    </p:anim>
                                    <p:anim calcmode="lin" valueType="num">
                                      <p:cBhvr additive="base">
                                        <p:cTn id="27" dur="500" fill="hold"/>
                                        <p:tgtEl>
                                          <p:spTgt spid="46083"/>
                                        </p:tgtEl>
                                        <p:attrNameLst>
                                          <p:attrName>ppt_y</p:attrName>
                                        </p:attrNameLst>
                                      </p:cBhvr>
                                      <p:tavLst>
                                        <p:tav tm="0">
                                          <p:val>
                                            <p:strVal val="#ppt_y"/>
                                          </p:val>
                                        </p:tav>
                                        <p:tav tm="100000">
                                          <p:val>
                                            <p:strVal val="#ppt_y"/>
                                          </p:val>
                                        </p:tav>
                                      </p:tavLst>
                                    </p:anim>
                                  </p:childTnLst>
                                </p:cTn>
                              </p:par>
                            </p:childTnLst>
                          </p:cTn>
                        </p:par>
                        <p:par>
                          <p:cTn id="28" fill="hold">
                            <p:stCondLst>
                              <p:cond delay="500"/>
                            </p:stCondLst>
                            <p:childTnLst>
                              <p:par>
                                <p:cTn id="29" presetID="17" presetClass="entr" presetSubtype="1" fill="hold" grpId="0" nodeType="afterEffect">
                                  <p:stCondLst>
                                    <p:cond delay="0"/>
                                  </p:stCondLst>
                                  <p:childTnLst>
                                    <p:set>
                                      <p:cBhvr>
                                        <p:cTn id="30" dur="1" fill="hold">
                                          <p:stCondLst>
                                            <p:cond delay="0"/>
                                          </p:stCondLst>
                                        </p:cTn>
                                        <p:tgtEl>
                                          <p:spTgt spid="46090"/>
                                        </p:tgtEl>
                                        <p:attrNameLst>
                                          <p:attrName>style.visibility</p:attrName>
                                        </p:attrNameLst>
                                      </p:cBhvr>
                                      <p:to>
                                        <p:strVal val="visible"/>
                                      </p:to>
                                    </p:set>
                                    <p:anim calcmode="lin" valueType="num">
                                      <p:cBhvr>
                                        <p:cTn id="31" dur="500" fill="hold"/>
                                        <p:tgtEl>
                                          <p:spTgt spid="46090"/>
                                        </p:tgtEl>
                                        <p:attrNameLst>
                                          <p:attrName>ppt_x</p:attrName>
                                        </p:attrNameLst>
                                      </p:cBhvr>
                                      <p:tavLst>
                                        <p:tav tm="0">
                                          <p:val>
                                            <p:strVal val="#ppt_x"/>
                                          </p:val>
                                        </p:tav>
                                        <p:tav tm="100000">
                                          <p:val>
                                            <p:strVal val="#ppt_x"/>
                                          </p:val>
                                        </p:tav>
                                      </p:tavLst>
                                    </p:anim>
                                    <p:anim calcmode="lin" valueType="num">
                                      <p:cBhvr>
                                        <p:cTn id="32" dur="500" fill="hold"/>
                                        <p:tgtEl>
                                          <p:spTgt spid="46090"/>
                                        </p:tgtEl>
                                        <p:attrNameLst>
                                          <p:attrName>ppt_y</p:attrName>
                                        </p:attrNameLst>
                                      </p:cBhvr>
                                      <p:tavLst>
                                        <p:tav tm="0">
                                          <p:val>
                                            <p:strVal val="#ppt_y-#ppt_h/2"/>
                                          </p:val>
                                        </p:tav>
                                        <p:tav tm="100000">
                                          <p:val>
                                            <p:strVal val="#ppt_y"/>
                                          </p:val>
                                        </p:tav>
                                      </p:tavLst>
                                    </p:anim>
                                    <p:anim calcmode="lin" valueType="num">
                                      <p:cBhvr>
                                        <p:cTn id="33" dur="500" fill="hold"/>
                                        <p:tgtEl>
                                          <p:spTgt spid="46090"/>
                                        </p:tgtEl>
                                        <p:attrNameLst>
                                          <p:attrName>ppt_w</p:attrName>
                                        </p:attrNameLst>
                                      </p:cBhvr>
                                      <p:tavLst>
                                        <p:tav tm="0">
                                          <p:val>
                                            <p:strVal val="#ppt_w"/>
                                          </p:val>
                                        </p:tav>
                                        <p:tav tm="100000">
                                          <p:val>
                                            <p:strVal val="#ppt_w"/>
                                          </p:val>
                                        </p:tav>
                                      </p:tavLst>
                                    </p:anim>
                                    <p:anim calcmode="lin" valueType="num">
                                      <p:cBhvr>
                                        <p:cTn id="34" dur="500" fill="hold"/>
                                        <p:tgtEl>
                                          <p:spTgt spid="46090"/>
                                        </p:tgtEl>
                                        <p:attrNameLst>
                                          <p:attrName>ppt_h</p:attrName>
                                        </p:attrNameLst>
                                      </p:cBhvr>
                                      <p:tavLst>
                                        <p:tav tm="0">
                                          <p:val>
                                            <p:fltVal val="0"/>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18" presetClass="entr" presetSubtype="6" fill="hold" grpId="0" nodeType="clickEffect">
                                  <p:stCondLst>
                                    <p:cond delay="0"/>
                                  </p:stCondLst>
                                  <p:childTnLst>
                                    <p:set>
                                      <p:cBhvr>
                                        <p:cTn id="38" dur="1" fill="hold">
                                          <p:stCondLst>
                                            <p:cond delay="0"/>
                                          </p:stCondLst>
                                        </p:cTn>
                                        <p:tgtEl>
                                          <p:spTgt spid="46091"/>
                                        </p:tgtEl>
                                        <p:attrNameLst>
                                          <p:attrName>style.visibility</p:attrName>
                                        </p:attrNameLst>
                                      </p:cBhvr>
                                      <p:to>
                                        <p:strVal val="visible"/>
                                      </p:to>
                                    </p:set>
                                    <p:animEffect transition="in" filter="strips(downRight)">
                                      <p:cBhvr>
                                        <p:cTn id="39" dur="500"/>
                                        <p:tgtEl>
                                          <p:spTgt spid="46091"/>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46099"/>
                                        </p:tgtEl>
                                        <p:attrNameLst>
                                          <p:attrName>style.visibility</p:attrName>
                                        </p:attrNameLst>
                                      </p:cBhvr>
                                      <p:to>
                                        <p:strVal val="visible"/>
                                      </p:to>
                                    </p:set>
                                    <p:animEffect transition="in" filter="wipe(left)">
                                      <p:cBhvr>
                                        <p:cTn id="44" dur="500"/>
                                        <p:tgtEl>
                                          <p:spTgt spid="46099"/>
                                        </p:tgtEl>
                                      </p:cBhvr>
                                    </p:animEffect>
                                  </p:childTnLst>
                                  <p:subTnLst>
                                    <p:set>
                                      <p:cBhvr override="childStyle">
                                        <p:cTn dur="1" fill="hold" display="0" masterRel="nextClick" afterEffect="1"/>
                                        <p:tgtEl>
                                          <p:spTgt spid="46099"/>
                                        </p:tgtEl>
                                        <p:attrNameLst>
                                          <p:attrName>style.visibility</p:attrName>
                                        </p:attrNameLst>
                                      </p:cBhvr>
                                      <p:to>
                                        <p:strVal val="hidden"/>
                                      </p:to>
                                    </p:set>
                                  </p:sub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46098"/>
                                        </p:tgtEl>
                                        <p:attrNameLst>
                                          <p:attrName>style.visibility</p:attrName>
                                        </p:attrNameLst>
                                      </p:cBhvr>
                                      <p:to>
                                        <p:strVal val="visible"/>
                                      </p:to>
                                    </p:set>
                                    <p:animEffect transition="in" filter="wipe(left)">
                                      <p:cBhvr>
                                        <p:cTn id="49" dur="500"/>
                                        <p:tgtEl>
                                          <p:spTgt spid="46098"/>
                                        </p:tgtEl>
                                      </p:cBhvr>
                                    </p:animEffect>
                                  </p:childTnLst>
                                  <p:subTnLst>
                                    <p:set>
                                      <p:cBhvr override="childStyle">
                                        <p:cTn dur="1" fill="hold" display="0" masterRel="nextClick" afterEffect="1"/>
                                        <p:tgtEl>
                                          <p:spTgt spid="46098"/>
                                        </p:tgtEl>
                                        <p:attrNameLst>
                                          <p:attrName>style.visibility</p:attrName>
                                        </p:attrNameLst>
                                      </p:cBhvr>
                                      <p:to>
                                        <p:strVal val="hidden"/>
                                      </p:to>
                                    </p:set>
                                  </p:sub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46097"/>
                                        </p:tgtEl>
                                        <p:attrNameLst>
                                          <p:attrName>style.visibility</p:attrName>
                                        </p:attrNameLst>
                                      </p:cBhvr>
                                      <p:to>
                                        <p:strVal val="visible"/>
                                      </p:to>
                                    </p:set>
                                    <p:animEffect transition="in" filter="wipe(left)">
                                      <p:cBhvr>
                                        <p:cTn id="54" dur="500"/>
                                        <p:tgtEl>
                                          <p:spTgt spid="46097"/>
                                        </p:tgtEl>
                                      </p:cBhvr>
                                    </p:animEffect>
                                  </p:childTnLst>
                                  <p:subTnLst>
                                    <p:set>
                                      <p:cBhvr override="childStyle">
                                        <p:cTn dur="1" fill="hold" display="0" masterRel="nextClick" afterEffect="1"/>
                                        <p:tgtEl>
                                          <p:spTgt spid="46097"/>
                                        </p:tgtEl>
                                        <p:attrNameLst>
                                          <p:attrName>style.visibility</p:attrName>
                                        </p:attrNameLst>
                                      </p:cBhvr>
                                      <p:to>
                                        <p:strVal val="hidden"/>
                                      </p:to>
                                    </p:set>
                                  </p:sub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46096"/>
                                        </p:tgtEl>
                                        <p:attrNameLst>
                                          <p:attrName>style.visibility</p:attrName>
                                        </p:attrNameLst>
                                      </p:cBhvr>
                                      <p:to>
                                        <p:strVal val="visible"/>
                                      </p:to>
                                    </p:set>
                                    <p:animEffect transition="in" filter="wipe(left)">
                                      <p:cBhvr>
                                        <p:cTn id="59" dur="500"/>
                                        <p:tgtEl>
                                          <p:spTgt spid="46096"/>
                                        </p:tgtEl>
                                      </p:cBhvr>
                                    </p:animEffect>
                                  </p:childTnLst>
                                  <p:subTnLst>
                                    <p:set>
                                      <p:cBhvr override="childStyle">
                                        <p:cTn dur="1" fill="hold" display="0" masterRel="nextClick" afterEffect="1"/>
                                        <p:tgtEl>
                                          <p:spTgt spid="46096"/>
                                        </p:tgtEl>
                                        <p:attrNameLst>
                                          <p:attrName>style.visibility</p:attrName>
                                        </p:attrNameLst>
                                      </p:cBhvr>
                                      <p:to>
                                        <p:strVal val="hidden"/>
                                      </p:to>
                                    </p:set>
                                  </p:sub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46092"/>
                                        </p:tgtEl>
                                        <p:attrNameLst>
                                          <p:attrName>style.visibility</p:attrName>
                                        </p:attrNameLst>
                                      </p:cBhvr>
                                      <p:to>
                                        <p:strVal val="visible"/>
                                      </p:to>
                                    </p:set>
                                    <p:animEffect transition="in" filter="wipe(left)">
                                      <p:cBhvr>
                                        <p:cTn id="64" dur="500"/>
                                        <p:tgtEl>
                                          <p:spTgt spid="46092"/>
                                        </p:tgtEl>
                                      </p:cBhvr>
                                    </p:animEffect>
                                  </p:childTnLst>
                                  <p:subTnLst>
                                    <p:set>
                                      <p:cBhvr override="childStyle">
                                        <p:cTn dur="1" fill="hold" display="0" masterRel="nextClick" afterEffect="1"/>
                                        <p:tgtEl>
                                          <p:spTgt spid="46092"/>
                                        </p:tgtEl>
                                        <p:attrNameLst>
                                          <p:attrName>style.visibility</p:attrName>
                                        </p:attrNameLst>
                                      </p:cBhvr>
                                      <p:to>
                                        <p:strVal val="hidden"/>
                                      </p:to>
                                    </p:set>
                                  </p:sub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46095"/>
                                        </p:tgtEl>
                                        <p:attrNameLst>
                                          <p:attrName>style.visibility</p:attrName>
                                        </p:attrNameLst>
                                      </p:cBhvr>
                                      <p:to>
                                        <p:strVal val="visible"/>
                                      </p:to>
                                    </p:set>
                                    <p:animEffect transition="in" filter="wipe(left)">
                                      <p:cBhvr>
                                        <p:cTn id="69" dur="500"/>
                                        <p:tgtEl>
                                          <p:spTgt spid="46095"/>
                                        </p:tgtEl>
                                      </p:cBhvr>
                                    </p:animEffect>
                                  </p:childTnLst>
                                  <p:subTnLst>
                                    <p:set>
                                      <p:cBhvr override="childStyle">
                                        <p:cTn dur="1" fill="hold" display="0" masterRel="nextClick" afterEffect="1"/>
                                        <p:tgtEl>
                                          <p:spTgt spid="46095"/>
                                        </p:tgtEl>
                                        <p:attrNameLst>
                                          <p:attrName>style.visibility</p:attrName>
                                        </p:attrNameLst>
                                      </p:cBhvr>
                                      <p:to>
                                        <p:strVal val="hidden"/>
                                      </p:to>
                                    </p:set>
                                  </p:sub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46094"/>
                                        </p:tgtEl>
                                        <p:attrNameLst>
                                          <p:attrName>style.visibility</p:attrName>
                                        </p:attrNameLst>
                                      </p:cBhvr>
                                      <p:to>
                                        <p:strVal val="visible"/>
                                      </p:to>
                                    </p:set>
                                    <p:animEffect transition="in" filter="wipe(left)">
                                      <p:cBhvr>
                                        <p:cTn id="74" dur="500"/>
                                        <p:tgtEl>
                                          <p:spTgt spid="46094"/>
                                        </p:tgtEl>
                                      </p:cBhvr>
                                    </p:animEffect>
                                  </p:childTnLst>
                                  <p:subTnLst>
                                    <p:set>
                                      <p:cBhvr override="childStyle">
                                        <p:cTn dur="1" fill="hold" display="0" masterRel="nextClick" afterEffect="1"/>
                                        <p:tgtEl>
                                          <p:spTgt spid="46094"/>
                                        </p:tgtEl>
                                        <p:attrNameLst>
                                          <p:attrName>style.visibility</p:attrName>
                                        </p:attrNameLst>
                                      </p:cBhvr>
                                      <p:to>
                                        <p:strVal val="hidden"/>
                                      </p:to>
                                    </p:set>
                                  </p:sub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46093"/>
                                        </p:tgtEl>
                                        <p:attrNameLst>
                                          <p:attrName>style.visibility</p:attrName>
                                        </p:attrNameLst>
                                      </p:cBhvr>
                                      <p:to>
                                        <p:strVal val="visible"/>
                                      </p:to>
                                    </p:set>
                                    <p:animEffect transition="in" filter="wipe(left)">
                                      <p:cBhvr>
                                        <p:cTn id="79" dur="500"/>
                                        <p:tgtEl>
                                          <p:spTgt spid="46093"/>
                                        </p:tgtEl>
                                      </p:cBhvr>
                                    </p:animEffect>
                                  </p:childTnLst>
                                </p:cTn>
                              </p:par>
                            </p:childTnLst>
                          </p:cTn>
                        </p:par>
                        <p:par>
                          <p:cTn id="80" fill="hold">
                            <p:stCondLst>
                              <p:cond delay="500"/>
                            </p:stCondLst>
                            <p:childTnLst>
                              <p:par>
                                <p:cTn id="81" presetID="22" presetClass="entr" presetSubtype="8" fill="hold" grpId="0" nodeType="afterEffect">
                                  <p:stCondLst>
                                    <p:cond delay="0"/>
                                  </p:stCondLst>
                                  <p:childTnLst>
                                    <p:set>
                                      <p:cBhvr>
                                        <p:cTn id="82" dur="1" fill="hold">
                                          <p:stCondLst>
                                            <p:cond delay="0"/>
                                          </p:stCondLst>
                                        </p:cTn>
                                        <p:tgtEl>
                                          <p:spTgt spid="46088"/>
                                        </p:tgtEl>
                                        <p:attrNameLst>
                                          <p:attrName>style.visibility</p:attrName>
                                        </p:attrNameLst>
                                      </p:cBhvr>
                                      <p:to>
                                        <p:strVal val="visible"/>
                                      </p:to>
                                    </p:set>
                                    <p:animEffect transition="in" filter="wipe(left)">
                                      <p:cBhvr>
                                        <p:cTn id="83" dur="500"/>
                                        <p:tgtEl>
                                          <p:spTgt spid="46088"/>
                                        </p:tgtEl>
                                      </p:cBhvr>
                                    </p:animEffect>
                                  </p:childTnLst>
                                </p:cTn>
                              </p:par>
                            </p:childTnLst>
                          </p:cTn>
                        </p:par>
                        <p:par>
                          <p:cTn id="84" fill="hold">
                            <p:stCondLst>
                              <p:cond delay="1000"/>
                            </p:stCondLst>
                            <p:childTnLst>
                              <p:par>
                                <p:cTn id="85" presetID="22" presetClass="entr" presetSubtype="8" fill="hold" grpId="0" nodeType="afterEffect">
                                  <p:stCondLst>
                                    <p:cond delay="0"/>
                                  </p:stCondLst>
                                  <p:childTnLst>
                                    <p:set>
                                      <p:cBhvr>
                                        <p:cTn id="86" dur="1" fill="hold">
                                          <p:stCondLst>
                                            <p:cond delay="0"/>
                                          </p:stCondLst>
                                        </p:cTn>
                                        <p:tgtEl>
                                          <p:spTgt spid="46089"/>
                                        </p:tgtEl>
                                        <p:attrNameLst>
                                          <p:attrName>style.visibility</p:attrName>
                                        </p:attrNameLst>
                                      </p:cBhvr>
                                      <p:to>
                                        <p:strVal val="visible"/>
                                      </p:to>
                                    </p:set>
                                    <p:animEffect transition="in" filter="wipe(left)">
                                      <p:cBhvr>
                                        <p:cTn id="87" dur="500"/>
                                        <p:tgtEl>
                                          <p:spTgt spid="46089"/>
                                        </p:tgtEl>
                                      </p:cBhvr>
                                    </p:animEffect>
                                  </p:childTnLst>
                                </p:cTn>
                              </p:par>
                            </p:childTnLst>
                          </p:cTn>
                        </p:par>
                        <p:par>
                          <p:cTn id="88" fill="hold">
                            <p:stCondLst>
                              <p:cond delay="1500"/>
                            </p:stCondLst>
                            <p:childTnLst>
                              <p:par>
                                <p:cTn id="89" presetID="17" presetClass="entr" presetSubtype="1" fill="hold" grpId="0" nodeType="afterEffect">
                                  <p:stCondLst>
                                    <p:cond delay="0"/>
                                  </p:stCondLst>
                                  <p:childTnLst>
                                    <p:set>
                                      <p:cBhvr>
                                        <p:cTn id="90" dur="1" fill="hold">
                                          <p:stCondLst>
                                            <p:cond delay="0"/>
                                          </p:stCondLst>
                                        </p:cTn>
                                        <p:tgtEl>
                                          <p:spTgt spid="46100"/>
                                        </p:tgtEl>
                                        <p:attrNameLst>
                                          <p:attrName>style.visibility</p:attrName>
                                        </p:attrNameLst>
                                      </p:cBhvr>
                                      <p:to>
                                        <p:strVal val="visible"/>
                                      </p:to>
                                    </p:set>
                                    <p:anim calcmode="lin" valueType="num">
                                      <p:cBhvr>
                                        <p:cTn id="91" dur="500" fill="hold"/>
                                        <p:tgtEl>
                                          <p:spTgt spid="46100"/>
                                        </p:tgtEl>
                                        <p:attrNameLst>
                                          <p:attrName>ppt_x</p:attrName>
                                        </p:attrNameLst>
                                      </p:cBhvr>
                                      <p:tavLst>
                                        <p:tav tm="0">
                                          <p:val>
                                            <p:strVal val="#ppt_x"/>
                                          </p:val>
                                        </p:tav>
                                        <p:tav tm="100000">
                                          <p:val>
                                            <p:strVal val="#ppt_x"/>
                                          </p:val>
                                        </p:tav>
                                      </p:tavLst>
                                    </p:anim>
                                    <p:anim calcmode="lin" valueType="num">
                                      <p:cBhvr>
                                        <p:cTn id="92" dur="500" fill="hold"/>
                                        <p:tgtEl>
                                          <p:spTgt spid="46100"/>
                                        </p:tgtEl>
                                        <p:attrNameLst>
                                          <p:attrName>ppt_y</p:attrName>
                                        </p:attrNameLst>
                                      </p:cBhvr>
                                      <p:tavLst>
                                        <p:tav tm="0">
                                          <p:val>
                                            <p:strVal val="#ppt_y-#ppt_h/2"/>
                                          </p:val>
                                        </p:tav>
                                        <p:tav tm="100000">
                                          <p:val>
                                            <p:strVal val="#ppt_y"/>
                                          </p:val>
                                        </p:tav>
                                      </p:tavLst>
                                    </p:anim>
                                    <p:anim calcmode="lin" valueType="num">
                                      <p:cBhvr>
                                        <p:cTn id="93" dur="500" fill="hold"/>
                                        <p:tgtEl>
                                          <p:spTgt spid="46100"/>
                                        </p:tgtEl>
                                        <p:attrNameLst>
                                          <p:attrName>ppt_w</p:attrName>
                                        </p:attrNameLst>
                                      </p:cBhvr>
                                      <p:tavLst>
                                        <p:tav tm="0">
                                          <p:val>
                                            <p:strVal val="#ppt_w"/>
                                          </p:val>
                                        </p:tav>
                                        <p:tav tm="100000">
                                          <p:val>
                                            <p:strVal val="#ppt_w"/>
                                          </p:val>
                                        </p:tav>
                                      </p:tavLst>
                                    </p:anim>
                                    <p:anim calcmode="lin" valueType="num">
                                      <p:cBhvr>
                                        <p:cTn id="94" dur="500" fill="hold"/>
                                        <p:tgtEl>
                                          <p:spTgt spid="46100"/>
                                        </p:tgtEl>
                                        <p:attrNameLst>
                                          <p:attrName>ppt_h</p:attrName>
                                        </p:attrNameLst>
                                      </p:cBhvr>
                                      <p:tavLst>
                                        <p:tav tm="0">
                                          <p:val>
                                            <p:fltVal val="0"/>
                                          </p:val>
                                        </p:tav>
                                        <p:tav tm="100000">
                                          <p:val>
                                            <p:strVal val="#ppt_h"/>
                                          </p:val>
                                        </p:tav>
                                      </p:tavLst>
                                    </p:anim>
                                  </p:childTnLst>
                                </p:cTn>
                              </p:par>
                            </p:childTnLst>
                          </p:cTn>
                        </p:par>
                        <p:par>
                          <p:cTn id="95" fill="hold">
                            <p:stCondLst>
                              <p:cond delay="2000"/>
                            </p:stCondLst>
                            <p:childTnLst>
                              <p:par>
                                <p:cTn id="96" presetID="17" presetClass="entr" presetSubtype="1" fill="hold" grpId="0" nodeType="afterEffect">
                                  <p:stCondLst>
                                    <p:cond delay="0"/>
                                  </p:stCondLst>
                                  <p:childTnLst>
                                    <p:set>
                                      <p:cBhvr>
                                        <p:cTn id="97" dur="1" fill="hold">
                                          <p:stCondLst>
                                            <p:cond delay="0"/>
                                          </p:stCondLst>
                                        </p:cTn>
                                        <p:tgtEl>
                                          <p:spTgt spid="46101"/>
                                        </p:tgtEl>
                                        <p:attrNameLst>
                                          <p:attrName>style.visibility</p:attrName>
                                        </p:attrNameLst>
                                      </p:cBhvr>
                                      <p:to>
                                        <p:strVal val="visible"/>
                                      </p:to>
                                    </p:set>
                                    <p:anim calcmode="lin" valueType="num">
                                      <p:cBhvr>
                                        <p:cTn id="98" dur="500" fill="hold"/>
                                        <p:tgtEl>
                                          <p:spTgt spid="46101"/>
                                        </p:tgtEl>
                                        <p:attrNameLst>
                                          <p:attrName>ppt_x</p:attrName>
                                        </p:attrNameLst>
                                      </p:cBhvr>
                                      <p:tavLst>
                                        <p:tav tm="0">
                                          <p:val>
                                            <p:strVal val="#ppt_x"/>
                                          </p:val>
                                        </p:tav>
                                        <p:tav tm="100000">
                                          <p:val>
                                            <p:strVal val="#ppt_x"/>
                                          </p:val>
                                        </p:tav>
                                      </p:tavLst>
                                    </p:anim>
                                    <p:anim calcmode="lin" valueType="num">
                                      <p:cBhvr>
                                        <p:cTn id="99" dur="500" fill="hold"/>
                                        <p:tgtEl>
                                          <p:spTgt spid="46101"/>
                                        </p:tgtEl>
                                        <p:attrNameLst>
                                          <p:attrName>ppt_y</p:attrName>
                                        </p:attrNameLst>
                                      </p:cBhvr>
                                      <p:tavLst>
                                        <p:tav tm="0">
                                          <p:val>
                                            <p:strVal val="#ppt_y-#ppt_h/2"/>
                                          </p:val>
                                        </p:tav>
                                        <p:tav tm="100000">
                                          <p:val>
                                            <p:strVal val="#ppt_y"/>
                                          </p:val>
                                        </p:tav>
                                      </p:tavLst>
                                    </p:anim>
                                    <p:anim calcmode="lin" valueType="num">
                                      <p:cBhvr>
                                        <p:cTn id="100" dur="500" fill="hold"/>
                                        <p:tgtEl>
                                          <p:spTgt spid="46101"/>
                                        </p:tgtEl>
                                        <p:attrNameLst>
                                          <p:attrName>ppt_w</p:attrName>
                                        </p:attrNameLst>
                                      </p:cBhvr>
                                      <p:tavLst>
                                        <p:tav tm="0">
                                          <p:val>
                                            <p:strVal val="#ppt_w"/>
                                          </p:val>
                                        </p:tav>
                                        <p:tav tm="100000">
                                          <p:val>
                                            <p:strVal val="#ppt_w"/>
                                          </p:val>
                                        </p:tav>
                                      </p:tavLst>
                                    </p:anim>
                                    <p:anim calcmode="lin" valueType="num">
                                      <p:cBhvr>
                                        <p:cTn id="101" dur="500" fill="hold"/>
                                        <p:tgtEl>
                                          <p:spTgt spid="4610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2" grpId="0" bldLvl="0" animBg="1" autoUpdateAnimBg="0"/>
      <p:bldP spid="46083" grpId="0" bldLvl="0" animBg="1" autoUpdateAnimBg="0"/>
      <p:bldP spid="46084" grpId="0" bldLvl="0" animBg="1" autoUpdateAnimBg="0"/>
      <p:bldP spid="46085" grpId="0" bldLvl="0" animBg="1" autoUpdateAnimBg="0"/>
      <p:bldP spid="46086" grpId="0" bldLvl="0" animBg="1"/>
      <p:bldP spid="46087" grpId="0" bldLvl="0" animBg="1" autoUpdateAnimBg="0"/>
      <p:bldP spid="46088" grpId="0" bldLvl="0" animBg="1" autoUpdateAnimBg="0"/>
      <p:bldP spid="46089" grpId="0" bldLvl="0" animBg="1" autoUpdateAnimBg="0"/>
      <p:bldP spid="46090" grpId="0" bldLvl="0" animBg="1"/>
      <p:bldP spid="46091" grpId="0" bldLvl="0" animBg="1" autoUpdateAnimBg="0"/>
      <p:bldP spid="46092" grpId="0" bldLvl="0" animBg="1"/>
      <p:bldP spid="46093" grpId="0" bldLvl="0" animBg="1"/>
      <p:bldP spid="46094" grpId="0" bldLvl="0" animBg="1"/>
      <p:bldP spid="46095" grpId="0" bldLvl="0" animBg="1"/>
      <p:bldP spid="46096" grpId="0" bldLvl="0" animBg="1"/>
      <p:bldP spid="46097" grpId="0" bldLvl="0" animBg="1"/>
      <p:bldP spid="46098" grpId="0" bldLvl="0" animBg="1"/>
      <p:bldP spid="46099" grpId="0" bldLvl="0" animBg="1"/>
      <p:bldP spid="46100" grpId="0" bldLvl="0" animBg="1"/>
      <p:bldP spid="46101" grpId="0" bldLvl="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ChangeArrowheads="1"/>
          </p:cNvSpPr>
          <p:nvPr/>
        </p:nvSpPr>
        <p:spPr bwMode="auto">
          <a:xfrm>
            <a:off x="685800" y="457200"/>
            <a:ext cx="77724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sz="4800" b="1">
                <a:solidFill>
                  <a:srgbClr val="990000"/>
                </a:solidFill>
                <a:ea typeface="楷体_GB2312" pitchFamily="49" charset="-122"/>
                <a:sym typeface="+mn-ea"/>
              </a:rPr>
              <a:t>Bubble Sort Example</a:t>
            </a:r>
            <a:endParaRPr lang="zh-CN" altLang="en-US" sz="4800" b="1">
              <a:solidFill>
                <a:srgbClr val="990000"/>
              </a:solidFill>
              <a:ea typeface="楷体_GB2312" pitchFamily="49" charset="-122"/>
            </a:endParaRPr>
          </a:p>
        </p:txBody>
      </p:sp>
      <p:sp>
        <p:nvSpPr>
          <p:cNvPr id="47107" name="Rectangle 3"/>
          <p:cNvSpPr>
            <a:spLocks noChangeArrowheads="1"/>
          </p:cNvSpPr>
          <p:nvPr/>
        </p:nvSpPr>
        <p:spPr bwMode="auto">
          <a:xfrm>
            <a:off x="1463675" y="2590800"/>
            <a:ext cx="6858000"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pPr>
            <a:r>
              <a:rPr lang="zh-CN" altLang="en-US" sz="2800" dirty="0">
                <a:sym typeface="+mn-ea"/>
              </a:rPr>
              <a:t>Initial state</a:t>
            </a:r>
            <a:r>
              <a:rPr lang="zh-CN" altLang="en-US" sz="2800" dirty="0"/>
              <a:t>       </a:t>
            </a:r>
            <a:r>
              <a:rPr lang="en-US" altLang="zh-CN" sz="2800" dirty="0"/>
              <a:t> </a:t>
            </a:r>
            <a:r>
              <a:rPr lang="zh-CN" altLang="en-US" sz="2800" dirty="0"/>
              <a:t>  </a:t>
            </a:r>
            <a:r>
              <a:rPr lang="en-US" altLang="zh-CN" sz="2800" dirty="0"/>
              <a:t>[65 97 76 13 27 49 58]     </a:t>
            </a:r>
          </a:p>
          <a:p>
            <a:pPr>
              <a:spcBef>
                <a:spcPct val="20000"/>
              </a:spcBef>
            </a:pPr>
            <a:r>
              <a:rPr lang="en-US" altLang="zh-CN" sz="2800" dirty="0"/>
              <a:t>1st pass (j=1~6)  [65 76 13 27 49 58] </a:t>
            </a:r>
            <a:r>
              <a:rPr lang="en-US" altLang="zh-CN" sz="2800" b="1" dirty="0">
                <a:solidFill>
                  <a:srgbClr val="008000"/>
                </a:solidFill>
              </a:rPr>
              <a:t>97</a:t>
            </a:r>
          </a:p>
          <a:p>
            <a:pPr>
              <a:spcBef>
                <a:spcPct val="20000"/>
              </a:spcBef>
            </a:pPr>
            <a:r>
              <a:rPr lang="en-US" altLang="zh-CN" sz="2800" dirty="0"/>
              <a:t>2nd pass </a:t>
            </a:r>
            <a:r>
              <a:rPr lang="zh-CN" altLang="en-US" sz="2800" dirty="0"/>
              <a:t>(</a:t>
            </a:r>
            <a:r>
              <a:rPr lang="en-US" altLang="zh-CN" sz="2800" dirty="0"/>
              <a:t>j=1~5</a:t>
            </a:r>
            <a:r>
              <a:rPr lang="zh-CN" altLang="en-US" sz="2800" dirty="0"/>
              <a:t>)</a:t>
            </a:r>
            <a:r>
              <a:rPr lang="en-US" altLang="zh-CN" sz="2800" dirty="0"/>
              <a:t> [65 13 27 49 58] </a:t>
            </a:r>
            <a:r>
              <a:rPr lang="en-US" altLang="zh-CN" sz="2800" b="1" dirty="0">
                <a:solidFill>
                  <a:srgbClr val="008000"/>
                </a:solidFill>
              </a:rPr>
              <a:t>76 97</a:t>
            </a:r>
          </a:p>
          <a:p>
            <a:pPr>
              <a:spcBef>
                <a:spcPct val="20000"/>
              </a:spcBef>
            </a:pPr>
            <a:r>
              <a:rPr lang="en-US" altLang="zh-CN" sz="2800" dirty="0"/>
              <a:t>3rd pass </a:t>
            </a:r>
            <a:r>
              <a:rPr lang="zh-CN" altLang="en-US" sz="2800" dirty="0"/>
              <a:t>(</a:t>
            </a:r>
            <a:r>
              <a:rPr lang="en-US" altLang="zh-CN" sz="2800" dirty="0"/>
              <a:t>j=1~4</a:t>
            </a:r>
            <a:r>
              <a:rPr lang="zh-CN" altLang="en-US" sz="2800" dirty="0"/>
              <a:t>)</a:t>
            </a:r>
            <a:r>
              <a:rPr lang="en-US" altLang="zh-CN" sz="2800" dirty="0"/>
              <a:t>  [13 27 49 58] </a:t>
            </a:r>
            <a:r>
              <a:rPr lang="en-US" altLang="zh-CN" sz="2800" b="1" dirty="0">
                <a:solidFill>
                  <a:srgbClr val="008000"/>
                </a:solidFill>
              </a:rPr>
              <a:t>65 76 97</a:t>
            </a:r>
          </a:p>
          <a:p>
            <a:pPr>
              <a:spcBef>
                <a:spcPct val="20000"/>
              </a:spcBef>
            </a:pPr>
            <a:r>
              <a:rPr lang="en-US" altLang="zh-CN" sz="2800" dirty="0"/>
              <a:t>4th pass (j=1~3)  [13 27 49] </a:t>
            </a:r>
            <a:r>
              <a:rPr lang="en-US" altLang="zh-CN" sz="2800" b="1" dirty="0">
                <a:solidFill>
                  <a:srgbClr val="008000"/>
                </a:solidFill>
              </a:rPr>
              <a:t>58 65 76 97</a:t>
            </a:r>
          </a:p>
          <a:p>
            <a:pPr>
              <a:spcBef>
                <a:spcPct val="20000"/>
              </a:spcBef>
            </a:pPr>
            <a:r>
              <a:rPr lang="en-US" altLang="zh-CN" sz="2800" dirty="0"/>
              <a:t>5th pass </a:t>
            </a:r>
            <a:r>
              <a:rPr lang="zh-CN" altLang="en-US" sz="2800" dirty="0"/>
              <a:t>(</a:t>
            </a:r>
            <a:r>
              <a:rPr lang="en-US" altLang="zh-CN" sz="2800" dirty="0"/>
              <a:t>j=1~2</a:t>
            </a:r>
            <a:r>
              <a:rPr lang="zh-CN" altLang="en-US" sz="2800" dirty="0"/>
              <a:t>)</a:t>
            </a:r>
            <a:r>
              <a:rPr lang="en-US" altLang="zh-CN" sz="2800" dirty="0"/>
              <a:t>  [13 27] </a:t>
            </a:r>
            <a:r>
              <a:rPr lang="en-US" altLang="zh-CN" sz="2800" b="1" dirty="0">
                <a:solidFill>
                  <a:srgbClr val="008000"/>
                </a:solidFill>
              </a:rPr>
              <a:t>49 58 65 76 97</a:t>
            </a:r>
          </a:p>
          <a:p>
            <a:pPr>
              <a:spcBef>
                <a:spcPct val="20000"/>
              </a:spcBef>
            </a:pPr>
            <a:r>
              <a:rPr lang="en-US" altLang="zh-CN" sz="2800" dirty="0"/>
              <a:t>6th pass   (j=1</a:t>
            </a:r>
            <a:r>
              <a:rPr lang="zh-CN" altLang="en-US" sz="2800" dirty="0"/>
              <a:t>)    </a:t>
            </a:r>
            <a:r>
              <a:rPr lang="en-US" altLang="zh-CN" sz="2800" dirty="0"/>
              <a:t>[13] </a:t>
            </a:r>
            <a:r>
              <a:rPr lang="en-US" altLang="zh-CN" sz="2800" b="1" dirty="0">
                <a:solidFill>
                  <a:srgbClr val="008000"/>
                </a:solidFill>
              </a:rPr>
              <a:t>27 49 58 65 76 97</a:t>
            </a:r>
          </a:p>
        </p:txBody>
      </p:sp>
      <p:sp>
        <p:nvSpPr>
          <p:cNvPr id="47108" name="Text Box 4"/>
          <p:cNvSpPr txBox="1">
            <a:spLocks noChangeArrowheads="1"/>
          </p:cNvSpPr>
          <p:nvPr/>
        </p:nvSpPr>
        <p:spPr bwMode="auto">
          <a:xfrm>
            <a:off x="107315" y="1124585"/>
            <a:ext cx="9180195" cy="1054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oAutofit/>
          </a:bodyPr>
          <a:lstStyle/>
          <a:p>
            <a:pPr algn="l"/>
            <a:r>
              <a:rPr lang="zh-CN" altLang="en-US" sz="2000" b="1">
                <a:latin typeface="Arial" panose="020B0604020202020204" pitchFamily="34" charset="0"/>
                <a:ea typeface="楷体_GB2312" pitchFamily="49" charset="-122"/>
                <a:cs typeface="Arial" panose="020B0604020202020204" pitchFamily="34" charset="0"/>
                <a:sym typeface="+mn-ea"/>
              </a:rPr>
              <a:t>Set the key sequence of the pending records as (65,97,76,13,27,49,58)</a:t>
            </a:r>
            <a:endParaRPr lang="en-US" altLang="zh-CN" sz="2000" b="1">
              <a:latin typeface="Arial" panose="020B0604020202020204" pitchFamily="34" charset="0"/>
              <a:ea typeface="楷体_GB2312" pitchFamily="49" charset="-122"/>
              <a:cs typeface="Arial" panose="020B0604020202020204" pitchFamily="34" charset="0"/>
            </a:endParaRPr>
          </a:p>
          <a:p>
            <a:pPr algn="l"/>
            <a:r>
              <a:rPr lang="zh-CN" altLang="en-US" sz="2000" b="1">
                <a:latin typeface="Arial" panose="020B0604020202020204" pitchFamily="34" charset="0"/>
                <a:ea typeface="楷体_GB2312" pitchFamily="49" charset="-122"/>
                <a:cs typeface="Arial" panose="020B0604020202020204" pitchFamily="34" charset="0"/>
                <a:sym typeface="+mn-ea"/>
              </a:rPr>
              <a:t>The bubble sort sequence state after each execution is as follows:</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53</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anim calcmode="lin" valueType="num">
                                      <p:cBhvr additive="base">
                                        <p:cTn id="7" dur="500" fill="hold"/>
                                        <p:tgtEl>
                                          <p:spTgt spid="471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1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7107">
                                            <p:txEl>
                                              <p:pRg st="1" end="1"/>
                                            </p:txEl>
                                          </p:spTgt>
                                        </p:tgtEl>
                                        <p:attrNameLst>
                                          <p:attrName>style.visibility</p:attrName>
                                        </p:attrNameLst>
                                      </p:cBhvr>
                                      <p:to>
                                        <p:strVal val="visible"/>
                                      </p:to>
                                    </p:set>
                                    <p:anim calcmode="lin" valueType="num">
                                      <p:cBhvr additive="base">
                                        <p:cTn id="13" dur="500" fill="hold"/>
                                        <p:tgtEl>
                                          <p:spTgt spid="471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1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7107">
                                            <p:txEl>
                                              <p:pRg st="2" end="2"/>
                                            </p:txEl>
                                          </p:spTgt>
                                        </p:tgtEl>
                                        <p:attrNameLst>
                                          <p:attrName>style.visibility</p:attrName>
                                        </p:attrNameLst>
                                      </p:cBhvr>
                                      <p:to>
                                        <p:strVal val="visible"/>
                                      </p:to>
                                    </p:set>
                                    <p:anim calcmode="lin" valueType="num">
                                      <p:cBhvr additive="base">
                                        <p:cTn id="19" dur="500" fill="hold"/>
                                        <p:tgtEl>
                                          <p:spTgt spid="4710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710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7107">
                                            <p:txEl>
                                              <p:pRg st="3" end="3"/>
                                            </p:txEl>
                                          </p:spTgt>
                                        </p:tgtEl>
                                        <p:attrNameLst>
                                          <p:attrName>style.visibility</p:attrName>
                                        </p:attrNameLst>
                                      </p:cBhvr>
                                      <p:to>
                                        <p:strVal val="visible"/>
                                      </p:to>
                                    </p:set>
                                    <p:anim calcmode="lin" valueType="num">
                                      <p:cBhvr additive="base">
                                        <p:cTn id="25" dur="500" fill="hold"/>
                                        <p:tgtEl>
                                          <p:spTgt spid="4710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710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7107">
                                            <p:txEl>
                                              <p:pRg st="4" end="4"/>
                                            </p:txEl>
                                          </p:spTgt>
                                        </p:tgtEl>
                                        <p:attrNameLst>
                                          <p:attrName>style.visibility</p:attrName>
                                        </p:attrNameLst>
                                      </p:cBhvr>
                                      <p:to>
                                        <p:strVal val="visible"/>
                                      </p:to>
                                    </p:set>
                                    <p:anim calcmode="lin" valueType="num">
                                      <p:cBhvr additive="base">
                                        <p:cTn id="31" dur="500" fill="hold"/>
                                        <p:tgtEl>
                                          <p:spTgt spid="4710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710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7107">
                                            <p:txEl>
                                              <p:pRg st="5" end="5"/>
                                            </p:txEl>
                                          </p:spTgt>
                                        </p:tgtEl>
                                        <p:attrNameLst>
                                          <p:attrName>style.visibility</p:attrName>
                                        </p:attrNameLst>
                                      </p:cBhvr>
                                      <p:to>
                                        <p:strVal val="visible"/>
                                      </p:to>
                                    </p:set>
                                    <p:anim calcmode="lin" valueType="num">
                                      <p:cBhvr additive="base">
                                        <p:cTn id="37" dur="500" fill="hold"/>
                                        <p:tgtEl>
                                          <p:spTgt spid="4710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710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7107">
                                            <p:txEl>
                                              <p:pRg st="6" end="6"/>
                                            </p:txEl>
                                          </p:spTgt>
                                        </p:tgtEl>
                                        <p:attrNameLst>
                                          <p:attrName>style.visibility</p:attrName>
                                        </p:attrNameLst>
                                      </p:cBhvr>
                                      <p:to>
                                        <p:strVal val="visible"/>
                                      </p:to>
                                    </p:set>
                                    <p:anim calcmode="lin" valueType="num">
                                      <p:cBhvr additive="base">
                                        <p:cTn id="43" dur="500" fill="hold"/>
                                        <p:tgtEl>
                                          <p:spTgt spid="47107">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710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ChangeArrowheads="1"/>
          </p:cNvSpPr>
          <p:nvPr/>
        </p:nvSpPr>
        <p:spPr bwMode="auto">
          <a:xfrm>
            <a:off x="323850" y="0"/>
            <a:ext cx="77724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sz="4800" b="1">
                <a:solidFill>
                  <a:srgbClr val="990000"/>
                </a:solidFill>
                <a:ea typeface="楷体_GB2312" pitchFamily="49" charset="-122"/>
                <a:sym typeface="+mn-ea"/>
              </a:rPr>
              <a:t>B</a:t>
            </a:r>
            <a:r>
              <a:rPr lang="zh-CN" altLang="en-US" sz="4800" b="1">
                <a:solidFill>
                  <a:srgbClr val="990000"/>
                </a:solidFill>
                <a:ea typeface="楷体_GB2312" pitchFamily="49" charset="-122"/>
                <a:sym typeface="+mn-ea"/>
              </a:rPr>
              <a:t>ubble </a:t>
            </a:r>
            <a:r>
              <a:rPr lang="en-US" altLang="zh-CN" sz="4800" b="1">
                <a:solidFill>
                  <a:srgbClr val="990000"/>
                </a:solidFill>
                <a:ea typeface="楷体_GB2312" pitchFamily="49" charset="-122"/>
                <a:sym typeface="+mn-ea"/>
              </a:rPr>
              <a:t>S</a:t>
            </a:r>
            <a:r>
              <a:rPr lang="zh-CN" altLang="en-US" sz="4800" b="1">
                <a:solidFill>
                  <a:srgbClr val="990000"/>
                </a:solidFill>
                <a:ea typeface="楷体_GB2312" pitchFamily="49" charset="-122"/>
                <a:sym typeface="+mn-ea"/>
              </a:rPr>
              <a:t>ort </a:t>
            </a:r>
            <a:r>
              <a:rPr lang="en-US" altLang="zh-CN" sz="4800" b="1">
                <a:solidFill>
                  <a:srgbClr val="990000"/>
                </a:solidFill>
                <a:ea typeface="楷体_GB2312" pitchFamily="49" charset="-122"/>
                <a:sym typeface="+mn-ea"/>
              </a:rPr>
              <a:t>A</a:t>
            </a:r>
            <a:r>
              <a:rPr lang="zh-CN" altLang="en-US" sz="4800" b="1">
                <a:solidFill>
                  <a:srgbClr val="990000"/>
                </a:solidFill>
                <a:ea typeface="楷体_GB2312" pitchFamily="49" charset="-122"/>
                <a:sym typeface="+mn-ea"/>
              </a:rPr>
              <a:t>lgorithm</a:t>
            </a:r>
            <a:endParaRPr lang="zh-CN" altLang="en-US" sz="4800" b="1">
              <a:solidFill>
                <a:srgbClr val="990000"/>
              </a:solidFill>
              <a:ea typeface="楷体_GB2312" pitchFamily="49" charset="-122"/>
            </a:endParaRPr>
          </a:p>
        </p:txBody>
      </p:sp>
      <p:sp>
        <p:nvSpPr>
          <p:cNvPr id="48131" name="Rectangle 3"/>
          <p:cNvSpPr>
            <a:spLocks noChangeArrowheads="1"/>
          </p:cNvSpPr>
          <p:nvPr/>
        </p:nvSpPr>
        <p:spPr bwMode="auto">
          <a:xfrm>
            <a:off x="323850" y="1052830"/>
            <a:ext cx="88011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pPr>
            <a:r>
              <a:rPr lang="en-US" altLang="zh-CN" sz="3600"/>
              <a:t>void bubblesort(Elem R[ ], int n)</a:t>
            </a:r>
          </a:p>
          <a:p>
            <a:pPr>
              <a:spcBef>
                <a:spcPct val="20000"/>
              </a:spcBef>
            </a:pPr>
            <a:r>
              <a:rPr lang="en-US" altLang="zh-CN" sz="3600" b="1"/>
              <a:t>	   </a:t>
            </a:r>
            <a:r>
              <a:rPr lang="en-US" altLang="zh-CN" sz="2800" b="1">
                <a:solidFill>
                  <a:srgbClr val="006600"/>
                </a:solidFill>
                <a:ea typeface="楷体_GB2312" pitchFamily="49" charset="-122"/>
                <a:sym typeface="+mn-ea"/>
              </a:rPr>
              <a:t>// Bubble sort for sequential list R[1.. n]</a:t>
            </a:r>
            <a:endParaRPr lang="zh-CN" altLang="en-US" sz="2800" b="1">
              <a:solidFill>
                <a:srgbClr val="006600"/>
              </a:solidFill>
              <a:latin typeface="楷体_GB2312" pitchFamily="49" charset="-122"/>
              <a:ea typeface="楷体_GB2312" pitchFamily="49" charset="-122"/>
            </a:endParaRPr>
          </a:p>
          <a:p>
            <a:pPr>
              <a:spcBef>
                <a:spcPct val="20000"/>
              </a:spcBef>
            </a:pPr>
            <a:r>
              <a:rPr lang="zh-CN" altLang="en-US" sz="3600" b="1"/>
              <a:t>  </a:t>
            </a:r>
            <a:r>
              <a:rPr lang="en-US" altLang="zh-CN" sz="3600"/>
              <a:t>{ </a:t>
            </a:r>
          </a:p>
          <a:p>
            <a:pPr>
              <a:lnSpc>
                <a:spcPct val="110000"/>
              </a:lnSpc>
              <a:spcBef>
                <a:spcPct val="20000"/>
              </a:spcBef>
            </a:pPr>
            <a:r>
              <a:rPr lang="en-US" altLang="zh-CN" sz="3600"/>
              <a:t>        for(i=1;i&lt;n;i++)</a:t>
            </a:r>
          </a:p>
          <a:p>
            <a:pPr>
              <a:lnSpc>
                <a:spcPct val="110000"/>
              </a:lnSpc>
              <a:spcBef>
                <a:spcPct val="20000"/>
              </a:spcBef>
            </a:pPr>
            <a:r>
              <a:rPr lang="en-US" altLang="zh-CN" sz="3600"/>
              <a:t>          for(j=1;j&lt;=n-i;j++)</a:t>
            </a:r>
          </a:p>
          <a:p>
            <a:pPr>
              <a:lnSpc>
                <a:spcPct val="110000"/>
              </a:lnSpc>
              <a:spcBef>
                <a:spcPct val="20000"/>
              </a:spcBef>
            </a:pPr>
            <a:r>
              <a:rPr lang="en-US" altLang="zh-CN" sz="3600"/>
              <a:t>            if(R[j].key&gt;R[j+1].key)</a:t>
            </a:r>
          </a:p>
          <a:p>
            <a:pPr>
              <a:lnSpc>
                <a:spcPct val="110000"/>
              </a:lnSpc>
              <a:spcBef>
                <a:spcPct val="20000"/>
              </a:spcBef>
            </a:pPr>
            <a:r>
              <a:rPr lang="en-US" altLang="zh-CN" sz="3600"/>
              <a:t>               {</a:t>
            </a:r>
            <a:r>
              <a:rPr lang="en-US" altLang="zh-CN" sz="3600">
                <a:solidFill>
                  <a:srgbClr val="840C26"/>
                </a:solidFill>
              </a:rPr>
              <a:t>Swap(R[j], R[j+1])</a:t>
            </a:r>
            <a:r>
              <a:rPr lang="en-US" altLang="zh-CN" sz="3600"/>
              <a:t>;} </a:t>
            </a:r>
            <a:r>
              <a:rPr lang="en-US" altLang="zh-CN" sz="2800" b="1">
                <a:solidFill>
                  <a:srgbClr val="006600"/>
                </a:solidFill>
                <a:ea typeface="楷体_GB2312" pitchFamily="49" charset="-122"/>
              </a:rPr>
              <a:t>//</a:t>
            </a:r>
            <a:r>
              <a:rPr lang="en-US" altLang="zh-CN" sz="2800" b="1">
                <a:solidFill>
                  <a:srgbClr val="006600"/>
                </a:solidFill>
                <a:ea typeface="楷体_GB2312" pitchFamily="49" charset="-122"/>
                <a:sym typeface="+mn-ea"/>
              </a:rPr>
              <a:t>Swap elements</a:t>
            </a:r>
            <a:endParaRPr lang="en-US" altLang="zh-CN" sz="2800" b="1">
              <a:solidFill>
                <a:srgbClr val="006600"/>
              </a:solidFill>
              <a:ea typeface="楷体_GB2312" pitchFamily="49" charset="-122"/>
            </a:endParaRPr>
          </a:p>
          <a:p>
            <a:pPr>
              <a:spcBef>
                <a:spcPct val="20000"/>
              </a:spcBef>
            </a:pPr>
            <a:r>
              <a:rPr lang="en-US" altLang="zh-CN" sz="3600"/>
              <a:t>}</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54</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8131"/>
                                        </p:tgtEl>
                                        <p:attrNameLst>
                                          <p:attrName>style.visibility</p:attrName>
                                        </p:attrNameLst>
                                      </p:cBhvr>
                                      <p:to>
                                        <p:strVal val="visible"/>
                                      </p:to>
                                    </p:set>
                                    <p:animEffect transition="in" filter="box(in)">
                                      <p:cBhvr>
                                        <p:cTn id="7" dur="500"/>
                                        <p:tgtEl>
                                          <p:spTgt spid="48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bldLvl="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ChangeArrowheads="1"/>
          </p:cNvSpPr>
          <p:nvPr/>
        </p:nvSpPr>
        <p:spPr bwMode="auto">
          <a:xfrm>
            <a:off x="539750" y="228600"/>
            <a:ext cx="77724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sz="3600" b="1">
                <a:solidFill>
                  <a:srgbClr val="990000"/>
                </a:solidFill>
                <a:latin typeface="Arial" panose="020B0604020202020204" pitchFamily="34" charset="0"/>
                <a:ea typeface="楷体_GB2312" pitchFamily="49" charset="-122"/>
                <a:cs typeface="Arial" panose="020B0604020202020204" pitchFamily="34" charset="0"/>
              </a:rPr>
              <a:t>Improvement of Bubble Sort</a:t>
            </a:r>
          </a:p>
        </p:txBody>
      </p:sp>
      <p:sp>
        <p:nvSpPr>
          <p:cNvPr id="49155" name="Rectangle 3"/>
          <p:cNvSpPr>
            <a:spLocks noChangeArrowheads="1"/>
          </p:cNvSpPr>
          <p:nvPr/>
        </p:nvSpPr>
        <p:spPr bwMode="auto">
          <a:xfrm>
            <a:off x="287020" y="1219200"/>
            <a:ext cx="8834120"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lnSpc>
                <a:spcPct val="120000"/>
              </a:lnSpc>
              <a:spcBef>
                <a:spcPct val="20000"/>
              </a:spcBef>
            </a:pPr>
            <a:r>
              <a:rPr lang="en-US" altLang="zh-CN" b="1">
                <a:latin typeface="Arial" panose="020B0604020202020204" pitchFamily="34" charset="0"/>
                <a:ea typeface="楷体_GB2312" pitchFamily="49" charset="-122"/>
                <a:cs typeface="Arial" panose="020B0604020202020204" pitchFamily="34" charset="0"/>
              </a:rPr>
              <a:t>    </a:t>
            </a:r>
            <a:r>
              <a:rPr lang="zh-CN" altLang="en-US" b="1">
                <a:latin typeface="Arial" panose="020B0604020202020204" pitchFamily="34" charset="0"/>
                <a:ea typeface="楷体_GB2312" pitchFamily="49" charset="-122"/>
                <a:cs typeface="Arial" panose="020B0604020202020204" pitchFamily="34" charset="0"/>
              </a:rPr>
              <a:t>The algorithm described above requires n-1 iterations of bubble</a:t>
            </a:r>
            <a:r>
              <a:rPr lang="en-US" altLang="zh-CN" b="1">
                <a:latin typeface="Arial" panose="020B0604020202020204" pitchFamily="34" charset="0"/>
                <a:ea typeface="楷体_GB2312" pitchFamily="49" charset="-122"/>
                <a:cs typeface="Arial" panose="020B0604020202020204" pitchFamily="34" charset="0"/>
              </a:rPr>
              <a:t> </a:t>
            </a:r>
            <a:r>
              <a:rPr lang="zh-CN" altLang="en-US" b="1">
                <a:latin typeface="Arial" panose="020B0604020202020204" pitchFamily="34" charset="0"/>
                <a:ea typeface="楷体_GB2312" pitchFamily="49" charset="-122"/>
                <a:cs typeface="Arial" panose="020B0604020202020204" pitchFamily="34" charset="0"/>
              </a:rPr>
              <a:t>sort for a sequence of n records. As shown in the example, the sequence becomes sorted after the third iteration, rendering the subsequent three iterations redundant (no swaps occur). To optimize the algorithm, we should implement a swap-tracking mechanism: if no swaps are detected during any iteration, the sequence is considered sorted, and the sorting process should terminate.</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55</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9155"/>
                                        </p:tgtEl>
                                        <p:attrNameLst>
                                          <p:attrName>style.visibility</p:attrName>
                                        </p:attrNameLst>
                                      </p:cBhvr>
                                      <p:to>
                                        <p:strVal val="visible"/>
                                      </p:to>
                                    </p:set>
                                    <p:animEffect transition="in" filter="dissolve">
                                      <p:cBhvr>
                                        <p:cTn id="7" dur="500"/>
                                        <p:tgtEl>
                                          <p:spTgt spid="491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bldLvl="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ChangeArrowheads="1"/>
          </p:cNvSpPr>
          <p:nvPr/>
        </p:nvSpPr>
        <p:spPr bwMode="auto">
          <a:xfrm>
            <a:off x="-317" y="-27305"/>
            <a:ext cx="77724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sz="4000" b="1">
                <a:solidFill>
                  <a:srgbClr val="990000"/>
                </a:solidFill>
                <a:ea typeface="楷体_GB2312" pitchFamily="49" charset="-122"/>
                <a:sym typeface="+mn-ea"/>
              </a:rPr>
              <a:t>Improved Bubble Sort Algorithm</a:t>
            </a:r>
          </a:p>
        </p:txBody>
      </p:sp>
      <p:sp>
        <p:nvSpPr>
          <p:cNvPr id="50179" name="Rectangle 3"/>
          <p:cNvSpPr>
            <a:spLocks noChangeArrowheads="1"/>
          </p:cNvSpPr>
          <p:nvPr/>
        </p:nvSpPr>
        <p:spPr bwMode="auto">
          <a:xfrm>
            <a:off x="20955" y="908050"/>
            <a:ext cx="8955405" cy="5761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pPr>
            <a:r>
              <a:rPr lang="en-US" altLang="zh-CN" sz="3600"/>
              <a:t>void bubblesort(Elem R[ ], int n)</a:t>
            </a:r>
          </a:p>
          <a:p>
            <a:pPr>
              <a:spcBef>
                <a:spcPct val="20000"/>
              </a:spcBef>
            </a:pPr>
            <a:r>
              <a:rPr lang="en-US" altLang="zh-CN" b="1">
                <a:solidFill>
                  <a:srgbClr val="006600"/>
                </a:solidFill>
              </a:rPr>
              <a:t>                                /</a:t>
            </a:r>
            <a:r>
              <a:rPr lang="en-US" altLang="zh-CN" b="1">
                <a:solidFill>
                  <a:srgbClr val="006600"/>
                </a:solidFill>
                <a:sym typeface="+mn-ea"/>
              </a:rPr>
              <a:t>/ Improved Bubble Sort Algorithm 1</a:t>
            </a:r>
            <a:endParaRPr lang="zh-CN" altLang="en-US" sz="3600"/>
          </a:p>
          <a:p>
            <a:pPr>
              <a:spcBef>
                <a:spcPct val="10000"/>
              </a:spcBef>
            </a:pPr>
            <a:r>
              <a:rPr lang="zh-CN" altLang="en-US" sz="2800" b="1"/>
              <a:t>   </a:t>
            </a:r>
            <a:r>
              <a:rPr lang="en-US" altLang="zh-CN" sz="3200" b="1"/>
              <a:t>{ i=n;   </a:t>
            </a:r>
            <a:r>
              <a:rPr lang="en-US" altLang="zh-CN" sz="3200" b="1">
                <a:solidFill>
                  <a:srgbClr val="CC6600"/>
                </a:solidFill>
              </a:rPr>
              <a:t>flag=1</a:t>
            </a:r>
            <a:r>
              <a:rPr lang="en-US" altLang="zh-CN" sz="3200" b="1"/>
              <a:t>;</a:t>
            </a:r>
            <a:r>
              <a:rPr lang="en-US" altLang="zh-CN" sz="2400" b="1">
                <a:solidFill>
                  <a:srgbClr val="006600"/>
                </a:solidFill>
                <a:sym typeface="+mn-ea"/>
              </a:rPr>
              <a:t>// flag=1 indicates an exchange has occurred</a:t>
            </a:r>
            <a:endParaRPr lang="en-US" altLang="zh-CN" sz="2400" b="1">
              <a:solidFill>
                <a:srgbClr val="006600"/>
              </a:solidFill>
            </a:endParaRPr>
          </a:p>
          <a:p>
            <a:pPr>
              <a:spcBef>
                <a:spcPct val="10000"/>
              </a:spcBef>
            </a:pPr>
            <a:r>
              <a:rPr lang="zh-CN" altLang="en-US" sz="3200" b="1"/>
              <a:t>      </a:t>
            </a:r>
            <a:r>
              <a:rPr lang="en-US" altLang="zh-CN" sz="3200" b="1"/>
              <a:t>while(( i&gt;1) &amp;&amp; </a:t>
            </a:r>
            <a:r>
              <a:rPr lang="en-US" altLang="zh-CN" sz="3200" b="1">
                <a:solidFill>
                  <a:srgbClr val="CC6600"/>
                </a:solidFill>
              </a:rPr>
              <a:t>flag </a:t>
            </a:r>
            <a:r>
              <a:rPr lang="en-US" altLang="zh-CN" sz="3200" b="1"/>
              <a:t>))</a:t>
            </a:r>
          </a:p>
          <a:p>
            <a:pPr>
              <a:spcBef>
                <a:spcPct val="10000"/>
              </a:spcBef>
            </a:pPr>
            <a:r>
              <a:rPr lang="en-US" altLang="zh-CN" sz="3200" b="1"/>
              <a:t>	      { </a:t>
            </a:r>
            <a:r>
              <a:rPr lang="en-US" altLang="zh-CN" sz="3200" b="1">
                <a:solidFill>
                  <a:srgbClr val="CC6600"/>
                </a:solidFill>
              </a:rPr>
              <a:t>flag=0;</a:t>
            </a:r>
          </a:p>
          <a:p>
            <a:pPr>
              <a:spcBef>
                <a:spcPct val="10000"/>
              </a:spcBef>
            </a:pPr>
            <a:r>
              <a:rPr lang="en-US" altLang="zh-CN" sz="3200" b="1"/>
              <a:t>		   for(j=1;j&lt;i;j++) </a:t>
            </a:r>
          </a:p>
          <a:p>
            <a:pPr>
              <a:spcBef>
                <a:spcPct val="10000"/>
              </a:spcBef>
            </a:pPr>
            <a:r>
              <a:rPr lang="en-US" altLang="zh-CN" sz="3200" b="1"/>
              <a:t>		     if(R[j].key&gt;R[j+1].key)</a:t>
            </a:r>
          </a:p>
          <a:p>
            <a:pPr>
              <a:spcBef>
                <a:spcPct val="10000"/>
              </a:spcBef>
            </a:pPr>
            <a:r>
              <a:rPr lang="en-US" altLang="zh-CN" sz="3200" b="1"/>
              <a:t>			{</a:t>
            </a:r>
            <a:r>
              <a:rPr lang="en-US" altLang="zh-CN" sz="3200">
                <a:solidFill>
                  <a:srgbClr val="840C26"/>
                </a:solidFill>
              </a:rPr>
              <a:t>Swap(R[j], R[j+1]);</a:t>
            </a:r>
            <a:r>
              <a:rPr lang="en-US" altLang="zh-CN" sz="3200" b="1"/>
              <a:t> </a:t>
            </a:r>
            <a:r>
              <a:rPr lang="en-US" altLang="zh-CN" sz="3200" b="1">
                <a:solidFill>
                  <a:srgbClr val="CC6600"/>
                </a:solidFill>
              </a:rPr>
              <a:t>flag=1</a:t>
            </a:r>
            <a:r>
              <a:rPr lang="en-US" altLang="zh-CN" sz="3200" b="1"/>
              <a:t>; }</a:t>
            </a:r>
          </a:p>
          <a:p>
            <a:pPr>
              <a:spcBef>
                <a:spcPct val="10000"/>
              </a:spcBef>
            </a:pPr>
            <a:r>
              <a:rPr lang="en-US" altLang="zh-CN" sz="3200" b="1"/>
              <a:t>	         i --; </a:t>
            </a:r>
          </a:p>
          <a:p>
            <a:pPr>
              <a:spcBef>
                <a:spcPct val="10000"/>
              </a:spcBef>
            </a:pPr>
            <a:r>
              <a:rPr lang="en-US" altLang="zh-CN" sz="3200" b="1"/>
              <a:t>          }</a:t>
            </a:r>
          </a:p>
          <a:p>
            <a:pPr>
              <a:lnSpc>
                <a:spcPct val="90000"/>
              </a:lnSpc>
            </a:pPr>
            <a:r>
              <a:rPr lang="en-US" altLang="zh-CN" sz="3200" b="1"/>
              <a:t> }</a:t>
            </a:r>
          </a:p>
        </p:txBody>
      </p:sp>
      <p:sp>
        <p:nvSpPr>
          <p:cNvPr id="50180" name="Rectangle 4"/>
          <p:cNvSpPr>
            <a:spLocks noChangeArrowheads="1"/>
          </p:cNvSpPr>
          <p:nvPr/>
        </p:nvSpPr>
        <p:spPr bwMode="auto">
          <a:xfrm>
            <a:off x="2700338" y="5337175"/>
            <a:ext cx="6443662" cy="1014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000">
                <a:solidFill>
                  <a:srgbClr val="0000FF"/>
                </a:solidFill>
                <a:latin typeface="Arial" panose="020B0604020202020204" pitchFamily="34" charset="0"/>
                <a:ea typeface="隶书" panose="02010509060101010101" pitchFamily="49" charset="-122"/>
                <a:cs typeface="Arial" panose="020B0604020202020204" pitchFamily="34" charset="0"/>
                <a:sym typeface="+mn-ea"/>
              </a:rPr>
              <a:t>The bubble sort terminates when</a:t>
            </a:r>
            <a:endParaRPr lang="zh-CN" altLang="en-US" sz="2000">
              <a:solidFill>
                <a:srgbClr val="0000FF"/>
              </a:solidFill>
              <a:latin typeface="Arial" panose="020B0604020202020204" pitchFamily="34" charset="0"/>
              <a:ea typeface="隶书" panose="02010509060101010101" pitchFamily="49" charset="-122"/>
              <a:cs typeface="Arial" panose="020B0604020202020204" pitchFamily="34" charset="0"/>
            </a:endParaRPr>
          </a:p>
          <a:p>
            <a:r>
              <a:rPr lang="zh-CN" altLang="en-US" sz="2000" b="1">
                <a:solidFill>
                  <a:srgbClr val="000080"/>
                </a:solidFill>
                <a:latin typeface="Arial" panose="020B0604020202020204" pitchFamily="34" charset="0"/>
                <a:ea typeface="隶书" panose="02010509060101010101" pitchFamily="49" charset="-122"/>
                <a:cs typeface="Arial" panose="020B0604020202020204" pitchFamily="34" charset="0"/>
                <a:sym typeface="+mn-ea"/>
              </a:rPr>
              <a:t>The last transaction did not perform an "exchange record"</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56</a:t>
            </a:fld>
            <a:endParaRPr lang="en-US" altLang="zh-CN"/>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Rectangle 4"/>
          <p:cNvSpPr>
            <a:spLocks noChangeArrowheads="1"/>
          </p:cNvSpPr>
          <p:nvPr/>
        </p:nvSpPr>
        <p:spPr bwMode="auto">
          <a:xfrm>
            <a:off x="0" y="3500438"/>
            <a:ext cx="209169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rgbClr val="800000"/>
                </a:solidFill>
                <a:ea typeface="楷体_GB2312" pitchFamily="49" charset="-122"/>
              </a:rPr>
              <a:t>for instance ：</a:t>
            </a:r>
            <a:endParaRPr lang="en-US" altLang="zh-CN" sz="2400">
              <a:ea typeface="楷体_GB2312" pitchFamily="49" charset="-122"/>
            </a:endParaRPr>
          </a:p>
        </p:txBody>
      </p:sp>
      <p:graphicFrame>
        <p:nvGraphicFramePr>
          <p:cNvPr id="52229" name="Object 5"/>
          <p:cNvGraphicFramePr>
            <a:graphicFrameLocks noChangeAspect="1"/>
          </p:cNvGraphicFramePr>
          <p:nvPr/>
        </p:nvGraphicFramePr>
        <p:xfrm>
          <a:off x="838200" y="4114800"/>
          <a:ext cx="7391400" cy="914400"/>
        </p:xfrm>
        <a:graphic>
          <a:graphicData uri="http://schemas.openxmlformats.org/presentationml/2006/ole">
            <mc:AlternateContent xmlns:mc="http://schemas.openxmlformats.org/markup-compatibility/2006">
              <mc:Choice xmlns:v="urn:schemas-microsoft-com:vml" Requires="v">
                <p:oleObj spid="_x0000_s24579" name="文档" r:id="rId3" imgW="10833100" imgH="1473200" progId="Word.Document.8">
                  <p:embed/>
                </p:oleObj>
              </mc:Choice>
              <mc:Fallback>
                <p:oleObj name="文档" r:id="rId3" imgW="10833100" imgH="1473200" progId="Word.Document.8">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4114800"/>
                        <a:ext cx="73914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2230" name="Text Box 6"/>
          <p:cNvSpPr txBox="1">
            <a:spLocks noChangeArrowheads="1"/>
          </p:cNvSpPr>
          <p:nvPr/>
        </p:nvSpPr>
        <p:spPr bwMode="auto">
          <a:xfrm>
            <a:off x="914400" y="4127500"/>
            <a:ext cx="838200" cy="645160"/>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chemeClr val="accent2"/>
                </a:solidFill>
              </a:rPr>
              <a:t>2</a:t>
            </a:r>
          </a:p>
        </p:txBody>
      </p:sp>
      <p:sp>
        <p:nvSpPr>
          <p:cNvPr id="52231" name="Text Box 7"/>
          <p:cNvSpPr txBox="1">
            <a:spLocks noChangeArrowheads="1"/>
          </p:cNvSpPr>
          <p:nvPr/>
        </p:nvSpPr>
        <p:spPr bwMode="auto">
          <a:xfrm>
            <a:off x="1828800" y="4114800"/>
            <a:ext cx="838200" cy="645160"/>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chemeClr val="accent2"/>
                </a:solidFill>
              </a:rPr>
              <a:t>5</a:t>
            </a:r>
          </a:p>
        </p:txBody>
      </p:sp>
      <p:sp>
        <p:nvSpPr>
          <p:cNvPr id="52232" name="Text Box 8"/>
          <p:cNvSpPr txBox="1">
            <a:spLocks noChangeArrowheads="1"/>
          </p:cNvSpPr>
          <p:nvPr/>
        </p:nvSpPr>
        <p:spPr bwMode="auto">
          <a:xfrm>
            <a:off x="2743200" y="4114800"/>
            <a:ext cx="838200" cy="645160"/>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chemeClr val="accent2"/>
                </a:solidFill>
              </a:rPr>
              <a:t>5</a:t>
            </a:r>
          </a:p>
        </p:txBody>
      </p:sp>
      <p:sp>
        <p:nvSpPr>
          <p:cNvPr id="52233" name="Text Box 9"/>
          <p:cNvSpPr txBox="1">
            <a:spLocks noChangeArrowheads="1"/>
          </p:cNvSpPr>
          <p:nvPr/>
        </p:nvSpPr>
        <p:spPr bwMode="auto">
          <a:xfrm>
            <a:off x="1828800" y="4114800"/>
            <a:ext cx="838200" cy="645160"/>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chemeClr val="accent2"/>
                </a:solidFill>
              </a:rPr>
              <a:t>3</a:t>
            </a:r>
          </a:p>
        </p:txBody>
      </p:sp>
      <p:sp>
        <p:nvSpPr>
          <p:cNvPr id="52234" name="Text Box 10"/>
          <p:cNvSpPr txBox="1">
            <a:spLocks noChangeArrowheads="1"/>
          </p:cNvSpPr>
          <p:nvPr/>
        </p:nvSpPr>
        <p:spPr bwMode="auto">
          <a:xfrm>
            <a:off x="2743200" y="4159250"/>
            <a:ext cx="838200" cy="645160"/>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chemeClr val="accent2"/>
                </a:solidFill>
              </a:rPr>
              <a:t>1</a:t>
            </a:r>
          </a:p>
        </p:txBody>
      </p:sp>
      <p:sp>
        <p:nvSpPr>
          <p:cNvPr id="52235" name="Text Box 11"/>
          <p:cNvSpPr txBox="1">
            <a:spLocks noChangeArrowheads="1"/>
          </p:cNvSpPr>
          <p:nvPr/>
        </p:nvSpPr>
        <p:spPr bwMode="auto">
          <a:xfrm>
            <a:off x="3733800" y="4127500"/>
            <a:ext cx="838200" cy="645160"/>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chemeClr val="accent2"/>
                </a:solidFill>
              </a:rPr>
              <a:t>5</a:t>
            </a:r>
          </a:p>
        </p:txBody>
      </p:sp>
      <p:sp>
        <p:nvSpPr>
          <p:cNvPr id="52236" name="Text Box 12"/>
          <p:cNvSpPr txBox="1">
            <a:spLocks noChangeArrowheads="1"/>
          </p:cNvSpPr>
          <p:nvPr/>
        </p:nvSpPr>
        <p:spPr bwMode="auto">
          <a:xfrm>
            <a:off x="4724400" y="4127500"/>
            <a:ext cx="838200" cy="645160"/>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chemeClr val="accent2"/>
                </a:solidFill>
              </a:rPr>
              <a:t>7</a:t>
            </a:r>
          </a:p>
        </p:txBody>
      </p:sp>
      <p:sp>
        <p:nvSpPr>
          <p:cNvPr id="52237" name="Text Box 13"/>
          <p:cNvSpPr txBox="1">
            <a:spLocks noChangeArrowheads="1"/>
          </p:cNvSpPr>
          <p:nvPr/>
        </p:nvSpPr>
        <p:spPr bwMode="auto">
          <a:xfrm>
            <a:off x="5638800" y="4114800"/>
            <a:ext cx="838200" cy="645160"/>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chemeClr val="accent2"/>
                </a:solidFill>
              </a:rPr>
              <a:t>9</a:t>
            </a:r>
          </a:p>
        </p:txBody>
      </p:sp>
      <p:sp>
        <p:nvSpPr>
          <p:cNvPr id="52238" name="Text Box 14"/>
          <p:cNvSpPr txBox="1">
            <a:spLocks noChangeArrowheads="1"/>
          </p:cNvSpPr>
          <p:nvPr/>
        </p:nvSpPr>
        <p:spPr bwMode="auto">
          <a:xfrm>
            <a:off x="5638800" y="4127500"/>
            <a:ext cx="838200" cy="645160"/>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chemeClr val="accent2"/>
                </a:solidFill>
              </a:rPr>
              <a:t>8</a:t>
            </a:r>
          </a:p>
        </p:txBody>
      </p:sp>
      <p:sp>
        <p:nvSpPr>
          <p:cNvPr id="52239" name="Text Box 15"/>
          <p:cNvSpPr txBox="1">
            <a:spLocks noChangeArrowheads="1"/>
          </p:cNvSpPr>
          <p:nvPr/>
        </p:nvSpPr>
        <p:spPr bwMode="auto">
          <a:xfrm>
            <a:off x="6553200" y="4127500"/>
            <a:ext cx="838200" cy="645160"/>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chemeClr val="accent2"/>
                </a:solidFill>
              </a:rPr>
              <a:t>9</a:t>
            </a:r>
          </a:p>
        </p:txBody>
      </p:sp>
      <p:sp>
        <p:nvSpPr>
          <p:cNvPr id="52240" name="Line 16"/>
          <p:cNvSpPr>
            <a:spLocks noChangeShapeType="1"/>
          </p:cNvSpPr>
          <p:nvPr/>
        </p:nvSpPr>
        <p:spPr bwMode="auto">
          <a:xfrm flipV="1">
            <a:off x="7010400" y="5029200"/>
            <a:ext cx="0" cy="762000"/>
          </a:xfrm>
          <a:prstGeom prst="line">
            <a:avLst/>
          </a:prstGeom>
          <a:noFill/>
          <a:ln w="19050">
            <a:solidFill>
              <a:srgbClr val="00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41" name="Text Box 17"/>
          <p:cNvSpPr txBox="1">
            <a:spLocks noChangeArrowheads="1"/>
          </p:cNvSpPr>
          <p:nvPr/>
        </p:nvSpPr>
        <p:spPr bwMode="auto">
          <a:xfrm>
            <a:off x="7032625" y="5478463"/>
            <a:ext cx="815975"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600">
                <a:solidFill>
                  <a:schemeClr val="accent2"/>
                </a:solidFill>
              </a:rPr>
              <a:t>i=7</a:t>
            </a:r>
          </a:p>
        </p:txBody>
      </p:sp>
      <p:sp>
        <p:nvSpPr>
          <p:cNvPr id="52242" name="Line 18"/>
          <p:cNvSpPr>
            <a:spLocks noChangeShapeType="1"/>
          </p:cNvSpPr>
          <p:nvPr/>
        </p:nvSpPr>
        <p:spPr bwMode="auto">
          <a:xfrm flipV="1">
            <a:off x="6019800" y="4876800"/>
            <a:ext cx="0" cy="762000"/>
          </a:xfrm>
          <a:prstGeom prst="line">
            <a:avLst/>
          </a:prstGeom>
          <a:noFill/>
          <a:ln w="19050">
            <a:solidFill>
              <a:srgbClr val="00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43" name="Text Box 19"/>
          <p:cNvSpPr txBox="1">
            <a:spLocks noChangeArrowheads="1"/>
          </p:cNvSpPr>
          <p:nvPr/>
        </p:nvSpPr>
        <p:spPr bwMode="auto">
          <a:xfrm>
            <a:off x="6042025" y="5334000"/>
            <a:ext cx="815975"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600">
                <a:solidFill>
                  <a:schemeClr val="accent2"/>
                </a:solidFill>
              </a:rPr>
              <a:t>i=6</a:t>
            </a:r>
          </a:p>
        </p:txBody>
      </p:sp>
      <p:sp useBgFill="1">
        <p:nvSpPr>
          <p:cNvPr id="52245" name="Rectangle 21"/>
          <p:cNvSpPr>
            <a:spLocks noChangeArrowheads="1"/>
          </p:cNvSpPr>
          <p:nvPr/>
        </p:nvSpPr>
        <p:spPr bwMode="auto">
          <a:xfrm>
            <a:off x="6858000" y="4876800"/>
            <a:ext cx="1066800" cy="10668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600"/>
          </a:p>
        </p:txBody>
      </p:sp>
      <p:sp>
        <p:nvSpPr>
          <p:cNvPr id="52246" name="Text Box 22"/>
          <p:cNvSpPr txBox="1">
            <a:spLocks noChangeArrowheads="1"/>
          </p:cNvSpPr>
          <p:nvPr/>
        </p:nvSpPr>
        <p:spPr bwMode="auto">
          <a:xfrm>
            <a:off x="1828800" y="4127500"/>
            <a:ext cx="838200" cy="645160"/>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rgbClr val="800000"/>
                </a:solidFill>
              </a:rPr>
              <a:t>1</a:t>
            </a:r>
          </a:p>
        </p:txBody>
      </p:sp>
      <p:sp>
        <p:nvSpPr>
          <p:cNvPr id="52247" name="Text Box 23"/>
          <p:cNvSpPr txBox="1">
            <a:spLocks noChangeArrowheads="1"/>
          </p:cNvSpPr>
          <p:nvPr/>
        </p:nvSpPr>
        <p:spPr bwMode="auto">
          <a:xfrm>
            <a:off x="2743200" y="4114800"/>
            <a:ext cx="838200" cy="645160"/>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rgbClr val="800000"/>
                </a:solidFill>
              </a:rPr>
              <a:t>3</a:t>
            </a:r>
          </a:p>
        </p:txBody>
      </p:sp>
      <p:sp>
        <p:nvSpPr>
          <p:cNvPr id="52248" name="Line 24"/>
          <p:cNvSpPr>
            <a:spLocks noChangeShapeType="1"/>
          </p:cNvSpPr>
          <p:nvPr/>
        </p:nvSpPr>
        <p:spPr bwMode="auto">
          <a:xfrm flipV="1">
            <a:off x="2209800" y="4800600"/>
            <a:ext cx="0" cy="762000"/>
          </a:xfrm>
          <a:prstGeom prst="line">
            <a:avLst/>
          </a:prstGeom>
          <a:noFill/>
          <a:ln w="19050">
            <a:solidFill>
              <a:srgbClr val="8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49" name="Text Box 25"/>
          <p:cNvSpPr txBox="1">
            <a:spLocks noChangeArrowheads="1"/>
          </p:cNvSpPr>
          <p:nvPr/>
        </p:nvSpPr>
        <p:spPr bwMode="auto">
          <a:xfrm>
            <a:off x="2232025" y="5249863"/>
            <a:ext cx="815975"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600">
                <a:solidFill>
                  <a:srgbClr val="800000"/>
                </a:solidFill>
              </a:rPr>
              <a:t>i=2</a:t>
            </a:r>
          </a:p>
        </p:txBody>
      </p:sp>
      <p:sp useBgFill="1">
        <p:nvSpPr>
          <p:cNvPr id="52250" name="Rectangle 26"/>
          <p:cNvSpPr>
            <a:spLocks noChangeArrowheads="1"/>
          </p:cNvSpPr>
          <p:nvPr/>
        </p:nvSpPr>
        <p:spPr bwMode="auto">
          <a:xfrm>
            <a:off x="5867400" y="4876800"/>
            <a:ext cx="838200" cy="9144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600"/>
          </a:p>
        </p:txBody>
      </p:sp>
      <p:sp>
        <p:nvSpPr>
          <p:cNvPr id="52252" name="Rectangle 28"/>
          <p:cNvSpPr>
            <a:spLocks noChangeArrowheads="1"/>
          </p:cNvSpPr>
          <p:nvPr/>
        </p:nvSpPr>
        <p:spPr bwMode="auto">
          <a:xfrm>
            <a:off x="611188" y="0"/>
            <a:ext cx="777240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sz="3200" b="1">
                <a:solidFill>
                  <a:srgbClr val="990000"/>
                </a:solidFill>
                <a:ea typeface="楷体_GB2312" pitchFamily="49" charset="-122"/>
              </a:rPr>
              <a:t>Further Improvement of Bubble Sort</a:t>
            </a:r>
          </a:p>
        </p:txBody>
      </p:sp>
      <p:sp>
        <p:nvSpPr>
          <p:cNvPr id="52253" name="Rectangle 29"/>
          <p:cNvSpPr>
            <a:spLocks noChangeArrowheads="1"/>
          </p:cNvSpPr>
          <p:nvPr/>
        </p:nvSpPr>
        <p:spPr bwMode="auto">
          <a:xfrm>
            <a:off x="35877" y="692785"/>
            <a:ext cx="9396413" cy="1223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10000"/>
              </a:lnSpc>
            </a:pPr>
            <a:r>
              <a:rPr lang="zh-CN" altLang="en-US" b="1">
                <a:latin typeface="Arial" panose="020B0604020202020204" pitchFamily="34" charset="0"/>
                <a:ea typeface="楷体_GB2312" pitchFamily="49" charset="-122"/>
                <a:cs typeface="Arial" panose="020B0604020202020204" pitchFamily="34" charset="0"/>
              </a:rPr>
              <a:t>Typically, each bubble cycle triggers </a:t>
            </a:r>
            <a:r>
              <a:rPr lang="en-US" altLang="zh-CN">
                <a:solidFill>
                  <a:srgbClr val="0000FF"/>
                </a:solidFill>
                <a:latin typeface="Arial" panose="020B0604020202020204" pitchFamily="34" charset="0"/>
                <a:ea typeface="楷体_GB2312" pitchFamily="49" charset="-122"/>
                <a:cs typeface="Arial" panose="020B0604020202020204" pitchFamily="34" charset="0"/>
              </a:rPr>
              <a:t>i minus 1</a:t>
            </a:r>
            <a:r>
              <a:rPr lang="zh-CN" altLang="en-US" b="1">
                <a:latin typeface="Arial" panose="020B0604020202020204" pitchFamily="34" charset="0"/>
                <a:ea typeface="楷体_GB2312" pitchFamily="49" charset="-122"/>
                <a:cs typeface="Arial" panose="020B0604020202020204" pitchFamily="34" charset="0"/>
              </a:rPr>
              <a:t>, though this pattern isnt always observed.</a:t>
            </a:r>
          </a:p>
        </p:txBody>
      </p:sp>
      <p:sp>
        <p:nvSpPr>
          <p:cNvPr id="52254" name="Rectangle 30"/>
          <p:cNvSpPr>
            <a:spLocks noChangeArrowheads="1"/>
          </p:cNvSpPr>
          <p:nvPr/>
        </p:nvSpPr>
        <p:spPr bwMode="auto">
          <a:xfrm>
            <a:off x="179388" y="1773238"/>
            <a:ext cx="8229600" cy="158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10000"/>
              </a:lnSpc>
            </a:pPr>
            <a:r>
              <a:rPr lang="zh-CN" altLang="en-US" b="1">
                <a:latin typeface="Arial" panose="020B0604020202020204" pitchFamily="34" charset="0"/>
                <a:ea typeface="楷体_GB2312" pitchFamily="49" charset="-122"/>
                <a:cs typeface="Arial" panose="020B0604020202020204" pitchFamily="34" charset="0"/>
              </a:rPr>
              <a:t>Further improvement: By remembering the position of the last swapped record in the current pass, the number of comparisons can be reduced in the next bubble pass.</a:t>
            </a:r>
          </a:p>
        </p:txBody>
      </p:sp>
      <p:sp>
        <p:nvSpPr>
          <p:cNvPr id="3" name="页脚占位符 2"/>
          <p:cNvSpPr>
            <a:spLocks noGrp="1"/>
          </p:cNvSpPr>
          <p:nvPr>
            <p:ph type="ftr" sz="quarter" idx="10"/>
          </p:nvPr>
        </p:nvSpPr>
        <p:spPr/>
        <p:txBody>
          <a:bodyPr/>
          <a:lstStyle/>
          <a:p>
            <a:pPr>
              <a:defRPr/>
            </a:pPr>
            <a:r>
              <a:rPr lang="en-US" altLang="zh-CN"/>
              <a:t>@ Zhihai Wang, 2025</a:t>
            </a:r>
            <a:endParaRPr lang="en-US" altLang="zh-CN" dirty="0"/>
          </a:p>
        </p:txBody>
      </p:sp>
      <p:sp>
        <p:nvSpPr>
          <p:cNvPr id="4" name="灯片编号占位符 3"/>
          <p:cNvSpPr>
            <a:spLocks noGrp="1"/>
          </p:cNvSpPr>
          <p:nvPr>
            <p:ph type="sldNum" sz="quarter" idx="11"/>
          </p:nvPr>
        </p:nvSpPr>
        <p:spPr/>
        <p:txBody>
          <a:bodyPr/>
          <a:lstStyle/>
          <a:p>
            <a:pPr>
              <a:defRPr/>
            </a:pPr>
            <a:fld id="{FC63145C-71F2-48C1-8DD2-31D6AC142F2A}" type="slidenum">
              <a:rPr lang="en-US" altLang="zh-CN" smtClean="0"/>
              <a:t>57</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52253"/>
                                        </p:tgtEl>
                                        <p:attrNameLst>
                                          <p:attrName>style.visibility</p:attrName>
                                        </p:attrNameLst>
                                      </p:cBhvr>
                                      <p:to>
                                        <p:strVal val="visible"/>
                                      </p:to>
                                    </p:set>
                                    <p:animEffect transition="in" filter="slide(fromBottom)">
                                      <p:cBhvr>
                                        <p:cTn id="7" dur="500"/>
                                        <p:tgtEl>
                                          <p:spTgt spid="5225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2228"/>
                                        </p:tgtEl>
                                        <p:attrNameLst>
                                          <p:attrName>style.visibility</p:attrName>
                                        </p:attrNameLst>
                                      </p:cBhvr>
                                      <p:to>
                                        <p:strVal val="visible"/>
                                      </p:to>
                                    </p:set>
                                    <p:animEffect transition="in" filter="wipe(left)">
                                      <p:cBhvr>
                                        <p:cTn id="12" dur="500"/>
                                        <p:tgtEl>
                                          <p:spTgt spid="52228"/>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52229"/>
                                        </p:tgtEl>
                                        <p:attrNameLst>
                                          <p:attrName>style.visibility</p:attrName>
                                        </p:attrNameLst>
                                      </p:cBhvr>
                                      <p:to>
                                        <p:strVal val="visible"/>
                                      </p:to>
                                    </p:set>
                                    <p:animEffect transition="in" filter="wipe(left)">
                                      <p:cBhvr>
                                        <p:cTn id="16" dur="500"/>
                                        <p:tgtEl>
                                          <p:spTgt spid="5222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52240"/>
                                        </p:tgtEl>
                                        <p:attrNameLst>
                                          <p:attrName>style.visibility</p:attrName>
                                        </p:attrNameLst>
                                      </p:cBhvr>
                                      <p:to>
                                        <p:strVal val="visible"/>
                                      </p:to>
                                    </p:set>
                                    <p:animEffect transition="in" filter="wipe(up)">
                                      <p:cBhvr>
                                        <p:cTn id="21" dur="500"/>
                                        <p:tgtEl>
                                          <p:spTgt spid="52240"/>
                                        </p:tgtEl>
                                      </p:cBhvr>
                                    </p:animEffect>
                                  </p:childTnLst>
                                </p:cTn>
                              </p:par>
                            </p:childTnLst>
                          </p:cTn>
                        </p:par>
                        <p:par>
                          <p:cTn id="22" fill="hold">
                            <p:stCondLst>
                              <p:cond delay="500"/>
                            </p:stCondLst>
                            <p:childTnLst>
                              <p:par>
                                <p:cTn id="23" presetID="22" presetClass="entr" presetSubtype="1" fill="hold" grpId="0" nodeType="afterEffect">
                                  <p:stCondLst>
                                    <p:cond delay="0"/>
                                  </p:stCondLst>
                                  <p:childTnLst>
                                    <p:set>
                                      <p:cBhvr>
                                        <p:cTn id="24" dur="1" fill="hold">
                                          <p:stCondLst>
                                            <p:cond delay="0"/>
                                          </p:stCondLst>
                                        </p:cTn>
                                        <p:tgtEl>
                                          <p:spTgt spid="52241"/>
                                        </p:tgtEl>
                                        <p:attrNameLst>
                                          <p:attrName>style.visibility</p:attrName>
                                        </p:attrNameLst>
                                      </p:cBhvr>
                                      <p:to>
                                        <p:strVal val="visible"/>
                                      </p:to>
                                    </p:set>
                                    <p:animEffect transition="in" filter="wipe(up)">
                                      <p:cBhvr>
                                        <p:cTn id="25" dur="500"/>
                                        <p:tgtEl>
                                          <p:spTgt spid="52241"/>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52230"/>
                                        </p:tgtEl>
                                        <p:attrNameLst>
                                          <p:attrName>style.visibility</p:attrName>
                                        </p:attrNameLst>
                                      </p:cBhvr>
                                      <p:to>
                                        <p:strVal val="visible"/>
                                      </p:to>
                                    </p:set>
                                    <p:animEffect transition="in" filter="wipe(left)">
                                      <p:cBhvr>
                                        <p:cTn id="30" dur="500"/>
                                        <p:tgtEl>
                                          <p:spTgt spid="52230"/>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52231"/>
                                        </p:tgtEl>
                                        <p:attrNameLst>
                                          <p:attrName>style.visibility</p:attrName>
                                        </p:attrNameLst>
                                      </p:cBhvr>
                                      <p:to>
                                        <p:strVal val="visible"/>
                                      </p:to>
                                    </p:set>
                                    <p:animEffect transition="in" filter="wipe(left)">
                                      <p:cBhvr>
                                        <p:cTn id="34" dur="500"/>
                                        <p:tgtEl>
                                          <p:spTgt spid="52231"/>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52233"/>
                                        </p:tgtEl>
                                        <p:attrNameLst>
                                          <p:attrName>style.visibility</p:attrName>
                                        </p:attrNameLst>
                                      </p:cBhvr>
                                      <p:to>
                                        <p:strVal val="visible"/>
                                      </p:to>
                                    </p:set>
                                    <p:animEffect transition="in" filter="wipe(left)">
                                      <p:cBhvr>
                                        <p:cTn id="39" dur="500"/>
                                        <p:tgtEl>
                                          <p:spTgt spid="52233"/>
                                        </p:tgtEl>
                                      </p:cBhvr>
                                    </p:animEffect>
                                  </p:childTnLst>
                                </p:cTn>
                              </p:par>
                            </p:childTnLst>
                          </p:cTn>
                        </p:par>
                        <p:par>
                          <p:cTn id="40" fill="hold">
                            <p:stCondLst>
                              <p:cond delay="500"/>
                            </p:stCondLst>
                            <p:childTnLst>
                              <p:par>
                                <p:cTn id="41" presetID="22" presetClass="entr" presetSubtype="8" fill="hold" grpId="0" nodeType="afterEffect">
                                  <p:stCondLst>
                                    <p:cond delay="0"/>
                                  </p:stCondLst>
                                  <p:childTnLst>
                                    <p:set>
                                      <p:cBhvr>
                                        <p:cTn id="42" dur="1" fill="hold">
                                          <p:stCondLst>
                                            <p:cond delay="0"/>
                                          </p:stCondLst>
                                        </p:cTn>
                                        <p:tgtEl>
                                          <p:spTgt spid="52232"/>
                                        </p:tgtEl>
                                        <p:attrNameLst>
                                          <p:attrName>style.visibility</p:attrName>
                                        </p:attrNameLst>
                                      </p:cBhvr>
                                      <p:to>
                                        <p:strVal val="visible"/>
                                      </p:to>
                                    </p:set>
                                    <p:animEffect transition="in" filter="wipe(left)">
                                      <p:cBhvr>
                                        <p:cTn id="43" dur="500"/>
                                        <p:tgtEl>
                                          <p:spTgt spid="52232"/>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52234"/>
                                        </p:tgtEl>
                                        <p:attrNameLst>
                                          <p:attrName>style.visibility</p:attrName>
                                        </p:attrNameLst>
                                      </p:cBhvr>
                                      <p:to>
                                        <p:strVal val="visible"/>
                                      </p:to>
                                    </p:set>
                                    <p:animEffect transition="in" filter="wipe(left)">
                                      <p:cBhvr>
                                        <p:cTn id="48" dur="500"/>
                                        <p:tgtEl>
                                          <p:spTgt spid="52234"/>
                                        </p:tgtEl>
                                      </p:cBhvr>
                                    </p:animEffect>
                                  </p:childTnLst>
                                </p:cTn>
                              </p:par>
                            </p:childTnLst>
                          </p:cTn>
                        </p:par>
                        <p:par>
                          <p:cTn id="49" fill="hold">
                            <p:stCondLst>
                              <p:cond delay="500"/>
                            </p:stCondLst>
                            <p:childTnLst>
                              <p:par>
                                <p:cTn id="50" presetID="22" presetClass="entr" presetSubtype="8" fill="hold" grpId="0" nodeType="afterEffect">
                                  <p:stCondLst>
                                    <p:cond delay="0"/>
                                  </p:stCondLst>
                                  <p:childTnLst>
                                    <p:set>
                                      <p:cBhvr>
                                        <p:cTn id="51" dur="1" fill="hold">
                                          <p:stCondLst>
                                            <p:cond delay="0"/>
                                          </p:stCondLst>
                                        </p:cTn>
                                        <p:tgtEl>
                                          <p:spTgt spid="52235"/>
                                        </p:tgtEl>
                                        <p:attrNameLst>
                                          <p:attrName>style.visibility</p:attrName>
                                        </p:attrNameLst>
                                      </p:cBhvr>
                                      <p:to>
                                        <p:strVal val="visible"/>
                                      </p:to>
                                    </p:set>
                                    <p:animEffect transition="in" filter="wipe(left)">
                                      <p:cBhvr>
                                        <p:cTn id="52" dur="500"/>
                                        <p:tgtEl>
                                          <p:spTgt spid="5223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52236"/>
                                        </p:tgtEl>
                                        <p:attrNameLst>
                                          <p:attrName>style.visibility</p:attrName>
                                        </p:attrNameLst>
                                      </p:cBhvr>
                                      <p:to>
                                        <p:strVal val="visible"/>
                                      </p:to>
                                    </p:set>
                                    <p:animEffect transition="in" filter="wipe(left)">
                                      <p:cBhvr>
                                        <p:cTn id="57" dur="500"/>
                                        <p:tgtEl>
                                          <p:spTgt spid="52236"/>
                                        </p:tgtEl>
                                      </p:cBhvr>
                                    </p:animEffect>
                                  </p:childTnLst>
                                </p:cTn>
                              </p:par>
                            </p:childTnLst>
                          </p:cTn>
                        </p:par>
                        <p:par>
                          <p:cTn id="58" fill="hold">
                            <p:stCondLst>
                              <p:cond delay="500"/>
                            </p:stCondLst>
                            <p:childTnLst>
                              <p:par>
                                <p:cTn id="59" presetID="22" presetClass="entr" presetSubtype="8" fill="hold" grpId="0" nodeType="afterEffect">
                                  <p:stCondLst>
                                    <p:cond delay="0"/>
                                  </p:stCondLst>
                                  <p:childTnLst>
                                    <p:set>
                                      <p:cBhvr>
                                        <p:cTn id="60" dur="1" fill="hold">
                                          <p:stCondLst>
                                            <p:cond delay="0"/>
                                          </p:stCondLst>
                                        </p:cTn>
                                        <p:tgtEl>
                                          <p:spTgt spid="52237"/>
                                        </p:tgtEl>
                                        <p:attrNameLst>
                                          <p:attrName>style.visibility</p:attrName>
                                        </p:attrNameLst>
                                      </p:cBhvr>
                                      <p:to>
                                        <p:strVal val="visible"/>
                                      </p:to>
                                    </p:set>
                                    <p:animEffect transition="in" filter="wipe(left)">
                                      <p:cBhvr>
                                        <p:cTn id="61" dur="500"/>
                                        <p:tgtEl>
                                          <p:spTgt spid="52237"/>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52238"/>
                                        </p:tgtEl>
                                        <p:attrNameLst>
                                          <p:attrName>style.visibility</p:attrName>
                                        </p:attrNameLst>
                                      </p:cBhvr>
                                      <p:to>
                                        <p:strVal val="visible"/>
                                      </p:to>
                                    </p:set>
                                    <p:animEffect transition="in" filter="wipe(left)">
                                      <p:cBhvr>
                                        <p:cTn id="66" dur="500"/>
                                        <p:tgtEl>
                                          <p:spTgt spid="52238"/>
                                        </p:tgtEl>
                                      </p:cBhvr>
                                    </p:animEffect>
                                  </p:childTnLst>
                                </p:cTn>
                              </p:par>
                            </p:childTnLst>
                          </p:cTn>
                        </p:par>
                        <p:par>
                          <p:cTn id="67" fill="hold">
                            <p:stCondLst>
                              <p:cond delay="500"/>
                            </p:stCondLst>
                            <p:childTnLst>
                              <p:par>
                                <p:cTn id="68" presetID="22" presetClass="entr" presetSubtype="8" fill="hold" grpId="0" nodeType="afterEffect">
                                  <p:stCondLst>
                                    <p:cond delay="0"/>
                                  </p:stCondLst>
                                  <p:childTnLst>
                                    <p:set>
                                      <p:cBhvr>
                                        <p:cTn id="69" dur="1" fill="hold">
                                          <p:stCondLst>
                                            <p:cond delay="0"/>
                                          </p:stCondLst>
                                        </p:cTn>
                                        <p:tgtEl>
                                          <p:spTgt spid="52239"/>
                                        </p:tgtEl>
                                        <p:attrNameLst>
                                          <p:attrName>style.visibility</p:attrName>
                                        </p:attrNameLst>
                                      </p:cBhvr>
                                      <p:to>
                                        <p:strVal val="visible"/>
                                      </p:to>
                                    </p:set>
                                    <p:animEffect transition="in" filter="wipe(left)">
                                      <p:cBhvr>
                                        <p:cTn id="70" dur="500"/>
                                        <p:tgtEl>
                                          <p:spTgt spid="52239"/>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1" fill="hold" grpId="0" nodeType="clickEffect">
                                  <p:stCondLst>
                                    <p:cond delay="0"/>
                                  </p:stCondLst>
                                  <p:childTnLst>
                                    <p:set>
                                      <p:cBhvr>
                                        <p:cTn id="74" dur="1" fill="hold">
                                          <p:stCondLst>
                                            <p:cond delay="0"/>
                                          </p:stCondLst>
                                        </p:cTn>
                                        <p:tgtEl>
                                          <p:spTgt spid="52245"/>
                                        </p:tgtEl>
                                        <p:attrNameLst>
                                          <p:attrName>style.visibility</p:attrName>
                                        </p:attrNameLst>
                                      </p:cBhvr>
                                      <p:to>
                                        <p:strVal val="visible"/>
                                      </p:to>
                                    </p:set>
                                    <p:animEffect transition="in" filter="wipe(up)">
                                      <p:cBhvr>
                                        <p:cTn id="75" dur="500"/>
                                        <p:tgtEl>
                                          <p:spTgt spid="52245"/>
                                        </p:tgtEl>
                                      </p:cBhvr>
                                    </p:animEffect>
                                  </p:childTnLst>
                                </p:cTn>
                              </p:par>
                            </p:childTnLst>
                          </p:cTn>
                        </p:par>
                        <p:par>
                          <p:cTn id="76" fill="hold">
                            <p:stCondLst>
                              <p:cond delay="500"/>
                            </p:stCondLst>
                            <p:childTnLst>
                              <p:par>
                                <p:cTn id="77" presetID="22" presetClass="entr" presetSubtype="1" fill="hold" grpId="0" nodeType="afterEffect">
                                  <p:stCondLst>
                                    <p:cond delay="0"/>
                                  </p:stCondLst>
                                  <p:childTnLst>
                                    <p:set>
                                      <p:cBhvr>
                                        <p:cTn id="78" dur="1" fill="hold">
                                          <p:stCondLst>
                                            <p:cond delay="0"/>
                                          </p:stCondLst>
                                        </p:cTn>
                                        <p:tgtEl>
                                          <p:spTgt spid="52242"/>
                                        </p:tgtEl>
                                        <p:attrNameLst>
                                          <p:attrName>style.visibility</p:attrName>
                                        </p:attrNameLst>
                                      </p:cBhvr>
                                      <p:to>
                                        <p:strVal val="visible"/>
                                      </p:to>
                                    </p:set>
                                    <p:animEffect transition="in" filter="wipe(up)">
                                      <p:cBhvr>
                                        <p:cTn id="79" dur="500"/>
                                        <p:tgtEl>
                                          <p:spTgt spid="52242"/>
                                        </p:tgtEl>
                                      </p:cBhvr>
                                    </p:animEffect>
                                  </p:childTnLst>
                                </p:cTn>
                              </p:par>
                            </p:childTnLst>
                          </p:cTn>
                        </p:par>
                        <p:par>
                          <p:cTn id="80" fill="hold">
                            <p:stCondLst>
                              <p:cond delay="1000"/>
                            </p:stCondLst>
                            <p:childTnLst>
                              <p:par>
                                <p:cTn id="81" presetID="22" presetClass="entr" presetSubtype="1" fill="hold" grpId="0" nodeType="afterEffect">
                                  <p:stCondLst>
                                    <p:cond delay="0"/>
                                  </p:stCondLst>
                                  <p:childTnLst>
                                    <p:set>
                                      <p:cBhvr>
                                        <p:cTn id="82" dur="1" fill="hold">
                                          <p:stCondLst>
                                            <p:cond delay="0"/>
                                          </p:stCondLst>
                                        </p:cTn>
                                        <p:tgtEl>
                                          <p:spTgt spid="52243"/>
                                        </p:tgtEl>
                                        <p:attrNameLst>
                                          <p:attrName>style.visibility</p:attrName>
                                        </p:attrNameLst>
                                      </p:cBhvr>
                                      <p:to>
                                        <p:strVal val="visible"/>
                                      </p:to>
                                    </p:set>
                                    <p:animEffect transition="in" filter="wipe(up)">
                                      <p:cBhvr>
                                        <p:cTn id="83" dur="500"/>
                                        <p:tgtEl>
                                          <p:spTgt spid="52243"/>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52246"/>
                                        </p:tgtEl>
                                        <p:attrNameLst>
                                          <p:attrName>style.visibility</p:attrName>
                                        </p:attrNameLst>
                                      </p:cBhvr>
                                      <p:to>
                                        <p:strVal val="visible"/>
                                      </p:to>
                                    </p:set>
                                    <p:animEffect transition="in" filter="wipe(left)">
                                      <p:cBhvr>
                                        <p:cTn id="88" dur="500"/>
                                        <p:tgtEl>
                                          <p:spTgt spid="52246"/>
                                        </p:tgtEl>
                                      </p:cBhvr>
                                    </p:animEffect>
                                  </p:childTnLst>
                                </p:cTn>
                              </p:par>
                            </p:childTnLst>
                          </p:cTn>
                        </p:par>
                        <p:par>
                          <p:cTn id="89" fill="hold">
                            <p:stCondLst>
                              <p:cond delay="500"/>
                            </p:stCondLst>
                            <p:childTnLst>
                              <p:par>
                                <p:cTn id="90" presetID="22" presetClass="entr" presetSubtype="8" fill="hold" grpId="0" nodeType="afterEffect">
                                  <p:stCondLst>
                                    <p:cond delay="0"/>
                                  </p:stCondLst>
                                  <p:childTnLst>
                                    <p:set>
                                      <p:cBhvr>
                                        <p:cTn id="91" dur="1" fill="hold">
                                          <p:stCondLst>
                                            <p:cond delay="0"/>
                                          </p:stCondLst>
                                        </p:cTn>
                                        <p:tgtEl>
                                          <p:spTgt spid="52247"/>
                                        </p:tgtEl>
                                        <p:attrNameLst>
                                          <p:attrName>style.visibility</p:attrName>
                                        </p:attrNameLst>
                                      </p:cBhvr>
                                      <p:to>
                                        <p:strVal val="visible"/>
                                      </p:to>
                                    </p:set>
                                    <p:animEffect transition="in" filter="wipe(left)">
                                      <p:cBhvr>
                                        <p:cTn id="92" dur="500"/>
                                        <p:tgtEl>
                                          <p:spTgt spid="52247"/>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1" fill="hold" grpId="0" nodeType="clickEffect">
                                  <p:stCondLst>
                                    <p:cond delay="0"/>
                                  </p:stCondLst>
                                  <p:childTnLst>
                                    <p:set>
                                      <p:cBhvr>
                                        <p:cTn id="96" dur="1" fill="hold">
                                          <p:stCondLst>
                                            <p:cond delay="0"/>
                                          </p:stCondLst>
                                        </p:cTn>
                                        <p:tgtEl>
                                          <p:spTgt spid="52250"/>
                                        </p:tgtEl>
                                        <p:attrNameLst>
                                          <p:attrName>style.visibility</p:attrName>
                                        </p:attrNameLst>
                                      </p:cBhvr>
                                      <p:to>
                                        <p:strVal val="visible"/>
                                      </p:to>
                                    </p:set>
                                    <p:animEffect transition="in" filter="wipe(up)">
                                      <p:cBhvr>
                                        <p:cTn id="97" dur="500"/>
                                        <p:tgtEl>
                                          <p:spTgt spid="52250"/>
                                        </p:tgtEl>
                                      </p:cBhvr>
                                    </p:animEffect>
                                  </p:childTnLst>
                                </p:cTn>
                              </p:par>
                            </p:childTnLst>
                          </p:cTn>
                        </p:par>
                        <p:par>
                          <p:cTn id="98" fill="hold">
                            <p:stCondLst>
                              <p:cond delay="500"/>
                            </p:stCondLst>
                            <p:childTnLst>
                              <p:par>
                                <p:cTn id="99" presetID="22" presetClass="entr" presetSubtype="1" fill="hold" grpId="0" nodeType="afterEffect">
                                  <p:stCondLst>
                                    <p:cond delay="0"/>
                                  </p:stCondLst>
                                  <p:childTnLst>
                                    <p:set>
                                      <p:cBhvr>
                                        <p:cTn id="100" dur="1" fill="hold">
                                          <p:stCondLst>
                                            <p:cond delay="0"/>
                                          </p:stCondLst>
                                        </p:cTn>
                                        <p:tgtEl>
                                          <p:spTgt spid="52248"/>
                                        </p:tgtEl>
                                        <p:attrNameLst>
                                          <p:attrName>style.visibility</p:attrName>
                                        </p:attrNameLst>
                                      </p:cBhvr>
                                      <p:to>
                                        <p:strVal val="visible"/>
                                      </p:to>
                                    </p:set>
                                    <p:animEffect transition="in" filter="wipe(up)">
                                      <p:cBhvr>
                                        <p:cTn id="101" dur="500"/>
                                        <p:tgtEl>
                                          <p:spTgt spid="52248"/>
                                        </p:tgtEl>
                                      </p:cBhvr>
                                    </p:animEffect>
                                  </p:childTnLst>
                                </p:cTn>
                              </p:par>
                            </p:childTnLst>
                          </p:cTn>
                        </p:par>
                        <p:par>
                          <p:cTn id="102" fill="hold">
                            <p:stCondLst>
                              <p:cond delay="1000"/>
                            </p:stCondLst>
                            <p:childTnLst>
                              <p:par>
                                <p:cTn id="103" presetID="22" presetClass="entr" presetSubtype="1" fill="hold" grpId="0" nodeType="afterEffect">
                                  <p:stCondLst>
                                    <p:cond delay="0"/>
                                  </p:stCondLst>
                                  <p:childTnLst>
                                    <p:set>
                                      <p:cBhvr>
                                        <p:cTn id="104" dur="1" fill="hold">
                                          <p:stCondLst>
                                            <p:cond delay="0"/>
                                          </p:stCondLst>
                                        </p:cTn>
                                        <p:tgtEl>
                                          <p:spTgt spid="52249"/>
                                        </p:tgtEl>
                                        <p:attrNameLst>
                                          <p:attrName>style.visibility</p:attrName>
                                        </p:attrNameLst>
                                      </p:cBhvr>
                                      <p:to>
                                        <p:strVal val="visible"/>
                                      </p:to>
                                    </p:set>
                                    <p:animEffect transition="in" filter="wipe(up)">
                                      <p:cBhvr>
                                        <p:cTn id="105" dur="500"/>
                                        <p:tgtEl>
                                          <p:spTgt spid="52249"/>
                                        </p:tgtEl>
                                      </p:cBhvr>
                                    </p:animEffect>
                                  </p:childTnLst>
                                </p:cTn>
                              </p:par>
                            </p:childTnLst>
                          </p:cTn>
                        </p:par>
                      </p:childTnLst>
                    </p:cTn>
                  </p:par>
                  <p:par>
                    <p:cTn id="106" fill="hold">
                      <p:stCondLst>
                        <p:cond delay="indefinite"/>
                      </p:stCondLst>
                      <p:childTnLst>
                        <p:par>
                          <p:cTn id="107" fill="hold">
                            <p:stCondLst>
                              <p:cond delay="0"/>
                            </p:stCondLst>
                            <p:childTnLst>
                              <p:par>
                                <p:cTn id="108" presetID="9" presetClass="entr" presetSubtype="0" fill="hold" grpId="0" nodeType="clickEffect">
                                  <p:stCondLst>
                                    <p:cond delay="0"/>
                                  </p:stCondLst>
                                  <p:childTnLst>
                                    <p:set>
                                      <p:cBhvr>
                                        <p:cTn id="109" dur="1" fill="hold">
                                          <p:stCondLst>
                                            <p:cond delay="0"/>
                                          </p:stCondLst>
                                        </p:cTn>
                                        <p:tgtEl>
                                          <p:spTgt spid="52254"/>
                                        </p:tgtEl>
                                        <p:attrNameLst>
                                          <p:attrName>style.visibility</p:attrName>
                                        </p:attrNameLst>
                                      </p:cBhvr>
                                      <p:to>
                                        <p:strVal val="visible"/>
                                      </p:to>
                                    </p:set>
                                    <p:animEffect transition="in" filter="dissolve">
                                      <p:cBhvr>
                                        <p:cTn id="110" dur="500"/>
                                        <p:tgtEl>
                                          <p:spTgt spid="522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8" grpId="0" bldLvl="0" animBg="1" autoUpdateAnimBg="0"/>
      <p:bldP spid="52230" grpId="0" bldLvl="0" animBg="1" autoUpdateAnimBg="0"/>
      <p:bldP spid="52231" grpId="0" bldLvl="0" animBg="1" autoUpdateAnimBg="0"/>
      <p:bldP spid="52232" grpId="0" bldLvl="0" animBg="1" autoUpdateAnimBg="0"/>
      <p:bldP spid="52233" grpId="0" bldLvl="0" animBg="1" autoUpdateAnimBg="0"/>
      <p:bldP spid="52234" grpId="0" bldLvl="0" animBg="1" autoUpdateAnimBg="0"/>
      <p:bldP spid="52235" grpId="0" bldLvl="0" animBg="1" autoUpdateAnimBg="0"/>
      <p:bldP spid="52236" grpId="0" bldLvl="0" animBg="1" autoUpdateAnimBg="0"/>
      <p:bldP spid="52237" grpId="0" bldLvl="0" animBg="1" autoUpdateAnimBg="0"/>
      <p:bldP spid="52238" grpId="0" bldLvl="0" animBg="1" autoUpdateAnimBg="0"/>
      <p:bldP spid="52239" grpId="0" bldLvl="0" animBg="1" autoUpdateAnimBg="0"/>
      <p:bldP spid="52240" grpId="0" bldLvl="0" animBg="1"/>
      <p:bldP spid="52241" grpId="0" bldLvl="0" animBg="1" autoUpdateAnimBg="0"/>
      <p:bldP spid="52242" grpId="0" bldLvl="0" animBg="1"/>
      <p:bldP spid="52243" grpId="0" bldLvl="0" animBg="1" autoUpdateAnimBg="0"/>
      <p:bldP spid="52245" grpId="0" bldLvl="0" animBg="1"/>
      <p:bldP spid="52246" grpId="0" bldLvl="0" animBg="1" autoUpdateAnimBg="0"/>
      <p:bldP spid="52247" grpId="0" bldLvl="0" animBg="1" autoUpdateAnimBg="0"/>
      <p:bldP spid="52248" grpId="0" bldLvl="0" animBg="1"/>
      <p:bldP spid="52249" grpId="0" bldLvl="0" animBg="1" autoUpdateAnimBg="0"/>
      <p:bldP spid="52250" grpId="0" bldLvl="0" animBg="1"/>
      <p:bldP spid="52253" grpId="0" bldLvl="0" animBg="1"/>
      <p:bldP spid="52254" grpId="0" bldLvl="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2"/>
          <p:cNvSpPr txBox="1">
            <a:spLocks noChangeArrowheads="1"/>
          </p:cNvSpPr>
          <p:nvPr/>
        </p:nvSpPr>
        <p:spPr bwMode="auto">
          <a:xfrm>
            <a:off x="358775" y="152400"/>
            <a:ext cx="3323590"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solidFill>
                  <a:srgbClr val="990000"/>
                </a:solidFill>
                <a:latin typeface="Arial" panose="020B0604020202020204" pitchFamily="34" charset="0"/>
                <a:cs typeface="Arial" panose="020B0604020202020204" pitchFamily="34" charset="0"/>
              </a:rPr>
              <a:t>Time analysis:</a:t>
            </a:r>
            <a:endParaRPr lang="zh-CN" altLang="en-US" sz="3600" b="1">
              <a:solidFill>
                <a:srgbClr val="990000"/>
              </a:solidFill>
              <a:latin typeface="Arial" panose="020B0604020202020204" pitchFamily="34" charset="0"/>
              <a:ea typeface="楷体_GB2312" pitchFamily="49" charset="-122"/>
              <a:cs typeface="Arial" panose="020B0604020202020204" pitchFamily="34" charset="0"/>
            </a:endParaRPr>
          </a:p>
        </p:txBody>
      </p:sp>
      <p:sp>
        <p:nvSpPr>
          <p:cNvPr id="54275" name="Text Box 3"/>
          <p:cNvSpPr txBox="1">
            <a:spLocks noChangeArrowheads="1"/>
          </p:cNvSpPr>
          <p:nvPr/>
        </p:nvSpPr>
        <p:spPr bwMode="auto">
          <a:xfrm>
            <a:off x="342900" y="908368"/>
            <a:ext cx="2519045" cy="534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lang="zh-CN" altLang="en-US" sz="2400" b="1">
                <a:solidFill>
                  <a:srgbClr val="000099"/>
                </a:solidFill>
                <a:ea typeface="楷体_GB2312" pitchFamily="49" charset="-122"/>
              </a:rPr>
              <a:t>Best case scenario</a:t>
            </a:r>
          </a:p>
        </p:txBody>
      </p:sp>
      <p:sp>
        <p:nvSpPr>
          <p:cNvPr id="54276" name="Text Box 4"/>
          <p:cNvSpPr txBox="1">
            <a:spLocks noChangeArrowheads="1"/>
          </p:cNvSpPr>
          <p:nvPr/>
        </p:nvSpPr>
        <p:spPr bwMode="auto">
          <a:xfrm>
            <a:off x="609600" y="2132965"/>
            <a:ext cx="3675063"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a:solidFill>
                  <a:srgbClr val="005042"/>
                </a:solidFill>
                <a:ea typeface="隶书" panose="02010509060101010101" pitchFamily="49" charset="-122"/>
              </a:rPr>
              <a:t>Comparison count:</a:t>
            </a:r>
          </a:p>
        </p:txBody>
      </p:sp>
      <p:sp>
        <p:nvSpPr>
          <p:cNvPr id="54277" name="Text Box 5"/>
          <p:cNvSpPr txBox="1">
            <a:spLocks noChangeArrowheads="1"/>
          </p:cNvSpPr>
          <p:nvPr/>
        </p:nvSpPr>
        <p:spPr bwMode="auto">
          <a:xfrm>
            <a:off x="358775" y="3124200"/>
            <a:ext cx="9182100" cy="1124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zh-CN" altLang="en-US" b="1">
                <a:solidFill>
                  <a:srgbClr val="333399"/>
                </a:solidFill>
                <a:ea typeface="楷体_GB2312" pitchFamily="49" charset="-122"/>
              </a:rPr>
              <a:t>Worst-case scenario (keys in reverse order):</a:t>
            </a:r>
          </a:p>
          <a:p>
            <a:pPr>
              <a:lnSpc>
                <a:spcPct val="120000"/>
              </a:lnSpc>
            </a:pPr>
            <a:r>
              <a:rPr lang="zh-CN" altLang="en-US" b="1">
                <a:solidFill>
                  <a:srgbClr val="333399"/>
                </a:solidFill>
                <a:ea typeface="楷体_GB2312" pitchFamily="49" charset="-122"/>
              </a:rPr>
              <a:t>n-1 bubbles needed</a:t>
            </a:r>
          </a:p>
        </p:txBody>
      </p:sp>
      <p:sp>
        <p:nvSpPr>
          <p:cNvPr id="54278" name="Text Box 6"/>
          <p:cNvSpPr txBox="1">
            <a:spLocks noChangeArrowheads="1"/>
          </p:cNvSpPr>
          <p:nvPr/>
        </p:nvSpPr>
        <p:spPr bwMode="auto">
          <a:xfrm>
            <a:off x="609600" y="4419600"/>
            <a:ext cx="385445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a:solidFill>
                  <a:srgbClr val="005042"/>
                </a:solidFill>
                <a:ea typeface="隶书" panose="02010509060101010101" pitchFamily="49" charset="-122"/>
              </a:rPr>
              <a:t>Comparison count:</a:t>
            </a:r>
          </a:p>
        </p:txBody>
      </p:sp>
      <p:sp>
        <p:nvSpPr>
          <p:cNvPr id="54279" name="Text Box 7"/>
          <p:cNvSpPr txBox="1">
            <a:spLocks noChangeArrowheads="1"/>
          </p:cNvSpPr>
          <p:nvPr/>
        </p:nvSpPr>
        <p:spPr bwMode="auto">
          <a:xfrm>
            <a:off x="6019800" y="2530475"/>
            <a:ext cx="36068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rPr>
              <a:t>0</a:t>
            </a:r>
          </a:p>
        </p:txBody>
      </p:sp>
      <p:sp>
        <p:nvSpPr>
          <p:cNvPr id="54280" name="Rectangle 8"/>
          <p:cNvSpPr>
            <a:spLocks noChangeArrowheads="1"/>
          </p:cNvSpPr>
          <p:nvPr/>
        </p:nvSpPr>
        <p:spPr bwMode="auto">
          <a:xfrm>
            <a:off x="4876800" y="2181225"/>
            <a:ext cx="390842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a:solidFill>
                  <a:srgbClr val="005042"/>
                </a:solidFill>
                <a:ea typeface="隶书" panose="02010509060101010101" pitchFamily="49" charset="-122"/>
              </a:rPr>
              <a:t>Number of moves:</a:t>
            </a:r>
          </a:p>
        </p:txBody>
      </p:sp>
      <p:sp>
        <p:nvSpPr>
          <p:cNvPr id="54281" name="Rectangle 9"/>
          <p:cNvSpPr>
            <a:spLocks noChangeArrowheads="1"/>
          </p:cNvSpPr>
          <p:nvPr/>
        </p:nvSpPr>
        <p:spPr bwMode="auto">
          <a:xfrm>
            <a:off x="4876800" y="4419600"/>
            <a:ext cx="390842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a:solidFill>
                  <a:srgbClr val="005042"/>
                </a:solidFill>
                <a:ea typeface="隶书" panose="02010509060101010101" pitchFamily="49" charset="-122"/>
              </a:rPr>
              <a:t>Number of moves:</a:t>
            </a:r>
          </a:p>
        </p:txBody>
      </p:sp>
      <p:sp>
        <p:nvSpPr>
          <p:cNvPr id="54282" name="Text Box 10"/>
          <p:cNvSpPr txBox="1">
            <a:spLocks noChangeArrowheads="1"/>
          </p:cNvSpPr>
          <p:nvPr/>
        </p:nvSpPr>
        <p:spPr bwMode="auto">
          <a:xfrm>
            <a:off x="1676400" y="2514600"/>
            <a:ext cx="67627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rPr>
              <a:t>n-1</a:t>
            </a:r>
          </a:p>
        </p:txBody>
      </p:sp>
      <p:graphicFrame>
        <p:nvGraphicFramePr>
          <p:cNvPr id="54283" name="Object 11"/>
          <p:cNvGraphicFramePr>
            <a:graphicFrameLocks noChangeAspect="1"/>
          </p:cNvGraphicFramePr>
          <p:nvPr/>
        </p:nvGraphicFramePr>
        <p:xfrm>
          <a:off x="914400" y="5057775"/>
          <a:ext cx="2819400" cy="1006475"/>
        </p:xfrm>
        <a:graphic>
          <a:graphicData uri="http://schemas.openxmlformats.org/presentationml/2006/ole">
            <mc:AlternateContent xmlns:mc="http://schemas.openxmlformats.org/markup-compatibility/2006">
              <mc:Choice xmlns:v="urn:schemas-microsoft-com:vml" Requires="v">
                <p:oleObj spid="_x0000_s25604" name="公式" r:id="rId3" imgW="2413000" imgH="863600" progId="Equation.3">
                  <p:embed/>
                </p:oleObj>
              </mc:Choice>
              <mc:Fallback>
                <p:oleObj name="公式" r:id="rId3" imgW="2413000" imgH="863600" progId="Equation.3">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5057775"/>
                        <a:ext cx="28194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4284" name="Object 12"/>
          <p:cNvGraphicFramePr>
            <a:graphicFrameLocks noChangeAspect="1"/>
          </p:cNvGraphicFramePr>
          <p:nvPr/>
        </p:nvGraphicFramePr>
        <p:xfrm>
          <a:off x="5029200" y="5057775"/>
          <a:ext cx="2895600" cy="927100"/>
        </p:xfrm>
        <a:graphic>
          <a:graphicData uri="http://schemas.openxmlformats.org/presentationml/2006/ole">
            <mc:AlternateContent xmlns:mc="http://schemas.openxmlformats.org/markup-compatibility/2006">
              <mc:Choice xmlns:v="urn:schemas-microsoft-com:vml" Requires="v">
                <p:oleObj spid="_x0000_s25605" name="公式" r:id="rId5" imgW="2692400" imgH="863600" progId="Equation.3">
                  <p:embed/>
                </p:oleObj>
              </mc:Choice>
              <mc:Fallback>
                <p:oleObj name="公式" r:id="rId5" imgW="2692400" imgH="863600" progId="Equation.3">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29200" y="5057775"/>
                        <a:ext cx="2895600" cy="92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4287" name="Text Box 15"/>
          <p:cNvSpPr txBox="1">
            <a:spLocks noChangeArrowheads="1"/>
          </p:cNvSpPr>
          <p:nvPr/>
        </p:nvSpPr>
        <p:spPr bwMode="auto">
          <a:xfrm>
            <a:off x="2772410" y="870585"/>
            <a:ext cx="6421120" cy="977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lang="zh-CN" altLang="en-US" sz="2400" b="1">
                <a:solidFill>
                  <a:srgbClr val="000099"/>
                </a:solidFill>
                <a:ea typeface="楷体_GB2312" pitchFamily="49" charset="-122"/>
              </a:rPr>
              <a:t>(Keywords are in order in the record sequence):</a:t>
            </a:r>
          </a:p>
          <a:p>
            <a:pPr>
              <a:lnSpc>
                <a:spcPct val="120000"/>
              </a:lnSpc>
            </a:pPr>
            <a:r>
              <a:rPr lang="zh-CN" altLang="en-US" sz="2400" b="1">
                <a:solidFill>
                  <a:srgbClr val="000099"/>
                </a:solidFill>
                <a:ea typeface="楷体_GB2312" pitchFamily="49" charset="-122"/>
              </a:rPr>
              <a:t>Just one bubble is needed</a:t>
            </a:r>
          </a:p>
        </p:txBody>
      </p:sp>
      <p:sp>
        <p:nvSpPr>
          <p:cNvPr id="4" name="页脚占位符 3"/>
          <p:cNvSpPr>
            <a:spLocks noGrp="1"/>
          </p:cNvSpPr>
          <p:nvPr>
            <p:ph type="ftr" sz="quarter" idx="10"/>
          </p:nvPr>
        </p:nvSpPr>
        <p:spPr/>
        <p:txBody>
          <a:bodyPr/>
          <a:lstStyle/>
          <a:p>
            <a:pPr>
              <a:defRPr/>
            </a:pPr>
            <a:r>
              <a:rPr lang="en-US" altLang="zh-CN"/>
              <a:t>@ Zhihai Wang,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t>58</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afterEffect">
                                  <p:stCondLst>
                                    <p:cond delay="0"/>
                                  </p:stCondLst>
                                  <p:childTnLst>
                                    <p:set>
                                      <p:cBhvr>
                                        <p:cTn id="6" dur="1" fill="hold">
                                          <p:stCondLst>
                                            <p:cond delay="0"/>
                                          </p:stCondLst>
                                        </p:cTn>
                                        <p:tgtEl>
                                          <p:spTgt spid="54274"/>
                                        </p:tgtEl>
                                        <p:attrNameLst>
                                          <p:attrName>style.visibility</p:attrName>
                                        </p:attrNameLst>
                                      </p:cBhvr>
                                      <p:to>
                                        <p:strVal val="visible"/>
                                      </p:to>
                                    </p:set>
                                    <p:anim calcmode="lin" valueType="num">
                                      <p:cBhvr additive="base">
                                        <p:cTn id="7" dur="500" fill="hold"/>
                                        <p:tgtEl>
                                          <p:spTgt spid="54274"/>
                                        </p:tgtEl>
                                        <p:attrNameLst>
                                          <p:attrName>ppt_x</p:attrName>
                                        </p:attrNameLst>
                                      </p:cBhvr>
                                      <p:tavLst>
                                        <p:tav tm="0">
                                          <p:val>
                                            <p:strVal val="0-#ppt_w/2"/>
                                          </p:val>
                                        </p:tav>
                                        <p:tav tm="100000">
                                          <p:val>
                                            <p:strVal val="#ppt_x"/>
                                          </p:val>
                                        </p:tav>
                                      </p:tavLst>
                                    </p:anim>
                                    <p:anim calcmode="lin" valueType="num">
                                      <p:cBhvr additive="base">
                                        <p:cTn id="8" dur="500" fill="hold"/>
                                        <p:tgtEl>
                                          <p:spTgt spid="54274"/>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8" presetClass="entr" presetSubtype="6" fill="hold" grpId="0" nodeType="clickEffect">
                                  <p:stCondLst>
                                    <p:cond delay="0"/>
                                  </p:stCondLst>
                                  <p:childTnLst>
                                    <p:set>
                                      <p:cBhvr>
                                        <p:cTn id="12" dur="1" fill="hold">
                                          <p:stCondLst>
                                            <p:cond delay="0"/>
                                          </p:stCondLst>
                                        </p:cTn>
                                        <p:tgtEl>
                                          <p:spTgt spid="54275"/>
                                        </p:tgtEl>
                                        <p:attrNameLst>
                                          <p:attrName>style.visibility</p:attrName>
                                        </p:attrNameLst>
                                      </p:cBhvr>
                                      <p:to>
                                        <p:strVal val="visible"/>
                                      </p:to>
                                    </p:set>
                                    <p:animEffect transition="in" filter="strips(downRight)">
                                      <p:cBhvr>
                                        <p:cTn id="13" dur="500"/>
                                        <p:tgtEl>
                                          <p:spTgt spid="54275"/>
                                        </p:tgtEl>
                                      </p:cBhvr>
                                    </p:animEffect>
                                  </p:childTnLst>
                                </p:cTn>
                              </p:par>
                            </p:childTnLst>
                          </p:cTn>
                        </p:par>
                      </p:childTnLst>
                    </p:cTn>
                  </p:par>
                  <p:par>
                    <p:cTn id="14" fill="hold">
                      <p:stCondLst>
                        <p:cond delay="indefinite"/>
                      </p:stCondLst>
                      <p:childTnLst>
                        <p:par>
                          <p:cTn id="15" fill="hold">
                            <p:stCondLst>
                              <p:cond delay="0"/>
                            </p:stCondLst>
                            <p:childTnLst>
                              <p:par>
                                <p:cTn id="16" presetID="18" presetClass="entr" presetSubtype="6" fill="hold" grpId="0" nodeType="clickEffect">
                                  <p:stCondLst>
                                    <p:cond delay="0"/>
                                  </p:stCondLst>
                                  <p:childTnLst>
                                    <p:set>
                                      <p:cBhvr>
                                        <p:cTn id="17" dur="1" fill="hold">
                                          <p:stCondLst>
                                            <p:cond delay="0"/>
                                          </p:stCondLst>
                                        </p:cTn>
                                        <p:tgtEl>
                                          <p:spTgt spid="54287"/>
                                        </p:tgtEl>
                                        <p:attrNameLst>
                                          <p:attrName>style.visibility</p:attrName>
                                        </p:attrNameLst>
                                      </p:cBhvr>
                                      <p:to>
                                        <p:strVal val="visible"/>
                                      </p:to>
                                    </p:set>
                                    <p:animEffect transition="in" filter="strips(downRight)">
                                      <p:cBhvr>
                                        <p:cTn id="18" dur="500"/>
                                        <p:tgtEl>
                                          <p:spTgt spid="5428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54276"/>
                                        </p:tgtEl>
                                        <p:attrNameLst>
                                          <p:attrName>style.visibility</p:attrName>
                                        </p:attrNameLst>
                                      </p:cBhvr>
                                      <p:to>
                                        <p:strVal val="visible"/>
                                      </p:to>
                                    </p:set>
                                    <p:animEffect transition="in" filter="wipe(left)">
                                      <p:cBhvr>
                                        <p:cTn id="23" dur="500"/>
                                        <p:tgtEl>
                                          <p:spTgt spid="54276"/>
                                        </p:tgtEl>
                                      </p:cBhvr>
                                    </p:animEffect>
                                  </p:childTnLst>
                                </p:cTn>
                              </p:par>
                            </p:childTnLst>
                          </p:cTn>
                        </p:par>
                        <p:par>
                          <p:cTn id="24" fill="hold">
                            <p:stCondLst>
                              <p:cond delay="500"/>
                            </p:stCondLst>
                            <p:childTnLst>
                              <p:par>
                                <p:cTn id="25" presetID="22" presetClass="entr" presetSubtype="8" fill="hold" grpId="0" nodeType="afterEffect">
                                  <p:stCondLst>
                                    <p:cond delay="0"/>
                                  </p:stCondLst>
                                  <p:childTnLst>
                                    <p:set>
                                      <p:cBhvr>
                                        <p:cTn id="26" dur="1" fill="hold">
                                          <p:stCondLst>
                                            <p:cond delay="0"/>
                                          </p:stCondLst>
                                        </p:cTn>
                                        <p:tgtEl>
                                          <p:spTgt spid="54280"/>
                                        </p:tgtEl>
                                        <p:attrNameLst>
                                          <p:attrName>style.visibility</p:attrName>
                                        </p:attrNameLst>
                                      </p:cBhvr>
                                      <p:to>
                                        <p:strVal val="visible"/>
                                      </p:to>
                                    </p:set>
                                    <p:animEffect transition="in" filter="wipe(left)">
                                      <p:cBhvr>
                                        <p:cTn id="27" dur="500"/>
                                        <p:tgtEl>
                                          <p:spTgt spid="5428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4282"/>
                                        </p:tgtEl>
                                        <p:attrNameLst>
                                          <p:attrName>style.visibility</p:attrName>
                                        </p:attrNameLst>
                                      </p:cBhvr>
                                      <p:to>
                                        <p:strVal val="visible"/>
                                      </p:to>
                                    </p:set>
                                    <p:animEffect transition="in" filter="wipe(left)">
                                      <p:cBhvr>
                                        <p:cTn id="32" dur="500"/>
                                        <p:tgtEl>
                                          <p:spTgt spid="5428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4279"/>
                                        </p:tgtEl>
                                        <p:attrNameLst>
                                          <p:attrName>style.visibility</p:attrName>
                                        </p:attrNameLst>
                                      </p:cBhvr>
                                      <p:to>
                                        <p:strVal val="visible"/>
                                      </p:to>
                                    </p:set>
                                    <p:animEffect transition="in" filter="wipe(left)">
                                      <p:cBhvr>
                                        <p:cTn id="37" dur="500"/>
                                        <p:tgtEl>
                                          <p:spTgt spid="5427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4277"/>
                                        </p:tgtEl>
                                        <p:attrNameLst>
                                          <p:attrName>style.visibility</p:attrName>
                                        </p:attrNameLst>
                                      </p:cBhvr>
                                      <p:to>
                                        <p:strVal val="visible"/>
                                      </p:to>
                                    </p:set>
                                    <p:animEffect transition="in" filter="wipe(left)">
                                      <p:cBhvr>
                                        <p:cTn id="42" dur="500"/>
                                        <p:tgtEl>
                                          <p:spTgt spid="5427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54278"/>
                                        </p:tgtEl>
                                        <p:attrNameLst>
                                          <p:attrName>style.visibility</p:attrName>
                                        </p:attrNameLst>
                                      </p:cBhvr>
                                      <p:to>
                                        <p:strVal val="visible"/>
                                      </p:to>
                                    </p:set>
                                    <p:animEffect transition="in" filter="wipe(left)">
                                      <p:cBhvr>
                                        <p:cTn id="47" dur="500"/>
                                        <p:tgtEl>
                                          <p:spTgt spid="54278"/>
                                        </p:tgtEl>
                                      </p:cBhvr>
                                    </p:animEffect>
                                  </p:childTnLst>
                                </p:cTn>
                              </p:par>
                            </p:childTnLst>
                          </p:cTn>
                        </p:par>
                        <p:par>
                          <p:cTn id="48" fill="hold">
                            <p:stCondLst>
                              <p:cond delay="500"/>
                            </p:stCondLst>
                            <p:childTnLst>
                              <p:par>
                                <p:cTn id="49" presetID="22" presetClass="entr" presetSubtype="8" fill="hold" grpId="0" nodeType="afterEffect">
                                  <p:stCondLst>
                                    <p:cond delay="0"/>
                                  </p:stCondLst>
                                  <p:childTnLst>
                                    <p:set>
                                      <p:cBhvr>
                                        <p:cTn id="50" dur="1" fill="hold">
                                          <p:stCondLst>
                                            <p:cond delay="0"/>
                                          </p:stCondLst>
                                        </p:cTn>
                                        <p:tgtEl>
                                          <p:spTgt spid="54281"/>
                                        </p:tgtEl>
                                        <p:attrNameLst>
                                          <p:attrName>style.visibility</p:attrName>
                                        </p:attrNameLst>
                                      </p:cBhvr>
                                      <p:to>
                                        <p:strVal val="visible"/>
                                      </p:to>
                                    </p:set>
                                    <p:animEffect transition="in" filter="wipe(left)">
                                      <p:cBhvr>
                                        <p:cTn id="51" dur="500"/>
                                        <p:tgtEl>
                                          <p:spTgt spid="54281"/>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54283"/>
                                        </p:tgtEl>
                                        <p:attrNameLst>
                                          <p:attrName>style.visibility</p:attrName>
                                        </p:attrNameLst>
                                      </p:cBhvr>
                                      <p:to>
                                        <p:strVal val="visible"/>
                                      </p:to>
                                    </p:set>
                                    <p:animEffect transition="in" filter="wipe(left)">
                                      <p:cBhvr>
                                        <p:cTn id="56" dur="500"/>
                                        <p:tgtEl>
                                          <p:spTgt spid="54283"/>
                                        </p:tgtEl>
                                      </p:cBhvr>
                                    </p:animEffect>
                                  </p:childTnLst>
                                </p:cTn>
                              </p:par>
                            </p:childTnLst>
                          </p:cTn>
                        </p:par>
                        <p:par>
                          <p:cTn id="57" fill="hold">
                            <p:stCondLst>
                              <p:cond delay="500"/>
                            </p:stCondLst>
                            <p:childTnLst>
                              <p:par>
                                <p:cTn id="58" presetID="22" presetClass="entr" presetSubtype="8" fill="hold" nodeType="afterEffect">
                                  <p:stCondLst>
                                    <p:cond delay="0"/>
                                  </p:stCondLst>
                                  <p:childTnLst>
                                    <p:set>
                                      <p:cBhvr>
                                        <p:cTn id="59" dur="1" fill="hold">
                                          <p:stCondLst>
                                            <p:cond delay="0"/>
                                          </p:stCondLst>
                                        </p:cTn>
                                        <p:tgtEl>
                                          <p:spTgt spid="54284"/>
                                        </p:tgtEl>
                                        <p:attrNameLst>
                                          <p:attrName>style.visibility</p:attrName>
                                        </p:attrNameLst>
                                      </p:cBhvr>
                                      <p:to>
                                        <p:strVal val="visible"/>
                                      </p:to>
                                    </p:set>
                                    <p:animEffect transition="in" filter="wipe(left)">
                                      <p:cBhvr>
                                        <p:cTn id="60" dur="500"/>
                                        <p:tgtEl>
                                          <p:spTgt spid="542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4" grpId="0" bldLvl="0" animBg="1" autoUpdateAnimBg="0"/>
      <p:bldP spid="54275" grpId="0" bldLvl="0" animBg="1" autoUpdateAnimBg="0"/>
      <p:bldP spid="54276" grpId="0" bldLvl="0" animBg="1" autoUpdateAnimBg="0"/>
      <p:bldP spid="54277" grpId="0" bldLvl="0" animBg="1" autoUpdateAnimBg="0"/>
      <p:bldP spid="54278" grpId="0" bldLvl="0" animBg="1" autoUpdateAnimBg="0"/>
      <p:bldP spid="54279" grpId="0" bldLvl="0" animBg="1" autoUpdateAnimBg="0"/>
      <p:bldP spid="54280" grpId="0" bldLvl="0" animBg="1" autoUpdateAnimBg="0"/>
      <p:bldP spid="54281" grpId="0" bldLvl="0" animBg="1" autoUpdateAnimBg="0"/>
      <p:bldP spid="54282" grpId="0" bldLvl="0" animBg="1" autoUpdateAnimBg="0"/>
      <p:bldP spid="54287" grpId="0" bldLvl="0" animBg="1"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0" y="116632"/>
            <a:ext cx="7200800" cy="720080"/>
          </a:xfrm>
        </p:spPr>
        <p:txBody>
          <a:bodyPr/>
          <a:lstStyle/>
          <a:p>
            <a:r>
              <a:rPr altLang="zh-CN">
                <a:effectLst/>
                <a:sym typeface="+mn-ea"/>
              </a:rPr>
              <a:t>Chapter Contents</a:t>
            </a:r>
            <a:endParaRPr lang="zh-CN" altLang="en-US" dirty="0">
              <a:ea typeface="宋体" panose="02010600030101010101" pitchFamily="2" charset="-122"/>
              <a:cs typeface="Arial" panose="020B0604020202020204" pitchFamily="34" charset="0"/>
            </a:endParaRPr>
          </a:p>
        </p:txBody>
      </p:sp>
      <p:sp>
        <p:nvSpPr>
          <p:cNvPr id="3" name="内容占位符 2"/>
          <p:cNvSpPr>
            <a:spLocks noGrp="1"/>
          </p:cNvSpPr>
          <p:nvPr>
            <p:ph idx="1"/>
          </p:nvPr>
        </p:nvSpPr>
        <p:spPr>
          <a:xfrm>
            <a:off x="20320" y="836930"/>
            <a:ext cx="9123680" cy="5544820"/>
          </a:xfrm>
        </p:spPr>
        <p:txBody>
          <a:bodyPr/>
          <a:lstStyle/>
          <a:p>
            <a:pPr>
              <a:lnSpc>
                <a:spcPct val="100000"/>
              </a:lnSpc>
            </a:pPr>
            <a:r>
              <a:rPr lang="en-US" altLang="zh-CN" sz="2800" b="1" dirty="0">
                <a:cs typeface="Arial" panose="020B0604020202020204" pitchFamily="34" charset="0"/>
              </a:rPr>
              <a:t>Insertion Sort</a:t>
            </a:r>
          </a:p>
          <a:p>
            <a:pPr>
              <a:lnSpc>
                <a:spcPct val="100000"/>
              </a:lnSpc>
            </a:pPr>
            <a:r>
              <a:rPr lang="zh-CN" altLang="en-US" sz="2800" b="1" dirty="0">
                <a:solidFill>
                  <a:srgbClr val="FF0000"/>
                </a:solidFill>
                <a:cs typeface="Arial" panose="020B0604020202020204" pitchFamily="34" charset="0"/>
              </a:rPr>
              <a:t>Exchange Sort  </a:t>
            </a:r>
          </a:p>
          <a:p>
            <a:pPr lvl="1">
              <a:lnSpc>
                <a:spcPct val="100000"/>
              </a:lnSpc>
            </a:pPr>
            <a:r>
              <a:rPr lang="en-US" altLang="zh-CN" sz="2800" b="1" dirty="0">
                <a:cs typeface="Arial" panose="020B0604020202020204" pitchFamily="34" charset="0"/>
              </a:rPr>
              <a:t>Bubble Sort</a:t>
            </a:r>
          </a:p>
          <a:p>
            <a:pPr lvl="1">
              <a:lnSpc>
                <a:spcPct val="100000"/>
              </a:lnSpc>
            </a:pPr>
            <a:r>
              <a:rPr lang="zh-CN" altLang="en-US" sz="2800" b="1" dirty="0">
                <a:solidFill>
                  <a:srgbClr val="FF0000"/>
                </a:solidFill>
                <a:ea typeface="宋体" panose="02010600030101010101" pitchFamily="2" charset="-122"/>
                <a:cs typeface="Arial" panose="020B0604020202020204" pitchFamily="34" charset="0"/>
              </a:rPr>
              <a:t>One-Pass Quick Sort</a:t>
            </a:r>
          </a:p>
          <a:p>
            <a:pPr lvl="1">
              <a:lnSpc>
                <a:spcPct val="100000"/>
              </a:lnSpc>
            </a:pPr>
            <a:r>
              <a:rPr lang="en-US" altLang="zh-CN" sz="2800" b="1" dirty="0">
                <a:cs typeface="Arial" panose="020B0604020202020204" pitchFamily="34" charset="0"/>
              </a:rPr>
              <a:t>Quick Sort and Its Analysis</a:t>
            </a:r>
          </a:p>
          <a:p>
            <a:pPr>
              <a:lnSpc>
                <a:spcPct val="100000"/>
              </a:lnSpc>
            </a:pPr>
            <a:r>
              <a:rPr lang="en-US" altLang="zh-CN" sz="2800" dirty="0">
                <a:cs typeface="Arial" panose="020B0604020202020204" pitchFamily="34" charset="0"/>
              </a:rPr>
              <a:t>Selection Sort</a:t>
            </a:r>
            <a:r>
              <a:rPr lang="zh-CN" altLang="en-US" sz="2800" dirty="0">
                <a:cs typeface="Arial" panose="020B0604020202020204" pitchFamily="34" charset="0"/>
              </a:rPr>
              <a:t> </a:t>
            </a:r>
            <a:r>
              <a:rPr lang="en-US" altLang="zh-CN" sz="2800" dirty="0">
                <a:cs typeface="Arial" panose="020B0604020202020204" pitchFamily="34" charset="0"/>
              </a:rPr>
              <a:t> </a:t>
            </a:r>
          </a:p>
          <a:p>
            <a:pPr>
              <a:lnSpc>
                <a:spcPct val="100000"/>
              </a:lnSpc>
            </a:pPr>
            <a:r>
              <a:rPr lang="en-US" altLang="zh-CN" sz="2800" dirty="0">
                <a:cs typeface="Arial" panose="020B0604020202020204" pitchFamily="34" charset="0"/>
              </a:rPr>
              <a:t>M</a:t>
            </a:r>
            <a:r>
              <a:rPr lang="zh-CN" altLang="en-US" sz="2800" dirty="0">
                <a:cs typeface="Arial" panose="020B0604020202020204" pitchFamily="34" charset="0"/>
              </a:rPr>
              <a:t>erge </a:t>
            </a:r>
            <a:r>
              <a:rPr lang="en-US" altLang="zh-CN" sz="2800" dirty="0">
                <a:cs typeface="Arial" panose="020B0604020202020204" pitchFamily="34" charset="0"/>
              </a:rPr>
              <a:t>S</a:t>
            </a:r>
            <a:r>
              <a:rPr lang="zh-CN" altLang="en-US" sz="2800" dirty="0">
                <a:cs typeface="Arial" panose="020B0604020202020204" pitchFamily="34" charset="0"/>
              </a:rPr>
              <a:t>ort</a:t>
            </a:r>
            <a:endParaRPr lang="en-US" altLang="zh-CN" sz="2800" dirty="0">
              <a:cs typeface="Arial" panose="020B0604020202020204" pitchFamily="34" charset="0"/>
            </a:endParaRPr>
          </a:p>
          <a:p>
            <a:pPr>
              <a:lnSpc>
                <a:spcPct val="100000"/>
              </a:lnSpc>
            </a:pPr>
            <a:r>
              <a:rPr lang="en-US" altLang="zh-CN" sz="2800" dirty="0">
                <a:cs typeface="Arial" panose="020B0604020202020204" pitchFamily="34" charset="0"/>
              </a:rPr>
              <a:t>R</a:t>
            </a:r>
            <a:r>
              <a:rPr lang="zh-CN" altLang="en-US" sz="2800" dirty="0">
                <a:cs typeface="Arial" panose="020B0604020202020204" pitchFamily="34" charset="0"/>
              </a:rPr>
              <a:t>adix </a:t>
            </a:r>
            <a:r>
              <a:rPr lang="en-US" altLang="zh-CN" sz="2800" dirty="0">
                <a:cs typeface="Arial" panose="020B0604020202020204" pitchFamily="34" charset="0"/>
              </a:rPr>
              <a:t>S</a:t>
            </a:r>
            <a:r>
              <a:rPr lang="zh-CN" altLang="en-US" sz="2800" dirty="0">
                <a:cs typeface="Arial" panose="020B0604020202020204" pitchFamily="34" charset="0"/>
              </a:rPr>
              <a:t>orting</a:t>
            </a:r>
            <a:endParaRPr lang="en-US" altLang="zh-CN" sz="2800" dirty="0">
              <a:cs typeface="Arial" panose="020B0604020202020204" pitchFamily="34" charset="0"/>
            </a:endParaRPr>
          </a:p>
          <a:p>
            <a:pPr>
              <a:lnSpc>
                <a:spcPct val="100000"/>
              </a:lnSpc>
            </a:pPr>
            <a:r>
              <a:rPr lang="zh-CN" altLang="en-US" sz="2800" dirty="0">
                <a:cs typeface="Arial" panose="020B0604020202020204" pitchFamily="34" charset="0"/>
              </a:rPr>
              <a:t>A Comprehensive Comparison of Various Sorting Methods</a:t>
            </a:r>
            <a:endParaRPr lang="en-US" altLang="zh-CN" sz="2800" dirty="0">
              <a:cs typeface="Arial" panose="020B0604020202020204" pitchFamily="34" charset="0"/>
            </a:endParaRPr>
          </a:p>
          <a:p>
            <a:pPr>
              <a:lnSpc>
                <a:spcPct val="100000"/>
              </a:lnSpc>
            </a:pPr>
            <a:r>
              <a:rPr lang="en-US" altLang="zh-CN" sz="2800" dirty="0">
                <a:cs typeface="Arial" panose="020B0604020202020204" pitchFamily="34" charset="0"/>
              </a:rPr>
              <a:t>E</a:t>
            </a:r>
            <a:r>
              <a:rPr lang="zh-CN" altLang="en-US" sz="2800" dirty="0">
                <a:cs typeface="Arial" panose="020B0604020202020204" pitchFamily="34" charset="0"/>
              </a:rPr>
              <a:t>xternal </a:t>
            </a:r>
            <a:r>
              <a:rPr lang="en-US" altLang="zh-CN" sz="2800" dirty="0">
                <a:cs typeface="Arial" panose="020B0604020202020204" pitchFamily="34" charset="0"/>
              </a:rPr>
              <a:t>S</a:t>
            </a:r>
            <a:r>
              <a:rPr lang="zh-CN" altLang="en-US" sz="2800" dirty="0">
                <a:cs typeface="Arial" panose="020B0604020202020204" pitchFamily="34" charset="0"/>
              </a:rPr>
              <a:t>ort</a:t>
            </a:r>
          </a:p>
        </p:txBody>
      </p:sp>
      <p:sp>
        <p:nvSpPr>
          <p:cNvPr id="4" name="页脚占位符 3"/>
          <p:cNvSpPr>
            <a:spLocks noGrp="1"/>
          </p:cNvSpPr>
          <p:nvPr>
            <p:ph type="ftr" sz="quarter" idx="10"/>
          </p:nvPr>
        </p:nvSpPr>
        <p:spPr/>
        <p:txBody>
          <a:bodyPr/>
          <a:lstStyle/>
          <a:p>
            <a:pPr>
              <a:defRPr/>
            </a:pPr>
            <a:r>
              <a:rPr lang="en-US" altLang="zh-CN"/>
              <a:t>@ Zhihai Wang, 2025</a:t>
            </a:r>
            <a:endParaRPr lang="en-US" altLang="zh-CN" dirty="0"/>
          </a:p>
        </p:txBody>
      </p:sp>
      <p:sp>
        <p:nvSpPr>
          <p:cNvPr id="5" name="灯片编号占位符 4"/>
          <p:cNvSpPr>
            <a:spLocks noGrp="1"/>
          </p:cNvSpPr>
          <p:nvPr>
            <p:ph type="sldNum" sz="quarter" idx="11"/>
          </p:nvPr>
        </p:nvSpPr>
        <p:spPr/>
        <p:txBody>
          <a:bodyPr/>
          <a:lstStyle/>
          <a:p>
            <a:pPr>
              <a:defRPr/>
            </a:pPr>
            <a:fld id="{B40C3BFD-24D0-4966-81A9-4BDD3454C069}" type="slidenum">
              <a:rPr lang="en-US" altLang="zh-CN" smtClean="0"/>
              <a:t>59</a:t>
            </a:fld>
            <a:endParaRPr lang="en-US" altLang="zh-CN"/>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2"/>
          <p:cNvSpPr txBox="1">
            <a:spLocks noChangeArrowheads="1"/>
          </p:cNvSpPr>
          <p:nvPr/>
        </p:nvSpPr>
        <p:spPr bwMode="auto">
          <a:xfrm>
            <a:off x="395288" y="1233488"/>
            <a:ext cx="8521700" cy="2071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pPr>
            <a:r>
              <a:rPr lang="zh-CN" altLang="en-US" b="1" dirty="0">
                <a:solidFill>
                  <a:srgbClr val="0000FF"/>
                </a:solidFill>
                <a:latin typeface="Arial" panose="020B0604020202020204" pitchFamily="34" charset="0"/>
                <a:ea typeface="楷体_GB2312" pitchFamily="49" charset="-122"/>
                <a:cs typeface="Arial" panose="020B0604020202020204" pitchFamily="34" charset="0"/>
              </a:rPr>
              <a:t>Objective</a:t>
            </a:r>
            <a:r>
              <a:rPr lang="zh-CN" altLang="en-US" dirty="0">
                <a:latin typeface="Arial" panose="020B0604020202020204" pitchFamily="34" charset="0"/>
                <a:ea typeface="楷体_GB2312" pitchFamily="49" charset="-122"/>
                <a:cs typeface="Arial" panose="020B0604020202020204" pitchFamily="34" charset="0"/>
              </a:rPr>
              <a:t>: Identify a record and use its keyword as the </a:t>
            </a:r>
            <a:r>
              <a:rPr lang="zh-CN" altLang="en-US" b="1" dirty="0">
                <a:solidFill>
                  <a:srgbClr val="FF0000"/>
                </a:solidFill>
                <a:latin typeface="Arial" panose="020B0604020202020204" pitchFamily="34" charset="0"/>
                <a:ea typeface="楷体_GB2312" pitchFamily="49" charset="-122"/>
                <a:cs typeface="Arial" panose="020B0604020202020204" pitchFamily="34" charset="0"/>
              </a:rPr>
              <a:t>pivot</a:t>
            </a:r>
            <a:r>
              <a:rPr lang="zh-CN" altLang="en-US" dirty="0">
                <a:latin typeface="Arial" panose="020B0604020202020204" pitchFamily="34" charset="0"/>
                <a:ea typeface="楷体_GB2312" pitchFamily="49" charset="-122"/>
                <a:cs typeface="Arial" panose="020B0604020202020204" pitchFamily="34" charset="0"/>
              </a:rPr>
              <a:t>. All records with </a:t>
            </a:r>
            <a:r>
              <a:rPr lang="zh-CN" altLang="en-US" b="1" dirty="0">
                <a:solidFill>
                  <a:srgbClr val="0000FF"/>
                </a:solidFill>
                <a:latin typeface="Arial" panose="020B0604020202020204" pitchFamily="34" charset="0"/>
                <a:ea typeface="楷体_GB2312" pitchFamily="49" charset="-122"/>
                <a:cs typeface="Arial" panose="020B0604020202020204" pitchFamily="34" charset="0"/>
              </a:rPr>
              <a:t>keywords smaller than the pivot</a:t>
            </a:r>
            <a:r>
              <a:rPr lang="zh-CN" altLang="en-US" dirty="0">
                <a:latin typeface="Arial" panose="020B0604020202020204" pitchFamily="34" charset="0"/>
                <a:ea typeface="楷体_GB2312" pitchFamily="49" charset="-122"/>
                <a:cs typeface="Arial" panose="020B0604020202020204" pitchFamily="34" charset="0"/>
              </a:rPr>
              <a:t> are</a:t>
            </a:r>
            <a:r>
              <a:rPr lang="zh-CN" altLang="en-US" b="1" dirty="0">
                <a:solidFill>
                  <a:srgbClr val="0000FF"/>
                </a:solidFill>
                <a:latin typeface="Arial" panose="020B0604020202020204" pitchFamily="34" charset="0"/>
                <a:ea typeface="楷体_GB2312" pitchFamily="49" charset="-122"/>
                <a:cs typeface="Arial" panose="020B0604020202020204" pitchFamily="34" charset="0"/>
              </a:rPr>
              <a:t> moved before this record</a:t>
            </a:r>
            <a:r>
              <a:rPr lang="zh-CN" altLang="en-US" dirty="0">
                <a:latin typeface="Arial" panose="020B0604020202020204" pitchFamily="34" charset="0"/>
                <a:ea typeface="楷体_GB2312" pitchFamily="49" charset="-122"/>
                <a:cs typeface="Arial" panose="020B0604020202020204" pitchFamily="34" charset="0"/>
              </a:rPr>
              <a:t>, while </a:t>
            </a:r>
            <a:r>
              <a:rPr lang="zh-CN" altLang="en-US" b="1" dirty="0">
                <a:solidFill>
                  <a:srgbClr val="0000FF"/>
                </a:solidFill>
                <a:latin typeface="Arial" panose="020B0604020202020204" pitchFamily="34" charset="0"/>
                <a:ea typeface="楷体_GB2312" pitchFamily="49" charset="-122"/>
                <a:cs typeface="Arial" panose="020B0604020202020204" pitchFamily="34" charset="0"/>
              </a:rPr>
              <a:t>those with keywords larger are moved after it.</a:t>
            </a:r>
          </a:p>
        </p:txBody>
      </p:sp>
      <p:sp>
        <p:nvSpPr>
          <p:cNvPr id="55299" name="Rectangle 3"/>
          <p:cNvSpPr>
            <a:spLocks noChangeArrowheads="1"/>
          </p:cNvSpPr>
          <p:nvPr/>
        </p:nvSpPr>
        <p:spPr bwMode="auto">
          <a:xfrm>
            <a:off x="457200" y="3789363"/>
            <a:ext cx="8686800" cy="2566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pPr>
            <a:r>
              <a:rPr lang="zh-CN" altLang="en-US" dirty="0">
                <a:latin typeface="Arial" panose="020B0604020202020204" pitchFamily="34" charset="0"/>
                <a:ea typeface="楷体_GB2312" pitchFamily="49" charset="-122"/>
                <a:cs typeface="Arial" panose="020B0604020202020204" pitchFamily="34" charset="0"/>
              </a:rPr>
              <a:t>As a result, </a:t>
            </a:r>
            <a:r>
              <a:rPr lang="zh-CN" altLang="en-US" b="1" dirty="0">
                <a:solidFill>
                  <a:srgbClr val="0000FF"/>
                </a:solidFill>
                <a:latin typeface="Arial" panose="020B0604020202020204" pitchFamily="34" charset="0"/>
                <a:ea typeface="楷体_GB2312" pitchFamily="49" charset="-122"/>
                <a:cs typeface="Arial" panose="020B0604020202020204" pitchFamily="34" charset="0"/>
              </a:rPr>
              <a:t>after a sort</a:t>
            </a:r>
            <a:r>
              <a:rPr lang="zh-CN" altLang="en-US" dirty="0">
                <a:latin typeface="Arial" panose="020B0604020202020204" pitchFamily="34" charset="0"/>
                <a:ea typeface="楷体_GB2312" pitchFamily="49" charset="-122"/>
                <a:cs typeface="Arial" panose="020B0604020202020204" pitchFamily="34" charset="0"/>
              </a:rPr>
              <a:t>, the unordered sequence R[s..t] will be </a:t>
            </a:r>
            <a:r>
              <a:rPr lang="zh-CN" altLang="en-US" b="1" dirty="0">
                <a:solidFill>
                  <a:srgbClr val="0000FF"/>
                </a:solidFill>
                <a:latin typeface="Arial" panose="020B0604020202020204" pitchFamily="34" charset="0"/>
                <a:ea typeface="楷体_GB2312" pitchFamily="49" charset="-122"/>
                <a:cs typeface="Arial" panose="020B0604020202020204" pitchFamily="34" charset="0"/>
              </a:rPr>
              <a:t>divided into two parts</a:t>
            </a:r>
            <a:r>
              <a:rPr lang="zh-CN" altLang="en-US" dirty="0">
                <a:latin typeface="Arial" panose="020B0604020202020204" pitchFamily="34" charset="0"/>
                <a:ea typeface="楷体_GB2312" pitchFamily="49" charset="-122"/>
                <a:cs typeface="Arial" panose="020B0604020202020204" pitchFamily="34" charset="0"/>
              </a:rPr>
              <a:t>: </a:t>
            </a:r>
            <a:r>
              <a:rPr lang="en-US" altLang="zh-CN" dirty="0">
                <a:solidFill>
                  <a:srgbClr val="A50021"/>
                </a:solidFill>
                <a:latin typeface="Arial" panose="020B0604020202020204" pitchFamily="34" charset="0"/>
                <a:ea typeface="楷体_GB2312" pitchFamily="49" charset="-122"/>
                <a:cs typeface="Arial" panose="020B0604020202020204" pitchFamily="34" charset="0"/>
              </a:rPr>
              <a:t>R[s..i-1] and R[i+1..t]</a:t>
            </a:r>
            <a:r>
              <a:rPr lang="zh-CN" altLang="en-US" dirty="0">
                <a:latin typeface="Arial" panose="020B0604020202020204" pitchFamily="34" charset="0"/>
                <a:ea typeface="楷体_GB2312" pitchFamily="49" charset="-122"/>
                <a:cs typeface="Arial" panose="020B0604020202020204" pitchFamily="34" charset="0"/>
              </a:rPr>
              <a:t>, and</a:t>
            </a:r>
            <a:endParaRPr lang="zh-CN" altLang="en-US" dirty="0">
              <a:solidFill>
                <a:srgbClr val="A50021"/>
              </a:solidFill>
              <a:latin typeface="Arial" panose="020B0604020202020204" pitchFamily="34" charset="0"/>
              <a:ea typeface="楷体_GB2312" pitchFamily="49" charset="-122"/>
              <a:cs typeface="Arial" panose="020B0604020202020204" pitchFamily="34" charset="0"/>
            </a:endParaRPr>
          </a:p>
          <a:p>
            <a:pPr>
              <a:lnSpc>
                <a:spcPct val="115000"/>
              </a:lnSpc>
            </a:pPr>
            <a:r>
              <a:rPr lang="en-US" altLang="zh-CN" dirty="0">
                <a:solidFill>
                  <a:srgbClr val="A50021"/>
                </a:solidFill>
                <a:latin typeface="Arial" panose="020B0604020202020204" pitchFamily="34" charset="0"/>
                <a:ea typeface="楷体_GB2312" pitchFamily="49" charset="-122"/>
                <a:cs typeface="Arial" panose="020B0604020202020204" pitchFamily="34" charset="0"/>
              </a:rPr>
              <a:t>R[j].key≤ R[ i].key ≤ R[j].key</a:t>
            </a:r>
          </a:p>
          <a:p>
            <a:pPr>
              <a:lnSpc>
                <a:spcPct val="115000"/>
              </a:lnSpc>
            </a:pPr>
            <a:r>
              <a:rPr lang="en-US" altLang="zh-CN" b="1" dirty="0">
                <a:solidFill>
                  <a:srgbClr val="A50021"/>
                </a:solidFill>
                <a:latin typeface="Arial" panose="020B0604020202020204" pitchFamily="34" charset="0"/>
                <a:ea typeface="楷体_GB2312" pitchFamily="49" charset="-122"/>
                <a:cs typeface="Arial" panose="020B0604020202020204" pitchFamily="34" charset="0"/>
              </a:rPr>
              <a:t>(s≤j≤i-1) pivot (i+1≤j≤t).</a:t>
            </a:r>
            <a:endParaRPr lang="zh-CN" altLang="en-US" dirty="0">
              <a:solidFill>
                <a:srgbClr val="A50021"/>
              </a:solidFill>
              <a:latin typeface="Arial" panose="020B0604020202020204" pitchFamily="34" charset="0"/>
              <a:ea typeface="楷体_GB2312" pitchFamily="49" charset="-122"/>
              <a:cs typeface="Arial" panose="020B0604020202020204" pitchFamily="34" charset="0"/>
            </a:endParaRPr>
          </a:p>
        </p:txBody>
      </p:sp>
      <p:sp>
        <p:nvSpPr>
          <p:cNvPr id="55300" name="Text Box 4"/>
          <p:cNvSpPr txBox="1">
            <a:spLocks noChangeArrowheads="1"/>
          </p:cNvSpPr>
          <p:nvPr/>
        </p:nvSpPr>
        <p:spPr bwMode="auto">
          <a:xfrm>
            <a:off x="179705" y="260350"/>
            <a:ext cx="8029575"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200" b="1">
                <a:latin typeface="Arial" panose="020B0604020202020204" pitchFamily="34" charset="0"/>
                <a:ea typeface="楷体_GB2312" pitchFamily="49" charset="-122"/>
                <a:cs typeface="Arial" panose="020B0604020202020204" pitchFamily="34" charset="0"/>
              </a:rPr>
              <a:t>2. One-pass quick sort (one partition)</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60</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55300"/>
                                        </p:tgtEl>
                                        <p:attrNameLst>
                                          <p:attrName>style.visibility</p:attrName>
                                        </p:attrNameLst>
                                      </p:cBhvr>
                                      <p:to>
                                        <p:strVal val="visible"/>
                                      </p:to>
                                    </p:set>
                                    <p:animEffect transition="in" filter="strips(downRight)">
                                      <p:cBhvr>
                                        <p:cTn id="7" dur="500"/>
                                        <p:tgtEl>
                                          <p:spTgt spid="55300"/>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55298">
                                            <p:txEl>
                                              <p:pRg st="0" end="0"/>
                                            </p:txEl>
                                          </p:spTgt>
                                        </p:tgtEl>
                                        <p:attrNameLst>
                                          <p:attrName>style.visibility</p:attrName>
                                        </p:attrNameLst>
                                      </p:cBhvr>
                                      <p:to>
                                        <p:strVal val="visible"/>
                                      </p:to>
                                    </p:set>
                                    <p:animEffect transition="in" filter="strips(downRight)">
                                      <p:cBhvr>
                                        <p:cTn id="12" dur="500"/>
                                        <p:tgtEl>
                                          <p:spTgt spid="5529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55299">
                                            <p:txEl>
                                              <p:pRg st="0" end="0"/>
                                            </p:txEl>
                                          </p:spTgt>
                                        </p:tgtEl>
                                        <p:attrNameLst>
                                          <p:attrName>style.visibility</p:attrName>
                                        </p:attrNameLst>
                                      </p:cBhvr>
                                      <p:to>
                                        <p:strVal val="visible"/>
                                      </p:to>
                                    </p:set>
                                    <p:animEffect transition="in" filter="strips(downRight)">
                                      <p:cBhvr>
                                        <p:cTn id="17" dur="500"/>
                                        <p:tgtEl>
                                          <p:spTgt spid="55299">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55299">
                                            <p:txEl>
                                              <p:pRg st="1" end="1"/>
                                            </p:txEl>
                                          </p:spTgt>
                                        </p:tgtEl>
                                        <p:attrNameLst>
                                          <p:attrName>style.visibility</p:attrName>
                                        </p:attrNameLst>
                                      </p:cBhvr>
                                      <p:to>
                                        <p:strVal val="visible"/>
                                      </p:to>
                                    </p:set>
                                    <p:animEffect transition="in" filter="strips(downRight)">
                                      <p:cBhvr>
                                        <p:cTn id="22" dur="500"/>
                                        <p:tgtEl>
                                          <p:spTgt spid="55299">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55299">
                                            <p:txEl>
                                              <p:pRg st="2" end="2"/>
                                            </p:txEl>
                                          </p:spTgt>
                                        </p:tgtEl>
                                        <p:attrNameLst>
                                          <p:attrName>style.visibility</p:attrName>
                                        </p:attrNameLst>
                                      </p:cBhvr>
                                      <p:to>
                                        <p:strVal val="visible"/>
                                      </p:to>
                                    </p:set>
                                    <p:animEffect transition="in" filter="strips(downRight)">
                                      <p:cBhvr>
                                        <p:cTn id="27" dur="500"/>
                                        <p:tgtEl>
                                          <p:spTgt spid="5529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8" grpId="0" build="p" autoUpdateAnimBg="0"/>
      <p:bldP spid="55299" grpId="0" build="p" autoUpdateAnimBg="0"/>
      <p:bldP spid="55300" grpId="0" bldLvl="0" animBg="1"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6322" name="Object 2"/>
          <p:cNvGraphicFramePr>
            <a:graphicFrameLocks noChangeAspect="1"/>
          </p:cNvGraphicFramePr>
          <p:nvPr/>
        </p:nvGraphicFramePr>
        <p:xfrm>
          <a:off x="1066800" y="1371600"/>
          <a:ext cx="7848600" cy="838200"/>
        </p:xfrm>
        <a:graphic>
          <a:graphicData uri="http://schemas.openxmlformats.org/presentationml/2006/ole">
            <mc:AlternateContent xmlns:mc="http://schemas.openxmlformats.org/markup-compatibility/2006">
              <mc:Choice xmlns:v="urn:schemas-microsoft-com:vml" Requires="v">
                <p:oleObj spid="_x0000_s26627" name="文档" r:id="rId3" imgW="11264900" imgH="1143000" progId="Word.Document.8">
                  <p:embed/>
                </p:oleObj>
              </mc:Choice>
              <mc:Fallback>
                <p:oleObj name="文档" r:id="rId3" imgW="11264900" imgH="1143000" progId="Word.Document.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1371600"/>
                        <a:ext cx="78486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6323" name="Line 3"/>
          <p:cNvSpPr>
            <a:spLocks noChangeShapeType="1"/>
          </p:cNvSpPr>
          <p:nvPr/>
        </p:nvSpPr>
        <p:spPr bwMode="auto">
          <a:xfrm>
            <a:off x="1447800" y="762000"/>
            <a:ext cx="0" cy="609600"/>
          </a:xfrm>
          <a:prstGeom prst="line">
            <a:avLst/>
          </a:prstGeom>
          <a:noFill/>
          <a:ln w="9525">
            <a:solidFill>
              <a:srgbClr val="0033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4" name="Line 4"/>
          <p:cNvSpPr>
            <a:spLocks noChangeShapeType="1"/>
          </p:cNvSpPr>
          <p:nvPr/>
        </p:nvSpPr>
        <p:spPr bwMode="auto">
          <a:xfrm>
            <a:off x="8153400" y="762000"/>
            <a:ext cx="0" cy="609600"/>
          </a:xfrm>
          <a:prstGeom prst="line">
            <a:avLst/>
          </a:prstGeom>
          <a:noFill/>
          <a:ln w="9525">
            <a:solidFill>
              <a:srgbClr val="0033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5" name="Text Box 5"/>
          <p:cNvSpPr txBox="1">
            <a:spLocks noChangeArrowheads="1"/>
          </p:cNvSpPr>
          <p:nvPr/>
        </p:nvSpPr>
        <p:spPr bwMode="auto">
          <a:xfrm>
            <a:off x="1485900" y="552450"/>
            <a:ext cx="32131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rgbClr val="003366"/>
                </a:solidFill>
              </a:rPr>
              <a:t>s</a:t>
            </a:r>
          </a:p>
        </p:txBody>
      </p:sp>
      <p:sp>
        <p:nvSpPr>
          <p:cNvPr id="56326" name="Text Box 6"/>
          <p:cNvSpPr txBox="1">
            <a:spLocks noChangeArrowheads="1"/>
          </p:cNvSpPr>
          <p:nvPr/>
        </p:nvSpPr>
        <p:spPr bwMode="auto">
          <a:xfrm>
            <a:off x="8237538" y="609600"/>
            <a:ext cx="28194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rgbClr val="003366"/>
                </a:solidFill>
              </a:rPr>
              <a:t>t</a:t>
            </a:r>
          </a:p>
        </p:txBody>
      </p:sp>
      <p:sp>
        <p:nvSpPr>
          <p:cNvPr id="56327" name="Line 7"/>
          <p:cNvSpPr>
            <a:spLocks noChangeShapeType="1"/>
          </p:cNvSpPr>
          <p:nvPr/>
        </p:nvSpPr>
        <p:spPr bwMode="auto">
          <a:xfrm flipV="1">
            <a:off x="1524000" y="2057400"/>
            <a:ext cx="0" cy="609600"/>
          </a:xfrm>
          <a:prstGeom prst="line">
            <a:avLst/>
          </a:prstGeom>
          <a:noFill/>
          <a:ln w="19050">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8" name="Text Box 8"/>
          <p:cNvSpPr txBox="1">
            <a:spLocks noChangeArrowheads="1"/>
          </p:cNvSpPr>
          <p:nvPr/>
        </p:nvSpPr>
        <p:spPr bwMode="auto">
          <a:xfrm>
            <a:off x="1012825" y="2582863"/>
            <a:ext cx="73977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solidFill>
                  <a:srgbClr val="006600"/>
                </a:solidFill>
              </a:rPr>
              <a:t>low</a:t>
            </a:r>
          </a:p>
        </p:txBody>
      </p:sp>
      <p:sp>
        <p:nvSpPr>
          <p:cNvPr id="56329" name="Line 9"/>
          <p:cNvSpPr>
            <a:spLocks noChangeShapeType="1"/>
          </p:cNvSpPr>
          <p:nvPr/>
        </p:nvSpPr>
        <p:spPr bwMode="auto">
          <a:xfrm flipV="1">
            <a:off x="8305800" y="2057400"/>
            <a:ext cx="0" cy="609600"/>
          </a:xfrm>
          <a:prstGeom prst="line">
            <a:avLst/>
          </a:prstGeom>
          <a:noFill/>
          <a:ln w="19050">
            <a:solidFill>
              <a:srgbClr val="8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30" name="Text Box 10"/>
          <p:cNvSpPr txBox="1">
            <a:spLocks noChangeArrowheads="1"/>
          </p:cNvSpPr>
          <p:nvPr/>
        </p:nvSpPr>
        <p:spPr bwMode="auto">
          <a:xfrm>
            <a:off x="7947025" y="2582863"/>
            <a:ext cx="89217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solidFill>
                  <a:srgbClr val="800000"/>
                </a:solidFill>
              </a:rPr>
              <a:t>high</a:t>
            </a:r>
          </a:p>
        </p:txBody>
      </p:sp>
      <p:sp>
        <p:nvSpPr>
          <p:cNvPr id="56331" name="Text Box 11"/>
          <p:cNvSpPr txBox="1">
            <a:spLocks noChangeArrowheads="1"/>
          </p:cNvSpPr>
          <p:nvPr/>
        </p:nvSpPr>
        <p:spPr bwMode="auto">
          <a:xfrm>
            <a:off x="576263" y="3176588"/>
            <a:ext cx="39624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solidFill>
                  <a:srgbClr val="FF0000"/>
                </a:solidFill>
              </a:rPr>
              <a:t>Let R[s]=52 be the pivot</a:t>
            </a:r>
          </a:p>
        </p:txBody>
      </p:sp>
      <p:sp>
        <p:nvSpPr>
          <p:cNvPr id="56332" name="Text Box 12"/>
          <p:cNvSpPr txBox="1">
            <a:spLocks noChangeArrowheads="1"/>
          </p:cNvSpPr>
          <p:nvPr/>
        </p:nvSpPr>
        <p:spPr bwMode="auto">
          <a:xfrm>
            <a:off x="539750" y="3752850"/>
            <a:ext cx="8305800" cy="1124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zh-CN" altLang="en-US">
                <a:solidFill>
                  <a:srgbClr val="003366"/>
                </a:solidFill>
                <a:ea typeface="楷体_GB2312" pitchFamily="49" charset="-122"/>
              </a:rPr>
              <a:t>Compare R[</a:t>
            </a:r>
            <a:r>
              <a:rPr lang="en-US" altLang="zh-CN">
                <a:solidFill>
                  <a:srgbClr val="800000"/>
                </a:solidFill>
                <a:ea typeface="楷体_GB2312" pitchFamily="49" charset="-122"/>
                <a:sym typeface="+mn-ea"/>
              </a:rPr>
              <a:t>high</a:t>
            </a:r>
            <a:r>
              <a:rPr lang="zh-CN" altLang="en-US">
                <a:solidFill>
                  <a:srgbClr val="003366"/>
                </a:solidFill>
                <a:ea typeface="楷体_GB2312" pitchFamily="49" charset="-122"/>
              </a:rPr>
              <a:t>].key with the pivot key, requiring R[</a:t>
            </a:r>
            <a:r>
              <a:rPr lang="en-US" altLang="zh-CN">
                <a:solidFill>
                  <a:srgbClr val="800000"/>
                </a:solidFill>
                <a:ea typeface="楷体_GB2312" pitchFamily="49" charset="-122"/>
                <a:sym typeface="+mn-ea"/>
              </a:rPr>
              <a:t>high</a:t>
            </a:r>
            <a:r>
              <a:rPr lang="zh-CN" altLang="en-US">
                <a:solidFill>
                  <a:srgbClr val="003366"/>
                </a:solidFill>
                <a:ea typeface="楷体_GB2312" pitchFamily="49" charset="-122"/>
              </a:rPr>
              <a:t>].key </a:t>
            </a:r>
            <a:r>
              <a:rPr lang="en-US" altLang="zh-CN" b="1">
                <a:solidFill>
                  <a:srgbClr val="FF0000"/>
                </a:solidFill>
                <a:sym typeface="+mn-ea"/>
              </a:rPr>
              <a:t>≥</a:t>
            </a:r>
            <a:r>
              <a:rPr lang="zh-CN" altLang="en-US">
                <a:solidFill>
                  <a:srgbClr val="003366"/>
                </a:solidFill>
                <a:ea typeface="楷体_GB2312" pitchFamily="49" charset="-122"/>
              </a:rPr>
              <a:t> the pivot key</a:t>
            </a:r>
          </a:p>
        </p:txBody>
      </p:sp>
      <p:sp>
        <p:nvSpPr>
          <p:cNvPr id="56333" name="Text Box 13"/>
          <p:cNvSpPr txBox="1">
            <a:spLocks noChangeArrowheads="1"/>
          </p:cNvSpPr>
          <p:nvPr/>
        </p:nvSpPr>
        <p:spPr bwMode="auto">
          <a:xfrm>
            <a:off x="503238" y="4905375"/>
            <a:ext cx="8305800" cy="1124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zh-CN" altLang="en-US">
                <a:solidFill>
                  <a:srgbClr val="003366"/>
                </a:solidFill>
                <a:ea typeface="楷体_GB2312" pitchFamily="49" charset="-122"/>
              </a:rPr>
              <a:t>Compare R[</a:t>
            </a:r>
            <a:r>
              <a:rPr lang="en-US" altLang="zh-CN">
                <a:solidFill>
                  <a:srgbClr val="006600"/>
                </a:solidFill>
                <a:ea typeface="楷体_GB2312" pitchFamily="49" charset="-122"/>
                <a:sym typeface="+mn-ea"/>
              </a:rPr>
              <a:t>low</a:t>
            </a:r>
            <a:r>
              <a:rPr lang="zh-CN" altLang="en-US">
                <a:solidFill>
                  <a:srgbClr val="003366"/>
                </a:solidFill>
                <a:ea typeface="楷体_GB2312" pitchFamily="49" charset="-122"/>
              </a:rPr>
              <a:t>].key with the pivot key, requiring R[</a:t>
            </a:r>
            <a:r>
              <a:rPr lang="en-US" altLang="zh-CN">
                <a:solidFill>
                  <a:srgbClr val="006600"/>
                </a:solidFill>
                <a:ea typeface="楷体_GB2312" pitchFamily="49" charset="-122"/>
                <a:sym typeface="+mn-ea"/>
              </a:rPr>
              <a:t>low</a:t>
            </a:r>
            <a:r>
              <a:rPr lang="zh-CN" altLang="en-US">
                <a:solidFill>
                  <a:srgbClr val="003366"/>
                </a:solidFill>
                <a:ea typeface="楷体_GB2312" pitchFamily="49" charset="-122"/>
              </a:rPr>
              <a:t>].key </a:t>
            </a:r>
            <a:r>
              <a:rPr lang="en-US" altLang="zh-CN" b="1">
                <a:solidFill>
                  <a:srgbClr val="FF0000"/>
                </a:solidFill>
                <a:sym typeface="+mn-ea"/>
              </a:rPr>
              <a:t>≥</a:t>
            </a:r>
            <a:r>
              <a:rPr lang="zh-CN" altLang="en-US">
                <a:solidFill>
                  <a:srgbClr val="003366"/>
                </a:solidFill>
                <a:ea typeface="楷体_GB2312" pitchFamily="49" charset="-122"/>
              </a:rPr>
              <a:t>the pivot key</a:t>
            </a:r>
          </a:p>
        </p:txBody>
      </p:sp>
      <p:sp>
        <p:nvSpPr>
          <p:cNvPr id="56334" name="Line 14"/>
          <p:cNvSpPr>
            <a:spLocks noChangeShapeType="1"/>
          </p:cNvSpPr>
          <p:nvPr/>
        </p:nvSpPr>
        <p:spPr bwMode="auto">
          <a:xfrm flipV="1">
            <a:off x="7445375" y="2057400"/>
            <a:ext cx="0" cy="609600"/>
          </a:xfrm>
          <a:prstGeom prst="line">
            <a:avLst/>
          </a:prstGeom>
          <a:noFill/>
          <a:ln w="19050">
            <a:solidFill>
              <a:srgbClr val="8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35" name="Text Box 15"/>
          <p:cNvSpPr txBox="1">
            <a:spLocks noChangeArrowheads="1"/>
          </p:cNvSpPr>
          <p:nvPr/>
        </p:nvSpPr>
        <p:spPr bwMode="auto">
          <a:xfrm>
            <a:off x="7086600" y="2582863"/>
            <a:ext cx="89217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solidFill>
                  <a:srgbClr val="800000"/>
                </a:solidFill>
              </a:rPr>
              <a:t>high</a:t>
            </a:r>
          </a:p>
        </p:txBody>
      </p:sp>
      <p:sp useBgFill="1">
        <p:nvSpPr>
          <p:cNvPr id="56336" name="Rectangle 16"/>
          <p:cNvSpPr>
            <a:spLocks noChangeArrowheads="1"/>
          </p:cNvSpPr>
          <p:nvPr/>
        </p:nvSpPr>
        <p:spPr bwMode="auto">
          <a:xfrm>
            <a:off x="7924800" y="2057400"/>
            <a:ext cx="838200" cy="9906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37" name="Text Box 17"/>
          <p:cNvSpPr txBox="1">
            <a:spLocks noChangeArrowheads="1"/>
          </p:cNvSpPr>
          <p:nvPr/>
        </p:nvSpPr>
        <p:spPr bwMode="auto">
          <a:xfrm>
            <a:off x="1089025" y="1401763"/>
            <a:ext cx="663575" cy="521970"/>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b="1">
                <a:solidFill>
                  <a:srgbClr val="009999"/>
                </a:solidFill>
              </a:rPr>
              <a:t>23</a:t>
            </a:r>
          </a:p>
        </p:txBody>
      </p:sp>
      <p:sp>
        <p:nvSpPr>
          <p:cNvPr id="56338" name="Line 18"/>
          <p:cNvSpPr>
            <a:spLocks noChangeShapeType="1"/>
          </p:cNvSpPr>
          <p:nvPr/>
        </p:nvSpPr>
        <p:spPr bwMode="auto">
          <a:xfrm flipV="1">
            <a:off x="2971800" y="2057400"/>
            <a:ext cx="0" cy="609600"/>
          </a:xfrm>
          <a:prstGeom prst="line">
            <a:avLst/>
          </a:prstGeom>
          <a:noFill/>
          <a:ln w="19050">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39" name="Text Box 19"/>
          <p:cNvSpPr txBox="1">
            <a:spLocks noChangeArrowheads="1"/>
          </p:cNvSpPr>
          <p:nvPr/>
        </p:nvSpPr>
        <p:spPr bwMode="auto">
          <a:xfrm>
            <a:off x="2460625" y="2582863"/>
            <a:ext cx="73977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solidFill>
                  <a:srgbClr val="006600"/>
                </a:solidFill>
              </a:rPr>
              <a:t>low</a:t>
            </a:r>
          </a:p>
        </p:txBody>
      </p:sp>
      <p:sp useBgFill="1">
        <p:nvSpPr>
          <p:cNvPr id="56340" name="Rectangle 20"/>
          <p:cNvSpPr>
            <a:spLocks noChangeArrowheads="1"/>
          </p:cNvSpPr>
          <p:nvPr/>
        </p:nvSpPr>
        <p:spPr bwMode="auto">
          <a:xfrm>
            <a:off x="1066800" y="2057400"/>
            <a:ext cx="609600" cy="9144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41" name="Text Box 21"/>
          <p:cNvSpPr txBox="1">
            <a:spLocks noChangeArrowheads="1"/>
          </p:cNvSpPr>
          <p:nvPr/>
        </p:nvSpPr>
        <p:spPr bwMode="auto">
          <a:xfrm>
            <a:off x="7162800" y="1371600"/>
            <a:ext cx="663575" cy="521970"/>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b="1">
                <a:solidFill>
                  <a:srgbClr val="009999"/>
                </a:solidFill>
              </a:rPr>
              <a:t>80</a:t>
            </a:r>
          </a:p>
        </p:txBody>
      </p:sp>
      <p:sp>
        <p:nvSpPr>
          <p:cNvPr id="56342" name="Line 22"/>
          <p:cNvSpPr>
            <a:spLocks noChangeShapeType="1"/>
          </p:cNvSpPr>
          <p:nvPr/>
        </p:nvSpPr>
        <p:spPr bwMode="auto">
          <a:xfrm flipV="1">
            <a:off x="4625975" y="2057400"/>
            <a:ext cx="0" cy="609600"/>
          </a:xfrm>
          <a:prstGeom prst="line">
            <a:avLst/>
          </a:prstGeom>
          <a:noFill/>
          <a:ln w="19050">
            <a:solidFill>
              <a:srgbClr val="8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43" name="Text Box 23"/>
          <p:cNvSpPr txBox="1">
            <a:spLocks noChangeArrowheads="1"/>
          </p:cNvSpPr>
          <p:nvPr/>
        </p:nvSpPr>
        <p:spPr bwMode="auto">
          <a:xfrm>
            <a:off x="4518025" y="2582863"/>
            <a:ext cx="89217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solidFill>
                  <a:srgbClr val="800000"/>
                </a:solidFill>
              </a:rPr>
              <a:t>high</a:t>
            </a:r>
          </a:p>
        </p:txBody>
      </p:sp>
      <p:sp useBgFill="1">
        <p:nvSpPr>
          <p:cNvPr id="56344" name="Rectangle 24"/>
          <p:cNvSpPr>
            <a:spLocks noChangeArrowheads="1"/>
          </p:cNvSpPr>
          <p:nvPr/>
        </p:nvSpPr>
        <p:spPr bwMode="auto">
          <a:xfrm>
            <a:off x="7086600" y="2057400"/>
            <a:ext cx="762000" cy="12192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45" name="Text Box 25"/>
          <p:cNvSpPr txBox="1">
            <a:spLocks noChangeArrowheads="1"/>
          </p:cNvSpPr>
          <p:nvPr/>
        </p:nvSpPr>
        <p:spPr bwMode="auto">
          <a:xfrm>
            <a:off x="2590800" y="1371600"/>
            <a:ext cx="663575" cy="521970"/>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b="1">
                <a:solidFill>
                  <a:srgbClr val="009999"/>
                </a:solidFill>
              </a:rPr>
              <a:t>14</a:t>
            </a:r>
          </a:p>
        </p:txBody>
      </p:sp>
      <p:sp>
        <p:nvSpPr>
          <p:cNvPr id="56346" name="Line 26"/>
          <p:cNvSpPr>
            <a:spLocks noChangeShapeType="1"/>
          </p:cNvSpPr>
          <p:nvPr/>
        </p:nvSpPr>
        <p:spPr bwMode="auto">
          <a:xfrm flipV="1">
            <a:off x="4419600" y="2057400"/>
            <a:ext cx="0" cy="609600"/>
          </a:xfrm>
          <a:prstGeom prst="line">
            <a:avLst/>
          </a:prstGeom>
          <a:noFill/>
          <a:ln w="19050">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47" name="Text Box 27"/>
          <p:cNvSpPr txBox="1">
            <a:spLocks noChangeArrowheads="1"/>
          </p:cNvSpPr>
          <p:nvPr/>
        </p:nvSpPr>
        <p:spPr bwMode="auto">
          <a:xfrm>
            <a:off x="3908425" y="2582863"/>
            <a:ext cx="73977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solidFill>
                  <a:srgbClr val="006600"/>
                </a:solidFill>
              </a:rPr>
              <a:t>low</a:t>
            </a:r>
          </a:p>
        </p:txBody>
      </p:sp>
      <p:sp useBgFill="1">
        <p:nvSpPr>
          <p:cNvPr id="56348" name="Rectangle 28"/>
          <p:cNvSpPr>
            <a:spLocks noChangeArrowheads="1"/>
          </p:cNvSpPr>
          <p:nvPr/>
        </p:nvSpPr>
        <p:spPr bwMode="auto">
          <a:xfrm>
            <a:off x="2438400" y="2057400"/>
            <a:ext cx="685800" cy="9144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49" name="Text Box 29"/>
          <p:cNvSpPr txBox="1">
            <a:spLocks noChangeArrowheads="1"/>
          </p:cNvSpPr>
          <p:nvPr/>
        </p:nvSpPr>
        <p:spPr bwMode="auto">
          <a:xfrm>
            <a:off x="4137025" y="1371600"/>
            <a:ext cx="663575" cy="521970"/>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b="1">
                <a:solidFill>
                  <a:srgbClr val="FF0000"/>
                </a:solidFill>
              </a:rPr>
              <a:t>52</a:t>
            </a:r>
          </a:p>
        </p:txBody>
      </p:sp>
      <p:sp>
        <p:nvSpPr>
          <p:cNvPr id="56350" name="Rectangle 30"/>
          <p:cNvSpPr>
            <a:spLocks noChangeArrowheads="1"/>
          </p:cNvSpPr>
          <p:nvPr/>
        </p:nvSpPr>
        <p:spPr bwMode="auto">
          <a:xfrm>
            <a:off x="107315" y="188595"/>
            <a:ext cx="196342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a:ea typeface="楷体_GB2312" pitchFamily="49" charset="-122"/>
              </a:rPr>
              <a:t>for instance</a:t>
            </a:r>
          </a:p>
        </p:txBody>
      </p:sp>
      <p:sp>
        <p:nvSpPr>
          <p:cNvPr id="56351" name="Text Box 31"/>
          <p:cNvSpPr txBox="1">
            <a:spLocks noChangeArrowheads="1"/>
          </p:cNvSpPr>
          <p:nvPr/>
        </p:nvSpPr>
        <p:spPr bwMode="auto">
          <a:xfrm>
            <a:off x="3108325" y="487363"/>
            <a:ext cx="83439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rgbClr val="005042"/>
                </a:solidFill>
              </a:rPr>
              <a:t>R[0]</a:t>
            </a:r>
          </a:p>
        </p:txBody>
      </p:sp>
      <p:sp>
        <p:nvSpPr>
          <p:cNvPr id="56352" name="Rectangle 32"/>
          <p:cNvSpPr>
            <a:spLocks noChangeArrowheads="1"/>
          </p:cNvSpPr>
          <p:nvPr/>
        </p:nvSpPr>
        <p:spPr bwMode="auto">
          <a:xfrm>
            <a:off x="4038600" y="533400"/>
            <a:ext cx="538480" cy="521970"/>
          </a:xfrm>
          <a:prstGeom prst="rect">
            <a:avLst/>
          </a:prstGeom>
          <a:solidFill>
            <a:srgbClr val="99CCFF">
              <a:alpha val="50000"/>
            </a:srgbClr>
          </a:solidFill>
          <a:ln w="9525">
            <a:solidFill>
              <a:schemeClr val="accent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rPr>
              <a:t>52</a:t>
            </a:r>
          </a:p>
        </p:txBody>
      </p:sp>
      <p:sp>
        <p:nvSpPr>
          <p:cNvPr id="56353" name="Line 33"/>
          <p:cNvSpPr>
            <a:spLocks noChangeShapeType="1"/>
          </p:cNvSpPr>
          <p:nvPr/>
        </p:nvSpPr>
        <p:spPr bwMode="auto">
          <a:xfrm flipV="1">
            <a:off x="2209800" y="2057400"/>
            <a:ext cx="0" cy="609600"/>
          </a:xfrm>
          <a:prstGeom prst="line">
            <a:avLst/>
          </a:prstGeom>
          <a:noFill/>
          <a:ln w="19050">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54" name="Text Box 34"/>
          <p:cNvSpPr txBox="1">
            <a:spLocks noChangeArrowheads="1"/>
          </p:cNvSpPr>
          <p:nvPr/>
        </p:nvSpPr>
        <p:spPr bwMode="auto">
          <a:xfrm>
            <a:off x="1698625" y="2582863"/>
            <a:ext cx="73977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solidFill>
                  <a:srgbClr val="006600"/>
                </a:solidFill>
              </a:rPr>
              <a:t>low</a:t>
            </a:r>
          </a:p>
        </p:txBody>
      </p:sp>
      <p:grpSp>
        <p:nvGrpSpPr>
          <p:cNvPr id="56355" name="Group 35"/>
          <p:cNvGrpSpPr/>
          <p:nvPr/>
        </p:nvGrpSpPr>
        <p:grpSpPr bwMode="auto">
          <a:xfrm>
            <a:off x="6651625" y="2057400"/>
            <a:ext cx="892175" cy="1047750"/>
            <a:chOff x="4190" y="1296"/>
            <a:chExt cx="562" cy="660"/>
          </a:xfrm>
        </p:grpSpPr>
        <p:sp>
          <p:nvSpPr>
            <p:cNvPr id="56356" name="Line 36"/>
            <p:cNvSpPr>
              <a:spLocks noChangeShapeType="1"/>
            </p:cNvSpPr>
            <p:nvPr/>
          </p:nvSpPr>
          <p:spPr bwMode="auto">
            <a:xfrm flipV="1">
              <a:off x="4258" y="1296"/>
              <a:ext cx="0" cy="384"/>
            </a:xfrm>
            <a:prstGeom prst="line">
              <a:avLst/>
            </a:prstGeom>
            <a:noFill/>
            <a:ln w="19050">
              <a:solidFill>
                <a:srgbClr val="8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57" name="Text Box 37"/>
            <p:cNvSpPr txBox="1">
              <a:spLocks noChangeArrowheads="1"/>
            </p:cNvSpPr>
            <p:nvPr/>
          </p:nvSpPr>
          <p:spPr bwMode="auto">
            <a:xfrm>
              <a:off x="4190" y="1627"/>
              <a:ext cx="562" cy="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solidFill>
                    <a:srgbClr val="800000"/>
                  </a:solidFill>
                </a:rPr>
                <a:t>high</a:t>
              </a:r>
            </a:p>
          </p:txBody>
        </p:sp>
      </p:grpSp>
      <p:sp>
        <p:nvSpPr>
          <p:cNvPr id="56358" name="Line 38"/>
          <p:cNvSpPr>
            <a:spLocks noChangeShapeType="1"/>
          </p:cNvSpPr>
          <p:nvPr/>
        </p:nvSpPr>
        <p:spPr bwMode="auto">
          <a:xfrm flipV="1">
            <a:off x="5997575" y="2057400"/>
            <a:ext cx="0" cy="609600"/>
          </a:xfrm>
          <a:prstGeom prst="line">
            <a:avLst/>
          </a:prstGeom>
          <a:noFill/>
          <a:ln w="19050">
            <a:solidFill>
              <a:srgbClr val="8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59" name="Text Box 39"/>
          <p:cNvSpPr txBox="1">
            <a:spLocks noChangeArrowheads="1"/>
          </p:cNvSpPr>
          <p:nvPr/>
        </p:nvSpPr>
        <p:spPr bwMode="auto">
          <a:xfrm>
            <a:off x="5889625" y="2582863"/>
            <a:ext cx="89217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solidFill>
                  <a:srgbClr val="800000"/>
                </a:solidFill>
              </a:rPr>
              <a:t>high</a:t>
            </a:r>
          </a:p>
        </p:txBody>
      </p:sp>
      <p:sp>
        <p:nvSpPr>
          <p:cNvPr id="56360" name="Line 40"/>
          <p:cNvSpPr>
            <a:spLocks noChangeShapeType="1"/>
          </p:cNvSpPr>
          <p:nvPr/>
        </p:nvSpPr>
        <p:spPr bwMode="auto">
          <a:xfrm flipV="1">
            <a:off x="5235575" y="2057400"/>
            <a:ext cx="0" cy="609600"/>
          </a:xfrm>
          <a:prstGeom prst="line">
            <a:avLst/>
          </a:prstGeom>
          <a:noFill/>
          <a:ln w="19050">
            <a:solidFill>
              <a:srgbClr val="8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61" name="Text Box 41"/>
          <p:cNvSpPr txBox="1">
            <a:spLocks noChangeArrowheads="1"/>
          </p:cNvSpPr>
          <p:nvPr/>
        </p:nvSpPr>
        <p:spPr bwMode="auto">
          <a:xfrm>
            <a:off x="5127625" y="2582863"/>
            <a:ext cx="89217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solidFill>
                  <a:srgbClr val="800000"/>
                </a:solidFill>
              </a:rPr>
              <a:t>high</a:t>
            </a:r>
          </a:p>
        </p:txBody>
      </p:sp>
      <p:sp>
        <p:nvSpPr>
          <p:cNvPr id="56362" name="Line 42"/>
          <p:cNvSpPr>
            <a:spLocks noChangeShapeType="1"/>
          </p:cNvSpPr>
          <p:nvPr/>
        </p:nvSpPr>
        <p:spPr bwMode="auto">
          <a:xfrm flipV="1">
            <a:off x="3711575" y="2057400"/>
            <a:ext cx="0" cy="609600"/>
          </a:xfrm>
          <a:prstGeom prst="line">
            <a:avLst/>
          </a:prstGeom>
          <a:noFill/>
          <a:ln w="19050">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63" name="Text Box 43"/>
          <p:cNvSpPr txBox="1">
            <a:spLocks noChangeArrowheads="1"/>
          </p:cNvSpPr>
          <p:nvPr/>
        </p:nvSpPr>
        <p:spPr bwMode="auto">
          <a:xfrm>
            <a:off x="3200400" y="2582863"/>
            <a:ext cx="73977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solidFill>
                  <a:srgbClr val="006600"/>
                </a:solidFill>
              </a:rPr>
              <a:t>low</a:t>
            </a:r>
          </a:p>
        </p:txBody>
      </p:sp>
      <p:sp>
        <p:nvSpPr>
          <p:cNvPr id="3" name="页脚占位符 2"/>
          <p:cNvSpPr>
            <a:spLocks noGrp="1"/>
          </p:cNvSpPr>
          <p:nvPr>
            <p:ph type="ftr" sz="quarter" idx="10"/>
          </p:nvPr>
        </p:nvSpPr>
        <p:spPr/>
        <p:txBody>
          <a:bodyPr/>
          <a:lstStyle/>
          <a:p>
            <a:pPr>
              <a:defRPr/>
            </a:pPr>
            <a:r>
              <a:rPr lang="en-US" altLang="zh-CN"/>
              <a:t>@ Zhihai Wang, 2025</a:t>
            </a:r>
            <a:endParaRPr lang="en-US" altLang="zh-CN" dirty="0"/>
          </a:p>
        </p:txBody>
      </p:sp>
      <p:sp>
        <p:nvSpPr>
          <p:cNvPr id="4" name="灯片编号占位符 3"/>
          <p:cNvSpPr>
            <a:spLocks noGrp="1"/>
          </p:cNvSpPr>
          <p:nvPr>
            <p:ph type="sldNum" sz="quarter" idx="11"/>
          </p:nvPr>
        </p:nvSpPr>
        <p:spPr/>
        <p:txBody>
          <a:bodyPr/>
          <a:lstStyle/>
          <a:p>
            <a:pPr>
              <a:defRPr/>
            </a:pPr>
            <a:fld id="{FC63145C-71F2-48C1-8DD2-31D6AC142F2A}" type="slidenum">
              <a:rPr lang="en-US" altLang="zh-CN" smtClean="0"/>
              <a:t>61</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6350"/>
                                        </p:tgtEl>
                                        <p:attrNameLst>
                                          <p:attrName>style.visibility</p:attrName>
                                        </p:attrNameLst>
                                      </p:cBhvr>
                                      <p:to>
                                        <p:strVal val="visible"/>
                                      </p:to>
                                    </p:set>
                                    <p:animEffect transition="in" filter="wipe(left)">
                                      <p:cBhvr>
                                        <p:cTn id="7" dur="500"/>
                                        <p:tgtEl>
                                          <p:spTgt spid="56350"/>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6322"/>
                                        </p:tgtEl>
                                        <p:attrNameLst>
                                          <p:attrName>style.visibility</p:attrName>
                                        </p:attrNameLst>
                                      </p:cBhvr>
                                      <p:to>
                                        <p:strVal val="visible"/>
                                      </p:to>
                                    </p:set>
                                    <p:animEffect transition="in" filter="wipe(left)">
                                      <p:cBhvr>
                                        <p:cTn id="11" dur="500"/>
                                        <p:tgtEl>
                                          <p:spTgt spid="56322"/>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56323"/>
                                        </p:tgtEl>
                                        <p:attrNameLst>
                                          <p:attrName>style.visibility</p:attrName>
                                        </p:attrNameLst>
                                      </p:cBhvr>
                                      <p:to>
                                        <p:strVal val="visible"/>
                                      </p:to>
                                    </p:set>
                                    <p:animEffect transition="in" filter="wipe(up)">
                                      <p:cBhvr>
                                        <p:cTn id="15" dur="500"/>
                                        <p:tgtEl>
                                          <p:spTgt spid="56323"/>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56325"/>
                                        </p:tgtEl>
                                        <p:attrNameLst>
                                          <p:attrName>style.visibility</p:attrName>
                                        </p:attrNameLst>
                                      </p:cBhvr>
                                      <p:to>
                                        <p:strVal val="visible"/>
                                      </p:to>
                                    </p:set>
                                    <p:animEffect transition="in" filter="wipe(up)">
                                      <p:cBhvr>
                                        <p:cTn id="19" dur="500"/>
                                        <p:tgtEl>
                                          <p:spTgt spid="56325"/>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56324"/>
                                        </p:tgtEl>
                                        <p:attrNameLst>
                                          <p:attrName>style.visibility</p:attrName>
                                        </p:attrNameLst>
                                      </p:cBhvr>
                                      <p:to>
                                        <p:strVal val="visible"/>
                                      </p:to>
                                    </p:set>
                                    <p:animEffect transition="in" filter="wipe(up)">
                                      <p:cBhvr>
                                        <p:cTn id="23" dur="500"/>
                                        <p:tgtEl>
                                          <p:spTgt spid="56324"/>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56326"/>
                                        </p:tgtEl>
                                        <p:attrNameLst>
                                          <p:attrName>style.visibility</p:attrName>
                                        </p:attrNameLst>
                                      </p:cBhvr>
                                      <p:to>
                                        <p:strVal val="visible"/>
                                      </p:to>
                                    </p:set>
                                    <p:animEffect transition="in" filter="wipe(up)">
                                      <p:cBhvr>
                                        <p:cTn id="27" dur="500"/>
                                        <p:tgtEl>
                                          <p:spTgt spid="5632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6331"/>
                                        </p:tgtEl>
                                        <p:attrNameLst>
                                          <p:attrName>style.visibility</p:attrName>
                                        </p:attrNameLst>
                                      </p:cBhvr>
                                      <p:to>
                                        <p:strVal val="visible"/>
                                      </p:to>
                                    </p:set>
                                    <p:animEffect transition="in" filter="wipe(left)">
                                      <p:cBhvr>
                                        <p:cTn id="32" dur="500"/>
                                        <p:tgtEl>
                                          <p:spTgt spid="56331"/>
                                        </p:tgtEl>
                                      </p:cBhvr>
                                    </p:animEffect>
                                  </p:childTnLst>
                                </p:cTn>
                              </p:par>
                            </p:childTnLst>
                          </p:cTn>
                        </p:par>
                        <p:par>
                          <p:cTn id="33" fill="hold">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56351"/>
                                        </p:tgtEl>
                                        <p:attrNameLst>
                                          <p:attrName>style.visibility</p:attrName>
                                        </p:attrNameLst>
                                      </p:cBhvr>
                                      <p:to>
                                        <p:strVal val="visible"/>
                                      </p:to>
                                    </p:set>
                                    <p:animEffect transition="in" filter="wipe(left)">
                                      <p:cBhvr>
                                        <p:cTn id="36" dur="500"/>
                                        <p:tgtEl>
                                          <p:spTgt spid="56351"/>
                                        </p:tgtEl>
                                      </p:cBhvr>
                                    </p:animEffect>
                                  </p:childTnLst>
                                </p:cTn>
                              </p:par>
                            </p:childTnLst>
                          </p:cTn>
                        </p:par>
                        <p:par>
                          <p:cTn id="37" fill="hold">
                            <p:stCondLst>
                              <p:cond delay="1000"/>
                            </p:stCondLst>
                            <p:childTnLst>
                              <p:par>
                                <p:cTn id="38" presetID="22" presetClass="entr" presetSubtype="8" fill="hold" grpId="0" nodeType="afterEffect">
                                  <p:stCondLst>
                                    <p:cond delay="0"/>
                                  </p:stCondLst>
                                  <p:childTnLst>
                                    <p:set>
                                      <p:cBhvr>
                                        <p:cTn id="39" dur="1" fill="hold">
                                          <p:stCondLst>
                                            <p:cond delay="0"/>
                                          </p:stCondLst>
                                        </p:cTn>
                                        <p:tgtEl>
                                          <p:spTgt spid="56352"/>
                                        </p:tgtEl>
                                        <p:attrNameLst>
                                          <p:attrName>style.visibility</p:attrName>
                                        </p:attrNameLst>
                                      </p:cBhvr>
                                      <p:to>
                                        <p:strVal val="visible"/>
                                      </p:to>
                                    </p:set>
                                    <p:animEffect transition="in" filter="wipe(left)">
                                      <p:cBhvr>
                                        <p:cTn id="40" dur="500"/>
                                        <p:tgtEl>
                                          <p:spTgt spid="56352"/>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56327"/>
                                        </p:tgtEl>
                                        <p:attrNameLst>
                                          <p:attrName>style.visibility</p:attrName>
                                        </p:attrNameLst>
                                      </p:cBhvr>
                                      <p:to>
                                        <p:strVal val="visible"/>
                                      </p:to>
                                    </p:set>
                                    <p:animEffect transition="in" filter="wipe(down)">
                                      <p:cBhvr>
                                        <p:cTn id="45" dur="500"/>
                                        <p:tgtEl>
                                          <p:spTgt spid="56327"/>
                                        </p:tgtEl>
                                      </p:cBhvr>
                                    </p:animEffect>
                                  </p:childTnLst>
                                </p:cTn>
                              </p:par>
                            </p:childTnLst>
                          </p:cTn>
                        </p:par>
                        <p:par>
                          <p:cTn id="46" fill="hold">
                            <p:stCondLst>
                              <p:cond delay="500"/>
                            </p:stCondLst>
                            <p:childTnLst>
                              <p:par>
                                <p:cTn id="47" presetID="22" presetClass="entr" presetSubtype="4" fill="hold" grpId="0" nodeType="afterEffect">
                                  <p:stCondLst>
                                    <p:cond delay="0"/>
                                  </p:stCondLst>
                                  <p:childTnLst>
                                    <p:set>
                                      <p:cBhvr>
                                        <p:cTn id="48" dur="1" fill="hold">
                                          <p:stCondLst>
                                            <p:cond delay="0"/>
                                          </p:stCondLst>
                                        </p:cTn>
                                        <p:tgtEl>
                                          <p:spTgt spid="56328"/>
                                        </p:tgtEl>
                                        <p:attrNameLst>
                                          <p:attrName>style.visibility</p:attrName>
                                        </p:attrNameLst>
                                      </p:cBhvr>
                                      <p:to>
                                        <p:strVal val="visible"/>
                                      </p:to>
                                    </p:set>
                                    <p:animEffect transition="in" filter="wipe(down)">
                                      <p:cBhvr>
                                        <p:cTn id="49" dur="500"/>
                                        <p:tgtEl>
                                          <p:spTgt spid="56328"/>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grpId="0" nodeType="clickEffect">
                                  <p:stCondLst>
                                    <p:cond delay="0"/>
                                  </p:stCondLst>
                                  <p:childTnLst>
                                    <p:set>
                                      <p:cBhvr>
                                        <p:cTn id="53" dur="1" fill="hold">
                                          <p:stCondLst>
                                            <p:cond delay="0"/>
                                          </p:stCondLst>
                                        </p:cTn>
                                        <p:tgtEl>
                                          <p:spTgt spid="56329"/>
                                        </p:tgtEl>
                                        <p:attrNameLst>
                                          <p:attrName>style.visibility</p:attrName>
                                        </p:attrNameLst>
                                      </p:cBhvr>
                                      <p:to>
                                        <p:strVal val="visible"/>
                                      </p:to>
                                    </p:set>
                                    <p:animEffect transition="in" filter="wipe(down)">
                                      <p:cBhvr>
                                        <p:cTn id="54" dur="500"/>
                                        <p:tgtEl>
                                          <p:spTgt spid="56329"/>
                                        </p:tgtEl>
                                      </p:cBhvr>
                                    </p:animEffect>
                                  </p:childTnLst>
                                </p:cTn>
                              </p:par>
                            </p:childTnLst>
                          </p:cTn>
                        </p:par>
                        <p:par>
                          <p:cTn id="55" fill="hold">
                            <p:stCondLst>
                              <p:cond delay="500"/>
                            </p:stCondLst>
                            <p:childTnLst>
                              <p:par>
                                <p:cTn id="56" presetID="22" presetClass="entr" presetSubtype="4" fill="hold" grpId="0" nodeType="afterEffect">
                                  <p:stCondLst>
                                    <p:cond delay="0"/>
                                  </p:stCondLst>
                                  <p:childTnLst>
                                    <p:set>
                                      <p:cBhvr>
                                        <p:cTn id="57" dur="1" fill="hold">
                                          <p:stCondLst>
                                            <p:cond delay="0"/>
                                          </p:stCondLst>
                                        </p:cTn>
                                        <p:tgtEl>
                                          <p:spTgt spid="56330"/>
                                        </p:tgtEl>
                                        <p:attrNameLst>
                                          <p:attrName>style.visibility</p:attrName>
                                        </p:attrNameLst>
                                      </p:cBhvr>
                                      <p:to>
                                        <p:strVal val="visible"/>
                                      </p:to>
                                    </p:set>
                                    <p:animEffect transition="in" filter="wipe(down)">
                                      <p:cBhvr>
                                        <p:cTn id="58" dur="500"/>
                                        <p:tgtEl>
                                          <p:spTgt spid="56330"/>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56332"/>
                                        </p:tgtEl>
                                        <p:attrNameLst>
                                          <p:attrName>style.visibility</p:attrName>
                                        </p:attrNameLst>
                                      </p:cBhvr>
                                      <p:to>
                                        <p:strVal val="visible"/>
                                      </p:to>
                                    </p:set>
                                    <p:animEffect transition="in" filter="wipe(left)">
                                      <p:cBhvr>
                                        <p:cTn id="63" dur="500"/>
                                        <p:tgtEl>
                                          <p:spTgt spid="56332"/>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1" fill="hold" grpId="0" nodeType="clickEffect">
                                  <p:stCondLst>
                                    <p:cond delay="0"/>
                                  </p:stCondLst>
                                  <p:childTnLst>
                                    <p:set>
                                      <p:cBhvr>
                                        <p:cTn id="67" dur="1" fill="hold">
                                          <p:stCondLst>
                                            <p:cond delay="0"/>
                                          </p:stCondLst>
                                        </p:cTn>
                                        <p:tgtEl>
                                          <p:spTgt spid="56336"/>
                                        </p:tgtEl>
                                        <p:attrNameLst>
                                          <p:attrName>style.visibility</p:attrName>
                                        </p:attrNameLst>
                                      </p:cBhvr>
                                      <p:to>
                                        <p:strVal val="visible"/>
                                      </p:to>
                                    </p:set>
                                    <p:animEffect transition="in" filter="wipe(up)">
                                      <p:cBhvr>
                                        <p:cTn id="68" dur="500"/>
                                        <p:tgtEl>
                                          <p:spTgt spid="56336"/>
                                        </p:tgtEl>
                                      </p:cBhvr>
                                    </p:animEffect>
                                  </p:childTnLst>
                                </p:cTn>
                              </p:par>
                            </p:childTnLst>
                          </p:cTn>
                        </p:par>
                        <p:par>
                          <p:cTn id="69" fill="hold">
                            <p:stCondLst>
                              <p:cond delay="500"/>
                            </p:stCondLst>
                            <p:childTnLst>
                              <p:par>
                                <p:cTn id="70" presetID="22" presetClass="entr" presetSubtype="1" fill="hold" grpId="0" nodeType="afterEffect">
                                  <p:stCondLst>
                                    <p:cond delay="0"/>
                                  </p:stCondLst>
                                  <p:childTnLst>
                                    <p:set>
                                      <p:cBhvr>
                                        <p:cTn id="71" dur="1" fill="hold">
                                          <p:stCondLst>
                                            <p:cond delay="0"/>
                                          </p:stCondLst>
                                        </p:cTn>
                                        <p:tgtEl>
                                          <p:spTgt spid="56334"/>
                                        </p:tgtEl>
                                        <p:attrNameLst>
                                          <p:attrName>style.visibility</p:attrName>
                                        </p:attrNameLst>
                                      </p:cBhvr>
                                      <p:to>
                                        <p:strVal val="visible"/>
                                      </p:to>
                                    </p:set>
                                    <p:animEffect transition="in" filter="wipe(up)">
                                      <p:cBhvr>
                                        <p:cTn id="72" dur="500"/>
                                        <p:tgtEl>
                                          <p:spTgt spid="56334"/>
                                        </p:tgtEl>
                                      </p:cBhvr>
                                    </p:animEffect>
                                  </p:childTnLst>
                                </p:cTn>
                              </p:par>
                            </p:childTnLst>
                          </p:cTn>
                        </p:par>
                        <p:par>
                          <p:cTn id="73" fill="hold">
                            <p:stCondLst>
                              <p:cond delay="1000"/>
                            </p:stCondLst>
                            <p:childTnLst>
                              <p:par>
                                <p:cTn id="74" presetID="22" presetClass="entr" presetSubtype="1" fill="hold" grpId="0" nodeType="afterEffect">
                                  <p:stCondLst>
                                    <p:cond delay="0"/>
                                  </p:stCondLst>
                                  <p:childTnLst>
                                    <p:set>
                                      <p:cBhvr>
                                        <p:cTn id="75" dur="1" fill="hold">
                                          <p:stCondLst>
                                            <p:cond delay="0"/>
                                          </p:stCondLst>
                                        </p:cTn>
                                        <p:tgtEl>
                                          <p:spTgt spid="56335"/>
                                        </p:tgtEl>
                                        <p:attrNameLst>
                                          <p:attrName>style.visibility</p:attrName>
                                        </p:attrNameLst>
                                      </p:cBhvr>
                                      <p:to>
                                        <p:strVal val="visible"/>
                                      </p:to>
                                    </p:set>
                                    <p:animEffect transition="in" filter="wipe(up)">
                                      <p:cBhvr>
                                        <p:cTn id="76" dur="500"/>
                                        <p:tgtEl>
                                          <p:spTgt spid="56335"/>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56337"/>
                                        </p:tgtEl>
                                        <p:attrNameLst>
                                          <p:attrName>style.visibility</p:attrName>
                                        </p:attrNameLst>
                                      </p:cBhvr>
                                      <p:to>
                                        <p:strVal val="visible"/>
                                      </p:to>
                                    </p:set>
                                    <p:animEffect transition="in" filter="wipe(left)">
                                      <p:cBhvr>
                                        <p:cTn id="81" dur="500"/>
                                        <p:tgtEl>
                                          <p:spTgt spid="56337"/>
                                        </p:tgtEl>
                                      </p:cBhvr>
                                    </p:animEffect>
                                  </p:childTnLst>
                                </p:cTn>
                              </p:par>
                            </p:childTnLst>
                          </p:cTn>
                        </p:par>
                      </p:childTnLst>
                    </p:cTn>
                  </p:par>
                  <p:par>
                    <p:cTn id="82" fill="hold">
                      <p:stCondLst>
                        <p:cond delay="indefinite"/>
                      </p:stCondLst>
                      <p:childTnLst>
                        <p:par>
                          <p:cTn id="83" fill="hold">
                            <p:stCondLst>
                              <p:cond delay="0"/>
                            </p:stCondLst>
                            <p:childTnLst>
                              <p:par>
                                <p:cTn id="84" presetID="2" presetClass="entr" presetSubtype="8" fill="hold" grpId="0" nodeType="clickEffect">
                                  <p:stCondLst>
                                    <p:cond delay="0"/>
                                  </p:stCondLst>
                                  <p:childTnLst>
                                    <p:set>
                                      <p:cBhvr>
                                        <p:cTn id="85" dur="1" fill="hold">
                                          <p:stCondLst>
                                            <p:cond delay="0"/>
                                          </p:stCondLst>
                                        </p:cTn>
                                        <p:tgtEl>
                                          <p:spTgt spid="56333"/>
                                        </p:tgtEl>
                                        <p:attrNameLst>
                                          <p:attrName>style.visibility</p:attrName>
                                        </p:attrNameLst>
                                      </p:cBhvr>
                                      <p:to>
                                        <p:strVal val="visible"/>
                                      </p:to>
                                    </p:set>
                                    <p:anim calcmode="lin" valueType="num">
                                      <p:cBhvr additive="base">
                                        <p:cTn id="86" dur="500" fill="hold"/>
                                        <p:tgtEl>
                                          <p:spTgt spid="56333"/>
                                        </p:tgtEl>
                                        <p:attrNameLst>
                                          <p:attrName>ppt_x</p:attrName>
                                        </p:attrNameLst>
                                      </p:cBhvr>
                                      <p:tavLst>
                                        <p:tav tm="0">
                                          <p:val>
                                            <p:strVal val="0-#ppt_w/2"/>
                                          </p:val>
                                        </p:tav>
                                        <p:tav tm="100000">
                                          <p:val>
                                            <p:strVal val="#ppt_x"/>
                                          </p:val>
                                        </p:tav>
                                      </p:tavLst>
                                    </p:anim>
                                    <p:anim calcmode="lin" valueType="num">
                                      <p:cBhvr additive="base">
                                        <p:cTn id="87" dur="500" fill="hold"/>
                                        <p:tgtEl>
                                          <p:spTgt spid="56333"/>
                                        </p:tgtEl>
                                        <p:attrNameLst>
                                          <p:attrName>ppt_y</p:attrName>
                                        </p:attrNameLst>
                                      </p:cBhvr>
                                      <p:tavLst>
                                        <p:tav tm="0">
                                          <p:val>
                                            <p:strVal val="#ppt_y"/>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22" presetClass="entr" presetSubtype="1" fill="hold" grpId="0" nodeType="clickEffect">
                                  <p:stCondLst>
                                    <p:cond delay="0"/>
                                  </p:stCondLst>
                                  <p:childTnLst>
                                    <p:set>
                                      <p:cBhvr>
                                        <p:cTn id="91" dur="1" fill="hold">
                                          <p:stCondLst>
                                            <p:cond delay="0"/>
                                          </p:stCondLst>
                                        </p:cTn>
                                        <p:tgtEl>
                                          <p:spTgt spid="56340"/>
                                        </p:tgtEl>
                                        <p:attrNameLst>
                                          <p:attrName>style.visibility</p:attrName>
                                        </p:attrNameLst>
                                      </p:cBhvr>
                                      <p:to>
                                        <p:strVal val="visible"/>
                                      </p:to>
                                    </p:set>
                                    <p:animEffect transition="in" filter="wipe(up)">
                                      <p:cBhvr>
                                        <p:cTn id="92" dur="500"/>
                                        <p:tgtEl>
                                          <p:spTgt spid="56340"/>
                                        </p:tgtEl>
                                      </p:cBhvr>
                                    </p:animEffect>
                                  </p:childTnLst>
                                </p:cTn>
                              </p:par>
                            </p:childTnLst>
                          </p:cTn>
                        </p:par>
                        <p:par>
                          <p:cTn id="93" fill="hold">
                            <p:stCondLst>
                              <p:cond delay="500"/>
                            </p:stCondLst>
                            <p:childTnLst>
                              <p:par>
                                <p:cTn id="94" presetID="22" presetClass="entr" presetSubtype="1" fill="hold" grpId="0" nodeType="afterEffect">
                                  <p:stCondLst>
                                    <p:cond delay="0"/>
                                  </p:stCondLst>
                                  <p:childTnLst>
                                    <p:set>
                                      <p:cBhvr>
                                        <p:cTn id="95" dur="1" fill="hold">
                                          <p:stCondLst>
                                            <p:cond delay="0"/>
                                          </p:stCondLst>
                                        </p:cTn>
                                        <p:tgtEl>
                                          <p:spTgt spid="56353"/>
                                        </p:tgtEl>
                                        <p:attrNameLst>
                                          <p:attrName>style.visibility</p:attrName>
                                        </p:attrNameLst>
                                      </p:cBhvr>
                                      <p:to>
                                        <p:strVal val="visible"/>
                                      </p:to>
                                    </p:set>
                                    <p:animEffect transition="in" filter="wipe(up)">
                                      <p:cBhvr>
                                        <p:cTn id="96" dur="500"/>
                                        <p:tgtEl>
                                          <p:spTgt spid="56353"/>
                                        </p:tgtEl>
                                      </p:cBhvr>
                                    </p:animEffect>
                                  </p:childTnLst>
                                  <p:subTnLst>
                                    <p:set>
                                      <p:cBhvr override="childStyle">
                                        <p:cTn dur="1" fill="hold" display="0" masterRel="nextClick" afterEffect="1"/>
                                        <p:tgtEl>
                                          <p:spTgt spid="56353"/>
                                        </p:tgtEl>
                                        <p:attrNameLst>
                                          <p:attrName>style.visibility</p:attrName>
                                        </p:attrNameLst>
                                      </p:cBhvr>
                                      <p:to>
                                        <p:strVal val="hidden"/>
                                      </p:to>
                                    </p:set>
                                  </p:subTnLst>
                                </p:cTn>
                              </p:par>
                            </p:childTnLst>
                          </p:cTn>
                        </p:par>
                        <p:par>
                          <p:cTn id="97" fill="hold">
                            <p:stCondLst>
                              <p:cond delay="1000"/>
                            </p:stCondLst>
                            <p:childTnLst>
                              <p:par>
                                <p:cTn id="98" presetID="22" presetClass="entr" presetSubtype="1" fill="hold" grpId="0" nodeType="afterEffect">
                                  <p:stCondLst>
                                    <p:cond delay="0"/>
                                  </p:stCondLst>
                                  <p:childTnLst>
                                    <p:set>
                                      <p:cBhvr>
                                        <p:cTn id="99" dur="1" fill="hold">
                                          <p:stCondLst>
                                            <p:cond delay="0"/>
                                          </p:stCondLst>
                                        </p:cTn>
                                        <p:tgtEl>
                                          <p:spTgt spid="56354"/>
                                        </p:tgtEl>
                                        <p:attrNameLst>
                                          <p:attrName>style.visibility</p:attrName>
                                        </p:attrNameLst>
                                      </p:cBhvr>
                                      <p:to>
                                        <p:strVal val="visible"/>
                                      </p:to>
                                    </p:set>
                                    <p:animEffect transition="in" filter="wipe(up)">
                                      <p:cBhvr>
                                        <p:cTn id="100" dur="500"/>
                                        <p:tgtEl>
                                          <p:spTgt spid="56354"/>
                                        </p:tgtEl>
                                      </p:cBhvr>
                                    </p:animEffect>
                                  </p:childTnLst>
                                  <p:subTnLst>
                                    <p:set>
                                      <p:cBhvr override="childStyle">
                                        <p:cTn dur="1" fill="hold" display="0" masterRel="nextClick" afterEffect="1"/>
                                        <p:tgtEl>
                                          <p:spTgt spid="56354"/>
                                        </p:tgtEl>
                                        <p:attrNameLst>
                                          <p:attrName>style.visibility</p:attrName>
                                        </p:attrNameLst>
                                      </p:cBhvr>
                                      <p:to>
                                        <p:strVal val="hidden"/>
                                      </p:to>
                                    </p:set>
                                  </p:subTnLst>
                                </p:cTn>
                              </p:par>
                            </p:childTnLst>
                          </p:cTn>
                        </p:par>
                      </p:childTnLst>
                    </p:cTn>
                  </p:par>
                  <p:par>
                    <p:cTn id="101" fill="hold">
                      <p:stCondLst>
                        <p:cond delay="indefinite"/>
                      </p:stCondLst>
                      <p:childTnLst>
                        <p:par>
                          <p:cTn id="102" fill="hold">
                            <p:stCondLst>
                              <p:cond delay="0"/>
                            </p:stCondLst>
                            <p:childTnLst>
                              <p:par>
                                <p:cTn id="103" presetID="22" presetClass="entr" presetSubtype="1" fill="hold" grpId="0" nodeType="clickEffect">
                                  <p:stCondLst>
                                    <p:cond delay="0"/>
                                  </p:stCondLst>
                                  <p:childTnLst>
                                    <p:set>
                                      <p:cBhvr>
                                        <p:cTn id="104" dur="1" fill="hold">
                                          <p:stCondLst>
                                            <p:cond delay="0"/>
                                          </p:stCondLst>
                                        </p:cTn>
                                        <p:tgtEl>
                                          <p:spTgt spid="56338"/>
                                        </p:tgtEl>
                                        <p:attrNameLst>
                                          <p:attrName>style.visibility</p:attrName>
                                        </p:attrNameLst>
                                      </p:cBhvr>
                                      <p:to>
                                        <p:strVal val="visible"/>
                                      </p:to>
                                    </p:set>
                                    <p:animEffect transition="in" filter="wipe(up)">
                                      <p:cBhvr>
                                        <p:cTn id="105" dur="500"/>
                                        <p:tgtEl>
                                          <p:spTgt spid="56338"/>
                                        </p:tgtEl>
                                      </p:cBhvr>
                                    </p:animEffect>
                                  </p:childTnLst>
                                </p:cTn>
                              </p:par>
                            </p:childTnLst>
                          </p:cTn>
                        </p:par>
                        <p:par>
                          <p:cTn id="106" fill="hold">
                            <p:stCondLst>
                              <p:cond delay="500"/>
                            </p:stCondLst>
                            <p:childTnLst>
                              <p:par>
                                <p:cTn id="107" presetID="22" presetClass="entr" presetSubtype="1" fill="hold" grpId="0" nodeType="afterEffect">
                                  <p:stCondLst>
                                    <p:cond delay="0"/>
                                  </p:stCondLst>
                                  <p:childTnLst>
                                    <p:set>
                                      <p:cBhvr>
                                        <p:cTn id="108" dur="1" fill="hold">
                                          <p:stCondLst>
                                            <p:cond delay="0"/>
                                          </p:stCondLst>
                                        </p:cTn>
                                        <p:tgtEl>
                                          <p:spTgt spid="56339"/>
                                        </p:tgtEl>
                                        <p:attrNameLst>
                                          <p:attrName>style.visibility</p:attrName>
                                        </p:attrNameLst>
                                      </p:cBhvr>
                                      <p:to>
                                        <p:strVal val="visible"/>
                                      </p:to>
                                    </p:set>
                                    <p:animEffect transition="in" filter="wipe(up)">
                                      <p:cBhvr>
                                        <p:cTn id="109" dur="500"/>
                                        <p:tgtEl>
                                          <p:spTgt spid="56339"/>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grpId="0" nodeType="clickEffect">
                                  <p:stCondLst>
                                    <p:cond delay="0"/>
                                  </p:stCondLst>
                                  <p:childTnLst>
                                    <p:set>
                                      <p:cBhvr>
                                        <p:cTn id="113" dur="1" fill="hold">
                                          <p:stCondLst>
                                            <p:cond delay="0"/>
                                          </p:stCondLst>
                                        </p:cTn>
                                        <p:tgtEl>
                                          <p:spTgt spid="56341"/>
                                        </p:tgtEl>
                                        <p:attrNameLst>
                                          <p:attrName>style.visibility</p:attrName>
                                        </p:attrNameLst>
                                      </p:cBhvr>
                                      <p:to>
                                        <p:strVal val="visible"/>
                                      </p:to>
                                    </p:set>
                                    <p:animEffect transition="in" filter="wipe(left)">
                                      <p:cBhvr>
                                        <p:cTn id="114" dur="500"/>
                                        <p:tgtEl>
                                          <p:spTgt spid="56341"/>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1" fill="hold" grpId="0" nodeType="clickEffect">
                                  <p:stCondLst>
                                    <p:cond delay="0"/>
                                  </p:stCondLst>
                                  <p:childTnLst>
                                    <p:set>
                                      <p:cBhvr>
                                        <p:cTn id="118" dur="1" fill="hold">
                                          <p:stCondLst>
                                            <p:cond delay="0"/>
                                          </p:stCondLst>
                                        </p:cTn>
                                        <p:tgtEl>
                                          <p:spTgt spid="56344"/>
                                        </p:tgtEl>
                                        <p:attrNameLst>
                                          <p:attrName>style.visibility</p:attrName>
                                        </p:attrNameLst>
                                      </p:cBhvr>
                                      <p:to>
                                        <p:strVal val="visible"/>
                                      </p:to>
                                    </p:set>
                                    <p:animEffect transition="in" filter="wipe(up)">
                                      <p:cBhvr>
                                        <p:cTn id="119" dur="500"/>
                                        <p:tgtEl>
                                          <p:spTgt spid="56344"/>
                                        </p:tgtEl>
                                      </p:cBhvr>
                                    </p:animEffect>
                                  </p:childTnLst>
                                </p:cTn>
                              </p:par>
                            </p:childTnLst>
                          </p:cTn>
                        </p:par>
                      </p:childTnLst>
                    </p:cTn>
                  </p:par>
                  <p:par>
                    <p:cTn id="120" fill="hold">
                      <p:stCondLst>
                        <p:cond delay="indefinite"/>
                      </p:stCondLst>
                      <p:childTnLst>
                        <p:par>
                          <p:cTn id="121" fill="hold">
                            <p:stCondLst>
                              <p:cond delay="0"/>
                            </p:stCondLst>
                            <p:childTnLst>
                              <p:par>
                                <p:cTn id="122" presetID="22" presetClass="entr" presetSubtype="1" fill="hold" nodeType="clickEffect">
                                  <p:stCondLst>
                                    <p:cond delay="0"/>
                                  </p:stCondLst>
                                  <p:childTnLst>
                                    <p:set>
                                      <p:cBhvr>
                                        <p:cTn id="123" dur="1" fill="hold">
                                          <p:stCondLst>
                                            <p:cond delay="0"/>
                                          </p:stCondLst>
                                        </p:cTn>
                                        <p:tgtEl>
                                          <p:spTgt spid="56355"/>
                                        </p:tgtEl>
                                        <p:attrNameLst>
                                          <p:attrName>style.visibility</p:attrName>
                                        </p:attrNameLst>
                                      </p:cBhvr>
                                      <p:to>
                                        <p:strVal val="visible"/>
                                      </p:to>
                                    </p:set>
                                    <p:animEffect transition="in" filter="wipe(up)">
                                      <p:cBhvr>
                                        <p:cTn id="124" dur="500"/>
                                        <p:tgtEl>
                                          <p:spTgt spid="56355"/>
                                        </p:tgtEl>
                                      </p:cBhvr>
                                    </p:animEffect>
                                  </p:childTnLst>
                                  <p:subTnLst>
                                    <p:set>
                                      <p:cBhvr override="childStyle">
                                        <p:cTn dur="1" fill="hold" display="0" masterRel="nextClick" afterEffect="1"/>
                                        <p:tgtEl>
                                          <p:spTgt spid="56355"/>
                                        </p:tgtEl>
                                        <p:attrNameLst>
                                          <p:attrName>style.visibility</p:attrName>
                                        </p:attrNameLst>
                                      </p:cBhvr>
                                      <p:to>
                                        <p:strVal val="hidden"/>
                                      </p:to>
                                    </p:set>
                                  </p:subTnLst>
                                </p:cTn>
                              </p:par>
                            </p:childTnLst>
                          </p:cTn>
                        </p:par>
                      </p:childTnLst>
                    </p:cTn>
                  </p:par>
                  <p:par>
                    <p:cTn id="125" fill="hold">
                      <p:stCondLst>
                        <p:cond delay="indefinite"/>
                      </p:stCondLst>
                      <p:childTnLst>
                        <p:par>
                          <p:cTn id="126" fill="hold">
                            <p:stCondLst>
                              <p:cond delay="0"/>
                            </p:stCondLst>
                            <p:childTnLst>
                              <p:par>
                                <p:cTn id="127" presetID="22" presetClass="entr" presetSubtype="1" fill="hold" grpId="0" nodeType="clickEffect">
                                  <p:stCondLst>
                                    <p:cond delay="0"/>
                                  </p:stCondLst>
                                  <p:childTnLst>
                                    <p:set>
                                      <p:cBhvr>
                                        <p:cTn id="128" dur="1" fill="hold">
                                          <p:stCondLst>
                                            <p:cond delay="0"/>
                                          </p:stCondLst>
                                        </p:cTn>
                                        <p:tgtEl>
                                          <p:spTgt spid="56358"/>
                                        </p:tgtEl>
                                        <p:attrNameLst>
                                          <p:attrName>style.visibility</p:attrName>
                                        </p:attrNameLst>
                                      </p:cBhvr>
                                      <p:to>
                                        <p:strVal val="visible"/>
                                      </p:to>
                                    </p:set>
                                    <p:animEffect transition="in" filter="wipe(up)">
                                      <p:cBhvr>
                                        <p:cTn id="129" dur="500"/>
                                        <p:tgtEl>
                                          <p:spTgt spid="56358"/>
                                        </p:tgtEl>
                                      </p:cBhvr>
                                    </p:animEffect>
                                  </p:childTnLst>
                                  <p:subTnLst>
                                    <p:set>
                                      <p:cBhvr override="childStyle">
                                        <p:cTn dur="1" fill="hold" display="0" masterRel="nextClick" afterEffect="1"/>
                                        <p:tgtEl>
                                          <p:spTgt spid="56358"/>
                                        </p:tgtEl>
                                        <p:attrNameLst>
                                          <p:attrName>style.visibility</p:attrName>
                                        </p:attrNameLst>
                                      </p:cBhvr>
                                      <p:to>
                                        <p:strVal val="hidden"/>
                                      </p:to>
                                    </p:set>
                                  </p:subTnLst>
                                </p:cTn>
                              </p:par>
                            </p:childTnLst>
                          </p:cTn>
                        </p:par>
                        <p:par>
                          <p:cTn id="130" fill="hold">
                            <p:stCondLst>
                              <p:cond delay="500"/>
                            </p:stCondLst>
                            <p:childTnLst>
                              <p:par>
                                <p:cTn id="131" presetID="22" presetClass="entr" presetSubtype="1" fill="hold" grpId="0" nodeType="afterEffect">
                                  <p:stCondLst>
                                    <p:cond delay="0"/>
                                  </p:stCondLst>
                                  <p:childTnLst>
                                    <p:set>
                                      <p:cBhvr>
                                        <p:cTn id="132" dur="1" fill="hold">
                                          <p:stCondLst>
                                            <p:cond delay="0"/>
                                          </p:stCondLst>
                                        </p:cTn>
                                        <p:tgtEl>
                                          <p:spTgt spid="56359"/>
                                        </p:tgtEl>
                                        <p:attrNameLst>
                                          <p:attrName>style.visibility</p:attrName>
                                        </p:attrNameLst>
                                      </p:cBhvr>
                                      <p:to>
                                        <p:strVal val="visible"/>
                                      </p:to>
                                    </p:set>
                                    <p:animEffect transition="in" filter="wipe(up)">
                                      <p:cBhvr>
                                        <p:cTn id="133" dur="500"/>
                                        <p:tgtEl>
                                          <p:spTgt spid="56359"/>
                                        </p:tgtEl>
                                      </p:cBhvr>
                                    </p:animEffect>
                                  </p:childTnLst>
                                  <p:subTnLst>
                                    <p:set>
                                      <p:cBhvr override="childStyle">
                                        <p:cTn dur="1" fill="hold" display="0" masterRel="nextClick" afterEffect="1"/>
                                        <p:tgtEl>
                                          <p:spTgt spid="56359"/>
                                        </p:tgtEl>
                                        <p:attrNameLst>
                                          <p:attrName>style.visibility</p:attrName>
                                        </p:attrNameLst>
                                      </p:cBhvr>
                                      <p:to>
                                        <p:strVal val="hidden"/>
                                      </p:to>
                                    </p:set>
                                  </p:subTnLst>
                                </p:cTn>
                              </p:par>
                            </p:childTnLst>
                          </p:cTn>
                        </p:par>
                      </p:childTnLst>
                    </p:cTn>
                  </p:par>
                  <p:par>
                    <p:cTn id="134" fill="hold">
                      <p:stCondLst>
                        <p:cond delay="indefinite"/>
                      </p:stCondLst>
                      <p:childTnLst>
                        <p:par>
                          <p:cTn id="135" fill="hold">
                            <p:stCondLst>
                              <p:cond delay="0"/>
                            </p:stCondLst>
                            <p:childTnLst>
                              <p:par>
                                <p:cTn id="136" presetID="22" presetClass="entr" presetSubtype="1" fill="hold" grpId="0" nodeType="clickEffect">
                                  <p:stCondLst>
                                    <p:cond delay="0"/>
                                  </p:stCondLst>
                                  <p:childTnLst>
                                    <p:set>
                                      <p:cBhvr>
                                        <p:cTn id="137" dur="1" fill="hold">
                                          <p:stCondLst>
                                            <p:cond delay="0"/>
                                          </p:stCondLst>
                                        </p:cTn>
                                        <p:tgtEl>
                                          <p:spTgt spid="56360"/>
                                        </p:tgtEl>
                                        <p:attrNameLst>
                                          <p:attrName>style.visibility</p:attrName>
                                        </p:attrNameLst>
                                      </p:cBhvr>
                                      <p:to>
                                        <p:strVal val="visible"/>
                                      </p:to>
                                    </p:set>
                                    <p:animEffect transition="in" filter="wipe(up)">
                                      <p:cBhvr>
                                        <p:cTn id="138" dur="500"/>
                                        <p:tgtEl>
                                          <p:spTgt spid="56360"/>
                                        </p:tgtEl>
                                      </p:cBhvr>
                                    </p:animEffect>
                                  </p:childTnLst>
                                  <p:subTnLst>
                                    <p:set>
                                      <p:cBhvr override="childStyle">
                                        <p:cTn dur="1" fill="hold" display="0" masterRel="nextClick" afterEffect="1"/>
                                        <p:tgtEl>
                                          <p:spTgt spid="56360"/>
                                        </p:tgtEl>
                                        <p:attrNameLst>
                                          <p:attrName>style.visibility</p:attrName>
                                        </p:attrNameLst>
                                      </p:cBhvr>
                                      <p:to>
                                        <p:strVal val="hidden"/>
                                      </p:to>
                                    </p:set>
                                  </p:subTnLst>
                                </p:cTn>
                              </p:par>
                            </p:childTnLst>
                          </p:cTn>
                        </p:par>
                        <p:par>
                          <p:cTn id="139" fill="hold">
                            <p:stCondLst>
                              <p:cond delay="500"/>
                            </p:stCondLst>
                            <p:childTnLst>
                              <p:par>
                                <p:cTn id="140" presetID="22" presetClass="entr" presetSubtype="1" fill="hold" grpId="0" nodeType="afterEffect">
                                  <p:stCondLst>
                                    <p:cond delay="0"/>
                                  </p:stCondLst>
                                  <p:childTnLst>
                                    <p:set>
                                      <p:cBhvr>
                                        <p:cTn id="141" dur="1" fill="hold">
                                          <p:stCondLst>
                                            <p:cond delay="0"/>
                                          </p:stCondLst>
                                        </p:cTn>
                                        <p:tgtEl>
                                          <p:spTgt spid="56361"/>
                                        </p:tgtEl>
                                        <p:attrNameLst>
                                          <p:attrName>style.visibility</p:attrName>
                                        </p:attrNameLst>
                                      </p:cBhvr>
                                      <p:to>
                                        <p:strVal val="visible"/>
                                      </p:to>
                                    </p:set>
                                    <p:animEffect transition="in" filter="wipe(up)">
                                      <p:cBhvr>
                                        <p:cTn id="142" dur="500"/>
                                        <p:tgtEl>
                                          <p:spTgt spid="56361"/>
                                        </p:tgtEl>
                                      </p:cBhvr>
                                    </p:animEffect>
                                  </p:childTnLst>
                                  <p:subTnLst>
                                    <p:set>
                                      <p:cBhvr override="childStyle">
                                        <p:cTn dur="1" fill="hold" display="0" masterRel="nextClick" afterEffect="1"/>
                                        <p:tgtEl>
                                          <p:spTgt spid="56361"/>
                                        </p:tgtEl>
                                        <p:attrNameLst>
                                          <p:attrName>style.visibility</p:attrName>
                                        </p:attrNameLst>
                                      </p:cBhvr>
                                      <p:to>
                                        <p:strVal val="hidden"/>
                                      </p:to>
                                    </p:set>
                                  </p:subTnLst>
                                </p:cTn>
                              </p:par>
                            </p:childTnLst>
                          </p:cTn>
                        </p:par>
                      </p:childTnLst>
                    </p:cTn>
                  </p:par>
                  <p:par>
                    <p:cTn id="143" fill="hold">
                      <p:stCondLst>
                        <p:cond delay="indefinite"/>
                      </p:stCondLst>
                      <p:childTnLst>
                        <p:par>
                          <p:cTn id="144" fill="hold">
                            <p:stCondLst>
                              <p:cond delay="0"/>
                            </p:stCondLst>
                            <p:childTnLst>
                              <p:par>
                                <p:cTn id="145" presetID="22" presetClass="entr" presetSubtype="1" fill="hold" grpId="0" nodeType="clickEffect">
                                  <p:stCondLst>
                                    <p:cond delay="0"/>
                                  </p:stCondLst>
                                  <p:childTnLst>
                                    <p:set>
                                      <p:cBhvr>
                                        <p:cTn id="146" dur="1" fill="hold">
                                          <p:stCondLst>
                                            <p:cond delay="0"/>
                                          </p:stCondLst>
                                        </p:cTn>
                                        <p:tgtEl>
                                          <p:spTgt spid="56342"/>
                                        </p:tgtEl>
                                        <p:attrNameLst>
                                          <p:attrName>style.visibility</p:attrName>
                                        </p:attrNameLst>
                                      </p:cBhvr>
                                      <p:to>
                                        <p:strVal val="visible"/>
                                      </p:to>
                                    </p:set>
                                    <p:animEffect transition="in" filter="wipe(up)">
                                      <p:cBhvr>
                                        <p:cTn id="147" dur="500"/>
                                        <p:tgtEl>
                                          <p:spTgt spid="56342"/>
                                        </p:tgtEl>
                                      </p:cBhvr>
                                    </p:animEffect>
                                  </p:childTnLst>
                                </p:cTn>
                              </p:par>
                            </p:childTnLst>
                          </p:cTn>
                        </p:par>
                        <p:par>
                          <p:cTn id="148" fill="hold">
                            <p:stCondLst>
                              <p:cond delay="500"/>
                            </p:stCondLst>
                            <p:childTnLst>
                              <p:par>
                                <p:cTn id="149" presetID="22" presetClass="entr" presetSubtype="1" fill="hold" grpId="0" nodeType="afterEffect">
                                  <p:stCondLst>
                                    <p:cond delay="0"/>
                                  </p:stCondLst>
                                  <p:childTnLst>
                                    <p:set>
                                      <p:cBhvr>
                                        <p:cTn id="150" dur="1" fill="hold">
                                          <p:stCondLst>
                                            <p:cond delay="0"/>
                                          </p:stCondLst>
                                        </p:cTn>
                                        <p:tgtEl>
                                          <p:spTgt spid="56343"/>
                                        </p:tgtEl>
                                        <p:attrNameLst>
                                          <p:attrName>style.visibility</p:attrName>
                                        </p:attrNameLst>
                                      </p:cBhvr>
                                      <p:to>
                                        <p:strVal val="visible"/>
                                      </p:to>
                                    </p:set>
                                    <p:animEffect transition="in" filter="wipe(up)">
                                      <p:cBhvr>
                                        <p:cTn id="151" dur="500"/>
                                        <p:tgtEl>
                                          <p:spTgt spid="56343"/>
                                        </p:tgtEl>
                                      </p:cBhvr>
                                    </p:animEffect>
                                  </p:childTnLst>
                                </p:cTn>
                              </p:par>
                            </p:childTnLst>
                          </p:cTn>
                        </p:par>
                      </p:childTnLst>
                    </p:cTn>
                  </p:par>
                  <p:par>
                    <p:cTn id="152" fill="hold">
                      <p:stCondLst>
                        <p:cond delay="indefinite"/>
                      </p:stCondLst>
                      <p:childTnLst>
                        <p:par>
                          <p:cTn id="153" fill="hold">
                            <p:stCondLst>
                              <p:cond delay="0"/>
                            </p:stCondLst>
                            <p:childTnLst>
                              <p:par>
                                <p:cTn id="154" presetID="22" presetClass="entr" presetSubtype="8" fill="hold" grpId="0" nodeType="clickEffect">
                                  <p:stCondLst>
                                    <p:cond delay="0"/>
                                  </p:stCondLst>
                                  <p:childTnLst>
                                    <p:set>
                                      <p:cBhvr>
                                        <p:cTn id="155" dur="1" fill="hold">
                                          <p:stCondLst>
                                            <p:cond delay="0"/>
                                          </p:stCondLst>
                                        </p:cTn>
                                        <p:tgtEl>
                                          <p:spTgt spid="56345"/>
                                        </p:tgtEl>
                                        <p:attrNameLst>
                                          <p:attrName>style.visibility</p:attrName>
                                        </p:attrNameLst>
                                      </p:cBhvr>
                                      <p:to>
                                        <p:strVal val="visible"/>
                                      </p:to>
                                    </p:set>
                                    <p:animEffect transition="in" filter="wipe(left)">
                                      <p:cBhvr>
                                        <p:cTn id="156" dur="500"/>
                                        <p:tgtEl>
                                          <p:spTgt spid="56345"/>
                                        </p:tgtEl>
                                      </p:cBhvr>
                                    </p:animEffect>
                                  </p:childTnLst>
                                </p:cTn>
                              </p:par>
                            </p:childTnLst>
                          </p:cTn>
                        </p:par>
                      </p:childTnLst>
                    </p:cTn>
                  </p:par>
                  <p:par>
                    <p:cTn id="157" fill="hold">
                      <p:stCondLst>
                        <p:cond delay="indefinite"/>
                      </p:stCondLst>
                      <p:childTnLst>
                        <p:par>
                          <p:cTn id="158" fill="hold">
                            <p:stCondLst>
                              <p:cond delay="0"/>
                            </p:stCondLst>
                            <p:childTnLst>
                              <p:par>
                                <p:cTn id="159" presetID="22" presetClass="entr" presetSubtype="1" fill="hold" grpId="0" nodeType="clickEffect">
                                  <p:stCondLst>
                                    <p:cond delay="0"/>
                                  </p:stCondLst>
                                  <p:childTnLst>
                                    <p:set>
                                      <p:cBhvr>
                                        <p:cTn id="160" dur="1" fill="hold">
                                          <p:stCondLst>
                                            <p:cond delay="0"/>
                                          </p:stCondLst>
                                        </p:cTn>
                                        <p:tgtEl>
                                          <p:spTgt spid="56348"/>
                                        </p:tgtEl>
                                        <p:attrNameLst>
                                          <p:attrName>style.visibility</p:attrName>
                                        </p:attrNameLst>
                                      </p:cBhvr>
                                      <p:to>
                                        <p:strVal val="visible"/>
                                      </p:to>
                                    </p:set>
                                    <p:animEffect transition="in" filter="wipe(up)">
                                      <p:cBhvr>
                                        <p:cTn id="161" dur="500"/>
                                        <p:tgtEl>
                                          <p:spTgt spid="56348"/>
                                        </p:tgtEl>
                                      </p:cBhvr>
                                    </p:animEffect>
                                  </p:childTnLst>
                                </p:cTn>
                              </p:par>
                            </p:childTnLst>
                          </p:cTn>
                        </p:par>
                        <p:par>
                          <p:cTn id="162" fill="hold">
                            <p:stCondLst>
                              <p:cond delay="500"/>
                            </p:stCondLst>
                            <p:childTnLst>
                              <p:par>
                                <p:cTn id="163" presetID="22" presetClass="entr" presetSubtype="1" fill="hold" grpId="0" nodeType="afterEffect">
                                  <p:stCondLst>
                                    <p:cond delay="0"/>
                                  </p:stCondLst>
                                  <p:childTnLst>
                                    <p:set>
                                      <p:cBhvr>
                                        <p:cTn id="164" dur="1" fill="hold">
                                          <p:stCondLst>
                                            <p:cond delay="0"/>
                                          </p:stCondLst>
                                        </p:cTn>
                                        <p:tgtEl>
                                          <p:spTgt spid="56362"/>
                                        </p:tgtEl>
                                        <p:attrNameLst>
                                          <p:attrName>style.visibility</p:attrName>
                                        </p:attrNameLst>
                                      </p:cBhvr>
                                      <p:to>
                                        <p:strVal val="visible"/>
                                      </p:to>
                                    </p:set>
                                    <p:animEffect transition="in" filter="wipe(up)">
                                      <p:cBhvr>
                                        <p:cTn id="165" dur="500"/>
                                        <p:tgtEl>
                                          <p:spTgt spid="56362"/>
                                        </p:tgtEl>
                                      </p:cBhvr>
                                    </p:animEffect>
                                  </p:childTnLst>
                                  <p:subTnLst>
                                    <p:set>
                                      <p:cBhvr override="childStyle">
                                        <p:cTn dur="1" fill="hold" display="0" masterRel="nextClick" afterEffect="1"/>
                                        <p:tgtEl>
                                          <p:spTgt spid="56362"/>
                                        </p:tgtEl>
                                        <p:attrNameLst>
                                          <p:attrName>style.visibility</p:attrName>
                                        </p:attrNameLst>
                                      </p:cBhvr>
                                      <p:to>
                                        <p:strVal val="hidden"/>
                                      </p:to>
                                    </p:set>
                                  </p:subTnLst>
                                </p:cTn>
                              </p:par>
                            </p:childTnLst>
                          </p:cTn>
                        </p:par>
                        <p:par>
                          <p:cTn id="166" fill="hold">
                            <p:stCondLst>
                              <p:cond delay="1000"/>
                            </p:stCondLst>
                            <p:childTnLst>
                              <p:par>
                                <p:cTn id="167" presetID="22" presetClass="entr" presetSubtype="1" fill="hold" grpId="0" nodeType="afterEffect">
                                  <p:stCondLst>
                                    <p:cond delay="0"/>
                                  </p:stCondLst>
                                  <p:childTnLst>
                                    <p:set>
                                      <p:cBhvr>
                                        <p:cTn id="168" dur="1" fill="hold">
                                          <p:stCondLst>
                                            <p:cond delay="0"/>
                                          </p:stCondLst>
                                        </p:cTn>
                                        <p:tgtEl>
                                          <p:spTgt spid="56363"/>
                                        </p:tgtEl>
                                        <p:attrNameLst>
                                          <p:attrName>style.visibility</p:attrName>
                                        </p:attrNameLst>
                                      </p:cBhvr>
                                      <p:to>
                                        <p:strVal val="visible"/>
                                      </p:to>
                                    </p:set>
                                    <p:animEffect transition="in" filter="wipe(up)">
                                      <p:cBhvr>
                                        <p:cTn id="169" dur="500"/>
                                        <p:tgtEl>
                                          <p:spTgt spid="56363"/>
                                        </p:tgtEl>
                                      </p:cBhvr>
                                    </p:animEffect>
                                  </p:childTnLst>
                                  <p:subTnLst>
                                    <p:set>
                                      <p:cBhvr override="childStyle">
                                        <p:cTn dur="1" fill="hold" display="0" masterRel="nextClick" afterEffect="1"/>
                                        <p:tgtEl>
                                          <p:spTgt spid="56363"/>
                                        </p:tgtEl>
                                        <p:attrNameLst>
                                          <p:attrName>style.visibility</p:attrName>
                                        </p:attrNameLst>
                                      </p:cBhvr>
                                      <p:to>
                                        <p:strVal val="hidden"/>
                                      </p:to>
                                    </p:set>
                                  </p:subTnLst>
                                </p:cTn>
                              </p:par>
                            </p:childTnLst>
                          </p:cTn>
                        </p:par>
                      </p:childTnLst>
                    </p:cTn>
                  </p:par>
                  <p:par>
                    <p:cTn id="170" fill="hold">
                      <p:stCondLst>
                        <p:cond delay="indefinite"/>
                      </p:stCondLst>
                      <p:childTnLst>
                        <p:par>
                          <p:cTn id="171" fill="hold">
                            <p:stCondLst>
                              <p:cond delay="0"/>
                            </p:stCondLst>
                            <p:childTnLst>
                              <p:par>
                                <p:cTn id="172" presetID="22" presetClass="entr" presetSubtype="1" fill="hold" grpId="0" nodeType="clickEffect">
                                  <p:stCondLst>
                                    <p:cond delay="0"/>
                                  </p:stCondLst>
                                  <p:childTnLst>
                                    <p:set>
                                      <p:cBhvr>
                                        <p:cTn id="173" dur="1" fill="hold">
                                          <p:stCondLst>
                                            <p:cond delay="0"/>
                                          </p:stCondLst>
                                        </p:cTn>
                                        <p:tgtEl>
                                          <p:spTgt spid="56346"/>
                                        </p:tgtEl>
                                        <p:attrNameLst>
                                          <p:attrName>style.visibility</p:attrName>
                                        </p:attrNameLst>
                                      </p:cBhvr>
                                      <p:to>
                                        <p:strVal val="visible"/>
                                      </p:to>
                                    </p:set>
                                    <p:animEffect transition="in" filter="wipe(up)">
                                      <p:cBhvr>
                                        <p:cTn id="174" dur="500"/>
                                        <p:tgtEl>
                                          <p:spTgt spid="56346"/>
                                        </p:tgtEl>
                                      </p:cBhvr>
                                    </p:animEffect>
                                  </p:childTnLst>
                                </p:cTn>
                              </p:par>
                            </p:childTnLst>
                          </p:cTn>
                        </p:par>
                        <p:par>
                          <p:cTn id="175" fill="hold">
                            <p:stCondLst>
                              <p:cond delay="500"/>
                            </p:stCondLst>
                            <p:childTnLst>
                              <p:par>
                                <p:cTn id="176" presetID="22" presetClass="entr" presetSubtype="1" fill="hold" grpId="0" nodeType="afterEffect">
                                  <p:stCondLst>
                                    <p:cond delay="0"/>
                                  </p:stCondLst>
                                  <p:childTnLst>
                                    <p:set>
                                      <p:cBhvr>
                                        <p:cTn id="177" dur="1" fill="hold">
                                          <p:stCondLst>
                                            <p:cond delay="0"/>
                                          </p:stCondLst>
                                        </p:cTn>
                                        <p:tgtEl>
                                          <p:spTgt spid="56347"/>
                                        </p:tgtEl>
                                        <p:attrNameLst>
                                          <p:attrName>style.visibility</p:attrName>
                                        </p:attrNameLst>
                                      </p:cBhvr>
                                      <p:to>
                                        <p:strVal val="visible"/>
                                      </p:to>
                                    </p:set>
                                    <p:animEffect transition="in" filter="wipe(up)">
                                      <p:cBhvr>
                                        <p:cTn id="178" dur="500"/>
                                        <p:tgtEl>
                                          <p:spTgt spid="56347"/>
                                        </p:tgtEl>
                                      </p:cBhvr>
                                    </p:animEffect>
                                  </p:childTnLst>
                                </p:cTn>
                              </p:par>
                            </p:childTnLst>
                          </p:cTn>
                        </p:par>
                      </p:childTnLst>
                    </p:cTn>
                  </p:par>
                  <p:par>
                    <p:cTn id="179" fill="hold">
                      <p:stCondLst>
                        <p:cond delay="indefinite"/>
                      </p:stCondLst>
                      <p:childTnLst>
                        <p:par>
                          <p:cTn id="180" fill="hold">
                            <p:stCondLst>
                              <p:cond delay="0"/>
                            </p:stCondLst>
                            <p:childTnLst>
                              <p:par>
                                <p:cTn id="181" presetID="12" presetClass="entr" presetSubtype="1" fill="hold" grpId="0" nodeType="clickEffect">
                                  <p:stCondLst>
                                    <p:cond delay="0"/>
                                  </p:stCondLst>
                                  <p:childTnLst>
                                    <p:set>
                                      <p:cBhvr>
                                        <p:cTn id="182" dur="1" fill="hold">
                                          <p:stCondLst>
                                            <p:cond delay="0"/>
                                          </p:stCondLst>
                                        </p:cTn>
                                        <p:tgtEl>
                                          <p:spTgt spid="56349"/>
                                        </p:tgtEl>
                                        <p:attrNameLst>
                                          <p:attrName>style.visibility</p:attrName>
                                        </p:attrNameLst>
                                      </p:cBhvr>
                                      <p:to>
                                        <p:strVal val="visible"/>
                                      </p:to>
                                    </p:set>
                                    <p:animEffect transition="in" filter="slide(fromTop)">
                                      <p:cBhvr>
                                        <p:cTn id="183" dur="500"/>
                                        <p:tgtEl>
                                          <p:spTgt spid="563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3" grpId="0" bldLvl="0" animBg="1"/>
      <p:bldP spid="56324" grpId="0" bldLvl="0" animBg="1"/>
      <p:bldP spid="56325" grpId="0" bldLvl="0" animBg="1" autoUpdateAnimBg="0"/>
      <p:bldP spid="56326" grpId="0" bldLvl="0" animBg="1" autoUpdateAnimBg="0"/>
      <p:bldP spid="56327" grpId="0" bldLvl="0" animBg="1"/>
      <p:bldP spid="56328" grpId="0" bldLvl="0" animBg="1" autoUpdateAnimBg="0"/>
      <p:bldP spid="56329" grpId="0" bldLvl="0" animBg="1"/>
      <p:bldP spid="56330" grpId="0" bldLvl="0" animBg="1" autoUpdateAnimBg="0"/>
      <p:bldP spid="56331" grpId="0" bldLvl="0" animBg="1" autoUpdateAnimBg="0"/>
      <p:bldP spid="56332" grpId="0" bldLvl="0" animBg="1" autoUpdateAnimBg="0"/>
      <p:bldP spid="56333" grpId="0" bldLvl="0" animBg="1" autoUpdateAnimBg="0"/>
      <p:bldP spid="56334" grpId="0" bldLvl="0" animBg="1"/>
      <p:bldP spid="56335" grpId="0" bldLvl="0" animBg="1" autoUpdateAnimBg="0"/>
      <p:bldP spid="56336" grpId="0" bldLvl="0" animBg="1"/>
      <p:bldP spid="56337" grpId="0" bldLvl="0" animBg="1" autoUpdateAnimBg="0"/>
      <p:bldP spid="56338" grpId="0" bldLvl="0" animBg="1"/>
      <p:bldP spid="56339" grpId="0" bldLvl="0" animBg="1" autoUpdateAnimBg="0"/>
      <p:bldP spid="56340" grpId="0" bldLvl="0" animBg="1"/>
      <p:bldP spid="56341" grpId="0" bldLvl="0" animBg="1" autoUpdateAnimBg="0"/>
      <p:bldP spid="56342" grpId="0" bldLvl="0" animBg="1"/>
      <p:bldP spid="56343" grpId="0" bldLvl="0" animBg="1" autoUpdateAnimBg="0"/>
      <p:bldP spid="56344" grpId="0" bldLvl="0" animBg="1"/>
      <p:bldP spid="56345" grpId="0" bldLvl="0" animBg="1" autoUpdateAnimBg="0"/>
      <p:bldP spid="56346" grpId="0" bldLvl="0" animBg="1"/>
      <p:bldP spid="56347" grpId="0" bldLvl="0" animBg="1" autoUpdateAnimBg="0"/>
      <p:bldP spid="56348" grpId="0" bldLvl="0" animBg="1"/>
      <p:bldP spid="56349" grpId="0" bldLvl="0" animBg="1" autoUpdateAnimBg="0"/>
      <p:bldP spid="56350" grpId="0" bldLvl="0" animBg="1" autoUpdateAnimBg="0"/>
      <p:bldP spid="56351" grpId="0" bldLvl="0" animBg="1" autoUpdateAnimBg="0"/>
      <p:bldP spid="56352" grpId="0" bldLvl="0" animBg="1" autoUpdateAnimBg="0"/>
      <p:bldP spid="56353" grpId="0" bldLvl="0" animBg="1"/>
      <p:bldP spid="56354" grpId="0" bldLvl="0" animBg="1" autoUpdateAnimBg="0"/>
      <p:bldP spid="56358" grpId="0" bldLvl="0" animBg="1"/>
      <p:bldP spid="56359" grpId="0" bldLvl="0" animBg="1" autoUpdateAnimBg="0"/>
      <p:bldP spid="56360" grpId="0" bldLvl="0" animBg="1"/>
      <p:bldP spid="56361" grpId="0" bldLvl="0" animBg="1" autoUpdateAnimBg="0"/>
      <p:bldP spid="56362" grpId="0" bldLvl="0" animBg="1"/>
      <p:bldP spid="56363" grpId="0" bldLvl="0" animBg="1"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2"/>
          <p:cNvSpPr txBox="1">
            <a:spLocks noChangeArrowheads="1"/>
          </p:cNvSpPr>
          <p:nvPr/>
        </p:nvSpPr>
        <p:spPr bwMode="auto">
          <a:xfrm>
            <a:off x="251460" y="981075"/>
            <a:ext cx="7938770" cy="164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40000"/>
              </a:lnSpc>
            </a:pPr>
            <a:r>
              <a:rPr lang="zh-CN" altLang="en-US" sz="2400">
                <a:latin typeface="Arial" panose="020B0604020202020204" pitchFamily="34" charset="0"/>
                <a:ea typeface="楷体_GB2312" pitchFamily="49" charset="-122"/>
                <a:cs typeface="Arial" panose="020B0604020202020204" pitchFamily="34" charset="0"/>
              </a:rPr>
              <a:t>As shown, after the </a:t>
            </a:r>
            <a:r>
              <a:rPr lang="en-US" altLang="zh-CN" sz="2400" b="1">
                <a:solidFill>
                  <a:srgbClr val="990000"/>
                </a:solidFill>
                <a:latin typeface="Arial" panose="020B0604020202020204" pitchFamily="34" charset="0"/>
                <a:ea typeface="楷体_GB2312" pitchFamily="49" charset="-122"/>
                <a:cs typeface="Arial" panose="020B0604020202020204" pitchFamily="34" charset="0"/>
              </a:rPr>
              <a:t>one partition</a:t>
            </a:r>
            <a:r>
              <a:rPr lang="zh-CN" altLang="en-US" sz="2400">
                <a:latin typeface="Arial" panose="020B0604020202020204" pitchFamily="34" charset="0"/>
                <a:ea typeface="楷体_GB2312" pitchFamily="49" charset="-122"/>
                <a:cs typeface="Arial" panose="020B0604020202020204" pitchFamily="34" charset="0"/>
              </a:rPr>
              <a:t>, the keyword sequence</a:t>
            </a:r>
          </a:p>
          <a:p>
            <a:pPr algn="l">
              <a:lnSpc>
                <a:spcPct val="140000"/>
              </a:lnSpc>
            </a:pPr>
            <a:r>
              <a:rPr lang="en-US" altLang="zh-CN" sz="2400">
                <a:latin typeface="Arial" panose="020B0604020202020204" pitchFamily="34" charset="0"/>
                <a:ea typeface="楷体_GB2312" pitchFamily="49" charset="-122"/>
                <a:cs typeface="Arial" panose="020B0604020202020204" pitchFamily="34" charset="0"/>
                <a:sym typeface="+mn-ea"/>
              </a:rPr>
              <a:t>52, 49, </a:t>
            </a:r>
            <a:r>
              <a:rPr lang="en-US" altLang="zh-CN" sz="2400" u="sng">
                <a:latin typeface="Arial" panose="020B0604020202020204" pitchFamily="34" charset="0"/>
                <a:ea typeface="楷体_GB2312" pitchFamily="49" charset="-122"/>
                <a:cs typeface="Arial" panose="020B0604020202020204" pitchFamily="34" charset="0"/>
                <a:sym typeface="+mn-ea"/>
              </a:rPr>
              <a:t>80</a:t>
            </a:r>
            <a:r>
              <a:rPr lang="en-US" altLang="zh-CN" sz="2400">
                <a:latin typeface="Arial" panose="020B0604020202020204" pitchFamily="34" charset="0"/>
                <a:ea typeface="楷体_GB2312" pitchFamily="49" charset="-122"/>
                <a:cs typeface="Arial" panose="020B0604020202020204" pitchFamily="34" charset="0"/>
                <a:sym typeface="+mn-ea"/>
              </a:rPr>
              <a:t>, 36, </a:t>
            </a:r>
            <a:r>
              <a:rPr lang="en-US" altLang="zh-CN" sz="2400" u="sng">
                <a:latin typeface="Arial" panose="020B0604020202020204" pitchFamily="34" charset="0"/>
                <a:ea typeface="楷体_GB2312" pitchFamily="49" charset="-122"/>
                <a:cs typeface="Arial" panose="020B0604020202020204" pitchFamily="34" charset="0"/>
                <a:sym typeface="+mn-ea"/>
              </a:rPr>
              <a:t>14</a:t>
            </a:r>
            <a:r>
              <a:rPr lang="en-US" altLang="zh-CN" sz="2400">
                <a:latin typeface="Arial" panose="020B0604020202020204" pitchFamily="34" charset="0"/>
                <a:ea typeface="楷体_GB2312" pitchFamily="49" charset="-122"/>
                <a:cs typeface="Arial" panose="020B0604020202020204" pitchFamily="34" charset="0"/>
                <a:sym typeface="+mn-ea"/>
              </a:rPr>
              <a:t>,  58, 61, 97, </a:t>
            </a:r>
            <a:r>
              <a:rPr lang="en-US" altLang="zh-CN" sz="2400" u="sng">
                <a:latin typeface="Arial" panose="020B0604020202020204" pitchFamily="34" charset="0"/>
                <a:ea typeface="楷体_GB2312" pitchFamily="49" charset="-122"/>
                <a:cs typeface="Arial" panose="020B0604020202020204" pitchFamily="34" charset="0"/>
                <a:sym typeface="+mn-ea"/>
              </a:rPr>
              <a:t>23</a:t>
            </a:r>
            <a:r>
              <a:rPr lang="en-US" altLang="zh-CN" sz="2400">
                <a:latin typeface="Arial" panose="020B0604020202020204" pitchFamily="34" charset="0"/>
                <a:ea typeface="楷体_GB2312" pitchFamily="49" charset="-122"/>
                <a:cs typeface="Arial" panose="020B0604020202020204" pitchFamily="34" charset="0"/>
                <a:sym typeface="+mn-ea"/>
              </a:rPr>
              <a:t>, 75</a:t>
            </a:r>
            <a:endParaRPr lang="en-US" altLang="zh-CN" sz="2400">
              <a:latin typeface="Arial" panose="020B0604020202020204" pitchFamily="34" charset="0"/>
              <a:ea typeface="楷体_GB2312" pitchFamily="49" charset="-122"/>
              <a:cs typeface="Arial" panose="020B0604020202020204" pitchFamily="34" charset="0"/>
            </a:endParaRPr>
          </a:p>
          <a:p>
            <a:pPr algn="l">
              <a:lnSpc>
                <a:spcPct val="140000"/>
              </a:lnSpc>
            </a:pPr>
            <a:r>
              <a:rPr lang="zh-CN" altLang="en-US" sz="2400">
                <a:latin typeface="Arial" panose="020B0604020202020204" pitchFamily="34" charset="0"/>
                <a:ea typeface="楷体_GB2312" pitchFamily="49" charset="-122"/>
                <a:cs typeface="Arial" panose="020B0604020202020204" pitchFamily="34" charset="0"/>
              </a:rPr>
              <a:t>Adjust to: 2</a:t>
            </a:r>
            <a:r>
              <a:rPr lang="en-US" altLang="zh-CN" sz="2400">
                <a:latin typeface="Arial" panose="020B0604020202020204" pitchFamily="34" charset="0"/>
                <a:ea typeface="楷体_GB2312" pitchFamily="49" charset="-122"/>
                <a:cs typeface="Arial" panose="020B0604020202020204" pitchFamily="34" charset="0"/>
                <a:sym typeface="+mn-ea"/>
              </a:rPr>
              <a:t> </a:t>
            </a:r>
            <a:r>
              <a:rPr lang="en-US" altLang="zh-CN" sz="2400" b="1">
                <a:solidFill>
                  <a:srgbClr val="0000FF"/>
                </a:solidFill>
                <a:latin typeface="Arial" panose="020B0604020202020204" pitchFamily="34" charset="0"/>
                <a:ea typeface="楷体_GB2312" pitchFamily="49" charset="-122"/>
                <a:cs typeface="Arial" panose="020B0604020202020204" pitchFamily="34" charset="0"/>
                <a:sym typeface="+mn-ea"/>
              </a:rPr>
              <a:t>23</a:t>
            </a:r>
            <a:r>
              <a:rPr lang="en-US" altLang="zh-CN" sz="2400">
                <a:latin typeface="Arial" panose="020B0604020202020204" pitchFamily="34" charset="0"/>
                <a:ea typeface="楷体_GB2312" pitchFamily="49" charset="-122"/>
                <a:cs typeface="Arial" panose="020B0604020202020204" pitchFamily="34" charset="0"/>
                <a:sym typeface="+mn-ea"/>
              </a:rPr>
              <a:t>, 49, </a:t>
            </a:r>
            <a:r>
              <a:rPr lang="en-US" altLang="zh-CN" sz="2400" b="1">
                <a:solidFill>
                  <a:srgbClr val="0000FF"/>
                </a:solidFill>
                <a:latin typeface="Arial" panose="020B0604020202020204" pitchFamily="34" charset="0"/>
                <a:ea typeface="楷体_GB2312" pitchFamily="49" charset="-122"/>
                <a:cs typeface="Arial" panose="020B0604020202020204" pitchFamily="34" charset="0"/>
                <a:sym typeface="+mn-ea"/>
              </a:rPr>
              <a:t>14</a:t>
            </a:r>
            <a:r>
              <a:rPr lang="en-US" altLang="zh-CN" sz="2400">
                <a:latin typeface="Arial" panose="020B0604020202020204" pitchFamily="34" charset="0"/>
                <a:ea typeface="楷体_GB2312" pitchFamily="49" charset="-122"/>
                <a:cs typeface="Arial" panose="020B0604020202020204" pitchFamily="34" charset="0"/>
                <a:sym typeface="+mn-ea"/>
              </a:rPr>
              <a:t>, 36, </a:t>
            </a:r>
            <a:r>
              <a:rPr lang="en-US" altLang="zh-CN" sz="2400" b="1">
                <a:solidFill>
                  <a:srgbClr val="FF0000"/>
                </a:solidFill>
                <a:latin typeface="Arial" panose="020B0604020202020204" pitchFamily="34" charset="0"/>
                <a:ea typeface="楷体_GB2312" pitchFamily="49" charset="-122"/>
                <a:cs typeface="Arial" panose="020B0604020202020204" pitchFamily="34" charset="0"/>
                <a:sym typeface="+mn-ea"/>
              </a:rPr>
              <a:t>(52)</a:t>
            </a:r>
            <a:r>
              <a:rPr lang="en-US" altLang="zh-CN" sz="2400">
                <a:latin typeface="Arial" panose="020B0604020202020204" pitchFamily="34" charset="0"/>
                <a:ea typeface="楷体_GB2312" pitchFamily="49" charset="-122"/>
                <a:cs typeface="Arial" panose="020B0604020202020204" pitchFamily="34" charset="0"/>
                <a:sym typeface="+mn-ea"/>
              </a:rPr>
              <a:t> 58, 61, 97, </a:t>
            </a:r>
            <a:r>
              <a:rPr lang="en-US" altLang="zh-CN" sz="2400" b="1">
                <a:solidFill>
                  <a:srgbClr val="990000"/>
                </a:solidFill>
                <a:latin typeface="Arial" panose="020B0604020202020204" pitchFamily="34" charset="0"/>
                <a:ea typeface="楷体_GB2312" pitchFamily="49" charset="-122"/>
                <a:cs typeface="Arial" panose="020B0604020202020204" pitchFamily="34" charset="0"/>
                <a:sym typeface="+mn-ea"/>
              </a:rPr>
              <a:t>80</a:t>
            </a:r>
            <a:r>
              <a:rPr lang="en-US" altLang="zh-CN" sz="2400">
                <a:latin typeface="Arial" panose="020B0604020202020204" pitchFamily="34" charset="0"/>
                <a:ea typeface="楷体_GB2312" pitchFamily="49" charset="-122"/>
                <a:cs typeface="Arial" panose="020B0604020202020204" pitchFamily="34" charset="0"/>
                <a:sym typeface="+mn-ea"/>
              </a:rPr>
              <a:t>, 75</a:t>
            </a:r>
          </a:p>
        </p:txBody>
      </p:sp>
      <p:sp>
        <p:nvSpPr>
          <p:cNvPr id="57347" name="Rectangle 3"/>
          <p:cNvSpPr>
            <a:spLocks noChangeArrowheads="1"/>
          </p:cNvSpPr>
          <p:nvPr/>
        </p:nvSpPr>
        <p:spPr bwMode="auto">
          <a:xfrm>
            <a:off x="304800" y="2781300"/>
            <a:ext cx="8382000" cy="1014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zh-CN" altLang="en-US" sz="2400" dirty="0">
                <a:latin typeface="Arial" panose="020B0604020202020204" pitchFamily="34" charset="0"/>
                <a:ea typeface="楷体_GB2312" pitchFamily="49" charset="-122"/>
                <a:cs typeface="Arial" panose="020B0604020202020204" pitchFamily="34" charset="0"/>
              </a:rPr>
              <a:t>During the adjustment process, two pointers—</a:t>
            </a:r>
            <a:r>
              <a:rPr lang="en-US" altLang="zh-CN" sz="2400" b="1" dirty="0">
                <a:solidFill>
                  <a:srgbClr val="009999"/>
                </a:solidFill>
                <a:latin typeface="Arial" panose="020B0604020202020204" pitchFamily="34" charset="0"/>
                <a:ea typeface="楷体_GB2312" pitchFamily="49" charset="-122"/>
                <a:cs typeface="Arial" panose="020B0604020202020204" pitchFamily="34" charset="0"/>
              </a:rPr>
              <a:t>low</a:t>
            </a:r>
            <a:r>
              <a:rPr lang="zh-CN" altLang="en-US" sz="2400" dirty="0">
                <a:latin typeface="Arial" panose="020B0604020202020204" pitchFamily="34" charset="0"/>
                <a:ea typeface="楷体_GB2312" pitchFamily="49" charset="-122"/>
                <a:cs typeface="Arial" panose="020B0604020202020204" pitchFamily="34" charset="0"/>
              </a:rPr>
              <a:t> and </a:t>
            </a:r>
            <a:r>
              <a:rPr lang="zh-CN" altLang="en-US" sz="2400" b="1">
                <a:solidFill>
                  <a:srgbClr val="990000"/>
                </a:solidFill>
                <a:latin typeface="Arial" panose="020B0604020202020204" pitchFamily="34" charset="0"/>
                <a:ea typeface="楷体_GB2312" pitchFamily="49" charset="-122"/>
                <a:cs typeface="Arial" panose="020B0604020202020204" pitchFamily="34" charset="0"/>
              </a:rPr>
              <a:t>high</a:t>
            </a:r>
            <a:r>
              <a:rPr lang="zh-CN" altLang="en-US" sz="2400" dirty="0">
                <a:latin typeface="Arial" panose="020B0604020202020204" pitchFamily="34" charset="0"/>
                <a:ea typeface="楷体_GB2312" pitchFamily="49" charset="-122"/>
                <a:cs typeface="Arial" panose="020B0604020202020204" pitchFamily="34" charset="0"/>
              </a:rPr>
              <a:t>—were created, with initial values s and t respectively.</a:t>
            </a:r>
          </a:p>
        </p:txBody>
      </p:sp>
      <p:sp>
        <p:nvSpPr>
          <p:cNvPr id="57348" name="Rectangle 4"/>
          <p:cNvSpPr>
            <a:spLocks noChangeArrowheads="1"/>
          </p:cNvSpPr>
          <p:nvPr/>
        </p:nvSpPr>
        <p:spPr bwMode="auto">
          <a:xfrm>
            <a:off x="304800" y="3717290"/>
            <a:ext cx="8610600" cy="1938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zh-CN" altLang="en-US" sz="2400" dirty="0">
                <a:solidFill>
                  <a:srgbClr val="0000FF"/>
                </a:solidFill>
                <a:latin typeface="Arial" panose="020B0604020202020204" pitchFamily="34" charset="0"/>
                <a:ea typeface="楷体_GB2312" pitchFamily="49" charset="-122"/>
                <a:cs typeface="Arial" panose="020B0604020202020204" pitchFamily="34" charset="0"/>
              </a:rPr>
              <a:t>First, gradually decrease the </a:t>
            </a:r>
            <a:r>
              <a:rPr lang="zh-CN" altLang="en-US" sz="2400" b="1">
                <a:solidFill>
                  <a:srgbClr val="990000"/>
                </a:solidFill>
                <a:latin typeface="Arial" panose="020B0604020202020204" pitchFamily="34" charset="0"/>
                <a:ea typeface="楷体_GB2312" pitchFamily="49" charset="-122"/>
                <a:cs typeface="Arial" panose="020B0604020202020204" pitchFamily="34" charset="0"/>
              </a:rPr>
              <a:t>high</a:t>
            </a:r>
            <a:r>
              <a:rPr lang="zh-CN" altLang="en-US" sz="2400" dirty="0">
                <a:solidFill>
                  <a:srgbClr val="0000FF"/>
                </a:solidFill>
                <a:latin typeface="Arial" panose="020B0604020202020204" pitchFamily="34" charset="0"/>
                <a:ea typeface="楷体_GB2312" pitchFamily="49" charset="-122"/>
                <a:cs typeface="Arial" panose="020B0604020202020204" pitchFamily="34" charset="0"/>
              </a:rPr>
              <a:t> value, then increase the low value, while ensuring that </a:t>
            </a:r>
            <a:r>
              <a:rPr lang="en-US" altLang="zh-CN" sz="2400" dirty="0">
                <a:solidFill>
                  <a:srgbClr val="FF0000"/>
                </a:solidFill>
                <a:latin typeface="Arial" panose="020B0604020202020204" pitchFamily="34" charset="0"/>
                <a:ea typeface="楷体_GB2312" pitchFamily="49" charset="-122"/>
                <a:cs typeface="Arial" panose="020B0604020202020204" pitchFamily="34" charset="0"/>
              </a:rPr>
              <a:t>R[</a:t>
            </a:r>
            <a:r>
              <a:rPr lang="zh-CN" altLang="en-US" sz="2400" b="1">
                <a:solidFill>
                  <a:srgbClr val="990000"/>
                </a:solidFill>
                <a:latin typeface="Arial" panose="020B0604020202020204" pitchFamily="34" charset="0"/>
                <a:ea typeface="楷体_GB2312" pitchFamily="49" charset="-122"/>
                <a:cs typeface="Arial" panose="020B0604020202020204" pitchFamily="34" charset="0"/>
              </a:rPr>
              <a:t>high</a:t>
            </a:r>
            <a:r>
              <a:rPr lang="en-US" altLang="zh-CN" sz="2400" dirty="0">
                <a:solidFill>
                  <a:srgbClr val="FF0000"/>
                </a:solidFill>
                <a:latin typeface="Arial" panose="020B0604020202020204" pitchFamily="34" charset="0"/>
                <a:ea typeface="楷体_GB2312" pitchFamily="49" charset="-122"/>
                <a:cs typeface="Arial" panose="020B0604020202020204" pitchFamily="34" charset="0"/>
              </a:rPr>
              <a:t>].key ≥ 52 and R[</a:t>
            </a:r>
            <a:r>
              <a:rPr lang="en-US" altLang="zh-CN" sz="2400" b="1" dirty="0">
                <a:solidFill>
                  <a:srgbClr val="009999"/>
                </a:solidFill>
                <a:latin typeface="Arial" panose="020B0604020202020204" pitchFamily="34" charset="0"/>
                <a:ea typeface="楷体_GB2312" pitchFamily="49" charset="-122"/>
                <a:cs typeface="Arial" panose="020B0604020202020204" pitchFamily="34" charset="0"/>
              </a:rPr>
              <a:t>low</a:t>
            </a:r>
            <a:r>
              <a:rPr lang="en-US" altLang="zh-CN" sz="2400" dirty="0">
                <a:solidFill>
                  <a:srgbClr val="FF0000"/>
                </a:solidFill>
                <a:latin typeface="Arial" panose="020B0604020202020204" pitchFamily="34" charset="0"/>
                <a:ea typeface="楷体_GB2312" pitchFamily="49" charset="-122"/>
                <a:cs typeface="Arial" panose="020B0604020202020204" pitchFamily="34" charset="0"/>
              </a:rPr>
              <a:t>].key ≤ 52</a:t>
            </a:r>
            <a:r>
              <a:rPr lang="zh-CN" altLang="en-US" sz="2400" dirty="0">
                <a:solidFill>
                  <a:srgbClr val="0000FF"/>
                </a:solidFill>
                <a:latin typeface="Arial" panose="020B0604020202020204" pitchFamily="34" charset="0"/>
                <a:ea typeface="楷体_GB2312" pitchFamily="49" charset="-122"/>
                <a:cs typeface="Arial" panose="020B0604020202020204" pitchFamily="34" charset="0"/>
              </a:rPr>
              <a:t>. If not, perform a record swap. Repeat the above steps...</a:t>
            </a:r>
            <a:endParaRPr lang="zh-CN" altLang="en-US" sz="2400" b="1" dirty="0">
              <a:solidFill>
                <a:srgbClr val="0000FF"/>
              </a:solidFill>
              <a:latin typeface="Arial" panose="020B0604020202020204" pitchFamily="34" charset="0"/>
              <a:ea typeface="楷体_GB2312" pitchFamily="49" charset="-122"/>
              <a:cs typeface="Arial" panose="020B0604020202020204" pitchFamily="34" charset="0"/>
            </a:endParaRP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62</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57346"/>
                                        </p:tgtEl>
                                        <p:attrNameLst>
                                          <p:attrName>style.visibility</p:attrName>
                                        </p:attrNameLst>
                                      </p:cBhvr>
                                      <p:to>
                                        <p:strVal val="visible"/>
                                      </p:to>
                                    </p:set>
                                    <p:animEffect transition="in" filter="strips(downRight)">
                                      <p:cBhvr>
                                        <p:cTn id="7" dur="500"/>
                                        <p:tgtEl>
                                          <p:spTgt spid="5734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7347"/>
                                        </p:tgtEl>
                                        <p:attrNameLst>
                                          <p:attrName>style.visibility</p:attrName>
                                        </p:attrNameLst>
                                      </p:cBhvr>
                                      <p:to>
                                        <p:strVal val="visible"/>
                                      </p:to>
                                    </p:set>
                                    <p:animEffect transition="in" filter="wipe(left)">
                                      <p:cBhvr>
                                        <p:cTn id="12" dur="500"/>
                                        <p:tgtEl>
                                          <p:spTgt spid="5734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7348"/>
                                        </p:tgtEl>
                                        <p:attrNameLst>
                                          <p:attrName>style.visibility</p:attrName>
                                        </p:attrNameLst>
                                      </p:cBhvr>
                                      <p:to>
                                        <p:strVal val="visible"/>
                                      </p:to>
                                    </p:set>
                                    <p:animEffect transition="in" filter="wipe(left)">
                                      <p:cBhvr>
                                        <p:cTn id="17" dur="500"/>
                                        <p:tgtEl>
                                          <p:spTgt spid="573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6" grpId="0" bldLvl="0" animBg="1" autoUpdateAnimBg="0"/>
      <p:bldP spid="57347" grpId="0" bldLvl="0" animBg="1" autoUpdateAnimBg="0"/>
      <p:bldP spid="57348" grpId="0" bldLvl="0" animBg="1"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2"/>
          <p:cNvSpPr txBox="1">
            <a:spLocks noChangeArrowheads="1"/>
          </p:cNvSpPr>
          <p:nvPr/>
        </p:nvSpPr>
        <p:spPr bwMode="auto">
          <a:xfrm>
            <a:off x="395536" y="379022"/>
            <a:ext cx="7704856" cy="609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ts val="3600"/>
              </a:lnSpc>
            </a:pPr>
            <a:r>
              <a:rPr lang="en-US" altLang="zh-CN" b="1" dirty="0" err="1">
                <a:ea typeface="楷体_GB2312" pitchFamily="49" charset="-122"/>
              </a:rPr>
              <a:t>int</a:t>
            </a:r>
            <a:r>
              <a:rPr lang="en-US" altLang="zh-CN" dirty="0">
                <a:ea typeface="楷体_GB2312" pitchFamily="49" charset="-122"/>
              </a:rPr>
              <a:t> Partition (</a:t>
            </a:r>
            <a:r>
              <a:rPr lang="en-US" altLang="zh-CN" dirty="0" err="1">
                <a:ea typeface="楷体_GB2312" pitchFamily="49" charset="-122"/>
              </a:rPr>
              <a:t>RedType</a:t>
            </a:r>
            <a:r>
              <a:rPr lang="en-US" altLang="zh-CN" b="1" dirty="0">
                <a:ea typeface="楷体_GB2312" pitchFamily="49" charset="-122"/>
              </a:rPr>
              <a:t>&amp;</a:t>
            </a:r>
            <a:r>
              <a:rPr lang="en-US" altLang="zh-CN" dirty="0">
                <a:ea typeface="楷体_GB2312" pitchFamily="49" charset="-122"/>
              </a:rPr>
              <a:t> R[], </a:t>
            </a:r>
            <a:r>
              <a:rPr lang="en-US" altLang="zh-CN" b="1" dirty="0" err="1">
                <a:ea typeface="楷体_GB2312" pitchFamily="49" charset="-122"/>
              </a:rPr>
              <a:t>int</a:t>
            </a:r>
            <a:r>
              <a:rPr lang="en-US" altLang="zh-CN" dirty="0">
                <a:ea typeface="楷体_GB2312" pitchFamily="49" charset="-122"/>
              </a:rPr>
              <a:t> low, </a:t>
            </a:r>
            <a:r>
              <a:rPr lang="en-US" altLang="zh-CN" b="1" dirty="0" err="1">
                <a:ea typeface="楷体_GB2312" pitchFamily="49" charset="-122"/>
              </a:rPr>
              <a:t>int</a:t>
            </a:r>
            <a:r>
              <a:rPr lang="en-US" altLang="zh-CN" dirty="0">
                <a:ea typeface="楷体_GB2312" pitchFamily="49" charset="-122"/>
              </a:rPr>
              <a:t> high) </a:t>
            </a:r>
            <a:r>
              <a:rPr lang="en-US" altLang="zh-CN" b="1" dirty="0">
                <a:ea typeface="楷体_GB2312" pitchFamily="49" charset="-122"/>
              </a:rPr>
              <a:t>{</a:t>
            </a:r>
          </a:p>
          <a:p>
            <a:pPr>
              <a:lnSpc>
                <a:spcPts val="3600"/>
              </a:lnSpc>
            </a:pPr>
            <a:r>
              <a:rPr lang="en-US" altLang="zh-CN" b="1" dirty="0">
                <a:ea typeface="楷体_GB2312" pitchFamily="49" charset="-122"/>
              </a:rPr>
              <a:t>                   </a:t>
            </a:r>
            <a:r>
              <a:rPr lang="en-US" altLang="zh-CN" sz="2400" b="1" dirty="0">
                <a:solidFill>
                  <a:srgbClr val="006600"/>
                </a:solidFill>
              </a:rPr>
              <a:t>// </a:t>
            </a:r>
            <a:r>
              <a:rPr lang="en-US" altLang="zh-CN" sz="2400" b="1" dirty="0">
                <a:solidFill>
                  <a:srgbClr val="006600"/>
                </a:solidFill>
                <a:sym typeface="+mn-ea"/>
              </a:rPr>
              <a:t> Do a quick sort of R[low,..high]</a:t>
            </a:r>
            <a:endParaRPr lang="zh-CN" altLang="en-US" dirty="0">
              <a:ea typeface="楷体_GB2312" pitchFamily="49" charset="-122"/>
            </a:endParaRPr>
          </a:p>
          <a:p>
            <a:pPr>
              <a:lnSpc>
                <a:spcPts val="3600"/>
              </a:lnSpc>
            </a:pPr>
            <a:r>
              <a:rPr lang="zh-CN" altLang="en-US" dirty="0">
                <a:ea typeface="楷体_GB2312" pitchFamily="49" charset="-122"/>
              </a:rPr>
              <a:t>  </a:t>
            </a:r>
            <a:r>
              <a:rPr lang="en-US" altLang="zh-CN" dirty="0" err="1">
                <a:ea typeface="楷体_GB2312" pitchFamily="49" charset="-122"/>
              </a:rPr>
              <a:t>pivotkey</a:t>
            </a:r>
            <a:r>
              <a:rPr lang="en-US" altLang="zh-CN" dirty="0">
                <a:ea typeface="楷体_GB2312" pitchFamily="49" charset="-122"/>
              </a:rPr>
              <a:t> = R[low].key;</a:t>
            </a:r>
          </a:p>
          <a:p>
            <a:pPr>
              <a:lnSpc>
                <a:spcPts val="3600"/>
              </a:lnSpc>
            </a:pPr>
            <a:r>
              <a:rPr lang="en-US" altLang="zh-CN" dirty="0">
                <a:ea typeface="楷体_GB2312" pitchFamily="49" charset="-122"/>
              </a:rPr>
              <a:t>  </a:t>
            </a:r>
            <a:r>
              <a:rPr lang="en-US" altLang="zh-CN" b="1" dirty="0">
                <a:ea typeface="楷体_GB2312" pitchFamily="49" charset="-122"/>
              </a:rPr>
              <a:t>while</a:t>
            </a:r>
            <a:r>
              <a:rPr lang="en-US" altLang="zh-CN" dirty="0">
                <a:ea typeface="楷体_GB2312" pitchFamily="49" charset="-122"/>
              </a:rPr>
              <a:t> (low&lt;high) </a:t>
            </a:r>
            <a:r>
              <a:rPr lang="en-US" altLang="zh-CN" b="1" dirty="0">
                <a:ea typeface="楷体_GB2312" pitchFamily="49" charset="-122"/>
              </a:rPr>
              <a:t>{</a:t>
            </a:r>
          </a:p>
          <a:p>
            <a:pPr>
              <a:lnSpc>
                <a:spcPts val="3600"/>
              </a:lnSpc>
            </a:pPr>
            <a:r>
              <a:rPr lang="zh-CN" altLang="en-US" b="1" dirty="0">
                <a:ea typeface="楷体_GB2312" pitchFamily="49" charset="-122"/>
              </a:rPr>
              <a:t>　 </a:t>
            </a:r>
            <a:r>
              <a:rPr lang="en-US" altLang="zh-CN" b="1" dirty="0">
                <a:ea typeface="楷体_GB2312" pitchFamily="49" charset="-122"/>
              </a:rPr>
              <a:t>while</a:t>
            </a:r>
            <a:r>
              <a:rPr lang="en-US" altLang="zh-CN" dirty="0">
                <a:ea typeface="楷体_GB2312" pitchFamily="49" charset="-122"/>
              </a:rPr>
              <a:t> (low&lt;high </a:t>
            </a:r>
            <a:r>
              <a:rPr lang="en-US" altLang="zh-CN" b="1" dirty="0">
                <a:ea typeface="楷体_GB2312" pitchFamily="49" charset="-122"/>
              </a:rPr>
              <a:t>&amp;&amp;</a:t>
            </a:r>
            <a:r>
              <a:rPr lang="en-US" altLang="zh-CN" dirty="0">
                <a:ea typeface="楷体_GB2312" pitchFamily="49" charset="-122"/>
              </a:rPr>
              <a:t> </a:t>
            </a:r>
            <a:r>
              <a:rPr lang="en-US" altLang="zh-CN" dirty="0">
                <a:solidFill>
                  <a:srgbClr val="FF00FF"/>
                </a:solidFill>
                <a:ea typeface="楷体_GB2312" pitchFamily="49" charset="-122"/>
              </a:rPr>
              <a:t>R[high].key</a:t>
            </a:r>
            <a:r>
              <a:rPr lang="en-US" altLang="zh-CN" b="1" dirty="0">
                <a:solidFill>
                  <a:srgbClr val="FF00FF"/>
                </a:solidFill>
                <a:ea typeface="楷体_GB2312" pitchFamily="49" charset="-122"/>
              </a:rPr>
              <a:t>&gt;=</a:t>
            </a:r>
            <a:r>
              <a:rPr lang="en-US" altLang="zh-CN" dirty="0" err="1">
                <a:solidFill>
                  <a:srgbClr val="FF00FF"/>
                </a:solidFill>
                <a:ea typeface="楷体_GB2312" pitchFamily="49" charset="-122"/>
              </a:rPr>
              <a:t>pivotkey</a:t>
            </a:r>
            <a:r>
              <a:rPr lang="en-US" altLang="zh-CN" dirty="0">
                <a:ea typeface="楷体_GB2312" pitchFamily="49" charset="-122"/>
              </a:rPr>
              <a:t>)    </a:t>
            </a:r>
          </a:p>
          <a:p>
            <a:pPr>
              <a:lnSpc>
                <a:spcPts val="3600"/>
              </a:lnSpc>
            </a:pPr>
            <a:r>
              <a:rPr lang="en-US" altLang="zh-CN" dirty="0">
                <a:ea typeface="楷体_GB2312" pitchFamily="49" charset="-122"/>
              </a:rPr>
              <a:t>      </a:t>
            </a:r>
            <a:r>
              <a:rPr lang="en-US" altLang="zh-CN" dirty="0">
                <a:solidFill>
                  <a:srgbClr val="FF00FF"/>
                </a:solidFill>
                <a:ea typeface="楷体_GB2312" pitchFamily="49" charset="-122"/>
              </a:rPr>
              <a:t>  --high</a:t>
            </a:r>
            <a:r>
              <a:rPr lang="en-US" altLang="zh-CN" dirty="0">
                <a:ea typeface="楷体_GB2312" pitchFamily="49" charset="-122"/>
              </a:rPr>
              <a:t>;</a:t>
            </a:r>
          </a:p>
          <a:p>
            <a:pPr>
              <a:lnSpc>
                <a:spcPts val="3600"/>
              </a:lnSpc>
            </a:pPr>
            <a:r>
              <a:rPr lang="en-US" altLang="zh-CN" dirty="0">
                <a:ea typeface="楷体_GB2312" pitchFamily="49" charset="-122"/>
              </a:rPr>
              <a:t>     </a:t>
            </a:r>
            <a:r>
              <a:rPr lang="en-US" altLang="zh-CN" sz="2800" dirty="0">
                <a:solidFill>
                  <a:srgbClr val="0000FF"/>
                </a:solidFill>
                <a:ea typeface="楷体_GB2312" pitchFamily="49" charset="-122"/>
              </a:rPr>
              <a:t>R[low] </a:t>
            </a:r>
            <a:r>
              <a:rPr lang="en-US" altLang="zh-CN" sz="2800" dirty="0">
                <a:solidFill>
                  <a:srgbClr val="0000FF"/>
                </a:solidFill>
                <a:ea typeface="楷体_GB2312" pitchFamily="49" charset="-122"/>
                <a:sym typeface="Symbol" panose="05050102010706020507"/>
              </a:rPr>
              <a:t> </a:t>
            </a:r>
            <a:r>
              <a:rPr lang="en-US" altLang="zh-CN" sz="2800" dirty="0">
                <a:solidFill>
                  <a:srgbClr val="0000FF"/>
                </a:solidFill>
                <a:ea typeface="楷体_GB2312" pitchFamily="49" charset="-122"/>
              </a:rPr>
              <a:t>R[high]</a:t>
            </a:r>
            <a:r>
              <a:rPr lang="en-US" altLang="zh-CN" sz="2800" dirty="0">
                <a:ea typeface="楷体_GB2312" pitchFamily="49" charset="-122"/>
              </a:rPr>
              <a:t>;</a:t>
            </a:r>
            <a:r>
              <a:rPr lang="en-US" altLang="zh-CN" dirty="0">
                <a:ea typeface="楷体_GB2312" pitchFamily="49" charset="-122"/>
              </a:rPr>
              <a:t>   </a:t>
            </a:r>
          </a:p>
          <a:p>
            <a:pPr>
              <a:lnSpc>
                <a:spcPts val="3600"/>
              </a:lnSpc>
            </a:pPr>
            <a:r>
              <a:rPr lang="en-US" altLang="zh-CN" dirty="0">
                <a:ea typeface="楷体_GB2312" pitchFamily="49" charset="-122"/>
              </a:rPr>
              <a:t>     </a:t>
            </a:r>
            <a:r>
              <a:rPr lang="en-US" altLang="zh-CN" b="1" dirty="0">
                <a:ea typeface="楷体_GB2312" pitchFamily="49" charset="-122"/>
              </a:rPr>
              <a:t>while</a:t>
            </a:r>
            <a:r>
              <a:rPr lang="en-US" altLang="zh-CN" dirty="0">
                <a:ea typeface="楷体_GB2312" pitchFamily="49" charset="-122"/>
              </a:rPr>
              <a:t> (low&lt;high </a:t>
            </a:r>
            <a:r>
              <a:rPr lang="en-US" altLang="zh-CN" b="1" dirty="0">
                <a:ea typeface="楷体_GB2312" pitchFamily="49" charset="-122"/>
              </a:rPr>
              <a:t>&amp;&amp;</a:t>
            </a:r>
            <a:r>
              <a:rPr lang="en-US" altLang="zh-CN" dirty="0">
                <a:ea typeface="楷体_GB2312" pitchFamily="49" charset="-122"/>
              </a:rPr>
              <a:t> </a:t>
            </a:r>
            <a:r>
              <a:rPr lang="en-US" altLang="zh-CN" dirty="0">
                <a:solidFill>
                  <a:srgbClr val="FF00FF"/>
                </a:solidFill>
                <a:ea typeface="楷体_GB2312" pitchFamily="49" charset="-122"/>
              </a:rPr>
              <a:t>R[low].key</a:t>
            </a:r>
            <a:r>
              <a:rPr lang="en-US" altLang="zh-CN" b="1" dirty="0">
                <a:solidFill>
                  <a:srgbClr val="FF00FF"/>
                </a:solidFill>
                <a:ea typeface="楷体_GB2312" pitchFamily="49" charset="-122"/>
              </a:rPr>
              <a:t>&lt;=</a:t>
            </a:r>
            <a:r>
              <a:rPr lang="en-US" altLang="zh-CN" dirty="0" err="1">
                <a:solidFill>
                  <a:srgbClr val="FF00FF"/>
                </a:solidFill>
                <a:ea typeface="楷体_GB2312" pitchFamily="49" charset="-122"/>
              </a:rPr>
              <a:t>pivotkey</a:t>
            </a:r>
            <a:r>
              <a:rPr lang="en-US" altLang="zh-CN" dirty="0">
                <a:ea typeface="楷体_GB2312" pitchFamily="49" charset="-122"/>
              </a:rPr>
              <a:t>) </a:t>
            </a:r>
          </a:p>
          <a:p>
            <a:pPr>
              <a:lnSpc>
                <a:spcPts val="3600"/>
              </a:lnSpc>
            </a:pPr>
            <a:r>
              <a:rPr lang="en-US" altLang="zh-CN" dirty="0">
                <a:ea typeface="楷体_GB2312" pitchFamily="49" charset="-122"/>
              </a:rPr>
              <a:t>        </a:t>
            </a:r>
            <a:r>
              <a:rPr lang="en-US" altLang="zh-CN" dirty="0">
                <a:solidFill>
                  <a:srgbClr val="FF00FF"/>
                </a:solidFill>
                <a:ea typeface="楷体_GB2312" pitchFamily="49" charset="-122"/>
              </a:rPr>
              <a:t>++low</a:t>
            </a:r>
            <a:r>
              <a:rPr lang="en-US" altLang="zh-CN" dirty="0">
                <a:ea typeface="楷体_GB2312" pitchFamily="49" charset="-122"/>
              </a:rPr>
              <a:t>;</a:t>
            </a:r>
          </a:p>
          <a:p>
            <a:pPr>
              <a:lnSpc>
                <a:spcPts val="3600"/>
              </a:lnSpc>
            </a:pPr>
            <a:r>
              <a:rPr lang="en-US" altLang="zh-CN" dirty="0">
                <a:ea typeface="楷体_GB2312" pitchFamily="49" charset="-122"/>
              </a:rPr>
              <a:t>     </a:t>
            </a:r>
            <a:r>
              <a:rPr lang="en-US" altLang="zh-CN" dirty="0">
                <a:solidFill>
                  <a:srgbClr val="0000FF"/>
                </a:solidFill>
                <a:ea typeface="楷体_GB2312" pitchFamily="49" charset="-122"/>
              </a:rPr>
              <a:t>R[low] </a:t>
            </a:r>
            <a:r>
              <a:rPr lang="en-US" altLang="zh-CN" dirty="0">
                <a:solidFill>
                  <a:srgbClr val="0000FF"/>
                </a:solidFill>
                <a:ea typeface="楷体_GB2312" pitchFamily="49" charset="-122"/>
                <a:sym typeface="Symbol" panose="05050102010706020507"/>
              </a:rPr>
              <a:t> </a:t>
            </a:r>
            <a:r>
              <a:rPr lang="en-US" altLang="zh-CN" dirty="0">
                <a:solidFill>
                  <a:srgbClr val="0000FF"/>
                </a:solidFill>
                <a:ea typeface="楷体_GB2312" pitchFamily="49" charset="-122"/>
              </a:rPr>
              <a:t>R[high];</a:t>
            </a:r>
            <a:r>
              <a:rPr lang="en-US" altLang="zh-CN" dirty="0">
                <a:ea typeface="楷体_GB2312" pitchFamily="49" charset="-122"/>
              </a:rPr>
              <a:t> </a:t>
            </a:r>
          </a:p>
          <a:p>
            <a:pPr>
              <a:lnSpc>
                <a:spcPts val="3600"/>
              </a:lnSpc>
            </a:pPr>
            <a:r>
              <a:rPr lang="en-US" altLang="zh-CN" b="1" dirty="0">
                <a:ea typeface="楷体_GB2312" pitchFamily="49" charset="-122"/>
              </a:rPr>
              <a:t>  }</a:t>
            </a:r>
            <a:endParaRPr lang="en-US" altLang="zh-CN" dirty="0">
              <a:ea typeface="楷体_GB2312" pitchFamily="49" charset="-122"/>
            </a:endParaRPr>
          </a:p>
          <a:p>
            <a:pPr>
              <a:lnSpc>
                <a:spcPts val="3600"/>
              </a:lnSpc>
            </a:pPr>
            <a:r>
              <a:rPr lang="en-US" altLang="zh-CN" dirty="0">
                <a:ea typeface="楷体_GB2312" pitchFamily="49" charset="-122"/>
              </a:rPr>
              <a:t>  </a:t>
            </a:r>
            <a:r>
              <a:rPr lang="en-US" altLang="zh-CN" dirty="0">
                <a:solidFill>
                  <a:srgbClr val="FF0000"/>
                </a:solidFill>
                <a:ea typeface="楷体_GB2312" pitchFamily="49" charset="-122"/>
              </a:rPr>
              <a:t> </a:t>
            </a:r>
            <a:r>
              <a:rPr lang="en-US" altLang="zh-CN" sz="2800" b="1" dirty="0">
                <a:solidFill>
                  <a:srgbClr val="FF0000"/>
                </a:solidFill>
                <a:ea typeface="楷体_GB2312" pitchFamily="49" charset="-122"/>
              </a:rPr>
              <a:t>return</a:t>
            </a:r>
            <a:r>
              <a:rPr lang="en-US" altLang="zh-CN" sz="2800" dirty="0">
                <a:solidFill>
                  <a:srgbClr val="FF0000"/>
                </a:solidFill>
                <a:ea typeface="楷体_GB2312" pitchFamily="49" charset="-122"/>
              </a:rPr>
              <a:t> low</a:t>
            </a:r>
            <a:r>
              <a:rPr lang="en-US" altLang="zh-CN" sz="2800" dirty="0">
                <a:ea typeface="楷体_GB2312" pitchFamily="49" charset="-122"/>
              </a:rPr>
              <a:t>;</a:t>
            </a:r>
            <a:r>
              <a:rPr lang="en-US" altLang="zh-CN" dirty="0">
                <a:ea typeface="楷体_GB2312" pitchFamily="49" charset="-122"/>
              </a:rPr>
              <a:t>          </a:t>
            </a:r>
            <a:r>
              <a:rPr lang="en-US" altLang="zh-CN" sz="2800" b="1" dirty="0">
                <a:solidFill>
                  <a:srgbClr val="006600"/>
                </a:solidFill>
                <a:ea typeface="楷体_GB2312" pitchFamily="49" charset="-122"/>
              </a:rPr>
              <a:t>//</a:t>
            </a:r>
            <a:r>
              <a:rPr lang="en-US" altLang="zh-CN" sz="2800" dirty="0">
                <a:ea typeface="楷体_GB2312" pitchFamily="49" charset="-122"/>
              </a:rPr>
              <a:t> </a:t>
            </a:r>
            <a:r>
              <a:rPr lang="en-US" altLang="zh-CN" dirty="0">
                <a:ea typeface="楷体_GB2312" pitchFamily="49" charset="-122"/>
                <a:sym typeface="+mn-ea"/>
              </a:rPr>
              <a:t>Return the pivot position</a:t>
            </a:r>
            <a:endParaRPr lang="zh-CN" altLang="en-US" sz="2800" b="1" dirty="0">
              <a:solidFill>
                <a:srgbClr val="006600"/>
              </a:solidFill>
              <a:ea typeface="楷体_GB2312" pitchFamily="49" charset="-122"/>
            </a:endParaRPr>
          </a:p>
          <a:p>
            <a:pPr>
              <a:lnSpc>
                <a:spcPts val="3600"/>
              </a:lnSpc>
            </a:pPr>
            <a:r>
              <a:rPr lang="en-US" altLang="zh-CN" b="1" dirty="0">
                <a:ea typeface="楷体_GB2312" pitchFamily="49" charset="-122"/>
              </a:rPr>
              <a:t>}</a:t>
            </a:r>
            <a:r>
              <a:rPr lang="en-US" altLang="zh-CN" dirty="0">
                <a:ea typeface="楷体_GB2312" pitchFamily="49" charset="-122"/>
              </a:rPr>
              <a:t> // Partition</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63</a:t>
            </a:fld>
            <a:endParaRPr lang="en-US" altLang="zh-CN"/>
          </a:p>
        </p:txBody>
      </p:sp>
    </p:spTree>
  </p:cSld>
  <p:clrMapOvr>
    <a:masterClrMapping/>
  </p:clrMapOvr>
  <p:transition>
    <p:pull dir="rd"/>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2"/>
          <p:cNvSpPr txBox="1">
            <a:spLocks noChangeArrowheads="1"/>
          </p:cNvSpPr>
          <p:nvPr/>
        </p:nvSpPr>
        <p:spPr bwMode="auto">
          <a:xfrm>
            <a:off x="251520" y="115888"/>
            <a:ext cx="6812915" cy="6044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dirty="0" err="1">
                <a:ea typeface="楷体_GB2312" pitchFamily="49" charset="-122"/>
              </a:rPr>
              <a:t>int</a:t>
            </a:r>
            <a:r>
              <a:rPr lang="en-US" altLang="zh-CN" dirty="0">
                <a:ea typeface="楷体_GB2312" pitchFamily="49" charset="-122"/>
              </a:rPr>
              <a:t> Partition (</a:t>
            </a:r>
            <a:r>
              <a:rPr lang="en-US" altLang="zh-CN" dirty="0" err="1">
                <a:ea typeface="楷体_GB2312" pitchFamily="49" charset="-122"/>
              </a:rPr>
              <a:t>RedType</a:t>
            </a:r>
            <a:r>
              <a:rPr lang="en-US" altLang="zh-CN" dirty="0">
                <a:ea typeface="楷体_GB2312" pitchFamily="49" charset="-122"/>
              </a:rPr>
              <a:t> R[], </a:t>
            </a:r>
            <a:r>
              <a:rPr lang="en-US" altLang="zh-CN" b="1" dirty="0" err="1">
                <a:ea typeface="楷体_GB2312" pitchFamily="49" charset="-122"/>
              </a:rPr>
              <a:t>int</a:t>
            </a:r>
            <a:r>
              <a:rPr lang="en-US" altLang="zh-CN" dirty="0">
                <a:ea typeface="楷体_GB2312" pitchFamily="49" charset="-122"/>
              </a:rPr>
              <a:t> low, </a:t>
            </a:r>
            <a:r>
              <a:rPr lang="en-US" altLang="zh-CN" b="1" dirty="0" err="1">
                <a:ea typeface="楷体_GB2312" pitchFamily="49" charset="-122"/>
              </a:rPr>
              <a:t>int</a:t>
            </a:r>
            <a:r>
              <a:rPr lang="en-US" altLang="zh-CN" dirty="0">
                <a:ea typeface="楷体_GB2312" pitchFamily="49" charset="-122"/>
              </a:rPr>
              <a:t> high) </a:t>
            </a:r>
            <a:r>
              <a:rPr lang="en-US" altLang="zh-CN" b="1" dirty="0">
                <a:ea typeface="楷体_GB2312" pitchFamily="49" charset="-122"/>
              </a:rPr>
              <a:t>{</a:t>
            </a:r>
          </a:p>
          <a:p>
            <a:pPr algn="l"/>
            <a:r>
              <a:rPr lang="en-US" altLang="zh-CN" b="1" dirty="0">
                <a:ea typeface="楷体_GB2312" pitchFamily="49" charset="-122"/>
              </a:rPr>
              <a:t>       </a:t>
            </a:r>
            <a:r>
              <a:rPr lang="en-US" altLang="zh-CN" sz="2400" b="1" dirty="0">
                <a:solidFill>
                  <a:srgbClr val="006600"/>
                </a:solidFill>
              </a:rPr>
              <a:t>//</a:t>
            </a:r>
            <a:r>
              <a:rPr lang="en-US" altLang="zh-CN" sz="2400" b="1" dirty="0">
                <a:solidFill>
                  <a:srgbClr val="006600"/>
                </a:solidFill>
                <a:sym typeface="+mn-ea"/>
              </a:rPr>
              <a:t>Improvement of a Quick Sort Algorithm</a:t>
            </a:r>
            <a:endParaRPr lang="zh-CN" altLang="en-US" dirty="0">
              <a:ea typeface="楷体_GB2312" pitchFamily="49" charset="-122"/>
            </a:endParaRPr>
          </a:p>
          <a:p>
            <a:pPr algn="l">
              <a:lnSpc>
                <a:spcPct val="115000"/>
              </a:lnSpc>
            </a:pPr>
            <a:endParaRPr lang="zh-CN" altLang="en-US" dirty="0">
              <a:ea typeface="楷体_GB2312" pitchFamily="49" charset="-122"/>
            </a:endParaRPr>
          </a:p>
          <a:p>
            <a:pPr algn="l">
              <a:lnSpc>
                <a:spcPct val="115000"/>
              </a:lnSpc>
            </a:pPr>
            <a:endParaRPr lang="zh-CN" altLang="en-US" dirty="0">
              <a:ea typeface="楷体_GB2312" pitchFamily="49" charset="-122"/>
            </a:endParaRPr>
          </a:p>
          <a:p>
            <a:pPr algn="l">
              <a:lnSpc>
                <a:spcPct val="115000"/>
              </a:lnSpc>
            </a:pPr>
            <a:endParaRPr lang="zh-CN" altLang="en-US" dirty="0">
              <a:ea typeface="楷体_GB2312" pitchFamily="49" charset="-122"/>
            </a:endParaRPr>
          </a:p>
          <a:p>
            <a:pPr algn="l">
              <a:lnSpc>
                <a:spcPct val="115000"/>
              </a:lnSpc>
            </a:pPr>
            <a:endParaRPr lang="zh-CN" altLang="en-US" dirty="0">
              <a:ea typeface="楷体_GB2312" pitchFamily="49" charset="-122"/>
            </a:endParaRPr>
          </a:p>
          <a:p>
            <a:pPr algn="l">
              <a:lnSpc>
                <a:spcPct val="115000"/>
              </a:lnSpc>
            </a:pPr>
            <a:endParaRPr lang="zh-CN" altLang="en-US" dirty="0">
              <a:ea typeface="楷体_GB2312" pitchFamily="49" charset="-122"/>
            </a:endParaRPr>
          </a:p>
          <a:p>
            <a:pPr algn="l">
              <a:lnSpc>
                <a:spcPct val="115000"/>
              </a:lnSpc>
            </a:pPr>
            <a:endParaRPr lang="zh-CN" altLang="en-US" dirty="0">
              <a:ea typeface="楷体_GB2312" pitchFamily="49" charset="-122"/>
            </a:endParaRPr>
          </a:p>
          <a:p>
            <a:pPr algn="l">
              <a:lnSpc>
                <a:spcPct val="115000"/>
              </a:lnSpc>
            </a:pPr>
            <a:endParaRPr lang="zh-CN" altLang="en-US" dirty="0">
              <a:ea typeface="楷体_GB2312" pitchFamily="49" charset="-122"/>
            </a:endParaRPr>
          </a:p>
          <a:p>
            <a:pPr algn="l">
              <a:lnSpc>
                <a:spcPct val="115000"/>
              </a:lnSpc>
            </a:pPr>
            <a:endParaRPr lang="zh-CN" altLang="en-US" dirty="0">
              <a:ea typeface="楷体_GB2312" pitchFamily="49" charset="-122"/>
            </a:endParaRPr>
          </a:p>
          <a:p>
            <a:pPr algn="l">
              <a:lnSpc>
                <a:spcPct val="115000"/>
              </a:lnSpc>
            </a:pPr>
            <a:endParaRPr lang="en-US" altLang="zh-CN" b="1" dirty="0">
              <a:ea typeface="楷体_GB2312" pitchFamily="49" charset="-122"/>
            </a:endParaRPr>
          </a:p>
          <a:p>
            <a:pPr algn="l">
              <a:lnSpc>
                <a:spcPct val="115000"/>
              </a:lnSpc>
            </a:pPr>
            <a:r>
              <a:rPr lang="en-US" altLang="zh-CN" b="1" dirty="0">
                <a:ea typeface="楷体_GB2312" pitchFamily="49" charset="-122"/>
              </a:rPr>
              <a:t>}</a:t>
            </a:r>
            <a:r>
              <a:rPr lang="en-US" altLang="zh-CN" dirty="0">
                <a:ea typeface="楷体_GB2312" pitchFamily="49" charset="-122"/>
              </a:rPr>
              <a:t>// Partition</a:t>
            </a:r>
            <a:r>
              <a:rPr lang="en-US" altLang="zh-CN" sz="3600" dirty="0">
                <a:ea typeface="楷体_GB2312" pitchFamily="49" charset="-122"/>
              </a:rPr>
              <a:t>         </a:t>
            </a:r>
          </a:p>
        </p:txBody>
      </p:sp>
      <p:sp>
        <p:nvSpPr>
          <p:cNvPr id="59395" name="Rectangle 3"/>
          <p:cNvSpPr>
            <a:spLocks noChangeArrowheads="1"/>
          </p:cNvSpPr>
          <p:nvPr/>
        </p:nvSpPr>
        <p:spPr bwMode="auto">
          <a:xfrm>
            <a:off x="256729" y="1125538"/>
            <a:ext cx="8594725" cy="586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15000"/>
              </a:lnSpc>
            </a:pPr>
            <a:r>
              <a:rPr lang="en-US" altLang="zh-CN" b="1" dirty="0">
                <a:solidFill>
                  <a:srgbClr val="FF0000"/>
                </a:solidFill>
                <a:ea typeface="楷体_GB2312" pitchFamily="49" charset="-122"/>
              </a:rPr>
              <a:t>R[0] = R[low];</a:t>
            </a:r>
            <a:r>
              <a:rPr lang="en-US" altLang="zh-CN" dirty="0">
                <a:ea typeface="楷体_GB2312" pitchFamily="49" charset="-122"/>
              </a:rPr>
              <a:t>  </a:t>
            </a:r>
            <a:r>
              <a:rPr lang="en-US" altLang="zh-CN" dirty="0" err="1">
                <a:ea typeface="楷体_GB2312" pitchFamily="49" charset="-122"/>
              </a:rPr>
              <a:t>pivotkey</a:t>
            </a:r>
            <a:r>
              <a:rPr lang="en-US" altLang="zh-CN" dirty="0">
                <a:ea typeface="楷体_GB2312" pitchFamily="49" charset="-122"/>
              </a:rPr>
              <a:t> = R[low].key;  </a:t>
            </a:r>
            <a:r>
              <a:rPr lang="en-US" altLang="zh-CN" sz="2800" b="1" dirty="0">
                <a:solidFill>
                  <a:srgbClr val="006600"/>
                </a:solidFill>
                <a:ea typeface="楷体_GB2312" pitchFamily="49" charset="-122"/>
              </a:rPr>
              <a:t>// </a:t>
            </a:r>
            <a:r>
              <a:rPr lang="en-US" altLang="zh-CN" b="1" dirty="0">
                <a:solidFill>
                  <a:srgbClr val="006600"/>
                </a:solidFill>
                <a:ea typeface="楷体_GB2312" pitchFamily="49" charset="-122"/>
              </a:rPr>
              <a:t>Pivot element </a:t>
            </a:r>
            <a:r>
              <a:rPr lang="zh-CN" altLang="en-US" dirty="0">
                <a:ea typeface="楷体_GB2312" pitchFamily="49" charset="-122"/>
              </a:rPr>
              <a:t> </a:t>
            </a:r>
            <a:endParaRPr lang="zh-CN" altLang="en-US" dirty="0">
              <a:solidFill>
                <a:srgbClr val="990000"/>
              </a:solidFill>
              <a:ea typeface="楷体_GB2312" pitchFamily="49" charset="-122"/>
            </a:endParaRPr>
          </a:p>
        </p:txBody>
      </p:sp>
      <p:sp>
        <p:nvSpPr>
          <p:cNvPr id="59396" name="Rectangle 4"/>
          <p:cNvSpPr>
            <a:spLocks noChangeArrowheads="1"/>
          </p:cNvSpPr>
          <p:nvPr/>
        </p:nvSpPr>
        <p:spPr bwMode="auto">
          <a:xfrm>
            <a:off x="269534" y="1778000"/>
            <a:ext cx="3303588" cy="4014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15000"/>
              </a:lnSpc>
            </a:pPr>
            <a:r>
              <a:rPr lang="en-US" altLang="zh-CN" b="1" dirty="0">
                <a:solidFill>
                  <a:srgbClr val="840C26"/>
                </a:solidFill>
                <a:ea typeface="楷体_GB2312" pitchFamily="49" charset="-122"/>
              </a:rPr>
              <a:t>while</a:t>
            </a:r>
            <a:r>
              <a:rPr lang="en-US" altLang="zh-CN" dirty="0">
                <a:solidFill>
                  <a:srgbClr val="840C26"/>
                </a:solidFill>
                <a:ea typeface="楷体_GB2312" pitchFamily="49" charset="-122"/>
              </a:rPr>
              <a:t> (low&lt;high) </a:t>
            </a:r>
            <a:r>
              <a:rPr lang="en-US" altLang="zh-CN" b="1" dirty="0">
                <a:solidFill>
                  <a:srgbClr val="840C26"/>
                </a:solidFill>
                <a:ea typeface="楷体_GB2312" pitchFamily="49" charset="-122"/>
              </a:rPr>
              <a:t>{</a:t>
            </a:r>
            <a:endParaRPr lang="en-US" altLang="zh-CN" b="1" dirty="0">
              <a:ea typeface="楷体_GB2312" pitchFamily="49" charset="-122"/>
            </a:endParaRPr>
          </a:p>
          <a:p>
            <a:pPr>
              <a:lnSpc>
                <a:spcPct val="115000"/>
              </a:lnSpc>
            </a:pPr>
            <a:endParaRPr lang="en-US" altLang="zh-CN" dirty="0">
              <a:ea typeface="楷体_GB2312" pitchFamily="49" charset="-122"/>
            </a:endParaRPr>
          </a:p>
          <a:p>
            <a:pPr>
              <a:lnSpc>
                <a:spcPct val="115000"/>
              </a:lnSpc>
            </a:pPr>
            <a:endParaRPr lang="en-US" altLang="zh-CN" b="1" dirty="0">
              <a:solidFill>
                <a:srgbClr val="840C26"/>
              </a:solidFill>
              <a:ea typeface="楷体_GB2312" pitchFamily="49" charset="-122"/>
            </a:endParaRPr>
          </a:p>
          <a:p>
            <a:pPr>
              <a:lnSpc>
                <a:spcPct val="115000"/>
              </a:lnSpc>
            </a:pPr>
            <a:endParaRPr lang="en-US" altLang="zh-CN" b="1" dirty="0">
              <a:solidFill>
                <a:srgbClr val="840C26"/>
              </a:solidFill>
              <a:ea typeface="楷体_GB2312" pitchFamily="49" charset="-122"/>
            </a:endParaRPr>
          </a:p>
          <a:p>
            <a:pPr>
              <a:lnSpc>
                <a:spcPct val="115000"/>
              </a:lnSpc>
            </a:pPr>
            <a:endParaRPr lang="en-US" altLang="zh-CN" b="1" dirty="0">
              <a:solidFill>
                <a:srgbClr val="840C26"/>
              </a:solidFill>
              <a:ea typeface="楷体_GB2312" pitchFamily="49" charset="-122"/>
            </a:endParaRPr>
          </a:p>
          <a:p>
            <a:pPr>
              <a:lnSpc>
                <a:spcPct val="115000"/>
              </a:lnSpc>
            </a:pPr>
            <a:endParaRPr lang="en-US" altLang="zh-CN" b="1" dirty="0">
              <a:solidFill>
                <a:srgbClr val="840C26"/>
              </a:solidFill>
              <a:ea typeface="楷体_GB2312" pitchFamily="49" charset="-122"/>
            </a:endParaRPr>
          </a:p>
          <a:p>
            <a:pPr>
              <a:lnSpc>
                <a:spcPct val="115000"/>
              </a:lnSpc>
            </a:pPr>
            <a:endParaRPr lang="en-US" altLang="zh-CN" b="1" dirty="0">
              <a:solidFill>
                <a:srgbClr val="840C26"/>
              </a:solidFill>
              <a:ea typeface="楷体_GB2312" pitchFamily="49" charset="-122"/>
            </a:endParaRPr>
          </a:p>
        </p:txBody>
      </p:sp>
      <p:sp>
        <p:nvSpPr>
          <p:cNvPr id="59397" name="Rectangle 5"/>
          <p:cNvSpPr>
            <a:spLocks noChangeArrowheads="1"/>
          </p:cNvSpPr>
          <p:nvPr/>
        </p:nvSpPr>
        <p:spPr bwMode="auto">
          <a:xfrm>
            <a:off x="613787" y="2360247"/>
            <a:ext cx="7866380" cy="1081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15000"/>
              </a:lnSpc>
            </a:pPr>
            <a:r>
              <a:rPr lang="en-US" altLang="zh-CN" b="1" dirty="0">
                <a:ea typeface="楷体_GB2312" pitchFamily="49" charset="-122"/>
              </a:rPr>
              <a:t>while</a:t>
            </a:r>
            <a:r>
              <a:rPr lang="en-US" altLang="zh-CN" dirty="0">
                <a:ea typeface="楷体_GB2312" pitchFamily="49" charset="-122"/>
              </a:rPr>
              <a:t>(low&lt;high</a:t>
            </a:r>
            <a:r>
              <a:rPr lang="en-US" altLang="zh-CN" b="1" dirty="0">
                <a:ea typeface="楷体_GB2312" pitchFamily="49" charset="-122"/>
              </a:rPr>
              <a:t>&amp;&amp;</a:t>
            </a:r>
            <a:r>
              <a:rPr lang="en-US" altLang="zh-CN" dirty="0">
                <a:ea typeface="楷体_GB2312" pitchFamily="49" charset="-122"/>
              </a:rPr>
              <a:t> R[high].key&gt;=</a:t>
            </a:r>
            <a:r>
              <a:rPr lang="en-US" altLang="zh-CN" dirty="0" err="1">
                <a:ea typeface="楷体_GB2312" pitchFamily="49" charset="-122"/>
              </a:rPr>
              <a:t>pivotkey</a:t>
            </a:r>
            <a:r>
              <a:rPr lang="en-US" altLang="zh-CN" dirty="0">
                <a:ea typeface="楷体_GB2312" pitchFamily="49" charset="-122"/>
              </a:rPr>
              <a:t>) -- high; </a:t>
            </a:r>
          </a:p>
          <a:p>
            <a:pPr algn="l">
              <a:lnSpc>
                <a:spcPct val="115000"/>
              </a:lnSpc>
            </a:pPr>
            <a:r>
              <a:rPr lang="en-US" altLang="zh-CN" dirty="0">
                <a:solidFill>
                  <a:srgbClr val="0000FF"/>
                </a:solidFill>
              </a:rPr>
              <a:t>   R[low] = R[high]</a:t>
            </a:r>
            <a:r>
              <a:rPr lang="en-US" altLang="zh-CN" dirty="0"/>
              <a:t>;</a:t>
            </a:r>
            <a:r>
              <a:rPr lang="zh-CN" altLang="en-US" dirty="0"/>
              <a:t>　　 </a:t>
            </a:r>
            <a:r>
              <a:rPr lang="en-US" altLang="zh-CN" sz="2800" b="1" dirty="0">
                <a:solidFill>
                  <a:srgbClr val="006600"/>
                </a:solidFill>
                <a:ea typeface="楷体_GB2312" pitchFamily="49" charset="-122"/>
              </a:rPr>
              <a:t>// Search from right to left</a:t>
            </a:r>
          </a:p>
        </p:txBody>
      </p:sp>
      <p:sp>
        <p:nvSpPr>
          <p:cNvPr id="59399" name="Rectangle 7"/>
          <p:cNvSpPr>
            <a:spLocks noChangeArrowheads="1"/>
          </p:cNvSpPr>
          <p:nvPr/>
        </p:nvSpPr>
        <p:spPr bwMode="auto">
          <a:xfrm>
            <a:off x="611560" y="3501008"/>
            <a:ext cx="8011160" cy="1081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15000"/>
              </a:lnSpc>
            </a:pPr>
            <a:r>
              <a:rPr lang="en-US" altLang="zh-CN" b="1" dirty="0">
                <a:ea typeface="楷体_GB2312" pitchFamily="49" charset="-122"/>
              </a:rPr>
              <a:t>while</a:t>
            </a:r>
            <a:r>
              <a:rPr lang="en-US" altLang="zh-CN" dirty="0">
                <a:ea typeface="楷体_GB2312" pitchFamily="49" charset="-122"/>
              </a:rPr>
              <a:t> (low&lt;high </a:t>
            </a:r>
            <a:r>
              <a:rPr lang="en-US" altLang="zh-CN" b="1" dirty="0">
                <a:ea typeface="楷体_GB2312" pitchFamily="49" charset="-122"/>
              </a:rPr>
              <a:t>&amp;&amp;</a:t>
            </a:r>
            <a:r>
              <a:rPr lang="en-US" altLang="zh-CN" dirty="0">
                <a:ea typeface="楷体_GB2312" pitchFamily="49" charset="-122"/>
              </a:rPr>
              <a:t> R[low].key&lt;=</a:t>
            </a:r>
            <a:r>
              <a:rPr lang="en-US" altLang="zh-CN" dirty="0" err="1">
                <a:ea typeface="楷体_GB2312" pitchFamily="49" charset="-122"/>
              </a:rPr>
              <a:t>pivotkey</a:t>
            </a:r>
            <a:r>
              <a:rPr lang="en-US" altLang="zh-CN" dirty="0">
                <a:ea typeface="楷体_GB2312" pitchFamily="49" charset="-122"/>
              </a:rPr>
              <a:t>) ++ low; </a:t>
            </a:r>
          </a:p>
          <a:p>
            <a:pPr algn="l">
              <a:lnSpc>
                <a:spcPct val="115000"/>
              </a:lnSpc>
            </a:pPr>
            <a:r>
              <a:rPr lang="en-US" altLang="zh-CN" dirty="0">
                <a:solidFill>
                  <a:srgbClr val="0000FF"/>
                </a:solidFill>
              </a:rPr>
              <a:t>   R[high] = R[low]; </a:t>
            </a:r>
            <a:r>
              <a:rPr lang="en-US" altLang="zh-CN" b="1" dirty="0">
                <a:solidFill>
                  <a:srgbClr val="840C26"/>
                </a:solidFill>
              </a:rPr>
              <a:t>}</a:t>
            </a:r>
            <a:r>
              <a:rPr lang="zh-CN" altLang="en-US" b="1" dirty="0">
                <a:solidFill>
                  <a:srgbClr val="840C26"/>
                </a:solidFill>
              </a:rPr>
              <a:t>　</a:t>
            </a:r>
            <a:r>
              <a:rPr lang="en-US" altLang="zh-CN" sz="2800" b="1" dirty="0">
                <a:solidFill>
                  <a:srgbClr val="006600"/>
                </a:solidFill>
                <a:ea typeface="楷体_GB2312" pitchFamily="49" charset="-122"/>
              </a:rPr>
              <a:t>// Search from left to right</a:t>
            </a:r>
          </a:p>
        </p:txBody>
      </p:sp>
      <p:sp>
        <p:nvSpPr>
          <p:cNvPr id="59401" name="Rectangle 9"/>
          <p:cNvSpPr>
            <a:spLocks noChangeArrowheads="1"/>
          </p:cNvSpPr>
          <p:nvPr/>
        </p:nvSpPr>
        <p:spPr bwMode="auto">
          <a:xfrm>
            <a:off x="269534" y="4759953"/>
            <a:ext cx="5154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dirty="0">
                <a:solidFill>
                  <a:srgbClr val="FF0000"/>
                </a:solidFill>
                <a:ea typeface="楷体_GB2312" pitchFamily="49" charset="-122"/>
              </a:rPr>
              <a:t>R[low] = R[0];</a:t>
            </a:r>
            <a:r>
              <a:rPr lang="en-US" altLang="zh-CN" dirty="0">
                <a:ea typeface="楷体_GB2312" pitchFamily="49" charset="-122"/>
              </a:rPr>
              <a:t>     </a:t>
            </a:r>
            <a:r>
              <a:rPr lang="en-US" altLang="zh-CN" b="1" dirty="0">
                <a:ea typeface="楷体_GB2312" pitchFamily="49" charset="-122"/>
              </a:rPr>
              <a:t>return</a:t>
            </a:r>
            <a:r>
              <a:rPr lang="en-US" altLang="zh-CN" dirty="0">
                <a:ea typeface="楷体_GB2312" pitchFamily="49" charset="-122"/>
              </a:rPr>
              <a:t> low;</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64</a:t>
            </a:fld>
            <a:endParaRPr lang="en-US" altLang="zh-CN"/>
          </a:p>
        </p:txBody>
      </p:sp>
    </p:spTree>
  </p:cSld>
  <p:clrMapOvr>
    <a:masterClrMapping/>
  </p:clrMapOvr>
  <p:transition>
    <p:pull dir="rd"/>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 Box 2"/>
          <p:cNvSpPr txBox="1">
            <a:spLocks noChangeArrowheads="1"/>
          </p:cNvSpPr>
          <p:nvPr/>
        </p:nvSpPr>
        <p:spPr bwMode="auto">
          <a:xfrm>
            <a:off x="533400" y="228600"/>
            <a:ext cx="2690495"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200" b="1">
                <a:latin typeface="Arial" panose="020B0604020202020204" pitchFamily="34" charset="0"/>
                <a:ea typeface="楷体_GB2312" pitchFamily="49" charset="-122"/>
                <a:cs typeface="Arial" panose="020B0604020202020204" pitchFamily="34" charset="0"/>
              </a:rPr>
              <a:t>3. Quick Sort</a:t>
            </a:r>
          </a:p>
        </p:txBody>
      </p:sp>
      <p:sp>
        <p:nvSpPr>
          <p:cNvPr id="60419" name="Text Box 3"/>
          <p:cNvSpPr txBox="1">
            <a:spLocks noChangeArrowheads="1"/>
          </p:cNvSpPr>
          <p:nvPr/>
        </p:nvSpPr>
        <p:spPr bwMode="auto">
          <a:xfrm>
            <a:off x="381000" y="1203325"/>
            <a:ext cx="8763000" cy="1706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en-US" altLang="zh-CN" dirty="0">
                <a:latin typeface="Arial" panose="020B0604020202020204" pitchFamily="34" charset="0"/>
                <a:ea typeface="楷体_GB2312" pitchFamily="49" charset="-122"/>
                <a:cs typeface="Arial" panose="020B0604020202020204" pitchFamily="34" charset="0"/>
              </a:rPr>
              <a:t>First, perform a "</a:t>
            </a:r>
            <a:r>
              <a:rPr lang="en-US" altLang="zh-CN" b="1" dirty="0">
                <a:latin typeface="Arial" panose="020B0604020202020204" pitchFamily="34" charset="0"/>
                <a:ea typeface="楷体_GB2312" pitchFamily="49" charset="-122"/>
                <a:cs typeface="Arial" panose="020B0604020202020204" pitchFamily="34" charset="0"/>
              </a:rPr>
              <a:t>one partition</a:t>
            </a:r>
            <a:r>
              <a:rPr lang="en-US" altLang="zh-CN" dirty="0">
                <a:latin typeface="Arial" panose="020B0604020202020204" pitchFamily="34" charset="0"/>
                <a:ea typeface="楷体_GB2312" pitchFamily="49" charset="-122"/>
                <a:cs typeface="Arial" panose="020B0604020202020204" pitchFamily="34" charset="0"/>
              </a:rPr>
              <a:t>" on the unordered record sequence. Then, </a:t>
            </a:r>
            <a:r>
              <a:rPr lang="zh-CN" altLang="en-US" b="1" dirty="0">
                <a:solidFill>
                  <a:srgbClr val="FF0000"/>
                </a:solidFill>
                <a:latin typeface="Arial" panose="020B0604020202020204" pitchFamily="34" charset="0"/>
                <a:ea typeface="楷体_GB2312" pitchFamily="49" charset="-122"/>
                <a:cs typeface="Arial" panose="020B0604020202020204" pitchFamily="34" charset="0"/>
              </a:rPr>
              <a:t>recursively</a:t>
            </a:r>
            <a:r>
              <a:rPr lang="en-US" altLang="zh-CN" dirty="0">
                <a:latin typeface="Arial" panose="020B0604020202020204" pitchFamily="34" charset="0"/>
                <a:ea typeface="楷体_GB2312" pitchFamily="49" charset="-122"/>
                <a:cs typeface="Arial" panose="020B0604020202020204" pitchFamily="34" charset="0"/>
              </a:rPr>
              <a:t> </a:t>
            </a:r>
            <a:r>
              <a:rPr lang="zh-CN" altLang="en-US" b="1" dirty="0">
                <a:solidFill>
                  <a:srgbClr val="FF0000"/>
                </a:solidFill>
                <a:latin typeface="Arial" panose="020B0604020202020204" pitchFamily="34" charset="0"/>
                <a:ea typeface="楷体_GB2312" pitchFamily="49" charset="-122"/>
                <a:cs typeface="Arial" panose="020B0604020202020204" pitchFamily="34" charset="0"/>
              </a:rPr>
              <a:t>apply quick sort</a:t>
            </a:r>
            <a:r>
              <a:rPr lang="en-US" altLang="zh-CN" dirty="0">
                <a:latin typeface="Arial" panose="020B0604020202020204" pitchFamily="34" charset="0"/>
                <a:ea typeface="楷体_GB2312" pitchFamily="49" charset="-122"/>
                <a:cs typeface="Arial" panose="020B0604020202020204" pitchFamily="34" charset="0"/>
              </a:rPr>
              <a:t> to the two sub-sequences obtained from the partition.</a:t>
            </a:r>
          </a:p>
        </p:txBody>
      </p:sp>
      <p:sp>
        <p:nvSpPr>
          <p:cNvPr id="60420" name="Text Box 4"/>
          <p:cNvSpPr txBox="1">
            <a:spLocks noChangeArrowheads="1"/>
          </p:cNvSpPr>
          <p:nvPr/>
        </p:nvSpPr>
        <p:spPr bwMode="auto">
          <a:xfrm>
            <a:off x="1143000" y="3429000"/>
            <a:ext cx="6248400" cy="521970"/>
          </a:xfrm>
          <a:prstGeom prst="rect">
            <a:avLst/>
          </a:prstGeom>
          <a:solidFill>
            <a:srgbClr val="CCFFCC"/>
          </a:solidFill>
          <a:ln w="9525">
            <a:solidFill>
              <a:srgbClr val="00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800">
                <a:solidFill>
                  <a:srgbClr val="003366"/>
                </a:solidFill>
              </a:rPr>
              <a:t>Unordered Record Sequence</a:t>
            </a:r>
          </a:p>
        </p:txBody>
      </p:sp>
      <p:sp>
        <p:nvSpPr>
          <p:cNvPr id="60421" name="Text Box 5"/>
          <p:cNvSpPr txBox="1">
            <a:spLocks noChangeArrowheads="1"/>
          </p:cNvSpPr>
          <p:nvPr/>
        </p:nvSpPr>
        <p:spPr bwMode="auto">
          <a:xfrm>
            <a:off x="626745" y="4815205"/>
            <a:ext cx="3694430" cy="460375"/>
          </a:xfrm>
          <a:prstGeom prst="rect">
            <a:avLst/>
          </a:prstGeom>
          <a:solidFill>
            <a:srgbClr val="CCFFCC"/>
          </a:solidFill>
          <a:ln w="12700">
            <a:solidFill>
              <a:srgbClr val="00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ct val="50000"/>
              </a:spcBef>
            </a:pPr>
            <a:r>
              <a:rPr lang="en-US" altLang="zh-CN" sz="2400"/>
              <a:t>Unordered Sub-sequence (1)</a:t>
            </a:r>
          </a:p>
        </p:txBody>
      </p:sp>
      <p:sp>
        <p:nvSpPr>
          <p:cNvPr id="60422" name="Text Box 6"/>
          <p:cNvSpPr txBox="1">
            <a:spLocks noChangeArrowheads="1"/>
          </p:cNvSpPr>
          <p:nvPr/>
        </p:nvSpPr>
        <p:spPr bwMode="auto">
          <a:xfrm>
            <a:off x="4953000" y="4802505"/>
            <a:ext cx="3644265" cy="460375"/>
          </a:xfrm>
          <a:prstGeom prst="rect">
            <a:avLst/>
          </a:prstGeom>
          <a:solidFill>
            <a:srgbClr val="CCFFCC"/>
          </a:solidFill>
          <a:ln w="12700">
            <a:solidFill>
              <a:srgbClr val="00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400"/>
              <a:t>Unordered Sub-sequence (2)</a:t>
            </a:r>
          </a:p>
        </p:txBody>
      </p:sp>
      <p:sp>
        <p:nvSpPr>
          <p:cNvPr id="60423" name="Oval 7"/>
          <p:cNvSpPr>
            <a:spLocks noChangeArrowheads="1"/>
          </p:cNvSpPr>
          <p:nvPr/>
        </p:nvSpPr>
        <p:spPr bwMode="auto">
          <a:xfrm>
            <a:off x="4343400" y="4800600"/>
            <a:ext cx="609600" cy="533400"/>
          </a:xfrm>
          <a:prstGeom prst="ellipse">
            <a:avLst/>
          </a:prstGeom>
          <a:solidFill>
            <a:srgbClr val="FFCC99"/>
          </a:solidFill>
          <a:ln w="19050">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800"/>
              <a:t>Pivot</a:t>
            </a:r>
          </a:p>
        </p:txBody>
      </p:sp>
      <p:sp>
        <p:nvSpPr>
          <p:cNvPr id="60424" name="AutoShape 8"/>
          <p:cNvSpPr>
            <a:spLocks noChangeArrowheads="1"/>
          </p:cNvSpPr>
          <p:nvPr/>
        </p:nvSpPr>
        <p:spPr bwMode="auto">
          <a:xfrm>
            <a:off x="3505200" y="4038600"/>
            <a:ext cx="304800" cy="685800"/>
          </a:xfrm>
          <a:prstGeom prst="downArrow">
            <a:avLst>
              <a:gd name="adj1" fmla="val 50000"/>
              <a:gd name="adj2" fmla="val 56250"/>
            </a:avLst>
          </a:prstGeom>
          <a:solidFill>
            <a:schemeClr val="hlink"/>
          </a:solidFill>
          <a:ln w="9525">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60425" name="Text Box 9"/>
          <p:cNvSpPr txBox="1">
            <a:spLocks noChangeArrowheads="1"/>
          </p:cNvSpPr>
          <p:nvPr/>
        </p:nvSpPr>
        <p:spPr bwMode="auto">
          <a:xfrm>
            <a:off x="3946525" y="4030663"/>
            <a:ext cx="18097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solidFill>
                  <a:srgbClr val="990000"/>
                </a:solidFill>
                <a:ea typeface="隶书" panose="02010509060101010101" pitchFamily="49" charset="-122"/>
              </a:rPr>
              <a:t>One partition</a:t>
            </a:r>
            <a:endParaRPr lang="zh-CN" altLang="en-US"/>
          </a:p>
        </p:txBody>
      </p:sp>
      <p:sp>
        <p:nvSpPr>
          <p:cNvPr id="60426" name="Line 10"/>
          <p:cNvSpPr>
            <a:spLocks noChangeShapeType="1"/>
          </p:cNvSpPr>
          <p:nvPr/>
        </p:nvSpPr>
        <p:spPr bwMode="auto">
          <a:xfrm flipH="1" flipV="1">
            <a:off x="3124200" y="5410200"/>
            <a:ext cx="609600" cy="609600"/>
          </a:xfrm>
          <a:prstGeom prst="line">
            <a:avLst/>
          </a:prstGeom>
          <a:noFill/>
          <a:ln w="38100">
            <a:solidFill>
              <a:srgbClr val="99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7" name="Line 11"/>
          <p:cNvSpPr>
            <a:spLocks noChangeShapeType="1"/>
          </p:cNvSpPr>
          <p:nvPr/>
        </p:nvSpPr>
        <p:spPr bwMode="auto">
          <a:xfrm flipV="1">
            <a:off x="4724400" y="5410200"/>
            <a:ext cx="609600" cy="609600"/>
          </a:xfrm>
          <a:prstGeom prst="line">
            <a:avLst/>
          </a:prstGeom>
          <a:noFill/>
          <a:ln w="38100">
            <a:solidFill>
              <a:srgbClr val="99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8" name="Text Box 12"/>
          <p:cNvSpPr txBox="1">
            <a:spLocks noChangeArrowheads="1"/>
          </p:cNvSpPr>
          <p:nvPr/>
        </p:nvSpPr>
        <p:spPr bwMode="auto">
          <a:xfrm>
            <a:off x="2362200" y="5911850"/>
            <a:ext cx="334835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a:t>Apply Quick Sort to Each</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65</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0418"/>
                                        </p:tgtEl>
                                        <p:attrNameLst>
                                          <p:attrName>style.visibility</p:attrName>
                                        </p:attrNameLst>
                                      </p:cBhvr>
                                      <p:to>
                                        <p:strVal val="visible"/>
                                      </p:to>
                                    </p:set>
                                    <p:animEffect transition="in" filter="wipe(left)">
                                      <p:cBhvr>
                                        <p:cTn id="7" dur="500"/>
                                        <p:tgtEl>
                                          <p:spTgt spid="604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0419"/>
                                        </p:tgtEl>
                                        <p:attrNameLst>
                                          <p:attrName>style.visibility</p:attrName>
                                        </p:attrNameLst>
                                      </p:cBhvr>
                                      <p:to>
                                        <p:strVal val="visible"/>
                                      </p:to>
                                    </p:set>
                                    <p:animEffect transition="in" filter="wipe(left)">
                                      <p:cBhvr>
                                        <p:cTn id="12" dur="500"/>
                                        <p:tgtEl>
                                          <p:spTgt spid="604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0420"/>
                                        </p:tgtEl>
                                        <p:attrNameLst>
                                          <p:attrName>style.visibility</p:attrName>
                                        </p:attrNameLst>
                                      </p:cBhvr>
                                      <p:to>
                                        <p:strVal val="visible"/>
                                      </p:to>
                                    </p:set>
                                    <p:animEffect transition="in" filter="wipe(left)">
                                      <p:cBhvr>
                                        <p:cTn id="17" dur="500"/>
                                        <p:tgtEl>
                                          <p:spTgt spid="604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60424"/>
                                        </p:tgtEl>
                                        <p:attrNameLst>
                                          <p:attrName>style.visibility</p:attrName>
                                        </p:attrNameLst>
                                      </p:cBhvr>
                                      <p:to>
                                        <p:strVal val="visible"/>
                                      </p:to>
                                    </p:set>
                                    <p:animEffect transition="in" filter="wipe(up)">
                                      <p:cBhvr>
                                        <p:cTn id="22" dur="500"/>
                                        <p:tgtEl>
                                          <p:spTgt spid="60424"/>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60425"/>
                                        </p:tgtEl>
                                        <p:attrNameLst>
                                          <p:attrName>style.visibility</p:attrName>
                                        </p:attrNameLst>
                                      </p:cBhvr>
                                      <p:to>
                                        <p:strVal val="visible"/>
                                      </p:to>
                                    </p:set>
                                    <p:animEffect transition="in" filter="wipe(left)">
                                      <p:cBhvr>
                                        <p:cTn id="26" dur="500"/>
                                        <p:tgtEl>
                                          <p:spTgt spid="6042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60421"/>
                                        </p:tgtEl>
                                        <p:attrNameLst>
                                          <p:attrName>style.visibility</p:attrName>
                                        </p:attrNameLst>
                                      </p:cBhvr>
                                      <p:to>
                                        <p:strVal val="visible"/>
                                      </p:to>
                                    </p:set>
                                    <p:animEffect transition="in" filter="wipe(left)">
                                      <p:cBhvr>
                                        <p:cTn id="31" dur="500"/>
                                        <p:tgtEl>
                                          <p:spTgt spid="60421"/>
                                        </p:tgtEl>
                                      </p:cBhvr>
                                    </p:animEffect>
                                  </p:childTnLst>
                                </p:cTn>
                              </p:par>
                            </p:childTnLst>
                          </p:cTn>
                        </p:par>
                        <p:par>
                          <p:cTn id="32" fill="hold">
                            <p:stCondLst>
                              <p:cond delay="500"/>
                            </p:stCondLst>
                            <p:childTnLst>
                              <p:par>
                                <p:cTn id="33" presetID="22" presetClass="entr" presetSubtype="8" fill="hold" grpId="0" nodeType="afterEffect">
                                  <p:stCondLst>
                                    <p:cond delay="0"/>
                                  </p:stCondLst>
                                  <p:childTnLst>
                                    <p:set>
                                      <p:cBhvr>
                                        <p:cTn id="34" dur="1" fill="hold">
                                          <p:stCondLst>
                                            <p:cond delay="0"/>
                                          </p:stCondLst>
                                        </p:cTn>
                                        <p:tgtEl>
                                          <p:spTgt spid="60423"/>
                                        </p:tgtEl>
                                        <p:attrNameLst>
                                          <p:attrName>style.visibility</p:attrName>
                                        </p:attrNameLst>
                                      </p:cBhvr>
                                      <p:to>
                                        <p:strVal val="visible"/>
                                      </p:to>
                                    </p:set>
                                    <p:animEffect transition="in" filter="wipe(left)">
                                      <p:cBhvr>
                                        <p:cTn id="35" dur="500"/>
                                        <p:tgtEl>
                                          <p:spTgt spid="60423"/>
                                        </p:tgtEl>
                                      </p:cBhvr>
                                    </p:animEffect>
                                  </p:childTnLst>
                                </p:cTn>
                              </p:par>
                            </p:childTnLst>
                          </p:cTn>
                        </p:par>
                        <p:par>
                          <p:cTn id="36" fill="hold">
                            <p:stCondLst>
                              <p:cond delay="1000"/>
                            </p:stCondLst>
                            <p:childTnLst>
                              <p:par>
                                <p:cTn id="37" presetID="22" presetClass="entr" presetSubtype="8" fill="hold" grpId="0" nodeType="afterEffect">
                                  <p:stCondLst>
                                    <p:cond delay="0"/>
                                  </p:stCondLst>
                                  <p:childTnLst>
                                    <p:set>
                                      <p:cBhvr>
                                        <p:cTn id="38" dur="1" fill="hold">
                                          <p:stCondLst>
                                            <p:cond delay="0"/>
                                          </p:stCondLst>
                                        </p:cTn>
                                        <p:tgtEl>
                                          <p:spTgt spid="60422"/>
                                        </p:tgtEl>
                                        <p:attrNameLst>
                                          <p:attrName>style.visibility</p:attrName>
                                        </p:attrNameLst>
                                      </p:cBhvr>
                                      <p:to>
                                        <p:strVal val="visible"/>
                                      </p:to>
                                    </p:set>
                                    <p:animEffect transition="in" filter="wipe(left)">
                                      <p:cBhvr>
                                        <p:cTn id="39" dur="500"/>
                                        <p:tgtEl>
                                          <p:spTgt spid="60422"/>
                                        </p:tgtEl>
                                      </p:cBhvr>
                                    </p:animEffect>
                                  </p:childTnLst>
                                </p:cTn>
                              </p:par>
                            </p:childTnLst>
                          </p:cTn>
                        </p:par>
                        <p:par>
                          <p:cTn id="40" fill="hold">
                            <p:stCondLst>
                              <p:cond delay="1500"/>
                            </p:stCondLst>
                            <p:childTnLst>
                              <p:par>
                                <p:cTn id="41" presetID="22" presetClass="entr" presetSubtype="8" fill="hold" grpId="0" nodeType="afterEffect">
                                  <p:stCondLst>
                                    <p:cond delay="0"/>
                                  </p:stCondLst>
                                  <p:childTnLst>
                                    <p:set>
                                      <p:cBhvr>
                                        <p:cTn id="42" dur="1" fill="hold">
                                          <p:stCondLst>
                                            <p:cond delay="0"/>
                                          </p:stCondLst>
                                        </p:cTn>
                                        <p:tgtEl>
                                          <p:spTgt spid="60428"/>
                                        </p:tgtEl>
                                        <p:attrNameLst>
                                          <p:attrName>style.visibility</p:attrName>
                                        </p:attrNameLst>
                                      </p:cBhvr>
                                      <p:to>
                                        <p:strVal val="visible"/>
                                      </p:to>
                                    </p:set>
                                    <p:animEffect transition="in" filter="wipe(left)">
                                      <p:cBhvr>
                                        <p:cTn id="43" dur="500"/>
                                        <p:tgtEl>
                                          <p:spTgt spid="60428"/>
                                        </p:tgtEl>
                                      </p:cBhvr>
                                    </p:animEffect>
                                  </p:childTnLst>
                                </p:cTn>
                              </p:par>
                            </p:childTnLst>
                          </p:cTn>
                        </p:par>
                        <p:par>
                          <p:cTn id="44" fill="hold">
                            <p:stCondLst>
                              <p:cond delay="2000"/>
                            </p:stCondLst>
                            <p:childTnLst>
                              <p:par>
                                <p:cTn id="45" presetID="22" presetClass="entr" presetSubtype="4" fill="hold" grpId="0" nodeType="afterEffect">
                                  <p:stCondLst>
                                    <p:cond delay="0"/>
                                  </p:stCondLst>
                                  <p:childTnLst>
                                    <p:set>
                                      <p:cBhvr>
                                        <p:cTn id="46" dur="1" fill="hold">
                                          <p:stCondLst>
                                            <p:cond delay="0"/>
                                          </p:stCondLst>
                                        </p:cTn>
                                        <p:tgtEl>
                                          <p:spTgt spid="60426"/>
                                        </p:tgtEl>
                                        <p:attrNameLst>
                                          <p:attrName>style.visibility</p:attrName>
                                        </p:attrNameLst>
                                      </p:cBhvr>
                                      <p:to>
                                        <p:strVal val="visible"/>
                                      </p:to>
                                    </p:set>
                                    <p:animEffect transition="in" filter="wipe(down)">
                                      <p:cBhvr>
                                        <p:cTn id="47" dur="500"/>
                                        <p:tgtEl>
                                          <p:spTgt spid="60426"/>
                                        </p:tgtEl>
                                      </p:cBhvr>
                                    </p:animEffect>
                                  </p:childTnLst>
                                </p:cTn>
                              </p:par>
                            </p:childTnLst>
                          </p:cTn>
                        </p:par>
                        <p:par>
                          <p:cTn id="48" fill="hold">
                            <p:stCondLst>
                              <p:cond delay="2500"/>
                            </p:stCondLst>
                            <p:childTnLst>
                              <p:par>
                                <p:cTn id="49" presetID="22" presetClass="entr" presetSubtype="4" fill="hold" grpId="0" nodeType="afterEffect">
                                  <p:stCondLst>
                                    <p:cond delay="0"/>
                                  </p:stCondLst>
                                  <p:childTnLst>
                                    <p:set>
                                      <p:cBhvr>
                                        <p:cTn id="50" dur="1" fill="hold">
                                          <p:stCondLst>
                                            <p:cond delay="0"/>
                                          </p:stCondLst>
                                        </p:cTn>
                                        <p:tgtEl>
                                          <p:spTgt spid="60427"/>
                                        </p:tgtEl>
                                        <p:attrNameLst>
                                          <p:attrName>style.visibility</p:attrName>
                                        </p:attrNameLst>
                                      </p:cBhvr>
                                      <p:to>
                                        <p:strVal val="visible"/>
                                      </p:to>
                                    </p:set>
                                    <p:animEffect transition="in" filter="wipe(down)">
                                      <p:cBhvr>
                                        <p:cTn id="51" dur="500"/>
                                        <p:tgtEl>
                                          <p:spTgt spid="604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8" grpId="0" bldLvl="0" animBg="1" autoUpdateAnimBg="0"/>
      <p:bldP spid="60419" grpId="0" bldLvl="0" animBg="1" autoUpdateAnimBg="0"/>
      <p:bldP spid="60420" grpId="0" bldLvl="0" animBg="1" autoUpdateAnimBg="0"/>
      <p:bldP spid="60421" grpId="0" bldLvl="0" animBg="1" autoUpdateAnimBg="0"/>
      <p:bldP spid="60422" grpId="0" bldLvl="0" animBg="1" autoUpdateAnimBg="0"/>
      <p:bldP spid="60423" grpId="0" bldLvl="0" animBg="1" autoUpdateAnimBg="0"/>
      <p:bldP spid="60424" grpId="0" bldLvl="0" animBg="1"/>
      <p:bldP spid="60425" grpId="0" bldLvl="0" animBg="1" autoUpdateAnimBg="0"/>
      <p:bldP spid="60426" grpId="0" bldLvl="0" animBg="1"/>
      <p:bldP spid="60427" grpId="0" bldLvl="0" animBg="1"/>
      <p:bldP spid="60428" grpId="0" bldLvl="0" animBg="1"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ext Box 2"/>
          <p:cNvSpPr txBox="1">
            <a:spLocks noChangeArrowheads="1"/>
          </p:cNvSpPr>
          <p:nvPr/>
        </p:nvSpPr>
        <p:spPr bwMode="auto">
          <a:xfrm>
            <a:off x="152400" y="173038"/>
            <a:ext cx="8365490" cy="6439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20000"/>
              </a:lnSpc>
            </a:pPr>
            <a:r>
              <a:rPr lang="en-US" altLang="zh-CN" sz="3600" b="1" dirty="0">
                <a:ea typeface="楷体_GB2312" pitchFamily="49" charset="-122"/>
              </a:rPr>
              <a:t>void</a:t>
            </a:r>
            <a:r>
              <a:rPr lang="en-US" altLang="zh-CN" sz="3600" dirty="0">
                <a:ea typeface="楷体_GB2312" pitchFamily="49" charset="-122"/>
              </a:rPr>
              <a:t> </a:t>
            </a:r>
            <a:r>
              <a:rPr lang="en-US" altLang="zh-CN" sz="3600" dirty="0" err="1">
                <a:ea typeface="楷体_GB2312" pitchFamily="49" charset="-122"/>
              </a:rPr>
              <a:t>QSort</a:t>
            </a:r>
            <a:r>
              <a:rPr lang="en-US" altLang="zh-CN" sz="3600" dirty="0">
                <a:ea typeface="楷体_GB2312" pitchFamily="49" charset="-122"/>
              </a:rPr>
              <a:t> (</a:t>
            </a:r>
            <a:r>
              <a:rPr lang="en-US" altLang="zh-CN" sz="3600" dirty="0" err="1">
                <a:ea typeface="楷体_GB2312" pitchFamily="49" charset="-122"/>
              </a:rPr>
              <a:t>RedType</a:t>
            </a:r>
            <a:r>
              <a:rPr lang="en-US" altLang="zh-CN" sz="3600" dirty="0">
                <a:ea typeface="楷体_GB2312" pitchFamily="49" charset="-122"/>
              </a:rPr>
              <a:t> &amp; R[],  </a:t>
            </a:r>
            <a:r>
              <a:rPr lang="en-US" altLang="zh-CN" sz="3600" b="1" dirty="0" err="1">
                <a:ea typeface="楷体_GB2312" pitchFamily="49" charset="-122"/>
              </a:rPr>
              <a:t>int</a:t>
            </a:r>
            <a:r>
              <a:rPr lang="en-US" altLang="zh-CN" sz="3600" dirty="0">
                <a:ea typeface="楷体_GB2312" pitchFamily="49" charset="-122"/>
              </a:rPr>
              <a:t> s,  </a:t>
            </a:r>
            <a:r>
              <a:rPr lang="en-US" altLang="zh-CN" sz="3600" b="1" dirty="0" err="1">
                <a:ea typeface="楷体_GB2312" pitchFamily="49" charset="-122"/>
              </a:rPr>
              <a:t>int</a:t>
            </a:r>
            <a:r>
              <a:rPr lang="en-US" altLang="zh-CN" sz="3600" dirty="0">
                <a:ea typeface="楷体_GB2312" pitchFamily="49" charset="-122"/>
              </a:rPr>
              <a:t>  t ) </a:t>
            </a:r>
            <a:r>
              <a:rPr lang="en-US" altLang="zh-CN" sz="3600" b="1" dirty="0">
                <a:ea typeface="楷体_GB2312" pitchFamily="49" charset="-122"/>
              </a:rPr>
              <a:t>{</a:t>
            </a:r>
            <a:endParaRPr lang="en-US" altLang="zh-CN" sz="3600" dirty="0">
              <a:ea typeface="楷体_GB2312" pitchFamily="49" charset="-122"/>
            </a:endParaRPr>
          </a:p>
          <a:p>
            <a:pPr algn="l">
              <a:lnSpc>
                <a:spcPct val="120000"/>
              </a:lnSpc>
            </a:pPr>
            <a:r>
              <a:rPr lang="en-US" altLang="zh-CN" sz="3600" dirty="0">
                <a:ea typeface="楷体_GB2312" pitchFamily="49" charset="-122"/>
              </a:rPr>
              <a:t> </a:t>
            </a:r>
            <a:r>
              <a:rPr lang="en-US" altLang="zh-CN" sz="3600" b="1" dirty="0">
                <a:solidFill>
                  <a:srgbClr val="006600"/>
                </a:solidFill>
                <a:ea typeface="楷体_GB2312" pitchFamily="49" charset="-122"/>
                <a:sym typeface="+mn-ea"/>
              </a:rPr>
              <a:t>// Sort the record sequence R[s..t] quickly</a:t>
            </a:r>
            <a:endParaRPr lang="zh-CN" altLang="en-US" b="1" dirty="0">
              <a:solidFill>
                <a:srgbClr val="006600"/>
              </a:solidFill>
              <a:ea typeface="楷体_GB2312" pitchFamily="49" charset="-122"/>
            </a:endParaRPr>
          </a:p>
          <a:p>
            <a:pPr algn="l">
              <a:lnSpc>
                <a:spcPct val="120000"/>
              </a:lnSpc>
            </a:pPr>
            <a:r>
              <a:rPr lang="zh-CN" altLang="en-US" sz="3600" dirty="0">
                <a:ea typeface="楷体_GB2312" pitchFamily="49" charset="-122"/>
              </a:rPr>
              <a:t>    </a:t>
            </a:r>
            <a:r>
              <a:rPr lang="en-US" altLang="zh-CN" sz="3600" b="1" dirty="0">
                <a:ea typeface="楷体_GB2312" pitchFamily="49" charset="-122"/>
              </a:rPr>
              <a:t>if</a:t>
            </a:r>
            <a:r>
              <a:rPr lang="en-US" altLang="zh-CN" sz="3600" dirty="0">
                <a:ea typeface="楷体_GB2312" pitchFamily="49" charset="-122"/>
              </a:rPr>
              <a:t> (s </a:t>
            </a:r>
            <a:r>
              <a:rPr lang="en-US" altLang="zh-CN" sz="3600" b="1" dirty="0">
                <a:ea typeface="楷体_GB2312" pitchFamily="49" charset="-122"/>
              </a:rPr>
              <a:t>&lt;</a:t>
            </a:r>
            <a:r>
              <a:rPr lang="en-US" altLang="zh-CN" sz="3600" dirty="0">
                <a:ea typeface="楷体_GB2312" pitchFamily="49" charset="-122"/>
              </a:rPr>
              <a:t> t) </a:t>
            </a:r>
            <a:r>
              <a:rPr lang="en-US" altLang="zh-CN" sz="3600" b="1" dirty="0">
                <a:ea typeface="楷体_GB2312" pitchFamily="49" charset="-122"/>
              </a:rPr>
              <a:t>{</a:t>
            </a:r>
            <a:r>
              <a:rPr lang="en-US" altLang="zh-CN" sz="3600" dirty="0">
                <a:ea typeface="楷体_GB2312" pitchFamily="49" charset="-122"/>
              </a:rPr>
              <a:t>             </a:t>
            </a:r>
            <a:r>
              <a:rPr lang="en-US" altLang="zh-CN" sz="2800" b="1" dirty="0">
                <a:solidFill>
                  <a:srgbClr val="006600"/>
                </a:solidFill>
                <a:ea typeface="楷体_GB2312" pitchFamily="49" charset="-122"/>
              </a:rPr>
              <a:t>// </a:t>
            </a:r>
            <a:r>
              <a:rPr lang="zh-CN" altLang="en-US" b="1" dirty="0">
                <a:solidFill>
                  <a:srgbClr val="006600"/>
                </a:solidFill>
                <a:ea typeface="楷体_GB2312" pitchFamily="49" charset="-122"/>
                <a:sym typeface="+mn-ea"/>
              </a:rPr>
              <a:t>Length is greater than 1</a:t>
            </a:r>
            <a:endParaRPr lang="zh-CN" altLang="en-US" sz="2800" b="1" dirty="0">
              <a:solidFill>
                <a:srgbClr val="006600"/>
              </a:solidFill>
              <a:ea typeface="楷体_GB2312" pitchFamily="49" charset="-122"/>
            </a:endParaRPr>
          </a:p>
          <a:p>
            <a:pPr algn="l">
              <a:lnSpc>
                <a:spcPct val="120000"/>
              </a:lnSpc>
            </a:pPr>
            <a:r>
              <a:rPr lang="en-US" altLang="zh-CN" sz="3600" dirty="0">
                <a:ea typeface="楷体_GB2312" pitchFamily="49" charset="-122"/>
              </a:rPr>
              <a:t>    </a:t>
            </a:r>
          </a:p>
          <a:p>
            <a:pPr algn="l">
              <a:lnSpc>
                <a:spcPct val="120000"/>
              </a:lnSpc>
            </a:pPr>
            <a:endParaRPr lang="en-US" altLang="zh-CN" sz="3600" dirty="0">
              <a:ea typeface="楷体_GB2312" pitchFamily="49" charset="-122"/>
            </a:endParaRPr>
          </a:p>
          <a:p>
            <a:pPr algn="l">
              <a:lnSpc>
                <a:spcPct val="120000"/>
              </a:lnSpc>
            </a:pPr>
            <a:endParaRPr lang="en-US" altLang="zh-CN" sz="3600" dirty="0">
              <a:ea typeface="楷体_GB2312" pitchFamily="49" charset="-122"/>
            </a:endParaRPr>
          </a:p>
          <a:p>
            <a:pPr algn="l">
              <a:lnSpc>
                <a:spcPct val="120000"/>
              </a:lnSpc>
            </a:pPr>
            <a:endParaRPr lang="en-US" altLang="zh-CN" sz="3600" dirty="0">
              <a:ea typeface="楷体_GB2312" pitchFamily="49" charset="-122"/>
            </a:endParaRPr>
          </a:p>
          <a:p>
            <a:pPr algn="l">
              <a:lnSpc>
                <a:spcPct val="120000"/>
              </a:lnSpc>
            </a:pPr>
            <a:endParaRPr lang="en-US" altLang="zh-CN" sz="3600" dirty="0">
              <a:ea typeface="楷体_GB2312" pitchFamily="49" charset="-122"/>
            </a:endParaRPr>
          </a:p>
          <a:p>
            <a:pPr algn="l">
              <a:lnSpc>
                <a:spcPct val="120000"/>
              </a:lnSpc>
            </a:pPr>
            <a:r>
              <a:rPr lang="en-US" altLang="zh-CN" dirty="0">
                <a:ea typeface="楷体_GB2312" pitchFamily="49" charset="-122"/>
              </a:rPr>
              <a:t>  </a:t>
            </a:r>
            <a:r>
              <a:rPr lang="en-US" altLang="zh-CN" b="1" dirty="0">
                <a:ea typeface="楷体_GB2312" pitchFamily="49" charset="-122"/>
              </a:rPr>
              <a:t>}</a:t>
            </a:r>
          </a:p>
          <a:p>
            <a:pPr algn="l">
              <a:lnSpc>
                <a:spcPct val="120000"/>
              </a:lnSpc>
            </a:pPr>
            <a:r>
              <a:rPr lang="en-US" altLang="zh-CN" b="1" dirty="0">
                <a:ea typeface="楷体_GB2312" pitchFamily="49" charset="-122"/>
              </a:rPr>
              <a:t>}</a:t>
            </a:r>
            <a:r>
              <a:rPr lang="en-US" altLang="zh-CN" dirty="0">
                <a:ea typeface="楷体_GB2312" pitchFamily="49" charset="-122"/>
              </a:rPr>
              <a:t> // </a:t>
            </a:r>
            <a:r>
              <a:rPr lang="en-US" altLang="zh-CN" dirty="0" err="1">
                <a:ea typeface="楷体_GB2312" pitchFamily="49" charset="-122"/>
              </a:rPr>
              <a:t>QSort</a:t>
            </a:r>
            <a:endParaRPr lang="en-US" altLang="zh-CN" dirty="0">
              <a:ea typeface="楷体_GB2312" pitchFamily="49" charset="-122"/>
            </a:endParaRPr>
          </a:p>
        </p:txBody>
      </p:sp>
      <p:sp>
        <p:nvSpPr>
          <p:cNvPr id="61443" name="Rectangle 3"/>
          <p:cNvSpPr>
            <a:spLocks noChangeArrowheads="1"/>
          </p:cNvSpPr>
          <p:nvPr/>
        </p:nvSpPr>
        <p:spPr bwMode="auto">
          <a:xfrm>
            <a:off x="609600" y="2133600"/>
            <a:ext cx="5997575" cy="1419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20000"/>
              </a:lnSpc>
            </a:pPr>
            <a:r>
              <a:rPr lang="en-US" altLang="zh-CN" sz="3600" dirty="0">
                <a:ea typeface="楷体_GB2312" pitchFamily="49" charset="-122"/>
              </a:rPr>
              <a:t>  </a:t>
            </a:r>
            <a:r>
              <a:rPr lang="en-US" altLang="zh-CN" sz="3600" dirty="0" err="1">
                <a:ea typeface="楷体_GB2312" pitchFamily="49" charset="-122"/>
              </a:rPr>
              <a:t>pivotloc</a:t>
            </a:r>
            <a:r>
              <a:rPr lang="en-US" altLang="zh-CN" sz="3600" dirty="0">
                <a:ea typeface="楷体_GB2312" pitchFamily="49" charset="-122"/>
              </a:rPr>
              <a:t> = Partition(R, s, t);</a:t>
            </a:r>
          </a:p>
          <a:p>
            <a:pPr algn="l">
              <a:lnSpc>
                <a:spcPct val="120000"/>
              </a:lnSpc>
            </a:pPr>
            <a:r>
              <a:rPr lang="en-US" altLang="zh-CN" sz="3600" dirty="0">
                <a:ea typeface="楷体_GB2312" pitchFamily="49" charset="-122"/>
              </a:rPr>
              <a:t>                        </a:t>
            </a:r>
            <a:r>
              <a:rPr lang="en-US" altLang="zh-CN" sz="2800" b="1" dirty="0">
                <a:solidFill>
                  <a:srgbClr val="006600"/>
                </a:solidFill>
                <a:ea typeface="楷体_GB2312" pitchFamily="49" charset="-122"/>
              </a:rPr>
              <a:t>// </a:t>
            </a:r>
            <a:r>
              <a:rPr lang="en-US" altLang="zh-CN" b="1" dirty="0">
                <a:solidFill>
                  <a:srgbClr val="006600"/>
                </a:solidFill>
                <a:ea typeface="楷体_GB2312" pitchFamily="49" charset="-122"/>
                <a:sym typeface="+mn-ea"/>
              </a:rPr>
              <a:t>Divide R[s..t] once</a:t>
            </a:r>
            <a:endParaRPr lang="zh-CN" altLang="en-US" sz="2800" b="1" dirty="0">
              <a:solidFill>
                <a:srgbClr val="006600"/>
              </a:solidFill>
              <a:ea typeface="楷体_GB2312" pitchFamily="49" charset="-122"/>
            </a:endParaRPr>
          </a:p>
        </p:txBody>
      </p:sp>
      <p:sp>
        <p:nvSpPr>
          <p:cNvPr id="61444" name="Rectangle 4"/>
          <p:cNvSpPr>
            <a:spLocks noChangeArrowheads="1"/>
          </p:cNvSpPr>
          <p:nvPr/>
        </p:nvSpPr>
        <p:spPr bwMode="auto">
          <a:xfrm>
            <a:off x="609600" y="3429000"/>
            <a:ext cx="5594985" cy="2158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20000"/>
              </a:lnSpc>
            </a:pPr>
            <a:r>
              <a:rPr lang="en-US" altLang="zh-CN" sz="3600" dirty="0">
                <a:ea typeface="楷体_GB2312" pitchFamily="49" charset="-122"/>
              </a:rPr>
              <a:t>  </a:t>
            </a:r>
            <a:r>
              <a:rPr lang="en-US" altLang="zh-CN" dirty="0" err="1">
                <a:ea typeface="楷体_GB2312" pitchFamily="49" charset="-122"/>
              </a:rPr>
              <a:t>QSort</a:t>
            </a:r>
            <a:r>
              <a:rPr lang="en-US" altLang="zh-CN" dirty="0">
                <a:ea typeface="楷体_GB2312" pitchFamily="49" charset="-122"/>
              </a:rPr>
              <a:t>(R, s, pivotloc-1);</a:t>
            </a:r>
          </a:p>
          <a:p>
            <a:pPr algn="l">
              <a:lnSpc>
                <a:spcPct val="120000"/>
              </a:lnSpc>
            </a:pPr>
            <a:r>
              <a:rPr lang="en-US" altLang="zh-CN" sz="2400" b="1" dirty="0">
                <a:solidFill>
                  <a:srgbClr val="006600"/>
                </a:solidFill>
                <a:ea typeface="楷体_GB2312" pitchFamily="49" charset="-122"/>
              </a:rPr>
              <a:t>// </a:t>
            </a:r>
            <a:r>
              <a:rPr lang="en-US" altLang="zh-CN" sz="2400" b="1" dirty="0">
                <a:solidFill>
                  <a:srgbClr val="006600"/>
                </a:solidFill>
                <a:ea typeface="楷体_GB2312" pitchFamily="49" charset="-122"/>
                <a:sym typeface="+mn-ea"/>
              </a:rPr>
              <a:t>Recursively sort the lower subsequence,</a:t>
            </a:r>
          </a:p>
          <a:p>
            <a:pPr algn="l">
              <a:lnSpc>
                <a:spcPct val="120000"/>
              </a:lnSpc>
            </a:pPr>
            <a:r>
              <a:rPr lang="en-US" altLang="zh-CN" sz="2400" b="1" dirty="0">
                <a:solidFill>
                  <a:srgbClr val="006600"/>
                </a:solidFill>
                <a:ea typeface="楷体_GB2312" pitchFamily="49" charset="-122"/>
                <a:sym typeface="+mn-ea"/>
              </a:rPr>
              <a:t>// pivotloc is the pivot position</a:t>
            </a:r>
            <a:endParaRPr lang="zh-CN" altLang="en-US" b="1" dirty="0">
              <a:solidFill>
                <a:srgbClr val="006600"/>
              </a:solidFill>
              <a:ea typeface="楷体_GB2312" pitchFamily="49" charset="-122"/>
            </a:endParaRPr>
          </a:p>
          <a:p>
            <a:pPr>
              <a:lnSpc>
                <a:spcPct val="120000"/>
              </a:lnSpc>
            </a:pPr>
            <a:endParaRPr lang="zh-CN" altLang="en-US" sz="2800" b="1" dirty="0">
              <a:solidFill>
                <a:srgbClr val="006600"/>
              </a:solidFill>
              <a:ea typeface="楷体_GB2312" pitchFamily="49" charset="-122"/>
            </a:endParaRPr>
          </a:p>
        </p:txBody>
      </p:sp>
      <p:sp>
        <p:nvSpPr>
          <p:cNvPr id="61445" name="Rectangle 5"/>
          <p:cNvSpPr>
            <a:spLocks noChangeArrowheads="1"/>
          </p:cNvSpPr>
          <p:nvPr/>
        </p:nvSpPr>
        <p:spPr bwMode="auto">
          <a:xfrm>
            <a:off x="609600" y="4876800"/>
            <a:ext cx="8454390"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3600" dirty="0">
                <a:ea typeface="楷体_GB2312" pitchFamily="49" charset="-122"/>
              </a:rPr>
              <a:t>  </a:t>
            </a:r>
            <a:r>
              <a:rPr lang="en-US" altLang="zh-CN" dirty="0" err="1">
                <a:ea typeface="楷体_GB2312" pitchFamily="49" charset="-122"/>
              </a:rPr>
              <a:t>QSort</a:t>
            </a:r>
            <a:r>
              <a:rPr lang="en-US" altLang="zh-CN" dirty="0">
                <a:ea typeface="楷体_GB2312" pitchFamily="49" charset="-122"/>
              </a:rPr>
              <a:t>(R, pivotloc+1, t);</a:t>
            </a:r>
            <a:r>
              <a:rPr lang="en-US" altLang="zh-CN" sz="3600" dirty="0">
                <a:ea typeface="楷体_GB2312" pitchFamily="49" charset="-122"/>
              </a:rPr>
              <a:t> </a:t>
            </a:r>
            <a:r>
              <a:rPr lang="en-US" altLang="zh-CN" sz="2800" b="1" dirty="0">
                <a:solidFill>
                  <a:srgbClr val="006600"/>
                </a:solidFill>
                <a:ea typeface="楷体_GB2312" pitchFamily="49" charset="-122"/>
              </a:rPr>
              <a:t>// </a:t>
            </a:r>
            <a:r>
              <a:rPr lang="en-US" altLang="zh-CN" sz="2000" b="1" dirty="0">
                <a:solidFill>
                  <a:srgbClr val="006600"/>
                </a:solidFill>
                <a:ea typeface="楷体_GB2312" pitchFamily="49" charset="-122"/>
                <a:sym typeface="+mn-ea"/>
              </a:rPr>
              <a:t>Recursively sorts the high subsequence</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66</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61442"/>
                                        </p:tgtEl>
                                        <p:attrNameLst>
                                          <p:attrName>style.visibility</p:attrName>
                                        </p:attrNameLst>
                                      </p:cBhvr>
                                      <p:to>
                                        <p:strVal val="visible"/>
                                      </p:to>
                                    </p:set>
                                    <p:animEffect transition="in" filter="strips(downRight)">
                                      <p:cBhvr>
                                        <p:cTn id="7" dur="500"/>
                                        <p:tgtEl>
                                          <p:spTgt spid="61442"/>
                                        </p:tgtEl>
                                      </p:cBhvr>
                                    </p:animEffect>
                                  </p:childTnLst>
                                </p:cTn>
                              </p:par>
                            </p:childTnLst>
                          </p:cTn>
                        </p:par>
                        <p:par>
                          <p:cTn id="8" fill="hold">
                            <p:stCondLst>
                              <p:cond delay="500"/>
                            </p:stCondLst>
                            <p:childTnLst>
                              <p:par>
                                <p:cTn id="9" presetID="18" presetClass="entr" presetSubtype="6" fill="hold" grpId="0" nodeType="afterEffect">
                                  <p:stCondLst>
                                    <p:cond delay="0"/>
                                  </p:stCondLst>
                                  <p:childTnLst>
                                    <p:set>
                                      <p:cBhvr>
                                        <p:cTn id="10" dur="1" fill="hold">
                                          <p:stCondLst>
                                            <p:cond delay="0"/>
                                          </p:stCondLst>
                                        </p:cTn>
                                        <p:tgtEl>
                                          <p:spTgt spid="61443">
                                            <p:txEl>
                                              <p:pRg st="0" end="0"/>
                                            </p:txEl>
                                          </p:spTgt>
                                        </p:tgtEl>
                                        <p:attrNameLst>
                                          <p:attrName>style.visibility</p:attrName>
                                        </p:attrNameLst>
                                      </p:cBhvr>
                                      <p:to>
                                        <p:strVal val="visible"/>
                                      </p:to>
                                    </p:set>
                                    <p:animEffect transition="in" filter="strips(downRight)">
                                      <p:cBhvr>
                                        <p:cTn id="11" dur="500"/>
                                        <p:tgtEl>
                                          <p:spTgt spid="61443">
                                            <p:txEl>
                                              <p:pRg st="0" end="0"/>
                                            </p:txEl>
                                          </p:spTgt>
                                        </p:tgtEl>
                                      </p:cBhvr>
                                    </p:animEffect>
                                  </p:childTnLst>
                                </p:cTn>
                              </p:par>
                            </p:childTnLst>
                          </p:cTn>
                        </p:par>
                        <p:par>
                          <p:cTn id="12" fill="hold">
                            <p:stCondLst>
                              <p:cond delay="1000"/>
                            </p:stCondLst>
                            <p:childTnLst>
                              <p:par>
                                <p:cTn id="13" presetID="18" presetClass="entr" presetSubtype="6" fill="hold" grpId="0" nodeType="afterEffect">
                                  <p:stCondLst>
                                    <p:cond delay="0"/>
                                  </p:stCondLst>
                                  <p:childTnLst>
                                    <p:set>
                                      <p:cBhvr>
                                        <p:cTn id="14" dur="1" fill="hold">
                                          <p:stCondLst>
                                            <p:cond delay="0"/>
                                          </p:stCondLst>
                                        </p:cTn>
                                        <p:tgtEl>
                                          <p:spTgt spid="61443">
                                            <p:txEl>
                                              <p:pRg st="1" end="1"/>
                                            </p:txEl>
                                          </p:spTgt>
                                        </p:tgtEl>
                                        <p:attrNameLst>
                                          <p:attrName>style.visibility</p:attrName>
                                        </p:attrNameLst>
                                      </p:cBhvr>
                                      <p:to>
                                        <p:strVal val="visible"/>
                                      </p:to>
                                    </p:set>
                                    <p:animEffect transition="in" filter="strips(downRight)">
                                      <p:cBhvr>
                                        <p:cTn id="15" dur="500"/>
                                        <p:tgtEl>
                                          <p:spTgt spid="61443">
                                            <p:txEl>
                                              <p:pRg st="1" end="1"/>
                                            </p:txEl>
                                          </p:spTgt>
                                        </p:tgtEl>
                                      </p:cBhvr>
                                    </p:animEffect>
                                  </p:childTnLst>
                                </p:cTn>
                              </p:par>
                            </p:childTnLst>
                          </p:cTn>
                        </p:par>
                        <p:par>
                          <p:cTn id="16" fill="hold">
                            <p:stCondLst>
                              <p:cond delay="1500"/>
                            </p:stCondLst>
                            <p:childTnLst>
                              <p:par>
                                <p:cTn id="17" presetID="18" presetClass="entr" presetSubtype="6" fill="hold" grpId="0" nodeType="afterEffect">
                                  <p:stCondLst>
                                    <p:cond delay="0"/>
                                  </p:stCondLst>
                                  <p:childTnLst>
                                    <p:set>
                                      <p:cBhvr>
                                        <p:cTn id="18" dur="1" fill="hold">
                                          <p:stCondLst>
                                            <p:cond delay="0"/>
                                          </p:stCondLst>
                                        </p:cTn>
                                        <p:tgtEl>
                                          <p:spTgt spid="61444">
                                            <p:txEl>
                                              <p:pRg st="0" end="0"/>
                                            </p:txEl>
                                          </p:spTgt>
                                        </p:tgtEl>
                                        <p:attrNameLst>
                                          <p:attrName>style.visibility</p:attrName>
                                        </p:attrNameLst>
                                      </p:cBhvr>
                                      <p:to>
                                        <p:strVal val="visible"/>
                                      </p:to>
                                    </p:set>
                                    <p:animEffect transition="in" filter="strips(downRight)">
                                      <p:cBhvr>
                                        <p:cTn id="19" dur="500"/>
                                        <p:tgtEl>
                                          <p:spTgt spid="61444">
                                            <p:txEl>
                                              <p:pRg st="0" end="0"/>
                                            </p:txEl>
                                          </p:spTgt>
                                        </p:tgtEl>
                                      </p:cBhvr>
                                    </p:animEffect>
                                  </p:childTnLst>
                                </p:cTn>
                              </p:par>
                            </p:childTnLst>
                          </p:cTn>
                        </p:par>
                        <p:par>
                          <p:cTn id="20" fill="hold">
                            <p:stCondLst>
                              <p:cond delay="2000"/>
                            </p:stCondLst>
                            <p:childTnLst>
                              <p:par>
                                <p:cTn id="21" presetID="18" presetClass="entr" presetSubtype="6" fill="hold" grpId="0" nodeType="afterEffect">
                                  <p:stCondLst>
                                    <p:cond delay="0"/>
                                  </p:stCondLst>
                                  <p:childTnLst>
                                    <p:set>
                                      <p:cBhvr>
                                        <p:cTn id="22" dur="1" fill="hold">
                                          <p:stCondLst>
                                            <p:cond delay="0"/>
                                          </p:stCondLst>
                                        </p:cTn>
                                        <p:tgtEl>
                                          <p:spTgt spid="61444">
                                            <p:txEl>
                                              <p:pRg st="1" end="1"/>
                                            </p:txEl>
                                          </p:spTgt>
                                        </p:tgtEl>
                                        <p:attrNameLst>
                                          <p:attrName>style.visibility</p:attrName>
                                        </p:attrNameLst>
                                      </p:cBhvr>
                                      <p:to>
                                        <p:strVal val="visible"/>
                                      </p:to>
                                    </p:set>
                                    <p:animEffect transition="in" filter="strips(downRight)">
                                      <p:cBhvr>
                                        <p:cTn id="23" dur="500"/>
                                        <p:tgtEl>
                                          <p:spTgt spid="61444">
                                            <p:txEl>
                                              <p:pRg st="1" end="1"/>
                                            </p:txEl>
                                          </p:spTgt>
                                        </p:tgtEl>
                                      </p:cBhvr>
                                    </p:animEffect>
                                  </p:childTnLst>
                                </p:cTn>
                              </p:par>
                            </p:childTnLst>
                          </p:cTn>
                        </p:par>
                        <p:par>
                          <p:cTn id="24" fill="hold">
                            <p:stCondLst>
                              <p:cond delay="2500"/>
                            </p:stCondLst>
                            <p:childTnLst>
                              <p:par>
                                <p:cTn id="25" presetID="18" presetClass="entr" presetSubtype="6" fill="hold" grpId="0" nodeType="afterEffect">
                                  <p:stCondLst>
                                    <p:cond delay="0"/>
                                  </p:stCondLst>
                                  <p:childTnLst>
                                    <p:set>
                                      <p:cBhvr>
                                        <p:cTn id="26" dur="1" fill="hold">
                                          <p:stCondLst>
                                            <p:cond delay="0"/>
                                          </p:stCondLst>
                                        </p:cTn>
                                        <p:tgtEl>
                                          <p:spTgt spid="61444">
                                            <p:txEl>
                                              <p:pRg st="2" end="2"/>
                                            </p:txEl>
                                          </p:spTgt>
                                        </p:tgtEl>
                                        <p:attrNameLst>
                                          <p:attrName>style.visibility</p:attrName>
                                        </p:attrNameLst>
                                      </p:cBhvr>
                                      <p:to>
                                        <p:strVal val="visible"/>
                                      </p:to>
                                    </p:set>
                                    <p:animEffect transition="in" filter="strips(downRight)">
                                      <p:cBhvr>
                                        <p:cTn id="27" dur="500"/>
                                        <p:tgtEl>
                                          <p:spTgt spid="61444">
                                            <p:txEl>
                                              <p:pRg st="2" end="2"/>
                                            </p:txEl>
                                          </p:spTgt>
                                        </p:tgtEl>
                                      </p:cBhvr>
                                    </p:animEffect>
                                  </p:childTnLst>
                                </p:cTn>
                              </p:par>
                            </p:childTnLst>
                          </p:cTn>
                        </p:par>
                        <p:par>
                          <p:cTn id="28" fill="hold">
                            <p:stCondLst>
                              <p:cond delay="3000"/>
                            </p:stCondLst>
                            <p:childTnLst>
                              <p:par>
                                <p:cTn id="29" presetID="18" presetClass="entr" presetSubtype="6" fill="hold" grpId="0" nodeType="afterEffect">
                                  <p:stCondLst>
                                    <p:cond delay="0"/>
                                  </p:stCondLst>
                                  <p:childTnLst>
                                    <p:set>
                                      <p:cBhvr>
                                        <p:cTn id="30" dur="1" fill="hold">
                                          <p:stCondLst>
                                            <p:cond delay="0"/>
                                          </p:stCondLst>
                                        </p:cTn>
                                        <p:tgtEl>
                                          <p:spTgt spid="61445">
                                            <p:txEl>
                                              <p:pRg st="0" end="0"/>
                                            </p:txEl>
                                          </p:spTgt>
                                        </p:tgtEl>
                                        <p:attrNameLst>
                                          <p:attrName>style.visibility</p:attrName>
                                        </p:attrNameLst>
                                      </p:cBhvr>
                                      <p:to>
                                        <p:strVal val="visible"/>
                                      </p:to>
                                    </p:set>
                                    <p:animEffect transition="in" filter="strips(downRight)">
                                      <p:cBhvr>
                                        <p:cTn id="31" dur="500"/>
                                        <p:tgtEl>
                                          <p:spTgt spid="6144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2" grpId="0" bldLvl="0" animBg="1" autoUpdateAnimBg="0"/>
      <p:bldP spid="61443" grpId="0" build="p" autoUpdateAnimBg="0" advAuto="0"/>
      <p:bldP spid="61444" grpId="0" build="p" autoUpdateAnimBg="0" advAuto="0"/>
      <p:bldP spid="61445" grpId="0" build="p" autoUpdateAnimBg="0" advAuto="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ext Box 2"/>
          <p:cNvSpPr txBox="1">
            <a:spLocks noChangeArrowheads="1"/>
          </p:cNvSpPr>
          <p:nvPr/>
        </p:nvSpPr>
        <p:spPr bwMode="auto">
          <a:xfrm>
            <a:off x="685800" y="2460625"/>
            <a:ext cx="8117205" cy="3131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30000"/>
              </a:lnSpc>
            </a:pPr>
            <a:r>
              <a:rPr lang="en-US" altLang="zh-CN" sz="4000" b="1">
                <a:ea typeface="楷体_GB2312" pitchFamily="49" charset="-122"/>
              </a:rPr>
              <a:t>void</a:t>
            </a:r>
            <a:r>
              <a:rPr lang="en-US" altLang="zh-CN" sz="4000">
                <a:ea typeface="楷体_GB2312" pitchFamily="49" charset="-122"/>
              </a:rPr>
              <a:t> </a:t>
            </a:r>
            <a:r>
              <a:rPr lang="en-US" altLang="zh-CN" sz="3600">
                <a:ea typeface="楷体_GB2312" pitchFamily="49" charset="-122"/>
              </a:rPr>
              <a:t>QuickSort( SqList </a:t>
            </a:r>
            <a:r>
              <a:rPr lang="en-US" altLang="zh-CN" sz="3600" b="1">
                <a:ea typeface="楷体_GB2312" pitchFamily="49" charset="-122"/>
              </a:rPr>
              <a:t>&amp;</a:t>
            </a:r>
            <a:r>
              <a:rPr lang="en-US" altLang="zh-CN" sz="3600">
                <a:ea typeface="楷体_GB2312" pitchFamily="49" charset="-122"/>
              </a:rPr>
              <a:t> L) </a:t>
            </a:r>
            <a:r>
              <a:rPr lang="en-US" altLang="zh-CN" sz="3600" b="1">
                <a:ea typeface="楷体_GB2312" pitchFamily="49" charset="-122"/>
              </a:rPr>
              <a:t>{</a:t>
            </a:r>
            <a:endParaRPr lang="en-US" altLang="zh-CN" sz="3600">
              <a:ea typeface="楷体_GB2312" pitchFamily="49" charset="-122"/>
            </a:endParaRPr>
          </a:p>
          <a:p>
            <a:pPr algn="l">
              <a:lnSpc>
                <a:spcPct val="130000"/>
              </a:lnSpc>
            </a:pPr>
            <a:r>
              <a:rPr lang="en-US" altLang="zh-CN" sz="4000">
                <a:ea typeface="楷体_GB2312" pitchFamily="49" charset="-122"/>
              </a:rPr>
              <a:t>                           </a:t>
            </a:r>
            <a:r>
              <a:rPr lang="en-US" altLang="zh-CN" sz="2800" b="1">
                <a:solidFill>
                  <a:srgbClr val="006600"/>
                </a:solidFill>
                <a:ea typeface="楷体_GB2312" pitchFamily="49" charset="-122"/>
              </a:rPr>
              <a:t>//</a:t>
            </a:r>
            <a:r>
              <a:rPr lang="en-US" altLang="zh-CN" b="1">
                <a:solidFill>
                  <a:srgbClr val="006600"/>
                </a:solidFill>
                <a:ea typeface="楷体_GB2312" pitchFamily="49" charset="-122"/>
                <a:sym typeface="+mn-ea"/>
              </a:rPr>
              <a:t>Sort a sequential list quickly</a:t>
            </a:r>
            <a:endParaRPr lang="zh-CN" altLang="en-US" sz="2800" b="1">
              <a:solidFill>
                <a:srgbClr val="006600"/>
              </a:solidFill>
              <a:ea typeface="楷体_GB2312" pitchFamily="49" charset="-122"/>
            </a:endParaRPr>
          </a:p>
          <a:p>
            <a:pPr algn="l">
              <a:lnSpc>
                <a:spcPct val="130000"/>
              </a:lnSpc>
            </a:pPr>
            <a:r>
              <a:rPr lang="zh-CN" altLang="en-US" sz="3600">
                <a:ea typeface="楷体_GB2312" pitchFamily="49" charset="-122"/>
              </a:rPr>
              <a:t>     </a:t>
            </a:r>
            <a:r>
              <a:rPr lang="en-US" altLang="zh-CN" sz="3600">
                <a:ea typeface="楷体_GB2312" pitchFamily="49" charset="-122"/>
              </a:rPr>
              <a:t>QSort(L.r, 1, L.length);</a:t>
            </a:r>
          </a:p>
          <a:p>
            <a:pPr algn="l">
              <a:lnSpc>
                <a:spcPct val="130000"/>
              </a:lnSpc>
            </a:pPr>
            <a:r>
              <a:rPr lang="en-US" altLang="zh-CN" sz="3600" b="1">
                <a:ea typeface="楷体_GB2312" pitchFamily="49" charset="-122"/>
              </a:rPr>
              <a:t>}</a:t>
            </a:r>
            <a:r>
              <a:rPr lang="en-US" altLang="zh-CN" sz="3600">
                <a:ea typeface="楷体_GB2312" pitchFamily="49" charset="-122"/>
              </a:rPr>
              <a:t> // QuickSort</a:t>
            </a:r>
          </a:p>
        </p:txBody>
      </p:sp>
      <p:sp>
        <p:nvSpPr>
          <p:cNvPr id="62467" name="Text Box 3"/>
          <p:cNvSpPr txBox="1">
            <a:spLocks noChangeArrowheads="1"/>
          </p:cNvSpPr>
          <p:nvPr/>
        </p:nvSpPr>
        <p:spPr bwMode="auto">
          <a:xfrm>
            <a:off x="395605" y="405130"/>
            <a:ext cx="8321675" cy="1706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zh-CN" altLang="en-US">
                <a:latin typeface="Arial" panose="020B0604020202020204" pitchFamily="34" charset="0"/>
                <a:ea typeface="楷体_GB2312" pitchFamily="49" charset="-122"/>
                <a:cs typeface="Arial" panose="020B0604020202020204" pitchFamily="34" charset="0"/>
                <a:sym typeface="+mn-ea"/>
              </a:rPr>
              <a:t>When the function Qsort is called for the first time, the upper and lower bounds of the sequence to be sorted are 1 and L.length, respectively.</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67</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62467"/>
                                        </p:tgtEl>
                                        <p:attrNameLst>
                                          <p:attrName>style.visibility</p:attrName>
                                        </p:attrNameLst>
                                      </p:cBhvr>
                                      <p:to>
                                        <p:strVal val="visible"/>
                                      </p:to>
                                    </p:set>
                                    <p:animEffect transition="in" filter="strips(downRight)">
                                      <p:cBhvr>
                                        <p:cTn id="7" dur="500"/>
                                        <p:tgtEl>
                                          <p:spTgt spid="62467"/>
                                        </p:tgtEl>
                                      </p:cBhvr>
                                    </p:animEffect>
                                  </p:childTnLst>
                                </p:cTn>
                              </p:par>
                            </p:childTnLst>
                          </p:cTn>
                        </p:par>
                        <p:par>
                          <p:cTn id="8" fill="hold">
                            <p:stCondLst>
                              <p:cond delay="500"/>
                            </p:stCondLst>
                            <p:childTnLst>
                              <p:par>
                                <p:cTn id="9" presetID="18" presetClass="entr" presetSubtype="6" fill="hold" grpId="0" nodeType="afterEffect">
                                  <p:stCondLst>
                                    <p:cond delay="0"/>
                                  </p:stCondLst>
                                  <p:childTnLst>
                                    <p:set>
                                      <p:cBhvr>
                                        <p:cTn id="10" dur="1" fill="hold">
                                          <p:stCondLst>
                                            <p:cond delay="0"/>
                                          </p:stCondLst>
                                        </p:cTn>
                                        <p:tgtEl>
                                          <p:spTgt spid="62466">
                                            <p:txEl>
                                              <p:pRg st="0" end="0"/>
                                            </p:txEl>
                                          </p:spTgt>
                                        </p:tgtEl>
                                        <p:attrNameLst>
                                          <p:attrName>style.visibility</p:attrName>
                                        </p:attrNameLst>
                                      </p:cBhvr>
                                      <p:to>
                                        <p:strVal val="visible"/>
                                      </p:to>
                                    </p:set>
                                    <p:animEffect transition="in" filter="strips(downRight)">
                                      <p:cBhvr>
                                        <p:cTn id="11" dur="500"/>
                                        <p:tgtEl>
                                          <p:spTgt spid="62466">
                                            <p:txEl>
                                              <p:pRg st="0" end="0"/>
                                            </p:txEl>
                                          </p:spTgt>
                                        </p:tgtEl>
                                      </p:cBhvr>
                                    </p:animEffect>
                                  </p:childTnLst>
                                </p:cTn>
                              </p:par>
                            </p:childTnLst>
                          </p:cTn>
                        </p:par>
                        <p:par>
                          <p:cTn id="12" fill="hold">
                            <p:stCondLst>
                              <p:cond delay="1000"/>
                            </p:stCondLst>
                            <p:childTnLst>
                              <p:par>
                                <p:cTn id="13" presetID="18" presetClass="entr" presetSubtype="6" fill="hold" grpId="0" nodeType="afterEffect">
                                  <p:stCondLst>
                                    <p:cond delay="0"/>
                                  </p:stCondLst>
                                  <p:childTnLst>
                                    <p:set>
                                      <p:cBhvr>
                                        <p:cTn id="14" dur="1" fill="hold">
                                          <p:stCondLst>
                                            <p:cond delay="0"/>
                                          </p:stCondLst>
                                        </p:cTn>
                                        <p:tgtEl>
                                          <p:spTgt spid="62466">
                                            <p:txEl>
                                              <p:pRg st="1" end="1"/>
                                            </p:txEl>
                                          </p:spTgt>
                                        </p:tgtEl>
                                        <p:attrNameLst>
                                          <p:attrName>style.visibility</p:attrName>
                                        </p:attrNameLst>
                                      </p:cBhvr>
                                      <p:to>
                                        <p:strVal val="visible"/>
                                      </p:to>
                                    </p:set>
                                    <p:animEffect transition="in" filter="strips(downRight)">
                                      <p:cBhvr>
                                        <p:cTn id="15" dur="500"/>
                                        <p:tgtEl>
                                          <p:spTgt spid="62466">
                                            <p:txEl>
                                              <p:pRg st="1" end="1"/>
                                            </p:txEl>
                                          </p:spTgt>
                                        </p:tgtEl>
                                      </p:cBhvr>
                                    </p:animEffect>
                                  </p:childTnLst>
                                </p:cTn>
                              </p:par>
                            </p:childTnLst>
                          </p:cTn>
                        </p:par>
                        <p:par>
                          <p:cTn id="16" fill="hold">
                            <p:stCondLst>
                              <p:cond delay="1500"/>
                            </p:stCondLst>
                            <p:childTnLst>
                              <p:par>
                                <p:cTn id="17" presetID="18" presetClass="entr" presetSubtype="6" fill="hold" grpId="0" nodeType="afterEffect">
                                  <p:stCondLst>
                                    <p:cond delay="0"/>
                                  </p:stCondLst>
                                  <p:childTnLst>
                                    <p:set>
                                      <p:cBhvr>
                                        <p:cTn id="18" dur="1" fill="hold">
                                          <p:stCondLst>
                                            <p:cond delay="0"/>
                                          </p:stCondLst>
                                        </p:cTn>
                                        <p:tgtEl>
                                          <p:spTgt spid="62466">
                                            <p:txEl>
                                              <p:pRg st="2" end="2"/>
                                            </p:txEl>
                                          </p:spTgt>
                                        </p:tgtEl>
                                        <p:attrNameLst>
                                          <p:attrName>style.visibility</p:attrName>
                                        </p:attrNameLst>
                                      </p:cBhvr>
                                      <p:to>
                                        <p:strVal val="visible"/>
                                      </p:to>
                                    </p:set>
                                    <p:animEffect transition="in" filter="strips(downRight)">
                                      <p:cBhvr>
                                        <p:cTn id="19" dur="500"/>
                                        <p:tgtEl>
                                          <p:spTgt spid="62466">
                                            <p:txEl>
                                              <p:pRg st="2" end="2"/>
                                            </p:txEl>
                                          </p:spTgt>
                                        </p:tgtEl>
                                      </p:cBhvr>
                                    </p:animEffect>
                                  </p:childTnLst>
                                </p:cTn>
                              </p:par>
                            </p:childTnLst>
                          </p:cTn>
                        </p:par>
                        <p:par>
                          <p:cTn id="20" fill="hold">
                            <p:stCondLst>
                              <p:cond delay="2000"/>
                            </p:stCondLst>
                            <p:childTnLst>
                              <p:par>
                                <p:cTn id="21" presetID="18" presetClass="entr" presetSubtype="6" fill="hold" grpId="0" nodeType="afterEffect">
                                  <p:stCondLst>
                                    <p:cond delay="0"/>
                                  </p:stCondLst>
                                  <p:childTnLst>
                                    <p:set>
                                      <p:cBhvr>
                                        <p:cTn id="22" dur="1" fill="hold">
                                          <p:stCondLst>
                                            <p:cond delay="0"/>
                                          </p:stCondLst>
                                        </p:cTn>
                                        <p:tgtEl>
                                          <p:spTgt spid="62466">
                                            <p:txEl>
                                              <p:pRg st="3" end="3"/>
                                            </p:txEl>
                                          </p:spTgt>
                                        </p:tgtEl>
                                        <p:attrNameLst>
                                          <p:attrName>style.visibility</p:attrName>
                                        </p:attrNameLst>
                                      </p:cBhvr>
                                      <p:to>
                                        <p:strVal val="visible"/>
                                      </p:to>
                                    </p:set>
                                    <p:animEffect transition="in" filter="strips(downRight)">
                                      <p:cBhvr>
                                        <p:cTn id="23" dur="500"/>
                                        <p:tgtEl>
                                          <p:spTgt spid="6246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6" grpId="0" build="p" autoUpdateAnimBg="0" advAuto="0"/>
      <p:bldP spid="62467" grpId="0" bldLvl="0" animBg="1"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2"/>
          <p:cNvSpPr txBox="1">
            <a:spLocks noChangeArrowheads="1"/>
          </p:cNvSpPr>
          <p:nvPr/>
        </p:nvSpPr>
        <p:spPr bwMode="auto">
          <a:xfrm>
            <a:off x="609600" y="365125"/>
            <a:ext cx="6735445"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a:latin typeface="Arial" panose="020B0604020202020204" pitchFamily="34" charset="0"/>
                <a:ea typeface="楷体_GB2312" pitchFamily="49" charset="-122"/>
                <a:cs typeface="Arial" panose="020B0604020202020204" pitchFamily="34" charset="0"/>
              </a:rPr>
              <a:t>4. Time Analysis of Quick Sort</a:t>
            </a:r>
          </a:p>
        </p:txBody>
      </p:sp>
      <p:sp>
        <p:nvSpPr>
          <p:cNvPr id="64515" name="Text Box 3"/>
          <p:cNvSpPr txBox="1">
            <a:spLocks noChangeArrowheads="1"/>
          </p:cNvSpPr>
          <p:nvPr/>
        </p:nvSpPr>
        <p:spPr bwMode="auto">
          <a:xfrm>
            <a:off x="533400" y="1125220"/>
            <a:ext cx="8382000" cy="1706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zh-CN" altLang="en-US">
                <a:latin typeface="Arial" panose="020B0604020202020204" pitchFamily="34" charset="0"/>
                <a:ea typeface="楷体_GB2312" pitchFamily="49" charset="-122"/>
                <a:cs typeface="Arial" panose="020B0604020202020204" pitchFamily="34" charset="0"/>
              </a:rPr>
              <a:t>Assuming the </a:t>
            </a:r>
            <a:r>
              <a:rPr lang="zh-CN" altLang="en-US">
                <a:solidFill>
                  <a:srgbClr val="0000FF"/>
                </a:solidFill>
                <a:latin typeface="Arial" panose="020B0604020202020204" pitchFamily="34" charset="0"/>
                <a:ea typeface="楷体_GB2312" pitchFamily="49" charset="-122"/>
                <a:cs typeface="Arial" panose="020B0604020202020204" pitchFamily="34" charset="0"/>
              </a:rPr>
              <a:t>pivot position i=k obtained from a single partition</a:t>
            </a:r>
            <a:r>
              <a:rPr lang="zh-CN" altLang="en-US">
                <a:latin typeface="Arial" panose="020B0604020202020204" pitchFamily="34" charset="0"/>
                <a:ea typeface="楷体_GB2312" pitchFamily="49" charset="-122"/>
                <a:cs typeface="Arial" panose="020B0604020202020204" pitchFamily="34" charset="0"/>
              </a:rPr>
              <a:t>, the time required for quicksort on n records is:</a:t>
            </a:r>
            <a:endParaRPr lang="zh-CN" altLang="en-US" b="1">
              <a:solidFill>
                <a:srgbClr val="000080"/>
              </a:solidFill>
              <a:latin typeface="Arial" panose="020B0604020202020204" pitchFamily="34" charset="0"/>
              <a:ea typeface="楷体_GB2312" pitchFamily="49" charset="-122"/>
              <a:cs typeface="Arial" panose="020B0604020202020204" pitchFamily="34" charset="0"/>
            </a:endParaRPr>
          </a:p>
        </p:txBody>
      </p:sp>
      <p:sp>
        <p:nvSpPr>
          <p:cNvPr id="64516" name="Rectangle 4"/>
          <p:cNvSpPr>
            <a:spLocks noChangeArrowheads="1"/>
          </p:cNvSpPr>
          <p:nvPr/>
        </p:nvSpPr>
        <p:spPr bwMode="auto">
          <a:xfrm>
            <a:off x="457200" y="3565525"/>
            <a:ext cx="8458200" cy="116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en-US" altLang="zh-CN" b="1">
                <a:solidFill>
                  <a:schemeClr val="tx1">
                    <a:lumMod val="95000"/>
                    <a:lumOff val="5000"/>
                  </a:schemeClr>
                </a:solidFill>
                <a:latin typeface="Arial" panose="020B0604020202020204" pitchFamily="34" charset="0"/>
                <a:ea typeface="楷体_GB2312" pitchFamily="49" charset="-122"/>
                <a:cs typeface="Arial" panose="020B0604020202020204" pitchFamily="34" charset="0"/>
                <a:sym typeface="+mn-ea"/>
              </a:rPr>
              <a:t>T</a:t>
            </a:r>
            <a:r>
              <a:rPr lang="en-US" altLang="zh-CN" b="1" baseline="-25000">
                <a:solidFill>
                  <a:schemeClr val="tx1">
                    <a:lumMod val="95000"/>
                    <a:lumOff val="5000"/>
                  </a:schemeClr>
                </a:solidFill>
                <a:latin typeface="Arial" panose="020B0604020202020204" pitchFamily="34" charset="0"/>
                <a:ea typeface="楷体_GB2312" pitchFamily="49" charset="-122"/>
                <a:cs typeface="Arial" panose="020B0604020202020204" pitchFamily="34" charset="0"/>
                <a:sym typeface="+mn-ea"/>
              </a:rPr>
              <a:t>pass</a:t>
            </a:r>
            <a:r>
              <a:rPr lang="en-US" altLang="zh-CN" b="1">
                <a:solidFill>
                  <a:schemeClr val="tx1">
                    <a:lumMod val="95000"/>
                    <a:lumOff val="5000"/>
                  </a:schemeClr>
                </a:solidFill>
                <a:latin typeface="Arial" panose="020B0604020202020204" pitchFamily="34" charset="0"/>
                <a:ea typeface="楷体_GB2312" pitchFamily="49" charset="-122"/>
                <a:cs typeface="Arial" panose="020B0604020202020204" pitchFamily="34" charset="0"/>
                <a:sym typeface="+mn-ea"/>
              </a:rPr>
              <a:t>(</a:t>
            </a:r>
            <a:r>
              <a:rPr lang="en-US" altLang="zh-CN" b="1" i="1">
                <a:solidFill>
                  <a:schemeClr val="tx1">
                    <a:lumMod val="95000"/>
                    <a:lumOff val="5000"/>
                  </a:schemeClr>
                </a:solidFill>
                <a:latin typeface="Arial" panose="020B0604020202020204" pitchFamily="34" charset="0"/>
                <a:ea typeface="楷体_GB2312" pitchFamily="49" charset="-122"/>
                <a:cs typeface="Arial" panose="020B0604020202020204" pitchFamily="34" charset="0"/>
                <a:sym typeface="+mn-ea"/>
              </a:rPr>
              <a:t>n</a:t>
            </a:r>
            <a:r>
              <a:rPr lang="en-US" altLang="zh-CN" b="1">
                <a:solidFill>
                  <a:schemeClr val="tx1">
                    <a:lumMod val="95000"/>
                    <a:lumOff val="5000"/>
                  </a:schemeClr>
                </a:solidFill>
                <a:latin typeface="Arial" panose="020B0604020202020204" pitchFamily="34" charset="0"/>
                <a:ea typeface="楷体_GB2312" pitchFamily="49" charset="-122"/>
                <a:cs typeface="Arial" panose="020B0604020202020204" pitchFamily="34" charset="0"/>
                <a:sym typeface="+mn-ea"/>
              </a:rPr>
              <a:t>)</a:t>
            </a:r>
            <a:r>
              <a:rPr lang="zh-CN" altLang="en-US">
                <a:latin typeface="Arial" panose="020B0604020202020204" pitchFamily="34" charset="0"/>
                <a:ea typeface="楷体_GB2312" pitchFamily="49" charset="-122"/>
                <a:cs typeface="Arial" panose="020B0604020202020204" pitchFamily="34" charset="0"/>
              </a:rPr>
              <a:t> denotes the time required to partition n records.</a:t>
            </a:r>
          </a:p>
        </p:txBody>
      </p:sp>
      <p:sp>
        <p:nvSpPr>
          <p:cNvPr id="64517" name="Rectangle 5"/>
          <p:cNvSpPr>
            <a:spLocks noChangeArrowheads="1"/>
          </p:cNvSpPr>
          <p:nvPr/>
        </p:nvSpPr>
        <p:spPr bwMode="auto">
          <a:xfrm>
            <a:off x="467360" y="4581525"/>
            <a:ext cx="8382000" cy="1706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zh-CN" altLang="en-US">
                <a:latin typeface="Arial" panose="020B0604020202020204" pitchFamily="34" charset="0"/>
                <a:ea typeface="楷体_GB2312" pitchFamily="49" charset="-122"/>
                <a:cs typeface="Arial" panose="020B0604020202020204" pitchFamily="34" charset="0"/>
              </a:rPr>
              <a:t>If the records in the sorted column have randomly distributed keywords, </a:t>
            </a:r>
            <a:r>
              <a:rPr lang="en-US" altLang="zh-CN" b="1" i="1">
                <a:solidFill>
                  <a:srgbClr val="0000FF"/>
                </a:solidFill>
                <a:latin typeface="Arial" panose="020B0604020202020204" pitchFamily="34" charset="0"/>
                <a:ea typeface="楷体_GB2312" pitchFamily="49" charset="-122"/>
                <a:cs typeface="Arial" panose="020B0604020202020204" pitchFamily="34" charset="0"/>
              </a:rPr>
              <a:t>the probability of k being any value from 1 to n is equal.</a:t>
            </a:r>
            <a:endParaRPr lang="zh-CN" altLang="en-US">
              <a:latin typeface="Arial" panose="020B0604020202020204" pitchFamily="34" charset="0"/>
              <a:ea typeface="楷体_GB2312" pitchFamily="49" charset="-122"/>
              <a:cs typeface="Arial" panose="020B0604020202020204" pitchFamily="34" charset="0"/>
            </a:endParaRPr>
          </a:p>
        </p:txBody>
      </p:sp>
      <p:sp>
        <p:nvSpPr>
          <p:cNvPr id="64518" name="Rectangle 6"/>
          <p:cNvSpPr>
            <a:spLocks noChangeArrowheads="1"/>
          </p:cNvSpPr>
          <p:nvPr/>
        </p:nvSpPr>
        <p:spPr bwMode="auto">
          <a:xfrm>
            <a:off x="1835468" y="2831783"/>
            <a:ext cx="4984115" cy="629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25000"/>
              </a:lnSpc>
            </a:pPr>
            <a:r>
              <a:rPr lang="en-US" altLang="zh-CN" b="1">
                <a:solidFill>
                  <a:srgbClr val="000080"/>
                </a:solidFill>
                <a:ea typeface="楷体_GB2312" pitchFamily="49" charset="-122"/>
                <a:sym typeface="+mn-ea"/>
              </a:rPr>
              <a:t>T(</a:t>
            </a:r>
            <a:r>
              <a:rPr lang="en-US" altLang="zh-CN" b="1" i="1">
                <a:solidFill>
                  <a:srgbClr val="000080"/>
                </a:solidFill>
                <a:ea typeface="楷体_GB2312" pitchFamily="49" charset="-122"/>
                <a:sym typeface="+mn-ea"/>
              </a:rPr>
              <a:t>n</a:t>
            </a:r>
            <a:r>
              <a:rPr lang="en-US" altLang="zh-CN" b="1">
                <a:solidFill>
                  <a:srgbClr val="000080"/>
                </a:solidFill>
                <a:ea typeface="楷体_GB2312" pitchFamily="49" charset="-122"/>
                <a:sym typeface="+mn-ea"/>
              </a:rPr>
              <a:t>) = T</a:t>
            </a:r>
            <a:r>
              <a:rPr lang="en-US" altLang="zh-CN" b="1" baseline="-25000">
                <a:solidFill>
                  <a:srgbClr val="000080"/>
                </a:solidFill>
                <a:ea typeface="楷体_GB2312" pitchFamily="49" charset="-122"/>
                <a:sym typeface="+mn-ea"/>
              </a:rPr>
              <a:t>pass</a:t>
            </a:r>
            <a:r>
              <a:rPr lang="en-US" altLang="zh-CN" b="1">
                <a:solidFill>
                  <a:srgbClr val="000080"/>
                </a:solidFill>
                <a:ea typeface="楷体_GB2312" pitchFamily="49" charset="-122"/>
                <a:sym typeface="+mn-ea"/>
              </a:rPr>
              <a:t>(</a:t>
            </a:r>
            <a:r>
              <a:rPr lang="en-US" altLang="zh-CN" b="1" i="1">
                <a:solidFill>
                  <a:srgbClr val="000080"/>
                </a:solidFill>
                <a:ea typeface="楷体_GB2312" pitchFamily="49" charset="-122"/>
                <a:sym typeface="+mn-ea"/>
              </a:rPr>
              <a:t>n</a:t>
            </a:r>
            <a:r>
              <a:rPr lang="en-US" altLang="zh-CN" b="1">
                <a:solidFill>
                  <a:srgbClr val="000080"/>
                </a:solidFill>
                <a:ea typeface="楷体_GB2312" pitchFamily="49" charset="-122"/>
                <a:sym typeface="+mn-ea"/>
              </a:rPr>
              <a:t>) + T(</a:t>
            </a:r>
            <a:r>
              <a:rPr lang="en-US" altLang="zh-CN" b="1" i="1">
                <a:solidFill>
                  <a:srgbClr val="000080"/>
                </a:solidFill>
                <a:ea typeface="楷体_GB2312" pitchFamily="49" charset="-122"/>
                <a:sym typeface="+mn-ea"/>
              </a:rPr>
              <a:t>k-1</a:t>
            </a:r>
            <a:r>
              <a:rPr lang="en-US" altLang="zh-CN" b="1">
                <a:solidFill>
                  <a:srgbClr val="000080"/>
                </a:solidFill>
                <a:ea typeface="楷体_GB2312" pitchFamily="49" charset="-122"/>
                <a:sym typeface="+mn-ea"/>
              </a:rPr>
              <a:t>) + T(</a:t>
            </a:r>
            <a:r>
              <a:rPr lang="en-US" altLang="zh-CN" b="1" i="1">
                <a:solidFill>
                  <a:srgbClr val="000080"/>
                </a:solidFill>
                <a:ea typeface="楷体_GB2312" pitchFamily="49" charset="-122"/>
                <a:sym typeface="+mn-ea"/>
              </a:rPr>
              <a:t>n-k</a:t>
            </a:r>
            <a:r>
              <a:rPr lang="en-US" altLang="zh-CN" b="1">
                <a:solidFill>
                  <a:srgbClr val="000080"/>
                </a:solidFill>
                <a:ea typeface="楷体_GB2312" pitchFamily="49" charset="-122"/>
                <a:sym typeface="+mn-ea"/>
              </a:rPr>
              <a:t>)</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68</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64514"/>
                                        </p:tgtEl>
                                        <p:attrNameLst>
                                          <p:attrName>style.visibility</p:attrName>
                                        </p:attrNameLst>
                                      </p:cBhvr>
                                      <p:to>
                                        <p:strVal val="visible"/>
                                      </p:to>
                                    </p:set>
                                    <p:animEffect transition="in" filter="dissolve">
                                      <p:cBhvr>
                                        <p:cTn id="7" dur="500"/>
                                        <p:tgtEl>
                                          <p:spTgt spid="64514"/>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64515"/>
                                        </p:tgtEl>
                                        <p:attrNameLst>
                                          <p:attrName>style.visibility</p:attrName>
                                        </p:attrNameLst>
                                      </p:cBhvr>
                                      <p:to>
                                        <p:strVal val="visible"/>
                                      </p:to>
                                    </p:set>
                                    <p:animEffect transition="in" filter="strips(downRight)">
                                      <p:cBhvr>
                                        <p:cTn id="12" dur="500"/>
                                        <p:tgtEl>
                                          <p:spTgt spid="64515"/>
                                        </p:tgtEl>
                                      </p:cBhvr>
                                    </p:animEffect>
                                  </p:childTnLst>
                                </p:cTn>
                              </p:par>
                            </p:childTnLst>
                          </p:cTn>
                        </p:par>
                        <p:par>
                          <p:cTn id="13" fill="hold">
                            <p:stCondLst>
                              <p:cond delay="500"/>
                            </p:stCondLst>
                            <p:childTnLst>
                              <p:par>
                                <p:cTn id="14" presetID="18" presetClass="entr" presetSubtype="6" fill="hold" grpId="0" nodeType="afterEffect">
                                  <p:stCondLst>
                                    <p:cond delay="0"/>
                                  </p:stCondLst>
                                  <p:childTnLst>
                                    <p:set>
                                      <p:cBhvr>
                                        <p:cTn id="15" dur="1" fill="hold">
                                          <p:stCondLst>
                                            <p:cond delay="0"/>
                                          </p:stCondLst>
                                        </p:cTn>
                                        <p:tgtEl>
                                          <p:spTgt spid="64518"/>
                                        </p:tgtEl>
                                        <p:attrNameLst>
                                          <p:attrName>style.visibility</p:attrName>
                                        </p:attrNameLst>
                                      </p:cBhvr>
                                      <p:to>
                                        <p:strVal val="visible"/>
                                      </p:to>
                                    </p:set>
                                    <p:animEffect transition="in" filter="strips(downRight)">
                                      <p:cBhvr>
                                        <p:cTn id="16" dur="500"/>
                                        <p:tgtEl>
                                          <p:spTgt spid="64518"/>
                                        </p:tgtEl>
                                      </p:cBhvr>
                                    </p:animEffect>
                                  </p:childTnLst>
                                </p:cTn>
                              </p:par>
                            </p:childTnLst>
                          </p:cTn>
                        </p:par>
                      </p:childTnLst>
                    </p:cTn>
                  </p:par>
                  <p:par>
                    <p:cTn id="17" fill="hold">
                      <p:stCondLst>
                        <p:cond delay="indefinite"/>
                      </p:stCondLst>
                      <p:childTnLst>
                        <p:par>
                          <p:cTn id="18" fill="hold">
                            <p:stCondLst>
                              <p:cond delay="0"/>
                            </p:stCondLst>
                            <p:childTnLst>
                              <p:par>
                                <p:cTn id="19" presetID="18" presetClass="entr" presetSubtype="6" fill="hold" grpId="0" nodeType="clickEffect">
                                  <p:stCondLst>
                                    <p:cond delay="0"/>
                                  </p:stCondLst>
                                  <p:childTnLst>
                                    <p:set>
                                      <p:cBhvr>
                                        <p:cTn id="20" dur="1" fill="hold">
                                          <p:stCondLst>
                                            <p:cond delay="0"/>
                                          </p:stCondLst>
                                        </p:cTn>
                                        <p:tgtEl>
                                          <p:spTgt spid="64516"/>
                                        </p:tgtEl>
                                        <p:attrNameLst>
                                          <p:attrName>style.visibility</p:attrName>
                                        </p:attrNameLst>
                                      </p:cBhvr>
                                      <p:to>
                                        <p:strVal val="visible"/>
                                      </p:to>
                                    </p:set>
                                    <p:animEffect transition="in" filter="strips(downRight)">
                                      <p:cBhvr>
                                        <p:cTn id="21" dur="500"/>
                                        <p:tgtEl>
                                          <p:spTgt spid="64516"/>
                                        </p:tgtEl>
                                      </p:cBhvr>
                                    </p:animEffect>
                                  </p:childTnLst>
                                </p:cTn>
                              </p:par>
                            </p:childTnLst>
                          </p:cTn>
                        </p:par>
                        <p:par>
                          <p:cTn id="22" fill="hold">
                            <p:stCondLst>
                              <p:cond delay="500"/>
                            </p:stCondLst>
                            <p:childTnLst>
                              <p:par>
                                <p:cTn id="23" presetID="18" presetClass="entr" presetSubtype="6" fill="hold" grpId="0" nodeType="afterEffect">
                                  <p:stCondLst>
                                    <p:cond delay="0"/>
                                  </p:stCondLst>
                                  <p:childTnLst>
                                    <p:set>
                                      <p:cBhvr>
                                        <p:cTn id="24" dur="1" fill="hold">
                                          <p:stCondLst>
                                            <p:cond delay="0"/>
                                          </p:stCondLst>
                                        </p:cTn>
                                        <p:tgtEl>
                                          <p:spTgt spid="64517"/>
                                        </p:tgtEl>
                                        <p:attrNameLst>
                                          <p:attrName>style.visibility</p:attrName>
                                        </p:attrNameLst>
                                      </p:cBhvr>
                                      <p:to>
                                        <p:strVal val="visible"/>
                                      </p:to>
                                    </p:set>
                                    <p:animEffect transition="in" filter="strips(downRight)">
                                      <p:cBhvr>
                                        <p:cTn id="25" dur="500"/>
                                        <p:tgtEl>
                                          <p:spTgt spid="645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4" grpId="0" bldLvl="0" animBg="1" autoUpdateAnimBg="0"/>
      <p:bldP spid="64515" grpId="0" bldLvl="0" animBg="1" autoUpdateAnimBg="0"/>
      <p:bldP spid="64516" grpId="0" bldLvl="0" animBg="1" autoUpdateAnimBg="0"/>
      <p:bldP spid="64517" grpId="0" bldLvl="0" animBg="1" autoUpdateAnimBg="0"/>
      <p:bldP spid="64518" grpId="0" bldLvl="0" animBg="1"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5538" name="Object 2"/>
          <p:cNvGraphicFramePr>
            <a:graphicFrameLocks noChangeAspect="1"/>
          </p:cNvGraphicFramePr>
          <p:nvPr/>
        </p:nvGraphicFramePr>
        <p:xfrm>
          <a:off x="609600" y="1143000"/>
          <a:ext cx="7924800" cy="1277938"/>
        </p:xfrm>
        <a:graphic>
          <a:graphicData uri="http://schemas.openxmlformats.org/presentationml/2006/ole">
            <mc:AlternateContent xmlns:mc="http://schemas.openxmlformats.org/markup-compatibility/2006">
              <mc:Choice xmlns:v="urn:schemas-microsoft-com:vml" Requires="v">
                <p:oleObj spid="_x0000_s27652" name="公式" r:id="rId3" imgW="5334000" imgH="863600" progId="Equation.3">
                  <p:embed/>
                </p:oleObj>
              </mc:Choice>
              <mc:Fallback>
                <p:oleObj name="公式" r:id="rId3" imgW="5334000" imgH="8636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1143000"/>
                        <a:ext cx="7924800" cy="1277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5539" name="Text Box 3"/>
          <p:cNvSpPr txBox="1">
            <a:spLocks noChangeArrowheads="1"/>
          </p:cNvSpPr>
          <p:nvPr/>
        </p:nvSpPr>
        <p:spPr bwMode="auto">
          <a:xfrm>
            <a:off x="582613" y="2590800"/>
            <a:ext cx="277431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latin typeface="Arial" panose="020B0604020202020204" pitchFamily="34" charset="0"/>
                <a:ea typeface="楷体_GB2312" pitchFamily="49" charset="-122"/>
                <a:cs typeface="Arial" panose="020B0604020202020204" pitchFamily="34" charset="0"/>
              </a:rPr>
              <a:t>Let T avg (1) ≤ b</a:t>
            </a:r>
          </a:p>
        </p:txBody>
      </p:sp>
      <p:sp>
        <p:nvSpPr>
          <p:cNvPr id="65540" name="Text Box 4"/>
          <p:cNvSpPr txBox="1">
            <a:spLocks noChangeArrowheads="1"/>
          </p:cNvSpPr>
          <p:nvPr/>
        </p:nvSpPr>
        <p:spPr bwMode="auto">
          <a:xfrm>
            <a:off x="603250" y="3476625"/>
            <a:ext cx="367919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latin typeface="Arial" panose="020B0604020202020204" pitchFamily="34" charset="0"/>
                <a:ea typeface="楷体_GB2312" pitchFamily="49" charset="-122"/>
                <a:cs typeface="Arial" panose="020B0604020202020204" pitchFamily="34" charset="0"/>
              </a:rPr>
              <a:t>The result is obtained:</a:t>
            </a:r>
          </a:p>
        </p:txBody>
      </p:sp>
      <p:graphicFrame>
        <p:nvGraphicFramePr>
          <p:cNvPr id="65541" name="Object 5"/>
          <p:cNvGraphicFramePr>
            <a:graphicFrameLocks noChangeAspect="1"/>
          </p:cNvGraphicFramePr>
          <p:nvPr/>
        </p:nvGraphicFramePr>
        <p:xfrm>
          <a:off x="1524000" y="4191000"/>
          <a:ext cx="6096000" cy="1192213"/>
        </p:xfrm>
        <a:graphic>
          <a:graphicData uri="http://schemas.openxmlformats.org/presentationml/2006/ole">
            <mc:AlternateContent xmlns:mc="http://schemas.openxmlformats.org/markup-compatibility/2006">
              <mc:Choice xmlns:v="urn:schemas-microsoft-com:vml" Requires="v">
                <p:oleObj spid="_x0000_s27653" name="公式" r:id="rId5" imgW="4013200" imgH="787400" progId="Equation.3">
                  <p:embed/>
                </p:oleObj>
              </mc:Choice>
              <mc:Fallback>
                <p:oleObj name="公式" r:id="rId5" imgW="4013200" imgH="7874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0" y="4191000"/>
                        <a:ext cx="6096000" cy="119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5542" name="Text Box 6"/>
          <p:cNvSpPr txBox="1">
            <a:spLocks noChangeArrowheads="1"/>
          </p:cNvSpPr>
          <p:nvPr/>
        </p:nvSpPr>
        <p:spPr bwMode="auto">
          <a:xfrm>
            <a:off x="654050" y="5301615"/>
            <a:ext cx="8743950" cy="953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b="1">
                <a:latin typeface="Arial" panose="020B0604020202020204" pitchFamily="34" charset="0"/>
                <a:ea typeface="楷体_GB2312" pitchFamily="49" charset="-122"/>
                <a:cs typeface="Arial" panose="020B0604020202020204" pitchFamily="34" charset="0"/>
              </a:rPr>
              <a:t>Conclusion: The time complexity of quick sort is </a:t>
            </a:r>
            <a:r>
              <a:rPr lang="en-US" altLang="zh-CN" b="1">
                <a:ea typeface="楷体_GB2312" pitchFamily="49" charset="-122"/>
                <a:sym typeface="+mn-ea"/>
              </a:rPr>
              <a:t>O(nlogn)</a:t>
            </a:r>
            <a:r>
              <a:rPr lang="zh-CN" altLang="en-US" b="1">
                <a:latin typeface="Arial" panose="020B0604020202020204" pitchFamily="34" charset="0"/>
                <a:ea typeface="楷体_GB2312" pitchFamily="49" charset="-122"/>
                <a:cs typeface="Arial" panose="020B0604020202020204" pitchFamily="34" charset="0"/>
              </a:rPr>
              <a:t>.</a:t>
            </a:r>
          </a:p>
        </p:txBody>
      </p:sp>
      <p:sp>
        <p:nvSpPr>
          <p:cNvPr id="65543" name="Rectangle 7"/>
          <p:cNvSpPr>
            <a:spLocks noChangeArrowheads="1"/>
          </p:cNvSpPr>
          <p:nvPr/>
        </p:nvSpPr>
        <p:spPr bwMode="auto">
          <a:xfrm>
            <a:off x="609600" y="304800"/>
            <a:ext cx="7708265" cy="629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5000"/>
              </a:lnSpc>
            </a:pPr>
            <a:r>
              <a:rPr lang="zh-CN" altLang="en-US" dirty="0">
                <a:latin typeface="Arial" panose="020B0604020202020204" pitchFamily="34" charset="0"/>
                <a:ea typeface="楷体_GB2312" pitchFamily="49" charset="-122"/>
                <a:cs typeface="Arial" panose="020B0604020202020204" pitchFamily="34" charset="0"/>
              </a:rPr>
              <a:t>Thus, the average time required for quicksort is:</a:t>
            </a:r>
          </a:p>
        </p:txBody>
      </p:sp>
      <p:sp>
        <p:nvSpPr>
          <p:cNvPr id="4" name="页脚占位符 3"/>
          <p:cNvSpPr>
            <a:spLocks noGrp="1"/>
          </p:cNvSpPr>
          <p:nvPr>
            <p:ph type="ftr" sz="quarter" idx="10"/>
          </p:nvPr>
        </p:nvSpPr>
        <p:spPr/>
        <p:txBody>
          <a:bodyPr/>
          <a:lstStyle/>
          <a:p>
            <a:pPr>
              <a:defRPr/>
            </a:pPr>
            <a:r>
              <a:rPr lang="en-US" altLang="zh-CN"/>
              <a:t>@ Zhihai Wang,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t>69</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5543"/>
                                        </p:tgtEl>
                                        <p:attrNameLst>
                                          <p:attrName>style.visibility</p:attrName>
                                        </p:attrNameLst>
                                      </p:cBhvr>
                                      <p:to>
                                        <p:strVal val="visible"/>
                                      </p:to>
                                    </p:set>
                                    <p:animEffect transition="in" filter="wipe(left)">
                                      <p:cBhvr>
                                        <p:cTn id="7" dur="500"/>
                                        <p:tgtEl>
                                          <p:spTgt spid="6554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5538"/>
                                        </p:tgtEl>
                                        <p:attrNameLst>
                                          <p:attrName>style.visibility</p:attrName>
                                        </p:attrNameLst>
                                      </p:cBhvr>
                                      <p:to>
                                        <p:strVal val="visible"/>
                                      </p:to>
                                    </p:set>
                                    <p:animEffect transition="in" filter="wipe(left)">
                                      <p:cBhvr>
                                        <p:cTn id="12" dur="500"/>
                                        <p:tgtEl>
                                          <p:spTgt spid="6553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5539"/>
                                        </p:tgtEl>
                                        <p:attrNameLst>
                                          <p:attrName>style.visibility</p:attrName>
                                        </p:attrNameLst>
                                      </p:cBhvr>
                                      <p:to>
                                        <p:strVal val="visible"/>
                                      </p:to>
                                    </p:set>
                                    <p:animEffect transition="in" filter="wipe(left)">
                                      <p:cBhvr>
                                        <p:cTn id="17" dur="500"/>
                                        <p:tgtEl>
                                          <p:spTgt spid="6553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5540"/>
                                        </p:tgtEl>
                                        <p:attrNameLst>
                                          <p:attrName>style.visibility</p:attrName>
                                        </p:attrNameLst>
                                      </p:cBhvr>
                                      <p:to>
                                        <p:strVal val="visible"/>
                                      </p:to>
                                    </p:set>
                                    <p:animEffect transition="in" filter="wipe(left)">
                                      <p:cBhvr>
                                        <p:cTn id="22" dur="500"/>
                                        <p:tgtEl>
                                          <p:spTgt spid="6554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5541"/>
                                        </p:tgtEl>
                                        <p:attrNameLst>
                                          <p:attrName>style.visibility</p:attrName>
                                        </p:attrNameLst>
                                      </p:cBhvr>
                                      <p:to>
                                        <p:strVal val="visible"/>
                                      </p:to>
                                    </p:set>
                                    <p:animEffect transition="in" filter="wipe(left)">
                                      <p:cBhvr>
                                        <p:cTn id="27" dur="500"/>
                                        <p:tgtEl>
                                          <p:spTgt spid="6554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5542"/>
                                        </p:tgtEl>
                                        <p:attrNameLst>
                                          <p:attrName>style.visibility</p:attrName>
                                        </p:attrNameLst>
                                      </p:cBhvr>
                                      <p:to>
                                        <p:strVal val="visible"/>
                                      </p:to>
                                    </p:set>
                                    <p:animEffect transition="in" filter="wipe(left)">
                                      <p:cBhvr>
                                        <p:cTn id="32" dur="500"/>
                                        <p:tgtEl>
                                          <p:spTgt spid="655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 grpId="0" bldLvl="0" animBg="1" autoUpdateAnimBg="0"/>
      <p:bldP spid="65540" grpId="0" bldLvl="0" animBg="1" autoUpdateAnimBg="0"/>
      <p:bldP spid="65542" grpId="0" bldLvl="0" animBg="1" autoUpdateAnimBg="0"/>
      <p:bldP spid="65543" grpId="0" bldLvl="0" animBg="1"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2"/>
          <p:cNvSpPr txBox="1">
            <a:spLocks noChangeArrowheads="1"/>
          </p:cNvSpPr>
          <p:nvPr/>
        </p:nvSpPr>
        <p:spPr bwMode="auto">
          <a:xfrm>
            <a:off x="304800" y="548640"/>
            <a:ext cx="8702675" cy="1706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zh-CN" altLang="en-US" b="1">
                <a:solidFill>
                  <a:srgbClr val="993300"/>
                </a:solidFill>
                <a:latin typeface="Arial" panose="020B0604020202020204" pitchFamily="34" charset="0"/>
                <a:ea typeface="楷体_GB2312" pitchFamily="49" charset="-122"/>
                <a:cs typeface="Arial" panose="020B0604020202020204" pitchFamily="34" charset="0"/>
              </a:rPr>
              <a:t>If the initial state of the queue is ordered by key, the quick sort will degenerate into bubble sort, and </a:t>
            </a:r>
            <a:r>
              <a:rPr lang="zh-CN" altLang="en-US">
                <a:latin typeface="Arial" panose="020B0604020202020204" pitchFamily="34" charset="0"/>
                <a:ea typeface="楷体_GB2312" pitchFamily="49" charset="-122"/>
                <a:cs typeface="Arial" panose="020B0604020202020204" pitchFamily="34" charset="0"/>
              </a:rPr>
              <a:t>its time complexity is O(n²).</a:t>
            </a:r>
          </a:p>
        </p:txBody>
      </p:sp>
      <p:sp>
        <p:nvSpPr>
          <p:cNvPr id="66563" name="Text Box 3"/>
          <p:cNvSpPr txBox="1">
            <a:spLocks noChangeArrowheads="1"/>
          </p:cNvSpPr>
          <p:nvPr/>
        </p:nvSpPr>
        <p:spPr bwMode="auto">
          <a:xfrm>
            <a:off x="304800" y="2438400"/>
            <a:ext cx="8839200" cy="1038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zh-CN" altLang="en-US" dirty="0">
                <a:latin typeface="Arial" panose="020B0604020202020204" pitchFamily="34" charset="0"/>
                <a:ea typeface="楷体_GB2312" pitchFamily="49" charset="-122"/>
                <a:cs typeface="Arial" panose="020B0604020202020204" pitchFamily="34" charset="0"/>
              </a:rPr>
              <a:t>To prevent this from happening, </a:t>
            </a:r>
            <a:r>
              <a:rPr lang="zh-CN" altLang="en-US" dirty="0">
                <a:solidFill>
                  <a:srgbClr val="FF0000"/>
                </a:solidFill>
                <a:latin typeface="Arial" panose="020B0604020202020204" pitchFamily="34" charset="0"/>
                <a:ea typeface="楷体_GB2312" pitchFamily="49" charset="-122"/>
                <a:cs typeface="Arial" panose="020B0604020202020204" pitchFamily="34" charset="0"/>
              </a:rPr>
              <a:t>perform a "pre-process" before any division</a:t>
            </a:r>
            <a:r>
              <a:rPr lang="zh-CN" altLang="en-US" dirty="0">
                <a:latin typeface="Arial" panose="020B0604020202020204" pitchFamily="34" charset="0"/>
                <a:ea typeface="楷体_GB2312" pitchFamily="49" charset="-122"/>
                <a:cs typeface="Arial" panose="020B0604020202020204" pitchFamily="34" charset="0"/>
              </a:rPr>
              <a:t>:</a:t>
            </a:r>
          </a:p>
        </p:txBody>
      </p:sp>
      <p:sp>
        <p:nvSpPr>
          <p:cNvPr id="66564" name="Rectangle 4"/>
          <p:cNvSpPr>
            <a:spLocks noChangeArrowheads="1"/>
          </p:cNvSpPr>
          <p:nvPr/>
        </p:nvSpPr>
        <p:spPr bwMode="auto">
          <a:xfrm>
            <a:off x="323215" y="3660140"/>
            <a:ext cx="8839200" cy="1512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zh-CN" altLang="en-US" dirty="0">
                <a:latin typeface="Arial" panose="020B0604020202020204" pitchFamily="34" charset="0"/>
                <a:ea typeface="楷体_GB2312" pitchFamily="49" charset="-122"/>
                <a:cs typeface="Arial" panose="020B0604020202020204" pitchFamily="34" charset="0"/>
              </a:rPr>
              <a:t>First, compare R(s).key, R(t).key and </a:t>
            </a:r>
            <a:r>
              <a:rPr lang="en-US" altLang="zh-CN" dirty="0">
                <a:latin typeface="Arial" panose="020B0604020202020204" pitchFamily="34" charset="0"/>
                <a:ea typeface="楷体_GB2312" pitchFamily="49" charset="-122"/>
                <a:cs typeface="Arial" panose="020B0604020202020204" pitchFamily="34" charset="0"/>
                <a:sym typeface="+mn-ea"/>
              </a:rPr>
              <a:t>R[</a:t>
            </a:r>
            <a:r>
              <a:rPr lang="en-US" altLang="zh-CN" dirty="0">
                <a:latin typeface="Arial" panose="020B0604020202020204" pitchFamily="34" charset="0"/>
                <a:ea typeface="楷体_GB2312" pitchFamily="49" charset="-122"/>
                <a:cs typeface="Arial" panose="020B0604020202020204" pitchFamily="34" charset="0"/>
                <a:sym typeface="Symbol" panose="05050102010706020507" pitchFamily="18" charset="2"/>
              </a:rPr>
              <a:t></a:t>
            </a:r>
            <a:r>
              <a:rPr lang="en-US" altLang="zh-CN" dirty="0">
                <a:latin typeface="Arial" panose="020B0604020202020204" pitchFamily="34" charset="0"/>
                <a:ea typeface="楷体_GB2312" pitchFamily="49" charset="-122"/>
                <a:cs typeface="Arial" panose="020B0604020202020204" pitchFamily="34" charset="0"/>
                <a:sym typeface="+mn-ea"/>
              </a:rPr>
              <a:t>(</a:t>
            </a:r>
            <a:r>
              <a:rPr lang="en-US" altLang="zh-CN" dirty="0" err="1">
                <a:latin typeface="Arial" panose="020B0604020202020204" pitchFamily="34" charset="0"/>
                <a:ea typeface="楷体_GB2312" pitchFamily="49" charset="-122"/>
                <a:cs typeface="Arial" panose="020B0604020202020204" pitchFamily="34" charset="0"/>
                <a:sym typeface="+mn-ea"/>
              </a:rPr>
              <a:t>s+t</a:t>
            </a:r>
            <a:r>
              <a:rPr lang="en-US" altLang="zh-CN" dirty="0">
                <a:latin typeface="Arial" panose="020B0604020202020204" pitchFamily="34" charset="0"/>
                <a:ea typeface="楷体_GB2312" pitchFamily="49" charset="-122"/>
                <a:cs typeface="Arial" panose="020B0604020202020204" pitchFamily="34" charset="0"/>
                <a:sym typeface="+mn-ea"/>
              </a:rPr>
              <a:t>)/2</a:t>
            </a:r>
            <a:r>
              <a:rPr lang="en-US" altLang="zh-CN" dirty="0">
                <a:latin typeface="Arial" panose="020B0604020202020204" pitchFamily="34" charset="0"/>
                <a:ea typeface="楷体_GB2312" pitchFamily="49" charset="-122"/>
                <a:cs typeface="Arial" panose="020B0604020202020204" pitchFamily="34" charset="0"/>
                <a:sym typeface="Symbol" panose="05050102010706020507" pitchFamily="18" charset="2"/>
              </a:rPr>
              <a:t>]</a:t>
            </a:r>
            <a:r>
              <a:rPr lang="en-US" altLang="zh-CN" dirty="0">
                <a:latin typeface="Arial" panose="020B0604020202020204" pitchFamily="34" charset="0"/>
                <a:ea typeface="楷体_GB2312" pitchFamily="49" charset="-122"/>
                <a:cs typeface="Arial" panose="020B0604020202020204" pitchFamily="34" charset="0"/>
                <a:sym typeface="+mn-ea"/>
              </a:rPr>
              <a:t>.key</a:t>
            </a:r>
            <a:r>
              <a:rPr lang="zh-CN" altLang="en-US" dirty="0">
                <a:latin typeface="Arial" panose="020B0604020202020204" pitchFamily="34" charset="0"/>
                <a:ea typeface="楷体_GB2312" pitchFamily="49" charset="-122"/>
                <a:cs typeface="Arial" panose="020B0604020202020204" pitchFamily="34" charset="0"/>
              </a:rPr>
              <a:t>, and then</a:t>
            </a:r>
            <a:r>
              <a:rPr lang="zh-CN" altLang="en-US" b="1" dirty="0">
                <a:solidFill>
                  <a:schemeClr val="accent2"/>
                </a:solidFill>
                <a:latin typeface="Arial" panose="020B0604020202020204" pitchFamily="34" charset="0"/>
                <a:ea typeface="楷体_GB2312" pitchFamily="49" charset="-122"/>
                <a:cs typeface="Arial" panose="020B0604020202020204" pitchFamily="34" charset="0"/>
              </a:rPr>
              <a:t> take </a:t>
            </a:r>
            <a:r>
              <a:rPr lang="zh-CN" altLang="en-US" dirty="0">
                <a:latin typeface="Arial" panose="020B0604020202020204" pitchFamily="34" charset="0"/>
                <a:ea typeface="楷体_GB2312" pitchFamily="49" charset="-122"/>
                <a:cs typeface="Arial" panose="020B0604020202020204" pitchFamily="34" charset="0"/>
              </a:rPr>
              <a:t>the key as</a:t>
            </a:r>
            <a:r>
              <a:rPr lang="en-US" altLang="zh-CN" dirty="0">
                <a:latin typeface="Arial" panose="020B0604020202020204" pitchFamily="34" charset="0"/>
                <a:ea typeface="楷体_GB2312" pitchFamily="49" charset="-122"/>
                <a:cs typeface="Arial" panose="020B0604020202020204" pitchFamily="34" charset="0"/>
              </a:rPr>
              <a:t> </a:t>
            </a:r>
            <a:r>
              <a:rPr lang="en-US" altLang="zh-CN" dirty="0">
                <a:solidFill>
                  <a:srgbClr val="FF0000"/>
                </a:solidFill>
                <a:latin typeface="Arial" panose="020B0604020202020204" pitchFamily="34" charset="0"/>
                <a:ea typeface="楷体_GB2312" pitchFamily="49" charset="-122"/>
                <a:cs typeface="Arial" panose="020B0604020202020204" pitchFamily="34" charset="0"/>
              </a:rPr>
              <a:t>t</a:t>
            </a:r>
            <a:r>
              <a:rPr lang="zh-CN" altLang="en-US" dirty="0">
                <a:solidFill>
                  <a:srgbClr val="FF0000"/>
                </a:solidFill>
                <a:latin typeface="Arial" panose="020B0604020202020204" pitchFamily="34" charset="0"/>
                <a:ea typeface="楷体_GB2312" pitchFamily="49" charset="-122"/>
                <a:cs typeface="Arial" panose="020B0604020202020204" pitchFamily="34" charset="0"/>
              </a:rPr>
              <a:t>he record of "the three" is the </a:t>
            </a:r>
            <a:r>
              <a:rPr lang="zh-CN" altLang="en-US" b="1" dirty="0">
                <a:solidFill>
                  <a:schemeClr val="accent2"/>
                </a:solidFill>
                <a:latin typeface="Arial" panose="020B0604020202020204" pitchFamily="34" charset="0"/>
                <a:ea typeface="楷体_GB2312" pitchFamily="49" charset="-122"/>
                <a:cs typeface="Arial" panose="020B0604020202020204" pitchFamily="34" charset="0"/>
              </a:rPr>
              <a:t>pivot record.</a:t>
            </a:r>
            <a:endParaRPr lang="zh-CN" altLang="en-US" dirty="0">
              <a:latin typeface="Arial" panose="020B0604020202020204" pitchFamily="34" charset="0"/>
              <a:ea typeface="楷体_GB2312" pitchFamily="49" charset="-122"/>
              <a:cs typeface="Arial" panose="020B0604020202020204" pitchFamily="34" charset="0"/>
            </a:endParaRP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70</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66562"/>
                                        </p:tgtEl>
                                        <p:attrNameLst>
                                          <p:attrName>style.visibility</p:attrName>
                                        </p:attrNameLst>
                                      </p:cBhvr>
                                      <p:to>
                                        <p:strVal val="visible"/>
                                      </p:to>
                                    </p:set>
                                    <p:animEffect transition="in" filter="strips(downRight)">
                                      <p:cBhvr>
                                        <p:cTn id="7" dur="500"/>
                                        <p:tgtEl>
                                          <p:spTgt spid="6656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66563"/>
                                        </p:tgtEl>
                                        <p:attrNameLst>
                                          <p:attrName>style.visibility</p:attrName>
                                        </p:attrNameLst>
                                      </p:cBhvr>
                                      <p:to>
                                        <p:strVal val="visible"/>
                                      </p:to>
                                    </p:set>
                                    <p:animEffect transition="in" filter="strips(downRight)">
                                      <p:cBhvr>
                                        <p:cTn id="12" dur="500"/>
                                        <p:tgtEl>
                                          <p:spTgt spid="6656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6564"/>
                                        </p:tgtEl>
                                        <p:attrNameLst>
                                          <p:attrName>style.visibility</p:attrName>
                                        </p:attrNameLst>
                                      </p:cBhvr>
                                      <p:to>
                                        <p:strVal val="visible"/>
                                      </p:to>
                                    </p:set>
                                    <p:animEffect transition="in" filter="wipe(left)">
                                      <p:cBhvr>
                                        <p:cTn id="17" dur="500"/>
                                        <p:tgtEl>
                                          <p:spTgt spid="665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2" grpId="0" bldLvl="0" animBg="1" autoUpdateAnimBg="0"/>
      <p:bldP spid="66563" grpId="0" bldLvl="0" animBg="1" autoUpdateAnimBg="0"/>
      <p:bldP spid="66564" grpId="0" bldLvl="0" animBg="1"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0" y="116632"/>
            <a:ext cx="7200800" cy="720080"/>
          </a:xfrm>
        </p:spPr>
        <p:txBody>
          <a:bodyPr/>
          <a:lstStyle/>
          <a:p>
            <a:r>
              <a:rPr altLang="zh-CN">
                <a:effectLst/>
                <a:sym typeface="+mn-ea"/>
              </a:rPr>
              <a:t>Chapter Contents</a:t>
            </a:r>
            <a:endParaRPr lang="zh-CN" altLang="en-US" dirty="0">
              <a:ea typeface="宋体" panose="02010600030101010101" pitchFamily="2" charset="-122"/>
              <a:cs typeface="Arial" panose="020B0604020202020204" pitchFamily="34" charset="0"/>
            </a:endParaRPr>
          </a:p>
        </p:txBody>
      </p:sp>
      <p:sp>
        <p:nvSpPr>
          <p:cNvPr id="3" name="内容占位符 2"/>
          <p:cNvSpPr>
            <a:spLocks noGrp="1"/>
          </p:cNvSpPr>
          <p:nvPr>
            <p:ph idx="1"/>
          </p:nvPr>
        </p:nvSpPr>
        <p:spPr>
          <a:xfrm>
            <a:off x="20320" y="836930"/>
            <a:ext cx="9123680" cy="5544820"/>
          </a:xfrm>
        </p:spPr>
        <p:txBody>
          <a:bodyPr/>
          <a:lstStyle/>
          <a:p>
            <a:pPr>
              <a:lnSpc>
                <a:spcPct val="100000"/>
              </a:lnSpc>
            </a:pPr>
            <a:r>
              <a:rPr lang="en-US" altLang="zh-CN" sz="2800" b="1" dirty="0">
                <a:cs typeface="Arial" panose="020B0604020202020204" pitchFamily="34" charset="0"/>
              </a:rPr>
              <a:t>Insertion Sort</a:t>
            </a:r>
          </a:p>
          <a:p>
            <a:pPr>
              <a:lnSpc>
                <a:spcPct val="100000"/>
              </a:lnSpc>
            </a:pPr>
            <a:r>
              <a:rPr lang="en-US" altLang="zh-CN" sz="2800" b="1" dirty="0">
                <a:cs typeface="Arial" panose="020B0604020202020204" pitchFamily="34" charset="0"/>
              </a:rPr>
              <a:t>Exchange Sort </a:t>
            </a:r>
            <a:r>
              <a:rPr lang="zh-CN" altLang="en-US" sz="2800" b="1" dirty="0">
                <a:solidFill>
                  <a:srgbClr val="FF0000"/>
                </a:solidFill>
                <a:cs typeface="Arial" panose="020B0604020202020204" pitchFamily="34" charset="0"/>
              </a:rPr>
              <a:t> </a:t>
            </a:r>
          </a:p>
          <a:p>
            <a:pPr>
              <a:lnSpc>
                <a:spcPct val="100000"/>
              </a:lnSpc>
            </a:pPr>
            <a:r>
              <a:rPr lang="zh-CN" altLang="en-US" sz="2800" b="1" dirty="0">
                <a:solidFill>
                  <a:srgbClr val="FF0000"/>
                </a:solidFill>
                <a:cs typeface="Arial" panose="020B0604020202020204" pitchFamily="34" charset="0"/>
              </a:rPr>
              <a:t>Selection Sort </a:t>
            </a:r>
            <a:r>
              <a:rPr lang="en-US" altLang="zh-CN" sz="2800" b="1" dirty="0">
                <a:cs typeface="Arial" panose="020B0604020202020204" pitchFamily="34" charset="0"/>
              </a:rPr>
              <a:t> </a:t>
            </a:r>
          </a:p>
          <a:p>
            <a:pPr lvl="1">
              <a:lnSpc>
                <a:spcPct val="100000"/>
              </a:lnSpc>
            </a:pPr>
            <a:r>
              <a:rPr lang="en-US" altLang="zh-CN" sz="2800" b="1" dirty="0">
                <a:cs typeface="Arial" panose="020B0604020202020204" pitchFamily="34" charset="0"/>
                <a:sym typeface="+mn-ea"/>
              </a:rPr>
              <a:t>Bubble Sort</a:t>
            </a:r>
            <a:endParaRPr lang="en-US" altLang="zh-CN" sz="2800" b="1" dirty="0">
              <a:cs typeface="Arial" panose="020B0604020202020204" pitchFamily="34" charset="0"/>
            </a:endParaRPr>
          </a:p>
          <a:p>
            <a:pPr lvl="1">
              <a:lnSpc>
                <a:spcPct val="100000"/>
              </a:lnSpc>
            </a:pPr>
            <a:r>
              <a:rPr lang="en-US" altLang="zh-CN" sz="2800" b="1" dirty="0">
                <a:cs typeface="Arial" panose="020B0604020202020204" pitchFamily="34" charset="0"/>
                <a:sym typeface="+mn-ea"/>
              </a:rPr>
              <a:t>One-Pass Quick Sort</a:t>
            </a:r>
            <a:endParaRPr lang="en-US" altLang="zh-CN" sz="2800" b="1" dirty="0">
              <a:cs typeface="Arial" panose="020B0604020202020204" pitchFamily="34" charset="0"/>
            </a:endParaRPr>
          </a:p>
          <a:p>
            <a:pPr lvl="1">
              <a:lnSpc>
                <a:spcPct val="100000"/>
              </a:lnSpc>
            </a:pPr>
            <a:r>
              <a:rPr lang="en-US" altLang="zh-CN" sz="2800" b="1" dirty="0">
                <a:cs typeface="Arial" panose="020B0604020202020204" pitchFamily="34" charset="0"/>
                <a:sym typeface="+mn-ea"/>
              </a:rPr>
              <a:t>Quick Sort and Its Analysis</a:t>
            </a:r>
            <a:endParaRPr lang="en-US" altLang="zh-CN" sz="2800" b="1" dirty="0">
              <a:cs typeface="Arial" panose="020B0604020202020204" pitchFamily="34" charset="0"/>
            </a:endParaRPr>
          </a:p>
          <a:p>
            <a:pPr>
              <a:lnSpc>
                <a:spcPct val="100000"/>
              </a:lnSpc>
            </a:pPr>
            <a:r>
              <a:rPr lang="en-US" altLang="zh-CN" sz="2800" dirty="0">
                <a:cs typeface="Arial" panose="020B0604020202020204" pitchFamily="34" charset="0"/>
              </a:rPr>
              <a:t>M</a:t>
            </a:r>
            <a:r>
              <a:rPr lang="zh-CN" altLang="en-US" sz="2800" dirty="0">
                <a:cs typeface="Arial" panose="020B0604020202020204" pitchFamily="34" charset="0"/>
              </a:rPr>
              <a:t>erge </a:t>
            </a:r>
            <a:r>
              <a:rPr lang="en-US" altLang="zh-CN" sz="2800" dirty="0">
                <a:cs typeface="Arial" panose="020B0604020202020204" pitchFamily="34" charset="0"/>
              </a:rPr>
              <a:t>S</a:t>
            </a:r>
            <a:r>
              <a:rPr lang="zh-CN" altLang="en-US" sz="2800" dirty="0">
                <a:cs typeface="Arial" panose="020B0604020202020204" pitchFamily="34" charset="0"/>
              </a:rPr>
              <a:t>ort</a:t>
            </a:r>
            <a:endParaRPr lang="en-US" altLang="zh-CN" sz="2800" dirty="0">
              <a:cs typeface="Arial" panose="020B0604020202020204" pitchFamily="34" charset="0"/>
            </a:endParaRPr>
          </a:p>
          <a:p>
            <a:pPr>
              <a:lnSpc>
                <a:spcPct val="100000"/>
              </a:lnSpc>
            </a:pPr>
            <a:r>
              <a:rPr lang="en-US" altLang="zh-CN" sz="2800" dirty="0">
                <a:cs typeface="Arial" panose="020B0604020202020204" pitchFamily="34" charset="0"/>
              </a:rPr>
              <a:t>R</a:t>
            </a:r>
            <a:r>
              <a:rPr lang="zh-CN" altLang="en-US" sz="2800" dirty="0">
                <a:cs typeface="Arial" panose="020B0604020202020204" pitchFamily="34" charset="0"/>
              </a:rPr>
              <a:t>adix </a:t>
            </a:r>
            <a:r>
              <a:rPr lang="en-US" altLang="zh-CN" sz="2800" dirty="0">
                <a:cs typeface="Arial" panose="020B0604020202020204" pitchFamily="34" charset="0"/>
              </a:rPr>
              <a:t>S</a:t>
            </a:r>
            <a:r>
              <a:rPr lang="zh-CN" altLang="en-US" sz="2800" dirty="0">
                <a:cs typeface="Arial" panose="020B0604020202020204" pitchFamily="34" charset="0"/>
              </a:rPr>
              <a:t>orting</a:t>
            </a:r>
            <a:endParaRPr lang="en-US" altLang="zh-CN" sz="2800" dirty="0">
              <a:cs typeface="Arial" panose="020B0604020202020204" pitchFamily="34" charset="0"/>
            </a:endParaRPr>
          </a:p>
          <a:p>
            <a:pPr>
              <a:lnSpc>
                <a:spcPct val="100000"/>
              </a:lnSpc>
            </a:pPr>
            <a:r>
              <a:rPr lang="zh-CN" altLang="en-US" sz="2800" dirty="0">
                <a:cs typeface="Arial" panose="020B0604020202020204" pitchFamily="34" charset="0"/>
              </a:rPr>
              <a:t>A Comprehensive Comparison of Various Sorting Methods</a:t>
            </a:r>
            <a:endParaRPr lang="en-US" altLang="zh-CN" sz="2800" dirty="0">
              <a:cs typeface="Arial" panose="020B0604020202020204" pitchFamily="34" charset="0"/>
            </a:endParaRPr>
          </a:p>
          <a:p>
            <a:pPr>
              <a:lnSpc>
                <a:spcPct val="100000"/>
              </a:lnSpc>
            </a:pPr>
            <a:r>
              <a:rPr lang="en-US" altLang="zh-CN" sz="2800" dirty="0">
                <a:cs typeface="Arial" panose="020B0604020202020204" pitchFamily="34" charset="0"/>
              </a:rPr>
              <a:t>E</a:t>
            </a:r>
            <a:r>
              <a:rPr lang="zh-CN" altLang="en-US" sz="2800" dirty="0">
                <a:cs typeface="Arial" panose="020B0604020202020204" pitchFamily="34" charset="0"/>
              </a:rPr>
              <a:t>xternal </a:t>
            </a:r>
            <a:r>
              <a:rPr lang="en-US" altLang="zh-CN" sz="2800" dirty="0">
                <a:cs typeface="Arial" panose="020B0604020202020204" pitchFamily="34" charset="0"/>
              </a:rPr>
              <a:t>S</a:t>
            </a:r>
            <a:r>
              <a:rPr lang="zh-CN" altLang="en-US" sz="2800" dirty="0">
                <a:cs typeface="Arial" panose="020B0604020202020204" pitchFamily="34" charset="0"/>
              </a:rPr>
              <a:t>ort</a:t>
            </a:r>
          </a:p>
        </p:txBody>
      </p:sp>
      <p:sp>
        <p:nvSpPr>
          <p:cNvPr id="4" name="页脚占位符 3"/>
          <p:cNvSpPr>
            <a:spLocks noGrp="1"/>
          </p:cNvSpPr>
          <p:nvPr>
            <p:ph type="ftr" sz="quarter" idx="10"/>
          </p:nvPr>
        </p:nvSpPr>
        <p:spPr/>
        <p:txBody>
          <a:bodyPr/>
          <a:lstStyle/>
          <a:p>
            <a:pPr>
              <a:defRPr/>
            </a:pPr>
            <a:r>
              <a:rPr lang="en-US" altLang="zh-CN"/>
              <a:t>@ Zhihai Wang, 2025</a:t>
            </a:r>
            <a:endParaRPr lang="en-US" altLang="zh-CN" dirty="0"/>
          </a:p>
        </p:txBody>
      </p:sp>
      <p:sp>
        <p:nvSpPr>
          <p:cNvPr id="5" name="灯片编号占位符 4"/>
          <p:cNvSpPr>
            <a:spLocks noGrp="1"/>
          </p:cNvSpPr>
          <p:nvPr>
            <p:ph type="sldNum" sz="quarter" idx="11"/>
          </p:nvPr>
        </p:nvSpPr>
        <p:spPr/>
        <p:txBody>
          <a:bodyPr/>
          <a:lstStyle/>
          <a:p>
            <a:pPr>
              <a:defRPr/>
            </a:pPr>
            <a:fld id="{B40C3BFD-24D0-4966-81A9-4BDD3454C069}" type="slidenum">
              <a:rPr lang="en-US" altLang="zh-CN" smtClean="0"/>
              <a:t>71</a:t>
            </a:fld>
            <a:endParaRPr lang="en-US" altLang="zh-CN"/>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ext Box 2"/>
          <p:cNvSpPr txBox="1">
            <a:spLocks noChangeArrowheads="1"/>
          </p:cNvSpPr>
          <p:nvPr/>
        </p:nvSpPr>
        <p:spPr bwMode="auto">
          <a:xfrm>
            <a:off x="742950" y="152400"/>
            <a:ext cx="4813935"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200" b="1">
                <a:latin typeface="Arial" panose="020B0604020202020204" pitchFamily="34" charset="0"/>
                <a:ea typeface="楷体_GB2312" pitchFamily="49" charset="-122"/>
                <a:cs typeface="Arial" panose="020B0604020202020204" pitchFamily="34" charset="0"/>
              </a:rPr>
              <a:t>1. Simple Selection Sort</a:t>
            </a:r>
          </a:p>
        </p:txBody>
      </p:sp>
      <p:sp>
        <p:nvSpPr>
          <p:cNvPr id="68611" name="Rectangle 3"/>
          <p:cNvSpPr>
            <a:spLocks noChangeArrowheads="1"/>
          </p:cNvSpPr>
          <p:nvPr/>
        </p:nvSpPr>
        <p:spPr bwMode="auto">
          <a:xfrm>
            <a:off x="457200" y="990600"/>
            <a:ext cx="84582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80000"/>
              </a:spcBef>
            </a:pPr>
            <a:r>
              <a:rPr lang="en-US" altLang="zh-CN" sz="2800" b="1">
                <a:solidFill>
                  <a:srgbClr val="990000"/>
                </a:solidFill>
                <a:latin typeface="Arial" panose="020B0604020202020204" pitchFamily="34" charset="0"/>
                <a:ea typeface="楷体_GB2312" pitchFamily="49" charset="-122"/>
                <a:cs typeface="Arial" panose="020B0604020202020204" pitchFamily="34" charset="0"/>
              </a:rPr>
              <a:t>B</a:t>
            </a:r>
            <a:r>
              <a:rPr lang="zh-CN" altLang="en-US" sz="2800" b="1">
                <a:solidFill>
                  <a:srgbClr val="990000"/>
                </a:solidFill>
                <a:latin typeface="Arial" panose="020B0604020202020204" pitchFamily="34" charset="0"/>
                <a:ea typeface="楷体_GB2312" pitchFamily="49" charset="-122"/>
                <a:cs typeface="Arial" panose="020B0604020202020204" pitchFamily="34" charset="0"/>
              </a:rPr>
              <a:t>asic</a:t>
            </a:r>
            <a:r>
              <a:rPr lang="en-US" altLang="zh-CN" sz="2800" b="1">
                <a:solidFill>
                  <a:srgbClr val="990000"/>
                </a:solidFill>
                <a:latin typeface="Arial" panose="020B0604020202020204" pitchFamily="34" charset="0"/>
                <a:ea typeface="楷体_GB2312" pitchFamily="49" charset="-122"/>
                <a:cs typeface="Arial" panose="020B0604020202020204" pitchFamily="34" charset="0"/>
              </a:rPr>
              <a:t> idea</a:t>
            </a:r>
            <a:r>
              <a:rPr lang="zh-CN" altLang="en-US" sz="2800" b="1">
                <a:solidFill>
                  <a:srgbClr val="990000"/>
                </a:solidFill>
                <a:latin typeface="Arial" panose="020B0604020202020204" pitchFamily="34" charset="0"/>
                <a:ea typeface="楷体_GB2312" pitchFamily="49" charset="-122"/>
                <a:cs typeface="Arial" panose="020B0604020202020204" pitchFamily="34" charset="0"/>
              </a:rPr>
              <a:t>：</a:t>
            </a:r>
            <a:endParaRPr lang="zh-CN" altLang="en-US" sz="2800" b="1">
              <a:latin typeface="Arial" panose="020B0604020202020204" pitchFamily="34" charset="0"/>
              <a:ea typeface="楷体_GB2312" pitchFamily="49" charset="-122"/>
              <a:cs typeface="Arial" panose="020B0604020202020204" pitchFamily="34" charset="0"/>
            </a:endParaRPr>
          </a:p>
          <a:p>
            <a:pPr>
              <a:spcBef>
                <a:spcPct val="40000"/>
              </a:spcBef>
            </a:pPr>
            <a:r>
              <a:rPr lang="zh-CN" altLang="en-US" sz="2800" b="1">
                <a:latin typeface="Arial" panose="020B0604020202020204" pitchFamily="34" charset="0"/>
                <a:ea typeface="楷体_GB2312" pitchFamily="49" charset="-122"/>
                <a:cs typeface="Arial" panose="020B0604020202020204" pitchFamily="34" charset="0"/>
              </a:rPr>
              <a:t>A simple selection sort operation involves comparing n-i key values, selecting the record with the smallest key from n-i+1 records, and swapping it with the i-th record (1≤i≤n).</a:t>
            </a:r>
          </a:p>
          <a:p>
            <a:pPr>
              <a:spcBef>
                <a:spcPct val="40000"/>
              </a:spcBef>
            </a:pPr>
            <a:r>
              <a:rPr lang="zh-CN" altLang="en-US" sz="2800" b="1">
                <a:latin typeface="Arial" panose="020B0604020202020204" pitchFamily="34" charset="0"/>
                <a:ea typeface="楷体_GB2312" pitchFamily="49" charset="-122"/>
                <a:cs typeface="Arial" panose="020B0604020202020204" pitchFamily="34" charset="0"/>
              </a:rPr>
              <a:t>The algorithm for simple selection sort of records in L.r[1..n] is as follows: Let i be from 1 to n-1, and perform n-1 selection operations.</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72</a:t>
            </a:fld>
            <a:endParaRPr lang="en-US" altLang="zh-CN"/>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 Box 2"/>
          <p:cNvSpPr txBox="1">
            <a:spLocks noChangeArrowheads="1"/>
          </p:cNvSpPr>
          <p:nvPr/>
        </p:nvSpPr>
        <p:spPr bwMode="auto">
          <a:xfrm>
            <a:off x="273050" y="692785"/>
            <a:ext cx="7942580" cy="953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a:latin typeface="Arial" panose="020B0604020202020204" pitchFamily="34" charset="0"/>
                <a:ea typeface="楷体_GB2312" pitchFamily="49" charset="-122"/>
                <a:cs typeface="Arial" panose="020B0604020202020204" pitchFamily="34" charset="0"/>
              </a:rPr>
              <a:t>Assume the status of the sorted record sequence during sorting is:</a:t>
            </a:r>
          </a:p>
        </p:txBody>
      </p:sp>
      <p:sp>
        <p:nvSpPr>
          <p:cNvPr id="69635" name="Rectangle 3"/>
          <p:cNvSpPr>
            <a:spLocks noChangeArrowheads="1"/>
          </p:cNvSpPr>
          <p:nvPr/>
        </p:nvSpPr>
        <p:spPr bwMode="auto">
          <a:xfrm>
            <a:off x="654050" y="1812925"/>
            <a:ext cx="3613150" cy="685800"/>
          </a:xfrm>
          <a:prstGeom prst="rect">
            <a:avLst/>
          </a:prstGeom>
          <a:solidFill>
            <a:srgbClr val="FF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a:t>ordered sequence R[1..i-1]</a:t>
            </a:r>
          </a:p>
        </p:txBody>
      </p:sp>
      <p:sp>
        <p:nvSpPr>
          <p:cNvPr id="69636" name="Rectangle 4" descr="棚架"/>
          <p:cNvSpPr>
            <a:spLocks noChangeArrowheads="1"/>
          </p:cNvSpPr>
          <p:nvPr/>
        </p:nvSpPr>
        <p:spPr bwMode="auto">
          <a:xfrm>
            <a:off x="4267200" y="1812925"/>
            <a:ext cx="3854450" cy="685800"/>
          </a:xfrm>
          <a:prstGeom prst="rect">
            <a:avLst/>
          </a:prstGeom>
          <a:pattFill prst="trellis">
            <a:fgClr>
              <a:srgbClr val="CCFFFF"/>
            </a:fgClr>
            <a:bgClr>
              <a:srgbClr val="FFFFFF"/>
            </a:bgClr>
          </a:patt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a:t>disordered sequence R[i..n]</a:t>
            </a:r>
          </a:p>
        </p:txBody>
      </p:sp>
      <p:sp>
        <p:nvSpPr>
          <p:cNvPr id="69637" name="Text Box 5"/>
          <p:cNvSpPr txBox="1">
            <a:spLocks noChangeArrowheads="1"/>
          </p:cNvSpPr>
          <p:nvPr/>
        </p:nvSpPr>
        <p:spPr bwMode="auto">
          <a:xfrm>
            <a:off x="1019175" y="3184525"/>
            <a:ext cx="3095625" cy="8655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05000"/>
              </a:lnSpc>
            </a:pPr>
            <a:r>
              <a:rPr lang="zh-CN" altLang="en-US" sz="2400">
                <a:solidFill>
                  <a:srgbClr val="800000"/>
                </a:solidFill>
                <a:ea typeface="楷体_GB2312" pitchFamily="49" charset="-122"/>
              </a:rPr>
              <a:t>Step i</a:t>
            </a:r>
          </a:p>
          <a:p>
            <a:pPr>
              <a:lnSpc>
                <a:spcPct val="105000"/>
              </a:lnSpc>
            </a:pPr>
            <a:r>
              <a:rPr lang="zh-CN" altLang="en-US" sz="2400">
                <a:solidFill>
                  <a:srgbClr val="800000"/>
                </a:solidFill>
                <a:ea typeface="楷体_GB2312" pitchFamily="49" charset="-122"/>
              </a:rPr>
              <a:t>Simple Selection Sort</a:t>
            </a:r>
          </a:p>
        </p:txBody>
      </p:sp>
      <p:sp>
        <p:nvSpPr>
          <p:cNvPr id="69638" name="Text Box 6"/>
          <p:cNvSpPr txBox="1">
            <a:spLocks noChangeArrowheads="1"/>
          </p:cNvSpPr>
          <p:nvPr/>
        </p:nvSpPr>
        <p:spPr bwMode="auto">
          <a:xfrm>
            <a:off x="4356100" y="2453640"/>
            <a:ext cx="3505200" cy="1217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algn="ctr">
              <a:lnSpc>
                <a:spcPct val="105000"/>
              </a:lnSpc>
            </a:pPr>
            <a:r>
              <a:rPr lang="zh-CN" altLang="en-US">
                <a:solidFill>
                  <a:srgbClr val="0000FF"/>
                </a:solidFill>
                <a:latin typeface="Arial" panose="020B0604020202020204" pitchFamily="34" charset="0"/>
                <a:ea typeface="楷体_GB2312" pitchFamily="49" charset="-122"/>
                <a:cs typeface="Arial" panose="020B0604020202020204" pitchFamily="34" charset="0"/>
              </a:rPr>
              <a:t>Select from</a:t>
            </a:r>
          </a:p>
          <a:p>
            <a:pPr>
              <a:lnSpc>
                <a:spcPct val="105000"/>
              </a:lnSpc>
            </a:pPr>
            <a:r>
              <a:rPr lang="en-US" altLang="zh-CN">
                <a:solidFill>
                  <a:srgbClr val="0000FF"/>
                </a:solidFill>
                <a:latin typeface="Arial" panose="020B0604020202020204" pitchFamily="34" charset="0"/>
                <a:ea typeface="楷体_GB2312" pitchFamily="49" charset="-122"/>
                <a:cs typeface="Arial" panose="020B0604020202020204" pitchFamily="34" charset="0"/>
              </a:rPr>
              <a:t>r</a:t>
            </a:r>
            <a:r>
              <a:rPr lang="zh-CN" altLang="en-US">
                <a:solidFill>
                  <a:srgbClr val="0000FF"/>
                </a:solidFill>
                <a:latin typeface="Arial" panose="020B0604020202020204" pitchFamily="34" charset="0"/>
                <a:ea typeface="楷体_GB2312" pitchFamily="49" charset="-122"/>
                <a:cs typeface="Arial" panose="020B0604020202020204" pitchFamily="34" charset="0"/>
              </a:rPr>
              <a:t>ecords with the smallest key</a:t>
            </a:r>
            <a:endParaRPr lang="zh-CN" altLang="en-US" sz="2400">
              <a:latin typeface="Arial" panose="020B0604020202020204" pitchFamily="34" charset="0"/>
              <a:cs typeface="Arial" panose="020B0604020202020204" pitchFamily="34" charset="0"/>
            </a:endParaRPr>
          </a:p>
        </p:txBody>
      </p:sp>
      <p:sp>
        <p:nvSpPr>
          <p:cNvPr id="69639" name="AutoShape 7"/>
          <p:cNvSpPr>
            <a:spLocks noChangeArrowheads="1"/>
          </p:cNvSpPr>
          <p:nvPr/>
        </p:nvSpPr>
        <p:spPr bwMode="auto">
          <a:xfrm>
            <a:off x="4267200" y="2498725"/>
            <a:ext cx="3810000" cy="1981200"/>
          </a:xfrm>
          <a:prstGeom prst="downArrowCallout">
            <a:avLst>
              <a:gd name="adj1" fmla="val 26923"/>
              <a:gd name="adj2" fmla="val 48157"/>
              <a:gd name="adj3" fmla="val 14861"/>
              <a:gd name="adj4" fmla="val 67949"/>
            </a:avLst>
          </a:prstGeom>
          <a:noFill/>
          <a:ln w="9525">
            <a:solidFill>
              <a:srgbClr val="009999"/>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40" name="Rectangle 8"/>
          <p:cNvSpPr>
            <a:spLocks noChangeArrowheads="1"/>
          </p:cNvSpPr>
          <p:nvPr/>
        </p:nvSpPr>
        <p:spPr bwMode="auto">
          <a:xfrm>
            <a:off x="609600" y="5394325"/>
            <a:ext cx="4114800" cy="685800"/>
          </a:xfrm>
          <a:prstGeom prst="rect">
            <a:avLst/>
          </a:prstGeom>
          <a:solidFill>
            <a:srgbClr val="FF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a:latin typeface="Arial" panose="020B0604020202020204" pitchFamily="34" charset="0"/>
                <a:ea typeface="楷体_GB2312" pitchFamily="49" charset="-122"/>
                <a:cs typeface="Arial" panose="020B0604020202020204" pitchFamily="34" charset="0"/>
              </a:rPr>
              <a:t>ordered sequence R[1..i]</a:t>
            </a:r>
          </a:p>
        </p:txBody>
      </p:sp>
      <p:sp>
        <p:nvSpPr>
          <p:cNvPr id="69641" name="Rectangle 9" descr="棚架"/>
          <p:cNvSpPr>
            <a:spLocks noChangeArrowheads="1"/>
          </p:cNvSpPr>
          <p:nvPr/>
        </p:nvSpPr>
        <p:spPr bwMode="auto">
          <a:xfrm>
            <a:off x="4724400" y="5394325"/>
            <a:ext cx="3733800" cy="685800"/>
          </a:xfrm>
          <a:prstGeom prst="rect">
            <a:avLst/>
          </a:prstGeom>
          <a:pattFill prst="trellis">
            <a:fgClr>
              <a:srgbClr val="CCFFFF"/>
            </a:fgClr>
            <a:bgClr>
              <a:srgbClr val="FFFFFF"/>
            </a:bgClr>
          </a:patt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a:latin typeface="Arial" panose="020B0604020202020204" pitchFamily="34" charset="0"/>
                <a:ea typeface="楷体_GB2312" pitchFamily="49" charset="-122"/>
                <a:cs typeface="Arial" panose="020B0604020202020204" pitchFamily="34" charset="0"/>
              </a:rPr>
              <a:t>disordered sequence R[i+1..n]</a:t>
            </a:r>
          </a:p>
        </p:txBody>
      </p:sp>
      <p:sp>
        <p:nvSpPr>
          <p:cNvPr id="69642" name="Line 10"/>
          <p:cNvSpPr>
            <a:spLocks noChangeShapeType="1"/>
          </p:cNvSpPr>
          <p:nvPr/>
        </p:nvSpPr>
        <p:spPr bwMode="auto">
          <a:xfrm flipH="1">
            <a:off x="4495800" y="4479925"/>
            <a:ext cx="1676400" cy="914400"/>
          </a:xfrm>
          <a:prstGeom prst="line">
            <a:avLst/>
          </a:prstGeom>
          <a:noFill/>
          <a:ln w="38100">
            <a:solidFill>
              <a:srgbClr val="990000"/>
            </a:solidFill>
            <a:round/>
            <a:tailEnd type="diamond"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43" name="Line 11"/>
          <p:cNvSpPr>
            <a:spLocks noChangeShapeType="1"/>
          </p:cNvSpPr>
          <p:nvPr/>
        </p:nvSpPr>
        <p:spPr bwMode="auto">
          <a:xfrm>
            <a:off x="4267200" y="3870325"/>
            <a:ext cx="0" cy="2209800"/>
          </a:xfrm>
          <a:prstGeom prst="line">
            <a:avLst/>
          </a:prstGeom>
          <a:noFill/>
          <a:ln w="9525" cap="rnd">
            <a:solidFill>
              <a:srgbClr val="009999"/>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73</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9636"/>
                                        </p:tgtEl>
                                        <p:attrNameLst>
                                          <p:attrName>style.visibility</p:attrName>
                                        </p:attrNameLst>
                                      </p:cBhvr>
                                      <p:to>
                                        <p:strVal val="visible"/>
                                      </p:to>
                                    </p:set>
                                    <p:animEffect transition="in" filter="wipe(left)">
                                      <p:cBhvr>
                                        <p:cTn id="7" dur="500"/>
                                        <p:tgtEl>
                                          <p:spTgt spid="69636"/>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9" fill="hold" grpId="0" nodeType="clickEffect">
                                  <p:stCondLst>
                                    <p:cond delay="0"/>
                                  </p:stCondLst>
                                  <p:childTnLst>
                                    <p:set>
                                      <p:cBhvr>
                                        <p:cTn id="11" dur="1" fill="hold">
                                          <p:stCondLst>
                                            <p:cond delay="0"/>
                                          </p:stCondLst>
                                        </p:cTn>
                                        <p:tgtEl>
                                          <p:spTgt spid="69637"/>
                                        </p:tgtEl>
                                        <p:attrNameLst>
                                          <p:attrName>style.visibility</p:attrName>
                                        </p:attrNameLst>
                                      </p:cBhvr>
                                      <p:to>
                                        <p:strVal val="visible"/>
                                      </p:to>
                                    </p:set>
                                    <p:animEffect transition="in" filter="strips(upLeft)">
                                      <p:cBhvr>
                                        <p:cTn id="12" dur="500"/>
                                        <p:tgtEl>
                                          <p:spTgt spid="69637"/>
                                        </p:tgtEl>
                                      </p:cBhvr>
                                    </p:animEffect>
                                  </p:childTnLst>
                                </p:cTn>
                              </p:par>
                            </p:childTnLst>
                          </p:cTn>
                        </p:par>
                      </p:childTnLst>
                    </p:cTn>
                  </p:par>
                  <p:par>
                    <p:cTn id="13" fill="hold">
                      <p:stCondLst>
                        <p:cond delay="indefinite"/>
                      </p:stCondLst>
                      <p:childTnLst>
                        <p:par>
                          <p:cTn id="14" fill="hold">
                            <p:stCondLst>
                              <p:cond delay="0"/>
                            </p:stCondLst>
                            <p:childTnLst>
                              <p:par>
                                <p:cTn id="15" presetID="17" presetClass="entr" presetSubtype="1" fill="hold" grpId="0" nodeType="clickEffect">
                                  <p:stCondLst>
                                    <p:cond delay="0"/>
                                  </p:stCondLst>
                                  <p:childTnLst>
                                    <p:set>
                                      <p:cBhvr>
                                        <p:cTn id="16" dur="1" fill="hold">
                                          <p:stCondLst>
                                            <p:cond delay="0"/>
                                          </p:stCondLst>
                                        </p:cTn>
                                        <p:tgtEl>
                                          <p:spTgt spid="69639"/>
                                        </p:tgtEl>
                                        <p:attrNameLst>
                                          <p:attrName>style.visibility</p:attrName>
                                        </p:attrNameLst>
                                      </p:cBhvr>
                                      <p:to>
                                        <p:strVal val="visible"/>
                                      </p:to>
                                    </p:set>
                                    <p:anim calcmode="lin" valueType="num">
                                      <p:cBhvr>
                                        <p:cTn id="17" dur="500" fill="hold"/>
                                        <p:tgtEl>
                                          <p:spTgt spid="69639"/>
                                        </p:tgtEl>
                                        <p:attrNameLst>
                                          <p:attrName>ppt_x</p:attrName>
                                        </p:attrNameLst>
                                      </p:cBhvr>
                                      <p:tavLst>
                                        <p:tav tm="0">
                                          <p:val>
                                            <p:strVal val="#ppt_x"/>
                                          </p:val>
                                        </p:tav>
                                        <p:tav tm="100000">
                                          <p:val>
                                            <p:strVal val="#ppt_x"/>
                                          </p:val>
                                        </p:tav>
                                      </p:tavLst>
                                    </p:anim>
                                    <p:anim calcmode="lin" valueType="num">
                                      <p:cBhvr>
                                        <p:cTn id="18" dur="500" fill="hold"/>
                                        <p:tgtEl>
                                          <p:spTgt spid="69639"/>
                                        </p:tgtEl>
                                        <p:attrNameLst>
                                          <p:attrName>ppt_y</p:attrName>
                                        </p:attrNameLst>
                                      </p:cBhvr>
                                      <p:tavLst>
                                        <p:tav tm="0">
                                          <p:val>
                                            <p:strVal val="#ppt_y-#ppt_h/2"/>
                                          </p:val>
                                        </p:tav>
                                        <p:tav tm="100000">
                                          <p:val>
                                            <p:strVal val="#ppt_y"/>
                                          </p:val>
                                        </p:tav>
                                      </p:tavLst>
                                    </p:anim>
                                    <p:anim calcmode="lin" valueType="num">
                                      <p:cBhvr>
                                        <p:cTn id="19" dur="500" fill="hold"/>
                                        <p:tgtEl>
                                          <p:spTgt spid="69639"/>
                                        </p:tgtEl>
                                        <p:attrNameLst>
                                          <p:attrName>ppt_w</p:attrName>
                                        </p:attrNameLst>
                                      </p:cBhvr>
                                      <p:tavLst>
                                        <p:tav tm="0">
                                          <p:val>
                                            <p:strVal val="#ppt_w"/>
                                          </p:val>
                                        </p:tav>
                                        <p:tav tm="100000">
                                          <p:val>
                                            <p:strVal val="#ppt_w"/>
                                          </p:val>
                                        </p:tav>
                                      </p:tavLst>
                                    </p:anim>
                                    <p:anim calcmode="lin" valueType="num">
                                      <p:cBhvr>
                                        <p:cTn id="20" dur="500" fill="hold"/>
                                        <p:tgtEl>
                                          <p:spTgt spid="69639"/>
                                        </p:tgtEl>
                                        <p:attrNameLst>
                                          <p:attrName>ppt_h</p:attrName>
                                        </p:attrNameLst>
                                      </p:cBhvr>
                                      <p:tavLst>
                                        <p:tav tm="0">
                                          <p:val>
                                            <p:fltVal val="0"/>
                                          </p:val>
                                        </p:tav>
                                        <p:tav tm="100000">
                                          <p:val>
                                            <p:strVal val="#ppt_h"/>
                                          </p:val>
                                        </p:tav>
                                      </p:tavLst>
                                    </p:anim>
                                  </p:childTnLst>
                                </p:cTn>
                              </p:par>
                            </p:childTnLst>
                          </p:cTn>
                        </p:par>
                        <p:par>
                          <p:cTn id="21" fill="hold">
                            <p:stCondLst>
                              <p:cond delay="500"/>
                            </p:stCondLst>
                            <p:childTnLst>
                              <p:par>
                                <p:cTn id="22" presetID="9" presetClass="entr" presetSubtype="0" fill="hold" grpId="0" nodeType="afterEffect">
                                  <p:stCondLst>
                                    <p:cond delay="0"/>
                                  </p:stCondLst>
                                  <p:childTnLst>
                                    <p:set>
                                      <p:cBhvr>
                                        <p:cTn id="23" dur="1" fill="hold">
                                          <p:stCondLst>
                                            <p:cond delay="0"/>
                                          </p:stCondLst>
                                        </p:cTn>
                                        <p:tgtEl>
                                          <p:spTgt spid="69638"/>
                                        </p:tgtEl>
                                        <p:attrNameLst>
                                          <p:attrName>style.visibility</p:attrName>
                                        </p:attrNameLst>
                                      </p:cBhvr>
                                      <p:to>
                                        <p:strVal val="visible"/>
                                      </p:to>
                                    </p:set>
                                    <p:animEffect transition="in" filter="dissolve">
                                      <p:cBhvr>
                                        <p:cTn id="24" dur="500"/>
                                        <p:tgtEl>
                                          <p:spTgt spid="69638"/>
                                        </p:tgtEl>
                                      </p:cBhvr>
                                    </p:animEffect>
                                  </p:childTnLst>
                                </p:cTn>
                              </p:par>
                            </p:childTnLst>
                          </p:cTn>
                        </p:par>
                        <p:par>
                          <p:cTn id="25" fill="hold">
                            <p:stCondLst>
                              <p:cond delay="1000"/>
                            </p:stCondLst>
                            <p:childTnLst>
                              <p:par>
                                <p:cTn id="26" presetID="22" presetClass="entr" presetSubtype="1" fill="hold" grpId="0" nodeType="afterEffect">
                                  <p:stCondLst>
                                    <p:cond delay="0"/>
                                  </p:stCondLst>
                                  <p:childTnLst>
                                    <p:set>
                                      <p:cBhvr>
                                        <p:cTn id="27" dur="1" fill="hold">
                                          <p:stCondLst>
                                            <p:cond delay="0"/>
                                          </p:stCondLst>
                                        </p:cTn>
                                        <p:tgtEl>
                                          <p:spTgt spid="69642"/>
                                        </p:tgtEl>
                                        <p:attrNameLst>
                                          <p:attrName>style.visibility</p:attrName>
                                        </p:attrNameLst>
                                      </p:cBhvr>
                                      <p:to>
                                        <p:strVal val="visible"/>
                                      </p:to>
                                    </p:set>
                                    <p:animEffect transition="in" filter="wipe(up)">
                                      <p:cBhvr>
                                        <p:cTn id="28" dur="500"/>
                                        <p:tgtEl>
                                          <p:spTgt spid="6964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69640"/>
                                        </p:tgtEl>
                                        <p:attrNameLst>
                                          <p:attrName>style.visibility</p:attrName>
                                        </p:attrNameLst>
                                      </p:cBhvr>
                                      <p:to>
                                        <p:strVal val="visible"/>
                                      </p:to>
                                    </p:set>
                                    <p:animEffect transition="in" filter="wipe(left)">
                                      <p:cBhvr>
                                        <p:cTn id="33" dur="500"/>
                                        <p:tgtEl>
                                          <p:spTgt spid="69640"/>
                                        </p:tgtEl>
                                      </p:cBhvr>
                                    </p:animEffect>
                                  </p:childTnLst>
                                </p:cTn>
                              </p:par>
                            </p:childTnLst>
                          </p:cTn>
                        </p:par>
                        <p:par>
                          <p:cTn id="34" fill="hold">
                            <p:stCondLst>
                              <p:cond delay="500"/>
                            </p:stCondLst>
                            <p:childTnLst>
                              <p:par>
                                <p:cTn id="35" presetID="22" presetClass="entr" presetSubtype="8" fill="hold" grpId="0" nodeType="afterEffect">
                                  <p:stCondLst>
                                    <p:cond delay="0"/>
                                  </p:stCondLst>
                                  <p:childTnLst>
                                    <p:set>
                                      <p:cBhvr>
                                        <p:cTn id="36" dur="1" fill="hold">
                                          <p:stCondLst>
                                            <p:cond delay="0"/>
                                          </p:stCondLst>
                                        </p:cTn>
                                        <p:tgtEl>
                                          <p:spTgt spid="69641"/>
                                        </p:tgtEl>
                                        <p:attrNameLst>
                                          <p:attrName>style.visibility</p:attrName>
                                        </p:attrNameLst>
                                      </p:cBhvr>
                                      <p:to>
                                        <p:strVal val="visible"/>
                                      </p:to>
                                    </p:set>
                                    <p:animEffect transition="in" filter="wipe(left)">
                                      <p:cBhvr>
                                        <p:cTn id="37" dur="500"/>
                                        <p:tgtEl>
                                          <p:spTgt spid="69641"/>
                                        </p:tgtEl>
                                      </p:cBhvr>
                                    </p:animEffect>
                                  </p:childTnLst>
                                </p:cTn>
                              </p:par>
                            </p:childTnLst>
                          </p:cTn>
                        </p:par>
                        <p:par>
                          <p:cTn id="38" fill="hold">
                            <p:stCondLst>
                              <p:cond delay="1000"/>
                            </p:stCondLst>
                            <p:childTnLst>
                              <p:par>
                                <p:cTn id="39" presetID="22" presetClass="entr" presetSubtype="1" fill="hold" grpId="0" nodeType="afterEffect">
                                  <p:stCondLst>
                                    <p:cond delay="0"/>
                                  </p:stCondLst>
                                  <p:childTnLst>
                                    <p:set>
                                      <p:cBhvr>
                                        <p:cTn id="40" dur="1" fill="hold">
                                          <p:stCondLst>
                                            <p:cond delay="0"/>
                                          </p:stCondLst>
                                        </p:cTn>
                                        <p:tgtEl>
                                          <p:spTgt spid="69643"/>
                                        </p:tgtEl>
                                        <p:attrNameLst>
                                          <p:attrName>style.visibility</p:attrName>
                                        </p:attrNameLst>
                                      </p:cBhvr>
                                      <p:to>
                                        <p:strVal val="visible"/>
                                      </p:to>
                                    </p:set>
                                    <p:animEffect transition="in" filter="wipe(up)">
                                      <p:cBhvr>
                                        <p:cTn id="41" dur="500"/>
                                        <p:tgtEl>
                                          <p:spTgt spid="696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6" grpId="0" bldLvl="0" animBg="1" autoUpdateAnimBg="0"/>
      <p:bldP spid="69637" grpId="0" bldLvl="0" animBg="1" autoUpdateAnimBg="0"/>
      <p:bldP spid="69638" grpId="0" bldLvl="0" animBg="1" autoUpdateAnimBg="0"/>
      <p:bldP spid="69639" grpId="0" bldLvl="0" animBg="1"/>
      <p:bldP spid="69640" grpId="0" bldLvl="0" animBg="1" autoUpdateAnimBg="0"/>
      <p:bldP spid="69641" grpId="0" bldLvl="0" animBg="1" autoUpdateAnimBg="0"/>
      <p:bldP spid="69642" grpId="0" bldLvl="0" animBg="1"/>
      <p:bldP spid="69643" grpId="0" bldLvl="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ChangeArrowheads="1"/>
          </p:cNvSpPr>
          <p:nvPr/>
        </p:nvSpPr>
        <p:spPr bwMode="auto">
          <a:xfrm>
            <a:off x="685800" y="457200"/>
            <a:ext cx="77724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sz="4400" b="1">
                <a:solidFill>
                  <a:srgbClr val="990000"/>
                </a:solidFill>
                <a:ea typeface="楷体_GB2312" pitchFamily="49" charset="-122"/>
                <a:sym typeface="+mn-ea"/>
              </a:rPr>
              <a:t>Simple Selection Sort</a:t>
            </a:r>
            <a:endParaRPr lang="zh-CN" altLang="en-US" sz="4400" b="1">
              <a:solidFill>
                <a:srgbClr val="990000"/>
              </a:solidFill>
              <a:ea typeface="楷体_GB2312" pitchFamily="49" charset="-122"/>
            </a:endParaRPr>
          </a:p>
        </p:txBody>
      </p:sp>
      <p:sp>
        <p:nvSpPr>
          <p:cNvPr id="70659" name="Rectangle 3"/>
          <p:cNvSpPr>
            <a:spLocks noChangeArrowheads="1"/>
          </p:cNvSpPr>
          <p:nvPr/>
        </p:nvSpPr>
        <p:spPr bwMode="auto">
          <a:xfrm>
            <a:off x="1828800" y="2590800"/>
            <a:ext cx="5943600"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pPr>
            <a:r>
              <a:rPr lang="zh-CN" altLang="en-US" sz="3200" b="1">
                <a:sym typeface="+mn-ea"/>
              </a:rPr>
              <a:t>Initial state</a:t>
            </a:r>
            <a:r>
              <a:rPr lang="zh-CN" altLang="en-US" sz="3200" b="1"/>
              <a:t>  </a:t>
            </a:r>
            <a:r>
              <a:rPr lang="en-US" altLang="zh-CN" sz="3200" b="1"/>
              <a:t> </a:t>
            </a:r>
            <a:r>
              <a:rPr lang="zh-CN" altLang="en-US" sz="3200" b="1"/>
              <a:t> </a:t>
            </a:r>
            <a:r>
              <a:rPr lang="en-US" altLang="zh-CN" sz="3200" b="1">
                <a:solidFill>
                  <a:srgbClr val="CC3300"/>
                </a:solidFill>
              </a:rPr>
              <a:t>[</a:t>
            </a:r>
            <a:r>
              <a:rPr lang="en-US" altLang="zh-CN" sz="3200" b="1"/>
              <a:t>2   7   </a:t>
            </a:r>
            <a:r>
              <a:rPr lang="en-US" altLang="zh-CN" sz="3200" b="1" u="sng"/>
              <a:t>2</a:t>
            </a:r>
            <a:r>
              <a:rPr lang="en-US" altLang="zh-CN" sz="3200" b="1"/>
              <a:t>   4    3   1</a:t>
            </a:r>
            <a:r>
              <a:rPr lang="en-US" altLang="zh-CN" sz="3200" b="1">
                <a:solidFill>
                  <a:srgbClr val="CC3300"/>
                </a:solidFill>
              </a:rPr>
              <a:t>]</a:t>
            </a:r>
            <a:r>
              <a:rPr lang="en-US" altLang="zh-CN" sz="3200" b="1"/>
              <a:t>             </a:t>
            </a:r>
          </a:p>
          <a:p>
            <a:pPr>
              <a:spcBef>
                <a:spcPct val="20000"/>
              </a:spcBef>
            </a:pPr>
            <a:r>
              <a:rPr lang="en-US" altLang="zh-CN" sz="3200" b="1"/>
              <a:t>Pass 1</a:t>
            </a:r>
            <a:r>
              <a:rPr lang="zh-CN" altLang="en-US" sz="3200" b="1"/>
              <a:t>（</a:t>
            </a:r>
            <a:r>
              <a:rPr lang="en-US" altLang="zh-CN" sz="3200" b="1"/>
              <a:t>i=1</a:t>
            </a:r>
            <a:r>
              <a:rPr lang="zh-CN" altLang="en-US" sz="3200" b="1"/>
              <a:t>）</a:t>
            </a:r>
            <a:r>
              <a:rPr lang="en-US" altLang="zh-CN" sz="3200" b="1">
                <a:solidFill>
                  <a:schemeClr val="accent2"/>
                </a:solidFill>
              </a:rPr>
              <a:t>1  </a:t>
            </a:r>
            <a:r>
              <a:rPr lang="en-US" altLang="zh-CN" sz="3200" b="1">
                <a:solidFill>
                  <a:srgbClr val="CC3300"/>
                </a:solidFill>
              </a:rPr>
              <a:t>[</a:t>
            </a:r>
            <a:r>
              <a:rPr lang="en-US" altLang="zh-CN" sz="3200" b="1"/>
              <a:t>7   </a:t>
            </a:r>
            <a:r>
              <a:rPr lang="en-US" altLang="zh-CN" sz="3200" b="1" u="sng"/>
              <a:t>2</a:t>
            </a:r>
            <a:r>
              <a:rPr lang="en-US" altLang="zh-CN" sz="3200" b="1"/>
              <a:t>   4    3   2</a:t>
            </a:r>
            <a:r>
              <a:rPr lang="en-US" altLang="zh-CN" sz="3200" b="1">
                <a:solidFill>
                  <a:srgbClr val="CC3300"/>
                </a:solidFill>
              </a:rPr>
              <a:t>]</a:t>
            </a:r>
          </a:p>
          <a:p>
            <a:pPr>
              <a:spcBef>
                <a:spcPct val="20000"/>
              </a:spcBef>
            </a:pPr>
            <a:r>
              <a:rPr lang="en-US" altLang="zh-CN" sz="3200" b="1"/>
              <a:t>Pass 2</a:t>
            </a:r>
            <a:r>
              <a:rPr lang="zh-CN" altLang="en-US" sz="3200" b="1"/>
              <a:t>（</a:t>
            </a:r>
            <a:r>
              <a:rPr lang="en-US" altLang="zh-CN" sz="3200" b="1"/>
              <a:t>i=2</a:t>
            </a:r>
            <a:r>
              <a:rPr lang="zh-CN" altLang="en-US" sz="3200" b="1"/>
              <a:t>）</a:t>
            </a:r>
            <a:r>
              <a:rPr lang="en-US" altLang="zh-CN" sz="3200" b="1">
                <a:solidFill>
                  <a:schemeClr val="accent2"/>
                </a:solidFill>
              </a:rPr>
              <a:t>1   </a:t>
            </a:r>
            <a:r>
              <a:rPr lang="en-US" altLang="zh-CN" sz="3200" b="1" u="sng">
                <a:solidFill>
                  <a:schemeClr val="accent2"/>
                </a:solidFill>
              </a:rPr>
              <a:t>2</a:t>
            </a:r>
            <a:r>
              <a:rPr lang="en-US" altLang="zh-CN" sz="3200" b="1"/>
              <a:t>  </a:t>
            </a:r>
            <a:r>
              <a:rPr lang="en-US" altLang="zh-CN" sz="3200" b="1">
                <a:solidFill>
                  <a:srgbClr val="CC3300"/>
                </a:solidFill>
              </a:rPr>
              <a:t>[</a:t>
            </a:r>
            <a:r>
              <a:rPr lang="en-US" altLang="zh-CN" sz="3200" b="1"/>
              <a:t>7   4    3   2</a:t>
            </a:r>
            <a:r>
              <a:rPr lang="en-US" altLang="zh-CN" sz="3200" b="1">
                <a:solidFill>
                  <a:srgbClr val="CC3300"/>
                </a:solidFill>
              </a:rPr>
              <a:t>]</a:t>
            </a:r>
            <a:r>
              <a:rPr lang="en-US" altLang="zh-CN" sz="3200" b="1"/>
              <a:t>     </a:t>
            </a:r>
          </a:p>
          <a:p>
            <a:pPr>
              <a:spcBef>
                <a:spcPct val="20000"/>
              </a:spcBef>
            </a:pPr>
            <a:r>
              <a:rPr lang="en-US" altLang="zh-CN" sz="3200" b="1"/>
              <a:t>Pass 3</a:t>
            </a:r>
            <a:r>
              <a:rPr lang="zh-CN" altLang="en-US" sz="3200" b="1"/>
              <a:t>（</a:t>
            </a:r>
            <a:r>
              <a:rPr lang="en-US" altLang="zh-CN" sz="3200" b="1"/>
              <a:t>i=3</a:t>
            </a:r>
            <a:r>
              <a:rPr lang="zh-CN" altLang="en-US" sz="3200" b="1"/>
              <a:t>）</a:t>
            </a:r>
            <a:r>
              <a:rPr lang="en-US" altLang="zh-CN" sz="3200" b="1">
                <a:solidFill>
                  <a:schemeClr val="accent2"/>
                </a:solidFill>
              </a:rPr>
              <a:t>1   </a:t>
            </a:r>
            <a:r>
              <a:rPr lang="en-US" altLang="zh-CN" sz="3200" b="1" u="sng">
                <a:solidFill>
                  <a:schemeClr val="accent2"/>
                </a:solidFill>
              </a:rPr>
              <a:t>2</a:t>
            </a:r>
            <a:r>
              <a:rPr lang="en-US" altLang="zh-CN" sz="3200" b="1">
                <a:solidFill>
                  <a:schemeClr val="accent2"/>
                </a:solidFill>
              </a:rPr>
              <a:t>   2</a:t>
            </a:r>
            <a:r>
              <a:rPr lang="en-US" altLang="zh-CN" sz="3200" b="1"/>
              <a:t>  </a:t>
            </a:r>
            <a:r>
              <a:rPr lang="en-US" altLang="zh-CN" sz="3200" b="1">
                <a:solidFill>
                  <a:srgbClr val="CC3300"/>
                </a:solidFill>
              </a:rPr>
              <a:t>[</a:t>
            </a:r>
            <a:r>
              <a:rPr lang="en-US" altLang="zh-CN" sz="3200" b="1"/>
              <a:t>4    3   7</a:t>
            </a:r>
            <a:r>
              <a:rPr lang="en-US" altLang="zh-CN" sz="3200" b="1">
                <a:solidFill>
                  <a:srgbClr val="CC3300"/>
                </a:solidFill>
              </a:rPr>
              <a:t>]</a:t>
            </a:r>
          </a:p>
          <a:p>
            <a:pPr>
              <a:spcBef>
                <a:spcPct val="20000"/>
              </a:spcBef>
            </a:pPr>
            <a:r>
              <a:rPr lang="en-US" altLang="zh-CN" sz="3200" b="1"/>
              <a:t>Pass 4</a:t>
            </a:r>
            <a:r>
              <a:rPr lang="zh-CN" altLang="en-US" sz="3200" b="1"/>
              <a:t>（</a:t>
            </a:r>
            <a:r>
              <a:rPr lang="en-US" altLang="zh-CN" sz="3200" b="1"/>
              <a:t>i=4</a:t>
            </a:r>
            <a:r>
              <a:rPr lang="zh-CN" altLang="en-US" sz="3200" b="1"/>
              <a:t>）</a:t>
            </a:r>
            <a:r>
              <a:rPr lang="en-US" altLang="zh-CN" sz="3200" b="1">
                <a:solidFill>
                  <a:schemeClr val="accent2"/>
                </a:solidFill>
              </a:rPr>
              <a:t>1   2   2   3</a:t>
            </a:r>
            <a:r>
              <a:rPr lang="en-US" altLang="zh-CN" sz="3200" b="1"/>
              <a:t>   </a:t>
            </a:r>
            <a:r>
              <a:rPr lang="en-US" altLang="zh-CN" sz="3200" b="1">
                <a:solidFill>
                  <a:srgbClr val="CC3300"/>
                </a:solidFill>
              </a:rPr>
              <a:t>[</a:t>
            </a:r>
            <a:r>
              <a:rPr lang="en-US" altLang="zh-CN" sz="3200" b="1"/>
              <a:t>4   7</a:t>
            </a:r>
            <a:r>
              <a:rPr lang="en-US" altLang="zh-CN" sz="3200" b="1">
                <a:solidFill>
                  <a:srgbClr val="CC3300"/>
                </a:solidFill>
              </a:rPr>
              <a:t>]</a:t>
            </a:r>
            <a:r>
              <a:rPr lang="en-US" altLang="zh-CN" sz="3200" b="1"/>
              <a:t>     </a:t>
            </a:r>
          </a:p>
          <a:p>
            <a:pPr>
              <a:spcBef>
                <a:spcPct val="20000"/>
              </a:spcBef>
            </a:pPr>
            <a:r>
              <a:rPr lang="en-US" altLang="zh-CN" sz="3200" b="1"/>
              <a:t>Pass 5</a:t>
            </a:r>
            <a:r>
              <a:rPr lang="zh-CN" altLang="en-US" sz="3200" b="1"/>
              <a:t>（</a:t>
            </a:r>
            <a:r>
              <a:rPr lang="en-US" altLang="zh-CN" sz="3200" b="1"/>
              <a:t>i=5</a:t>
            </a:r>
            <a:r>
              <a:rPr lang="zh-CN" altLang="en-US" sz="3200" b="1"/>
              <a:t>）</a:t>
            </a:r>
            <a:r>
              <a:rPr lang="en-US" altLang="zh-CN" sz="3200" b="1">
                <a:solidFill>
                  <a:schemeClr val="accent2"/>
                </a:solidFill>
              </a:rPr>
              <a:t>1   </a:t>
            </a:r>
            <a:r>
              <a:rPr lang="en-US" altLang="zh-CN" sz="3200" b="1" u="sng">
                <a:solidFill>
                  <a:schemeClr val="accent2"/>
                </a:solidFill>
              </a:rPr>
              <a:t>2</a:t>
            </a:r>
            <a:r>
              <a:rPr lang="en-US" altLang="zh-CN" sz="3200" b="1">
                <a:solidFill>
                  <a:schemeClr val="accent2"/>
                </a:solidFill>
              </a:rPr>
              <a:t>   2   3    4</a:t>
            </a:r>
            <a:r>
              <a:rPr lang="en-US" altLang="zh-CN" sz="3200" b="1"/>
              <a:t>  </a:t>
            </a:r>
            <a:r>
              <a:rPr lang="en-US" altLang="zh-CN" sz="3200" b="1">
                <a:solidFill>
                  <a:srgbClr val="CC3300"/>
                </a:solidFill>
              </a:rPr>
              <a:t>[</a:t>
            </a:r>
            <a:r>
              <a:rPr lang="en-US" altLang="zh-CN" sz="3200" b="1"/>
              <a:t>7</a:t>
            </a:r>
            <a:r>
              <a:rPr lang="en-US" altLang="zh-CN" sz="3200" b="1">
                <a:solidFill>
                  <a:srgbClr val="CC3300"/>
                </a:solidFill>
              </a:rPr>
              <a:t>]</a:t>
            </a:r>
          </a:p>
        </p:txBody>
      </p:sp>
      <p:sp>
        <p:nvSpPr>
          <p:cNvPr id="70660" name="Text Box 4"/>
          <p:cNvSpPr txBox="1">
            <a:spLocks noChangeArrowheads="1"/>
          </p:cNvSpPr>
          <p:nvPr/>
        </p:nvSpPr>
        <p:spPr bwMode="auto">
          <a:xfrm>
            <a:off x="-45720" y="1371600"/>
            <a:ext cx="9157970" cy="829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b="1">
                <a:latin typeface="Arial" panose="020B0604020202020204" pitchFamily="34" charset="0"/>
                <a:ea typeface="楷体_GB2312" pitchFamily="49" charset="-122"/>
                <a:cs typeface="Arial" panose="020B0604020202020204" pitchFamily="34" charset="0"/>
                <a:sym typeface="+mn-ea"/>
              </a:rPr>
              <a:t>The key sequence of the records to be sorted is (2, 7, 2, 4, 3, 1)</a:t>
            </a:r>
            <a:endParaRPr lang="zh-CN" altLang="en-US" sz="2400" b="1">
              <a:latin typeface="Arial" panose="020B0604020202020204" pitchFamily="34" charset="0"/>
              <a:ea typeface="楷体_GB2312" pitchFamily="49" charset="-122"/>
              <a:cs typeface="Arial" panose="020B0604020202020204" pitchFamily="34" charset="0"/>
            </a:endParaRPr>
          </a:p>
          <a:p>
            <a:r>
              <a:rPr lang="zh-CN" altLang="en-US" sz="2400" b="1">
                <a:latin typeface="Arial" panose="020B0604020202020204" pitchFamily="34" charset="0"/>
                <a:ea typeface="楷体_GB2312" pitchFamily="49" charset="-122"/>
                <a:cs typeface="Arial" panose="020B0604020202020204" pitchFamily="34" charset="0"/>
                <a:sym typeface="+mn-ea"/>
              </a:rPr>
              <a:t>Simply select the sequence state after each execution:</a:t>
            </a:r>
          </a:p>
        </p:txBody>
      </p:sp>
      <p:sp>
        <p:nvSpPr>
          <p:cNvPr id="70661" name="Text Box 5"/>
          <p:cNvSpPr txBox="1">
            <a:spLocks noChangeArrowheads="1"/>
          </p:cNvSpPr>
          <p:nvPr/>
        </p:nvSpPr>
        <p:spPr bwMode="auto">
          <a:xfrm>
            <a:off x="7696200" y="3214688"/>
            <a:ext cx="1143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a:t>(j=6)</a:t>
            </a:r>
          </a:p>
        </p:txBody>
      </p:sp>
      <p:sp>
        <p:nvSpPr>
          <p:cNvPr id="70662" name="Text Box 6"/>
          <p:cNvSpPr txBox="1">
            <a:spLocks noChangeArrowheads="1"/>
          </p:cNvSpPr>
          <p:nvPr/>
        </p:nvSpPr>
        <p:spPr bwMode="auto">
          <a:xfrm>
            <a:off x="7696200" y="3810000"/>
            <a:ext cx="1143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a:t>(j=3)</a:t>
            </a:r>
          </a:p>
        </p:txBody>
      </p:sp>
      <p:sp>
        <p:nvSpPr>
          <p:cNvPr id="70663" name="Text Box 7"/>
          <p:cNvSpPr txBox="1">
            <a:spLocks noChangeArrowheads="1"/>
          </p:cNvSpPr>
          <p:nvPr/>
        </p:nvSpPr>
        <p:spPr bwMode="auto">
          <a:xfrm>
            <a:off x="7696200" y="4357688"/>
            <a:ext cx="1143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a:t>(j=6)</a:t>
            </a:r>
          </a:p>
        </p:txBody>
      </p:sp>
      <p:sp>
        <p:nvSpPr>
          <p:cNvPr id="70664" name="Text Box 8"/>
          <p:cNvSpPr txBox="1">
            <a:spLocks noChangeArrowheads="1"/>
          </p:cNvSpPr>
          <p:nvPr/>
        </p:nvSpPr>
        <p:spPr bwMode="auto">
          <a:xfrm>
            <a:off x="7696200" y="4967288"/>
            <a:ext cx="1143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a:t>(j=5)</a:t>
            </a:r>
          </a:p>
        </p:txBody>
      </p:sp>
      <p:sp>
        <p:nvSpPr>
          <p:cNvPr id="70665" name="Text Box 9"/>
          <p:cNvSpPr txBox="1">
            <a:spLocks noChangeArrowheads="1"/>
          </p:cNvSpPr>
          <p:nvPr/>
        </p:nvSpPr>
        <p:spPr bwMode="auto">
          <a:xfrm>
            <a:off x="7696200" y="5576888"/>
            <a:ext cx="1143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a:t>(j=5)</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74</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0660"/>
                                        </p:tgtEl>
                                        <p:attrNameLst>
                                          <p:attrName>style.visibility</p:attrName>
                                        </p:attrNameLst>
                                      </p:cBhvr>
                                      <p:to>
                                        <p:strVal val="visible"/>
                                      </p:to>
                                    </p:set>
                                    <p:animEffect transition="in" filter="blinds(horizontal)">
                                      <p:cBhvr>
                                        <p:cTn id="7" dur="500"/>
                                        <p:tgtEl>
                                          <p:spTgt spid="7066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0659">
                                            <p:txEl>
                                              <p:pRg st="0" end="0"/>
                                            </p:txEl>
                                          </p:spTgt>
                                        </p:tgtEl>
                                        <p:attrNameLst>
                                          <p:attrName>style.visibility</p:attrName>
                                        </p:attrNameLst>
                                      </p:cBhvr>
                                      <p:to>
                                        <p:strVal val="visible"/>
                                      </p:to>
                                    </p:set>
                                    <p:anim calcmode="lin" valueType="num">
                                      <p:cBhvr additive="base">
                                        <p:cTn id="12" dur="500" fill="hold"/>
                                        <p:tgtEl>
                                          <p:spTgt spid="70659">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706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70659">
                                            <p:txEl>
                                              <p:pRg st="1" end="1"/>
                                            </p:txEl>
                                          </p:spTgt>
                                        </p:tgtEl>
                                        <p:attrNameLst>
                                          <p:attrName>style.visibility</p:attrName>
                                        </p:attrNameLst>
                                      </p:cBhvr>
                                      <p:to>
                                        <p:strVal val="visible"/>
                                      </p:to>
                                    </p:set>
                                    <p:anim calcmode="lin" valueType="num">
                                      <p:cBhvr additive="base">
                                        <p:cTn id="18" dur="500" fill="hold"/>
                                        <p:tgtEl>
                                          <p:spTgt spid="70659">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706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70659">
                                            <p:txEl>
                                              <p:pRg st="2" end="2"/>
                                            </p:txEl>
                                          </p:spTgt>
                                        </p:tgtEl>
                                        <p:attrNameLst>
                                          <p:attrName>style.visibility</p:attrName>
                                        </p:attrNameLst>
                                      </p:cBhvr>
                                      <p:to>
                                        <p:strVal val="visible"/>
                                      </p:to>
                                    </p:set>
                                    <p:anim calcmode="lin" valueType="num">
                                      <p:cBhvr additive="base">
                                        <p:cTn id="24" dur="500" fill="hold"/>
                                        <p:tgtEl>
                                          <p:spTgt spid="70659">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7065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70659">
                                            <p:txEl>
                                              <p:pRg st="3" end="3"/>
                                            </p:txEl>
                                          </p:spTgt>
                                        </p:tgtEl>
                                        <p:attrNameLst>
                                          <p:attrName>style.visibility</p:attrName>
                                        </p:attrNameLst>
                                      </p:cBhvr>
                                      <p:to>
                                        <p:strVal val="visible"/>
                                      </p:to>
                                    </p:set>
                                    <p:anim calcmode="lin" valueType="num">
                                      <p:cBhvr additive="base">
                                        <p:cTn id="30" dur="500" fill="hold"/>
                                        <p:tgtEl>
                                          <p:spTgt spid="70659">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7065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70659">
                                            <p:txEl>
                                              <p:pRg st="4" end="4"/>
                                            </p:txEl>
                                          </p:spTgt>
                                        </p:tgtEl>
                                        <p:attrNameLst>
                                          <p:attrName>style.visibility</p:attrName>
                                        </p:attrNameLst>
                                      </p:cBhvr>
                                      <p:to>
                                        <p:strVal val="visible"/>
                                      </p:to>
                                    </p:set>
                                    <p:anim calcmode="lin" valueType="num">
                                      <p:cBhvr additive="base">
                                        <p:cTn id="36" dur="500" fill="hold"/>
                                        <p:tgtEl>
                                          <p:spTgt spid="70659">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7065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70659">
                                            <p:txEl>
                                              <p:pRg st="5" end="5"/>
                                            </p:txEl>
                                          </p:spTgt>
                                        </p:tgtEl>
                                        <p:attrNameLst>
                                          <p:attrName>style.visibility</p:attrName>
                                        </p:attrNameLst>
                                      </p:cBhvr>
                                      <p:to>
                                        <p:strVal val="visible"/>
                                      </p:to>
                                    </p:set>
                                    <p:anim calcmode="lin" valueType="num">
                                      <p:cBhvr additive="base">
                                        <p:cTn id="42" dur="500" fill="hold"/>
                                        <p:tgtEl>
                                          <p:spTgt spid="70659">
                                            <p:txEl>
                                              <p:pRg st="5" end="5"/>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70659">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9" grpId="0" build="p" autoUpdateAnimBg="0"/>
      <p:bldP spid="70660" grpId="0" bldLvl="0" animBg="1"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ext Box 2"/>
          <p:cNvSpPr txBox="1">
            <a:spLocks noChangeArrowheads="1"/>
          </p:cNvSpPr>
          <p:nvPr/>
        </p:nvSpPr>
        <p:spPr bwMode="auto">
          <a:xfrm>
            <a:off x="-36195" y="45085"/>
            <a:ext cx="8184515" cy="953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a:solidFill>
                  <a:srgbClr val="990000"/>
                </a:solidFill>
                <a:latin typeface="Arial" panose="020B0604020202020204" pitchFamily="34" charset="0"/>
                <a:ea typeface="楷体_GB2312" pitchFamily="49" charset="-122"/>
                <a:cs typeface="Arial" panose="020B0604020202020204" pitchFamily="34" charset="0"/>
                <a:sym typeface="+mn-ea"/>
              </a:rPr>
              <a:t>The simple selection sort algorithm </a:t>
            </a:r>
            <a:r>
              <a:rPr lang="zh-CN" altLang="en-US">
                <a:latin typeface="Arial" panose="020B0604020202020204" pitchFamily="34" charset="0"/>
                <a:ea typeface="楷体_GB2312" pitchFamily="49" charset="-122"/>
                <a:cs typeface="Arial" panose="020B0604020202020204" pitchFamily="34" charset="0"/>
                <a:sym typeface="+mn-ea"/>
              </a:rPr>
              <a:t>is described as follows:</a:t>
            </a:r>
          </a:p>
        </p:txBody>
      </p:sp>
      <p:sp>
        <p:nvSpPr>
          <p:cNvPr id="71683" name="Text Box 3"/>
          <p:cNvSpPr txBox="1">
            <a:spLocks noChangeArrowheads="1"/>
          </p:cNvSpPr>
          <p:nvPr/>
        </p:nvSpPr>
        <p:spPr bwMode="auto">
          <a:xfrm>
            <a:off x="381000" y="892175"/>
            <a:ext cx="8749030" cy="5631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3600" b="1">
                <a:ea typeface="楷体_GB2312" pitchFamily="49" charset="-122"/>
              </a:rPr>
              <a:t>void</a:t>
            </a:r>
            <a:r>
              <a:rPr lang="en-US" altLang="zh-CN" sz="3600">
                <a:ea typeface="楷体_GB2312" pitchFamily="49" charset="-122"/>
              </a:rPr>
              <a:t> SelectSort (Elem R[], </a:t>
            </a:r>
            <a:r>
              <a:rPr lang="en-US" altLang="zh-CN" sz="3600" b="1">
                <a:ea typeface="楷体_GB2312" pitchFamily="49" charset="-122"/>
              </a:rPr>
              <a:t>int</a:t>
            </a:r>
            <a:r>
              <a:rPr lang="en-US" altLang="zh-CN" sz="3600">
                <a:ea typeface="楷体_GB2312" pitchFamily="49" charset="-122"/>
              </a:rPr>
              <a:t> n ) </a:t>
            </a:r>
            <a:r>
              <a:rPr lang="en-US" altLang="zh-CN" sz="3600" b="1">
                <a:ea typeface="楷体_GB2312" pitchFamily="49" charset="-122"/>
              </a:rPr>
              <a:t>{</a:t>
            </a:r>
            <a:endParaRPr lang="en-US" altLang="zh-CN" sz="3600">
              <a:ea typeface="楷体_GB2312" pitchFamily="49" charset="-122"/>
            </a:endParaRPr>
          </a:p>
          <a:p>
            <a:pPr algn="l"/>
            <a:r>
              <a:rPr lang="en-US" altLang="zh-CN" sz="3600">
                <a:ea typeface="楷体_GB2312" pitchFamily="49" charset="-122"/>
              </a:rPr>
              <a:t> </a:t>
            </a:r>
            <a:r>
              <a:rPr lang="en-US" altLang="zh-CN" sz="2700" b="1">
                <a:solidFill>
                  <a:srgbClr val="006600"/>
                </a:solidFill>
                <a:ea typeface="楷体_GB2312" pitchFamily="49" charset="-122"/>
              </a:rPr>
              <a:t>// </a:t>
            </a:r>
            <a:r>
              <a:rPr lang="en-US" altLang="zh-CN" sz="2700" b="1">
                <a:solidFill>
                  <a:srgbClr val="006600"/>
                </a:solidFill>
                <a:ea typeface="楷体_GB2312" pitchFamily="49" charset="-122"/>
                <a:sym typeface="+mn-ea"/>
              </a:rPr>
              <a:t>Do a simple selection sort of the record sequence R[1..n]</a:t>
            </a:r>
            <a:endParaRPr lang="zh-CN" altLang="en-US" sz="2700" b="1">
              <a:solidFill>
                <a:srgbClr val="006600"/>
              </a:solidFill>
              <a:ea typeface="楷体_GB2312" pitchFamily="49" charset="-122"/>
            </a:endParaRPr>
          </a:p>
          <a:p>
            <a:pPr algn="l"/>
            <a:r>
              <a:rPr lang="zh-CN" altLang="en-US" sz="3600">
                <a:ea typeface="楷体_GB2312" pitchFamily="49" charset="-122"/>
              </a:rPr>
              <a:t>  </a:t>
            </a:r>
            <a:r>
              <a:rPr lang="en-US" altLang="zh-CN" sz="3600" b="1">
                <a:ea typeface="楷体_GB2312" pitchFamily="49" charset="-122"/>
              </a:rPr>
              <a:t>for</a:t>
            </a:r>
            <a:r>
              <a:rPr lang="en-US" altLang="zh-CN" sz="3600">
                <a:ea typeface="楷体_GB2312" pitchFamily="49" charset="-122"/>
              </a:rPr>
              <a:t> (i=1; i&lt;n; </a:t>
            </a:r>
            <a:r>
              <a:rPr lang="en-US" altLang="zh-CN" sz="3600" b="1">
                <a:ea typeface="楷体_GB2312" pitchFamily="49" charset="-122"/>
              </a:rPr>
              <a:t>++</a:t>
            </a:r>
            <a:r>
              <a:rPr lang="en-US" altLang="zh-CN" sz="3600">
                <a:ea typeface="楷体_GB2312" pitchFamily="49" charset="-122"/>
              </a:rPr>
              <a:t>i) </a:t>
            </a:r>
            <a:r>
              <a:rPr lang="en-US" altLang="zh-CN" sz="3600" b="1">
                <a:ea typeface="楷体_GB2312" pitchFamily="49" charset="-122"/>
              </a:rPr>
              <a:t>{</a:t>
            </a:r>
          </a:p>
          <a:p>
            <a:pPr algn="l"/>
            <a:r>
              <a:rPr lang="en-US" altLang="zh-CN" sz="3600" b="1">
                <a:ea typeface="楷体_GB2312" pitchFamily="49" charset="-122"/>
              </a:rPr>
              <a:t>    </a:t>
            </a:r>
            <a:r>
              <a:rPr lang="en-US" altLang="zh-CN" sz="2800" b="1">
                <a:solidFill>
                  <a:srgbClr val="006600"/>
                </a:solidFill>
                <a:ea typeface="楷体_GB2312" pitchFamily="49" charset="-122"/>
              </a:rPr>
              <a:t> </a:t>
            </a:r>
            <a:r>
              <a:rPr lang="en-US" altLang="zh-CN" b="1">
                <a:solidFill>
                  <a:srgbClr val="006600"/>
                </a:solidFill>
                <a:ea typeface="楷体_GB2312" pitchFamily="49" charset="-122"/>
                <a:sym typeface="+mn-ea"/>
              </a:rPr>
              <a:t>// Select the i-th smallest record and swap it</a:t>
            </a:r>
            <a:endParaRPr lang="zh-CN" altLang="en-US" b="1">
              <a:solidFill>
                <a:srgbClr val="006600"/>
              </a:solidFill>
              <a:ea typeface="楷体_GB2312" pitchFamily="49" charset="-122"/>
            </a:endParaRPr>
          </a:p>
          <a:p>
            <a:pPr algn="l"/>
            <a:endParaRPr lang="zh-CN" altLang="en-US" sz="3600">
              <a:ea typeface="楷体_GB2312" pitchFamily="49" charset="-122"/>
            </a:endParaRPr>
          </a:p>
          <a:p>
            <a:pPr algn="l"/>
            <a:endParaRPr lang="zh-CN" altLang="en-US" sz="3600">
              <a:ea typeface="楷体_GB2312" pitchFamily="49" charset="-122"/>
            </a:endParaRPr>
          </a:p>
          <a:p>
            <a:pPr algn="l"/>
            <a:endParaRPr lang="zh-CN" altLang="en-US" sz="3600">
              <a:ea typeface="楷体_GB2312" pitchFamily="49" charset="-122"/>
            </a:endParaRPr>
          </a:p>
          <a:p>
            <a:pPr algn="l"/>
            <a:endParaRPr lang="zh-CN" altLang="en-US" sz="3600">
              <a:ea typeface="楷体_GB2312" pitchFamily="49" charset="-122"/>
            </a:endParaRPr>
          </a:p>
          <a:p>
            <a:pPr algn="l"/>
            <a:r>
              <a:rPr lang="zh-CN" altLang="en-US" sz="3600">
                <a:ea typeface="楷体_GB2312" pitchFamily="49" charset="-122"/>
              </a:rPr>
              <a:t>  </a:t>
            </a:r>
            <a:r>
              <a:rPr lang="en-US" altLang="zh-CN" sz="3600" b="1">
                <a:ea typeface="楷体_GB2312" pitchFamily="49" charset="-122"/>
              </a:rPr>
              <a:t>}</a:t>
            </a:r>
          </a:p>
          <a:p>
            <a:pPr algn="l"/>
            <a:r>
              <a:rPr lang="en-US" altLang="zh-CN" sz="3600" b="1">
                <a:ea typeface="楷体_GB2312" pitchFamily="49" charset="-122"/>
              </a:rPr>
              <a:t>}</a:t>
            </a:r>
            <a:r>
              <a:rPr lang="en-US" altLang="zh-CN" sz="3600">
                <a:ea typeface="楷体_GB2312" pitchFamily="49" charset="-122"/>
              </a:rPr>
              <a:t> // SelectSort</a:t>
            </a:r>
          </a:p>
        </p:txBody>
      </p:sp>
      <p:sp>
        <p:nvSpPr>
          <p:cNvPr id="71684" name="Rectangle 4"/>
          <p:cNvSpPr>
            <a:spLocks noChangeArrowheads="1"/>
          </p:cNvSpPr>
          <p:nvPr/>
        </p:nvSpPr>
        <p:spPr bwMode="auto">
          <a:xfrm>
            <a:off x="1082675" y="3200400"/>
            <a:ext cx="7905115" cy="1140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10000"/>
              </a:lnSpc>
            </a:pPr>
            <a:r>
              <a:rPr lang="en-US" altLang="zh-CN" sz="3600">
                <a:solidFill>
                  <a:schemeClr val="accent2"/>
                </a:solidFill>
                <a:ea typeface="楷体_GB2312" pitchFamily="49" charset="-122"/>
              </a:rPr>
              <a:t>j = SelectMinKey(R, i);</a:t>
            </a:r>
            <a:r>
              <a:rPr lang="en-US" altLang="zh-CN" sz="3600">
                <a:ea typeface="楷体_GB2312" pitchFamily="49" charset="-122"/>
              </a:rPr>
              <a:t>       </a:t>
            </a:r>
          </a:p>
          <a:p>
            <a:pPr algn="l">
              <a:lnSpc>
                <a:spcPct val="110000"/>
              </a:lnSpc>
            </a:pPr>
            <a:r>
              <a:rPr lang="en-US" altLang="zh-CN" sz="2600" b="1">
                <a:solidFill>
                  <a:srgbClr val="006600"/>
                </a:solidFill>
                <a:ea typeface="楷体_GB2312" pitchFamily="49" charset="-122"/>
                <a:sym typeface="+mn-ea"/>
              </a:rPr>
              <a:t>// Select the record with the smallest keyword in R[i..n]</a:t>
            </a:r>
            <a:endParaRPr lang="zh-CN" altLang="en-US" sz="2600" b="1">
              <a:solidFill>
                <a:srgbClr val="006600"/>
              </a:solidFill>
              <a:ea typeface="楷体_GB2312" pitchFamily="49" charset="-122"/>
            </a:endParaRPr>
          </a:p>
        </p:txBody>
      </p:sp>
      <p:sp>
        <p:nvSpPr>
          <p:cNvPr id="71685" name="Rectangle 5"/>
          <p:cNvSpPr>
            <a:spLocks noChangeArrowheads="1"/>
          </p:cNvSpPr>
          <p:nvPr/>
        </p:nvSpPr>
        <p:spPr bwMode="auto">
          <a:xfrm>
            <a:off x="1066800" y="4495800"/>
            <a:ext cx="5590540" cy="1309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10000"/>
              </a:lnSpc>
            </a:pPr>
            <a:r>
              <a:rPr lang="en-US" altLang="zh-CN" sz="3600" b="1">
                <a:solidFill>
                  <a:srgbClr val="840C26"/>
                </a:solidFill>
                <a:ea typeface="楷体_GB2312" pitchFamily="49" charset="-122"/>
              </a:rPr>
              <a:t>if</a:t>
            </a:r>
            <a:r>
              <a:rPr lang="en-US" altLang="zh-CN" sz="3600">
                <a:solidFill>
                  <a:srgbClr val="840C26"/>
                </a:solidFill>
                <a:ea typeface="楷体_GB2312" pitchFamily="49" charset="-122"/>
              </a:rPr>
              <a:t> (i</a:t>
            </a:r>
            <a:r>
              <a:rPr lang="en-US" altLang="zh-CN" sz="3600" b="1">
                <a:solidFill>
                  <a:srgbClr val="840C26"/>
                </a:solidFill>
                <a:ea typeface="楷体_GB2312" pitchFamily="49" charset="-122"/>
              </a:rPr>
              <a:t>!=</a:t>
            </a:r>
            <a:r>
              <a:rPr lang="en-US" altLang="zh-CN" sz="3600">
                <a:solidFill>
                  <a:srgbClr val="840C26"/>
                </a:solidFill>
                <a:ea typeface="楷体_GB2312" pitchFamily="49" charset="-122"/>
              </a:rPr>
              <a:t>j)  R[i]</a:t>
            </a:r>
            <a:r>
              <a:rPr lang="en-US" altLang="zh-CN" sz="3600" b="1">
                <a:solidFill>
                  <a:srgbClr val="840C26"/>
                </a:solidFill>
                <a:ea typeface="楷体_GB2312" pitchFamily="49" charset="-122"/>
              </a:rPr>
              <a:t>←→</a:t>
            </a:r>
            <a:r>
              <a:rPr lang="en-US" altLang="zh-CN" sz="3600">
                <a:solidFill>
                  <a:srgbClr val="840C26"/>
                </a:solidFill>
                <a:ea typeface="楷体_GB2312" pitchFamily="49" charset="-122"/>
              </a:rPr>
              <a:t>R[j];</a:t>
            </a:r>
            <a:endParaRPr lang="en-US" altLang="zh-CN" sz="3600">
              <a:ea typeface="楷体_GB2312" pitchFamily="49" charset="-122"/>
            </a:endParaRPr>
          </a:p>
          <a:p>
            <a:pPr lvl="1" algn="l">
              <a:lnSpc>
                <a:spcPct val="110000"/>
              </a:lnSpc>
            </a:pPr>
            <a:r>
              <a:rPr lang="en-US" altLang="zh-CN" sz="3600">
                <a:ea typeface="楷体_GB2312" pitchFamily="49" charset="-122"/>
              </a:rPr>
              <a:t>       </a:t>
            </a:r>
            <a:r>
              <a:rPr lang="en-US" altLang="zh-CN" b="1">
                <a:solidFill>
                  <a:srgbClr val="006600"/>
                </a:solidFill>
                <a:ea typeface="楷体_GB2312" pitchFamily="49" charset="-122"/>
                <a:sym typeface="+mn-ea"/>
              </a:rPr>
              <a:t>// Swap with the i-th record</a:t>
            </a:r>
            <a:endParaRPr lang="zh-CN" altLang="en-US" sz="2800" b="1">
              <a:solidFill>
                <a:srgbClr val="006600"/>
              </a:solidFill>
              <a:ea typeface="楷体_GB2312" pitchFamily="49" charset="-122"/>
            </a:endParaRP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75</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71682"/>
                                        </p:tgtEl>
                                        <p:attrNameLst>
                                          <p:attrName>style.visibility</p:attrName>
                                        </p:attrNameLst>
                                      </p:cBhvr>
                                      <p:to>
                                        <p:strVal val="visible"/>
                                      </p:to>
                                    </p:set>
                                    <p:anim calcmode="lin" valueType="num">
                                      <p:cBhvr additive="base">
                                        <p:cTn id="7" dur="500" fill="hold"/>
                                        <p:tgtEl>
                                          <p:spTgt spid="71682"/>
                                        </p:tgtEl>
                                        <p:attrNameLst>
                                          <p:attrName>ppt_x</p:attrName>
                                        </p:attrNameLst>
                                      </p:cBhvr>
                                      <p:tavLst>
                                        <p:tav tm="0">
                                          <p:val>
                                            <p:strVal val="#ppt_x"/>
                                          </p:val>
                                        </p:tav>
                                        <p:tav tm="100000">
                                          <p:val>
                                            <p:strVal val="#ppt_x"/>
                                          </p:val>
                                        </p:tav>
                                      </p:tavLst>
                                    </p:anim>
                                    <p:anim calcmode="lin" valueType="num">
                                      <p:cBhvr additive="base">
                                        <p:cTn id="8" dur="500" fill="hold"/>
                                        <p:tgtEl>
                                          <p:spTgt spid="7168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8" presetClass="entr" presetSubtype="6" fill="hold" grpId="0" nodeType="clickEffect">
                                  <p:stCondLst>
                                    <p:cond delay="0"/>
                                  </p:stCondLst>
                                  <p:childTnLst>
                                    <p:set>
                                      <p:cBhvr>
                                        <p:cTn id="12" dur="1" fill="hold">
                                          <p:stCondLst>
                                            <p:cond delay="0"/>
                                          </p:stCondLst>
                                        </p:cTn>
                                        <p:tgtEl>
                                          <p:spTgt spid="71683"/>
                                        </p:tgtEl>
                                        <p:attrNameLst>
                                          <p:attrName>style.visibility</p:attrName>
                                        </p:attrNameLst>
                                      </p:cBhvr>
                                      <p:to>
                                        <p:strVal val="visible"/>
                                      </p:to>
                                    </p:set>
                                    <p:animEffect transition="in" filter="strips(downRight)">
                                      <p:cBhvr>
                                        <p:cTn id="13" dur="500"/>
                                        <p:tgtEl>
                                          <p:spTgt spid="71683"/>
                                        </p:tgtEl>
                                      </p:cBhvr>
                                    </p:animEffect>
                                  </p:childTnLst>
                                </p:cTn>
                              </p:par>
                            </p:childTnLst>
                          </p:cTn>
                        </p:par>
                      </p:childTnLst>
                    </p:cTn>
                  </p:par>
                  <p:par>
                    <p:cTn id="14" fill="hold">
                      <p:stCondLst>
                        <p:cond delay="indefinite"/>
                      </p:stCondLst>
                      <p:childTnLst>
                        <p:par>
                          <p:cTn id="15" fill="hold">
                            <p:stCondLst>
                              <p:cond delay="0"/>
                            </p:stCondLst>
                            <p:childTnLst>
                              <p:par>
                                <p:cTn id="16" presetID="18" presetClass="entr" presetSubtype="6" fill="hold" grpId="0" nodeType="clickEffect">
                                  <p:stCondLst>
                                    <p:cond delay="0"/>
                                  </p:stCondLst>
                                  <p:childTnLst>
                                    <p:set>
                                      <p:cBhvr>
                                        <p:cTn id="17" dur="1" fill="hold">
                                          <p:stCondLst>
                                            <p:cond delay="0"/>
                                          </p:stCondLst>
                                        </p:cTn>
                                        <p:tgtEl>
                                          <p:spTgt spid="71684"/>
                                        </p:tgtEl>
                                        <p:attrNameLst>
                                          <p:attrName>style.visibility</p:attrName>
                                        </p:attrNameLst>
                                      </p:cBhvr>
                                      <p:to>
                                        <p:strVal val="visible"/>
                                      </p:to>
                                    </p:set>
                                    <p:animEffect transition="in" filter="strips(downRight)">
                                      <p:cBhvr>
                                        <p:cTn id="18" dur="500"/>
                                        <p:tgtEl>
                                          <p:spTgt spid="71684"/>
                                        </p:tgtEl>
                                      </p:cBhvr>
                                    </p:animEffect>
                                  </p:childTnLst>
                                </p:cTn>
                              </p:par>
                            </p:childTnLst>
                          </p:cTn>
                        </p:par>
                      </p:childTnLst>
                    </p:cTn>
                  </p:par>
                  <p:par>
                    <p:cTn id="19" fill="hold">
                      <p:stCondLst>
                        <p:cond delay="indefinite"/>
                      </p:stCondLst>
                      <p:childTnLst>
                        <p:par>
                          <p:cTn id="20" fill="hold">
                            <p:stCondLst>
                              <p:cond delay="0"/>
                            </p:stCondLst>
                            <p:childTnLst>
                              <p:par>
                                <p:cTn id="21" presetID="18" presetClass="entr" presetSubtype="6" fill="hold" grpId="0" nodeType="clickEffect">
                                  <p:stCondLst>
                                    <p:cond delay="0"/>
                                  </p:stCondLst>
                                  <p:childTnLst>
                                    <p:set>
                                      <p:cBhvr>
                                        <p:cTn id="22" dur="1" fill="hold">
                                          <p:stCondLst>
                                            <p:cond delay="0"/>
                                          </p:stCondLst>
                                        </p:cTn>
                                        <p:tgtEl>
                                          <p:spTgt spid="71685">
                                            <p:txEl>
                                              <p:pRg st="0" end="0"/>
                                            </p:txEl>
                                          </p:spTgt>
                                        </p:tgtEl>
                                        <p:attrNameLst>
                                          <p:attrName>style.visibility</p:attrName>
                                        </p:attrNameLst>
                                      </p:cBhvr>
                                      <p:to>
                                        <p:strVal val="visible"/>
                                      </p:to>
                                    </p:set>
                                    <p:animEffect transition="in" filter="strips(downRight)">
                                      <p:cBhvr>
                                        <p:cTn id="23" dur="500"/>
                                        <p:tgtEl>
                                          <p:spTgt spid="71685">
                                            <p:txEl>
                                              <p:pRg st="0" end="0"/>
                                            </p:txEl>
                                          </p:spTgt>
                                        </p:tgtEl>
                                      </p:cBhvr>
                                    </p:animEffect>
                                  </p:childTnLst>
                                </p:cTn>
                              </p:par>
                              <p:par>
                                <p:cTn id="24" presetID="18" presetClass="entr" presetSubtype="6" fill="hold" grpId="0" nodeType="withEffect">
                                  <p:stCondLst>
                                    <p:cond delay="0"/>
                                  </p:stCondLst>
                                  <p:childTnLst>
                                    <p:set>
                                      <p:cBhvr>
                                        <p:cTn id="25" dur="1" fill="hold">
                                          <p:stCondLst>
                                            <p:cond delay="0"/>
                                          </p:stCondLst>
                                        </p:cTn>
                                        <p:tgtEl>
                                          <p:spTgt spid="71685">
                                            <p:txEl>
                                              <p:pRg st="1" end="1"/>
                                            </p:txEl>
                                          </p:spTgt>
                                        </p:tgtEl>
                                        <p:attrNameLst>
                                          <p:attrName>style.visibility</p:attrName>
                                        </p:attrNameLst>
                                      </p:cBhvr>
                                      <p:to>
                                        <p:strVal val="visible"/>
                                      </p:to>
                                    </p:set>
                                    <p:animEffect transition="in" filter="strips(downRight)">
                                      <p:cBhvr>
                                        <p:cTn id="26" dur="500"/>
                                        <p:tgtEl>
                                          <p:spTgt spid="7168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2" grpId="0" bldLvl="0" animBg="1" autoUpdateAnimBg="0"/>
      <p:bldP spid="71683" grpId="0" bldLvl="0" animBg="1" autoUpdateAnimBg="0"/>
      <p:bldP spid="71684" grpId="0" bldLvl="0" animBg="1" autoUpdateAnimBg="0"/>
      <p:bldP spid="71685" grpId="0" build="p" autoUpdateAnimBg="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ext Box 2"/>
          <p:cNvSpPr txBox="1">
            <a:spLocks noChangeArrowheads="1"/>
          </p:cNvSpPr>
          <p:nvPr/>
        </p:nvSpPr>
        <p:spPr bwMode="auto">
          <a:xfrm>
            <a:off x="457200" y="441325"/>
            <a:ext cx="6151245"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3600" b="1">
                <a:latin typeface="Arial" panose="020B0604020202020204" pitchFamily="34" charset="0"/>
                <a:ea typeface="楷体_GB2312" pitchFamily="49" charset="-122"/>
                <a:cs typeface="Arial" panose="020B0604020202020204" pitchFamily="34" charset="0"/>
              </a:rPr>
              <a:t>Time Performance Analysis</a:t>
            </a:r>
          </a:p>
        </p:txBody>
      </p:sp>
      <p:sp>
        <p:nvSpPr>
          <p:cNvPr id="72707" name="Text Box 3"/>
          <p:cNvSpPr txBox="1">
            <a:spLocks noChangeArrowheads="1"/>
          </p:cNvSpPr>
          <p:nvPr/>
        </p:nvSpPr>
        <p:spPr bwMode="auto">
          <a:xfrm>
            <a:off x="425450" y="1219200"/>
            <a:ext cx="8718550" cy="116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zh-CN" altLang="en-US">
                <a:latin typeface="Arial" panose="020B0604020202020204" pitchFamily="34" charset="0"/>
                <a:ea typeface="楷体_GB2312" pitchFamily="49" charset="-122"/>
                <a:cs typeface="Arial" panose="020B0604020202020204" pitchFamily="34" charset="0"/>
              </a:rPr>
              <a:t>For simple selection sort on n records, the total number of</a:t>
            </a:r>
            <a:r>
              <a:rPr lang="zh-CN" altLang="en-US" b="1">
                <a:solidFill>
                  <a:srgbClr val="840C26"/>
                </a:solidFill>
                <a:latin typeface="Arial" panose="020B0604020202020204" pitchFamily="34" charset="0"/>
                <a:ea typeface="楷体_GB2312" pitchFamily="49" charset="-122"/>
                <a:cs typeface="Arial" panose="020B0604020202020204" pitchFamily="34" charset="0"/>
              </a:rPr>
              <a:t> key comparisons required</a:t>
            </a:r>
            <a:r>
              <a:rPr lang="zh-CN" altLang="en-US">
                <a:latin typeface="Arial" panose="020B0604020202020204" pitchFamily="34" charset="0"/>
                <a:ea typeface="楷体_GB2312" pitchFamily="49" charset="-122"/>
                <a:cs typeface="Arial" panose="020B0604020202020204" pitchFamily="34" charset="0"/>
              </a:rPr>
              <a:t> is:</a:t>
            </a:r>
          </a:p>
        </p:txBody>
      </p:sp>
      <p:sp>
        <p:nvSpPr>
          <p:cNvPr id="72708" name="Text Box 4"/>
          <p:cNvSpPr txBox="1">
            <a:spLocks noChangeArrowheads="1"/>
          </p:cNvSpPr>
          <p:nvPr/>
        </p:nvSpPr>
        <p:spPr bwMode="auto">
          <a:xfrm>
            <a:off x="533400" y="3962400"/>
            <a:ext cx="8169275" cy="116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zh-CN" altLang="en-US" b="1">
                <a:solidFill>
                  <a:srgbClr val="840C26"/>
                </a:solidFill>
                <a:latin typeface="Arial" panose="020B0604020202020204" pitchFamily="34" charset="0"/>
                <a:ea typeface="楷体_GB2312" pitchFamily="49" charset="-122"/>
                <a:cs typeface="Arial" panose="020B0604020202020204" pitchFamily="34" charset="0"/>
              </a:rPr>
              <a:t>Move the record count, with a minimum of 0 and </a:t>
            </a:r>
            <a:r>
              <a:rPr lang="en-US" altLang="zh-CN">
                <a:solidFill>
                  <a:srgbClr val="FF0000"/>
                </a:solidFill>
                <a:latin typeface="Arial" panose="020B0604020202020204" pitchFamily="34" charset="0"/>
                <a:ea typeface="楷体_GB2312" pitchFamily="49" charset="-122"/>
                <a:cs typeface="Arial" panose="020B0604020202020204" pitchFamily="34" charset="0"/>
              </a:rPr>
              <a:t>a maximum of </a:t>
            </a:r>
            <a:r>
              <a:rPr lang="en-US" altLang="zh-CN">
                <a:solidFill>
                  <a:srgbClr val="FF0000"/>
                </a:solidFill>
                <a:latin typeface="Arial" panose="020B0604020202020204" pitchFamily="34" charset="0"/>
                <a:ea typeface="楷体_GB2312" pitchFamily="49" charset="-122"/>
                <a:cs typeface="Arial" panose="020B0604020202020204" pitchFamily="34" charset="0"/>
                <a:sym typeface="+mn-ea"/>
              </a:rPr>
              <a:t>3(n-1)</a:t>
            </a:r>
            <a:r>
              <a:rPr lang="zh-CN" altLang="en-US" b="1">
                <a:solidFill>
                  <a:srgbClr val="840C26"/>
                </a:solidFill>
                <a:latin typeface="Arial" panose="020B0604020202020204" pitchFamily="34" charset="0"/>
                <a:ea typeface="楷体_GB2312" pitchFamily="49" charset="-122"/>
                <a:cs typeface="Arial" panose="020B0604020202020204" pitchFamily="34" charset="0"/>
              </a:rPr>
              <a:t>.</a:t>
            </a:r>
          </a:p>
        </p:txBody>
      </p:sp>
      <p:graphicFrame>
        <p:nvGraphicFramePr>
          <p:cNvPr id="72709" name="Object 5"/>
          <p:cNvGraphicFramePr>
            <a:graphicFrameLocks noChangeAspect="1"/>
          </p:cNvGraphicFramePr>
          <p:nvPr/>
        </p:nvGraphicFramePr>
        <p:xfrm>
          <a:off x="2590800" y="2819400"/>
          <a:ext cx="3429000" cy="1185863"/>
        </p:xfrm>
        <a:graphic>
          <a:graphicData uri="http://schemas.openxmlformats.org/presentationml/2006/ole">
            <mc:AlternateContent xmlns:mc="http://schemas.openxmlformats.org/markup-compatibility/2006">
              <mc:Choice xmlns:v="urn:schemas-microsoft-com:vml" Requires="v">
                <p:oleObj spid="_x0000_s28675" name="公式" r:id="rId3" imgW="2489200" imgH="863600" progId="Equation.3">
                  <p:embed/>
                </p:oleObj>
              </mc:Choice>
              <mc:Fallback>
                <p:oleObj name="公式" r:id="rId3" imgW="2489200" imgH="8636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2819400"/>
                        <a:ext cx="3429000" cy="1185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2710" name="Rectangle 6"/>
          <p:cNvSpPr>
            <a:spLocks noChangeArrowheads="1"/>
          </p:cNvSpPr>
          <p:nvPr/>
        </p:nvSpPr>
        <p:spPr bwMode="auto">
          <a:xfrm>
            <a:off x="457200" y="5562600"/>
            <a:ext cx="482536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a:latin typeface="Arial" panose="020B0604020202020204" pitchFamily="34" charset="0"/>
                <a:ea typeface="楷体_GB2312" pitchFamily="49" charset="-122"/>
                <a:cs typeface="Arial" panose="020B0604020202020204" pitchFamily="34" charset="0"/>
              </a:rPr>
              <a:t>Its time complexity is O(n²).</a:t>
            </a:r>
            <a:endParaRPr lang="en-US" altLang="zh-CN" b="1">
              <a:latin typeface="Arial" panose="020B0604020202020204" pitchFamily="34" charset="0"/>
              <a:ea typeface="楷体_GB2312" pitchFamily="49" charset="-122"/>
              <a:cs typeface="Arial" panose="020B0604020202020204" pitchFamily="34" charset="0"/>
            </a:endParaRPr>
          </a:p>
        </p:txBody>
      </p:sp>
      <p:sp>
        <p:nvSpPr>
          <p:cNvPr id="3" name="页脚占位符 2"/>
          <p:cNvSpPr>
            <a:spLocks noGrp="1"/>
          </p:cNvSpPr>
          <p:nvPr>
            <p:ph type="ftr" sz="quarter" idx="10"/>
          </p:nvPr>
        </p:nvSpPr>
        <p:spPr/>
        <p:txBody>
          <a:bodyPr/>
          <a:lstStyle/>
          <a:p>
            <a:pPr>
              <a:defRPr/>
            </a:pPr>
            <a:r>
              <a:rPr lang="en-US" altLang="zh-CN"/>
              <a:t>@ Zhihai Wang, 2025</a:t>
            </a:r>
            <a:endParaRPr lang="en-US" altLang="zh-CN" dirty="0"/>
          </a:p>
        </p:txBody>
      </p:sp>
      <p:sp>
        <p:nvSpPr>
          <p:cNvPr id="4" name="灯片编号占位符 3"/>
          <p:cNvSpPr>
            <a:spLocks noGrp="1"/>
          </p:cNvSpPr>
          <p:nvPr>
            <p:ph type="sldNum" sz="quarter" idx="11"/>
          </p:nvPr>
        </p:nvSpPr>
        <p:spPr/>
        <p:txBody>
          <a:bodyPr/>
          <a:lstStyle/>
          <a:p>
            <a:pPr>
              <a:defRPr/>
            </a:pPr>
            <a:fld id="{FC63145C-71F2-48C1-8DD2-31D6AC142F2A}" type="slidenum">
              <a:rPr lang="en-US" altLang="zh-CN" smtClean="0"/>
              <a:t>76</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afterEffect">
                                  <p:stCondLst>
                                    <p:cond delay="0"/>
                                  </p:stCondLst>
                                  <p:childTnLst>
                                    <p:set>
                                      <p:cBhvr>
                                        <p:cTn id="6" dur="1" fill="hold">
                                          <p:stCondLst>
                                            <p:cond delay="0"/>
                                          </p:stCondLst>
                                        </p:cTn>
                                        <p:tgtEl>
                                          <p:spTgt spid="72706"/>
                                        </p:tgtEl>
                                        <p:attrNameLst>
                                          <p:attrName>style.visibility</p:attrName>
                                        </p:attrNameLst>
                                      </p:cBhvr>
                                      <p:to>
                                        <p:strVal val="visible"/>
                                      </p:to>
                                    </p:set>
                                    <p:anim calcmode="lin" valueType="num">
                                      <p:cBhvr additive="base">
                                        <p:cTn id="7" dur="500" fill="hold"/>
                                        <p:tgtEl>
                                          <p:spTgt spid="72706"/>
                                        </p:tgtEl>
                                        <p:attrNameLst>
                                          <p:attrName>ppt_x</p:attrName>
                                        </p:attrNameLst>
                                      </p:cBhvr>
                                      <p:tavLst>
                                        <p:tav tm="0">
                                          <p:val>
                                            <p:strVal val="0-#ppt_w/2"/>
                                          </p:val>
                                        </p:tav>
                                        <p:tav tm="100000">
                                          <p:val>
                                            <p:strVal val="#ppt_x"/>
                                          </p:val>
                                        </p:tav>
                                      </p:tavLst>
                                    </p:anim>
                                    <p:anim calcmode="lin" valueType="num">
                                      <p:cBhvr additive="base">
                                        <p:cTn id="8" dur="500" fill="hold"/>
                                        <p:tgtEl>
                                          <p:spTgt spid="72706"/>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72707"/>
                                        </p:tgtEl>
                                        <p:attrNameLst>
                                          <p:attrName>style.visibility</p:attrName>
                                        </p:attrNameLst>
                                      </p:cBhvr>
                                      <p:to>
                                        <p:strVal val="visible"/>
                                      </p:to>
                                    </p:set>
                                    <p:animEffect transition="in" filter="wipe(left)">
                                      <p:cBhvr>
                                        <p:cTn id="13" dur="500"/>
                                        <p:tgtEl>
                                          <p:spTgt spid="72707"/>
                                        </p:tgtEl>
                                      </p:cBhvr>
                                    </p:animEffect>
                                  </p:childTnLst>
                                </p:cTn>
                              </p:par>
                            </p:childTnLst>
                          </p:cTn>
                        </p:par>
                        <p:par>
                          <p:cTn id="14" fill="hold">
                            <p:stCondLst>
                              <p:cond delay="500"/>
                            </p:stCondLst>
                            <p:childTnLst>
                              <p:par>
                                <p:cTn id="15" presetID="22" presetClass="entr" presetSubtype="8" fill="hold" nodeType="afterEffect">
                                  <p:stCondLst>
                                    <p:cond delay="0"/>
                                  </p:stCondLst>
                                  <p:childTnLst>
                                    <p:set>
                                      <p:cBhvr>
                                        <p:cTn id="16" dur="1" fill="hold">
                                          <p:stCondLst>
                                            <p:cond delay="0"/>
                                          </p:stCondLst>
                                        </p:cTn>
                                        <p:tgtEl>
                                          <p:spTgt spid="72709"/>
                                        </p:tgtEl>
                                        <p:attrNameLst>
                                          <p:attrName>style.visibility</p:attrName>
                                        </p:attrNameLst>
                                      </p:cBhvr>
                                      <p:to>
                                        <p:strVal val="visible"/>
                                      </p:to>
                                    </p:set>
                                    <p:animEffect transition="in" filter="wipe(left)">
                                      <p:cBhvr>
                                        <p:cTn id="17" dur="500"/>
                                        <p:tgtEl>
                                          <p:spTgt spid="7270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2708"/>
                                        </p:tgtEl>
                                        <p:attrNameLst>
                                          <p:attrName>style.visibility</p:attrName>
                                        </p:attrNameLst>
                                      </p:cBhvr>
                                      <p:to>
                                        <p:strVal val="visible"/>
                                      </p:to>
                                    </p:set>
                                    <p:animEffect transition="in" filter="wipe(left)">
                                      <p:cBhvr>
                                        <p:cTn id="22" dur="500"/>
                                        <p:tgtEl>
                                          <p:spTgt spid="72708"/>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72710"/>
                                        </p:tgtEl>
                                        <p:attrNameLst>
                                          <p:attrName>style.visibility</p:attrName>
                                        </p:attrNameLst>
                                      </p:cBhvr>
                                      <p:to>
                                        <p:strVal val="visible"/>
                                      </p:to>
                                    </p:set>
                                    <p:anim calcmode="lin" valueType="num">
                                      <p:cBhvr additive="base">
                                        <p:cTn id="27" dur="500" fill="hold"/>
                                        <p:tgtEl>
                                          <p:spTgt spid="72710"/>
                                        </p:tgtEl>
                                        <p:attrNameLst>
                                          <p:attrName>ppt_x</p:attrName>
                                        </p:attrNameLst>
                                      </p:cBhvr>
                                      <p:tavLst>
                                        <p:tav tm="0">
                                          <p:val>
                                            <p:strVal val="0-#ppt_w/2"/>
                                          </p:val>
                                        </p:tav>
                                        <p:tav tm="100000">
                                          <p:val>
                                            <p:strVal val="#ppt_x"/>
                                          </p:val>
                                        </p:tav>
                                      </p:tavLst>
                                    </p:anim>
                                    <p:anim calcmode="lin" valueType="num">
                                      <p:cBhvr additive="base">
                                        <p:cTn id="28" dur="500" fill="hold"/>
                                        <p:tgtEl>
                                          <p:spTgt spid="727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6" grpId="0" bldLvl="0" animBg="1" autoUpdateAnimBg="0"/>
      <p:bldP spid="72707" grpId="0" bldLvl="0" animBg="1" autoUpdateAnimBg="0"/>
      <p:bldP spid="72708" grpId="0" bldLvl="0" animBg="1" autoUpdateAnimBg="0"/>
      <p:bldP spid="72710" grpId="0" bldLvl="0" animBg="1"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ChangeArrowheads="1"/>
          </p:cNvSpPr>
          <p:nvPr/>
        </p:nvSpPr>
        <p:spPr bwMode="auto">
          <a:xfrm>
            <a:off x="685800" y="609600"/>
            <a:ext cx="77724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4000" b="1">
                <a:latin typeface="Arial" panose="020B0604020202020204" pitchFamily="34" charset="0"/>
                <a:ea typeface="楷体_GB2312" pitchFamily="49" charset="-122"/>
                <a:cs typeface="Arial" panose="020B0604020202020204" pitchFamily="34" charset="0"/>
              </a:rPr>
              <a:t>2</a:t>
            </a:r>
            <a:r>
              <a:rPr lang="zh-CN" altLang="en-US" sz="4000" b="1">
                <a:latin typeface="Arial" panose="020B0604020202020204" pitchFamily="34" charset="0"/>
                <a:ea typeface="楷体_GB2312" pitchFamily="49" charset="-122"/>
                <a:cs typeface="Arial" panose="020B0604020202020204" pitchFamily="34" charset="0"/>
              </a:rPr>
              <a:t>. </a:t>
            </a:r>
            <a:r>
              <a:rPr lang="en-US" altLang="zh-CN" sz="4000" b="1">
                <a:latin typeface="Arial" panose="020B0604020202020204" pitchFamily="34" charset="0"/>
                <a:ea typeface="楷体_GB2312" pitchFamily="49" charset="-122"/>
                <a:cs typeface="Arial" panose="020B0604020202020204" pitchFamily="34" charset="0"/>
              </a:rPr>
              <a:t>Tree Selection Sort</a:t>
            </a:r>
          </a:p>
        </p:txBody>
      </p:sp>
      <p:sp>
        <p:nvSpPr>
          <p:cNvPr id="73731" name="Rectangle 3"/>
          <p:cNvSpPr>
            <a:spLocks noChangeArrowheads="1"/>
          </p:cNvSpPr>
          <p:nvPr/>
        </p:nvSpPr>
        <p:spPr bwMode="auto">
          <a:xfrm>
            <a:off x="609600" y="1676400"/>
            <a:ext cx="8153400"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67080" indent="-285750">
              <a:defRPr kumimoji="1" sz="2400">
                <a:solidFill>
                  <a:schemeClr val="tx1"/>
                </a:solidFill>
                <a:latin typeface="Times New Roman" panose="02020603050405020304" pitchFamily="18" charset="0"/>
                <a:ea typeface="宋体" panose="02010600030101010101" pitchFamily="2" charset="-122"/>
              </a:defRPr>
            </a:lvl2pPr>
            <a:lvl3pPr marL="1186180" indent="-228600">
              <a:defRPr kumimoji="1" sz="2400">
                <a:solidFill>
                  <a:schemeClr val="tx1"/>
                </a:solidFill>
                <a:latin typeface="Times New Roman" panose="02020603050405020304" pitchFamily="18" charset="0"/>
                <a:ea typeface="宋体" panose="02010600030101010101" pitchFamily="2" charset="-122"/>
              </a:defRPr>
            </a:lvl3pPr>
            <a:lvl4pPr marL="160528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buSzPct val="80000"/>
            </a:pPr>
            <a:r>
              <a:rPr lang="en-US" altLang="zh-CN" sz="2800" b="1">
                <a:solidFill>
                  <a:srgbClr val="990000"/>
                </a:solidFill>
                <a:latin typeface="Arial" panose="020B0604020202020204" pitchFamily="34" charset="0"/>
                <a:ea typeface="楷体_GB2312" pitchFamily="49" charset="-122"/>
                <a:cs typeface="Arial" panose="020B0604020202020204" pitchFamily="34" charset="0"/>
              </a:rPr>
              <a:t>Tree Selection Sort (also called Tournament Sort)</a:t>
            </a:r>
            <a:r>
              <a:rPr lang="zh-CN" altLang="en-US" sz="2800" b="1">
                <a:solidFill>
                  <a:srgbClr val="990000"/>
                </a:solidFill>
                <a:latin typeface="Arial" panose="020B0604020202020204" pitchFamily="34" charset="0"/>
                <a:ea typeface="楷体_GB2312" pitchFamily="49" charset="-122"/>
                <a:cs typeface="Arial" panose="020B0604020202020204" pitchFamily="34" charset="0"/>
              </a:rPr>
              <a:t> </a:t>
            </a:r>
            <a:r>
              <a:rPr lang="zh-CN" altLang="en-US" sz="2800" b="1">
                <a:latin typeface="Arial" panose="020B0604020202020204" pitchFamily="34" charset="0"/>
                <a:ea typeface="楷体_GB2312" pitchFamily="49" charset="-122"/>
                <a:cs typeface="Arial" panose="020B0604020202020204" pitchFamily="34" charset="0"/>
              </a:rPr>
              <a:t>is a method of selection sort based on the idea of tournament.</a:t>
            </a:r>
          </a:p>
          <a:p>
            <a:pPr>
              <a:spcBef>
                <a:spcPct val="20000"/>
              </a:spcBef>
              <a:buSzPct val="80000"/>
            </a:pPr>
            <a:r>
              <a:rPr lang="zh-CN" altLang="en-US" sz="2800" b="1">
                <a:latin typeface="Arial" panose="020B0604020202020204" pitchFamily="34" charset="0"/>
                <a:ea typeface="楷体_GB2312" pitchFamily="49" charset="-122"/>
                <a:cs typeface="Arial" panose="020B0604020202020204" pitchFamily="34" charset="0"/>
              </a:rPr>
              <a:t>The basic idea is to compare the keywords of n records in pairs, and then compare the n/2 smaller ones in pairs, and so on until the record with the smallest keyword is selected.</a:t>
            </a:r>
            <a:br>
              <a:rPr lang="zh-CN" altLang="en-US" sz="2800" b="1">
                <a:latin typeface="Arial" panose="020B0604020202020204" pitchFamily="34" charset="0"/>
                <a:ea typeface="楷体_GB2312" pitchFamily="49" charset="-122"/>
                <a:cs typeface="Arial" panose="020B0604020202020204" pitchFamily="34" charset="0"/>
              </a:rPr>
            </a:br>
            <a:endParaRPr lang="zh-CN" altLang="en-US" sz="2800" b="1">
              <a:latin typeface="Arial" panose="020B0604020202020204" pitchFamily="34" charset="0"/>
              <a:ea typeface="楷体_GB2312" pitchFamily="49" charset="-122"/>
              <a:cs typeface="Arial" panose="020B0604020202020204" pitchFamily="34" charset="0"/>
            </a:endParaRP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77</a:t>
            </a:fld>
            <a:endParaRPr lang="en-US" altLang="zh-CN"/>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Oval 2"/>
          <p:cNvSpPr>
            <a:spLocks noChangeArrowheads="1"/>
          </p:cNvSpPr>
          <p:nvPr/>
        </p:nvSpPr>
        <p:spPr bwMode="auto">
          <a:xfrm>
            <a:off x="2514600" y="5327650"/>
            <a:ext cx="527050" cy="46355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38</a:t>
            </a:r>
          </a:p>
        </p:txBody>
      </p:sp>
      <p:sp>
        <p:nvSpPr>
          <p:cNvPr id="74755" name="Oval 3"/>
          <p:cNvSpPr>
            <a:spLocks noChangeArrowheads="1"/>
          </p:cNvSpPr>
          <p:nvPr/>
        </p:nvSpPr>
        <p:spPr bwMode="auto">
          <a:xfrm>
            <a:off x="1676400" y="5327650"/>
            <a:ext cx="527050" cy="46355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49</a:t>
            </a:r>
          </a:p>
        </p:txBody>
      </p:sp>
      <p:sp>
        <p:nvSpPr>
          <p:cNvPr id="74756" name="Oval 4"/>
          <p:cNvSpPr>
            <a:spLocks noChangeArrowheads="1"/>
          </p:cNvSpPr>
          <p:nvPr/>
        </p:nvSpPr>
        <p:spPr bwMode="auto">
          <a:xfrm>
            <a:off x="3276600" y="5327650"/>
            <a:ext cx="527050" cy="46355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65</a:t>
            </a:r>
          </a:p>
        </p:txBody>
      </p:sp>
      <p:sp>
        <p:nvSpPr>
          <p:cNvPr id="74757" name="Oval 5"/>
          <p:cNvSpPr>
            <a:spLocks noChangeArrowheads="1"/>
          </p:cNvSpPr>
          <p:nvPr/>
        </p:nvSpPr>
        <p:spPr bwMode="auto">
          <a:xfrm>
            <a:off x="4038600" y="5327650"/>
            <a:ext cx="527050" cy="46355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97</a:t>
            </a:r>
          </a:p>
        </p:txBody>
      </p:sp>
      <p:sp>
        <p:nvSpPr>
          <p:cNvPr id="74758" name="Oval 6"/>
          <p:cNvSpPr>
            <a:spLocks noChangeArrowheads="1"/>
          </p:cNvSpPr>
          <p:nvPr/>
        </p:nvSpPr>
        <p:spPr bwMode="auto">
          <a:xfrm>
            <a:off x="4800600" y="5327650"/>
            <a:ext cx="527050" cy="46355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76</a:t>
            </a:r>
          </a:p>
        </p:txBody>
      </p:sp>
      <p:sp>
        <p:nvSpPr>
          <p:cNvPr id="74759" name="Oval 7"/>
          <p:cNvSpPr>
            <a:spLocks noChangeArrowheads="1"/>
          </p:cNvSpPr>
          <p:nvPr/>
        </p:nvSpPr>
        <p:spPr bwMode="auto">
          <a:xfrm>
            <a:off x="5486400" y="5334000"/>
            <a:ext cx="527050" cy="45085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13</a:t>
            </a:r>
          </a:p>
        </p:txBody>
      </p:sp>
      <p:sp>
        <p:nvSpPr>
          <p:cNvPr id="74760" name="Oval 8"/>
          <p:cNvSpPr>
            <a:spLocks noChangeArrowheads="1"/>
          </p:cNvSpPr>
          <p:nvPr/>
        </p:nvSpPr>
        <p:spPr bwMode="auto">
          <a:xfrm>
            <a:off x="6172200" y="5327650"/>
            <a:ext cx="527050" cy="45085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27</a:t>
            </a:r>
          </a:p>
        </p:txBody>
      </p:sp>
      <p:sp>
        <p:nvSpPr>
          <p:cNvPr id="74761" name="Oval 9"/>
          <p:cNvSpPr>
            <a:spLocks noChangeArrowheads="1"/>
          </p:cNvSpPr>
          <p:nvPr/>
        </p:nvSpPr>
        <p:spPr bwMode="auto">
          <a:xfrm>
            <a:off x="6858000" y="5327650"/>
            <a:ext cx="527050" cy="45085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49</a:t>
            </a:r>
          </a:p>
        </p:txBody>
      </p:sp>
      <p:sp>
        <p:nvSpPr>
          <p:cNvPr id="74762" name="Oval 10"/>
          <p:cNvSpPr>
            <a:spLocks noChangeArrowheads="1"/>
          </p:cNvSpPr>
          <p:nvPr/>
        </p:nvSpPr>
        <p:spPr bwMode="auto">
          <a:xfrm>
            <a:off x="2209800" y="4337050"/>
            <a:ext cx="527050" cy="46355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38</a:t>
            </a:r>
          </a:p>
        </p:txBody>
      </p:sp>
      <p:sp>
        <p:nvSpPr>
          <p:cNvPr id="74763" name="Oval 11"/>
          <p:cNvSpPr>
            <a:spLocks noChangeArrowheads="1"/>
          </p:cNvSpPr>
          <p:nvPr/>
        </p:nvSpPr>
        <p:spPr bwMode="auto">
          <a:xfrm>
            <a:off x="3733800" y="4337050"/>
            <a:ext cx="527050" cy="46355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65</a:t>
            </a:r>
          </a:p>
        </p:txBody>
      </p:sp>
      <p:sp>
        <p:nvSpPr>
          <p:cNvPr id="74764" name="Oval 12"/>
          <p:cNvSpPr>
            <a:spLocks noChangeArrowheads="1"/>
          </p:cNvSpPr>
          <p:nvPr/>
        </p:nvSpPr>
        <p:spPr bwMode="auto">
          <a:xfrm>
            <a:off x="5105400" y="4337050"/>
            <a:ext cx="527050" cy="45085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13</a:t>
            </a:r>
          </a:p>
        </p:txBody>
      </p:sp>
      <p:sp>
        <p:nvSpPr>
          <p:cNvPr id="74765" name="Oval 13"/>
          <p:cNvSpPr>
            <a:spLocks noChangeArrowheads="1"/>
          </p:cNvSpPr>
          <p:nvPr/>
        </p:nvSpPr>
        <p:spPr bwMode="auto">
          <a:xfrm>
            <a:off x="6532563" y="4351338"/>
            <a:ext cx="527050" cy="45085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27</a:t>
            </a:r>
          </a:p>
        </p:txBody>
      </p:sp>
      <p:sp>
        <p:nvSpPr>
          <p:cNvPr id="74766" name="Oval 14"/>
          <p:cNvSpPr>
            <a:spLocks noChangeArrowheads="1"/>
          </p:cNvSpPr>
          <p:nvPr/>
        </p:nvSpPr>
        <p:spPr bwMode="auto">
          <a:xfrm>
            <a:off x="3048000" y="3422650"/>
            <a:ext cx="527050" cy="46355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38</a:t>
            </a:r>
          </a:p>
        </p:txBody>
      </p:sp>
      <p:sp>
        <p:nvSpPr>
          <p:cNvPr id="74767" name="Oval 15"/>
          <p:cNvSpPr>
            <a:spLocks noChangeArrowheads="1"/>
          </p:cNvSpPr>
          <p:nvPr/>
        </p:nvSpPr>
        <p:spPr bwMode="auto">
          <a:xfrm>
            <a:off x="5867400" y="3422650"/>
            <a:ext cx="527050" cy="45085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13</a:t>
            </a:r>
          </a:p>
        </p:txBody>
      </p:sp>
      <p:sp>
        <p:nvSpPr>
          <p:cNvPr id="74768" name="Oval 16"/>
          <p:cNvSpPr>
            <a:spLocks noChangeArrowheads="1"/>
          </p:cNvSpPr>
          <p:nvPr/>
        </p:nvSpPr>
        <p:spPr bwMode="auto">
          <a:xfrm>
            <a:off x="4419600" y="2584450"/>
            <a:ext cx="527050" cy="45085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13</a:t>
            </a:r>
          </a:p>
        </p:txBody>
      </p:sp>
      <p:sp>
        <p:nvSpPr>
          <p:cNvPr id="74769" name="Line 17"/>
          <p:cNvSpPr>
            <a:spLocks noChangeShapeType="1"/>
          </p:cNvSpPr>
          <p:nvPr/>
        </p:nvSpPr>
        <p:spPr bwMode="auto">
          <a:xfrm flipH="1">
            <a:off x="3429000" y="2965450"/>
            <a:ext cx="106680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4770" name="Line 18"/>
          <p:cNvSpPr>
            <a:spLocks noChangeShapeType="1"/>
          </p:cNvSpPr>
          <p:nvPr/>
        </p:nvSpPr>
        <p:spPr bwMode="auto">
          <a:xfrm>
            <a:off x="4876800" y="2965450"/>
            <a:ext cx="99060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4771" name="Line 19"/>
          <p:cNvSpPr>
            <a:spLocks noChangeShapeType="1"/>
          </p:cNvSpPr>
          <p:nvPr/>
        </p:nvSpPr>
        <p:spPr bwMode="auto">
          <a:xfrm flipH="1">
            <a:off x="2667000" y="3879850"/>
            <a:ext cx="457200" cy="4572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4772" name="Line 20"/>
          <p:cNvSpPr>
            <a:spLocks noChangeShapeType="1"/>
          </p:cNvSpPr>
          <p:nvPr/>
        </p:nvSpPr>
        <p:spPr bwMode="auto">
          <a:xfrm>
            <a:off x="3429000" y="3879850"/>
            <a:ext cx="53340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4773" name="Line 21"/>
          <p:cNvSpPr>
            <a:spLocks noChangeShapeType="1"/>
          </p:cNvSpPr>
          <p:nvPr/>
        </p:nvSpPr>
        <p:spPr bwMode="auto">
          <a:xfrm flipH="1">
            <a:off x="5562600" y="3879850"/>
            <a:ext cx="457200" cy="4572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4774" name="Line 22"/>
          <p:cNvSpPr>
            <a:spLocks noChangeShapeType="1"/>
          </p:cNvSpPr>
          <p:nvPr/>
        </p:nvSpPr>
        <p:spPr bwMode="auto">
          <a:xfrm>
            <a:off x="6248400" y="3879850"/>
            <a:ext cx="457200" cy="4572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4775" name="Line 23"/>
          <p:cNvSpPr>
            <a:spLocks noChangeShapeType="1"/>
          </p:cNvSpPr>
          <p:nvPr/>
        </p:nvSpPr>
        <p:spPr bwMode="auto">
          <a:xfrm flipH="1">
            <a:off x="2057400" y="4794250"/>
            <a:ext cx="30480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4776" name="Line 24"/>
          <p:cNvSpPr>
            <a:spLocks noChangeShapeType="1"/>
          </p:cNvSpPr>
          <p:nvPr/>
        </p:nvSpPr>
        <p:spPr bwMode="auto">
          <a:xfrm>
            <a:off x="2590800" y="4794250"/>
            <a:ext cx="22860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4777" name="Line 25"/>
          <p:cNvSpPr>
            <a:spLocks noChangeShapeType="1"/>
          </p:cNvSpPr>
          <p:nvPr/>
        </p:nvSpPr>
        <p:spPr bwMode="auto">
          <a:xfrm flipH="1">
            <a:off x="3581400" y="4794250"/>
            <a:ext cx="30480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4778" name="Line 26"/>
          <p:cNvSpPr>
            <a:spLocks noChangeShapeType="1"/>
          </p:cNvSpPr>
          <p:nvPr/>
        </p:nvSpPr>
        <p:spPr bwMode="auto">
          <a:xfrm>
            <a:off x="4114800" y="4794250"/>
            <a:ext cx="22860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4779" name="Line 27"/>
          <p:cNvSpPr>
            <a:spLocks noChangeShapeType="1"/>
          </p:cNvSpPr>
          <p:nvPr/>
        </p:nvSpPr>
        <p:spPr bwMode="auto">
          <a:xfrm flipH="1">
            <a:off x="5029200" y="4794250"/>
            <a:ext cx="228600" cy="609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4780" name="Line 28"/>
          <p:cNvSpPr>
            <a:spLocks noChangeShapeType="1"/>
          </p:cNvSpPr>
          <p:nvPr/>
        </p:nvSpPr>
        <p:spPr bwMode="auto">
          <a:xfrm>
            <a:off x="5486400" y="4718050"/>
            <a:ext cx="304800" cy="609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4781" name="Line 29"/>
          <p:cNvSpPr>
            <a:spLocks noChangeShapeType="1"/>
          </p:cNvSpPr>
          <p:nvPr/>
        </p:nvSpPr>
        <p:spPr bwMode="auto">
          <a:xfrm flipH="1">
            <a:off x="6477000" y="4794250"/>
            <a:ext cx="22860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4782" name="Line 30"/>
          <p:cNvSpPr>
            <a:spLocks noChangeShapeType="1"/>
          </p:cNvSpPr>
          <p:nvPr/>
        </p:nvSpPr>
        <p:spPr bwMode="auto">
          <a:xfrm>
            <a:off x="6934200" y="4794250"/>
            <a:ext cx="22860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4783" name="Text Box 31"/>
          <p:cNvSpPr txBox="1">
            <a:spLocks noChangeArrowheads="1"/>
          </p:cNvSpPr>
          <p:nvPr/>
        </p:nvSpPr>
        <p:spPr bwMode="auto">
          <a:xfrm>
            <a:off x="186055" y="1630680"/>
            <a:ext cx="430974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buClrTx/>
              <a:buSzTx/>
              <a:buFontTx/>
            </a:pPr>
            <a:r>
              <a:rPr lang="zh-CN" altLang="en-US" b="1">
                <a:ea typeface="楷体_GB2312" pitchFamily="49" charset="-122"/>
                <a:sym typeface="+mn-ea"/>
              </a:rPr>
              <a:t>Select the </a:t>
            </a:r>
            <a:r>
              <a:rPr lang="en-US" altLang="zh-CN" b="1">
                <a:solidFill>
                  <a:srgbClr val="990000"/>
                </a:solidFill>
                <a:ea typeface="楷体_GB2312" pitchFamily="49" charset="-122"/>
                <a:sym typeface="+mn-ea"/>
              </a:rPr>
              <a:t>smallest key </a:t>
            </a:r>
            <a:r>
              <a:rPr lang="en-US" altLang="zh-CN" b="1">
                <a:solidFill>
                  <a:srgbClr val="990000"/>
                </a:solidFill>
                <a:ea typeface="楷体_GB2312" pitchFamily="49" charset="-122"/>
              </a:rPr>
              <a:t>13</a:t>
            </a:r>
          </a:p>
        </p:txBody>
      </p:sp>
      <p:sp>
        <p:nvSpPr>
          <p:cNvPr id="74784" name="Rectangle 32"/>
          <p:cNvSpPr>
            <a:spLocks noChangeArrowheads="1"/>
          </p:cNvSpPr>
          <p:nvPr/>
        </p:nvSpPr>
        <p:spPr bwMode="auto">
          <a:xfrm>
            <a:off x="533400" y="436563"/>
            <a:ext cx="6941185"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20000"/>
              </a:spcBef>
              <a:buSzPct val="80000"/>
            </a:pPr>
            <a:r>
              <a:rPr lang="zh-CN" altLang="en-US" sz="3600" b="1">
                <a:ea typeface="楷体_GB2312" pitchFamily="49" charset="-122"/>
                <a:sym typeface="+mn-ea"/>
              </a:rPr>
              <a:t>Example</a:t>
            </a:r>
            <a:r>
              <a:rPr lang="zh-CN" altLang="en-US" sz="3600" b="1">
                <a:ea typeface="楷体_GB2312" pitchFamily="49" charset="-122"/>
              </a:rPr>
              <a:t>： </a:t>
            </a:r>
            <a:r>
              <a:rPr lang="en-US" altLang="zh-CN" sz="3600" b="1">
                <a:ea typeface="楷体_GB2312" pitchFamily="49" charset="-122"/>
              </a:rPr>
              <a:t>49 38 65 97 76 13 27 49</a:t>
            </a:r>
          </a:p>
        </p:txBody>
      </p:sp>
      <p:sp>
        <p:nvSpPr>
          <p:cNvPr id="74785" name="Text Box 33"/>
          <p:cNvSpPr txBox="1">
            <a:spLocks noChangeArrowheads="1"/>
          </p:cNvSpPr>
          <p:nvPr/>
        </p:nvSpPr>
        <p:spPr bwMode="auto">
          <a:xfrm>
            <a:off x="7667625" y="2708275"/>
            <a:ext cx="6477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990000"/>
                </a:solidFill>
                <a:ea typeface="楷体_GB2312" pitchFamily="49" charset="-122"/>
              </a:rPr>
              <a:t>13</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78</a:t>
            </a:fld>
            <a:endParaRPr lang="en-US" altLang="zh-CN"/>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Oval 2"/>
          <p:cNvSpPr>
            <a:spLocks noChangeArrowheads="1"/>
          </p:cNvSpPr>
          <p:nvPr/>
        </p:nvSpPr>
        <p:spPr bwMode="auto">
          <a:xfrm>
            <a:off x="2514600" y="5556250"/>
            <a:ext cx="527050" cy="46355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38</a:t>
            </a:r>
          </a:p>
        </p:txBody>
      </p:sp>
      <p:sp>
        <p:nvSpPr>
          <p:cNvPr id="75779" name="Oval 3"/>
          <p:cNvSpPr>
            <a:spLocks noChangeArrowheads="1"/>
          </p:cNvSpPr>
          <p:nvPr/>
        </p:nvSpPr>
        <p:spPr bwMode="auto">
          <a:xfrm>
            <a:off x="1676400" y="5556250"/>
            <a:ext cx="527050" cy="46355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49</a:t>
            </a:r>
          </a:p>
        </p:txBody>
      </p:sp>
      <p:sp>
        <p:nvSpPr>
          <p:cNvPr id="75780" name="Oval 4"/>
          <p:cNvSpPr>
            <a:spLocks noChangeArrowheads="1"/>
          </p:cNvSpPr>
          <p:nvPr/>
        </p:nvSpPr>
        <p:spPr bwMode="auto">
          <a:xfrm>
            <a:off x="3276600" y="5556250"/>
            <a:ext cx="527050" cy="46355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65</a:t>
            </a:r>
          </a:p>
        </p:txBody>
      </p:sp>
      <p:sp>
        <p:nvSpPr>
          <p:cNvPr id="75781" name="Oval 5"/>
          <p:cNvSpPr>
            <a:spLocks noChangeArrowheads="1"/>
          </p:cNvSpPr>
          <p:nvPr/>
        </p:nvSpPr>
        <p:spPr bwMode="auto">
          <a:xfrm>
            <a:off x="4038600" y="5556250"/>
            <a:ext cx="527050" cy="46355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97</a:t>
            </a:r>
          </a:p>
        </p:txBody>
      </p:sp>
      <p:sp>
        <p:nvSpPr>
          <p:cNvPr id="75782" name="Oval 6"/>
          <p:cNvSpPr>
            <a:spLocks noChangeArrowheads="1"/>
          </p:cNvSpPr>
          <p:nvPr/>
        </p:nvSpPr>
        <p:spPr bwMode="auto">
          <a:xfrm>
            <a:off x="4800600" y="5556250"/>
            <a:ext cx="527050" cy="46355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76</a:t>
            </a:r>
          </a:p>
        </p:txBody>
      </p:sp>
      <p:sp>
        <p:nvSpPr>
          <p:cNvPr id="75783" name="Oval 7"/>
          <p:cNvSpPr>
            <a:spLocks noChangeArrowheads="1"/>
          </p:cNvSpPr>
          <p:nvPr/>
        </p:nvSpPr>
        <p:spPr bwMode="auto">
          <a:xfrm>
            <a:off x="5486400" y="5562600"/>
            <a:ext cx="527050" cy="45085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a:t>
            </a:r>
          </a:p>
        </p:txBody>
      </p:sp>
      <p:sp>
        <p:nvSpPr>
          <p:cNvPr id="75784" name="Oval 8"/>
          <p:cNvSpPr>
            <a:spLocks noChangeArrowheads="1"/>
          </p:cNvSpPr>
          <p:nvPr/>
        </p:nvSpPr>
        <p:spPr bwMode="auto">
          <a:xfrm>
            <a:off x="6172200" y="5556250"/>
            <a:ext cx="527050" cy="45085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27</a:t>
            </a:r>
          </a:p>
        </p:txBody>
      </p:sp>
      <p:sp>
        <p:nvSpPr>
          <p:cNvPr id="75785" name="Oval 9"/>
          <p:cNvSpPr>
            <a:spLocks noChangeArrowheads="1"/>
          </p:cNvSpPr>
          <p:nvPr/>
        </p:nvSpPr>
        <p:spPr bwMode="auto">
          <a:xfrm>
            <a:off x="6858000" y="5556250"/>
            <a:ext cx="527050" cy="45085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49</a:t>
            </a:r>
          </a:p>
        </p:txBody>
      </p:sp>
      <p:sp>
        <p:nvSpPr>
          <p:cNvPr id="75786" name="Oval 10"/>
          <p:cNvSpPr>
            <a:spLocks noChangeArrowheads="1"/>
          </p:cNvSpPr>
          <p:nvPr/>
        </p:nvSpPr>
        <p:spPr bwMode="auto">
          <a:xfrm>
            <a:off x="2209800" y="4565650"/>
            <a:ext cx="527050" cy="46355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38</a:t>
            </a:r>
          </a:p>
        </p:txBody>
      </p:sp>
      <p:sp>
        <p:nvSpPr>
          <p:cNvPr id="75787" name="Oval 11"/>
          <p:cNvSpPr>
            <a:spLocks noChangeArrowheads="1"/>
          </p:cNvSpPr>
          <p:nvPr/>
        </p:nvSpPr>
        <p:spPr bwMode="auto">
          <a:xfrm>
            <a:off x="3733800" y="4565650"/>
            <a:ext cx="527050" cy="46355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65</a:t>
            </a:r>
          </a:p>
        </p:txBody>
      </p:sp>
      <p:sp>
        <p:nvSpPr>
          <p:cNvPr id="75788" name="Oval 12"/>
          <p:cNvSpPr>
            <a:spLocks noChangeArrowheads="1"/>
          </p:cNvSpPr>
          <p:nvPr/>
        </p:nvSpPr>
        <p:spPr bwMode="auto">
          <a:xfrm>
            <a:off x="5105400" y="4565650"/>
            <a:ext cx="527050" cy="45085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76</a:t>
            </a:r>
          </a:p>
        </p:txBody>
      </p:sp>
      <p:sp>
        <p:nvSpPr>
          <p:cNvPr id="75789" name="Oval 13"/>
          <p:cNvSpPr>
            <a:spLocks noChangeArrowheads="1"/>
          </p:cNvSpPr>
          <p:nvPr/>
        </p:nvSpPr>
        <p:spPr bwMode="auto">
          <a:xfrm>
            <a:off x="6532563" y="4579938"/>
            <a:ext cx="527050" cy="45085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27</a:t>
            </a:r>
          </a:p>
        </p:txBody>
      </p:sp>
      <p:sp>
        <p:nvSpPr>
          <p:cNvPr id="75790" name="Oval 14"/>
          <p:cNvSpPr>
            <a:spLocks noChangeArrowheads="1"/>
          </p:cNvSpPr>
          <p:nvPr/>
        </p:nvSpPr>
        <p:spPr bwMode="auto">
          <a:xfrm>
            <a:off x="3048000" y="3651250"/>
            <a:ext cx="527050" cy="46355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38</a:t>
            </a:r>
          </a:p>
        </p:txBody>
      </p:sp>
      <p:sp>
        <p:nvSpPr>
          <p:cNvPr id="75791" name="Oval 15"/>
          <p:cNvSpPr>
            <a:spLocks noChangeArrowheads="1"/>
          </p:cNvSpPr>
          <p:nvPr/>
        </p:nvSpPr>
        <p:spPr bwMode="auto">
          <a:xfrm>
            <a:off x="5867400" y="3651250"/>
            <a:ext cx="527050" cy="45085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27</a:t>
            </a:r>
          </a:p>
        </p:txBody>
      </p:sp>
      <p:sp>
        <p:nvSpPr>
          <p:cNvPr id="75792" name="Oval 16"/>
          <p:cNvSpPr>
            <a:spLocks noChangeArrowheads="1"/>
          </p:cNvSpPr>
          <p:nvPr/>
        </p:nvSpPr>
        <p:spPr bwMode="auto">
          <a:xfrm>
            <a:off x="4419600" y="2813050"/>
            <a:ext cx="527050" cy="45085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27</a:t>
            </a:r>
          </a:p>
        </p:txBody>
      </p:sp>
      <p:sp>
        <p:nvSpPr>
          <p:cNvPr id="75793" name="Line 17"/>
          <p:cNvSpPr>
            <a:spLocks noChangeShapeType="1"/>
          </p:cNvSpPr>
          <p:nvPr/>
        </p:nvSpPr>
        <p:spPr bwMode="auto">
          <a:xfrm flipH="1">
            <a:off x="3429000" y="3194050"/>
            <a:ext cx="106680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5794" name="Line 18"/>
          <p:cNvSpPr>
            <a:spLocks noChangeShapeType="1"/>
          </p:cNvSpPr>
          <p:nvPr/>
        </p:nvSpPr>
        <p:spPr bwMode="auto">
          <a:xfrm>
            <a:off x="4876800" y="3194050"/>
            <a:ext cx="99060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5795" name="Line 19"/>
          <p:cNvSpPr>
            <a:spLocks noChangeShapeType="1"/>
          </p:cNvSpPr>
          <p:nvPr/>
        </p:nvSpPr>
        <p:spPr bwMode="auto">
          <a:xfrm flipH="1">
            <a:off x="2667000" y="4108450"/>
            <a:ext cx="457200" cy="4572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5796" name="Line 20"/>
          <p:cNvSpPr>
            <a:spLocks noChangeShapeType="1"/>
          </p:cNvSpPr>
          <p:nvPr/>
        </p:nvSpPr>
        <p:spPr bwMode="auto">
          <a:xfrm>
            <a:off x="3429000" y="4108450"/>
            <a:ext cx="53340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5797" name="Line 21"/>
          <p:cNvSpPr>
            <a:spLocks noChangeShapeType="1"/>
          </p:cNvSpPr>
          <p:nvPr/>
        </p:nvSpPr>
        <p:spPr bwMode="auto">
          <a:xfrm flipH="1">
            <a:off x="5562600" y="4108450"/>
            <a:ext cx="457200" cy="4572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5798" name="Line 22"/>
          <p:cNvSpPr>
            <a:spLocks noChangeShapeType="1"/>
          </p:cNvSpPr>
          <p:nvPr/>
        </p:nvSpPr>
        <p:spPr bwMode="auto">
          <a:xfrm>
            <a:off x="6248400" y="4108450"/>
            <a:ext cx="457200" cy="4572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5799" name="Line 23"/>
          <p:cNvSpPr>
            <a:spLocks noChangeShapeType="1"/>
          </p:cNvSpPr>
          <p:nvPr/>
        </p:nvSpPr>
        <p:spPr bwMode="auto">
          <a:xfrm flipH="1">
            <a:off x="2057400" y="5022850"/>
            <a:ext cx="30480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5800" name="Line 24"/>
          <p:cNvSpPr>
            <a:spLocks noChangeShapeType="1"/>
          </p:cNvSpPr>
          <p:nvPr/>
        </p:nvSpPr>
        <p:spPr bwMode="auto">
          <a:xfrm>
            <a:off x="2590800" y="5022850"/>
            <a:ext cx="22860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5801" name="Line 25"/>
          <p:cNvSpPr>
            <a:spLocks noChangeShapeType="1"/>
          </p:cNvSpPr>
          <p:nvPr/>
        </p:nvSpPr>
        <p:spPr bwMode="auto">
          <a:xfrm flipH="1">
            <a:off x="3581400" y="5022850"/>
            <a:ext cx="30480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5802" name="Line 26"/>
          <p:cNvSpPr>
            <a:spLocks noChangeShapeType="1"/>
          </p:cNvSpPr>
          <p:nvPr/>
        </p:nvSpPr>
        <p:spPr bwMode="auto">
          <a:xfrm>
            <a:off x="4114800" y="5022850"/>
            <a:ext cx="22860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5803" name="Line 27"/>
          <p:cNvSpPr>
            <a:spLocks noChangeShapeType="1"/>
          </p:cNvSpPr>
          <p:nvPr/>
        </p:nvSpPr>
        <p:spPr bwMode="auto">
          <a:xfrm flipH="1">
            <a:off x="5029200" y="5022850"/>
            <a:ext cx="228600" cy="609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5804" name="Line 28"/>
          <p:cNvSpPr>
            <a:spLocks noChangeShapeType="1"/>
          </p:cNvSpPr>
          <p:nvPr/>
        </p:nvSpPr>
        <p:spPr bwMode="auto">
          <a:xfrm>
            <a:off x="5486400" y="4946650"/>
            <a:ext cx="304800" cy="609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5805" name="Line 29"/>
          <p:cNvSpPr>
            <a:spLocks noChangeShapeType="1"/>
          </p:cNvSpPr>
          <p:nvPr/>
        </p:nvSpPr>
        <p:spPr bwMode="auto">
          <a:xfrm flipH="1">
            <a:off x="6477000" y="5022850"/>
            <a:ext cx="22860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5806" name="Line 30"/>
          <p:cNvSpPr>
            <a:spLocks noChangeShapeType="1"/>
          </p:cNvSpPr>
          <p:nvPr/>
        </p:nvSpPr>
        <p:spPr bwMode="auto">
          <a:xfrm>
            <a:off x="6934200" y="5022850"/>
            <a:ext cx="22860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5807" name="Text Box 31"/>
          <p:cNvSpPr txBox="1">
            <a:spLocks noChangeArrowheads="1"/>
          </p:cNvSpPr>
          <p:nvPr/>
        </p:nvSpPr>
        <p:spPr bwMode="auto">
          <a:xfrm>
            <a:off x="838200" y="609600"/>
            <a:ext cx="7848600" cy="2861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latin typeface="Arial" panose="020B0604020202020204" pitchFamily="34" charset="0"/>
                <a:ea typeface="楷体_GB2312" pitchFamily="49" charset="-122"/>
                <a:cs typeface="Arial" panose="020B0604020202020204" pitchFamily="34" charset="0"/>
                <a:sym typeface="+mn-ea"/>
              </a:rPr>
              <a:t>Replace the minimum key (13) in the leaf node with the maximum value, then update the keys of all nodes along the path from the leaf node to the root. The key of the root node will then be the second smallest key. Thus, the </a:t>
            </a:r>
            <a:r>
              <a:rPr lang="zh-CN" altLang="en-US" sz="2400" b="1">
                <a:solidFill>
                  <a:srgbClr val="990000"/>
                </a:solidFill>
                <a:latin typeface="Arial" panose="020B0604020202020204" pitchFamily="34" charset="0"/>
                <a:ea typeface="楷体_GB2312" pitchFamily="49" charset="-122"/>
                <a:cs typeface="Arial" panose="020B0604020202020204" pitchFamily="34" charset="0"/>
                <a:sym typeface="+mn-ea"/>
              </a:rPr>
              <a:t>second smallest key is selected as 27</a:t>
            </a:r>
            <a:r>
              <a:rPr lang="zh-CN" altLang="en-US" sz="2400" b="1">
                <a:latin typeface="Arial" panose="020B0604020202020204" pitchFamily="34" charset="0"/>
                <a:ea typeface="楷体_GB2312" pitchFamily="49" charset="-122"/>
                <a:cs typeface="Arial" panose="020B0604020202020204" pitchFamily="34" charset="0"/>
                <a:sym typeface="+mn-ea"/>
              </a:rPr>
              <a:t>.</a:t>
            </a:r>
            <a:endParaRPr lang="zh-CN" altLang="en-US" sz="2400" b="1">
              <a:latin typeface="Arial" panose="020B0604020202020204" pitchFamily="34" charset="0"/>
              <a:ea typeface="楷体_GB2312" pitchFamily="49" charset="-122"/>
              <a:cs typeface="Arial" panose="020B0604020202020204" pitchFamily="34" charset="0"/>
            </a:endParaRPr>
          </a:p>
          <a:p>
            <a:pPr>
              <a:spcBef>
                <a:spcPct val="50000"/>
              </a:spcBef>
            </a:pPr>
            <a:endParaRPr lang="zh-CN" altLang="en-US" sz="2400" b="1">
              <a:latin typeface="Arial" panose="020B0604020202020204" pitchFamily="34" charset="0"/>
              <a:ea typeface="楷体_GB2312" pitchFamily="49" charset="-122"/>
              <a:cs typeface="Arial" panose="020B0604020202020204" pitchFamily="34" charset="0"/>
            </a:endParaRPr>
          </a:p>
        </p:txBody>
      </p:sp>
      <p:sp>
        <p:nvSpPr>
          <p:cNvPr id="75808" name="Text Box 32"/>
          <p:cNvSpPr txBox="1">
            <a:spLocks noChangeArrowheads="1"/>
          </p:cNvSpPr>
          <p:nvPr/>
        </p:nvSpPr>
        <p:spPr bwMode="auto">
          <a:xfrm>
            <a:off x="7667625" y="2708275"/>
            <a:ext cx="6477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990000"/>
                </a:solidFill>
                <a:ea typeface="楷体_GB2312" pitchFamily="49" charset="-122"/>
              </a:rPr>
              <a:t>13</a:t>
            </a:r>
          </a:p>
        </p:txBody>
      </p:sp>
      <p:sp>
        <p:nvSpPr>
          <p:cNvPr id="75809" name="Text Box 33"/>
          <p:cNvSpPr txBox="1">
            <a:spLocks noChangeArrowheads="1"/>
          </p:cNvSpPr>
          <p:nvPr/>
        </p:nvSpPr>
        <p:spPr bwMode="auto">
          <a:xfrm>
            <a:off x="7667625" y="3500438"/>
            <a:ext cx="6477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990000"/>
                </a:solidFill>
                <a:ea typeface="楷体_GB2312" pitchFamily="49" charset="-122"/>
              </a:rPr>
              <a:t>27</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79</a:t>
            </a:fld>
            <a:endParaRPr lang="en-US" altLang="zh-CN"/>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Oval 2"/>
          <p:cNvSpPr>
            <a:spLocks noChangeArrowheads="1"/>
          </p:cNvSpPr>
          <p:nvPr/>
        </p:nvSpPr>
        <p:spPr bwMode="auto">
          <a:xfrm>
            <a:off x="2514600" y="5556250"/>
            <a:ext cx="527050" cy="46355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38</a:t>
            </a:r>
          </a:p>
        </p:txBody>
      </p:sp>
      <p:sp>
        <p:nvSpPr>
          <p:cNvPr id="76803" name="Oval 3"/>
          <p:cNvSpPr>
            <a:spLocks noChangeArrowheads="1"/>
          </p:cNvSpPr>
          <p:nvPr/>
        </p:nvSpPr>
        <p:spPr bwMode="auto">
          <a:xfrm>
            <a:off x="1676400" y="5556250"/>
            <a:ext cx="527050" cy="46355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49</a:t>
            </a:r>
          </a:p>
        </p:txBody>
      </p:sp>
      <p:sp>
        <p:nvSpPr>
          <p:cNvPr id="76804" name="Oval 4"/>
          <p:cNvSpPr>
            <a:spLocks noChangeArrowheads="1"/>
          </p:cNvSpPr>
          <p:nvPr/>
        </p:nvSpPr>
        <p:spPr bwMode="auto">
          <a:xfrm>
            <a:off x="3276600" y="5556250"/>
            <a:ext cx="527050" cy="46355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65</a:t>
            </a:r>
          </a:p>
        </p:txBody>
      </p:sp>
      <p:sp>
        <p:nvSpPr>
          <p:cNvPr id="76805" name="Oval 5"/>
          <p:cNvSpPr>
            <a:spLocks noChangeArrowheads="1"/>
          </p:cNvSpPr>
          <p:nvPr/>
        </p:nvSpPr>
        <p:spPr bwMode="auto">
          <a:xfrm>
            <a:off x="4038600" y="5556250"/>
            <a:ext cx="527050" cy="46355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97</a:t>
            </a:r>
          </a:p>
        </p:txBody>
      </p:sp>
      <p:sp>
        <p:nvSpPr>
          <p:cNvPr id="76806" name="Oval 6"/>
          <p:cNvSpPr>
            <a:spLocks noChangeArrowheads="1"/>
          </p:cNvSpPr>
          <p:nvPr/>
        </p:nvSpPr>
        <p:spPr bwMode="auto">
          <a:xfrm>
            <a:off x="4800600" y="5556250"/>
            <a:ext cx="527050" cy="46355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76</a:t>
            </a:r>
          </a:p>
        </p:txBody>
      </p:sp>
      <p:sp>
        <p:nvSpPr>
          <p:cNvPr id="76807" name="Oval 7"/>
          <p:cNvSpPr>
            <a:spLocks noChangeArrowheads="1"/>
          </p:cNvSpPr>
          <p:nvPr/>
        </p:nvSpPr>
        <p:spPr bwMode="auto">
          <a:xfrm>
            <a:off x="5486400" y="5562600"/>
            <a:ext cx="527050" cy="45085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a:t>
            </a:r>
          </a:p>
        </p:txBody>
      </p:sp>
      <p:sp>
        <p:nvSpPr>
          <p:cNvPr id="76808" name="Oval 8"/>
          <p:cNvSpPr>
            <a:spLocks noChangeArrowheads="1"/>
          </p:cNvSpPr>
          <p:nvPr/>
        </p:nvSpPr>
        <p:spPr bwMode="auto">
          <a:xfrm>
            <a:off x="6172200" y="5556250"/>
            <a:ext cx="527050" cy="45085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a:t>
            </a:r>
          </a:p>
        </p:txBody>
      </p:sp>
      <p:sp>
        <p:nvSpPr>
          <p:cNvPr id="76809" name="Oval 9"/>
          <p:cNvSpPr>
            <a:spLocks noChangeArrowheads="1"/>
          </p:cNvSpPr>
          <p:nvPr/>
        </p:nvSpPr>
        <p:spPr bwMode="auto">
          <a:xfrm>
            <a:off x="6858000" y="5556250"/>
            <a:ext cx="527050" cy="45085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49</a:t>
            </a:r>
          </a:p>
        </p:txBody>
      </p:sp>
      <p:sp>
        <p:nvSpPr>
          <p:cNvPr id="76810" name="Oval 10"/>
          <p:cNvSpPr>
            <a:spLocks noChangeArrowheads="1"/>
          </p:cNvSpPr>
          <p:nvPr/>
        </p:nvSpPr>
        <p:spPr bwMode="auto">
          <a:xfrm>
            <a:off x="2209800" y="4565650"/>
            <a:ext cx="527050" cy="46355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38</a:t>
            </a:r>
          </a:p>
        </p:txBody>
      </p:sp>
      <p:sp>
        <p:nvSpPr>
          <p:cNvPr id="76811" name="Oval 11"/>
          <p:cNvSpPr>
            <a:spLocks noChangeArrowheads="1"/>
          </p:cNvSpPr>
          <p:nvPr/>
        </p:nvSpPr>
        <p:spPr bwMode="auto">
          <a:xfrm>
            <a:off x="3733800" y="4565650"/>
            <a:ext cx="527050" cy="46355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65</a:t>
            </a:r>
          </a:p>
        </p:txBody>
      </p:sp>
      <p:sp>
        <p:nvSpPr>
          <p:cNvPr id="76812" name="Oval 12"/>
          <p:cNvSpPr>
            <a:spLocks noChangeArrowheads="1"/>
          </p:cNvSpPr>
          <p:nvPr/>
        </p:nvSpPr>
        <p:spPr bwMode="auto">
          <a:xfrm>
            <a:off x="5105400" y="4565650"/>
            <a:ext cx="527050" cy="45085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76</a:t>
            </a:r>
          </a:p>
        </p:txBody>
      </p:sp>
      <p:sp>
        <p:nvSpPr>
          <p:cNvPr id="76813" name="Oval 13"/>
          <p:cNvSpPr>
            <a:spLocks noChangeArrowheads="1"/>
          </p:cNvSpPr>
          <p:nvPr/>
        </p:nvSpPr>
        <p:spPr bwMode="auto">
          <a:xfrm>
            <a:off x="6532563" y="4579938"/>
            <a:ext cx="527050" cy="45085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49</a:t>
            </a:r>
          </a:p>
        </p:txBody>
      </p:sp>
      <p:sp>
        <p:nvSpPr>
          <p:cNvPr id="76814" name="Oval 14"/>
          <p:cNvSpPr>
            <a:spLocks noChangeArrowheads="1"/>
          </p:cNvSpPr>
          <p:nvPr/>
        </p:nvSpPr>
        <p:spPr bwMode="auto">
          <a:xfrm>
            <a:off x="3048000" y="3651250"/>
            <a:ext cx="527050" cy="46355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38</a:t>
            </a:r>
          </a:p>
        </p:txBody>
      </p:sp>
      <p:sp>
        <p:nvSpPr>
          <p:cNvPr id="76815" name="Oval 15"/>
          <p:cNvSpPr>
            <a:spLocks noChangeArrowheads="1"/>
          </p:cNvSpPr>
          <p:nvPr/>
        </p:nvSpPr>
        <p:spPr bwMode="auto">
          <a:xfrm>
            <a:off x="5867400" y="3651250"/>
            <a:ext cx="527050" cy="45085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49</a:t>
            </a:r>
          </a:p>
        </p:txBody>
      </p:sp>
      <p:sp>
        <p:nvSpPr>
          <p:cNvPr id="76816" name="Oval 16"/>
          <p:cNvSpPr>
            <a:spLocks noChangeArrowheads="1"/>
          </p:cNvSpPr>
          <p:nvPr/>
        </p:nvSpPr>
        <p:spPr bwMode="auto">
          <a:xfrm>
            <a:off x="4419600" y="2813050"/>
            <a:ext cx="527050" cy="45085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38</a:t>
            </a:r>
          </a:p>
        </p:txBody>
      </p:sp>
      <p:sp>
        <p:nvSpPr>
          <p:cNvPr id="76817" name="Line 17"/>
          <p:cNvSpPr>
            <a:spLocks noChangeShapeType="1"/>
          </p:cNvSpPr>
          <p:nvPr/>
        </p:nvSpPr>
        <p:spPr bwMode="auto">
          <a:xfrm flipH="1">
            <a:off x="3429000" y="3194050"/>
            <a:ext cx="106680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6818" name="Line 18"/>
          <p:cNvSpPr>
            <a:spLocks noChangeShapeType="1"/>
          </p:cNvSpPr>
          <p:nvPr/>
        </p:nvSpPr>
        <p:spPr bwMode="auto">
          <a:xfrm>
            <a:off x="4876800" y="3194050"/>
            <a:ext cx="99060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6819" name="Line 19"/>
          <p:cNvSpPr>
            <a:spLocks noChangeShapeType="1"/>
          </p:cNvSpPr>
          <p:nvPr/>
        </p:nvSpPr>
        <p:spPr bwMode="auto">
          <a:xfrm flipH="1">
            <a:off x="2667000" y="4108450"/>
            <a:ext cx="457200" cy="4572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6820" name="Line 20"/>
          <p:cNvSpPr>
            <a:spLocks noChangeShapeType="1"/>
          </p:cNvSpPr>
          <p:nvPr/>
        </p:nvSpPr>
        <p:spPr bwMode="auto">
          <a:xfrm>
            <a:off x="3429000" y="4108450"/>
            <a:ext cx="53340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6821" name="Line 21"/>
          <p:cNvSpPr>
            <a:spLocks noChangeShapeType="1"/>
          </p:cNvSpPr>
          <p:nvPr/>
        </p:nvSpPr>
        <p:spPr bwMode="auto">
          <a:xfrm flipH="1">
            <a:off x="5562600" y="4108450"/>
            <a:ext cx="457200" cy="4572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6822" name="Line 22"/>
          <p:cNvSpPr>
            <a:spLocks noChangeShapeType="1"/>
          </p:cNvSpPr>
          <p:nvPr/>
        </p:nvSpPr>
        <p:spPr bwMode="auto">
          <a:xfrm>
            <a:off x="6248400" y="4108450"/>
            <a:ext cx="457200" cy="4572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6823" name="Line 23"/>
          <p:cNvSpPr>
            <a:spLocks noChangeShapeType="1"/>
          </p:cNvSpPr>
          <p:nvPr/>
        </p:nvSpPr>
        <p:spPr bwMode="auto">
          <a:xfrm flipH="1">
            <a:off x="2057400" y="5022850"/>
            <a:ext cx="30480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6824" name="Line 24"/>
          <p:cNvSpPr>
            <a:spLocks noChangeShapeType="1"/>
          </p:cNvSpPr>
          <p:nvPr/>
        </p:nvSpPr>
        <p:spPr bwMode="auto">
          <a:xfrm>
            <a:off x="2590800" y="5022850"/>
            <a:ext cx="22860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6825" name="Line 25"/>
          <p:cNvSpPr>
            <a:spLocks noChangeShapeType="1"/>
          </p:cNvSpPr>
          <p:nvPr/>
        </p:nvSpPr>
        <p:spPr bwMode="auto">
          <a:xfrm flipH="1">
            <a:off x="3581400" y="5022850"/>
            <a:ext cx="30480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6826" name="Line 26"/>
          <p:cNvSpPr>
            <a:spLocks noChangeShapeType="1"/>
          </p:cNvSpPr>
          <p:nvPr/>
        </p:nvSpPr>
        <p:spPr bwMode="auto">
          <a:xfrm>
            <a:off x="4114800" y="5022850"/>
            <a:ext cx="22860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6827" name="Line 27"/>
          <p:cNvSpPr>
            <a:spLocks noChangeShapeType="1"/>
          </p:cNvSpPr>
          <p:nvPr/>
        </p:nvSpPr>
        <p:spPr bwMode="auto">
          <a:xfrm flipH="1">
            <a:off x="5029200" y="5022850"/>
            <a:ext cx="228600" cy="609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6828" name="Line 28"/>
          <p:cNvSpPr>
            <a:spLocks noChangeShapeType="1"/>
          </p:cNvSpPr>
          <p:nvPr/>
        </p:nvSpPr>
        <p:spPr bwMode="auto">
          <a:xfrm>
            <a:off x="5486400" y="4946650"/>
            <a:ext cx="304800" cy="609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6829" name="Line 29"/>
          <p:cNvSpPr>
            <a:spLocks noChangeShapeType="1"/>
          </p:cNvSpPr>
          <p:nvPr/>
        </p:nvSpPr>
        <p:spPr bwMode="auto">
          <a:xfrm flipH="1">
            <a:off x="6477000" y="5022850"/>
            <a:ext cx="22860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6830" name="Line 30"/>
          <p:cNvSpPr>
            <a:spLocks noChangeShapeType="1"/>
          </p:cNvSpPr>
          <p:nvPr/>
        </p:nvSpPr>
        <p:spPr bwMode="auto">
          <a:xfrm>
            <a:off x="6934200" y="5022850"/>
            <a:ext cx="22860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6831" name="Text Box 31"/>
          <p:cNvSpPr txBox="1">
            <a:spLocks noChangeArrowheads="1"/>
          </p:cNvSpPr>
          <p:nvPr/>
        </p:nvSpPr>
        <p:spPr bwMode="auto">
          <a:xfrm>
            <a:off x="838200" y="609600"/>
            <a:ext cx="7848600" cy="138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latin typeface="Arial" panose="020B0604020202020204" pitchFamily="34" charset="0"/>
                <a:ea typeface="楷体_GB2312" pitchFamily="49" charset="-122"/>
                <a:cs typeface="Arial" panose="020B0604020202020204" pitchFamily="34" charset="0"/>
                <a:sym typeface="+mn-ea"/>
              </a:rPr>
              <a:t>Similarly, you can select all keywords in ascending order. The </a:t>
            </a:r>
            <a:r>
              <a:rPr lang="zh-CN" altLang="en-US" sz="2400" b="1">
                <a:solidFill>
                  <a:srgbClr val="990000"/>
                </a:solidFill>
                <a:latin typeface="Arial" panose="020B0604020202020204" pitchFamily="34" charset="0"/>
                <a:ea typeface="楷体_GB2312" pitchFamily="49" charset="-122"/>
                <a:cs typeface="Arial" panose="020B0604020202020204" pitchFamily="34" charset="0"/>
                <a:sym typeface="+mn-ea"/>
              </a:rPr>
              <a:t>third keyword is 38.</a:t>
            </a:r>
            <a:endParaRPr lang="zh-CN" altLang="en-US" sz="2400" b="1">
              <a:solidFill>
                <a:srgbClr val="990000"/>
              </a:solidFill>
              <a:latin typeface="Arial" panose="020B0604020202020204" pitchFamily="34" charset="0"/>
              <a:ea typeface="楷体_GB2312" pitchFamily="49" charset="-122"/>
              <a:cs typeface="Arial" panose="020B0604020202020204" pitchFamily="34" charset="0"/>
            </a:endParaRPr>
          </a:p>
          <a:p>
            <a:pPr>
              <a:spcBef>
                <a:spcPct val="50000"/>
              </a:spcBef>
            </a:pPr>
            <a:r>
              <a:rPr lang="en-US" altLang="zh-CN" sz="2400" b="1">
                <a:latin typeface="Arial" panose="020B0604020202020204" pitchFamily="34" charset="0"/>
                <a:ea typeface="楷体_GB2312" pitchFamily="49" charset="-122"/>
                <a:cs typeface="Arial" panose="020B0604020202020204" pitchFamily="34" charset="0"/>
                <a:sym typeface="+mn-ea"/>
              </a:rPr>
              <a:t>……</a:t>
            </a:r>
            <a:endParaRPr lang="en-US" altLang="zh-CN" sz="2400" b="1">
              <a:latin typeface="Arial" panose="020B0604020202020204" pitchFamily="34" charset="0"/>
              <a:ea typeface="楷体_GB2312" pitchFamily="49" charset="-122"/>
              <a:cs typeface="Arial" panose="020B0604020202020204" pitchFamily="34" charset="0"/>
            </a:endParaRPr>
          </a:p>
        </p:txBody>
      </p:sp>
      <p:sp>
        <p:nvSpPr>
          <p:cNvPr id="76832" name="Text Box 32"/>
          <p:cNvSpPr txBox="1">
            <a:spLocks noChangeArrowheads="1"/>
          </p:cNvSpPr>
          <p:nvPr/>
        </p:nvSpPr>
        <p:spPr bwMode="auto">
          <a:xfrm>
            <a:off x="7667625" y="2708275"/>
            <a:ext cx="6477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990000"/>
                </a:solidFill>
                <a:ea typeface="楷体_GB2312" pitchFamily="49" charset="-122"/>
              </a:rPr>
              <a:t>13</a:t>
            </a:r>
          </a:p>
        </p:txBody>
      </p:sp>
      <p:sp>
        <p:nvSpPr>
          <p:cNvPr id="76833" name="Text Box 33"/>
          <p:cNvSpPr txBox="1">
            <a:spLocks noChangeArrowheads="1"/>
          </p:cNvSpPr>
          <p:nvPr/>
        </p:nvSpPr>
        <p:spPr bwMode="auto">
          <a:xfrm>
            <a:off x="7667625" y="3500438"/>
            <a:ext cx="6477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990000"/>
                </a:solidFill>
                <a:ea typeface="楷体_GB2312" pitchFamily="49" charset="-122"/>
              </a:rPr>
              <a:t>27</a:t>
            </a:r>
          </a:p>
        </p:txBody>
      </p:sp>
      <p:sp>
        <p:nvSpPr>
          <p:cNvPr id="76834" name="Text Box 34"/>
          <p:cNvSpPr txBox="1">
            <a:spLocks noChangeArrowheads="1"/>
          </p:cNvSpPr>
          <p:nvPr/>
        </p:nvSpPr>
        <p:spPr bwMode="auto">
          <a:xfrm>
            <a:off x="7667625" y="4221163"/>
            <a:ext cx="6477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990000"/>
                </a:solidFill>
                <a:ea typeface="楷体_GB2312" pitchFamily="49" charset="-122"/>
              </a:rPr>
              <a:t>38</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80</a:t>
            </a:fld>
            <a:endParaRPr lang="en-US" altLang="zh-CN"/>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34" name="Text Box 10"/>
          <p:cNvSpPr txBox="1">
            <a:spLocks noChangeArrowheads="1"/>
          </p:cNvSpPr>
          <p:nvPr/>
        </p:nvSpPr>
        <p:spPr bwMode="auto">
          <a:xfrm>
            <a:off x="0" y="2708275"/>
            <a:ext cx="91440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en-US" altLang="zh-CN" sz="2000" b="1">
                <a:latin typeface="Arial" panose="020B0604020202020204" pitchFamily="34" charset="0"/>
                <a:ea typeface="楷体_GB2312" pitchFamily="49" charset="-122"/>
                <a:cs typeface="Arial" panose="020B0604020202020204" pitchFamily="34" charset="0"/>
              </a:rPr>
              <a:t>Therefore, the time complexity of </a:t>
            </a:r>
            <a:r>
              <a:rPr lang="zh-CN" altLang="en-US" sz="2000" b="1">
                <a:solidFill>
                  <a:srgbClr val="990000"/>
                </a:solidFill>
                <a:latin typeface="Arial" panose="020B0604020202020204" pitchFamily="34" charset="0"/>
                <a:ea typeface="楷体_GB2312" pitchFamily="49" charset="-122"/>
                <a:cs typeface="Arial" panose="020B0604020202020204" pitchFamily="34" charset="0"/>
              </a:rPr>
              <a:t>tree selection sort</a:t>
            </a:r>
            <a:r>
              <a:rPr lang="en-US" altLang="zh-CN" sz="2000" b="1">
                <a:latin typeface="Arial" panose="020B0604020202020204" pitchFamily="34" charset="0"/>
                <a:ea typeface="楷体_GB2312" pitchFamily="49" charset="-122"/>
                <a:cs typeface="Arial" panose="020B0604020202020204" pitchFamily="34" charset="0"/>
              </a:rPr>
              <a:t> is </a:t>
            </a:r>
            <a:r>
              <a:rPr lang="en-US" altLang="zh-CN" sz="2000" b="1">
                <a:solidFill>
                  <a:srgbClr val="990000"/>
                </a:solidFill>
                <a:latin typeface="Arial" panose="020B0604020202020204" pitchFamily="34" charset="0"/>
                <a:cs typeface="Arial" panose="020B0604020202020204" pitchFamily="34" charset="0"/>
                <a:sym typeface="+mn-ea"/>
              </a:rPr>
              <a:t>O(nlog</a:t>
            </a:r>
            <a:r>
              <a:rPr lang="en-US" altLang="zh-CN" sz="2000" b="1" baseline="-25000">
                <a:solidFill>
                  <a:srgbClr val="990000"/>
                </a:solidFill>
                <a:latin typeface="Arial" panose="020B0604020202020204" pitchFamily="34" charset="0"/>
                <a:cs typeface="Arial" panose="020B0604020202020204" pitchFamily="34" charset="0"/>
                <a:sym typeface="+mn-ea"/>
              </a:rPr>
              <a:t>2</a:t>
            </a:r>
            <a:r>
              <a:rPr lang="en-US" altLang="zh-CN" sz="2000" b="1">
                <a:solidFill>
                  <a:srgbClr val="990000"/>
                </a:solidFill>
                <a:latin typeface="Arial" panose="020B0604020202020204" pitchFamily="34" charset="0"/>
                <a:cs typeface="Arial" panose="020B0604020202020204" pitchFamily="34" charset="0"/>
                <a:sym typeface="+mn-ea"/>
              </a:rPr>
              <a:t>n)</a:t>
            </a:r>
            <a:r>
              <a:rPr lang="en-US" altLang="zh-CN" sz="2000" b="1">
                <a:latin typeface="Arial" panose="020B0604020202020204" pitchFamily="34" charset="0"/>
                <a:ea typeface="楷体_GB2312" pitchFamily="49" charset="-122"/>
                <a:cs typeface="Arial" panose="020B0604020202020204" pitchFamily="34" charset="0"/>
              </a:rPr>
              <a:t>.</a:t>
            </a:r>
          </a:p>
        </p:txBody>
      </p:sp>
      <p:sp>
        <p:nvSpPr>
          <p:cNvPr id="77832" name="Text Box 8"/>
          <p:cNvSpPr txBox="1">
            <a:spLocks noChangeArrowheads="1"/>
          </p:cNvSpPr>
          <p:nvPr/>
        </p:nvSpPr>
        <p:spPr bwMode="auto">
          <a:xfrm>
            <a:off x="0" y="1519238"/>
            <a:ext cx="8534400" cy="1198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en-US" altLang="zh-CN" sz="2000" b="1">
                <a:latin typeface="Arial" panose="020B0604020202020204" pitchFamily="34" charset="0"/>
                <a:ea typeface="楷体_GB2312" pitchFamily="49" charset="-122"/>
                <a:cs typeface="Arial" panose="020B0604020202020204" pitchFamily="34" charset="0"/>
              </a:rPr>
              <a:t>In tree selection sort, except for selecting the smallest key, each subsequent selection of the next smallest key only requires </a:t>
            </a:r>
            <a:r>
              <a:rPr lang="en-US" altLang="zh-CN" sz="2000" b="1">
                <a:latin typeface="Arial" panose="020B0604020202020204" pitchFamily="34" charset="0"/>
                <a:cs typeface="Arial" panose="020B0604020202020204" pitchFamily="34" charset="0"/>
                <a:sym typeface="Symbol" panose="05050102010706020507" pitchFamily="18" charset="2"/>
              </a:rPr>
              <a:t>log</a:t>
            </a:r>
            <a:r>
              <a:rPr lang="en-US" altLang="zh-CN" sz="2000" b="1" baseline="-25000">
                <a:latin typeface="Arial" panose="020B0604020202020204" pitchFamily="34" charset="0"/>
                <a:cs typeface="Arial" panose="020B0604020202020204" pitchFamily="34" charset="0"/>
                <a:sym typeface="Symbol" panose="05050102010706020507" pitchFamily="18" charset="2"/>
              </a:rPr>
              <a:t>2</a:t>
            </a:r>
            <a:r>
              <a:rPr lang="en-US" altLang="zh-CN" sz="2000" b="1">
                <a:latin typeface="Arial" panose="020B0604020202020204" pitchFamily="34" charset="0"/>
                <a:cs typeface="Arial" panose="020B0604020202020204" pitchFamily="34" charset="0"/>
                <a:sym typeface="Symbol" panose="05050102010706020507" pitchFamily="18" charset="2"/>
              </a:rPr>
              <a:t>n </a:t>
            </a:r>
            <a:r>
              <a:rPr lang="en-US" altLang="zh-CN" sz="2000" b="1">
                <a:latin typeface="Arial" panose="020B0604020202020204" pitchFamily="34" charset="0"/>
                <a:ea typeface="楷体_GB2312" pitchFamily="49" charset="-122"/>
                <a:cs typeface="Arial" panose="020B0604020202020204" pitchFamily="34" charset="0"/>
              </a:rPr>
              <a:t> comparisons.</a:t>
            </a:r>
          </a:p>
        </p:txBody>
      </p:sp>
      <p:sp>
        <p:nvSpPr>
          <p:cNvPr id="77826" name="Text Box 2"/>
          <p:cNvSpPr txBox="1">
            <a:spLocks noChangeArrowheads="1"/>
          </p:cNvSpPr>
          <p:nvPr/>
        </p:nvSpPr>
        <p:spPr bwMode="auto">
          <a:xfrm>
            <a:off x="35560" y="-27940"/>
            <a:ext cx="7943850" cy="107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zh-CN" sz="3200" b="1">
                <a:solidFill>
                  <a:srgbClr val="000080"/>
                </a:solidFill>
                <a:latin typeface="Arial" panose="020B0604020202020204" pitchFamily="34" charset="0"/>
                <a:ea typeface="隶书" panose="02010509060101010101" pitchFamily="49" charset="-122"/>
                <a:cs typeface="Arial" panose="020B0604020202020204" pitchFamily="34" charset="0"/>
              </a:rPr>
              <a:t>Time Complexity Analysis of Tree Selection Sort:</a:t>
            </a:r>
          </a:p>
        </p:txBody>
      </p:sp>
      <p:sp>
        <p:nvSpPr>
          <p:cNvPr id="77827" name="Text Box 3"/>
          <p:cNvSpPr txBox="1">
            <a:spLocks noChangeArrowheads="1"/>
          </p:cNvSpPr>
          <p:nvPr/>
        </p:nvSpPr>
        <p:spPr bwMode="auto">
          <a:xfrm>
            <a:off x="0" y="980123"/>
            <a:ext cx="91440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en-US" altLang="zh-CN" sz="2000" b="1">
                <a:latin typeface="Arial" panose="020B0604020202020204" pitchFamily="34" charset="0"/>
                <a:ea typeface="楷体_GB2312" pitchFamily="49" charset="-122"/>
                <a:cs typeface="Arial" panose="020B0604020202020204" pitchFamily="34" charset="0"/>
              </a:rPr>
              <a:t>For a complete binary tree with n leaf nodes, its depth is </a:t>
            </a:r>
            <a:r>
              <a:rPr lang="en-US" altLang="zh-CN" sz="2000" b="1">
                <a:latin typeface="Arial" panose="020B0604020202020204" pitchFamily="34" charset="0"/>
                <a:cs typeface="Arial" panose="020B0604020202020204" pitchFamily="34" charset="0"/>
                <a:sym typeface="Symbol" panose="05050102010706020507" pitchFamily="18" charset="2"/>
              </a:rPr>
              <a:t>log</a:t>
            </a:r>
            <a:r>
              <a:rPr lang="en-US" altLang="zh-CN" sz="2000" b="1" baseline="-25000">
                <a:latin typeface="Arial" panose="020B0604020202020204" pitchFamily="34" charset="0"/>
                <a:cs typeface="Arial" panose="020B0604020202020204" pitchFamily="34" charset="0"/>
                <a:sym typeface="Symbol" panose="05050102010706020507" pitchFamily="18" charset="2"/>
              </a:rPr>
              <a:t>2</a:t>
            </a:r>
            <a:r>
              <a:rPr lang="en-US" altLang="zh-CN" sz="2000" b="1">
                <a:latin typeface="Arial" panose="020B0604020202020204" pitchFamily="34" charset="0"/>
                <a:cs typeface="Arial" panose="020B0604020202020204" pitchFamily="34" charset="0"/>
                <a:sym typeface="Symbol" panose="05050102010706020507" pitchFamily="18" charset="2"/>
              </a:rPr>
              <a:t>n </a:t>
            </a:r>
            <a:r>
              <a:rPr lang="en-US" altLang="zh-CN" sz="2000" b="1">
                <a:latin typeface="Arial" panose="020B0604020202020204" pitchFamily="34" charset="0"/>
                <a:ea typeface="楷体_GB2312" pitchFamily="49" charset="-122"/>
                <a:cs typeface="Arial" panose="020B0604020202020204" pitchFamily="34" charset="0"/>
              </a:rPr>
              <a:t>+ 1.</a:t>
            </a:r>
          </a:p>
        </p:txBody>
      </p:sp>
      <p:sp>
        <p:nvSpPr>
          <p:cNvPr id="77830" name="Rectangle 6"/>
          <p:cNvSpPr>
            <a:spLocks noChangeArrowheads="1"/>
          </p:cNvSpPr>
          <p:nvPr/>
        </p:nvSpPr>
        <p:spPr bwMode="auto">
          <a:xfrm>
            <a:off x="6990715" y="3424555"/>
            <a:ext cx="915670" cy="224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oAutofit/>
          </a:bodyPr>
          <a:lstStyle/>
          <a:p>
            <a:endParaRPr lang="en-US" altLang="zh-CN" b="1">
              <a:sym typeface="Symbol" panose="05050102010706020507" pitchFamily="18" charset="2"/>
            </a:endParaRPr>
          </a:p>
        </p:txBody>
      </p:sp>
      <p:grpSp>
        <p:nvGrpSpPr>
          <p:cNvPr id="77864" name="Group 40"/>
          <p:cNvGrpSpPr/>
          <p:nvPr/>
        </p:nvGrpSpPr>
        <p:grpSpPr bwMode="auto">
          <a:xfrm>
            <a:off x="1676400" y="3354388"/>
            <a:ext cx="5708650" cy="3206750"/>
            <a:chOff x="1056" y="2113"/>
            <a:chExt cx="3596" cy="2020"/>
          </a:xfrm>
        </p:grpSpPr>
        <p:sp>
          <p:nvSpPr>
            <p:cNvPr id="77835" name="Oval 11"/>
            <p:cNvSpPr>
              <a:spLocks noChangeArrowheads="1"/>
            </p:cNvSpPr>
            <p:nvPr/>
          </p:nvSpPr>
          <p:spPr bwMode="auto">
            <a:xfrm>
              <a:off x="1584" y="3841"/>
              <a:ext cx="332" cy="2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38</a:t>
              </a:r>
            </a:p>
          </p:txBody>
        </p:sp>
        <p:sp>
          <p:nvSpPr>
            <p:cNvPr id="77836" name="Oval 12"/>
            <p:cNvSpPr>
              <a:spLocks noChangeArrowheads="1"/>
            </p:cNvSpPr>
            <p:nvPr/>
          </p:nvSpPr>
          <p:spPr bwMode="auto">
            <a:xfrm>
              <a:off x="1056" y="3841"/>
              <a:ext cx="332" cy="2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49</a:t>
              </a:r>
            </a:p>
          </p:txBody>
        </p:sp>
        <p:sp>
          <p:nvSpPr>
            <p:cNvPr id="77837" name="Oval 13"/>
            <p:cNvSpPr>
              <a:spLocks noChangeArrowheads="1"/>
            </p:cNvSpPr>
            <p:nvPr/>
          </p:nvSpPr>
          <p:spPr bwMode="auto">
            <a:xfrm>
              <a:off x="2064" y="3841"/>
              <a:ext cx="332" cy="2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65</a:t>
              </a:r>
            </a:p>
          </p:txBody>
        </p:sp>
        <p:sp>
          <p:nvSpPr>
            <p:cNvPr id="77838" name="Oval 14"/>
            <p:cNvSpPr>
              <a:spLocks noChangeArrowheads="1"/>
            </p:cNvSpPr>
            <p:nvPr/>
          </p:nvSpPr>
          <p:spPr bwMode="auto">
            <a:xfrm>
              <a:off x="2544" y="3841"/>
              <a:ext cx="332" cy="2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97</a:t>
              </a:r>
            </a:p>
          </p:txBody>
        </p:sp>
        <p:sp>
          <p:nvSpPr>
            <p:cNvPr id="77839" name="Oval 15"/>
            <p:cNvSpPr>
              <a:spLocks noChangeArrowheads="1"/>
            </p:cNvSpPr>
            <p:nvPr/>
          </p:nvSpPr>
          <p:spPr bwMode="auto">
            <a:xfrm>
              <a:off x="3024" y="3841"/>
              <a:ext cx="332" cy="2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76</a:t>
              </a:r>
            </a:p>
          </p:txBody>
        </p:sp>
        <p:sp>
          <p:nvSpPr>
            <p:cNvPr id="77840" name="Oval 16"/>
            <p:cNvSpPr>
              <a:spLocks noChangeArrowheads="1"/>
            </p:cNvSpPr>
            <p:nvPr/>
          </p:nvSpPr>
          <p:spPr bwMode="auto">
            <a:xfrm>
              <a:off x="3456" y="3845"/>
              <a:ext cx="332" cy="284"/>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a:t>
              </a:r>
            </a:p>
          </p:txBody>
        </p:sp>
        <p:sp>
          <p:nvSpPr>
            <p:cNvPr id="77841" name="Oval 17"/>
            <p:cNvSpPr>
              <a:spLocks noChangeArrowheads="1"/>
            </p:cNvSpPr>
            <p:nvPr/>
          </p:nvSpPr>
          <p:spPr bwMode="auto">
            <a:xfrm>
              <a:off x="3888" y="3841"/>
              <a:ext cx="332" cy="284"/>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27</a:t>
              </a:r>
            </a:p>
          </p:txBody>
        </p:sp>
        <p:sp>
          <p:nvSpPr>
            <p:cNvPr id="77842" name="Oval 18"/>
            <p:cNvSpPr>
              <a:spLocks noChangeArrowheads="1"/>
            </p:cNvSpPr>
            <p:nvPr/>
          </p:nvSpPr>
          <p:spPr bwMode="auto">
            <a:xfrm>
              <a:off x="4320" y="3841"/>
              <a:ext cx="332" cy="284"/>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49</a:t>
              </a:r>
            </a:p>
          </p:txBody>
        </p:sp>
        <p:sp>
          <p:nvSpPr>
            <p:cNvPr id="77843" name="Oval 19"/>
            <p:cNvSpPr>
              <a:spLocks noChangeArrowheads="1"/>
            </p:cNvSpPr>
            <p:nvPr/>
          </p:nvSpPr>
          <p:spPr bwMode="auto">
            <a:xfrm>
              <a:off x="1392" y="3217"/>
              <a:ext cx="332" cy="2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38</a:t>
              </a:r>
            </a:p>
          </p:txBody>
        </p:sp>
        <p:sp>
          <p:nvSpPr>
            <p:cNvPr id="77844" name="Oval 20"/>
            <p:cNvSpPr>
              <a:spLocks noChangeArrowheads="1"/>
            </p:cNvSpPr>
            <p:nvPr/>
          </p:nvSpPr>
          <p:spPr bwMode="auto">
            <a:xfrm>
              <a:off x="2352" y="3217"/>
              <a:ext cx="332" cy="2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65</a:t>
              </a:r>
            </a:p>
          </p:txBody>
        </p:sp>
        <p:sp>
          <p:nvSpPr>
            <p:cNvPr id="77845" name="Oval 21"/>
            <p:cNvSpPr>
              <a:spLocks noChangeArrowheads="1"/>
            </p:cNvSpPr>
            <p:nvPr/>
          </p:nvSpPr>
          <p:spPr bwMode="auto">
            <a:xfrm>
              <a:off x="3216" y="3217"/>
              <a:ext cx="332" cy="284"/>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76</a:t>
              </a:r>
            </a:p>
          </p:txBody>
        </p:sp>
        <p:sp>
          <p:nvSpPr>
            <p:cNvPr id="77846" name="Oval 22"/>
            <p:cNvSpPr>
              <a:spLocks noChangeArrowheads="1"/>
            </p:cNvSpPr>
            <p:nvPr/>
          </p:nvSpPr>
          <p:spPr bwMode="auto">
            <a:xfrm>
              <a:off x="4115" y="3226"/>
              <a:ext cx="332" cy="284"/>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27</a:t>
              </a:r>
            </a:p>
          </p:txBody>
        </p:sp>
        <p:sp>
          <p:nvSpPr>
            <p:cNvPr id="77847" name="Oval 23"/>
            <p:cNvSpPr>
              <a:spLocks noChangeArrowheads="1"/>
            </p:cNvSpPr>
            <p:nvPr/>
          </p:nvSpPr>
          <p:spPr bwMode="auto">
            <a:xfrm>
              <a:off x="1920" y="2641"/>
              <a:ext cx="332" cy="2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38</a:t>
              </a:r>
            </a:p>
          </p:txBody>
        </p:sp>
        <p:sp>
          <p:nvSpPr>
            <p:cNvPr id="77848" name="Oval 24"/>
            <p:cNvSpPr>
              <a:spLocks noChangeArrowheads="1"/>
            </p:cNvSpPr>
            <p:nvPr/>
          </p:nvSpPr>
          <p:spPr bwMode="auto">
            <a:xfrm>
              <a:off x="3696" y="2641"/>
              <a:ext cx="332" cy="284"/>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27</a:t>
              </a:r>
            </a:p>
          </p:txBody>
        </p:sp>
        <p:sp>
          <p:nvSpPr>
            <p:cNvPr id="77849" name="Oval 25"/>
            <p:cNvSpPr>
              <a:spLocks noChangeArrowheads="1"/>
            </p:cNvSpPr>
            <p:nvPr/>
          </p:nvSpPr>
          <p:spPr bwMode="auto">
            <a:xfrm>
              <a:off x="2784" y="2113"/>
              <a:ext cx="332" cy="284"/>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b="1"/>
                <a:t>27</a:t>
              </a:r>
            </a:p>
          </p:txBody>
        </p:sp>
        <p:sp>
          <p:nvSpPr>
            <p:cNvPr id="77850" name="Line 26"/>
            <p:cNvSpPr>
              <a:spLocks noChangeShapeType="1"/>
            </p:cNvSpPr>
            <p:nvPr/>
          </p:nvSpPr>
          <p:spPr bwMode="auto">
            <a:xfrm flipH="1">
              <a:off x="2160" y="2353"/>
              <a:ext cx="672" cy="336"/>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7851" name="Line 27"/>
            <p:cNvSpPr>
              <a:spLocks noChangeShapeType="1"/>
            </p:cNvSpPr>
            <p:nvPr/>
          </p:nvSpPr>
          <p:spPr bwMode="auto">
            <a:xfrm>
              <a:off x="3072" y="2353"/>
              <a:ext cx="624" cy="336"/>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7852" name="Line 28"/>
            <p:cNvSpPr>
              <a:spLocks noChangeShapeType="1"/>
            </p:cNvSpPr>
            <p:nvPr/>
          </p:nvSpPr>
          <p:spPr bwMode="auto">
            <a:xfrm flipH="1">
              <a:off x="1680" y="2929"/>
              <a:ext cx="288" cy="288"/>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7853" name="Line 29"/>
            <p:cNvSpPr>
              <a:spLocks noChangeShapeType="1"/>
            </p:cNvSpPr>
            <p:nvPr/>
          </p:nvSpPr>
          <p:spPr bwMode="auto">
            <a:xfrm>
              <a:off x="2160" y="2929"/>
              <a:ext cx="336" cy="336"/>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7854" name="Line 30"/>
            <p:cNvSpPr>
              <a:spLocks noChangeShapeType="1"/>
            </p:cNvSpPr>
            <p:nvPr/>
          </p:nvSpPr>
          <p:spPr bwMode="auto">
            <a:xfrm flipH="1">
              <a:off x="3504" y="2929"/>
              <a:ext cx="288" cy="288"/>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7855" name="Line 31"/>
            <p:cNvSpPr>
              <a:spLocks noChangeShapeType="1"/>
            </p:cNvSpPr>
            <p:nvPr/>
          </p:nvSpPr>
          <p:spPr bwMode="auto">
            <a:xfrm>
              <a:off x="3936" y="2929"/>
              <a:ext cx="288" cy="288"/>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7856" name="Line 32"/>
            <p:cNvSpPr>
              <a:spLocks noChangeShapeType="1"/>
            </p:cNvSpPr>
            <p:nvPr/>
          </p:nvSpPr>
          <p:spPr bwMode="auto">
            <a:xfrm flipH="1">
              <a:off x="1296" y="3505"/>
              <a:ext cx="192" cy="336"/>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7857" name="Line 33"/>
            <p:cNvSpPr>
              <a:spLocks noChangeShapeType="1"/>
            </p:cNvSpPr>
            <p:nvPr/>
          </p:nvSpPr>
          <p:spPr bwMode="auto">
            <a:xfrm>
              <a:off x="1632" y="3505"/>
              <a:ext cx="144" cy="336"/>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7858" name="Line 34"/>
            <p:cNvSpPr>
              <a:spLocks noChangeShapeType="1"/>
            </p:cNvSpPr>
            <p:nvPr/>
          </p:nvSpPr>
          <p:spPr bwMode="auto">
            <a:xfrm flipH="1">
              <a:off x="2256" y="3505"/>
              <a:ext cx="192" cy="336"/>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7859" name="Line 35"/>
            <p:cNvSpPr>
              <a:spLocks noChangeShapeType="1"/>
            </p:cNvSpPr>
            <p:nvPr/>
          </p:nvSpPr>
          <p:spPr bwMode="auto">
            <a:xfrm>
              <a:off x="2592" y="3505"/>
              <a:ext cx="144" cy="336"/>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7860" name="Line 36"/>
            <p:cNvSpPr>
              <a:spLocks noChangeShapeType="1"/>
            </p:cNvSpPr>
            <p:nvPr/>
          </p:nvSpPr>
          <p:spPr bwMode="auto">
            <a:xfrm flipH="1">
              <a:off x="3168" y="3505"/>
              <a:ext cx="144" cy="384"/>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7861" name="Line 37"/>
            <p:cNvSpPr>
              <a:spLocks noChangeShapeType="1"/>
            </p:cNvSpPr>
            <p:nvPr/>
          </p:nvSpPr>
          <p:spPr bwMode="auto">
            <a:xfrm>
              <a:off x="3456" y="3457"/>
              <a:ext cx="192" cy="384"/>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7862" name="Line 38"/>
            <p:cNvSpPr>
              <a:spLocks noChangeShapeType="1"/>
            </p:cNvSpPr>
            <p:nvPr/>
          </p:nvSpPr>
          <p:spPr bwMode="auto">
            <a:xfrm flipH="1">
              <a:off x="4080" y="3505"/>
              <a:ext cx="144" cy="336"/>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7863" name="Line 39"/>
            <p:cNvSpPr>
              <a:spLocks noChangeShapeType="1"/>
            </p:cNvSpPr>
            <p:nvPr/>
          </p:nvSpPr>
          <p:spPr bwMode="auto">
            <a:xfrm>
              <a:off x="4368" y="3505"/>
              <a:ext cx="144" cy="336"/>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81</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7827"/>
                                        </p:tgtEl>
                                        <p:attrNameLst>
                                          <p:attrName>style.visibility</p:attrName>
                                        </p:attrNameLst>
                                      </p:cBhvr>
                                      <p:to>
                                        <p:strVal val="visible"/>
                                      </p:to>
                                    </p:set>
                                    <p:animEffect transition="in" filter="wipe(left)">
                                      <p:cBhvr>
                                        <p:cTn id="7" dur="500"/>
                                        <p:tgtEl>
                                          <p:spTgt spid="7782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7832"/>
                                        </p:tgtEl>
                                        <p:attrNameLst>
                                          <p:attrName>style.visibility</p:attrName>
                                        </p:attrNameLst>
                                      </p:cBhvr>
                                      <p:to>
                                        <p:strVal val="visible"/>
                                      </p:to>
                                    </p:set>
                                    <p:animEffect transition="in" filter="wipe(left)">
                                      <p:cBhvr>
                                        <p:cTn id="12" dur="500"/>
                                        <p:tgtEl>
                                          <p:spTgt spid="77832"/>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grpId="0" nodeType="clickEffect">
                                  <p:stCondLst>
                                    <p:cond delay="0"/>
                                  </p:stCondLst>
                                  <p:childTnLst>
                                    <p:set>
                                      <p:cBhvr>
                                        <p:cTn id="16" dur="1" fill="hold">
                                          <p:stCondLst>
                                            <p:cond delay="0"/>
                                          </p:stCondLst>
                                        </p:cTn>
                                        <p:tgtEl>
                                          <p:spTgt spid="77830"/>
                                        </p:tgtEl>
                                        <p:attrNameLst>
                                          <p:attrName>style.visibility</p:attrName>
                                        </p:attrNameLst>
                                      </p:cBhvr>
                                      <p:to>
                                        <p:strVal val="visible"/>
                                      </p:to>
                                    </p:set>
                                    <p:anim calcmode="lin" valueType="num">
                                      <p:cBhvr>
                                        <p:cTn id="17" dur="500" fill="hold"/>
                                        <p:tgtEl>
                                          <p:spTgt spid="77830"/>
                                        </p:tgtEl>
                                        <p:attrNameLst>
                                          <p:attrName>ppt_w</p:attrName>
                                        </p:attrNameLst>
                                      </p:cBhvr>
                                      <p:tavLst>
                                        <p:tav tm="0">
                                          <p:val>
                                            <p:fltVal val="0"/>
                                          </p:val>
                                        </p:tav>
                                        <p:tav tm="100000">
                                          <p:val>
                                            <p:strVal val="#ppt_w"/>
                                          </p:val>
                                        </p:tav>
                                      </p:tavLst>
                                    </p:anim>
                                    <p:anim calcmode="lin" valueType="num">
                                      <p:cBhvr>
                                        <p:cTn id="18" dur="500" fill="hold"/>
                                        <p:tgtEl>
                                          <p:spTgt spid="77830"/>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77834"/>
                                        </p:tgtEl>
                                        <p:attrNameLst>
                                          <p:attrName>style.visibility</p:attrName>
                                        </p:attrNameLst>
                                      </p:cBhvr>
                                      <p:to>
                                        <p:strVal val="visible"/>
                                      </p:to>
                                    </p:set>
                                    <p:animEffect transition="in" filter="wipe(left)">
                                      <p:cBhvr>
                                        <p:cTn id="23" dur="500"/>
                                        <p:tgtEl>
                                          <p:spTgt spid="778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34" grpId="0" bldLvl="0" animBg="1" autoUpdateAnimBg="0"/>
      <p:bldP spid="77832" grpId="0" bldLvl="0" animBg="1" autoUpdateAnimBg="0"/>
      <p:bldP spid="77827" grpId="0" bldLvl="0" animBg="1" autoUpdateAnimBg="0"/>
      <p:bldP spid="77830" grpId="0" bldLvl="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ext Box 2"/>
          <p:cNvSpPr txBox="1">
            <a:spLocks noChangeArrowheads="1"/>
          </p:cNvSpPr>
          <p:nvPr/>
        </p:nvSpPr>
        <p:spPr bwMode="auto">
          <a:xfrm>
            <a:off x="762000" y="228600"/>
            <a:ext cx="3449638"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a:latin typeface="Arial" panose="020B0604020202020204" pitchFamily="34" charset="0"/>
                <a:ea typeface="楷体_GB2312" pitchFamily="49" charset="-122"/>
                <a:cs typeface="Arial" panose="020B0604020202020204" pitchFamily="34" charset="0"/>
              </a:rPr>
              <a:t>3</a:t>
            </a:r>
            <a:r>
              <a:rPr lang="zh-CN" altLang="en-US" sz="3200" b="1">
                <a:latin typeface="Arial" panose="020B0604020202020204" pitchFamily="34" charset="0"/>
                <a:ea typeface="楷体_GB2312" pitchFamily="49" charset="-122"/>
                <a:cs typeface="Arial" panose="020B0604020202020204" pitchFamily="34" charset="0"/>
              </a:rPr>
              <a:t>. Heap Sort</a:t>
            </a:r>
          </a:p>
        </p:txBody>
      </p:sp>
      <p:sp>
        <p:nvSpPr>
          <p:cNvPr id="78851" name="Text Box 3"/>
          <p:cNvSpPr txBox="1">
            <a:spLocks noChangeArrowheads="1"/>
          </p:cNvSpPr>
          <p:nvPr/>
        </p:nvSpPr>
        <p:spPr bwMode="auto">
          <a:xfrm>
            <a:off x="828040" y="1700530"/>
            <a:ext cx="8396605" cy="829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zh-CN" sz="2400">
                <a:latin typeface="Arial" panose="020B0604020202020204" pitchFamily="34" charset="0"/>
                <a:ea typeface="楷体_GB2312" pitchFamily="49" charset="-122"/>
                <a:cs typeface="Arial" panose="020B0604020202020204" pitchFamily="34" charset="0"/>
              </a:rPr>
              <a:t>A heap is a sequence </a:t>
            </a:r>
            <a:r>
              <a:rPr lang="en-US" altLang="zh-CN" sz="2400">
                <a:ea typeface="楷体_GB2312" pitchFamily="49" charset="-122"/>
                <a:sym typeface="+mn-ea"/>
              </a:rPr>
              <a:t>{r</a:t>
            </a:r>
            <a:r>
              <a:rPr lang="en-US" altLang="zh-CN" sz="2400" baseline="-25000">
                <a:ea typeface="楷体_GB2312" pitchFamily="49" charset="-122"/>
                <a:sym typeface="+mn-ea"/>
              </a:rPr>
              <a:t>1</a:t>
            </a:r>
            <a:r>
              <a:rPr lang="en-US" altLang="zh-CN" sz="2400">
                <a:ea typeface="楷体_GB2312" pitchFamily="49" charset="-122"/>
                <a:sym typeface="+mn-ea"/>
              </a:rPr>
              <a:t>, r</a:t>
            </a:r>
            <a:r>
              <a:rPr lang="en-US" altLang="zh-CN" sz="2400" baseline="-25000">
                <a:ea typeface="楷体_GB2312" pitchFamily="49" charset="-122"/>
                <a:sym typeface="+mn-ea"/>
              </a:rPr>
              <a:t>2</a:t>
            </a:r>
            <a:r>
              <a:rPr lang="en-US" altLang="zh-CN" sz="2400">
                <a:ea typeface="楷体_GB2312" pitchFamily="49" charset="-122"/>
                <a:sym typeface="+mn-ea"/>
              </a:rPr>
              <a:t>, </a:t>
            </a:r>
            <a:r>
              <a:rPr lang="en-US" altLang="zh-CN" sz="2400">
                <a:latin typeface="Times New Roman" panose="02020603050405020304"/>
                <a:ea typeface="楷体_GB2312" pitchFamily="49" charset="-122"/>
                <a:sym typeface="+mn-ea"/>
              </a:rPr>
              <a:t>…</a:t>
            </a:r>
            <a:r>
              <a:rPr lang="zh-CN" altLang="en-US" sz="2400">
                <a:latin typeface="楷体_GB2312" pitchFamily="49" charset="-122"/>
                <a:ea typeface="楷体_GB2312" pitchFamily="49" charset="-122"/>
                <a:sym typeface="+mn-ea"/>
              </a:rPr>
              <a:t>，</a:t>
            </a:r>
            <a:r>
              <a:rPr lang="en-US" altLang="zh-CN" sz="2400">
                <a:ea typeface="楷体_GB2312" pitchFamily="49" charset="-122"/>
                <a:sym typeface="+mn-ea"/>
              </a:rPr>
              <a:t>r</a:t>
            </a:r>
            <a:r>
              <a:rPr lang="en-US" altLang="zh-CN" sz="2400" baseline="-25000">
                <a:ea typeface="楷体_GB2312" pitchFamily="49" charset="-122"/>
                <a:sym typeface="+mn-ea"/>
              </a:rPr>
              <a:t>n</a:t>
            </a:r>
            <a:r>
              <a:rPr lang="en-US" altLang="zh-CN" sz="2400">
                <a:ea typeface="楷体_GB2312" pitchFamily="49" charset="-122"/>
                <a:sym typeface="+mn-ea"/>
              </a:rPr>
              <a:t>}</a:t>
            </a:r>
            <a:r>
              <a:rPr lang="en-US" altLang="en-US" sz="2400">
                <a:latin typeface="Arial" panose="020B0604020202020204" pitchFamily="34" charset="0"/>
                <a:ea typeface="楷体_GB2312" pitchFamily="49" charset="-122"/>
                <a:cs typeface="Arial" panose="020B0604020202020204" pitchFamily="34" charset="0"/>
              </a:rPr>
              <a:t> </a:t>
            </a:r>
            <a:r>
              <a:rPr lang="en-US" altLang="zh-CN" sz="2400">
                <a:latin typeface="Arial" panose="020B0604020202020204" pitchFamily="34" charset="0"/>
                <a:ea typeface="楷体_GB2312" pitchFamily="49" charset="-122"/>
                <a:cs typeface="Arial" panose="020B0604020202020204" pitchFamily="34" charset="0"/>
              </a:rPr>
              <a:t>that satisfies one of the following properties:</a:t>
            </a:r>
          </a:p>
        </p:txBody>
      </p:sp>
      <p:sp>
        <p:nvSpPr>
          <p:cNvPr id="78852" name="Text Box 4"/>
          <p:cNvSpPr txBox="1">
            <a:spLocks noChangeArrowheads="1"/>
          </p:cNvSpPr>
          <p:nvPr/>
        </p:nvSpPr>
        <p:spPr bwMode="auto">
          <a:xfrm>
            <a:off x="4464050" y="2996565"/>
            <a:ext cx="48768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000099"/>
                </a:solidFill>
                <a:latin typeface="Arial" panose="020B0604020202020204" pitchFamily="34" charset="0"/>
                <a:cs typeface="Arial" panose="020B0604020202020204" pitchFamily="34" charset="0"/>
              </a:rPr>
              <a:t>or</a:t>
            </a:r>
          </a:p>
        </p:txBody>
      </p:sp>
      <p:graphicFrame>
        <p:nvGraphicFramePr>
          <p:cNvPr id="78853" name="Object 5"/>
          <p:cNvGraphicFramePr>
            <a:graphicFrameLocks noChangeAspect="1"/>
          </p:cNvGraphicFramePr>
          <p:nvPr/>
        </p:nvGraphicFramePr>
        <p:xfrm>
          <a:off x="1143000" y="2755900"/>
          <a:ext cx="1587500" cy="1054100"/>
        </p:xfrm>
        <a:graphic>
          <a:graphicData uri="http://schemas.openxmlformats.org/presentationml/2006/ole">
            <mc:AlternateContent xmlns:mc="http://schemas.openxmlformats.org/markup-compatibility/2006">
              <mc:Choice xmlns:v="urn:schemas-microsoft-com:vml" Requires="v">
                <p:oleObj spid="_x0000_s29700" name="公式" r:id="rId3" imgW="3175000" imgH="2108200" progId="Equation.3">
                  <p:embed/>
                </p:oleObj>
              </mc:Choice>
              <mc:Fallback>
                <p:oleObj name="公式" r:id="rId3" imgW="3175000" imgH="21082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2755900"/>
                        <a:ext cx="1587500" cy="1054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854" name="Object 6"/>
          <p:cNvGraphicFramePr>
            <a:graphicFrameLocks noChangeAspect="1"/>
          </p:cNvGraphicFramePr>
          <p:nvPr/>
        </p:nvGraphicFramePr>
        <p:xfrm>
          <a:off x="5181600" y="2755900"/>
          <a:ext cx="1587500" cy="1054100"/>
        </p:xfrm>
        <a:graphic>
          <a:graphicData uri="http://schemas.openxmlformats.org/presentationml/2006/ole">
            <mc:AlternateContent xmlns:mc="http://schemas.openxmlformats.org/markup-compatibility/2006">
              <mc:Choice xmlns:v="urn:schemas-microsoft-com:vml" Requires="v">
                <p:oleObj spid="_x0000_s29701" name="公式" r:id="rId5" imgW="3175000" imgH="2108200" progId="Equation.3">
                  <p:embed/>
                </p:oleObj>
              </mc:Choice>
              <mc:Fallback>
                <p:oleObj name="公式" r:id="rId5" imgW="3175000" imgH="21082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81600" y="2755900"/>
                        <a:ext cx="1587500" cy="1054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8855" name="Text Box 7"/>
          <p:cNvSpPr txBox="1">
            <a:spLocks noChangeArrowheads="1"/>
          </p:cNvSpPr>
          <p:nvPr/>
        </p:nvSpPr>
        <p:spPr bwMode="auto">
          <a:xfrm>
            <a:off x="784225" y="1143000"/>
            <a:ext cx="302577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solidFill>
                  <a:srgbClr val="990000"/>
                </a:solidFill>
                <a:latin typeface="Arial" panose="020B0604020202020204" pitchFamily="34" charset="0"/>
                <a:ea typeface="楷体_GB2312" pitchFamily="49" charset="-122"/>
                <a:cs typeface="Arial" panose="020B0604020202020204" pitchFamily="34" charset="0"/>
              </a:rPr>
              <a:t>Heap</a:t>
            </a:r>
            <a:r>
              <a:rPr lang="zh-CN" altLang="en-US" sz="2400" b="1">
                <a:solidFill>
                  <a:srgbClr val="990000"/>
                </a:solidFill>
                <a:latin typeface="Arial" panose="020B0604020202020204" pitchFamily="34" charset="0"/>
                <a:ea typeface="楷体_GB2312" pitchFamily="49" charset="-122"/>
                <a:cs typeface="Arial" panose="020B0604020202020204" pitchFamily="34" charset="0"/>
              </a:rPr>
              <a:t> definition:</a:t>
            </a:r>
          </a:p>
        </p:txBody>
      </p:sp>
      <p:sp>
        <p:nvSpPr>
          <p:cNvPr id="78856" name="Text Box 8"/>
          <p:cNvSpPr txBox="1">
            <a:spLocks noChangeArrowheads="1"/>
          </p:cNvSpPr>
          <p:nvPr/>
        </p:nvSpPr>
        <p:spPr bwMode="auto">
          <a:xfrm>
            <a:off x="781050" y="4943475"/>
            <a:ext cx="5299710" cy="534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20000"/>
              </a:lnSpc>
            </a:pPr>
            <a:r>
              <a:rPr lang="en-US" altLang="zh-CN" sz="2400" b="1">
                <a:sym typeface="+mn-ea"/>
              </a:rPr>
              <a:t>{12, 36, 27, 65, 40, 34, 98, 81, 73, 55, 49}</a:t>
            </a:r>
          </a:p>
        </p:txBody>
      </p:sp>
      <p:sp>
        <p:nvSpPr>
          <p:cNvPr id="78857" name="Text Box 9"/>
          <p:cNvSpPr txBox="1">
            <a:spLocks noChangeArrowheads="1"/>
          </p:cNvSpPr>
          <p:nvPr/>
        </p:nvSpPr>
        <p:spPr bwMode="auto">
          <a:xfrm>
            <a:off x="685800" y="4067175"/>
            <a:ext cx="230060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latin typeface="Arial" panose="020B0604020202020204" pitchFamily="34" charset="0"/>
                <a:ea typeface="隶书" panose="02010509060101010101" pitchFamily="49" charset="-122"/>
                <a:cs typeface="Arial" panose="020B0604020202020204" pitchFamily="34" charset="0"/>
              </a:rPr>
              <a:t>for instance ：</a:t>
            </a:r>
          </a:p>
        </p:txBody>
      </p:sp>
      <p:sp>
        <p:nvSpPr>
          <p:cNvPr id="78858" name="Rectangle 10"/>
          <p:cNvSpPr>
            <a:spLocks noChangeArrowheads="1"/>
          </p:cNvSpPr>
          <p:nvPr/>
        </p:nvSpPr>
        <p:spPr bwMode="auto">
          <a:xfrm>
            <a:off x="6411595" y="5005705"/>
            <a:ext cx="273240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400">
                <a:solidFill>
                  <a:schemeClr val="tx1">
                    <a:lumMod val="95000"/>
                    <a:lumOff val="5000"/>
                  </a:schemeClr>
                </a:solidFill>
                <a:latin typeface="Arial" panose="020B0604020202020204" pitchFamily="34" charset="0"/>
                <a:ea typeface="楷体_GB2312" pitchFamily="49" charset="-122"/>
                <a:cs typeface="Arial" panose="020B0604020202020204" pitchFamily="34" charset="0"/>
              </a:rPr>
              <a:t>It is a</a:t>
            </a:r>
            <a:r>
              <a:rPr lang="zh-CN" altLang="en-US" sz="2400" b="1">
                <a:latin typeface="Arial" panose="020B0604020202020204" pitchFamily="34" charset="0"/>
                <a:ea typeface="楷体_GB2312" pitchFamily="49" charset="-122"/>
                <a:cs typeface="Arial" panose="020B0604020202020204" pitchFamily="34" charset="0"/>
              </a:rPr>
              <a:t> </a:t>
            </a:r>
            <a:r>
              <a:rPr lang="en-US" altLang="zh-CN" sz="2400">
                <a:solidFill>
                  <a:srgbClr val="990000"/>
                </a:solidFill>
                <a:latin typeface="Arial" panose="020B0604020202020204" pitchFamily="34" charset="0"/>
                <a:ea typeface="楷体_GB2312" pitchFamily="49" charset="-122"/>
                <a:cs typeface="Arial" panose="020B0604020202020204" pitchFamily="34" charset="0"/>
                <a:sym typeface="+mn-ea"/>
              </a:rPr>
              <a:t>Min-Heap</a:t>
            </a:r>
            <a:r>
              <a:rPr lang="zh-CN" altLang="en-US" sz="2400" b="1">
                <a:latin typeface="Arial" panose="020B0604020202020204" pitchFamily="34" charset="0"/>
                <a:ea typeface="楷体_GB2312" pitchFamily="49" charset="-122"/>
                <a:cs typeface="Arial" panose="020B0604020202020204" pitchFamily="34" charset="0"/>
              </a:rPr>
              <a:t>.</a:t>
            </a:r>
          </a:p>
        </p:txBody>
      </p:sp>
      <p:sp>
        <p:nvSpPr>
          <p:cNvPr id="78859" name="Text Box 11"/>
          <p:cNvSpPr txBox="1">
            <a:spLocks noChangeArrowheads="1"/>
          </p:cNvSpPr>
          <p:nvPr/>
        </p:nvSpPr>
        <p:spPr bwMode="auto">
          <a:xfrm>
            <a:off x="838200" y="5732780"/>
            <a:ext cx="5299710" cy="534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20000"/>
              </a:lnSpc>
            </a:pPr>
            <a:r>
              <a:rPr lang="en-US" altLang="zh-CN" sz="2400" b="1">
                <a:sym typeface="+mn-ea"/>
              </a:rPr>
              <a:t>{12, 36, </a:t>
            </a:r>
            <a:r>
              <a:rPr lang="en-US" altLang="zh-CN" sz="2400" b="1">
                <a:solidFill>
                  <a:srgbClr val="990000"/>
                </a:solidFill>
                <a:sym typeface="+mn-ea"/>
              </a:rPr>
              <a:t>27</a:t>
            </a:r>
            <a:r>
              <a:rPr lang="en-US" altLang="zh-CN" sz="2400" b="1">
                <a:sym typeface="+mn-ea"/>
              </a:rPr>
              <a:t>, 65, 40, </a:t>
            </a:r>
            <a:r>
              <a:rPr lang="en-US" altLang="zh-CN" sz="2400" b="1">
                <a:solidFill>
                  <a:srgbClr val="990000"/>
                </a:solidFill>
                <a:sym typeface="+mn-ea"/>
              </a:rPr>
              <a:t>14</a:t>
            </a:r>
            <a:r>
              <a:rPr lang="en-US" altLang="zh-CN" sz="2400" b="1">
                <a:sym typeface="+mn-ea"/>
              </a:rPr>
              <a:t>, 98, 81, 73, 55, 49}</a:t>
            </a:r>
          </a:p>
        </p:txBody>
      </p:sp>
      <p:sp>
        <p:nvSpPr>
          <p:cNvPr id="78860" name="Rectangle 12"/>
          <p:cNvSpPr>
            <a:spLocks noChangeArrowheads="1"/>
          </p:cNvSpPr>
          <p:nvPr/>
        </p:nvSpPr>
        <p:spPr bwMode="auto">
          <a:xfrm>
            <a:off x="6804025" y="5781358"/>
            <a:ext cx="203517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a:solidFill>
                  <a:srgbClr val="990000"/>
                </a:solidFill>
                <a:latin typeface="Arial" panose="020B0604020202020204" pitchFamily="34" charset="0"/>
                <a:ea typeface="楷体_GB2312" pitchFamily="49" charset="-122"/>
                <a:cs typeface="Arial" panose="020B0604020202020204" pitchFamily="34" charset="0"/>
              </a:rPr>
              <a:t>Not a heap</a:t>
            </a:r>
          </a:p>
        </p:txBody>
      </p:sp>
      <p:sp>
        <p:nvSpPr>
          <p:cNvPr id="78861" name="Text Box 13"/>
          <p:cNvSpPr txBox="1">
            <a:spLocks noChangeArrowheads="1"/>
          </p:cNvSpPr>
          <p:nvPr/>
        </p:nvSpPr>
        <p:spPr bwMode="auto">
          <a:xfrm>
            <a:off x="2627630" y="2996248"/>
            <a:ext cx="150495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a:solidFill>
                  <a:srgbClr val="990000"/>
                </a:solidFill>
                <a:latin typeface="Arial" panose="020B0604020202020204" pitchFamily="34" charset="0"/>
                <a:ea typeface="楷体_GB2312" pitchFamily="49" charset="-122"/>
                <a:cs typeface="Arial" panose="020B0604020202020204" pitchFamily="34" charset="0"/>
              </a:rPr>
              <a:t>Min-Heap</a:t>
            </a:r>
          </a:p>
        </p:txBody>
      </p:sp>
      <p:sp>
        <p:nvSpPr>
          <p:cNvPr id="78862" name="Text Box 14"/>
          <p:cNvSpPr txBox="1">
            <a:spLocks noChangeArrowheads="1"/>
          </p:cNvSpPr>
          <p:nvPr/>
        </p:nvSpPr>
        <p:spPr bwMode="auto">
          <a:xfrm>
            <a:off x="6784975" y="3001963"/>
            <a:ext cx="158940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a:solidFill>
                  <a:srgbClr val="990000"/>
                </a:solidFill>
                <a:latin typeface="Arial" panose="020B0604020202020204" pitchFamily="34" charset="0"/>
                <a:ea typeface="楷体_GB2312" pitchFamily="49" charset="-122"/>
                <a:cs typeface="Arial" panose="020B0604020202020204" pitchFamily="34" charset="0"/>
              </a:rPr>
              <a:t>Max-Heap</a:t>
            </a:r>
          </a:p>
        </p:txBody>
      </p:sp>
      <p:sp>
        <p:nvSpPr>
          <p:cNvPr id="4" name="页脚占位符 3"/>
          <p:cNvSpPr>
            <a:spLocks noGrp="1"/>
          </p:cNvSpPr>
          <p:nvPr>
            <p:ph type="ftr" sz="quarter" idx="10"/>
          </p:nvPr>
        </p:nvSpPr>
        <p:spPr/>
        <p:txBody>
          <a:bodyPr/>
          <a:lstStyle/>
          <a:p>
            <a:pPr>
              <a:defRPr/>
            </a:pPr>
            <a:r>
              <a:rPr lang="en-US" altLang="zh-CN"/>
              <a:t>@ Zhihai Wang,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t>82</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8850"/>
                                        </p:tgtEl>
                                        <p:attrNameLst>
                                          <p:attrName>style.visibility</p:attrName>
                                        </p:attrNameLst>
                                      </p:cBhvr>
                                      <p:to>
                                        <p:strVal val="visible"/>
                                      </p:to>
                                    </p:set>
                                    <p:animEffect transition="in" filter="wipe(left)">
                                      <p:cBhvr>
                                        <p:cTn id="7" dur="500"/>
                                        <p:tgtEl>
                                          <p:spTgt spid="7885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78855"/>
                                        </p:tgtEl>
                                        <p:attrNameLst>
                                          <p:attrName>style.visibility</p:attrName>
                                        </p:attrNameLst>
                                      </p:cBhvr>
                                      <p:to>
                                        <p:strVal val="visible"/>
                                      </p:to>
                                    </p:set>
                                    <p:animEffect transition="in" filter="wipe(left)">
                                      <p:cBhvr>
                                        <p:cTn id="12" dur="300"/>
                                        <p:tgtEl>
                                          <p:spTgt spid="7885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8851"/>
                                        </p:tgtEl>
                                        <p:attrNameLst>
                                          <p:attrName>style.visibility</p:attrName>
                                        </p:attrNameLst>
                                      </p:cBhvr>
                                      <p:to>
                                        <p:strVal val="visible"/>
                                      </p:to>
                                    </p:set>
                                    <p:animEffect transition="in" filter="wipe(left)">
                                      <p:cBhvr>
                                        <p:cTn id="17" dur="500"/>
                                        <p:tgtEl>
                                          <p:spTgt spid="7885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8853"/>
                                        </p:tgtEl>
                                        <p:attrNameLst>
                                          <p:attrName>style.visibility</p:attrName>
                                        </p:attrNameLst>
                                      </p:cBhvr>
                                      <p:to>
                                        <p:strVal val="visible"/>
                                      </p:to>
                                    </p:set>
                                    <p:animEffect transition="in" filter="wipe(left)">
                                      <p:cBhvr>
                                        <p:cTn id="22" dur="500"/>
                                        <p:tgtEl>
                                          <p:spTgt spid="78853"/>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78852"/>
                                        </p:tgtEl>
                                        <p:attrNameLst>
                                          <p:attrName>style.visibility</p:attrName>
                                        </p:attrNameLst>
                                      </p:cBhvr>
                                      <p:to>
                                        <p:strVal val="visible"/>
                                      </p:to>
                                    </p:set>
                                    <p:animEffect transition="in" filter="wipe(left)">
                                      <p:cBhvr>
                                        <p:cTn id="26" dur="500"/>
                                        <p:tgtEl>
                                          <p:spTgt spid="78852"/>
                                        </p:tgtEl>
                                      </p:cBhvr>
                                    </p:animEffect>
                                  </p:childTnLst>
                                </p:cTn>
                              </p:par>
                            </p:childTnLst>
                          </p:cTn>
                        </p:par>
                        <p:par>
                          <p:cTn id="27" fill="hold">
                            <p:stCondLst>
                              <p:cond delay="1000"/>
                            </p:stCondLst>
                            <p:childTnLst>
                              <p:par>
                                <p:cTn id="28" presetID="22" presetClass="entr" presetSubtype="8" fill="hold" nodeType="afterEffect">
                                  <p:stCondLst>
                                    <p:cond delay="0"/>
                                  </p:stCondLst>
                                  <p:childTnLst>
                                    <p:set>
                                      <p:cBhvr>
                                        <p:cTn id="29" dur="1" fill="hold">
                                          <p:stCondLst>
                                            <p:cond delay="0"/>
                                          </p:stCondLst>
                                        </p:cTn>
                                        <p:tgtEl>
                                          <p:spTgt spid="78854"/>
                                        </p:tgtEl>
                                        <p:attrNameLst>
                                          <p:attrName>style.visibility</p:attrName>
                                        </p:attrNameLst>
                                      </p:cBhvr>
                                      <p:to>
                                        <p:strVal val="visible"/>
                                      </p:to>
                                    </p:set>
                                    <p:animEffect transition="in" filter="wipe(left)">
                                      <p:cBhvr>
                                        <p:cTn id="30" dur="500"/>
                                        <p:tgtEl>
                                          <p:spTgt spid="7885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78861"/>
                                        </p:tgtEl>
                                        <p:attrNameLst>
                                          <p:attrName>style.visibility</p:attrName>
                                        </p:attrNameLst>
                                      </p:cBhvr>
                                      <p:to>
                                        <p:strVal val="visible"/>
                                      </p:to>
                                    </p:set>
                                    <p:animEffect transition="in" filter="wipe(left)">
                                      <p:cBhvr>
                                        <p:cTn id="35" dur="500"/>
                                        <p:tgtEl>
                                          <p:spTgt spid="78861"/>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78862"/>
                                        </p:tgtEl>
                                        <p:attrNameLst>
                                          <p:attrName>style.visibility</p:attrName>
                                        </p:attrNameLst>
                                      </p:cBhvr>
                                      <p:to>
                                        <p:strVal val="visible"/>
                                      </p:to>
                                    </p:set>
                                    <p:animEffect transition="in" filter="wipe(left)">
                                      <p:cBhvr>
                                        <p:cTn id="40" dur="500"/>
                                        <p:tgtEl>
                                          <p:spTgt spid="78862"/>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78857"/>
                                        </p:tgtEl>
                                        <p:attrNameLst>
                                          <p:attrName>style.visibility</p:attrName>
                                        </p:attrNameLst>
                                      </p:cBhvr>
                                      <p:to>
                                        <p:strVal val="visible"/>
                                      </p:to>
                                    </p:set>
                                    <p:animEffect transition="in" filter="wipe(left)">
                                      <p:cBhvr>
                                        <p:cTn id="45" dur="500"/>
                                        <p:tgtEl>
                                          <p:spTgt spid="78857"/>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78856"/>
                                        </p:tgtEl>
                                        <p:attrNameLst>
                                          <p:attrName>style.visibility</p:attrName>
                                        </p:attrNameLst>
                                      </p:cBhvr>
                                      <p:to>
                                        <p:strVal val="visible"/>
                                      </p:to>
                                    </p:set>
                                    <p:animEffect transition="in" filter="wipe(left)">
                                      <p:cBhvr>
                                        <p:cTn id="50" dur="500"/>
                                        <p:tgtEl>
                                          <p:spTgt spid="78856"/>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iterate type="wd">
                                    <p:tmPct val="100000"/>
                                  </p:iterate>
                                  <p:childTnLst>
                                    <p:set>
                                      <p:cBhvr>
                                        <p:cTn id="54" dur="1" fill="hold">
                                          <p:stCondLst>
                                            <p:cond delay="0"/>
                                          </p:stCondLst>
                                        </p:cTn>
                                        <p:tgtEl>
                                          <p:spTgt spid="78858"/>
                                        </p:tgtEl>
                                        <p:attrNameLst>
                                          <p:attrName>style.visibility</p:attrName>
                                        </p:attrNameLst>
                                      </p:cBhvr>
                                      <p:to>
                                        <p:strVal val="visible"/>
                                      </p:to>
                                    </p:set>
                                    <p:animEffect transition="in" filter="wipe(left)">
                                      <p:cBhvr>
                                        <p:cTn id="55" dur="300"/>
                                        <p:tgtEl>
                                          <p:spTgt spid="78858"/>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78859"/>
                                        </p:tgtEl>
                                        <p:attrNameLst>
                                          <p:attrName>style.visibility</p:attrName>
                                        </p:attrNameLst>
                                      </p:cBhvr>
                                      <p:to>
                                        <p:strVal val="visible"/>
                                      </p:to>
                                    </p:set>
                                    <p:animEffect transition="in" filter="wipe(left)">
                                      <p:cBhvr>
                                        <p:cTn id="60" dur="500"/>
                                        <p:tgtEl>
                                          <p:spTgt spid="78859"/>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iterate type="wd">
                                    <p:tmPct val="100000"/>
                                  </p:iterate>
                                  <p:childTnLst>
                                    <p:set>
                                      <p:cBhvr>
                                        <p:cTn id="64" dur="1" fill="hold">
                                          <p:stCondLst>
                                            <p:cond delay="0"/>
                                          </p:stCondLst>
                                        </p:cTn>
                                        <p:tgtEl>
                                          <p:spTgt spid="78860"/>
                                        </p:tgtEl>
                                        <p:attrNameLst>
                                          <p:attrName>style.visibility</p:attrName>
                                        </p:attrNameLst>
                                      </p:cBhvr>
                                      <p:to>
                                        <p:strVal val="visible"/>
                                      </p:to>
                                    </p:set>
                                    <p:animEffect transition="in" filter="wipe(left)">
                                      <p:cBhvr>
                                        <p:cTn id="65" dur="300"/>
                                        <p:tgtEl>
                                          <p:spTgt spid="788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0" grpId="0" bldLvl="0" animBg="1" autoUpdateAnimBg="0"/>
      <p:bldP spid="78851" grpId="0" bldLvl="0" animBg="1" autoUpdateAnimBg="0"/>
      <p:bldP spid="78852" grpId="0" bldLvl="0" animBg="1" autoUpdateAnimBg="0"/>
      <p:bldP spid="78855" grpId="0" bldLvl="0" animBg="1" autoUpdateAnimBg="0"/>
      <p:bldP spid="78856" grpId="0" bldLvl="0" animBg="1" autoUpdateAnimBg="0"/>
      <p:bldP spid="78857" grpId="0" bldLvl="0" animBg="1" autoUpdateAnimBg="0"/>
      <p:bldP spid="78858" grpId="0" bldLvl="0" animBg="1" autoUpdateAnimBg="0"/>
      <p:bldP spid="78859" grpId="0" bldLvl="0" animBg="1" autoUpdateAnimBg="0"/>
      <p:bldP spid="78860" grpId="0" bldLvl="0" animBg="1" autoUpdateAnimBg="0"/>
      <p:bldP spid="78861" grpId="0" bldLvl="0" animBg="1" autoUpdateAnimBg="0"/>
      <p:bldP spid="78862" grpId="0" bldLvl="0" animBg="1"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904" name="Text Box 32"/>
          <p:cNvSpPr txBox="1">
            <a:spLocks noChangeArrowheads="1"/>
          </p:cNvSpPr>
          <p:nvPr/>
        </p:nvSpPr>
        <p:spPr bwMode="auto">
          <a:xfrm>
            <a:off x="5907088" y="5805488"/>
            <a:ext cx="2780030" cy="706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4000" b="1">
                <a:solidFill>
                  <a:schemeClr val="tx1">
                    <a:lumMod val="95000"/>
                    <a:lumOff val="5000"/>
                  </a:schemeClr>
                </a:solidFill>
                <a:latin typeface="Arial" panose="020B0604020202020204" pitchFamily="34" charset="0"/>
                <a:ea typeface="楷体_GB2312" pitchFamily="49" charset="-122"/>
                <a:cs typeface="Arial" panose="020B0604020202020204" pitchFamily="34" charset="0"/>
                <a:sym typeface="+mn-ea"/>
              </a:rPr>
              <a:t>Not</a:t>
            </a:r>
            <a:r>
              <a:rPr lang="en-US" altLang="zh-CN" sz="4000" b="1">
                <a:solidFill>
                  <a:srgbClr val="990000"/>
                </a:solidFill>
                <a:latin typeface="Arial" panose="020B0604020202020204" pitchFamily="34" charset="0"/>
                <a:ea typeface="楷体_GB2312" pitchFamily="49" charset="-122"/>
                <a:cs typeface="Arial" panose="020B0604020202020204" pitchFamily="34" charset="0"/>
                <a:sym typeface="+mn-ea"/>
              </a:rPr>
              <a:t> </a:t>
            </a:r>
            <a:r>
              <a:rPr lang="zh-CN" altLang="en-US" sz="4000" b="1">
                <a:solidFill>
                  <a:srgbClr val="990000"/>
                </a:solidFill>
                <a:latin typeface="Arial" panose="020B0604020202020204" pitchFamily="34" charset="0"/>
                <a:ea typeface="楷体_GB2312" pitchFamily="49" charset="-122"/>
                <a:cs typeface="Arial" panose="020B0604020202020204" pitchFamily="34" charset="0"/>
                <a:sym typeface="+mn-ea"/>
              </a:rPr>
              <a:t>a heap</a:t>
            </a:r>
            <a:endParaRPr lang="zh-CN" altLang="en-US" sz="4000">
              <a:latin typeface="Arial" panose="020B0604020202020204" pitchFamily="34" charset="0"/>
              <a:cs typeface="Arial" panose="020B0604020202020204" pitchFamily="34" charset="0"/>
            </a:endParaRPr>
          </a:p>
        </p:txBody>
      </p:sp>
      <p:sp>
        <p:nvSpPr>
          <p:cNvPr id="79874" name="Oval 2"/>
          <p:cNvSpPr>
            <a:spLocks noChangeArrowheads="1"/>
          </p:cNvSpPr>
          <p:nvPr/>
        </p:nvSpPr>
        <p:spPr bwMode="auto">
          <a:xfrm>
            <a:off x="3733800" y="1905000"/>
            <a:ext cx="1295400" cy="609600"/>
          </a:xfrm>
          <a:prstGeom prst="ellipse">
            <a:avLst/>
          </a:prstGeom>
          <a:solidFill>
            <a:srgbClr val="CCFFCC">
              <a:alpha val="50000"/>
            </a:srgbClr>
          </a:solidFill>
          <a:ln w="1270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4000" b="1">
                <a:solidFill>
                  <a:srgbClr val="008784"/>
                </a:solidFill>
              </a:rPr>
              <a:t>r</a:t>
            </a:r>
            <a:r>
              <a:rPr lang="en-US" altLang="zh-CN" sz="4000" b="1" baseline="-25000">
                <a:solidFill>
                  <a:srgbClr val="008784"/>
                </a:solidFill>
              </a:rPr>
              <a:t>i</a:t>
            </a:r>
            <a:endParaRPr lang="en-US" altLang="zh-CN" sz="3600"/>
          </a:p>
        </p:txBody>
      </p:sp>
      <p:sp>
        <p:nvSpPr>
          <p:cNvPr id="79875" name="Oval 3"/>
          <p:cNvSpPr>
            <a:spLocks noChangeArrowheads="1"/>
          </p:cNvSpPr>
          <p:nvPr/>
        </p:nvSpPr>
        <p:spPr bwMode="auto">
          <a:xfrm>
            <a:off x="1371600" y="2743200"/>
            <a:ext cx="1828800" cy="609600"/>
          </a:xfrm>
          <a:prstGeom prst="ellipse">
            <a:avLst/>
          </a:prstGeom>
          <a:solidFill>
            <a:srgbClr val="CCFFCC">
              <a:alpha val="50000"/>
            </a:srgbClr>
          </a:solidFill>
          <a:ln w="1270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4000" b="1">
                <a:solidFill>
                  <a:srgbClr val="008784"/>
                </a:solidFill>
              </a:rPr>
              <a:t>r</a:t>
            </a:r>
            <a:r>
              <a:rPr lang="en-US" altLang="zh-CN" sz="4000" b="1" baseline="-25000">
                <a:solidFill>
                  <a:srgbClr val="008784"/>
                </a:solidFill>
              </a:rPr>
              <a:t>2i</a:t>
            </a:r>
            <a:r>
              <a:rPr lang="en-US" altLang="zh-CN" sz="4000" b="1" baseline="-25000"/>
              <a:t> </a:t>
            </a:r>
            <a:endParaRPr lang="en-US" altLang="zh-CN" sz="3600" b="1" baseline="-25000"/>
          </a:p>
        </p:txBody>
      </p:sp>
      <p:sp>
        <p:nvSpPr>
          <p:cNvPr id="79876" name="Oval 4"/>
          <p:cNvSpPr>
            <a:spLocks noChangeArrowheads="1"/>
          </p:cNvSpPr>
          <p:nvPr/>
        </p:nvSpPr>
        <p:spPr bwMode="auto">
          <a:xfrm>
            <a:off x="5562600" y="2743200"/>
            <a:ext cx="1828800" cy="609600"/>
          </a:xfrm>
          <a:prstGeom prst="ellipse">
            <a:avLst/>
          </a:prstGeom>
          <a:solidFill>
            <a:srgbClr val="CCFFCC">
              <a:alpha val="50000"/>
            </a:srgbClr>
          </a:solidFill>
          <a:ln w="1270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4000" b="1">
                <a:solidFill>
                  <a:srgbClr val="008784"/>
                </a:solidFill>
              </a:rPr>
              <a:t>r</a:t>
            </a:r>
            <a:r>
              <a:rPr lang="en-US" altLang="zh-CN" sz="4000" b="1" baseline="-25000">
                <a:solidFill>
                  <a:srgbClr val="008784"/>
                </a:solidFill>
              </a:rPr>
              <a:t>2i+1</a:t>
            </a:r>
            <a:r>
              <a:rPr lang="en-US" altLang="zh-CN" sz="4000" b="1" baseline="-25000"/>
              <a:t> </a:t>
            </a:r>
          </a:p>
        </p:txBody>
      </p:sp>
      <p:sp>
        <p:nvSpPr>
          <p:cNvPr id="79877" name="Line 5"/>
          <p:cNvSpPr>
            <a:spLocks noChangeShapeType="1"/>
          </p:cNvSpPr>
          <p:nvPr/>
        </p:nvSpPr>
        <p:spPr bwMode="auto">
          <a:xfrm flipH="1">
            <a:off x="2286000" y="2209800"/>
            <a:ext cx="1447800" cy="533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78" name="Line 6"/>
          <p:cNvSpPr>
            <a:spLocks noChangeShapeType="1"/>
          </p:cNvSpPr>
          <p:nvPr/>
        </p:nvSpPr>
        <p:spPr bwMode="auto">
          <a:xfrm>
            <a:off x="5029200" y="2209800"/>
            <a:ext cx="1447800" cy="533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79" name="Text Box 7"/>
          <p:cNvSpPr txBox="1">
            <a:spLocks noChangeArrowheads="1"/>
          </p:cNvSpPr>
          <p:nvPr/>
        </p:nvSpPr>
        <p:spPr bwMode="auto">
          <a:xfrm>
            <a:off x="179705" y="0"/>
            <a:ext cx="8082915" cy="181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25000"/>
              </a:spcBef>
            </a:pPr>
            <a:r>
              <a:rPr lang="zh-CN" altLang="en-US">
                <a:latin typeface="Arial" panose="020B0604020202020204" pitchFamily="34" charset="0"/>
                <a:ea typeface="楷体_GB2312" pitchFamily="49" charset="-122"/>
                <a:cs typeface="Arial" panose="020B0604020202020204" pitchFamily="34" charset="0"/>
                <a:sym typeface="+mn-ea"/>
              </a:rPr>
              <a:t>If the sequence {12,</a:t>
            </a:r>
            <a:r>
              <a:rPr lang="en-US" altLang="zh-CN">
                <a:latin typeface="Arial" panose="020B0604020202020204" pitchFamily="34" charset="0"/>
                <a:ea typeface="楷体_GB2312" pitchFamily="49" charset="-122"/>
                <a:cs typeface="Arial" panose="020B0604020202020204" pitchFamily="34" charset="0"/>
                <a:sym typeface="+mn-ea"/>
              </a:rPr>
              <a:t> </a:t>
            </a:r>
            <a:r>
              <a:rPr lang="zh-CN" altLang="en-US">
                <a:latin typeface="Arial" panose="020B0604020202020204" pitchFamily="34" charset="0"/>
                <a:ea typeface="楷体_GB2312" pitchFamily="49" charset="-122"/>
                <a:cs typeface="Arial" panose="020B0604020202020204" pitchFamily="34" charset="0"/>
                <a:sym typeface="+mn-ea"/>
              </a:rPr>
              <a:t>36,</a:t>
            </a:r>
            <a:r>
              <a:rPr lang="en-US" altLang="zh-CN">
                <a:latin typeface="Arial" panose="020B0604020202020204" pitchFamily="34" charset="0"/>
                <a:ea typeface="楷体_GB2312" pitchFamily="49" charset="-122"/>
                <a:cs typeface="Arial" panose="020B0604020202020204" pitchFamily="34" charset="0"/>
                <a:sym typeface="+mn-ea"/>
              </a:rPr>
              <a:t> </a:t>
            </a:r>
            <a:r>
              <a:rPr lang="zh-CN" altLang="en-US">
                <a:latin typeface="Arial" panose="020B0604020202020204" pitchFamily="34" charset="0"/>
                <a:ea typeface="楷体_GB2312" pitchFamily="49" charset="-122"/>
                <a:cs typeface="Arial" panose="020B0604020202020204" pitchFamily="34" charset="0"/>
                <a:sym typeface="+mn-ea"/>
              </a:rPr>
              <a:t>27,</a:t>
            </a:r>
            <a:r>
              <a:rPr lang="en-US" altLang="zh-CN">
                <a:latin typeface="Arial" panose="020B0604020202020204" pitchFamily="34" charset="0"/>
                <a:ea typeface="楷体_GB2312" pitchFamily="49" charset="-122"/>
                <a:cs typeface="Arial" panose="020B0604020202020204" pitchFamily="34" charset="0"/>
                <a:sym typeface="+mn-ea"/>
              </a:rPr>
              <a:t> </a:t>
            </a:r>
            <a:r>
              <a:rPr lang="zh-CN" altLang="en-US">
                <a:latin typeface="Arial" panose="020B0604020202020204" pitchFamily="34" charset="0"/>
                <a:ea typeface="楷体_GB2312" pitchFamily="49" charset="-122"/>
                <a:cs typeface="Arial" panose="020B0604020202020204" pitchFamily="34" charset="0"/>
                <a:sym typeface="+mn-ea"/>
              </a:rPr>
              <a:t>65,</a:t>
            </a:r>
            <a:r>
              <a:rPr lang="en-US" altLang="zh-CN">
                <a:latin typeface="Arial" panose="020B0604020202020204" pitchFamily="34" charset="0"/>
                <a:ea typeface="楷体_GB2312" pitchFamily="49" charset="-122"/>
                <a:cs typeface="Arial" panose="020B0604020202020204" pitchFamily="34" charset="0"/>
                <a:sym typeface="+mn-ea"/>
              </a:rPr>
              <a:t> </a:t>
            </a:r>
            <a:r>
              <a:rPr lang="zh-CN" altLang="en-US">
                <a:latin typeface="Arial" panose="020B0604020202020204" pitchFamily="34" charset="0"/>
                <a:ea typeface="楷体_GB2312" pitchFamily="49" charset="-122"/>
                <a:cs typeface="Arial" panose="020B0604020202020204" pitchFamily="34" charset="0"/>
                <a:sym typeface="+mn-ea"/>
              </a:rPr>
              <a:t>40,</a:t>
            </a:r>
            <a:r>
              <a:rPr lang="en-US" altLang="zh-CN">
                <a:latin typeface="Arial" panose="020B0604020202020204" pitchFamily="34" charset="0"/>
                <a:ea typeface="楷体_GB2312" pitchFamily="49" charset="-122"/>
                <a:cs typeface="Arial" panose="020B0604020202020204" pitchFamily="34" charset="0"/>
                <a:sym typeface="+mn-ea"/>
              </a:rPr>
              <a:t> </a:t>
            </a:r>
            <a:r>
              <a:rPr lang="zh-CN" altLang="en-US">
                <a:latin typeface="Arial" panose="020B0604020202020204" pitchFamily="34" charset="0"/>
                <a:ea typeface="楷体_GB2312" pitchFamily="49" charset="-122"/>
                <a:cs typeface="Arial" panose="020B0604020202020204" pitchFamily="34" charset="0"/>
                <a:sym typeface="+mn-ea"/>
              </a:rPr>
              <a:t>34,</a:t>
            </a:r>
            <a:r>
              <a:rPr lang="en-US" altLang="zh-CN">
                <a:latin typeface="Arial" panose="020B0604020202020204" pitchFamily="34" charset="0"/>
                <a:ea typeface="楷体_GB2312" pitchFamily="49" charset="-122"/>
                <a:cs typeface="Arial" panose="020B0604020202020204" pitchFamily="34" charset="0"/>
                <a:sym typeface="+mn-ea"/>
              </a:rPr>
              <a:t> </a:t>
            </a:r>
            <a:r>
              <a:rPr lang="zh-CN" altLang="en-US">
                <a:latin typeface="Arial" panose="020B0604020202020204" pitchFamily="34" charset="0"/>
                <a:ea typeface="楷体_GB2312" pitchFamily="49" charset="-122"/>
                <a:cs typeface="Arial" panose="020B0604020202020204" pitchFamily="34" charset="0"/>
                <a:sym typeface="+mn-ea"/>
              </a:rPr>
              <a:t>98,</a:t>
            </a:r>
            <a:r>
              <a:rPr lang="en-US" altLang="zh-CN">
                <a:latin typeface="Arial" panose="020B0604020202020204" pitchFamily="34" charset="0"/>
                <a:ea typeface="楷体_GB2312" pitchFamily="49" charset="-122"/>
                <a:cs typeface="Arial" panose="020B0604020202020204" pitchFamily="34" charset="0"/>
                <a:sym typeface="+mn-ea"/>
              </a:rPr>
              <a:t> </a:t>
            </a:r>
            <a:r>
              <a:rPr lang="zh-CN" altLang="en-US">
                <a:latin typeface="Arial" panose="020B0604020202020204" pitchFamily="34" charset="0"/>
                <a:ea typeface="楷体_GB2312" pitchFamily="49" charset="-122"/>
                <a:cs typeface="Arial" panose="020B0604020202020204" pitchFamily="34" charset="0"/>
                <a:sym typeface="+mn-ea"/>
              </a:rPr>
              <a:t>81,</a:t>
            </a:r>
            <a:r>
              <a:rPr lang="en-US" altLang="zh-CN">
                <a:latin typeface="Arial" panose="020B0604020202020204" pitchFamily="34" charset="0"/>
                <a:ea typeface="楷体_GB2312" pitchFamily="49" charset="-122"/>
                <a:cs typeface="Arial" panose="020B0604020202020204" pitchFamily="34" charset="0"/>
                <a:sym typeface="+mn-ea"/>
              </a:rPr>
              <a:t> </a:t>
            </a:r>
            <a:r>
              <a:rPr lang="zh-CN" altLang="en-US">
                <a:latin typeface="Arial" panose="020B0604020202020204" pitchFamily="34" charset="0"/>
                <a:ea typeface="楷体_GB2312" pitchFamily="49" charset="-122"/>
                <a:cs typeface="Arial" panose="020B0604020202020204" pitchFamily="34" charset="0"/>
                <a:sym typeface="+mn-ea"/>
              </a:rPr>
              <a:t>73,</a:t>
            </a:r>
            <a:r>
              <a:rPr lang="en-US" altLang="zh-CN">
                <a:latin typeface="Arial" panose="020B0604020202020204" pitchFamily="34" charset="0"/>
                <a:ea typeface="楷体_GB2312" pitchFamily="49" charset="-122"/>
                <a:cs typeface="Arial" panose="020B0604020202020204" pitchFamily="34" charset="0"/>
                <a:sym typeface="+mn-ea"/>
              </a:rPr>
              <a:t> </a:t>
            </a:r>
            <a:r>
              <a:rPr lang="zh-CN" altLang="en-US">
                <a:latin typeface="Arial" panose="020B0604020202020204" pitchFamily="34" charset="0"/>
                <a:ea typeface="楷体_GB2312" pitchFamily="49" charset="-122"/>
                <a:cs typeface="Arial" panose="020B0604020202020204" pitchFamily="34" charset="0"/>
                <a:sym typeface="+mn-ea"/>
              </a:rPr>
              <a:t>55,</a:t>
            </a:r>
            <a:r>
              <a:rPr lang="en-US" altLang="zh-CN">
                <a:latin typeface="Arial" panose="020B0604020202020204" pitchFamily="34" charset="0"/>
                <a:ea typeface="楷体_GB2312" pitchFamily="49" charset="-122"/>
                <a:cs typeface="Arial" panose="020B0604020202020204" pitchFamily="34" charset="0"/>
                <a:sym typeface="+mn-ea"/>
              </a:rPr>
              <a:t> </a:t>
            </a:r>
            <a:r>
              <a:rPr lang="zh-CN" altLang="en-US">
                <a:latin typeface="Arial" panose="020B0604020202020204" pitchFamily="34" charset="0"/>
                <a:ea typeface="楷体_GB2312" pitchFamily="49" charset="-122"/>
                <a:cs typeface="Arial" panose="020B0604020202020204" pitchFamily="34" charset="0"/>
                <a:sym typeface="+mn-ea"/>
              </a:rPr>
              <a:t>49} is regarded as a complete binary tree, then </a:t>
            </a:r>
            <a:r>
              <a:rPr lang="en-US" altLang="zh-CN" b="1">
                <a:latin typeface="Arial" panose="020B0604020202020204" pitchFamily="34" charset="0"/>
                <a:ea typeface="楷体_GB2312" pitchFamily="49" charset="-122"/>
                <a:cs typeface="Arial" panose="020B0604020202020204" pitchFamily="34" charset="0"/>
                <a:sym typeface="+mn-ea"/>
              </a:rPr>
              <a:t>r</a:t>
            </a:r>
            <a:r>
              <a:rPr lang="en-US" altLang="zh-CN" b="1" baseline="-25000">
                <a:latin typeface="Arial" panose="020B0604020202020204" pitchFamily="34" charset="0"/>
                <a:ea typeface="楷体_GB2312" pitchFamily="49" charset="-122"/>
                <a:cs typeface="Arial" panose="020B0604020202020204" pitchFamily="34" charset="0"/>
                <a:sym typeface="+mn-ea"/>
              </a:rPr>
              <a:t>2i</a:t>
            </a:r>
            <a:r>
              <a:rPr lang="zh-CN" altLang="en-US">
                <a:latin typeface="Arial" panose="020B0604020202020204" pitchFamily="34" charset="0"/>
                <a:ea typeface="楷体_GB2312" pitchFamily="49" charset="-122"/>
                <a:cs typeface="Arial" panose="020B0604020202020204" pitchFamily="34" charset="0"/>
                <a:sym typeface="+mn-ea"/>
              </a:rPr>
              <a:t> is the left child of </a:t>
            </a:r>
            <a:r>
              <a:rPr lang="en-US" altLang="zh-CN" b="1">
                <a:latin typeface="Arial" panose="020B0604020202020204" pitchFamily="34" charset="0"/>
                <a:ea typeface="楷体_GB2312" pitchFamily="49" charset="-122"/>
                <a:cs typeface="Arial" panose="020B0604020202020204" pitchFamily="34" charset="0"/>
                <a:sym typeface="+mn-ea"/>
              </a:rPr>
              <a:t>r</a:t>
            </a:r>
            <a:r>
              <a:rPr lang="en-US" altLang="zh-CN" b="1" baseline="-25000">
                <a:latin typeface="Arial" panose="020B0604020202020204" pitchFamily="34" charset="0"/>
                <a:ea typeface="楷体_GB2312" pitchFamily="49" charset="-122"/>
                <a:cs typeface="Arial" panose="020B0604020202020204" pitchFamily="34" charset="0"/>
                <a:sym typeface="+mn-ea"/>
              </a:rPr>
              <a:t>i</a:t>
            </a:r>
            <a:r>
              <a:rPr lang="zh-CN" altLang="en-US">
                <a:latin typeface="Arial" panose="020B0604020202020204" pitchFamily="34" charset="0"/>
                <a:ea typeface="楷体_GB2312" pitchFamily="49" charset="-122"/>
                <a:cs typeface="Arial" panose="020B0604020202020204" pitchFamily="34" charset="0"/>
                <a:sym typeface="+mn-ea"/>
              </a:rPr>
              <a:t>, and </a:t>
            </a:r>
            <a:r>
              <a:rPr lang="en-US" altLang="zh-CN" b="1">
                <a:latin typeface="Arial" panose="020B0604020202020204" pitchFamily="34" charset="0"/>
                <a:ea typeface="楷体_GB2312" pitchFamily="49" charset="-122"/>
                <a:cs typeface="Arial" panose="020B0604020202020204" pitchFamily="34" charset="0"/>
                <a:sym typeface="+mn-ea"/>
              </a:rPr>
              <a:t>r</a:t>
            </a:r>
            <a:r>
              <a:rPr lang="en-US" altLang="zh-CN" b="1" baseline="-25000">
                <a:latin typeface="Arial" panose="020B0604020202020204" pitchFamily="34" charset="0"/>
                <a:ea typeface="楷体_GB2312" pitchFamily="49" charset="-122"/>
                <a:cs typeface="Arial" panose="020B0604020202020204" pitchFamily="34" charset="0"/>
                <a:sym typeface="+mn-ea"/>
              </a:rPr>
              <a:t>2i+1</a:t>
            </a:r>
            <a:r>
              <a:rPr lang="zh-CN" altLang="en-US">
                <a:latin typeface="Arial" panose="020B0604020202020204" pitchFamily="34" charset="0"/>
                <a:ea typeface="楷体_GB2312" pitchFamily="49" charset="-122"/>
                <a:cs typeface="Arial" panose="020B0604020202020204" pitchFamily="34" charset="0"/>
                <a:sym typeface="+mn-ea"/>
              </a:rPr>
              <a:t> is the right child of </a:t>
            </a:r>
            <a:r>
              <a:rPr lang="en-US" altLang="zh-CN" b="1">
                <a:latin typeface="Arial" panose="020B0604020202020204" pitchFamily="34" charset="0"/>
                <a:ea typeface="楷体_GB2312" pitchFamily="49" charset="-122"/>
                <a:cs typeface="Arial" panose="020B0604020202020204" pitchFamily="34" charset="0"/>
                <a:sym typeface="+mn-ea"/>
              </a:rPr>
              <a:t>r</a:t>
            </a:r>
            <a:r>
              <a:rPr lang="en-US" altLang="zh-CN" b="1" baseline="-25000">
                <a:latin typeface="Arial" panose="020B0604020202020204" pitchFamily="34" charset="0"/>
                <a:ea typeface="楷体_GB2312" pitchFamily="49" charset="-122"/>
                <a:cs typeface="Arial" panose="020B0604020202020204" pitchFamily="34" charset="0"/>
                <a:sym typeface="+mn-ea"/>
              </a:rPr>
              <a:t>i</a:t>
            </a:r>
            <a:r>
              <a:rPr lang="zh-CN" altLang="en-US">
                <a:latin typeface="Arial" panose="020B0604020202020204" pitchFamily="34" charset="0"/>
                <a:ea typeface="楷体_GB2312" pitchFamily="49" charset="-122"/>
                <a:cs typeface="Arial" panose="020B0604020202020204" pitchFamily="34" charset="0"/>
                <a:sym typeface="+mn-ea"/>
              </a:rPr>
              <a:t>.</a:t>
            </a:r>
          </a:p>
        </p:txBody>
      </p:sp>
      <p:sp>
        <p:nvSpPr>
          <p:cNvPr id="79880" name="Oval 8"/>
          <p:cNvSpPr>
            <a:spLocks noChangeArrowheads="1"/>
          </p:cNvSpPr>
          <p:nvPr/>
        </p:nvSpPr>
        <p:spPr bwMode="auto">
          <a:xfrm>
            <a:off x="4419600" y="3810000"/>
            <a:ext cx="685800" cy="381000"/>
          </a:xfrm>
          <a:prstGeom prst="ellipse">
            <a:avLst/>
          </a:prstGeom>
          <a:solidFill>
            <a:srgbClr val="CCFFCC"/>
          </a:solidFill>
          <a:ln w="1270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8784"/>
                </a:solidFill>
              </a:rPr>
              <a:t>12</a:t>
            </a:r>
            <a:endParaRPr lang="en-US" altLang="zh-CN" sz="2400"/>
          </a:p>
        </p:txBody>
      </p:sp>
      <p:sp>
        <p:nvSpPr>
          <p:cNvPr id="79881" name="Oval 9"/>
          <p:cNvSpPr>
            <a:spLocks noChangeArrowheads="1"/>
          </p:cNvSpPr>
          <p:nvPr/>
        </p:nvSpPr>
        <p:spPr bwMode="auto">
          <a:xfrm>
            <a:off x="2362200" y="4572000"/>
            <a:ext cx="685800" cy="381000"/>
          </a:xfrm>
          <a:prstGeom prst="ellipse">
            <a:avLst/>
          </a:prstGeom>
          <a:solidFill>
            <a:srgbClr val="CCFFCC"/>
          </a:solidFill>
          <a:ln w="1270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9999"/>
                </a:solidFill>
              </a:rPr>
              <a:t>36</a:t>
            </a:r>
            <a:endParaRPr lang="en-US" altLang="zh-CN" b="1"/>
          </a:p>
        </p:txBody>
      </p:sp>
      <p:sp>
        <p:nvSpPr>
          <p:cNvPr id="79882" name="Oval 10"/>
          <p:cNvSpPr>
            <a:spLocks noChangeArrowheads="1"/>
          </p:cNvSpPr>
          <p:nvPr/>
        </p:nvSpPr>
        <p:spPr bwMode="auto">
          <a:xfrm>
            <a:off x="6629400" y="4572000"/>
            <a:ext cx="685800" cy="381000"/>
          </a:xfrm>
          <a:prstGeom prst="ellipse">
            <a:avLst/>
          </a:prstGeom>
          <a:solidFill>
            <a:srgbClr val="CCFFCC"/>
          </a:solidFill>
          <a:ln w="1270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8784"/>
                </a:solidFill>
              </a:rPr>
              <a:t>27</a:t>
            </a:r>
            <a:endParaRPr lang="en-US" altLang="zh-CN" sz="2400"/>
          </a:p>
        </p:txBody>
      </p:sp>
      <p:sp>
        <p:nvSpPr>
          <p:cNvPr id="79883" name="Oval 11"/>
          <p:cNvSpPr>
            <a:spLocks noChangeArrowheads="1"/>
          </p:cNvSpPr>
          <p:nvPr/>
        </p:nvSpPr>
        <p:spPr bwMode="auto">
          <a:xfrm>
            <a:off x="990600" y="5334000"/>
            <a:ext cx="685800" cy="381000"/>
          </a:xfrm>
          <a:prstGeom prst="ellipse">
            <a:avLst/>
          </a:prstGeom>
          <a:solidFill>
            <a:srgbClr val="CCFFCC"/>
          </a:solidFill>
          <a:ln w="1270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9999"/>
                </a:solidFill>
              </a:rPr>
              <a:t>65</a:t>
            </a:r>
            <a:endParaRPr lang="en-US" altLang="zh-CN" sz="2400"/>
          </a:p>
        </p:txBody>
      </p:sp>
      <p:sp>
        <p:nvSpPr>
          <p:cNvPr id="79884" name="Oval 12"/>
          <p:cNvSpPr>
            <a:spLocks noChangeArrowheads="1"/>
          </p:cNvSpPr>
          <p:nvPr/>
        </p:nvSpPr>
        <p:spPr bwMode="auto">
          <a:xfrm>
            <a:off x="4343400" y="6096000"/>
            <a:ext cx="685800" cy="381000"/>
          </a:xfrm>
          <a:prstGeom prst="ellipse">
            <a:avLst/>
          </a:prstGeom>
          <a:solidFill>
            <a:srgbClr val="CCFFCC"/>
          </a:solidFill>
          <a:ln w="1270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9999"/>
                </a:solidFill>
              </a:rPr>
              <a:t>49</a:t>
            </a:r>
            <a:endParaRPr lang="en-US" altLang="zh-CN" sz="2400"/>
          </a:p>
        </p:txBody>
      </p:sp>
      <p:sp>
        <p:nvSpPr>
          <p:cNvPr id="79885" name="Oval 13"/>
          <p:cNvSpPr>
            <a:spLocks noChangeArrowheads="1"/>
          </p:cNvSpPr>
          <p:nvPr/>
        </p:nvSpPr>
        <p:spPr bwMode="auto">
          <a:xfrm>
            <a:off x="304800" y="6096000"/>
            <a:ext cx="685800" cy="381000"/>
          </a:xfrm>
          <a:prstGeom prst="ellipse">
            <a:avLst/>
          </a:prstGeom>
          <a:solidFill>
            <a:srgbClr val="CCFFCC"/>
          </a:solidFill>
          <a:ln w="1270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rgbClr val="009999"/>
                </a:solidFill>
              </a:rPr>
              <a:t>81</a:t>
            </a:r>
            <a:endParaRPr lang="en-US" altLang="zh-CN" sz="2400"/>
          </a:p>
        </p:txBody>
      </p:sp>
      <p:sp>
        <p:nvSpPr>
          <p:cNvPr id="79886" name="Oval 14"/>
          <p:cNvSpPr>
            <a:spLocks noChangeArrowheads="1"/>
          </p:cNvSpPr>
          <p:nvPr/>
        </p:nvSpPr>
        <p:spPr bwMode="auto">
          <a:xfrm>
            <a:off x="1600200" y="6096000"/>
            <a:ext cx="685800" cy="381000"/>
          </a:xfrm>
          <a:prstGeom prst="ellipse">
            <a:avLst/>
          </a:prstGeom>
          <a:solidFill>
            <a:srgbClr val="CCFFCC"/>
          </a:solidFill>
          <a:ln w="1270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9999"/>
                </a:solidFill>
              </a:rPr>
              <a:t>73</a:t>
            </a:r>
            <a:endParaRPr lang="en-US" altLang="zh-CN" sz="2400"/>
          </a:p>
        </p:txBody>
      </p:sp>
      <p:sp>
        <p:nvSpPr>
          <p:cNvPr id="79887" name="Oval 15"/>
          <p:cNvSpPr>
            <a:spLocks noChangeArrowheads="1"/>
          </p:cNvSpPr>
          <p:nvPr/>
        </p:nvSpPr>
        <p:spPr bwMode="auto">
          <a:xfrm>
            <a:off x="2971800" y="6096000"/>
            <a:ext cx="685800" cy="381000"/>
          </a:xfrm>
          <a:prstGeom prst="ellipse">
            <a:avLst/>
          </a:prstGeom>
          <a:solidFill>
            <a:srgbClr val="CCFFCC"/>
          </a:solidFill>
          <a:ln w="1270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9999"/>
                </a:solidFill>
              </a:rPr>
              <a:t>55</a:t>
            </a:r>
            <a:endParaRPr lang="en-US" altLang="zh-CN" sz="2400"/>
          </a:p>
        </p:txBody>
      </p:sp>
      <p:sp>
        <p:nvSpPr>
          <p:cNvPr id="79888" name="Oval 16"/>
          <p:cNvSpPr>
            <a:spLocks noChangeArrowheads="1"/>
          </p:cNvSpPr>
          <p:nvPr/>
        </p:nvSpPr>
        <p:spPr bwMode="auto">
          <a:xfrm>
            <a:off x="3657600" y="5334000"/>
            <a:ext cx="685800" cy="381000"/>
          </a:xfrm>
          <a:prstGeom prst="ellipse">
            <a:avLst/>
          </a:prstGeom>
          <a:solidFill>
            <a:srgbClr val="CCFFCC"/>
          </a:solidFill>
          <a:ln w="1270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9999"/>
                </a:solidFill>
              </a:rPr>
              <a:t>40</a:t>
            </a:r>
          </a:p>
        </p:txBody>
      </p:sp>
      <p:sp>
        <p:nvSpPr>
          <p:cNvPr id="79889" name="Oval 17"/>
          <p:cNvSpPr>
            <a:spLocks noChangeArrowheads="1"/>
          </p:cNvSpPr>
          <p:nvPr/>
        </p:nvSpPr>
        <p:spPr bwMode="auto">
          <a:xfrm>
            <a:off x="5486400" y="5334000"/>
            <a:ext cx="685800" cy="381000"/>
          </a:xfrm>
          <a:prstGeom prst="ellipse">
            <a:avLst/>
          </a:prstGeom>
          <a:solidFill>
            <a:srgbClr val="CCFFCC"/>
          </a:solidFill>
          <a:ln w="1270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8784"/>
                </a:solidFill>
              </a:rPr>
              <a:t>34</a:t>
            </a:r>
            <a:endParaRPr lang="en-US" altLang="zh-CN" sz="2400"/>
          </a:p>
        </p:txBody>
      </p:sp>
      <p:sp>
        <p:nvSpPr>
          <p:cNvPr id="79890" name="Oval 18"/>
          <p:cNvSpPr>
            <a:spLocks noChangeArrowheads="1"/>
          </p:cNvSpPr>
          <p:nvPr/>
        </p:nvSpPr>
        <p:spPr bwMode="auto">
          <a:xfrm>
            <a:off x="7848600" y="5334000"/>
            <a:ext cx="685800" cy="381000"/>
          </a:xfrm>
          <a:prstGeom prst="ellipse">
            <a:avLst/>
          </a:prstGeom>
          <a:solidFill>
            <a:srgbClr val="CCFFCC"/>
          </a:solidFill>
          <a:ln w="1270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9999"/>
                </a:solidFill>
              </a:rPr>
              <a:t>98</a:t>
            </a:r>
          </a:p>
        </p:txBody>
      </p:sp>
      <p:sp>
        <p:nvSpPr>
          <p:cNvPr id="79891" name="Line 19"/>
          <p:cNvSpPr>
            <a:spLocks noChangeShapeType="1"/>
          </p:cNvSpPr>
          <p:nvPr/>
        </p:nvSpPr>
        <p:spPr bwMode="auto">
          <a:xfrm flipH="1">
            <a:off x="2667000" y="4114800"/>
            <a:ext cx="182880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92" name="Line 20"/>
          <p:cNvSpPr>
            <a:spLocks noChangeShapeType="1"/>
          </p:cNvSpPr>
          <p:nvPr/>
        </p:nvSpPr>
        <p:spPr bwMode="auto">
          <a:xfrm>
            <a:off x="5029200" y="4114800"/>
            <a:ext cx="190500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93" name="Line 21"/>
          <p:cNvSpPr>
            <a:spLocks noChangeShapeType="1"/>
          </p:cNvSpPr>
          <p:nvPr/>
        </p:nvSpPr>
        <p:spPr bwMode="auto">
          <a:xfrm flipH="1">
            <a:off x="1295400" y="4800600"/>
            <a:ext cx="1066800" cy="533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94" name="Line 22"/>
          <p:cNvSpPr>
            <a:spLocks noChangeShapeType="1"/>
          </p:cNvSpPr>
          <p:nvPr/>
        </p:nvSpPr>
        <p:spPr bwMode="auto">
          <a:xfrm>
            <a:off x="3048000" y="4800600"/>
            <a:ext cx="914400" cy="533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95" name="Line 23"/>
          <p:cNvSpPr>
            <a:spLocks noChangeShapeType="1"/>
          </p:cNvSpPr>
          <p:nvPr/>
        </p:nvSpPr>
        <p:spPr bwMode="auto">
          <a:xfrm flipH="1">
            <a:off x="5791200" y="4800600"/>
            <a:ext cx="838200" cy="533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96" name="Line 24"/>
          <p:cNvSpPr>
            <a:spLocks noChangeShapeType="1"/>
          </p:cNvSpPr>
          <p:nvPr/>
        </p:nvSpPr>
        <p:spPr bwMode="auto">
          <a:xfrm>
            <a:off x="7315200" y="4800600"/>
            <a:ext cx="914400" cy="533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97" name="Line 25"/>
          <p:cNvSpPr>
            <a:spLocks noChangeShapeType="1"/>
          </p:cNvSpPr>
          <p:nvPr/>
        </p:nvSpPr>
        <p:spPr bwMode="auto">
          <a:xfrm flipH="1">
            <a:off x="609600" y="5562600"/>
            <a:ext cx="381000" cy="533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98" name="Line 26"/>
          <p:cNvSpPr>
            <a:spLocks noChangeShapeType="1"/>
          </p:cNvSpPr>
          <p:nvPr/>
        </p:nvSpPr>
        <p:spPr bwMode="auto">
          <a:xfrm>
            <a:off x="1676400" y="5562600"/>
            <a:ext cx="228600" cy="533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99" name="Line 27"/>
          <p:cNvSpPr>
            <a:spLocks noChangeShapeType="1"/>
          </p:cNvSpPr>
          <p:nvPr/>
        </p:nvSpPr>
        <p:spPr bwMode="auto">
          <a:xfrm flipH="1">
            <a:off x="3276600" y="5562600"/>
            <a:ext cx="381000" cy="533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900" name="Line 28"/>
          <p:cNvSpPr>
            <a:spLocks noChangeShapeType="1"/>
          </p:cNvSpPr>
          <p:nvPr/>
        </p:nvSpPr>
        <p:spPr bwMode="auto">
          <a:xfrm>
            <a:off x="4343400" y="5562600"/>
            <a:ext cx="381000" cy="533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901" name="Text Box 29"/>
          <p:cNvSpPr txBox="1">
            <a:spLocks noChangeArrowheads="1"/>
          </p:cNvSpPr>
          <p:nvPr/>
        </p:nvSpPr>
        <p:spPr bwMode="auto">
          <a:xfrm>
            <a:off x="381000" y="3505200"/>
            <a:ext cx="3334385" cy="75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20000"/>
              </a:lnSpc>
            </a:pPr>
            <a:r>
              <a:rPr lang="en-US" altLang="zh-CN" sz="3600" b="1">
                <a:solidFill>
                  <a:srgbClr val="990000"/>
                </a:solidFill>
                <a:latin typeface="Arial" panose="020B0604020202020204" pitchFamily="34" charset="0"/>
                <a:ea typeface="隶书" panose="02010509060101010101" pitchFamily="49" charset="-122"/>
                <a:cs typeface="Arial" panose="020B0604020202020204" pitchFamily="34" charset="0"/>
                <a:sym typeface="+mn-ea"/>
              </a:rPr>
              <a:t>For example</a:t>
            </a:r>
            <a:r>
              <a:rPr lang="zh-CN" altLang="en-US" sz="3600" b="1">
                <a:solidFill>
                  <a:srgbClr val="990000"/>
                </a:solidFill>
                <a:latin typeface="Arial" panose="020B0604020202020204" pitchFamily="34" charset="0"/>
                <a:ea typeface="隶书" panose="02010509060101010101" pitchFamily="49" charset="-122"/>
                <a:cs typeface="Arial" panose="020B0604020202020204" pitchFamily="34" charset="0"/>
                <a:sym typeface="+mn-ea"/>
              </a:rPr>
              <a:t>：</a:t>
            </a:r>
            <a:endParaRPr lang="en-US" altLang="zh-CN" sz="3600">
              <a:ea typeface="隶书" panose="02010509060101010101" pitchFamily="49" charset="-122"/>
            </a:endParaRPr>
          </a:p>
        </p:txBody>
      </p:sp>
      <p:sp>
        <p:nvSpPr>
          <p:cNvPr id="79903" name="Oval 31"/>
          <p:cNvSpPr>
            <a:spLocks noChangeArrowheads="1"/>
          </p:cNvSpPr>
          <p:nvPr/>
        </p:nvSpPr>
        <p:spPr bwMode="auto">
          <a:xfrm>
            <a:off x="5486400" y="5334000"/>
            <a:ext cx="685800" cy="381000"/>
          </a:xfrm>
          <a:prstGeom prst="ellipse">
            <a:avLst/>
          </a:prstGeom>
          <a:solidFill>
            <a:srgbClr val="99CCFF"/>
          </a:solidFill>
          <a:ln w="12700">
            <a:solidFill>
              <a:srgbClr val="00008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3366"/>
                </a:solidFill>
              </a:rPr>
              <a:t>14</a:t>
            </a:r>
            <a:endParaRPr lang="en-US" altLang="zh-CN" sz="2400"/>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83</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9879"/>
                                        </p:tgtEl>
                                        <p:attrNameLst>
                                          <p:attrName>style.visibility</p:attrName>
                                        </p:attrNameLst>
                                      </p:cBhvr>
                                      <p:to>
                                        <p:strVal val="visible"/>
                                      </p:to>
                                    </p:set>
                                    <p:animEffect transition="in" filter="wipe(left)">
                                      <p:cBhvr>
                                        <p:cTn id="7" dur="500"/>
                                        <p:tgtEl>
                                          <p:spTgt spid="7987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9874"/>
                                        </p:tgtEl>
                                        <p:attrNameLst>
                                          <p:attrName>style.visibility</p:attrName>
                                        </p:attrNameLst>
                                      </p:cBhvr>
                                      <p:to>
                                        <p:strVal val="visible"/>
                                      </p:to>
                                    </p:set>
                                    <p:animEffect transition="in" filter="wipe(up)">
                                      <p:cBhvr>
                                        <p:cTn id="12" dur="500"/>
                                        <p:tgtEl>
                                          <p:spTgt spid="79874"/>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79877"/>
                                        </p:tgtEl>
                                        <p:attrNameLst>
                                          <p:attrName>style.visibility</p:attrName>
                                        </p:attrNameLst>
                                      </p:cBhvr>
                                      <p:to>
                                        <p:strVal val="visible"/>
                                      </p:to>
                                    </p:set>
                                    <p:animEffect transition="in" filter="wipe(up)">
                                      <p:cBhvr>
                                        <p:cTn id="16" dur="500"/>
                                        <p:tgtEl>
                                          <p:spTgt spid="79877"/>
                                        </p:tgtEl>
                                      </p:cBhvr>
                                    </p:animEffect>
                                  </p:childTnLst>
                                </p:cTn>
                              </p:par>
                            </p:childTnLst>
                          </p:cTn>
                        </p:par>
                        <p:par>
                          <p:cTn id="17" fill="hold">
                            <p:stCondLst>
                              <p:cond delay="1000"/>
                            </p:stCondLst>
                            <p:childTnLst>
                              <p:par>
                                <p:cTn id="18" presetID="22" presetClass="entr" presetSubtype="1" fill="hold" grpId="0" nodeType="afterEffect">
                                  <p:stCondLst>
                                    <p:cond delay="0"/>
                                  </p:stCondLst>
                                  <p:childTnLst>
                                    <p:set>
                                      <p:cBhvr>
                                        <p:cTn id="19" dur="1" fill="hold">
                                          <p:stCondLst>
                                            <p:cond delay="0"/>
                                          </p:stCondLst>
                                        </p:cTn>
                                        <p:tgtEl>
                                          <p:spTgt spid="79875"/>
                                        </p:tgtEl>
                                        <p:attrNameLst>
                                          <p:attrName>style.visibility</p:attrName>
                                        </p:attrNameLst>
                                      </p:cBhvr>
                                      <p:to>
                                        <p:strVal val="visible"/>
                                      </p:to>
                                    </p:set>
                                    <p:animEffect transition="in" filter="wipe(up)">
                                      <p:cBhvr>
                                        <p:cTn id="20" dur="500"/>
                                        <p:tgtEl>
                                          <p:spTgt spid="79875"/>
                                        </p:tgtEl>
                                      </p:cBhvr>
                                    </p:animEffect>
                                  </p:childTnLst>
                                </p:cTn>
                              </p:par>
                            </p:childTnLst>
                          </p:cTn>
                        </p:par>
                        <p:par>
                          <p:cTn id="21" fill="hold">
                            <p:stCondLst>
                              <p:cond delay="1500"/>
                            </p:stCondLst>
                            <p:childTnLst>
                              <p:par>
                                <p:cTn id="22" presetID="22" presetClass="entr" presetSubtype="1" fill="hold" grpId="0" nodeType="afterEffect">
                                  <p:stCondLst>
                                    <p:cond delay="0"/>
                                  </p:stCondLst>
                                  <p:childTnLst>
                                    <p:set>
                                      <p:cBhvr>
                                        <p:cTn id="23" dur="1" fill="hold">
                                          <p:stCondLst>
                                            <p:cond delay="0"/>
                                          </p:stCondLst>
                                        </p:cTn>
                                        <p:tgtEl>
                                          <p:spTgt spid="79878"/>
                                        </p:tgtEl>
                                        <p:attrNameLst>
                                          <p:attrName>style.visibility</p:attrName>
                                        </p:attrNameLst>
                                      </p:cBhvr>
                                      <p:to>
                                        <p:strVal val="visible"/>
                                      </p:to>
                                    </p:set>
                                    <p:animEffect transition="in" filter="wipe(up)">
                                      <p:cBhvr>
                                        <p:cTn id="24" dur="500"/>
                                        <p:tgtEl>
                                          <p:spTgt spid="79878"/>
                                        </p:tgtEl>
                                      </p:cBhvr>
                                    </p:animEffect>
                                  </p:childTnLst>
                                </p:cTn>
                              </p:par>
                            </p:childTnLst>
                          </p:cTn>
                        </p:par>
                        <p:par>
                          <p:cTn id="25" fill="hold">
                            <p:stCondLst>
                              <p:cond delay="2000"/>
                            </p:stCondLst>
                            <p:childTnLst>
                              <p:par>
                                <p:cTn id="26" presetID="22" presetClass="entr" presetSubtype="1" fill="hold" grpId="0" nodeType="afterEffect">
                                  <p:stCondLst>
                                    <p:cond delay="0"/>
                                  </p:stCondLst>
                                  <p:childTnLst>
                                    <p:set>
                                      <p:cBhvr>
                                        <p:cTn id="27" dur="1" fill="hold">
                                          <p:stCondLst>
                                            <p:cond delay="0"/>
                                          </p:stCondLst>
                                        </p:cTn>
                                        <p:tgtEl>
                                          <p:spTgt spid="79876"/>
                                        </p:tgtEl>
                                        <p:attrNameLst>
                                          <p:attrName>style.visibility</p:attrName>
                                        </p:attrNameLst>
                                      </p:cBhvr>
                                      <p:to>
                                        <p:strVal val="visible"/>
                                      </p:to>
                                    </p:set>
                                    <p:animEffect transition="in" filter="wipe(up)">
                                      <p:cBhvr>
                                        <p:cTn id="28" dur="500"/>
                                        <p:tgtEl>
                                          <p:spTgt spid="7987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79901"/>
                                        </p:tgtEl>
                                        <p:attrNameLst>
                                          <p:attrName>style.visibility</p:attrName>
                                        </p:attrNameLst>
                                      </p:cBhvr>
                                      <p:to>
                                        <p:strVal val="visible"/>
                                      </p:to>
                                    </p:set>
                                    <p:animEffect transition="in" filter="wipe(left)">
                                      <p:cBhvr>
                                        <p:cTn id="33" dur="500"/>
                                        <p:tgtEl>
                                          <p:spTgt spid="7990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79880"/>
                                        </p:tgtEl>
                                        <p:attrNameLst>
                                          <p:attrName>style.visibility</p:attrName>
                                        </p:attrNameLst>
                                      </p:cBhvr>
                                      <p:to>
                                        <p:strVal val="visible"/>
                                      </p:to>
                                    </p:set>
                                    <p:animEffect transition="in" filter="wipe(up)">
                                      <p:cBhvr>
                                        <p:cTn id="38" dur="500"/>
                                        <p:tgtEl>
                                          <p:spTgt spid="79880"/>
                                        </p:tgtEl>
                                      </p:cBhvr>
                                    </p:animEffect>
                                  </p:childTnLst>
                                </p:cTn>
                              </p:par>
                            </p:childTnLst>
                          </p:cTn>
                        </p:par>
                        <p:par>
                          <p:cTn id="39" fill="hold">
                            <p:stCondLst>
                              <p:cond delay="500"/>
                            </p:stCondLst>
                            <p:childTnLst>
                              <p:par>
                                <p:cTn id="40" presetID="22" presetClass="entr" presetSubtype="1" fill="hold" grpId="0" nodeType="afterEffect">
                                  <p:stCondLst>
                                    <p:cond delay="0"/>
                                  </p:stCondLst>
                                  <p:childTnLst>
                                    <p:set>
                                      <p:cBhvr>
                                        <p:cTn id="41" dur="1" fill="hold">
                                          <p:stCondLst>
                                            <p:cond delay="0"/>
                                          </p:stCondLst>
                                        </p:cTn>
                                        <p:tgtEl>
                                          <p:spTgt spid="79891"/>
                                        </p:tgtEl>
                                        <p:attrNameLst>
                                          <p:attrName>style.visibility</p:attrName>
                                        </p:attrNameLst>
                                      </p:cBhvr>
                                      <p:to>
                                        <p:strVal val="visible"/>
                                      </p:to>
                                    </p:set>
                                    <p:animEffect transition="in" filter="wipe(up)">
                                      <p:cBhvr>
                                        <p:cTn id="42" dur="500"/>
                                        <p:tgtEl>
                                          <p:spTgt spid="79891"/>
                                        </p:tgtEl>
                                      </p:cBhvr>
                                    </p:animEffect>
                                  </p:childTnLst>
                                </p:cTn>
                              </p:par>
                            </p:childTnLst>
                          </p:cTn>
                        </p:par>
                        <p:par>
                          <p:cTn id="43" fill="hold">
                            <p:stCondLst>
                              <p:cond delay="1000"/>
                            </p:stCondLst>
                            <p:childTnLst>
                              <p:par>
                                <p:cTn id="44" presetID="22" presetClass="entr" presetSubtype="1" fill="hold" grpId="0" nodeType="afterEffect">
                                  <p:stCondLst>
                                    <p:cond delay="0"/>
                                  </p:stCondLst>
                                  <p:childTnLst>
                                    <p:set>
                                      <p:cBhvr>
                                        <p:cTn id="45" dur="1" fill="hold">
                                          <p:stCondLst>
                                            <p:cond delay="0"/>
                                          </p:stCondLst>
                                        </p:cTn>
                                        <p:tgtEl>
                                          <p:spTgt spid="79881"/>
                                        </p:tgtEl>
                                        <p:attrNameLst>
                                          <p:attrName>style.visibility</p:attrName>
                                        </p:attrNameLst>
                                      </p:cBhvr>
                                      <p:to>
                                        <p:strVal val="visible"/>
                                      </p:to>
                                    </p:set>
                                    <p:animEffect transition="in" filter="wipe(up)">
                                      <p:cBhvr>
                                        <p:cTn id="46" dur="500"/>
                                        <p:tgtEl>
                                          <p:spTgt spid="79881"/>
                                        </p:tgtEl>
                                      </p:cBhvr>
                                    </p:animEffect>
                                  </p:childTnLst>
                                </p:cTn>
                              </p:par>
                            </p:childTnLst>
                          </p:cTn>
                        </p:par>
                        <p:par>
                          <p:cTn id="47" fill="hold">
                            <p:stCondLst>
                              <p:cond delay="1500"/>
                            </p:stCondLst>
                            <p:childTnLst>
                              <p:par>
                                <p:cTn id="48" presetID="22" presetClass="entr" presetSubtype="1" fill="hold" grpId="0" nodeType="afterEffect">
                                  <p:stCondLst>
                                    <p:cond delay="0"/>
                                  </p:stCondLst>
                                  <p:childTnLst>
                                    <p:set>
                                      <p:cBhvr>
                                        <p:cTn id="49" dur="1" fill="hold">
                                          <p:stCondLst>
                                            <p:cond delay="0"/>
                                          </p:stCondLst>
                                        </p:cTn>
                                        <p:tgtEl>
                                          <p:spTgt spid="79892"/>
                                        </p:tgtEl>
                                        <p:attrNameLst>
                                          <p:attrName>style.visibility</p:attrName>
                                        </p:attrNameLst>
                                      </p:cBhvr>
                                      <p:to>
                                        <p:strVal val="visible"/>
                                      </p:to>
                                    </p:set>
                                    <p:animEffect transition="in" filter="wipe(up)">
                                      <p:cBhvr>
                                        <p:cTn id="50" dur="500"/>
                                        <p:tgtEl>
                                          <p:spTgt spid="79892"/>
                                        </p:tgtEl>
                                      </p:cBhvr>
                                    </p:animEffect>
                                  </p:childTnLst>
                                </p:cTn>
                              </p:par>
                            </p:childTnLst>
                          </p:cTn>
                        </p:par>
                        <p:par>
                          <p:cTn id="51" fill="hold">
                            <p:stCondLst>
                              <p:cond delay="2000"/>
                            </p:stCondLst>
                            <p:childTnLst>
                              <p:par>
                                <p:cTn id="52" presetID="22" presetClass="entr" presetSubtype="1" fill="hold" grpId="0" nodeType="afterEffect">
                                  <p:stCondLst>
                                    <p:cond delay="0"/>
                                  </p:stCondLst>
                                  <p:childTnLst>
                                    <p:set>
                                      <p:cBhvr>
                                        <p:cTn id="53" dur="1" fill="hold">
                                          <p:stCondLst>
                                            <p:cond delay="0"/>
                                          </p:stCondLst>
                                        </p:cTn>
                                        <p:tgtEl>
                                          <p:spTgt spid="79882"/>
                                        </p:tgtEl>
                                        <p:attrNameLst>
                                          <p:attrName>style.visibility</p:attrName>
                                        </p:attrNameLst>
                                      </p:cBhvr>
                                      <p:to>
                                        <p:strVal val="visible"/>
                                      </p:to>
                                    </p:set>
                                    <p:animEffect transition="in" filter="wipe(up)">
                                      <p:cBhvr>
                                        <p:cTn id="54" dur="500"/>
                                        <p:tgtEl>
                                          <p:spTgt spid="79882"/>
                                        </p:tgtEl>
                                      </p:cBhvr>
                                    </p:animEffect>
                                  </p:childTnLst>
                                </p:cTn>
                              </p:par>
                            </p:childTnLst>
                          </p:cTn>
                        </p:par>
                        <p:par>
                          <p:cTn id="55" fill="hold">
                            <p:stCondLst>
                              <p:cond delay="2500"/>
                            </p:stCondLst>
                            <p:childTnLst>
                              <p:par>
                                <p:cTn id="56" presetID="22" presetClass="entr" presetSubtype="1" fill="hold" grpId="0" nodeType="afterEffect">
                                  <p:stCondLst>
                                    <p:cond delay="0"/>
                                  </p:stCondLst>
                                  <p:childTnLst>
                                    <p:set>
                                      <p:cBhvr>
                                        <p:cTn id="57" dur="1" fill="hold">
                                          <p:stCondLst>
                                            <p:cond delay="0"/>
                                          </p:stCondLst>
                                        </p:cTn>
                                        <p:tgtEl>
                                          <p:spTgt spid="79893"/>
                                        </p:tgtEl>
                                        <p:attrNameLst>
                                          <p:attrName>style.visibility</p:attrName>
                                        </p:attrNameLst>
                                      </p:cBhvr>
                                      <p:to>
                                        <p:strVal val="visible"/>
                                      </p:to>
                                    </p:set>
                                    <p:animEffect transition="in" filter="wipe(up)">
                                      <p:cBhvr>
                                        <p:cTn id="58" dur="500"/>
                                        <p:tgtEl>
                                          <p:spTgt spid="79893"/>
                                        </p:tgtEl>
                                      </p:cBhvr>
                                    </p:animEffect>
                                  </p:childTnLst>
                                </p:cTn>
                              </p:par>
                            </p:childTnLst>
                          </p:cTn>
                        </p:par>
                        <p:par>
                          <p:cTn id="59" fill="hold">
                            <p:stCondLst>
                              <p:cond delay="3000"/>
                            </p:stCondLst>
                            <p:childTnLst>
                              <p:par>
                                <p:cTn id="60" presetID="22" presetClass="entr" presetSubtype="1" fill="hold" grpId="0" nodeType="afterEffect">
                                  <p:stCondLst>
                                    <p:cond delay="0"/>
                                  </p:stCondLst>
                                  <p:childTnLst>
                                    <p:set>
                                      <p:cBhvr>
                                        <p:cTn id="61" dur="1" fill="hold">
                                          <p:stCondLst>
                                            <p:cond delay="0"/>
                                          </p:stCondLst>
                                        </p:cTn>
                                        <p:tgtEl>
                                          <p:spTgt spid="79883"/>
                                        </p:tgtEl>
                                        <p:attrNameLst>
                                          <p:attrName>style.visibility</p:attrName>
                                        </p:attrNameLst>
                                      </p:cBhvr>
                                      <p:to>
                                        <p:strVal val="visible"/>
                                      </p:to>
                                    </p:set>
                                    <p:animEffect transition="in" filter="wipe(up)">
                                      <p:cBhvr>
                                        <p:cTn id="62" dur="500"/>
                                        <p:tgtEl>
                                          <p:spTgt spid="79883"/>
                                        </p:tgtEl>
                                      </p:cBhvr>
                                    </p:animEffect>
                                  </p:childTnLst>
                                </p:cTn>
                              </p:par>
                            </p:childTnLst>
                          </p:cTn>
                        </p:par>
                        <p:par>
                          <p:cTn id="63" fill="hold">
                            <p:stCondLst>
                              <p:cond delay="3500"/>
                            </p:stCondLst>
                            <p:childTnLst>
                              <p:par>
                                <p:cTn id="64" presetID="22" presetClass="entr" presetSubtype="1" fill="hold" grpId="0" nodeType="afterEffect">
                                  <p:stCondLst>
                                    <p:cond delay="0"/>
                                  </p:stCondLst>
                                  <p:childTnLst>
                                    <p:set>
                                      <p:cBhvr>
                                        <p:cTn id="65" dur="1" fill="hold">
                                          <p:stCondLst>
                                            <p:cond delay="0"/>
                                          </p:stCondLst>
                                        </p:cTn>
                                        <p:tgtEl>
                                          <p:spTgt spid="79894"/>
                                        </p:tgtEl>
                                        <p:attrNameLst>
                                          <p:attrName>style.visibility</p:attrName>
                                        </p:attrNameLst>
                                      </p:cBhvr>
                                      <p:to>
                                        <p:strVal val="visible"/>
                                      </p:to>
                                    </p:set>
                                    <p:animEffect transition="in" filter="wipe(up)">
                                      <p:cBhvr>
                                        <p:cTn id="66" dur="500"/>
                                        <p:tgtEl>
                                          <p:spTgt spid="79894"/>
                                        </p:tgtEl>
                                      </p:cBhvr>
                                    </p:animEffect>
                                  </p:childTnLst>
                                </p:cTn>
                              </p:par>
                            </p:childTnLst>
                          </p:cTn>
                        </p:par>
                        <p:par>
                          <p:cTn id="67" fill="hold">
                            <p:stCondLst>
                              <p:cond delay="4000"/>
                            </p:stCondLst>
                            <p:childTnLst>
                              <p:par>
                                <p:cTn id="68" presetID="22" presetClass="entr" presetSubtype="1" fill="hold" grpId="0" nodeType="afterEffect">
                                  <p:stCondLst>
                                    <p:cond delay="0"/>
                                  </p:stCondLst>
                                  <p:childTnLst>
                                    <p:set>
                                      <p:cBhvr>
                                        <p:cTn id="69" dur="1" fill="hold">
                                          <p:stCondLst>
                                            <p:cond delay="0"/>
                                          </p:stCondLst>
                                        </p:cTn>
                                        <p:tgtEl>
                                          <p:spTgt spid="79888"/>
                                        </p:tgtEl>
                                        <p:attrNameLst>
                                          <p:attrName>style.visibility</p:attrName>
                                        </p:attrNameLst>
                                      </p:cBhvr>
                                      <p:to>
                                        <p:strVal val="visible"/>
                                      </p:to>
                                    </p:set>
                                    <p:animEffect transition="in" filter="wipe(up)">
                                      <p:cBhvr>
                                        <p:cTn id="70" dur="500"/>
                                        <p:tgtEl>
                                          <p:spTgt spid="79888"/>
                                        </p:tgtEl>
                                      </p:cBhvr>
                                    </p:animEffect>
                                  </p:childTnLst>
                                </p:cTn>
                              </p:par>
                            </p:childTnLst>
                          </p:cTn>
                        </p:par>
                        <p:par>
                          <p:cTn id="71" fill="hold">
                            <p:stCondLst>
                              <p:cond delay="4500"/>
                            </p:stCondLst>
                            <p:childTnLst>
                              <p:par>
                                <p:cTn id="72" presetID="22" presetClass="entr" presetSubtype="1" fill="hold" grpId="0" nodeType="afterEffect">
                                  <p:stCondLst>
                                    <p:cond delay="0"/>
                                  </p:stCondLst>
                                  <p:childTnLst>
                                    <p:set>
                                      <p:cBhvr>
                                        <p:cTn id="73" dur="1" fill="hold">
                                          <p:stCondLst>
                                            <p:cond delay="0"/>
                                          </p:stCondLst>
                                        </p:cTn>
                                        <p:tgtEl>
                                          <p:spTgt spid="79895"/>
                                        </p:tgtEl>
                                        <p:attrNameLst>
                                          <p:attrName>style.visibility</p:attrName>
                                        </p:attrNameLst>
                                      </p:cBhvr>
                                      <p:to>
                                        <p:strVal val="visible"/>
                                      </p:to>
                                    </p:set>
                                    <p:animEffect transition="in" filter="wipe(up)">
                                      <p:cBhvr>
                                        <p:cTn id="74" dur="500"/>
                                        <p:tgtEl>
                                          <p:spTgt spid="79895"/>
                                        </p:tgtEl>
                                      </p:cBhvr>
                                    </p:animEffect>
                                  </p:childTnLst>
                                </p:cTn>
                              </p:par>
                            </p:childTnLst>
                          </p:cTn>
                        </p:par>
                        <p:par>
                          <p:cTn id="75" fill="hold">
                            <p:stCondLst>
                              <p:cond delay="5000"/>
                            </p:stCondLst>
                            <p:childTnLst>
                              <p:par>
                                <p:cTn id="76" presetID="22" presetClass="entr" presetSubtype="1" fill="hold" grpId="0" nodeType="afterEffect">
                                  <p:stCondLst>
                                    <p:cond delay="0"/>
                                  </p:stCondLst>
                                  <p:childTnLst>
                                    <p:set>
                                      <p:cBhvr>
                                        <p:cTn id="77" dur="1" fill="hold">
                                          <p:stCondLst>
                                            <p:cond delay="0"/>
                                          </p:stCondLst>
                                        </p:cTn>
                                        <p:tgtEl>
                                          <p:spTgt spid="79889"/>
                                        </p:tgtEl>
                                        <p:attrNameLst>
                                          <p:attrName>style.visibility</p:attrName>
                                        </p:attrNameLst>
                                      </p:cBhvr>
                                      <p:to>
                                        <p:strVal val="visible"/>
                                      </p:to>
                                    </p:set>
                                    <p:animEffect transition="in" filter="wipe(up)">
                                      <p:cBhvr>
                                        <p:cTn id="78" dur="500"/>
                                        <p:tgtEl>
                                          <p:spTgt spid="79889"/>
                                        </p:tgtEl>
                                      </p:cBhvr>
                                    </p:animEffect>
                                  </p:childTnLst>
                                </p:cTn>
                              </p:par>
                            </p:childTnLst>
                          </p:cTn>
                        </p:par>
                        <p:par>
                          <p:cTn id="79" fill="hold">
                            <p:stCondLst>
                              <p:cond delay="5500"/>
                            </p:stCondLst>
                            <p:childTnLst>
                              <p:par>
                                <p:cTn id="80" presetID="22" presetClass="entr" presetSubtype="1" fill="hold" grpId="0" nodeType="afterEffect">
                                  <p:stCondLst>
                                    <p:cond delay="0"/>
                                  </p:stCondLst>
                                  <p:childTnLst>
                                    <p:set>
                                      <p:cBhvr>
                                        <p:cTn id="81" dur="1" fill="hold">
                                          <p:stCondLst>
                                            <p:cond delay="0"/>
                                          </p:stCondLst>
                                        </p:cTn>
                                        <p:tgtEl>
                                          <p:spTgt spid="79896"/>
                                        </p:tgtEl>
                                        <p:attrNameLst>
                                          <p:attrName>style.visibility</p:attrName>
                                        </p:attrNameLst>
                                      </p:cBhvr>
                                      <p:to>
                                        <p:strVal val="visible"/>
                                      </p:to>
                                    </p:set>
                                    <p:animEffect transition="in" filter="wipe(up)">
                                      <p:cBhvr>
                                        <p:cTn id="82" dur="500"/>
                                        <p:tgtEl>
                                          <p:spTgt spid="79896"/>
                                        </p:tgtEl>
                                      </p:cBhvr>
                                    </p:animEffect>
                                  </p:childTnLst>
                                </p:cTn>
                              </p:par>
                            </p:childTnLst>
                          </p:cTn>
                        </p:par>
                        <p:par>
                          <p:cTn id="83" fill="hold">
                            <p:stCondLst>
                              <p:cond delay="6000"/>
                            </p:stCondLst>
                            <p:childTnLst>
                              <p:par>
                                <p:cTn id="84" presetID="22" presetClass="entr" presetSubtype="1" fill="hold" grpId="0" nodeType="afterEffect">
                                  <p:stCondLst>
                                    <p:cond delay="0"/>
                                  </p:stCondLst>
                                  <p:childTnLst>
                                    <p:set>
                                      <p:cBhvr>
                                        <p:cTn id="85" dur="1" fill="hold">
                                          <p:stCondLst>
                                            <p:cond delay="0"/>
                                          </p:stCondLst>
                                        </p:cTn>
                                        <p:tgtEl>
                                          <p:spTgt spid="79890"/>
                                        </p:tgtEl>
                                        <p:attrNameLst>
                                          <p:attrName>style.visibility</p:attrName>
                                        </p:attrNameLst>
                                      </p:cBhvr>
                                      <p:to>
                                        <p:strVal val="visible"/>
                                      </p:to>
                                    </p:set>
                                    <p:animEffect transition="in" filter="wipe(up)">
                                      <p:cBhvr>
                                        <p:cTn id="86" dur="500"/>
                                        <p:tgtEl>
                                          <p:spTgt spid="79890"/>
                                        </p:tgtEl>
                                      </p:cBhvr>
                                    </p:animEffect>
                                  </p:childTnLst>
                                </p:cTn>
                              </p:par>
                            </p:childTnLst>
                          </p:cTn>
                        </p:par>
                        <p:par>
                          <p:cTn id="87" fill="hold">
                            <p:stCondLst>
                              <p:cond delay="6500"/>
                            </p:stCondLst>
                            <p:childTnLst>
                              <p:par>
                                <p:cTn id="88" presetID="22" presetClass="entr" presetSubtype="1" fill="hold" grpId="0" nodeType="afterEffect">
                                  <p:stCondLst>
                                    <p:cond delay="0"/>
                                  </p:stCondLst>
                                  <p:childTnLst>
                                    <p:set>
                                      <p:cBhvr>
                                        <p:cTn id="89" dur="1" fill="hold">
                                          <p:stCondLst>
                                            <p:cond delay="0"/>
                                          </p:stCondLst>
                                        </p:cTn>
                                        <p:tgtEl>
                                          <p:spTgt spid="79897"/>
                                        </p:tgtEl>
                                        <p:attrNameLst>
                                          <p:attrName>style.visibility</p:attrName>
                                        </p:attrNameLst>
                                      </p:cBhvr>
                                      <p:to>
                                        <p:strVal val="visible"/>
                                      </p:to>
                                    </p:set>
                                    <p:animEffect transition="in" filter="wipe(up)">
                                      <p:cBhvr>
                                        <p:cTn id="90" dur="500"/>
                                        <p:tgtEl>
                                          <p:spTgt spid="79897"/>
                                        </p:tgtEl>
                                      </p:cBhvr>
                                    </p:animEffect>
                                  </p:childTnLst>
                                </p:cTn>
                              </p:par>
                            </p:childTnLst>
                          </p:cTn>
                        </p:par>
                        <p:par>
                          <p:cTn id="91" fill="hold">
                            <p:stCondLst>
                              <p:cond delay="7000"/>
                            </p:stCondLst>
                            <p:childTnLst>
                              <p:par>
                                <p:cTn id="92" presetID="22" presetClass="entr" presetSubtype="1" fill="hold" grpId="0" nodeType="afterEffect">
                                  <p:stCondLst>
                                    <p:cond delay="0"/>
                                  </p:stCondLst>
                                  <p:childTnLst>
                                    <p:set>
                                      <p:cBhvr>
                                        <p:cTn id="93" dur="1" fill="hold">
                                          <p:stCondLst>
                                            <p:cond delay="0"/>
                                          </p:stCondLst>
                                        </p:cTn>
                                        <p:tgtEl>
                                          <p:spTgt spid="79885"/>
                                        </p:tgtEl>
                                        <p:attrNameLst>
                                          <p:attrName>style.visibility</p:attrName>
                                        </p:attrNameLst>
                                      </p:cBhvr>
                                      <p:to>
                                        <p:strVal val="visible"/>
                                      </p:to>
                                    </p:set>
                                    <p:animEffect transition="in" filter="wipe(up)">
                                      <p:cBhvr>
                                        <p:cTn id="94" dur="500"/>
                                        <p:tgtEl>
                                          <p:spTgt spid="79885"/>
                                        </p:tgtEl>
                                      </p:cBhvr>
                                    </p:animEffect>
                                  </p:childTnLst>
                                </p:cTn>
                              </p:par>
                            </p:childTnLst>
                          </p:cTn>
                        </p:par>
                        <p:par>
                          <p:cTn id="95" fill="hold">
                            <p:stCondLst>
                              <p:cond delay="7500"/>
                            </p:stCondLst>
                            <p:childTnLst>
                              <p:par>
                                <p:cTn id="96" presetID="22" presetClass="entr" presetSubtype="1" fill="hold" grpId="0" nodeType="afterEffect">
                                  <p:stCondLst>
                                    <p:cond delay="0"/>
                                  </p:stCondLst>
                                  <p:childTnLst>
                                    <p:set>
                                      <p:cBhvr>
                                        <p:cTn id="97" dur="1" fill="hold">
                                          <p:stCondLst>
                                            <p:cond delay="0"/>
                                          </p:stCondLst>
                                        </p:cTn>
                                        <p:tgtEl>
                                          <p:spTgt spid="79898"/>
                                        </p:tgtEl>
                                        <p:attrNameLst>
                                          <p:attrName>style.visibility</p:attrName>
                                        </p:attrNameLst>
                                      </p:cBhvr>
                                      <p:to>
                                        <p:strVal val="visible"/>
                                      </p:to>
                                    </p:set>
                                    <p:animEffect transition="in" filter="wipe(up)">
                                      <p:cBhvr>
                                        <p:cTn id="98" dur="500"/>
                                        <p:tgtEl>
                                          <p:spTgt spid="79898"/>
                                        </p:tgtEl>
                                      </p:cBhvr>
                                    </p:animEffect>
                                  </p:childTnLst>
                                </p:cTn>
                              </p:par>
                            </p:childTnLst>
                          </p:cTn>
                        </p:par>
                        <p:par>
                          <p:cTn id="99" fill="hold">
                            <p:stCondLst>
                              <p:cond delay="8000"/>
                            </p:stCondLst>
                            <p:childTnLst>
                              <p:par>
                                <p:cTn id="100" presetID="22" presetClass="entr" presetSubtype="1" fill="hold" grpId="0" nodeType="afterEffect">
                                  <p:stCondLst>
                                    <p:cond delay="0"/>
                                  </p:stCondLst>
                                  <p:childTnLst>
                                    <p:set>
                                      <p:cBhvr>
                                        <p:cTn id="101" dur="1" fill="hold">
                                          <p:stCondLst>
                                            <p:cond delay="0"/>
                                          </p:stCondLst>
                                        </p:cTn>
                                        <p:tgtEl>
                                          <p:spTgt spid="79886"/>
                                        </p:tgtEl>
                                        <p:attrNameLst>
                                          <p:attrName>style.visibility</p:attrName>
                                        </p:attrNameLst>
                                      </p:cBhvr>
                                      <p:to>
                                        <p:strVal val="visible"/>
                                      </p:to>
                                    </p:set>
                                    <p:animEffect transition="in" filter="wipe(up)">
                                      <p:cBhvr>
                                        <p:cTn id="102" dur="500"/>
                                        <p:tgtEl>
                                          <p:spTgt spid="79886"/>
                                        </p:tgtEl>
                                      </p:cBhvr>
                                    </p:animEffect>
                                  </p:childTnLst>
                                </p:cTn>
                              </p:par>
                            </p:childTnLst>
                          </p:cTn>
                        </p:par>
                        <p:par>
                          <p:cTn id="103" fill="hold">
                            <p:stCondLst>
                              <p:cond delay="8500"/>
                            </p:stCondLst>
                            <p:childTnLst>
                              <p:par>
                                <p:cTn id="104" presetID="22" presetClass="entr" presetSubtype="1" fill="hold" grpId="0" nodeType="afterEffect">
                                  <p:stCondLst>
                                    <p:cond delay="0"/>
                                  </p:stCondLst>
                                  <p:childTnLst>
                                    <p:set>
                                      <p:cBhvr>
                                        <p:cTn id="105" dur="1" fill="hold">
                                          <p:stCondLst>
                                            <p:cond delay="0"/>
                                          </p:stCondLst>
                                        </p:cTn>
                                        <p:tgtEl>
                                          <p:spTgt spid="79899"/>
                                        </p:tgtEl>
                                        <p:attrNameLst>
                                          <p:attrName>style.visibility</p:attrName>
                                        </p:attrNameLst>
                                      </p:cBhvr>
                                      <p:to>
                                        <p:strVal val="visible"/>
                                      </p:to>
                                    </p:set>
                                    <p:animEffect transition="in" filter="wipe(up)">
                                      <p:cBhvr>
                                        <p:cTn id="106" dur="500"/>
                                        <p:tgtEl>
                                          <p:spTgt spid="79899"/>
                                        </p:tgtEl>
                                      </p:cBhvr>
                                    </p:animEffect>
                                  </p:childTnLst>
                                </p:cTn>
                              </p:par>
                            </p:childTnLst>
                          </p:cTn>
                        </p:par>
                        <p:par>
                          <p:cTn id="107" fill="hold">
                            <p:stCondLst>
                              <p:cond delay="9000"/>
                            </p:stCondLst>
                            <p:childTnLst>
                              <p:par>
                                <p:cTn id="108" presetID="22" presetClass="entr" presetSubtype="1" fill="hold" grpId="0" nodeType="afterEffect">
                                  <p:stCondLst>
                                    <p:cond delay="0"/>
                                  </p:stCondLst>
                                  <p:childTnLst>
                                    <p:set>
                                      <p:cBhvr>
                                        <p:cTn id="109" dur="1" fill="hold">
                                          <p:stCondLst>
                                            <p:cond delay="0"/>
                                          </p:stCondLst>
                                        </p:cTn>
                                        <p:tgtEl>
                                          <p:spTgt spid="79887"/>
                                        </p:tgtEl>
                                        <p:attrNameLst>
                                          <p:attrName>style.visibility</p:attrName>
                                        </p:attrNameLst>
                                      </p:cBhvr>
                                      <p:to>
                                        <p:strVal val="visible"/>
                                      </p:to>
                                    </p:set>
                                    <p:animEffect transition="in" filter="wipe(up)">
                                      <p:cBhvr>
                                        <p:cTn id="110" dur="500"/>
                                        <p:tgtEl>
                                          <p:spTgt spid="79887"/>
                                        </p:tgtEl>
                                      </p:cBhvr>
                                    </p:animEffect>
                                  </p:childTnLst>
                                </p:cTn>
                              </p:par>
                            </p:childTnLst>
                          </p:cTn>
                        </p:par>
                        <p:par>
                          <p:cTn id="111" fill="hold">
                            <p:stCondLst>
                              <p:cond delay="9500"/>
                            </p:stCondLst>
                            <p:childTnLst>
                              <p:par>
                                <p:cTn id="112" presetID="22" presetClass="entr" presetSubtype="1" fill="hold" grpId="0" nodeType="afterEffect">
                                  <p:stCondLst>
                                    <p:cond delay="0"/>
                                  </p:stCondLst>
                                  <p:childTnLst>
                                    <p:set>
                                      <p:cBhvr>
                                        <p:cTn id="113" dur="1" fill="hold">
                                          <p:stCondLst>
                                            <p:cond delay="0"/>
                                          </p:stCondLst>
                                        </p:cTn>
                                        <p:tgtEl>
                                          <p:spTgt spid="79900"/>
                                        </p:tgtEl>
                                        <p:attrNameLst>
                                          <p:attrName>style.visibility</p:attrName>
                                        </p:attrNameLst>
                                      </p:cBhvr>
                                      <p:to>
                                        <p:strVal val="visible"/>
                                      </p:to>
                                    </p:set>
                                    <p:animEffect transition="in" filter="wipe(up)">
                                      <p:cBhvr>
                                        <p:cTn id="114" dur="500"/>
                                        <p:tgtEl>
                                          <p:spTgt spid="79900"/>
                                        </p:tgtEl>
                                      </p:cBhvr>
                                    </p:animEffect>
                                  </p:childTnLst>
                                </p:cTn>
                              </p:par>
                            </p:childTnLst>
                          </p:cTn>
                        </p:par>
                        <p:par>
                          <p:cTn id="115" fill="hold">
                            <p:stCondLst>
                              <p:cond delay="10000"/>
                            </p:stCondLst>
                            <p:childTnLst>
                              <p:par>
                                <p:cTn id="116" presetID="22" presetClass="entr" presetSubtype="1" fill="hold" grpId="0" nodeType="afterEffect">
                                  <p:stCondLst>
                                    <p:cond delay="0"/>
                                  </p:stCondLst>
                                  <p:childTnLst>
                                    <p:set>
                                      <p:cBhvr>
                                        <p:cTn id="117" dur="1" fill="hold">
                                          <p:stCondLst>
                                            <p:cond delay="0"/>
                                          </p:stCondLst>
                                        </p:cTn>
                                        <p:tgtEl>
                                          <p:spTgt spid="79884"/>
                                        </p:tgtEl>
                                        <p:attrNameLst>
                                          <p:attrName>style.visibility</p:attrName>
                                        </p:attrNameLst>
                                      </p:cBhvr>
                                      <p:to>
                                        <p:strVal val="visible"/>
                                      </p:to>
                                    </p:set>
                                    <p:animEffect transition="in" filter="wipe(up)">
                                      <p:cBhvr>
                                        <p:cTn id="118" dur="500"/>
                                        <p:tgtEl>
                                          <p:spTgt spid="79884"/>
                                        </p:tgtEl>
                                      </p:cBhvr>
                                    </p:animEffect>
                                  </p:childTnLst>
                                </p:cTn>
                              </p:par>
                            </p:childTnLst>
                          </p:cTn>
                        </p:par>
                      </p:childTnLst>
                    </p:cTn>
                  </p:par>
                  <p:par>
                    <p:cTn id="119" fill="hold">
                      <p:stCondLst>
                        <p:cond delay="indefinite"/>
                      </p:stCondLst>
                      <p:childTnLst>
                        <p:par>
                          <p:cTn id="120" fill="hold">
                            <p:stCondLst>
                              <p:cond delay="0"/>
                            </p:stCondLst>
                            <p:childTnLst>
                              <p:par>
                                <p:cTn id="121" presetID="22" presetClass="entr" presetSubtype="8" fill="hold" grpId="0" nodeType="clickEffect">
                                  <p:stCondLst>
                                    <p:cond delay="0"/>
                                  </p:stCondLst>
                                  <p:childTnLst>
                                    <p:set>
                                      <p:cBhvr>
                                        <p:cTn id="122" dur="1" fill="hold">
                                          <p:stCondLst>
                                            <p:cond delay="0"/>
                                          </p:stCondLst>
                                        </p:cTn>
                                        <p:tgtEl>
                                          <p:spTgt spid="79903"/>
                                        </p:tgtEl>
                                        <p:attrNameLst>
                                          <p:attrName>style.visibility</p:attrName>
                                        </p:attrNameLst>
                                      </p:cBhvr>
                                      <p:to>
                                        <p:strVal val="visible"/>
                                      </p:to>
                                    </p:set>
                                    <p:animEffect transition="in" filter="wipe(left)">
                                      <p:cBhvr>
                                        <p:cTn id="123" dur="500"/>
                                        <p:tgtEl>
                                          <p:spTgt spid="79903"/>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8" fill="hold" grpId="0" nodeType="clickEffect">
                                  <p:stCondLst>
                                    <p:cond delay="0"/>
                                  </p:stCondLst>
                                  <p:iterate type="wd">
                                    <p:tmPct val="100000"/>
                                  </p:iterate>
                                  <p:childTnLst>
                                    <p:set>
                                      <p:cBhvr>
                                        <p:cTn id="127" dur="1" fill="hold">
                                          <p:stCondLst>
                                            <p:cond delay="0"/>
                                          </p:stCondLst>
                                        </p:cTn>
                                        <p:tgtEl>
                                          <p:spTgt spid="79904"/>
                                        </p:tgtEl>
                                        <p:attrNameLst>
                                          <p:attrName>style.visibility</p:attrName>
                                        </p:attrNameLst>
                                      </p:cBhvr>
                                      <p:to>
                                        <p:strVal val="visible"/>
                                      </p:to>
                                    </p:set>
                                    <p:animEffect transition="in" filter="wipe(left)">
                                      <p:cBhvr>
                                        <p:cTn id="128" dur="300"/>
                                        <p:tgtEl>
                                          <p:spTgt spid="799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904" grpId="0" bldLvl="0" animBg="1" autoUpdateAnimBg="0"/>
      <p:bldP spid="79874" grpId="0" animBg="1" autoUpdateAnimBg="0"/>
      <p:bldP spid="79875" grpId="0" animBg="1" autoUpdateAnimBg="0"/>
      <p:bldP spid="79876" grpId="0" animBg="1" autoUpdateAnimBg="0"/>
      <p:bldP spid="79877" grpId="0" animBg="1"/>
      <p:bldP spid="79878" grpId="0" animBg="1"/>
      <p:bldP spid="79879" grpId="0" bldLvl="0" animBg="1" autoUpdateAnimBg="0"/>
      <p:bldP spid="79880" grpId="0" animBg="1" autoUpdateAnimBg="0"/>
      <p:bldP spid="79881" grpId="0" animBg="1" autoUpdateAnimBg="0"/>
      <p:bldP spid="79882" grpId="0" animBg="1" autoUpdateAnimBg="0"/>
      <p:bldP spid="79883" grpId="0" animBg="1" autoUpdateAnimBg="0"/>
      <p:bldP spid="79884" grpId="0" animBg="1" autoUpdateAnimBg="0"/>
      <p:bldP spid="79885" grpId="0" animBg="1" autoUpdateAnimBg="0"/>
      <p:bldP spid="79886" grpId="0" animBg="1" autoUpdateAnimBg="0"/>
      <p:bldP spid="79887" grpId="0" animBg="1" autoUpdateAnimBg="0"/>
      <p:bldP spid="79888" grpId="0" animBg="1" autoUpdateAnimBg="0"/>
      <p:bldP spid="79889" grpId="0" animBg="1" autoUpdateAnimBg="0"/>
      <p:bldP spid="79890" grpId="0" animBg="1" autoUpdateAnimBg="0"/>
      <p:bldP spid="79891" grpId="0" animBg="1"/>
      <p:bldP spid="79892" grpId="0" animBg="1"/>
      <p:bldP spid="79893" grpId="0" animBg="1"/>
      <p:bldP spid="79894" grpId="0" animBg="1"/>
      <p:bldP spid="79895" grpId="0" animBg="1"/>
      <p:bldP spid="79896" grpId="0" animBg="1"/>
      <p:bldP spid="79897" grpId="0" animBg="1"/>
      <p:bldP spid="79898" grpId="0" animBg="1"/>
      <p:bldP spid="79899" grpId="0" animBg="1"/>
      <p:bldP spid="79900" grpId="0" animBg="1"/>
      <p:bldP spid="79901" grpId="0" bldLvl="0" animBg="1" autoUpdateAnimBg="0"/>
      <p:bldP spid="79903" grpId="0" animBg="1"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 Box 2"/>
          <p:cNvSpPr txBox="1">
            <a:spLocks noChangeArrowheads="1"/>
          </p:cNvSpPr>
          <p:nvPr/>
        </p:nvSpPr>
        <p:spPr bwMode="auto">
          <a:xfrm>
            <a:off x="355600" y="0"/>
            <a:ext cx="7775575" cy="1124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pPr>
            <a:r>
              <a:rPr lang="zh-CN" altLang="en-US" b="1">
                <a:latin typeface="Arial" panose="020B0604020202020204" pitchFamily="34" charset="0"/>
                <a:ea typeface="楷体_GB2312" pitchFamily="49" charset="-122"/>
                <a:cs typeface="Arial" panose="020B0604020202020204" pitchFamily="34" charset="0"/>
                <a:sym typeface="+mn-ea"/>
              </a:rPr>
              <a:t>Heap sort is a method of sorting a sequence of records by using the </a:t>
            </a:r>
            <a:r>
              <a:rPr lang="zh-CN" altLang="en-US" b="1">
                <a:solidFill>
                  <a:srgbClr val="990000"/>
                </a:solidFill>
                <a:latin typeface="Arial" panose="020B0604020202020204" pitchFamily="34" charset="0"/>
                <a:ea typeface="楷体_GB2312" pitchFamily="49" charset="-122"/>
                <a:cs typeface="Arial" panose="020B0604020202020204" pitchFamily="34" charset="0"/>
                <a:sym typeface="+mn-ea"/>
              </a:rPr>
              <a:t>properties of heap</a:t>
            </a:r>
            <a:r>
              <a:rPr lang="zh-CN" altLang="en-US" b="1">
                <a:latin typeface="Arial" panose="020B0604020202020204" pitchFamily="34" charset="0"/>
                <a:ea typeface="楷体_GB2312" pitchFamily="49" charset="-122"/>
                <a:cs typeface="Arial" panose="020B0604020202020204" pitchFamily="34" charset="0"/>
                <a:sym typeface="+mn-ea"/>
              </a:rPr>
              <a:t>.</a:t>
            </a:r>
          </a:p>
        </p:txBody>
      </p:sp>
      <p:sp>
        <p:nvSpPr>
          <p:cNvPr id="80899" name="Text Box 3"/>
          <p:cNvSpPr txBox="1">
            <a:spLocks noChangeArrowheads="1"/>
          </p:cNvSpPr>
          <p:nvPr/>
        </p:nvSpPr>
        <p:spPr bwMode="auto">
          <a:xfrm>
            <a:off x="152400" y="1403350"/>
            <a:ext cx="3334385" cy="75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lang="en-US" altLang="zh-CN" sz="3600" b="1">
                <a:solidFill>
                  <a:srgbClr val="990000"/>
                </a:solidFill>
                <a:latin typeface="Arial" panose="020B0604020202020204" pitchFamily="34" charset="0"/>
                <a:ea typeface="隶书" panose="02010509060101010101" pitchFamily="49" charset="-122"/>
                <a:cs typeface="Arial" panose="020B0604020202020204" pitchFamily="34" charset="0"/>
              </a:rPr>
              <a:t>For example</a:t>
            </a:r>
            <a:r>
              <a:rPr lang="zh-CN" altLang="en-US" sz="3600" b="1">
                <a:solidFill>
                  <a:srgbClr val="990000"/>
                </a:solidFill>
                <a:latin typeface="Arial" panose="020B0604020202020204" pitchFamily="34" charset="0"/>
                <a:ea typeface="隶书" panose="02010509060101010101" pitchFamily="49" charset="-122"/>
                <a:cs typeface="Arial" panose="020B0604020202020204" pitchFamily="34" charset="0"/>
              </a:rPr>
              <a:t>：</a:t>
            </a:r>
          </a:p>
        </p:txBody>
      </p:sp>
      <p:sp>
        <p:nvSpPr>
          <p:cNvPr id="80900" name="AutoShape 4"/>
          <p:cNvSpPr>
            <a:spLocks noChangeArrowheads="1"/>
          </p:cNvSpPr>
          <p:nvPr/>
        </p:nvSpPr>
        <p:spPr bwMode="auto">
          <a:xfrm>
            <a:off x="3733800" y="2667000"/>
            <a:ext cx="457200" cy="685800"/>
          </a:xfrm>
          <a:prstGeom prst="downArrow">
            <a:avLst>
              <a:gd name="adj1" fmla="val 50000"/>
              <a:gd name="adj2" fmla="val 37500"/>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80901" name="Text Box 5"/>
          <p:cNvSpPr txBox="1">
            <a:spLocks noChangeArrowheads="1"/>
          </p:cNvSpPr>
          <p:nvPr/>
        </p:nvSpPr>
        <p:spPr bwMode="auto">
          <a:xfrm>
            <a:off x="4441825" y="2635250"/>
            <a:ext cx="347726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a:solidFill>
                  <a:srgbClr val="0000FF"/>
                </a:solidFill>
                <a:latin typeface="Arial" panose="020B0604020202020204" pitchFamily="34" charset="0"/>
                <a:ea typeface="隶书" panose="02010509060101010101" pitchFamily="49" charset="-122"/>
                <a:cs typeface="Arial" panose="020B0604020202020204" pitchFamily="34" charset="0"/>
              </a:rPr>
              <a:t>Build a max-heap</a:t>
            </a:r>
          </a:p>
        </p:txBody>
      </p:sp>
      <p:sp>
        <p:nvSpPr>
          <p:cNvPr id="80902" name="Text Box 6"/>
          <p:cNvSpPr txBox="1">
            <a:spLocks noChangeArrowheads="1"/>
          </p:cNvSpPr>
          <p:nvPr/>
        </p:nvSpPr>
        <p:spPr bwMode="auto">
          <a:xfrm>
            <a:off x="1171575" y="3327400"/>
            <a:ext cx="66008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003366"/>
                </a:solidFill>
              </a:rPr>
              <a:t>{ </a:t>
            </a:r>
            <a:r>
              <a:rPr lang="en-US" altLang="zh-CN" b="1">
                <a:solidFill>
                  <a:srgbClr val="FF0000"/>
                </a:solidFill>
              </a:rPr>
              <a:t>98,</a:t>
            </a:r>
            <a:r>
              <a:rPr lang="en-US" altLang="zh-CN" b="1">
                <a:solidFill>
                  <a:srgbClr val="003366"/>
                </a:solidFill>
              </a:rPr>
              <a:t> 81, 49, 73, 36, 27, 40, 55, 64, 12 }</a:t>
            </a:r>
            <a:endParaRPr lang="en-US" altLang="zh-CN" sz="2000"/>
          </a:p>
        </p:txBody>
      </p:sp>
      <p:sp>
        <p:nvSpPr>
          <p:cNvPr id="80903" name="AutoShape 7"/>
          <p:cNvSpPr>
            <a:spLocks noChangeArrowheads="1"/>
          </p:cNvSpPr>
          <p:nvPr/>
        </p:nvSpPr>
        <p:spPr bwMode="auto">
          <a:xfrm>
            <a:off x="3733800" y="3962400"/>
            <a:ext cx="457200" cy="685800"/>
          </a:xfrm>
          <a:prstGeom prst="downArrow">
            <a:avLst>
              <a:gd name="adj1" fmla="val 50000"/>
              <a:gd name="adj2" fmla="val 37500"/>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80904" name="Text Box 8"/>
          <p:cNvSpPr txBox="1">
            <a:spLocks noChangeArrowheads="1"/>
          </p:cNvSpPr>
          <p:nvPr/>
        </p:nvSpPr>
        <p:spPr bwMode="auto">
          <a:xfrm>
            <a:off x="1171575" y="4699000"/>
            <a:ext cx="66008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003366"/>
                </a:solidFill>
              </a:rPr>
              <a:t>{ </a:t>
            </a:r>
            <a:r>
              <a:rPr lang="en-US" altLang="zh-CN" b="1">
                <a:solidFill>
                  <a:srgbClr val="990000"/>
                </a:solidFill>
              </a:rPr>
              <a:t>12,</a:t>
            </a:r>
            <a:r>
              <a:rPr lang="en-US" altLang="zh-CN" b="1">
                <a:solidFill>
                  <a:srgbClr val="003366"/>
                </a:solidFill>
              </a:rPr>
              <a:t> 81, 49, 73, 36, 27, 40, 55, 64</a:t>
            </a:r>
            <a:r>
              <a:rPr lang="en-US" altLang="zh-CN" b="1">
                <a:solidFill>
                  <a:srgbClr val="009999"/>
                </a:solidFill>
              </a:rPr>
              <a:t>, 98</a:t>
            </a:r>
            <a:r>
              <a:rPr lang="en-US" altLang="zh-CN" b="1">
                <a:solidFill>
                  <a:srgbClr val="003366"/>
                </a:solidFill>
              </a:rPr>
              <a:t> }</a:t>
            </a:r>
            <a:endParaRPr lang="en-US" altLang="zh-CN" sz="2000"/>
          </a:p>
        </p:txBody>
      </p:sp>
      <p:sp>
        <p:nvSpPr>
          <p:cNvPr id="80905" name="Text Box 9"/>
          <p:cNvSpPr txBox="1">
            <a:spLocks noChangeArrowheads="1"/>
          </p:cNvSpPr>
          <p:nvPr/>
        </p:nvSpPr>
        <p:spPr bwMode="auto">
          <a:xfrm>
            <a:off x="4479925" y="3930650"/>
            <a:ext cx="344297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800">
                <a:solidFill>
                  <a:srgbClr val="0000FF"/>
                </a:solidFill>
                <a:latin typeface="Arial" panose="020B0604020202020204" pitchFamily="34" charset="0"/>
                <a:ea typeface="隶书" panose="02010509060101010101" pitchFamily="49" charset="-122"/>
                <a:cs typeface="Arial" panose="020B0604020202020204" pitchFamily="34" charset="0"/>
                <a:sym typeface="+mn-ea"/>
              </a:rPr>
              <a:t>Exchange 98 and 12</a:t>
            </a:r>
            <a:endParaRPr lang="zh-CN" altLang="en-US" sz="2800">
              <a:solidFill>
                <a:srgbClr val="0000FF"/>
              </a:solidFill>
              <a:latin typeface="Arial" panose="020B0604020202020204" pitchFamily="34" charset="0"/>
              <a:ea typeface="隶书" panose="02010509060101010101" pitchFamily="49" charset="-122"/>
              <a:cs typeface="Arial" panose="020B0604020202020204" pitchFamily="34" charset="0"/>
            </a:endParaRPr>
          </a:p>
        </p:txBody>
      </p:sp>
      <p:sp>
        <p:nvSpPr>
          <p:cNvPr id="80906" name="AutoShape 10"/>
          <p:cNvSpPr>
            <a:spLocks noChangeArrowheads="1"/>
          </p:cNvSpPr>
          <p:nvPr/>
        </p:nvSpPr>
        <p:spPr bwMode="auto">
          <a:xfrm>
            <a:off x="3733800" y="5257800"/>
            <a:ext cx="457200" cy="685800"/>
          </a:xfrm>
          <a:prstGeom prst="downArrow">
            <a:avLst>
              <a:gd name="adj1" fmla="val 50000"/>
              <a:gd name="adj2" fmla="val 37500"/>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80907" name="Text Box 11"/>
          <p:cNvSpPr txBox="1">
            <a:spLocks noChangeArrowheads="1"/>
          </p:cNvSpPr>
          <p:nvPr/>
        </p:nvSpPr>
        <p:spPr bwMode="auto">
          <a:xfrm>
            <a:off x="4556125" y="5226050"/>
            <a:ext cx="393509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800">
                <a:solidFill>
                  <a:srgbClr val="0000FF"/>
                </a:solidFill>
                <a:latin typeface="Arial" panose="020B0604020202020204" pitchFamily="34" charset="0"/>
                <a:ea typeface="隶书" panose="02010509060101010101" pitchFamily="49" charset="-122"/>
                <a:cs typeface="Arial" panose="020B0604020202020204" pitchFamily="34" charset="0"/>
              </a:rPr>
              <a:t>re-adjust to a max-heap</a:t>
            </a:r>
          </a:p>
        </p:txBody>
      </p:sp>
      <p:sp>
        <p:nvSpPr>
          <p:cNvPr id="80908" name="Text Box 12"/>
          <p:cNvSpPr txBox="1">
            <a:spLocks noChangeArrowheads="1"/>
          </p:cNvSpPr>
          <p:nvPr/>
        </p:nvSpPr>
        <p:spPr bwMode="auto">
          <a:xfrm>
            <a:off x="1165225" y="5988050"/>
            <a:ext cx="74453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003366"/>
                </a:solidFill>
              </a:rPr>
              <a:t>{ </a:t>
            </a:r>
            <a:r>
              <a:rPr lang="en-US" altLang="zh-CN" b="1">
                <a:solidFill>
                  <a:srgbClr val="FF0000"/>
                </a:solidFill>
              </a:rPr>
              <a:t>81,</a:t>
            </a:r>
            <a:r>
              <a:rPr lang="en-US" altLang="zh-CN" b="1">
                <a:solidFill>
                  <a:srgbClr val="003366"/>
                </a:solidFill>
              </a:rPr>
              <a:t> 73, 49, 64, 36, 27, 40, 55, 12</a:t>
            </a:r>
            <a:r>
              <a:rPr lang="en-US" altLang="zh-CN" b="1">
                <a:solidFill>
                  <a:srgbClr val="009999"/>
                </a:solidFill>
              </a:rPr>
              <a:t>, 98</a:t>
            </a:r>
            <a:r>
              <a:rPr lang="en-US" altLang="zh-CN" b="1">
                <a:solidFill>
                  <a:srgbClr val="003366"/>
                </a:solidFill>
              </a:rPr>
              <a:t> }</a:t>
            </a:r>
            <a:endParaRPr lang="en-US" altLang="zh-CN" sz="2000"/>
          </a:p>
        </p:txBody>
      </p:sp>
      <p:sp>
        <p:nvSpPr>
          <p:cNvPr id="80909" name="Rectangle 13"/>
          <p:cNvSpPr>
            <a:spLocks noChangeArrowheads="1"/>
          </p:cNvSpPr>
          <p:nvPr/>
        </p:nvSpPr>
        <p:spPr bwMode="auto">
          <a:xfrm>
            <a:off x="1143000" y="2032000"/>
            <a:ext cx="66008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003366"/>
                </a:solidFill>
                <a:ea typeface="楷体_GB2312" pitchFamily="49" charset="-122"/>
              </a:rPr>
              <a:t>{ 40, 55, 49, 73, 12, 27, 98, 81, 64, 36 }</a:t>
            </a:r>
            <a:endParaRPr lang="en-US" altLang="zh-CN">
              <a:ea typeface="楷体_GB2312" pitchFamily="49" charset="-122"/>
            </a:endParaRPr>
          </a:p>
        </p:txBody>
      </p:sp>
      <p:sp>
        <p:nvSpPr>
          <p:cNvPr id="80910" name="Text Box 14"/>
          <p:cNvSpPr txBox="1">
            <a:spLocks noChangeArrowheads="1"/>
          </p:cNvSpPr>
          <p:nvPr/>
        </p:nvSpPr>
        <p:spPr bwMode="auto">
          <a:xfrm>
            <a:off x="2895600" y="5229225"/>
            <a:ext cx="8001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a:solidFill>
                  <a:srgbClr val="0000FF"/>
                </a:solidFill>
                <a:latin typeface="Arial" panose="020B0604020202020204" pitchFamily="34" charset="0"/>
                <a:ea typeface="隶书" panose="02010509060101010101" pitchFamily="49" charset="-122"/>
                <a:cs typeface="Arial" panose="020B0604020202020204" pitchFamily="34" charset="0"/>
              </a:rPr>
              <a:t>Sift</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84</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0898"/>
                                        </p:tgtEl>
                                        <p:attrNameLst>
                                          <p:attrName>style.visibility</p:attrName>
                                        </p:attrNameLst>
                                      </p:cBhvr>
                                      <p:to>
                                        <p:strVal val="visible"/>
                                      </p:to>
                                    </p:set>
                                    <p:animEffect transition="in" filter="wipe(left)">
                                      <p:cBhvr>
                                        <p:cTn id="7" dur="500"/>
                                        <p:tgtEl>
                                          <p:spTgt spid="80898"/>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80899"/>
                                        </p:tgtEl>
                                        <p:attrNameLst>
                                          <p:attrName>style.visibility</p:attrName>
                                        </p:attrNameLst>
                                      </p:cBhvr>
                                      <p:to>
                                        <p:strVal val="visible"/>
                                      </p:to>
                                    </p:set>
                                    <p:animEffect transition="in" filter="strips(downRight)">
                                      <p:cBhvr>
                                        <p:cTn id="12" dur="500"/>
                                        <p:tgtEl>
                                          <p:spTgt spid="8089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0909"/>
                                        </p:tgtEl>
                                        <p:attrNameLst>
                                          <p:attrName>style.visibility</p:attrName>
                                        </p:attrNameLst>
                                      </p:cBhvr>
                                      <p:to>
                                        <p:strVal val="visible"/>
                                      </p:to>
                                    </p:set>
                                    <p:animEffect transition="in" filter="wipe(left)">
                                      <p:cBhvr>
                                        <p:cTn id="17" dur="500"/>
                                        <p:tgtEl>
                                          <p:spTgt spid="8090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80901"/>
                                        </p:tgtEl>
                                        <p:attrNameLst>
                                          <p:attrName>style.visibility</p:attrName>
                                        </p:attrNameLst>
                                      </p:cBhvr>
                                      <p:to>
                                        <p:strVal val="visible"/>
                                      </p:to>
                                    </p:set>
                                    <p:animEffect transition="in" filter="wipe(up)">
                                      <p:cBhvr>
                                        <p:cTn id="22" dur="500"/>
                                        <p:tgtEl>
                                          <p:spTgt spid="80901"/>
                                        </p:tgtEl>
                                      </p:cBhvr>
                                    </p:animEffect>
                                  </p:childTnLst>
                                </p:cTn>
                              </p:par>
                            </p:childTnLst>
                          </p:cTn>
                        </p:par>
                        <p:par>
                          <p:cTn id="23" fill="hold">
                            <p:stCondLst>
                              <p:cond delay="500"/>
                            </p:stCondLst>
                            <p:childTnLst>
                              <p:par>
                                <p:cTn id="24" presetID="22" presetClass="entr" presetSubtype="1" fill="hold" grpId="0" nodeType="afterEffect">
                                  <p:stCondLst>
                                    <p:cond delay="0"/>
                                  </p:stCondLst>
                                  <p:childTnLst>
                                    <p:set>
                                      <p:cBhvr>
                                        <p:cTn id="25" dur="1" fill="hold">
                                          <p:stCondLst>
                                            <p:cond delay="0"/>
                                          </p:stCondLst>
                                        </p:cTn>
                                        <p:tgtEl>
                                          <p:spTgt spid="80900"/>
                                        </p:tgtEl>
                                        <p:attrNameLst>
                                          <p:attrName>style.visibility</p:attrName>
                                        </p:attrNameLst>
                                      </p:cBhvr>
                                      <p:to>
                                        <p:strVal val="visible"/>
                                      </p:to>
                                    </p:set>
                                    <p:animEffect transition="in" filter="wipe(up)">
                                      <p:cBhvr>
                                        <p:cTn id="26" dur="500"/>
                                        <p:tgtEl>
                                          <p:spTgt spid="8090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80902"/>
                                        </p:tgtEl>
                                        <p:attrNameLst>
                                          <p:attrName>style.visibility</p:attrName>
                                        </p:attrNameLst>
                                      </p:cBhvr>
                                      <p:to>
                                        <p:strVal val="visible"/>
                                      </p:to>
                                    </p:set>
                                    <p:animEffect transition="in" filter="wipe(left)">
                                      <p:cBhvr>
                                        <p:cTn id="31" dur="500"/>
                                        <p:tgtEl>
                                          <p:spTgt spid="8090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80905"/>
                                        </p:tgtEl>
                                        <p:attrNameLst>
                                          <p:attrName>style.visibility</p:attrName>
                                        </p:attrNameLst>
                                      </p:cBhvr>
                                      <p:to>
                                        <p:strVal val="visible"/>
                                      </p:to>
                                    </p:set>
                                    <p:animEffect transition="in" filter="wipe(up)">
                                      <p:cBhvr>
                                        <p:cTn id="36" dur="500"/>
                                        <p:tgtEl>
                                          <p:spTgt spid="80905"/>
                                        </p:tgtEl>
                                      </p:cBhvr>
                                    </p:animEffect>
                                  </p:childTnLst>
                                </p:cTn>
                              </p:par>
                            </p:childTnLst>
                          </p:cTn>
                        </p:par>
                        <p:par>
                          <p:cTn id="37" fill="hold">
                            <p:stCondLst>
                              <p:cond delay="500"/>
                            </p:stCondLst>
                            <p:childTnLst>
                              <p:par>
                                <p:cTn id="38" presetID="22" presetClass="entr" presetSubtype="1" fill="hold" grpId="0" nodeType="afterEffect">
                                  <p:stCondLst>
                                    <p:cond delay="0"/>
                                  </p:stCondLst>
                                  <p:childTnLst>
                                    <p:set>
                                      <p:cBhvr>
                                        <p:cTn id="39" dur="1" fill="hold">
                                          <p:stCondLst>
                                            <p:cond delay="0"/>
                                          </p:stCondLst>
                                        </p:cTn>
                                        <p:tgtEl>
                                          <p:spTgt spid="80903"/>
                                        </p:tgtEl>
                                        <p:attrNameLst>
                                          <p:attrName>style.visibility</p:attrName>
                                        </p:attrNameLst>
                                      </p:cBhvr>
                                      <p:to>
                                        <p:strVal val="visible"/>
                                      </p:to>
                                    </p:set>
                                    <p:animEffect transition="in" filter="wipe(up)">
                                      <p:cBhvr>
                                        <p:cTn id="40" dur="500"/>
                                        <p:tgtEl>
                                          <p:spTgt spid="80903"/>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80904"/>
                                        </p:tgtEl>
                                        <p:attrNameLst>
                                          <p:attrName>style.visibility</p:attrName>
                                        </p:attrNameLst>
                                      </p:cBhvr>
                                      <p:to>
                                        <p:strVal val="visible"/>
                                      </p:to>
                                    </p:set>
                                    <p:animEffect transition="in" filter="wipe(left)">
                                      <p:cBhvr>
                                        <p:cTn id="45" dur="500"/>
                                        <p:tgtEl>
                                          <p:spTgt spid="80904"/>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grpId="0" nodeType="clickEffect">
                                  <p:stCondLst>
                                    <p:cond delay="0"/>
                                  </p:stCondLst>
                                  <p:childTnLst>
                                    <p:set>
                                      <p:cBhvr>
                                        <p:cTn id="49" dur="1" fill="hold">
                                          <p:stCondLst>
                                            <p:cond delay="0"/>
                                          </p:stCondLst>
                                        </p:cTn>
                                        <p:tgtEl>
                                          <p:spTgt spid="80910"/>
                                        </p:tgtEl>
                                        <p:attrNameLst>
                                          <p:attrName>style.visibility</p:attrName>
                                        </p:attrNameLst>
                                      </p:cBhvr>
                                      <p:to>
                                        <p:strVal val="visible"/>
                                      </p:to>
                                    </p:set>
                                    <p:animEffect transition="in" filter="wipe(up)">
                                      <p:cBhvr>
                                        <p:cTn id="50" dur="500"/>
                                        <p:tgtEl>
                                          <p:spTgt spid="80910"/>
                                        </p:tgtEl>
                                      </p:cBhvr>
                                    </p:animEffect>
                                  </p:childTnLst>
                                </p:cTn>
                              </p:par>
                            </p:childTnLst>
                          </p:cTn>
                        </p:par>
                        <p:par>
                          <p:cTn id="51" fill="hold">
                            <p:stCondLst>
                              <p:cond delay="500"/>
                            </p:stCondLst>
                            <p:childTnLst>
                              <p:par>
                                <p:cTn id="52" presetID="22" presetClass="entr" presetSubtype="1" fill="hold" grpId="0" nodeType="afterEffect">
                                  <p:stCondLst>
                                    <p:cond delay="0"/>
                                  </p:stCondLst>
                                  <p:childTnLst>
                                    <p:set>
                                      <p:cBhvr>
                                        <p:cTn id="53" dur="1" fill="hold">
                                          <p:stCondLst>
                                            <p:cond delay="0"/>
                                          </p:stCondLst>
                                        </p:cTn>
                                        <p:tgtEl>
                                          <p:spTgt spid="80907"/>
                                        </p:tgtEl>
                                        <p:attrNameLst>
                                          <p:attrName>style.visibility</p:attrName>
                                        </p:attrNameLst>
                                      </p:cBhvr>
                                      <p:to>
                                        <p:strVal val="visible"/>
                                      </p:to>
                                    </p:set>
                                    <p:animEffect transition="in" filter="wipe(up)">
                                      <p:cBhvr>
                                        <p:cTn id="54" dur="500"/>
                                        <p:tgtEl>
                                          <p:spTgt spid="80907"/>
                                        </p:tgtEl>
                                      </p:cBhvr>
                                    </p:animEffect>
                                  </p:childTnLst>
                                </p:cTn>
                              </p:par>
                            </p:childTnLst>
                          </p:cTn>
                        </p:par>
                        <p:par>
                          <p:cTn id="55" fill="hold">
                            <p:stCondLst>
                              <p:cond delay="1000"/>
                            </p:stCondLst>
                            <p:childTnLst>
                              <p:par>
                                <p:cTn id="56" presetID="22" presetClass="entr" presetSubtype="1" fill="hold" grpId="0" nodeType="afterEffect">
                                  <p:stCondLst>
                                    <p:cond delay="0"/>
                                  </p:stCondLst>
                                  <p:childTnLst>
                                    <p:set>
                                      <p:cBhvr>
                                        <p:cTn id="57" dur="1" fill="hold">
                                          <p:stCondLst>
                                            <p:cond delay="0"/>
                                          </p:stCondLst>
                                        </p:cTn>
                                        <p:tgtEl>
                                          <p:spTgt spid="80906"/>
                                        </p:tgtEl>
                                        <p:attrNameLst>
                                          <p:attrName>style.visibility</p:attrName>
                                        </p:attrNameLst>
                                      </p:cBhvr>
                                      <p:to>
                                        <p:strVal val="visible"/>
                                      </p:to>
                                    </p:set>
                                    <p:animEffect transition="in" filter="wipe(up)">
                                      <p:cBhvr>
                                        <p:cTn id="58" dur="500"/>
                                        <p:tgtEl>
                                          <p:spTgt spid="80906"/>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80908"/>
                                        </p:tgtEl>
                                        <p:attrNameLst>
                                          <p:attrName>style.visibility</p:attrName>
                                        </p:attrNameLst>
                                      </p:cBhvr>
                                      <p:to>
                                        <p:strVal val="visible"/>
                                      </p:to>
                                    </p:set>
                                    <p:animEffect transition="in" filter="wipe(left)">
                                      <p:cBhvr>
                                        <p:cTn id="63" dur="500"/>
                                        <p:tgtEl>
                                          <p:spTgt spid="809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8" grpId="0" bldLvl="0" animBg="1" autoUpdateAnimBg="0"/>
      <p:bldP spid="80899" grpId="0" bldLvl="0" animBg="1" autoUpdateAnimBg="0"/>
      <p:bldP spid="80900" grpId="0" animBg="1"/>
      <p:bldP spid="80901" grpId="0" bldLvl="0" animBg="1" autoUpdateAnimBg="0"/>
      <p:bldP spid="80902" grpId="0" autoUpdateAnimBg="0"/>
      <p:bldP spid="80903" grpId="0" animBg="1"/>
      <p:bldP spid="80904" grpId="0" autoUpdateAnimBg="0"/>
      <p:bldP spid="80905" grpId="0" bldLvl="0" animBg="1" autoUpdateAnimBg="0"/>
      <p:bldP spid="80906" grpId="0" animBg="1"/>
      <p:bldP spid="80907" grpId="0" bldLvl="0" animBg="1" autoUpdateAnimBg="0"/>
      <p:bldP spid="80908" grpId="0" autoUpdateAnimBg="0"/>
      <p:bldP spid="80909" grpId="0" autoUpdateAnimBg="0"/>
      <p:bldP spid="80910" grpId="0" bldLvl="0" animBg="1"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2">
            <a:hlinkClick r:id="rId2" action="ppaction://hlinksldjump"/>
          </p:cNvPr>
          <p:cNvSpPr txBox="1">
            <a:spLocks noChangeArrowheads="1"/>
          </p:cNvSpPr>
          <p:nvPr/>
        </p:nvSpPr>
        <p:spPr bwMode="auto">
          <a:xfrm>
            <a:off x="792163" y="3933825"/>
            <a:ext cx="812482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b="1">
                <a:solidFill>
                  <a:srgbClr val="003366"/>
                </a:solidFill>
                <a:latin typeface="Arial" panose="020B0604020202020204" pitchFamily="34" charset="0"/>
                <a:ea typeface="楷体_GB2312" pitchFamily="49" charset="-122"/>
                <a:cs typeface="Arial" panose="020B0604020202020204" pitchFamily="34" charset="0"/>
              </a:rPr>
              <a:t>① How to build a heap from an unordered sequence?</a:t>
            </a:r>
          </a:p>
        </p:txBody>
      </p:sp>
      <p:sp>
        <p:nvSpPr>
          <p:cNvPr id="81923" name="Text Box 3"/>
          <p:cNvSpPr txBox="1">
            <a:spLocks noChangeArrowheads="1"/>
          </p:cNvSpPr>
          <p:nvPr/>
        </p:nvSpPr>
        <p:spPr bwMode="auto">
          <a:xfrm>
            <a:off x="647700" y="2781300"/>
            <a:ext cx="842073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rgbClr val="008784"/>
                </a:solidFill>
                <a:latin typeface="Arial" panose="020B0604020202020204" pitchFamily="34" charset="0"/>
                <a:ea typeface="楷体_GB2312" pitchFamily="49" charset="-122"/>
                <a:cs typeface="Arial" panose="020B0604020202020204" pitchFamily="34" charset="0"/>
              </a:rPr>
              <a:t>Two problems need to be solved to implement heap sort:</a:t>
            </a:r>
          </a:p>
        </p:txBody>
      </p:sp>
      <p:sp>
        <p:nvSpPr>
          <p:cNvPr id="81924" name="Text Box 4">
            <a:hlinkClick r:id="" action="ppaction://hlinkshowjump?jump=nextslide"/>
          </p:cNvPr>
          <p:cNvSpPr txBox="1">
            <a:spLocks noChangeArrowheads="1"/>
          </p:cNvSpPr>
          <p:nvPr/>
        </p:nvSpPr>
        <p:spPr bwMode="auto">
          <a:xfrm>
            <a:off x="792163" y="4689475"/>
            <a:ext cx="7543800" cy="829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b="1">
                <a:solidFill>
                  <a:srgbClr val="003366"/>
                </a:solidFill>
                <a:latin typeface="Arial" panose="020B0604020202020204" pitchFamily="34" charset="0"/>
                <a:ea typeface="楷体_GB2312" pitchFamily="49" charset="-122"/>
                <a:cs typeface="Arial" panose="020B0604020202020204" pitchFamily="34" charset="0"/>
              </a:rPr>
              <a:t>② How to adjust the remaining elements into a new heap after outputting the top element?</a:t>
            </a:r>
          </a:p>
        </p:txBody>
      </p:sp>
      <p:sp>
        <p:nvSpPr>
          <p:cNvPr id="81925" name="Text Box 5"/>
          <p:cNvSpPr txBox="1">
            <a:spLocks noChangeArrowheads="1"/>
          </p:cNvSpPr>
          <p:nvPr/>
        </p:nvSpPr>
        <p:spPr bwMode="auto">
          <a:xfrm>
            <a:off x="517525" y="454025"/>
            <a:ext cx="4422775"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3200">
                <a:latin typeface="Arial" panose="020B0604020202020204" pitchFamily="34" charset="0"/>
                <a:ea typeface="楷体_GB2312" pitchFamily="49" charset="-122"/>
                <a:cs typeface="Arial" panose="020B0604020202020204" pitchFamily="34" charset="0"/>
              </a:rPr>
              <a:t>Defining the Heap Type</a:t>
            </a:r>
          </a:p>
        </p:txBody>
      </p:sp>
      <p:sp>
        <p:nvSpPr>
          <p:cNvPr id="81926" name="Text Box 6"/>
          <p:cNvSpPr txBox="1">
            <a:spLocks noChangeArrowheads="1"/>
          </p:cNvSpPr>
          <p:nvPr/>
        </p:nvSpPr>
        <p:spPr bwMode="auto">
          <a:xfrm>
            <a:off x="609600" y="1295400"/>
            <a:ext cx="7241540" cy="1014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5000"/>
              </a:lnSpc>
            </a:pPr>
            <a:r>
              <a:rPr lang="en-US" altLang="zh-CN" b="1">
                <a:solidFill>
                  <a:srgbClr val="003366"/>
                </a:solidFill>
              </a:rPr>
              <a:t>typedef  SqList HeapType;</a:t>
            </a:r>
            <a:endParaRPr lang="en-US" altLang="zh-CN" sz="4800">
              <a:solidFill>
                <a:srgbClr val="003366"/>
              </a:solidFill>
            </a:endParaRPr>
          </a:p>
          <a:p>
            <a:pPr algn="r">
              <a:lnSpc>
                <a:spcPct val="125000"/>
              </a:lnSpc>
            </a:pPr>
            <a:r>
              <a:rPr lang="en-US" altLang="zh-CN" sz="2000" b="1">
                <a:solidFill>
                  <a:srgbClr val="006600"/>
                </a:solidFill>
              </a:rPr>
              <a:t>// The heap is represented by a sequential list</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85</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922"/>
                                        </p:tgtEl>
                                        <p:attrNameLst>
                                          <p:attrName>style.visibility</p:attrName>
                                        </p:attrNameLst>
                                      </p:cBhvr>
                                      <p:to>
                                        <p:strVal val="visible"/>
                                      </p:to>
                                    </p:set>
                                    <p:animEffect transition="in" filter="wipe(left)">
                                      <p:cBhvr>
                                        <p:cTn id="7" dur="500"/>
                                        <p:tgtEl>
                                          <p:spTgt spid="819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1924"/>
                                        </p:tgtEl>
                                        <p:attrNameLst>
                                          <p:attrName>style.visibility</p:attrName>
                                        </p:attrNameLst>
                                      </p:cBhvr>
                                      <p:to>
                                        <p:strVal val="visible"/>
                                      </p:to>
                                    </p:set>
                                    <p:animEffect transition="in" filter="wipe(left)">
                                      <p:cBhvr>
                                        <p:cTn id="12" dur="500"/>
                                        <p:tgtEl>
                                          <p:spTgt spid="819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2" grpId="0" bldLvl="0" animBg="1" autoUpdateAnimBg="0"/>
      <p:bldP spid="81924" grpId="0" bldLvl="0" animBg="1"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ext Box 2">
            <a:hlinkClick r:id="" action="ppaction://hlinkshowjump?jump=nextslide"/>
          </p:cNvPr>
          <p:cNvSpPr txBox="1">
            <a:spLocks noChangeArrowheads="1"/>
          </p:cNvSpPr>
          <p:nvPr/>
        </p:nvSpPr>
        <p:spPr bwMode="auto">
          <a:xfrm>
            <a:off x="762000" y="685800"/>
            <a:ext cx="7772400" cy="953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a:solidFill>
                  <a:srgbClr val="A50021"/>
                </a:solidFill>
                <a:latin typeface="Arial" panose="020B0604020202020204" pitchFamily="34" charset="0"/>
                <a:ea typeface="楷体_GB2312" pitchFamily="49" charset="-122"/>
                <a:cs typeface="Arial" panose="020B0604020202020204" pitchFamily="34" charset="0"/>
              </a:rPr>
              <a:t>How to adjust the remaining elements into a new heap after outputting the top element?</a:t>
            </a:r>
          </a:p>
        </p:txBody>
      </p:sp>
      <p:sp>
        <p:nvSpPr>
          <p:cNvPr id="82947" name="Text Box 3">
            <a:hlinkClick r:id="" action="ppaction://hlinkshowjump?jump=nextslide"/>
          </p:cNvPr>
          <p:cNvSpPr txBox="1">
            <a:spLocks noChangeArrowheads="1"/>
          </p:cNvSpPr>
          <p:nvPr/>
        </p:nvSpPr>
        <p:spPr bwMode="auto">
          <a:xfrm>
            <a:off x="685800" y="2590800"/>
            <a:ext cx="8001000" cy="267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a:solidFill>
                  <a:srgbClr val="003366"/>
                </a:solidFill>
                <a:latin typeface="Arial" panose="020B0604020202020204" pitchFamily="34" charset="0"/>
                <a:ea typeface="楷体_GB2312" pitchFamily="49" charset="-122"/>
                <a:cs typeface="Arial" panose="020B0604020202020204" pitchFamily="34" charset="0"/>
              </a:rPr>
              <a:t>If the last element in the heap replaces the top element, and both left and right subtrees of the root node are heaps, only top-down adjustments are required. The adjustment process from the heap top to the leaf is called "</a:t>
            </a:r>
            <a:r>
              <a:rPr lang="zh-CN" altLang="en-US" b="1">
                <a:solidFill>
                  <a:srgbClr val="A50021"/>
                </a:solidFill>
                <a:latin typeface="Arial" panose="020B0604020202020204" pitchFamily="34" charset="0"/>
                <a:ea typeface="楷体_GB2312" pitchFamily="49" charset="-122"/>
                <a:cs typeface="Arial" panose="020B0604020202020204" pitchFamily="34" charset="0"/>
              </a:rPr>
              <a:t>sifting</a:t>
            </a:r>
            <a:r>
              <a:rPr lang="zh-CN" altLang="en-US" b="1">
                <a:solidFill>
                  <a:srgbClr val="003366"/>
                </a:solidFill>
                <a:latin typeface="Arial" panose="020B0604020202020204" pitchFamily="34" charset="0"/>
                <a:ea typeface="楷体_GB2312" pitchFamily="49" charset="-122"/>
                <a:cs typeface="Arial" panose="020B0604020202020204" pitchFamily="34" charset="0"/>
              </a:rPr>
              <a:t>".</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86</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2946"/>
                                        </p:tgtEl>
                                        <p:attrNameLst>
                                          <p:attrName>style.visibility</p:attrName>
                                        </p:attrNameLst>
                                      </p:cBhvr>
                                      <p:to>
                                        <p:strVal val="visible"/>
                                      </p:to>
                                    </p:set>
                                    <p:animEffect transition="in" filter="wipe(left)">
                                      <p:cBhvr>
                                        <p:cTn id="7" dur="500"/>
                                        <p:tgtEl>
                                          <p:spTgt spid="8294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2947"/>
                                        </p:tgtEl>
                                        <p:attrNameLst>
                                          <p:attrName>style.visibility</p:attrName>
                                        </p:attrNameLst>
                                      </p:cBhvr>
                                      <p:to>
                                        <p:strVal val="visible"/>
                                      </p:to>
                                    </p:set>
                                    <p:animEffect transition="in" filter="wipe(left)">
                                      <p:cBhvr>
                                        <p:cTn id="12" dur="500"/>
                                        <p:tgtEl>
                                          <p:spTgt spid="829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6" grpId="0" bldLvl="0" animBg="1" autoUpdateAnimBg="0"/>
      <p:bldP spid="82947" grpId="0" bldLvl="0" animBg="1"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ChangeArrowheads="1"/>
          </p:cNvSpPr>
          <p:nvPr/>
        </p:nvSpPr>
        <p:spPr bwMode="auto">
          <a:xfrm>
            <a:off x="395536" y="213608"/>
            <a:ext cx="8153400" cy="156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b="1" dirty="0">
                <a:latin typeface="Arial" panose="020B0604020202020204" pitchFamily="34" charset="0"/>
                <a:ea typeface="楷体_GB2312" pitchFamily="49" charset="-122"/>
                <a:cs typeface="Arial" panose="020B0604020202020204" pitchFamily="34" charset="0"/>
              </a:rPr>
              <a:t>The so-called "</a:t>
            </a:r>
            <a:r>
              <a:rPr lang="zh-CN" altLang="en-US" sz="2400" b="1" dirty="0">
                <a:solidFill>
                  <a:srgbClr val="800000"/>
                </a:solidFill>
                <a:latin typeface="Arial" panose="020B0604020202020204" pitchFamily="34" charset="0"/>
                <a:ea typeface="楷体_GB2312" pitchFamily="49" charset="-122"/>
                <a:cs typeface="Arial" panose="020B0604020202020204" pitchFamily="34" charset="0"/>
              </a:rPr>
              <a:t>sifting</a:t>
            </a:r>
            <a:r>
              <a:rPr lang="en-US" altLang="zh-CN" sz="2400" b="1" dirty="0">
                <a:latin typeface="Arial" panose="020B0604020202020204" pitchFamily="34" charset="0"/>
                <a:ea typeface="楷体_GB2312" pitchFamily="49" charset="-122"/>
                <a:cs typeface="Arial" panose="020B0604020202020204" pitchFamily="34" charset="0"/>
              </a:rPr>
              <a:t>" refers to</a:t>
            </a:r>
            <a:r>
              <a:rPr lang="zh-CN" altLang="en-US" sz="2400" b="1" dirty="0">
                <a:solidFill>
                  <a:srgbClr val="800000"/>
                </a:solidFill>
                <a:latin typeface="Arial" panose="020B0604020202020204" pitchFamily="34" charset="0"/>
                <a:ea typeface="楷体_GB2312" pitchFamily="49" charset="-122"/>
                <a:cs typeface="Arial" panose="020B0604020202020204" pitchFamily="34" charset="0"/>
              </a:rPr>
              <a:t> adjusting the root node of a complete binary tree </a:t>
            </a:r>
            <a:r>
              <a:rPr lang="en-US" altLang="zh-CN" sz="2400" b="1" dirty="0">
                <a:latin typeface="Arial" panose="020B0604020202020204" pitchFamily="34" charset="0"/>
                <a:ea typeface="楷体_GB2312" pitchFamily="49" charset="-122"/>
                <a:cs typeface="Arial" panose="020B0604020202020204" pitchFamily="34" charset="0"/>
              </a:rPr>
              <a:t>(whose left and right subtrees are already heaps) so that the entire binary tree becomes a heap.</a:t>
            </a:r>
          </a:p>
        </p:txBody>
      </p:sp>
      <p:sp>
        <p:nvSpPr>
          <p:cNvPr id="83971" name="Oval 3"/>
          <p:cNvSpPr>
            <a:spLocks noChangeArrowheads="1"/>
          </p:cNvSpPr>
          <p:nvPr/>
        </p:nvSpPr>
        <p:spPr bwMode="auto">
          <a:xfrm>
            <a:off x="4191000" y="3140968"/>
            <a:ext cx="533400" cy="533400"/>
          </a:xfrm>
          <a:prstGeom prst="ellipse">
            <a:avLst/>
          </a:prstGeom>
          <a:solidFill>
            <a:srgbClr val="99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72" name="Oval 4"/>
          <p:cNvSpPr>
            <a:spLocks noChangeArrowheads="1"/>
          </p:cNvSpPr>
          <p:nvPr/>
        </p:nvSpPr>
        <p:spPr bwMode="auto">
          <a:xfrm>
            <a:off x="2819400" y="3979168"/>
            <a:ext cx="533400" cy="533400"/>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73" name="Oval 5"/>
          <p:cNvSpPr>
            <a:spLocks noChangeArrowheads="1"/>
          </p:cNvSpPr>
          <p:nvPr/>
        </p:nvSpPr>
        <p:spPr bwMode="auto">
          <a:xfrm>
            <a:off x="5638800" y="3902968"/>
            <a:ext cx="533400" cy="533400"/>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74" name="Oval 6"/>
          <p:cNvSpPr>
            <a:spLocks noChangeArrowheads="1"/>
          </p:cNvSpPr>
          <p:nvPr/>
        </p:nvSpPr>
        <p:spPr bwMode="auto">
          <a:xfrm>
            <a:off x="1524000" y="5655568"/>
            <a:ext cx="533400" cy="533400"/>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75" name="Oval 7"/>
          <p:cNvSpPr>
            <a:spLocks noChangeArrowheads="1"/>
          </p:cNvSpPr>
          <p:nvPr/>
        </p:nvSpPr>
        <p:spPr bwMode="auto">
          <a:xfrm>
            <a:off x="3962400" y="5691808"/>
            <a:ext cx="533400" cy="533400"/>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76" name="Line 8"/>
          <p:cNvSpPr>
            <a:spLocks noChangeShapeType="1"/>
          </p:cNvSpPr>
          <p:nvPr/>
        </p:nvSpPr>
        <p:spPr bwMode="auto">
          <a:xfrm flipH="1">
            <a:off x="3147814" y="3306316"/>
            <a:ext cx="1064146" cy="6987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77" name="Line 9"/>
          <p:cNvSpPr>
            <a:spLocks noChangeShapeType="1"/>
          </p:cNvSpPr>
          <p:nvPr/>
        </p:nvSpPr>
        <p:spPr bwMode="auto">
          <a:xfrm>
            <a:off x="4724400" y="3445768"/>
            <a:ext cx="121920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78" name="Line 10"/>
          <p:cNvSpPr>
            <a:spLocks noChangeShapeType="1"/>
          </p:cNvSpPr>
          <p:nvPr/>
        </p:nvSpPr>
        <p:spPr bwMode="auto">
          <a:xfrm flipH="1">
            <a:off x="1752600" y="4207768"/>
            <a:ext cx="1066800" cy="1447800"/>
          </a:xfrm>
          <a:prstGeom prst="line">
            <a:avLst/>
          </a:prstGeom>
          <a:noFill/>
          <a:ln w="2857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79" name="Line 11"/>
          <p:cNvSpPr>
            <a:spLocks noChangeShapeType="1"/>
          </p:cNvSpPr>
          <p:nvPr/>
        </p:nvSpPr>
        <p:spPr bwMode="auto">
          <a:xfrm>
            <a:off x="3352800" y="4207768"/>
            <a:ext cx="838200" cy="1447800"/>
          </a:xfrm>
          <a:prstGeom prst="line">
            <a:avLst/>
          </a:prstGeom>
          <a:noFill/>
          <a:ln w="952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80" name="Line 12"/>
          <p:cNvSpPr>
            <a:spLocks noChangeShapeType="1"/>
          </p:cNvSpPr>
          <p:nvPr/>
        </p:nvSpPr>
        <p:spPr bwMode="auto">
          <a:xfrm flipH="1">
            <a:off x="5181600" y="4207768"/>
            <a:ext cx="457200" cy="609600"/>
          </a:xfrm>
          <a:prstGeom prst="line">
            <a:avLst/>
          </a:prstGeom>
          <a:noFill/>
          <a:ln w="952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81" name="Line 13"/>
          <p:cNvSpPr>
            <a:spLocks noChangeShapeType="1"/>
          </p:cNvSpPr>
          <p:nvPr/>
        </p:nvSpPr>
        <p:spPr bwMode="auto">
          <a:xfrm>
            <a:off x="6172200" y="4131568"/>
            <a:ext cx="457200" cy="609600"/>
          </a:xfrm>
          <a:prstGeom prst="line">
            <a:avLst/>
          </a:prstGeom>
          <a:noFill/>
          <a:ln w="952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82" name="Text Box 14"/>
          <p:cNvSpPr txBox="1">
            <a:spLocks noChangeArrowheads="1"/>
          </p:cNvSpPr>
          <p:nvPr/>
        </p:nvSpPr>
        <p:spPr bwMode="auto">
          <a:xfrm>
            <a:off x="2484120" y="4869438"/>
            <a:ext cx="1227455" cy="706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4000" b="1" dirty="0">
                <a:solidFill>
                  <a:srgbClr val="002060"/>
                </a:solidFill>
              </a:rPr>
              <a:t>heap</a:t>
            </a:r>
          </a:p>
        </p:txBody>
      </p:sp>
      <p:sp>
        <p:nvSpPr>
          <p:cNvPr id="83983" name="Text Box 15"/>
          <p:cNvSpPr txBox="1">
            <a:spLocks noChangeArrowheads="1"/>
          </p:cNvSpPr>
          <p:nvPr/>
        </p:nvSpPr>
        <p:spPr bwMode="auto">
          <a:xfrm>
            <a:off x="5562600" y="4801493"/>
            <a:ext cx="1227455" cy="706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4000" b="1" dirty="0">
                <a:solidFill>
                  <a:srgbClr val="002060"/>
                </a:solidFill>
              </a:rPr>
              <a:t>heap</a:t>
            </a:r>
          </a:p>
        </p:txBody>
      </p:sp>
      <p:sp>
        <p:nvSpPr>
          <p:cNvPr id="83984" name="Line 16"/>
          <p:cNvSpPr>
            <a:spLocks noChangeShapeType="1"/>
          </p:cNvSpPr>
          <p:nvPr/>
        </p:nvSpPr>
        <p:spPr bwMode="auto">
          <a:xfrm flipH="1">
            <a:off x="4495800" y="3674368"/>
            <a:ext cx="0" cy="1371600"/>
          </a:xfrm>
          <a:prstGeom prst="line">
            <a:avLst/>
          </a:prstGeom>
          <a:noFill/>
          <a:ln w="38100">
            <a:solidFill>
              <a:srgbClr val="990000"/>
            </a:solidFill>
            <a:round/>
            <a:headEnd type="stealth" w="lg" len="lg"/>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85" name="Text Box 17"/>
          <p:cNvSpPr txBox="1">
            <a:spLocks noChangeArrowheads="1"/>
          </p:cNvSpPr>
          <p:nvPr/>
        </p:nvSpPr>
        <p:spPr bwMode="auto">
          <a:xfrm>
            <a:off x="3672840" y="3895090"/>
            <a:ext cx="930910"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a:spAutoFit/>
          </a:bodyPr>
          <a:lstStyle/>
          <a:p>
            <a:pPr>
              <a:spcBef>
                <a:spcPct val="50000"/>
              </a:spcBef>
            </a:pPr>
            <a:r>
              <a:rPr lang="en-US" altLang="zh-CN" sz="2000">
                <a:latin typeface="Arial" panose="020B0604020202020204" pitchFamily="34" charset="0"/>
                <a:cs typeface="Arial" panose="020B0604020202020204" pitchFamily="34" charset="0"/>
              </a:rPr>
              <a:t>sifting</a:t>
            </a:r>
          </a:p>
        </p:txBody>
      </p:sp>
      <p:sp>
        <p:nvSpPr>
          <p:cNvPr id="83987" name="Text Box 19"/>
          <p:cNvSpPr txBox="1">
            <a:spLocks noChangeArrowheads="1"/>
          </p:cNvSpPr>
          <p:nvPr/>
        </p:nvSpPr>
        <p:spPr bwMode="auto">
          <a:xfrm>
            <a:off x="457200" y="1828800"/>
            <a:ext cx="8458200" cy="1198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dirty="0">
                <a:solidFill>
                  <a:srgbClr val="FF3300"/>
                </a:solidFill>
                <a:latin typeface="Arial" panose="020B0604020202020204" pitchFamily="34" charset="0"/>
                <a:ea typeface="楷体_GB2312" pitchFamily="49" charset="-122"/>
                <a:cs typeface="Arial" panose="020B0604020202020204" pitchFamily="34" charset="0"/>
              </a:rPr>
              <a:t>Characteristics </a:t>
            </a:r>
            <a:r>
              <a:rPr lang="en-US" altLang="zh-CN" sz="2400" b="1" dirty="0">
                <a:latin typeface="Arial" panose="020B0604020202020204" pitchFamily="34" charset="0"/>
                <a:ea typeface="楷体_GB2312" pitchFamily="49" charset="-122"/>
                <a:cs typeface="Arial" panose="020B0604020202020204" pitchFamily="34" charset="0"/>
              </a:rPr>
              <a:t>of a complete binary tree for a heap: </a:t>
            </a:r>
            <a:r>
              <a:rPr lang="zh-CN" altLang="en-US" sz="2400" b="1" dirty="0">
                <a:solidFill>
                  <a:srgbClr val="FF3300"/>
                </a:solidFill>
                <a:latin typeface="Arial" panose="020B0604020202020204" pitchFamily="34" charset="0"/>
                <a:ea typeface="楷体_GB2312" pitchFamily="49" charset="-122"/>
                <a:cs typeface="Arial" panose="020B0604020202020204" pitchFamily="34" charset="0"/>
              </a:rPr>
              <a:t>The sequence of nodes along the path</a:t>
            </a:r>
            <a:r>
              <a:rPr lang="en-US" altLang="zh-CN" sz="2400" b="1" dirty="0">
                <a:latin typeface="Arial" panose="020B0604020202020204" pitchFamily="34" charset="0"/>
                <a:ea typeface="楷体_GB2312" pitchFamily="49" charset="-122"/>
                <a:cs typeface="Arial" panose="020B0604020202020204" pitchFamily="34" charset="0"/>
              </a:rPr>
              <a:t> from any node in the tree to the root is </a:t>
            </a:r>
            <a:r>
              <a:rPr lang="zh-CN" altLang="en-US" sz="2400" b="1" dirty="0">
                <a:solidFill>
                  <a:srgbClr val="FF3300"/>
                </a:solidFill>
                <a:latin typeface="Arial" panose="020B0604020202020204" pitchFamily="34" charset="0"/>
                <a:ea typeface="楷体_GB2312" pitchFamily="49" charset="-122"/>
                <a:cs typeface="Arial" panose="020B0604020202020204" pitchFamily="34" charset="0"/>
              </a:rPr>
              <a:t>ordered by their keys.</a:t>
            </a:r>
            <a:endParaRPr lang="en-US" altLang="zh-CN" sz="2400" b="1" dirty="0">
              <a:latin typeface="Arial" panose="020B0604020202020204" pitchFamily="34" charset="0"/>
              <a:ea typeface="楷体_GB2312" pitchFamily="49" charset="-122"/>
              <a:cs typeface="Arial" panose="020B0604020202020204" pitchFamily="34" charset="0"/>
            </a:endParaRP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87</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3972"/>
                                        </p:tgtEl>
                                        <p:attrNameLst>
                                          <p:attrName>style.visibility</p:attrName>
                                        </p:attrNameLst>
                                      </p:cBhvr>
                                      <p:to>
                                        <p:strVal val="visible"/>
                                      </p:to>
                                    </p:set>
                                    <p:animEffect transition="in" filter="wipe(up)">
                                      <p:cBhvr>
                                        <p:cTn id="7" dur="500"/>
                                        <p:tgtEl>
                                          <p:spTgt spid="83972"/>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83978"/>
                                        </p:tgtEl>
                                        <p:attrNameLst>
                                          <p:attrName>style.visibility</p:attrName>
                                        </p:attrNameLst>
                                      </p:cBhvr>
                                      <p:to>
                                        <p:strVal val="visible"/>
                                      </p:to>
                                    </p:set>
                                    <p:animEffect transition="in" filter="wipe(up)">
                                      <p:cBhvr>
                                        <p:cTn id="11" dur="500"/>
                                        <p:tgtEl>
                                          <p:spTgt spid="83978"/>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83974"/>
                                        </p:tgtEl>
                                        <p:attrNameLst>
                                          <p:attrName>style.visibility</p:attrName>
                                        </p:attrNameLst>
                                      </p:cBhvr>
                                      <p:to>
                                        <p:strVal val="visible"/>
                                      </p:to>
                                    </p:set>
                                    <p:animEffect transition="in" filter="wipe(up)">
                                      <p:cBhvr>
                                        <p:cTn id="15" dur="500"/>
                                        <p:tgtEl>
                                          <p:spTgt spid="83974"/>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83979"/>
                                        </p:tgtEl>
                                        <p:attrNameLst>
                                          <p:attrName>style.visibility</p:attrName>
                                        </p:attrNameLst>
                                      </p:cBhvr>
                                      <p:to>
                                        <p:strVal val="visible"/>
                                      </p:to>
                                    </p:set>
                                    <p:animEffect transition="in" filter="wipe(up)">
                                      <p:cBhvr>
                                        <p:cTn id="19" dur="500"/>
                                        <p:tgtEl>
                                          <p:spTgt spid="83979"/>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83975"/>
                                        </p:tgtEl>
                                        <p:attrNameLst>
                                          <p:attrName>style.visibility</p:attrName>
                                        </p:attrNameLst>
                                      </p:cBhvr>
                                      <p:to>
                                        <p:strVal val="visible"/>
                                      </p:to>
                                    </p:set>
                                    <p:animEffect transition="in" filter="wipe(up)">
                                      <p:cBhvr>
                                        <p:cTn id="23" dur="500"/>
                                        <p:tgtEl>
                                          <p:spTgt spid="8397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83982"/>
                                        </p:tgtEl>
                                        <p:attrNameLst>
                                          <p:attrName>style.visibility</p:attrName>
                                        </p:attrNameLst>
                                      </p:cBhvr>
                                      <p:to>
                                        <p:strVal val="visible"/>
                                      </p:to>
                                    </p:set>
                                    <p:animEffect transition="in" filter="wipe(up)">
                                      <p:cBhvr>
                                        <p:cTn id="28" dur="500"/>
                                        <p:tgtEl>
                                          <p:spTgt spid="8398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83973"/>
                                        </p:tgtEl>
                                        <p:attrNameLst>
                                          <p:attrName>style.visibility</p:attrName>
                                        </p:attrNameLst>
                                      </p:cBhvr>
                                      <p:to>
                                        <p:strVal val="visible"/>
                                      </p:to>
                                    </p:set>
                                    <p:animEffect transition="in" filter="wipe(up)">
                                      <p:cBhvr>
                                        <p:cTn id="33" dur="500"/>
                                        <p:tgtEl>
                                          <p:spTgt spid="83973"/>
                                        </p:tgtEl>
                                      </p:cBhvr>
                                    </p:animEffect>
                                  </p:childTnLst>
                                </p:cTn>
                              </p:par>
                            </p:childTnLst>
                          </p:cTn>
                        </p:par>
                        <p:par>
                          <p:cTn id="34" fill="hold">
                            <p:stCondLst>
                              <p:cond delay="500"/>
                            </p:stCondLst>
                            <p:childTnLst>
                              <p:par>
                                <p:cTn id="35" presetID="22" presetClass="entr" presetSubtype="1" fill="hold" grpId="0" nodeType="afterEffect">
                                  <p:stCondLst>
                                    <p:cond delay="0"/>
                                  </p:stCondLst>
                                  <p:childTnLst>
                                    <p:set>
                                      <p:cBhvr>
                                        <p:cTn id="36" dur="1" fill="hold">
                                          <p:stCondLst>
                                            <p:cond delay="0"/>
                                          </p:stCondLst>
                                        </p:cTn>
                                        <p:tgtEl>
                                          <p:spTgt spid="83980"/>
                                        </p:tgtEl>
                                        <p:attrNameLst>
                                          <p:attrName>style.visibility</p:attrName>
                                        </p:attrNameLst>
                                      </p:cBhvr>
                                      <p:to>
                                        <p:strVal val="visible"/>
                                      </p:to>
                                    </p:set>
                                    <p:animEffect transition="in" filter="wipe(up)">
                                      <p:cBhvr>
                                        <p:cTn id="37" dur="500"/>
                                        <p:tgtEl>
                                          <p:spTgt spid="83980"/>
                                        </p:tgtEl>
                                      </p:cBhvr>
                                    </p:animEffect>
                                  </p:childTnLst>
                                </p:cTn>
                              </p:par>
                            </p:childTnLst>
                          </p:cTn>
                        </p:par>
                        <p:par>
                          <p:cTn id="38" fill="hold">
                            <p:stCondLst>
                              <p:cond delay="1000"/>
                            </p:stCondLst>
                            <p:childTnLst>
                              <p:par>
                                <p:cTn id="39" presetID="22" presetClass="entr" presetSubtype="1" fill="hold" grpId="0" nodeType="afterEffect">
                                  <p:stCondLst>
                                    <p:cond delay="0"/>
                                  </p:stCondLst>
                                  <p:childTnLst>
                                    <p:set>
                                      <p:cBhvr>
                                        <p:cTn id="40" dur="1" fill="hold">
                                          <p:stCondLst>
                                            <p:cond delay="0"/>
                                          </p:stCondLst>
                                        </p:cTn>
                                        <p:tgtEl>
                                          <p:spTgt spid="83981"/>
                                        </p:tgtEl>
                                        <p:attrNameLst>
                                          <p:attrName>style.visibility</p:attrName>
                                        </p:attrNameLst>
                                      </p:cBhvr>
                                      <p:to>
                                        <p:strVal val="visible"/>
                                      </p:to>
                                    </p:set>
                                    <p:animEffect transition="in" filter="wipe(up)">
                                      <p:cBhvr>
                                        <p:cTn id="41" dur="500"/>
                                        <p:tgtEl>
                                          <p:spTgt spid="83981"/>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83983"/>
                                        </p:tgtEl>
                                        <p:attrNameLst>
                                          <p:attrName>style.visibility</p:attrName>
                                        </p:attrNameLst>
                                      </p:cBhvr>
                                      <p:to>
                                        <p:strVal val="visible"/>
                                      </p:to>
                                    </p:set>
                                    <p:animEffect transition="in" filter="wipe(up)">
                                      <p:cBhvr>
                                        <p:cTn id="46" dur="500"/>
                                        <p:tgtEl>
                                          <p:spTgt spid="83983"/>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grpId="0" nodeType="clickEffect">
                                  <p:stCondLst>
                                    <p:cond delay="0"/>
                                  </p:stCondLst>
                                  <p:childTnLst>
                                    <p:set>
                                      <p:cBhvr>
                                        <p:cTn id="50" dur="1" fill="hold">
                                          <p:stCondLst>
                                            <p:cond delay="0"/>
                                          </p:stCondLst>
                                        </p:cTn>
                                        <p:tgtEl>
                                          <p:spTgt spid="83971"/>
                                        </p:tgtEl>
                                        <p:attrNameLst>
                                          <p:attrName>style.visibility</p:attrName>
                                        </p:attrNameLst>
                                      </p:cBhvr>
                                      <p:to>
                                        <p:strVal val="visible"/>
                                      </p:to>
                                    </p:set>
                                    <p:animEffect transition="in" filter="wipe(up)">
                                      <p:cBhvr>
                                        <p:cTn id="51" dur="500"/>
                                        <p:tgtEl>
                                          <p:spTgt spid="83971"/>
                                        </p:tgtEl>
                                      </p:cBhvr>
                                    </p:animEffect>
                                  </p:childTnLst>
                                </p:cTn>
                              </p:par>
                            </p:childTnLst>
                          </p:cTn>
                        </p:par>
                        <p:par>
                          <p:cTn id="52" fill="hold">
                            <p:stCondLst>
                              <p:cond delay="500"/>
                            </p:stCondLst>
                            <p:childTnLst>
                              <p:par>
                                <p:cTn id="53" presetID="22" presetClass="entr" presetSubtype="1" fill="hold" grpId="0" nodeType="afterEffect">
                                  <p:stCondLst>
                                    <p:cond delay="0"/>
                                  </p:stCondLst>
                                  <p:childTnLst>
                                    <p:set>
                                      <p:cBhvr>
                                        <p:cTn id="54" dur="1" fill="hold">
                                          <p:stCondLst>
                                            <p:cond delay="0"/>
                                          </p:stCondLst>
                                        </p:cTn>
                                        <p:tgtEl>
                                          <p:spTgt spid="83976"/>
                                        </p:tgtEl>
                                        <p:attrNameLst>
                                          <p:attrName>style.visibility</p:attrName>
                                        </p:attrNameLst>
                                      </p:cBhvr>
                                      <p:to>
                                        <p:strVal val="visible"/>
                                      </p:to>
                                    </p:set>
                                    <p:animEffect transition="in" filter="wipe(up)">
                                      <p:cBhvr>
                                        <p:cTn id="55" dur="500"/>
                                        <p:tgtEl>
                                          <p:spTgt spid="83976"/>
                                        </p:tgtEl>
                                      </p:cBhvr>
                                    </p:animEffect>
                                  </p:childTnLst>
                                </p:cTn>
                              </p:par>
                            </p:childTnLst>
                          </p:cTn>
                        </p:par>
                        <p:par>
                          <p:cTn id="56" fill="hold">
                            <p:stCondLst>
                              <p:cond delay="1000"/>
                            </p:stCondLst>
                            <p:childTnLst>
                              <p:par>
                                <p:cTn id="57" presetID="22" presetClass="entr" presetSubtype="1" fill="hold" grpId="0" nodeType="afterEffect">
                                  <p:stCondLst>
                                    <p:cond delay="0"/>
                                  </p:stCondLst>
                                  <p:childTnLst>
                                    <p:set>
                                      <p:cBhvr>
                                        <p:cTn id="58" dur="1" fill="hold">
                                          <p:stCondLst>
                                            <p:cond delay="0"/>
                                          </p:stCondLst>
                                        </p:cTn>
                                        <p:tgtEl>
                                          <p:spTgt spid="83977"/>
                                        </p:tgtEl>
                                        <p:attrNameLst>
                                          <p:attrName>style.visibility</p:attrName>
                                        </p:attrNameLst>
                                      </p:cBhvr>
                                      <p:to>
                                        <p:strVal val="visible"/>
                                      </p:to>
                                    </p:set>
                                    <p:animEffect transition="in" filter="wipe(up)">
                                      <p:cBhvr>
                                        <p:cTn id="59" dur="500"/>
                                        <p:tgtEl>
                                          <p:spTgt spid="83977"/>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grpId="0" nodeType="clickEffect">
                                  <p:stCondLst>
                                    <p:cond delay="0"/>
                                  </p:stCondLst>
                                  <p:childTnLst>
                                    <p:set>
                                      <p:cBhvr>
                                        <p:cTn id="63" dur="1" fill="hold">
                                          <p:stCondLst>
                                            <p:cond delay="0"/>
                                          </p:stCondLst>
                                        </p:cTn>
                                        <p:tgtEl>
                                          <p:spTgt spid="83984"/>
                                        </p:tgtEl>
                                        <p:attrNameLst>
                                          <p:attrName>style.visibility</p:attrName>
                                        </p:attrNameLst>
                                      </p:cBhvr>
                                      <p:to>
                                        <p:strVal val="visible"/>
                                      </p:to>
                                    </p:set>
                                    <p:animEffect transition="in" filter="wipe(up)">
                                      <p:cBhvr>
                                        <p:cTn id="64" dur="500"/>
                                        <p:tgtEl>
                                          <p:spTgt spid="83984"/>
                                        </p:tgtEl>
                                      </p:cBhvr>
                                    </p:animEffect>
                                  </p:childTnLst>
                                </p:cTn>
                              </p:par>
                            </p:childTnLst>
                          </p:cTn>
                        </p:par>
                        <p:par>
                          <p:cTn id="65" fill="hold">
                            <p:stCondLst>
                              <p:cond delay="500"/>
                            </p:stCondLst>
                            <p:childTnLst>
                              <p:par>
                                <p:cTn id="66" presetID="22" presetClass="entr" presetSubtype="1" fill="hold" grpId="0" nodeType="afterEffect">
                                  <p:stCondLst>
                                    <p:cond delay="0"/>
                                  </p:stCondLst>
                                  <p:childTnLst>
                                    <p:set>
                                      <p:cBhvr>
                                        <p:cTn id="67" dur="1" fill="hold">
                                          <p:stCondLst>
                                            <p:cond delay="0"/>
                                          </p:stCondLst>
                                        </p:cTn>
                                        <p:tgtEl>
                                          <p:spTgt spid="83985"/>
                                        </p:tgtEl>
                                        <p:attrNameLst>
                                          <p:attrName>style.visibility</p:attrName>
                                        </p:attrNameLst>
                                      </p:cBhvr>
                                      <p:to>
                                        <p:strVal val="visible"/>
                                      </p:to>
                                    </p:set>
                                    <p:animEffect transition="in" filter="wipe(up)">
                                      <p:cBhvr>
                                        <p:cTn id="68" dur="500"/>
                                        <p:tgtEl>
                                          <p:spTgt spid="839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1" grpId="0" animBg="1"/>
      <p:bldP spid="83972" grpId="0" animBg="1"/>
      <p:bldP spid="83973" grpId="0" animBg="1"/>
      <p:bldP spid="83974" grpId="0" animBg="1"/>
      <p:bldP spid="83975" grpId="0" animBg="1"/>
      <p:bldP spid="83976" grpId="0" animBg="1"/>
      <p:bldP spid="83977" grpId="0" animBg="1"/>
      <p:bldP spid="83978" grpId="0" animBg="1"/>
      <p:bldP spid="83979" grpId="0" animBg="1"/>
      <p:bldP spid="83980" grpId="0" animBg="1"/>
      <p:bldP spid="83981" grpId="0" animBg="1"/>
      <p:bldP spid="83982" grpId="0" bldLvl="0" animBg="1" autoUpdateAnimBg="0"/>
      <p:bldP spid="83983" grpId="0" bldLvl="0" animBg="1" autoUpdateAnimBg="0"/>
      <p:bldP spid="83984" grpId="0" animBg="1"/>
      <p:bldP spid="83985" grpId="0" bldLvl="0" animBg="1" autoUpdateAnimBg="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Oval 2"/>
          <p:cNvSpPr>
            <a:spLocks noChangeArrowheads="1"/>
          </p:cNvSpPr>
          <p:nvPr/>
        </p:nvSpPr>
        <p:spPr bwMode="auto">
          <a:xfrm>
            <a:off x="4419600" y="1219200"/>
            <a:ext cx="685800" cy="381000"/>
          </a:xfrm>
          <a:prstGeom prst="ellipse">
            <a:avLst/>
          </a:prstGeom>
          <a:solidFill>
            <a:srgbClr val="CCFFFF"/>
          </a:solidFill>
          <a:ln w="12700">
            <a:solidFill>
              <a:srgbClr val="00008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chemeClr val="accent2"/>
                </a:solidFill>
              </a:rPr>
              <a:t>98</a:t>
            </a:r>
            <a:endParaRPr lang="en-US" altLang="zh-CN" sz="2400"/>
          </a:p>
        </p:txBody>
      </p:sp>
      <p:sp>
        <p:nvSpPr>
          <p:cNvPr id="84995" name="Oval 3"/>
          <p:cNvSpPr>
            <a:spLocks noChangeArrowheads="1"/>
          </p:cNvSpPr>
          <p:nvPr/>
        </p:nvSpPr>
        <p:spPr bwMode="auto">
          <a:xfrm>
            <a:off x="2362200" y="1981200"/>
            <a:ext cx="685800" cy="381000"/>
          </a:xfrm>
          <a:prstGeom prst="ellipse">
            <a:avLst/>
          </a:prstGeom>
          <a:solidFill>
            <a:srgbClr val="CCFFFF"/>
          </a:solidFill>
          <a:ln w="12700">
            <a:solidFill>
              <a:srgbClr val="00008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chemeClr val="accent2"/>
                </a:solidFill>
              </a:rPr>
              <a:t>81</a:t>
            </a:r>
            <a:endParaRPr lang="en-US" altLang="zh-CN" b="1"/>
          </a:p>
        </p:txBody>
      </p:sp>
      <p:sp>
        <p:nvSpPr>
          <p:cNvPr id="84996" name="Oval 4"/>
          <p:cNvSpPr>
            <a:spLocks noChangeArrowheads="1"/>
          </p:cNvSpPr>
          <p:nvPr/>
        </p:nvSpPr>
        <p:spPr bwMode="auto">
          <a:xfrm>
            <a:off x="6629400" y="1981200"/>
            <a:ext cx="685800" cy="381000"/>
          </a:xfrm>
          <a:prstGeom prst="ellipse">
            <a:avLst/>
          </a:prstGeom>
          <a:solidFill>
            <a:srgbClr val="CCFFFF"/>
          </a:solidFill>
          <a:ln w="12700">
            <a:solidFill>
              <a:srgbClr val="00008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chemeClr val="accent2"/>
                </a:solidFill>
              </a:rPr>
              <a:t>49</a:t>
            </a:r>
            <a:endParaRPr lang="en-US" altLang="zh-CN" sz="2400"/>
          </a:p>
        </p:txBody>
      </p:sp>
      <p:sp>
        <p:nvSpPr>
          <p:cNvPr id="84997" name="Oval 5"/>
          <p:cNvSpPr>
            <a:spLocks noChangeArrowheads="1"/>
          </p:cNvSpPr>
          <p:nvPr/>
        </p:nvSpPr>
        <p:spPr bwMode="auto">
          <a:xfrm>
            <a:off x="990600" y="2743200"/>
            <a:ext cx="685800" cy="381000"/>
          </a:xfrm>
          <a:prstGeom prst="ellipse">
            <a:avLst/>
          </a:prstGeom>
          <a:solidFill>
            <a:srgbClr val="CCFFFF"/>
          </a:solidFill>
          <a:ln w="12700">
            <a:solidFill>
              <a:srgbClr val="00008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chemeClr val="accent2"/>
                </a:solidFill>
              </a:rPr>
              <a:t>73</a:t>
            </a:r>
            <a:endParaRPr lang="en-US" altLang="zh-CN" sz="2400"/>
          </a:p>
        </p:txBody>
      </p:sp>
      <p:sp>
        <p:nvSpPr>
          <p:cNvPr id="84998" name="Oval 6"/>
          <p:cNvSpPr>
            <a:spLocks noChangeArrowheads="1"/>
          </p:cNvSpPr>
          <p:nvPr/>
        </p:nvSpPr>
        <p:spPr bwMode="auto">
          <a:xfrm>
            <a:off x="304800" y="3505200"/>
            <a:ext cx="685800" cy="381000"/>
          </a:xfrm>
          <a:prstGeom prst="ellipse">
            <a:avLst/>
          </a:prstGeom>
          <a:solidFill>
            <a:srgbClr val="CCFFFF"/>
          </a:solidFill>
          <a:ln w="12700">
            <a:solidFill>
              <a:srgbClr val="00008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chemeClr val="accent2"/>
                </a:solidFill>
              </a:rPr>
              <a:t>55</a:t>
            </a:r>
            <a:endParaRPr lang="en-US" altLang="zh-CN" sz="2400"/>
          </a:p>
        </p:txBody>
      </p:sp>
      <p:sp>
        <p:nvSpPr>
          <p:cNvPr id="84999" name="Oval 7"/>
          <p:cNvSpPr>
            <a:spLocks noChangeArrowheads="1"/>
          </p:cNvSpPr>
          <p:nvPr/>
        </p:nvSpPr>
        <p:spPr bwMode="auto">
          <a:xfrm>
            <a:off x="1600200" y="3505200"/>
            <a:ext cx="685800" cy="381000"/>
          </a:xfrm>
          <a:prstGeom prst="ellipse">
            <a:avLst/>
          </a:prstGeom>
          <a:solidFill>
            <a:srgbClr val="CCFFFF"/>
          </a:solidFill>
          <a:ln w="12700">
            <a:solidFill>
              <a:srgbClr val="00008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chemeClr val="accent2"/>
                </a:solidFill>
              </a:rPr>
              <a:t>64</a:t>
            </a:r>
            <a:endParaRPr lang="en-US" altLang="zh-CN" sz="2400"/>
          </a:p>
        </p:txBody>
      </p:sp>
      <p:sp>
        <p:nvSpPr>
          <p:cNvPr id="85000" name="Oval 8"/>
          <p:cNvSpPr>
            <a:spLocks noChangeArrowheads="1"/>
          </p:cNvSpPr>
          <p:nvPr/>
        </p:nvSpPr>
        <p:spPr bwMode="auto">
          <a:xfrm>
            <a:off x="2971800" y="3505200"/>
            <a:ext cx="685800" cy="381000"/>
          </a:xfrm>
          <a:prstGeom prst="ellipse">
            <a:avLst/>
          </a:prstGeom>
          <a:solidFill>
            <a:srgbClr val="CCFFFF"/>
          </a:solidFill>
          <a:ln w="12700">
            <a:solidFill>
              <a:srgbClr val="00008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chemeClr val="accent2"/>
                </a:solidFill>
              </a:rPr>
              <a:t>12</a:t>
            </a:r>
            <a:endParaRPr lang="en-US" altLang="zh-CN" sz="2400"/>
          </a:p>
        </p:txBody>
      </p:sp>
      <p:sp>
        <p:nvSpPr>
          <p:cNvPr id="85001" name="Oval 9"/>
          <p:cNvSpPr>
            <a:spLocks noChangeArrowheads="1"/>
          </p:cNvSpPr>
          <p:nvPr/>
        </p:nvSpPr>
        <p:spPr bwMode="auto">
          <a:xfrm>
            <a:off x="3657600" y="2743200"/>
            <a:ext cx="685800" cy="381000"/>
          </a:xfrm>
          <a:prstGeom prst="ellipse">
            <a:avLst/>
          </a:prstGeom>
          <a:solidFill>
            <a:srgbClr val="CCFFFF"/>
          </a:solidFill>
          <a:ln w="12700">
            <a:solidFill>
              <a:srgbClr val="00008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chemeClr val="accent2"/>
                </a:solidFill>
              </a:rPr>
              <a:t>36</a:t>
            </a:r>
            <a:endParaRPr lang="en-US" altLang="zh-CN" b="1">
              <a:solidFill>
                <a:srgbClr val="009999"/>
              </a:solidFill>
            </a:endParaRPr>
          </a:p>
        </p:txBody>
      </p:sp>
      <p:sp>
        <p:nvSpPr>
          <p:cNvPr id="85002" name="Oval 10"/>
          <p:cNvSpPr>
            <a:spLocks noChangeArrowheads="1"/>
          </p:cNvSpPr>
          <p:nvPr/>
        </p:nvSpPr>
        <p:spPr bwMode="auto">
          <a:xfrm>
            <a:off x="5486400" y="2743200"/>
            <a:ext cx="685800" cy="381000"/>
          </a:xfrm>
          <a:prstGeom prst="ellipse">
            <a:avLst/>
          </a:prstGeom>
          <a:solidFill>
            <a:srgbClr val="CCFFFF"/>
          </a:solidFill>
          <a:ln w="12700">
            <a:solidFill>
              <a:srgbClr val="00008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chemeClr val="accent2"/>
                </a:solidFill>
              </a:rPr>
              <a:t>27</a:t>
            </a:r>
            <a:endParaRPr lang="en-US" altLang="zh-CN" sz="2400"/>
          </a:p>
        </p:txBody>
      </p:sp>
      <p:sp>
        <p:nvSpPr>
          <p:cNvPr id="85003" name="Oval 11"/>
          <p:cNvSpPr>
            <a:spLocks noChangeArrowheads="1"/>
          </p:cNvSpPr>
          <p:nvPr/>
        </p:nvSpPr>
        <p:spPr bwMode="auto">
          <a:xfrm>
            <a:off x="7848600" y="2743200"/>
            <a:ext cx="685800" cy="381000"/>
          </a:xfrm>
          <a:prstGeom prst="ellipse">
            <a:avLst/>
          </a:prstGeom>
          <a:solidFill>
            <a:srgbClr val="CCFFFF"/>
          </a:solidFill>
          <a:ln w="12700">
            <a:solidFill>
              <a:srgbClr val="00008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chemeClr val="accent2"/>
                </a:solidFill>
              </a:rPr>
              <a:t>40</a:t>
            </a:r>
            <a:endParaRPr lang="en-US" altLang="zh-CN" b="1">
              <a:solidFill>
                <a:srgbClr val="009999"/>
              </a:solidFill>
            </a:endParaRPr>
          </a:p>
        </p:txBody>
      </p:sp>
      <p:sp>
        <p:nvSpPr>
          <p:cNvPr id="85004" name="Line 12"/>
          <p:cNvSpPr>
            <a:spLocks noChangeShapeType="1"/>
          </p:cNvSpPr>
          <p:nvPr/>
        </p:nvSpPr>
        <p:spPr bwMode="auto">
          <a:xfrm flipH="1">
            <a:off x="2667000" y="1524000"/>
            <a:ext cx="1828800" cy="457200"/>
          </a:xfrm>
          <a:prstGeom prst="line">
            <a:avLst/>
          </a:prstGeom>
          <a:noFill/>
          <a:ln w="9525">
            <a:solidFill>
              <a:srgbClr val="0033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05" name="Line 13"/>
          <p:cNvSpPr>
            <a:spLocks noChangeShapeType="1"/>
          </p:cNvSpPr>
          <p:nvPr/>
        </p:nvSpPr>
        <p:spPr bwMode="auto">
          <a:xfrm>
            <a:off x="5029200" y="1524000"/>
            <a:ext cx="1905000" cy="457200"/>
          </a:xfrm>
          <a:prstGeom prst="line">
            <a:avLst/>
          </a:prstGeom>
          <a:noFill/>
          <a:ln w="9525">
            <a:solidFill>
              <a:srgbClr val="0033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06" name="Line 14"/>
          <p:cNvSpPr>
            <a:spLocks noChangeShapeType="1"/>
          </p:cNvSpPr>
          <p:nvPr/>
        </p:nvSpPr>
        <p:spPr bwMode="auto">
          <a:xfrm flipH="1">
            <a:off x="1295400" y="2209800"/>
            <a:ext cx="1066800" cy="533400"/>
          </a:xfrm>
          <a:prstGeom prst="line">
            <a:avLst/>
          </a:prstGeom>
          <a:noFill/>
          <a:ln w="9525">
            <a:solidFill>
              <a:srgbClr val="0033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07" name="Line 15"/>
          <p:cNvSpPr>
            <a:spLocks noChangeShapeType="1"/>
          </p:cNvSpPr>
          <p:nvPr/>
        </p:nvSpPr>
        <p:spPr bwMode="auto">
          <a:xfrm>
            <a:off x="3048000" y="2209800"/>
            <a:ext cx="914400" cy="533400"/>
          </a:xfrm>
          <a:prstGeom prst="line">
            <a:avLst/>
          </a:prstGeom>
          <a:noFill/>
          <a:ln w="9525">
            <a:solidFill>
              <a:srgbClr val="0033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08" name="Line 16"/>
          <p:cNvSpPr>
            <a:spLocks noChangeShapeType="1"/>
          </p:cNvSpPr>
          <p:nvPr/>
        </p:nvSpPr>
        <p:spPr bwMode="auto">
          <a:xfrm flipH="1">
            <a:off x="5791200" y="2209800"/>
            <a:ext cx="838200" cy="533400"/>
          </a:xfrm>
          <a:prstGeom prst="line">
            <a:avLst/>
          </a:prstGeom>
          <a:noFill/>
          <a:ln w="9525">
            <a:solidFill>
              <a:srgbClr val="0033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09" name="Line 17"/>
          <p:cNvSpPr>
            <a:spLocks noChangeShapeType="1"/>
          </p:cNvSpPr>
          <p:nvPr/>
        </p:nvSpPr>
        <p:spPr bwMode="auto">
          <a:xfrm>
            <a:off x="7315200" y="2209800"/>
            <a:ext cx="914400" cy="533400"/>
          </a:xfrm>
          <a:prstGeom prst="line">
            <a:avLst/>
          </a:prstGeom>
          <a:noFill/>
          <a:ln w="9525">
            <a:solidFill>
              <a:srgbClr val="0033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10" name="Line 18"/>
          <p:cNvSpPr>
            <a:spLocks noChangeShapeType="1"/>
          </p:cNvSpPr>
          <p:nvPr/>
        </p:nvSpPr>
        <p:spPr bwMode="auto">
          <a:xfrm flipH="1">
            <a:off x="609600" y="2971800"/>
            <a:ext cx="381000" cy="533400"/>
          </a:xfrm>
          <a:prstGeom prst="line">
            <a:avLst/>
          </a:prstGeom>
          <a:noFill/>
          <a:ln w="9525">
            <a:solidFill>
              <a:srgbClr val="0033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11" name="Line 19"/>
          <p:cNvSpPr>
            <a:spLocks noChangeShapeType="1"/>
          </p:cNvSpPr>
          <p:nvPr/>
        </p:nvSpPr>
        <p:spPr bwMode="auto">
          <a:xfrm>
            <a:off x="1676400" y="2971800"/>
            <a:ext cx="228600" cy="533400"/>
          </a:xfrm>
          <a:prstGeom prst="line">
            <a:avLst/>
          </a:prstGeom>
          <a:noFill/>
          <a:ln w="9525">
            <a:solidFill>
              <a:srgbClr val="0033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12" name="Line 20"/>
          <p:cNvSpPr>
            <a:spLocks noChangeShapeType="1"/>
          </p:cNvSpPr>
          <p:nvPr/>
        </p:nvSpPr>
        <p:spPr bwMode="auto">
          <a:xfrm flipH="1">
            <a:off x="3276600" y="2971800"/>
            <a:ext cx="381000" cy="533400"/>
          </a:xfrm>
          <a:prstGeom prst="line">
            <a:avLst/>
          </a:prstGeom>
          <a:noFill/>
          <a:ln w="9525">
            <a:solidFill>
              <a:srgbClr val="0033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13" name="Text Box 21"/>
          <p:cNvSpPr txBox="1">
            <a:spLocks noChangeArrowheads="1"/>
          </p:cNvSpPr>
          <p:nvPr/>
        </p:nvSpPr>
        <p:spPr bwMode="auto">
          <a:xfrm>
            <a:off x="467995" y="332105"/>
            <a:ext cx="231521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a:solidFill>
                  <a:srgbClr val="990000"/>
                </a:solidFill>
                <a:latin typeface="Arial" panose="020B0604020202020204" pitchFamily="34" charset="0"/>
                <a:ea typeface="隶书" panose="02010509060101010101" pitchFamily="49" charset="-122"/>
                <a:cs typeface="Arial" panose="020B0604020202020204" pitchFamily="34" charset="0"/>
              </a:rPr>
              <a:t>for instance</a:t>
            </a:r>
            <a:r>
              <a:rPr lang="en-US" altLang="zh-CN" b="1">
                <a:solidFill>
                  <a:srgbClr val="990000"/>
                </a:solidFill>
                <a:latin typeface="Arial" panose="020B0604020202020204" pitchFamily="34" charset="0"/>
                <a:ea typeface="隶书" panose="02010509060101010101" pitchFamily="49" charset="-122"/>
                <a:cs typeface="Arial" panose="020B0604020202020204" pitchFamily="34" charset="0"/>
              </a:rPr>
              <a:t>:</a:t>
            </a:r>
          </a:p>
        </p:txBody>
      </p:sp>
      <p:sp>
        <p:nvSpPr>
          <p:cNvPr id="85014" name="Rectangle 22"/>
          <p:cNvSpPr>
            <a:spLocks noChangeArrowheads="1"/>
          </p:cNvSpPr>
          <p:nvPr/>
        </p:nvSpPr>
        <p:spPr bwMode="auto">
          <a:xfrm>
            <a:off x="6400800" y="3733800"/>
            <a:ext cx="2419350"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000" b="1">
                <a:solidFill>
                  <a:srgbClr val="990000"/>
                </a:solidFill>
                <a:latin typeface="Arial" panose="020B0604020202020204" pitchFamily="34" charset="0"/>
                <a:ea typeface="楷体_GB2312" pitchFamily="49" charset="-122"/>
                <a:cs typeface="Arial" panose="020B0604020202020204" pitchFamily="34" charset="0"/>
              </a:rPr>
              <a:t>It is the </a:t>
            </a:r>
            <a:r>
              <a:rPr lang="zh-CN" altLang="en-US" sz="2000" b="1">
                <a:solidFill>
                  <a:srgbClr val="990000"/>
                </a:solidFill>
                <a:latin typeface="Arial" panose="020B0604020202020204" pitchFamily="34" charset="0"/>
                <a:ea typeface="楷体_GB2312" pitchFamily="49" charset="-122"/>
                <a:cs typeface="Arial" panose="020B0604020202020204" pitchFamily="34" charset="0"/>
                <a:sym typeface="+mn-ea"/>
              </a:rPr>
              <a:t>max-heap</a:t>
            </a:r>
            <a:r>
              <a:rPr lang="zh-CN" altLang="en-US" sz="2000" b="1">
                <a:solidFill>
                  <a:srgbClr val="990000"/>
                </a:solidFill>
                <a:latin typeface="Arial" panose="020B0604020202020204" pitchFamily="34" charset="0"/>
                <a:ea typeface="楷体_GB2312" pitchFamily="49" charset="-122"/>
                <a:cs typeface="Arial" panose="020B0604020202020204" pitchFamily="34" charset="0"/>
              </a:rPr>
              <a:t>.</a:t>
            </a:r>
          </a:p>
        </p:txBody>
      </p:sp>
      <p:sp>
        <p:nvSpPr>
          <p:cNvPr id="85015" name="Oval 23"/>
          <p:cNvSpPr>
            <a:spLocks noChangeArrowheads="1"/>
          </p:cNvSpPr>
          <p:nvPr/>
        </p:nvSpPr>
        <p:spPr bwMode="auto">
          <a:xfrm>
            <a:off x="4419600" y="1219200"/>
            <a:ext cx="685800" cy="381000"/>
          </a:xfrm>
          <a:prstGeom prst="ellipse">
            <a:avLst/>
          </a:prstGeom>
          <a:solidFill>
            <a:srgbClr val="CCFFFF"/>
          </a:solidFill>
          <a:ln w="12700">
            <a:solidFill>
              <a:srgbClr val="00008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990000"/>
                </a:solidFill>
              </a:rPr>
              <a:t>12</a:t>
            </a:r>
            <a:endParaRPr lang="en-US" altLang="zh-CN" sz="2400"/>
          </a:p>
        </p:txBody>
      </p:sp>
      <p:sp>
        <p:nvSpPr>
          <p:cNvPr id="85016" name="Text Box 24"/>
          <p:cNvSpPr txBox="1">
            <a:spLocks noChangeArrowheads="1"/>
          </p:cNvSpPr>
          <p:nvPr/>
        </p:nvSpPr>
        <p:spPr bwMode="auto">
          <a:xfrm>
            <a:off x="250825" y="4689475"/>
            <a:ext cx="8893175" cy="953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a:solidFill>
                  <a:srgbClr val="003366"/>
                </a:solidFill>
                <a:latin typeface="Arial" panose="020B0604020202020204" pitchFamily="34" charset="0"/>
                <a:ea typeface="楷体_GB2312" pitchFamily="49" charset="-122"/>
                <a:cs typeface="Arial" panose="020B0604020202020204" pitchFamily="34" charset="0"/>
              </a:rPr>
              <a:t>But after the swap between 98 and 12, it was no longer a heap.</a:t>
            </a:r>
            <a:endParaRPr lang="en-US" altLang="zh-CN" sz="3600" b="1">
              <a:latin typeface="Arial" panose="020B0604020202020204" pitchFamily="34" charset="0"/>
              <a:ea typeface="楷体_GB2312" pitchFamily="49" charset="-122"/>
              <a:cs typeface="Arial" panose="020B0604020202020204" pitchFamily="34" charset="0"/>
            </a:endParaRPr>
          </a:p>
        </p:txBody>
      </p:sp>
      <p:sp>
        <p:nvSpPr>
          <p:cNvPr id="85017" name="Text Box 25"/>
          <p:cNvSpPr txBox="1">
            <a:spLocks noChangeArrowheads="1"/>
          </p:cNvSpPr>
          <p:nvPr/>
        </p:nvSpPr>
        <p:spPr bwMode="auto">
          <a:xfrm>
            <a:off x="450850" y="5767388"/>
            <a:ext cx="557212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solidFill>
                  <a:srgbClr val="0000FF"/>
                </a:solidFill>
                <a:latin typeface="Arial" panose="020B0604020202020204" pitchFamily="34" charset="0"/>
                <a:ea typeface="楷体_GB2312" pitchFamily="49" charset="-122"/>
                <a:cs typeface="Arial" panose="020B0604020202020204" pitchFamily="34" charset="0"/>
              </a:rPr>
              <a:t>Therefore, it needs to be "filtered".</a:t>
            </a:r>
            <a:endParaRPr lang="zh-CN" altLang="en-US">
              <a:latin typeface="Arial" panose="020B0604020202020204" pitchFamily="34" charset="0"/>
              <a:ea typeface="楷体_GB2312" pitchFamily="49" charset="-122"/>
              <a:cs typeface="Arial" panose="020B0604020202020204" pitchFamily="34" charset="0"/>
            </a:endParaRPr>
          </a:p>
        </p:txBody>
      </p:sp>
      <p:sp>
        <p:nvSpPr>
          <p:cNvPr id="85018" name="Oval 26"/>
          <p:cNvSpPr>
            <a:spLocks noChangeArrowheads="1"/>
          </p:cNvSpPr>
          <p:nvPr/>
        </p:nvSpPr>
        <p:spPr bwMode="auto">
          <a:xfrm>
            <a:off x="2971800" y="3505200"/>
            <a:ext cx="685800" cy="381000"/>
          </a:xfrm>
          <a:prstGeom prst="ellipse">
            <a:avLst/>
          </a:prstGeom>
          <a:solidFill>
            <a:srgbClr val="CCFFFF"/>
          </a:solidFill>
          <a:ln w="12700">
            <a:solidFill>
              <a:srgbClr val="00008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chemeClr val="accent2"/>
                </a:solidFill>
              </a:rPr>
              <a:t>98</a:t>
            </a:r>
            <a:endParaRPr lang="en-US" altLang="zh-CN" sz="2400"/>
          </a:p>
        </p:txBody>
      </p:sp>
      <p:sp>
        <p:nvSpPr>
          <p:cNvPr id="85019" name="Line 27"/>
          <p:cNvSpPr>
            <a:spLocks noChangeShapeType="1"/>
          </p:cNvSpPr>
          <p:nvPr/>
        </p:nvSpPr>
        <p:spPr bwMode="auto">
          <a:xfrm flipH="1">
            <a:off x="3276600" y="2971800"/>
            <a:ext cx="381000" cy="533400"/>
          </a:xfrm>
          <a:prstGeom prst="line">
            <a:avLst/>
          </a:prstGeom>
          <a:noFill/>
          <a:ln w="952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20" name="Line 28"/>
          <p:cNvSpPr>
            <a:spLocks noChangeShapeType="1"/>
          </p:cNvSpPr>
          <p:nvPr/>
        </p:nvSpPr>
        <p:spPr bwMode="auto">
          <a:xfrm>
            <a:off x="4038600" y="2133600"/>
            <a:ext cx="1600200" cy="0"/>
          </a:xfrm>
          <a:prstGeom prst="line">
            <a:avLst/>
          </a:prstGeom>
          <a:noFill/>
          <a:ln w="19050">
            <a:solidFill>
              <a:srgbClr val="990000"/>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21" name="Line 29"/>
          <p:cNvSpPr>
            <a:spLocks noChangeShapeType="1"/>
          </p:cNvSpPr>
          <p:nvPr/>
        </p:nvSpPr>
        <p:spPr bwMode="auto">
          <a:xfrm flipV="1">
            <a:off x="2819400" y="1447800"/>
            <a:ext cx="1447800" cy="381000"/>
          </a:xfrm>
          <a:prstGeom prst="line">
            <a:avLst/>
          </a:prstGeom>
          <a:noFill/>
          <a:ln w="19050">
            <a:solidFill>
              <a:srgbClr val="993300"/>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22" name="Oval 30"/>
          <p:cNvSpPr>
            <a:spLocks noChangeArrowheads="1"/>
          </p:cNvSpPr>
          <p:nvPr/>
        </p:nvSpPr>
        <p:spPr bwMode="auto">
          <a:xfrm>
            <a:off x="1219200" y="1143000"/>
            <a:ext cx="685800" cy="381000"/>
          </a:xfrm>
          <a:prstGeom prst="ellipse">
            <a:avLst/>
          </a:prstGeom>
          <a:solidFill>
            <a:srgbClr val="CCFFFF"/>
          </a:solidFill>
          <a:ln w="12700">
            <a:solidFill>
              <a:srgbClr val="00008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990000"/>
                </a:solidFill>
              </a:rPr>
              <a:t>12</a:t>
            </a:r>
            <a:endParaRPr lang="en-US" altLang="zh-CN" sz="2400"/>
          </a:p>
        </p:txBody>
      </p:sp>
      <p:sp>
        <p:nvSpPr>
          <p:cNvPr id="85023" name="Oval 31"/>
          <p:cNvSpPr>
            <a:spLocks noChangeArrowheads="1"/>
          </p:cNvSpPr>
          <p:nvPr/>
        </p:nvSpPr>
        <p:spPr bwMode="auto">
          <a:xfrm>
            <a:off x="4419600" y="1219200"/>
            <a:ext cx="685800" cy="381000"/>
          </a:xfrm>
          <a:prstGeom prst="ellipse">
            <a:avLst/>
          </a:prstGeom>
          <a:solidFill>
            <a:srgbClr val="CCFFFF"/>
          </a:solidFill>
          <a:ln w="12700">
            <a:solidFill>
              <a:srgbClr val="00008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990000"/>
                </a:solidFill>
              </a:rPr>
              <a:t>81</a:t>
            </a:r>
            <a:endParaRPr lang="en-US" altLang="zh-CN" b="1"/>
          </a:p>
        </p:txBody>
      </p:sp>
      <p:sp>
        <p:nvSpPr>
          <p:cNvPr id="85024" name="Line 32"/>
          <p:cNvSpPr>
            <a:spLocks noChangeShapeType="1"/>
          </p:cNvSpPr>
          <p:nvPr/>
        </p:nvSpPr>
        <p:spPr bwMode="auto">
          <a:xfrm>
            <a:off x="2057400" y="2895600"/>
            <a:ext cx="1295400" cy="0"/>
          </a:xfrm>
          <a:prstGeom prst="line">
            <a:avLst/>
          </a:prstGeom>
          <a:noFill/>
          <a:ln w="19050">
            <a:solidFill>
              <a:srgbClr val="990000"/>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25" name="Line 33"/>
          <p:cNvSpPr>
            <a:spLocks noChangeShapeType="1"/>
          </p:cNvSpPr>
          <p:nvPr/>
        </p:nvSpPr>
        <p:spPr bwMode="auto">
          <a:xfrm flipV="1">
            <a:off x="1219200" y="1676400"/>
            <a:ext cx="152400" cy="914400"/>
          </a:xfrm>
          <a:prstGeom prst="line">
            <a:avLst/>
          </a:prstGeom>
          <a:noFill/>
          <a:ln w="19050">
            <a:solidFill>
              <a:srgbClr val="993300"/>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26" name="Oval 34"/>
          <p:cNvSpPr>
            <a:spLocks noChangeArrowheads="1"/>
          </p:cNvSpPr>
          <p:nvPr/>
        </p:nvSpPr>
        <p:spPr bwMode="auto">
          <a:xfrm>
            <a:off x="2362200" y="1981200"/>
            <a:ext cx="685800" cy="381000"/>
          </a:xfrm>
          <a:prstGeom prst="ellipse">
            <a:avLst/>
          </a:prstGeom>
          <a:solidFill>
            <a:srgbClr val="CCFFFF"/>
          </a:solidFill>
          <a:ln w="12700">
            <a:solidFill>
              <a:srgbClr val="00008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990000"/>
                </a:solidFill>
              </a:rPr>
              <a:t>73</a:t>
            </a:r>
            <a:endParaRPr lang="en-US" altLang="zh-CN" sz="2400"/>
          </a:p>
        </p:txBody>
      </p:sp>
      <p:sp>
        <p:nvSpPr>
          <p:cNvPr id="85027" name="Line 35"/>
          <p:cNvSpPr>
            <a:spLocks noChangeShapeType="1"/>
          </p:cNvSpPr>
          <p:nvPr/>
        </p:nvSpPr>
        <p:spPr bwMode="auto">
          <a:xfrm>
            <a:off x="1066800" y="3733800"/>
            <a:ext cx="457200" cy="0"/>
          </a:xfrm>
          <a:prstGeom prst="line">
            <a:avLst/>
          </a:prstGeom>
          <a:noFill/>
          <a:ln w="19050">
            <a:solidFill>
              <a:srgbClr val="990000"/>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useBgFill="1">
        <p:nvSpPr>
          <p:cNvPr id="85028" name="Rectangle 36"/>
          <p:cNvSpPr>
            <a:spLocks noChangeArrowheads="1"/>
          </p:cNvSpPr>
          <p:nvPr/>
        </p:nvSpPr>
        <p:spPr bwMode="auto">
          <a:xfrm>
            <a:off x="2057400" y="2819400"/>
            <a:ext cx="1295400" cy="1524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29" name="Line 37"/>
          <p:cNvSpPr>
            <a:spLocks noChangeShapeType="1"/>
          </p:cNvSpPr>
          <p:nvPr/>
        </p:nvSpPr>
        <p:spPr bwMode="auto">
          <a:xfrm flipH="1" flipV="1">
            <a:off x="1752600" y="1676400"/>
            <a:ext cx="381000" cy="1600200"/>
          </a:xfrm>
          <a:prstGeom prst="line">
            <a:avLst/>
          </a:prstGeom>
          <a:noFill/>
          <a:ln w="19050">
            <a:solidFill>
              <a:srgbClr val="993300"/>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useBgFill="1">
        <p:nvSpPr>
          <p:cNvPr id="85030" name="Rectangle 38"/>
          <p:cNvSpPr>
            <a:spLocks noChangeArrowheads="1"/>
          </p:cNvSpPr>
          <p:nvPr/>
        </p:nvSpPr>
        <p:spPr bwMode="auto">
          <a:xfrm>
            <a:off x="1066800" y="1600200"/>
            <a:ext cx="381000" cy="9906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31" name="Oval 39"/>
          <p:cNvSpPr>
            <a:spLocks noChangeArrowheads="1"/>
          </p:cNvSpPr>
          <p:nvPr/>
        </p:nvSpPr>
        <p:spPr bwMode="auto">
          <a:xfrm>
            <a:off x="990600" y="2743200"/>
            <a:ext cx="685800" cy="381000"/>
          </a:xfrm>
          <a:prstGeom prst="ellipse">
            <a:avLst/>
          </a:prstGeom>
          <a:solidFill>
            <a:srgbClr val="CCFFFF"/>
          </a:solidFill>
          <a:ln w="12700">
            <a:solidFill>
              <a:srgbClr val="00008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990000"/>
                </a:solidFill>
              </a:rPr>
              <a:t>64</a:t>
            </a:r>
            <a:endParaRPr lang="en-US" altLang="zh-CN" sz="2400">
              <a:solidFill>
                <a:srgbClr val="990000"/>
              </a:solidFill>
            </a:endParaRPr>
          </a:p>
        </p:txBody>
      </p:sp>
      <p:sp>
        <p:nvSpPr>
          <p:cNvPr id="85032" name="Oval 40"/>
          <p:cNvSpPr>
            <a:spLocks noChangeArrowheads="1"/>
          </p:cNvSpPr>
          <p:nvPr/>
        </p:nvSpPr>
        <p:spPr bwMode="auto">
          <a:xfrm>
            <a:off x="1600200" y="3505200"/>
            <a:ext cx="685800" cy="381000"/>
          </a:xfrm>
          <a:prstGeom prst="ellipse">
            <a:avLst/>
          </a:prstGeom>
          <a:solidFill>
            <a:srgbClr val="CCFFFF"/>
          </a:solidFill>
          <a:ln w="12700">
            <a:solidFill>
              <a:srgbClr val="00008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990000"/>
                </a:solidFill>
              </a:rPr>
              <a:t>12</a:t>
            </a:r>
            <a:endParaRPr lang="en-US" altLang="zh-CN" sz="2400"/>
          </a:p>
        </p:txBody>
      </p:sp>
      <p:sp useBgFill="1">
        <p:nvSpPr>
          <p:cNvPr id="85033" name="Rectangle 41"/>
          <p:cNvSpPr>
            <a:spLocks noChangeArrowheads="1"/>
          </p:cNvSpPr>
          <p:nvPr/>
        </p:nvSpPr>
        <p:spPr bwMode="auto">
          <a:xfrm>
            <a:off x="1066800" y="1066800"/>
            <a:ext cx="914400" cy="5334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34" name="Oval 42"/>
          <p:cNvSpPr>
            <a:spLocks noChangeArrowheads="1"/>
          </p:cNvSpPr>
          <p:nvPr/>
        </p:nvSpPr>
        <p:spPr bwMode="auto">
          <a:xfrm>
            <a:off x="2971800" y="3505200"/>
            <a:ext cx="685800" cy="381000"/>
          </a:xfrm>
          <a:prstGeom prst="ellipse">
            <a:avLst/>
          </a:prstGeom>
          <a:solidFill>
            <a:srgbClr val="CCFFFF"/>
          </a:solidFill>
          <a:ln w="12700">
            <a:solidFill>
              <a:srgbClr val="00008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chemeClr val="hlink"/>
                </a:solidFill>
              </a:rPr>
              <a:t>98</a:t>
            </a:r>
            <a:endParaRPr lang="en-US" altLang="zh-CN" sz="2400"/>
          </a:p>
        </p:txBody>
      </p:sp>
      <p:sp>
        <p:nvSpPr>
          <p:cNvPr id="85035" name="Text Box 43"/>
          <p:cNvSpPr txBox="1">
            <a:spLocks noChangeArrowheads="1"/>
          </p:cNvSpPr>
          <p:nvPr/>
        </p:nvSpPr>
        <p:spPr bwMode="auto">
          <a:xfrm>
            <a:off x="4403725" y="1676400"/>
            <a:ext cx="79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a:solidFill>
                  <a:srgbClr val="990000"/>
                </a:solidFill>
                <a:ea typeface="隶书" panose="02010509060101010101" pitchFamily="49" charset="-122"/>
              </a:rPr>
              <a:t>compare</a:t>
            </a:r>
            <a:endParaRPr lang="zh-CN" altLang="en-US" sz="2400">
              <a:solidFill>
                <a:srgbClr val="990000"/>
              </a:solidFill>
              <a:ea typeface="隶书" panose="02010509060101010101" pitchFamily="49" charset="-122"/>
            </a:endParaRPr>
          </a:p>
        </p:txBody>
      </p:sp>
      <p:sp>
        <p:nvSpPr>
          <p:cNvPr id="85036" name="Rectangle 44"/>
          <p:cNvSpPr>
            <a:spLocks noChangeArrowheads="1"/>
          </p:cNvSpPr>
          <p:nvPr/>
        </p:nvSpPr>
        <p:spPr bwMode="auto">
          <a:xfrm rot="-932321">
            <a:off x="2963863" y="1090613"/>
            <a:ext cx="1168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1200" b="1">
                <a:solidFill>
                  <a:srgbClr val="990000"/>
                </a:solidFill>
                <a:ea typeface="隶书" panose="02010509060101010101" pitchFamily="49" charset="-122"/>
              </a:rPr>
              <a:t>compare</a:t>
            </a:r>
            <a:endParaRPr lang="zh-CN" altLang="en-US" sz="2400">
              <a:solidFill>
                <a:srgbClr val="990000"/>
              </a:solidFill>
              <a:ea typeface="隶书" panose="02010509060101010101" pitchFamily="49" charset="-122"/>
            </a:endParaRPr>
          </a:p>
        </p:txBody>
      </p:sp>
      <p:sp useBgFill="1">
        <p:nvSpPr>
          <p:cNvPr id="85037" name="Rectangle 45"/>
          <p:cNvSpPr>
            <a:spLocks noChangeArrowheads="1"/>
          </p:cNvSpPr>
          <p:nvPr/>
        </p:nvSpPr>
        <p:spPr bwMode="auto">
          <a:xfrm>
            <a:off x="3962400" y="1752600"/>
            <a:ext cx="1752600" cy="5334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useBgFill="1">
        <p:nvSpPr>
          <p:cNvPr id="85038" name="Freeform 46"/>
          <p:cNvSpPr/>
          <p:nvPr/>
        </p:nvSpPr>
        <p:spPr bwMode="auto">
          <a:xfrm>
            <a:off x="2771775" y="1196975"/>
            <a:ext cx="1611313" cy="666750"/>
          </a:xfrm>
          <a:custGeom>
            <a:avLst/>
            <a:gdLst>
              <a:gd name="T0" fmla="*/ 974 w 1015"/>
              <a:gd name="T1" fmla="*/ 132 h 420"/>
              <a:gd name="T2" fmla="*/ 890 w 1015"/>
              <a:gd name="T3" fmla="*/ 204 h 420"/>
              <a:gd name="T4" fmla="*/ 602 w 1015"/>
              <a:gd name="T5" fmla="*/ 276 h 420"/>
              <a:gd name="T6" fmla="*/ 254 w 1015"/>
              <a:gd name="T7" fmla="*/ 348 h 420"/>
              <a:gd name="T8" fmla="*/ 146 w 1015"/>
              <a:gd name="T9" fmla="*/ 384 h 420"/>
              <a:gd name="T10" fmla="*/ 74 w 1015"/>
              <a:gd name="T11" fmla="*/ 420 h 420"/>
              <a:gd name="T12" fmla="*/ 14 w 1015"/>
              <a:gd name="T13" fmla="*/ 408 h 420"/>
              <a:gd name="T14" fmla="*/ 2 w 1015"/>
              <a:gd name="T15" fmla="*/ 372 h 420"/>
              <a:gd name="T16" fmla="*/ 86 w 1015"/>
              <a:gd name="T17" fmla="*/ 132 h 420"/>
              <a:gd name="T18" fmla="*/ 158 w 1015"/>
              <a:gd name="T19" fmla="*/ 60 h 420"/>
              <a:gd name="T20" fmla="*/ 362 w 1015"/>
              <a:gd name="T21" fmla="*/ 36 h 420"/>
              <a:gd name="T22" fmla="*/ 662 w 1015"/>
              <a:gd name="T23" fmla="*/ 0 h 420"/>
              <a:gd name="T24" fmla="*/ 830 w 1015"/>
              <a:gd name="T25" fmla="*/ 24 h 420"/>
              <a:gd name="T26" fmla="*/ 902 w 1015"/>
              <a:gd name="T27" fmla="*/ 48 h 420"/>
              <a:gd name="T28" fmla="*/ 938 w 1015"/>
              <a:gd name="T29" fmla="*/ 60 h 420"/>
              <a:gd name="T30" fmla="*/ 974 w 1015"/>
              <a:gd name="T31" fmla="*/ 132 h 4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15" h="420">
                <a:moveTo>
                  <a:pt x="974" y="132"/>
                </a:moveTo>
                <a:cubicBezTo>
                  <a:pt x="956" y="186"/>
                  <a:pt x="935" y="179"/>
                  <a:pt x="890" y="204"/>
                </a:cubicBezTo>
                <a:cubicBezTo>
                  <a:pt x="744" y="285"/>
                  <a:pt x="836" y="260"/>
                  <a:pt x="602" y="276"/>
                </a:cubicBezTo>
                <a:cubicBezTo>
                  <a:pt x="465" y="322"/>
                  <a:pt x="409" y="336"/>
                  <a:pt x="254" y="348"/>
                </a:cubicBezTo>
                <a:cubicBezTo>
                  <a:pt x="218" y="360"/>
                  <a:pt x="178" y="363"/>
                  <a:pt x="146" y="384"/>
                </a:cubicBezTo>
                <a:cubicBezTo>
                  <a:pt x="99" y="415"/>
                  <a:pt x="124" y="403"/>
                  <a:pt x="74" y="420"/>
                </a:cubicBezTo>
                <a:cubicBezTo>
                  <a:pt x="54" y="416"/>
                  <a:pt x="31" y="419"/>
                  <a:pt x="14" y="408"/>
                </a:cubicBezTo>
                <a:cubicBezTo>
                  <a:pt x="3" y="401"/>
                  <a:pt x="2" y="385"/>
                  <a:pt x="2" y="372"/>
                </a:cubicBezTo>
                <a:cubicBezTo>
                  <a:pt x="2" y="234"/>
                  <a:pt x="0" y="209"/>
                  <a:pt x="86" y="132"/>
                </a:cubicBezTo>
                <a:cubicBezTo>
                  <a:pt x="111" y="109"/>
                  <a:pt x="126" y="71"/>
                  <a:pt x="158" y="60"/>
                </a:cubicBezTo>
                <a:cubicBezTo>
                  <a:pt x="251" y="29"/>
                  <a:pt x="163" y="55"/>
                  <a:pt x="362" y="36"/>
                </a:cubicBezTo>
                <a:cubicBezTo>
                  <a:pt x="462" y="26"/>
                  <a:pt x="563" y="14"/>
                  <a:pt x="662" y="0"/>
                </a:cubicBezTo>
                <a:cubicBezTo>
                  <a:pt x="714" y="6"/>
                  <a:pt x="777" y="10"/>
                  <a:pt x="830" y="24"/>
                </a:cubicBezTo>
                <a:cubicBezTo>
                  <a:pt x="854" y="31"/>
                  <a:pt x="878" y="40"/>
                  <a:pt x="902" y="48"/>
                </a:cubicBezTo>
                <a:cubicBezTo>
                  <a:pt x="914" y="52"/>
                  <a:pt x="938" y="60"/>
                  <a:pt x="938" y="60"/>
                </a:cubicBezTo>
                <a:cubicBezTo>
                  <a:pt x="988" y="135"/>
                  <a:pt x="1015" y="132"/>
                  <a:pt x="974" y="132"/>
                </a:cubicBezTo>
                <a:close/>
              </a:path>
            </a:pathLst>
          </a:custGeom>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88</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5013"/>
                                        </p:tgtEl>
                                        <p:attrNameLst>
                                          <p:attrName>style.visibility</p:attrName>
                                        </p:attrNameLst>
                                      </p:cBhvr>
                                      <p:to>
                                        <p:strVal val="visible"/>
                                      </p:to>
                                    </p:set>
                                    <p:animEffect transition="in" filter="wipe(left)">
                                      <p:cBhvr>
                                        <p:cTn id="7" dur="500"/>
                                        <p:tgtEl>
                                          <p:spTgt spid="850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4994"/>
                                        </p:tgtEl>
                                        <p:attrNameLst>
                                          <p:attrName>style.visibility</p:attrName>
                                        </p:attrNameLst>
                                      </p:cBhvr>
                                      <p:to>
                                        <p:strVal val="visible"/>
                                      </p:to>
                                    </p:set>
                                    <p:animEffect transition="in" filter="wipe(up)">
                                      <p:cBhvr>
                                        <p:cTn id="12" dur="500"/>
                                        <p:tgtEl>
                                          <p:spTgt spid="84994"/>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85004"/>
                                        </p:tgtEl>
                                        <p:attrNameLst>
                                          <p:attrName>style.visibility</p:attrName>
                                        </p:attrNameLst>
                                      </p:cBhvr>
                                      <p:to>
                                        <p:strVal val="visible"/>
                                      </p:to>
                                    </p:set>
                                    <p:animEffect transition="in" filter="wipe(up)">
                                      <p:cBhvr>
                                        <p:cTn id="16" dur="500"/>
                                        <p:tgtEl>
                                          <p:spTgt spid="85004"/>
                                        </p:tgtEl>
                                      </p:cBhvr>
                                    </p:animEffect>
                                  </p:childTnLst>
                                </p:cTn>
                              </p:par>
                            </p:childTnLst>
                          </p:cTn>
                        </p:par>
                        <p:par>
                          <p:cTn id="17" fill="hold">
                            <p:stCondLst>
                              <p:cond delay="1000"/>
                            </p:stCondLst>
                            <p:childTnLst>
                              <p:par>
                                <p:cTn id="18" presetID="22" presetClass="entr" presetSubtype="1" fill="hold" grpId="0" nodeType="afterEffect">
                                  <p:stCondLst>
                                    <p:cond delay="0"/>
                                  </p:stCondLst>
                                  <p:childTnLst>
                                    <p:set>
                                      <p:cBhvr>
                                        <p:cTn id="19" dur="1" fill="hold">
                                          <p:stCondLst>
                                            <p:cond delay="0"/>
                                          </p:stCondLst>
                                        </p:cTn>
                                        <p:tgtEl>
                                          <p:spTgt spid="84995"/>
                                        </p:tgtEl>
                                        <p:attrNameLst>
                                          <p:attrName>style.visibility</p:attrName>
                                        </p:attrNameLst>
                                      </p:cBhvr>
                                      <p:to>
                                        <p:strVal val="visible"/>
                                      </p:to>
                                    </p:set>
                                    <p:animEffect transition="in" filter="wipe(up)">
                                      <p:cBhvr>
                                        <p:cTn id="20" dur="500"/>
                                        <p:tgtEl>
                                          <p:spTgt spid="84995"/>
                                        </p:tgtEl>
                                      </p:cBhvr>
                                    </p:animEffect>
                                  </p:childTnLst>
                                </p:cTn>
                              </p:par>
                            </p:childTnLst>
                          </p:cTn>
                        </p:par>
                        <p:par>
                          <p:cTn id="21" fill="hold">
                            <p:stCondLst>
                              <p:cond delay="1500"/>
                            </p:stCondLst>
                            <p:childTnLst>
                              <p:par>
                                <p:cTn id="22" presetID="22" presetClass="entr" presetSubtype="1" fill="hold" grpId="0" nodeType="afterEffect">
                                  <p:stCondLst>
                                    <p:cond delay="0"/>
                                  </p:stCondLst>
                                  <p:childTnLst>
                                    <p:set>
                                      <p:cBhvr>
                                        <p:cTn id="23" dur="1" fill="hold">
                                          <p:stCondLst>
                                            <p:cond delay="0"/>
                                          </p:stCondLst>
                                        </p:cTn>
                                        <p:tgtEl>
                                          <p:spTgt spid="85005"/>
                                        </p:tgtEl>
                                        <p:attrNameLst>
                                          <p:attrName>style.visibility</p:attrName>
                                        </p:attrNameLst>
                                      </p:cBhvr>
                                      <p:to>
                                        <p:strVal val="visible"/>
                                      </p:to>
                                    </p:set>
                                    <p:animEffect transition="in" filter="wipe(up)">
                                      <p:cBhvr>
                                        <p:cTn id="24" dur="500"/>
                                        <p:tgtEl>
                                          <p:spTgt spid="85005"/>
                                        </p:tgtEl>
                                      </p:cBhvr>
                                    </p:animEffect>
                                  </p:childTnLst>
                                </p:cTn>
                              </p:par>
                            </p:childTnLst>
                          </p:cTn>
                        </p:par>
                        <p:par>
                          <p:cTn id="25" fill="hold">
                            <p:stCondLst>
                              <p:cond delay="2000"/>
                            </p:stCondLst>
                            <p:childTnLst>
                              <p:par>
                                <p:cTn id="26" presetID="22" presetClass="entr" presetSubtype="1" fill="hold" grpId="0" nodeType="afterEffect">
                                  <p:stCondLst>
                                    <p:cond delay="0"/>
                                  </p:stCondLst>
                                  <p:childTnLst>
                                    <p:set>
                                      <p:cBhvr>
                                        <p:cTn id="27" dur="1" fill="hold">
                                          <p:stCondLst>
                                            <p:cond delay="0"/>
                                          </p:stCondLst>
                                        </p:cTn>
                                        <p:tgtEl>
                                          <p:spTgt spid="84996"/>
                                        </p:tgtEl>
                                        <p:attrNameLst>
                                          <p:attrName>style.visibility</p:attrName>
                                        </p:attrNameLst>
                                      </p:cBhvr>
                                      <p:to>
                                        <p:strVal val="visible"/>
                                      </p:to>
                                    </p:set>
                                    <p:animEffect transition="in" filter="wipe(up)">
                                      <p:cBhvr>
                                        <p:cTn id="28" dur="500"/>
                                        <p:tgtEl>
                                          <p:spTgt spid="84996"/>
                                        </p:tgtEl>
                                      </p:cBhvr>
                                    </p:animEffect>
                                  </p:childTnLst>
                                </p:cTn>
                              </p:par>
                            </p:childTnLst>
                          </p:cTn>
                        </p:par>
                        <p:par>
                          <p:cTn id="29" fill="hold">
                            <p:stCondLst>
                              <p:cond delay="2500"/>
                            </p:stCondLst>
                            <p:childTnLst>
                              <p:par>
                                <p:cTn id="30" presetID="22" presetClass="entr" presetSubtype="1" fill="hold" grpId="0" nodeType="afterEffect">
                                  <p:stCondLst>
                                    <p:cond delay="0"/>
                                  </p:stCondLst>
                                  <p:childTnLst>
                                    <p:set>
                                      <p:cBhvr>
                                        <p:cTn id="31" dur="1" fill="hold">
                                          <p:stCondLst>
                                            <p:cond delay="0"/>
                                          </p:stCondLst>
                                        </p:cTn>
                                        <p:tgtEl>
                                          <p:spTgt spid="85006"/>
                                        </p:tgtEl>
                                        <p:attrNameLst>
                                          <p:attrName>style.visibility</p:attrName>
                                        </p:attrNameLst>
                                      </p:cBhvr>
                                      <p:to>
                                        <p:strVal val="visible"/>
                                      </p:to>
                                    </p:set>
                                    <p:animEffect transition="in" filter="wipe(up)">
                                      <p:cBhvr>
                                        <p:cTn id="32" dur="500"/>
                                        <p:tgtEl>
                                          <p:spTgt spid="85006"/>
                                        </p:tgtEl>
                                      </p:cBhvr>
                                    </p:animEffect>
                                  </p:childTnLst>
                                </p:cTn>
                              </p:par>
                            </p:childTnLst>
                          </p:cTn>
                        </p:par>
                        <p:par>
                          <p:cTn id="33" fill="hold">
                            <p:stCondLst>
                              <p:cond delay="3000"/>
                            </p:stCondLst>
                            <p:childTnLst>
                              <p:par>
                                <p:cTn id="34" presetID="22" presetClass="entr" presetSubtype="1" fill="hold" grpId="0" nodeType="afterEffect">
                                  <p:stCondLst>
                                    <p:cond delay="0"/>
                                  </p:stCondLst>
                                  <p:childTnLst>
                                    <p:set>
                                      <p:cBhvr>
                                        <p:cTn id="35" dur="1" fill="hold">
                                          <p:stCondLst>
                                            <p:cond delay="0"/>
                                          </p:stCondLst>
                                        </p:cTn>
                                        <p:tgtEl>
                                          <p:spTgt spid="84997"/>
                                        </p:tgtEl>
                                        <p:attrNameLst>
                                          <p:attrName>style.visibility</p:attrName>
                                        </p:attrNameLst>
                                      </p:cBhvr>
                                      <p:to>
                                        <p:strVal val="visible"/>
                                      </p:to>
                                    </p:set>
                                    <p:animEffect transition="in" filter="wipe(up)">
                                      <p:cBhvr>
                                        <p:cTn id="36" dur="500"/>
                                        <p:tgtEl>
                                          <p:spTgt spid="84997"/>
                                        </p:tgtEl>
                                      </p:cBhvr>
                                    </p:animEffect>
                                  </p:childTnLst>
                                </p:cTn>
                              </p:par>
                            </p:childTnLst>
                          </p:cTn>
                        </p:par>
                        <p:par>
                          <p:cTn id="37" fill="hold">
                            <p:stCondLst>
                              <p:cond delay="3500"/>
                            </p:stCondLst>
                            <p:childTnLst>
                              <p:par>
                                <p:cTn id="38" presetID="22" presetClass="entr" presetSubtype="1" fill="hold" grpId="0" nodeType="afterEffect">
                                  <p:stCondLst>
                                    <p:cond delay="0"/>
                                  </p:stCondLst>
                                  <p:childTnLst>
                                    <p:set>
                                      <p:cBhvr>
                                        <p:cTn id="39" dur="1" fill="hold">
                                          <p:stCondLst>
                                            <p:cond delay="0"/>
                                          </p:stCondLst>
                                        </p:cTn>
                                        <p:tgtEl>
                                          <p:spTgt spid="85007"/>
                                        </p:tgtEl>
                                        <p:attrNameLst>
                                          <p:attrName>style.visibility</p:attrName>
                                        </p:attrNameLst>
                                      </p:cBhvr>
                                      <p:to>
                                        <p:strVal val="visible"/>
                                      </p:to>
                                    </p:set>
                                    <p:animEffect transition="in" filter="wipe(up)">
                                      <p:cBhvr>
                                        <p:cTn id="40" dur="500"/>
                                        <p:tgtEl>
                                          <p:spTgt spid="85007"/>
                                        </p:tgtEl>
                                      </p:cBhvr>
                                    </p:animEffect>
                                  </p:childTnLst>
                                </p:cTn>
                              </p:par>
                            </p:childTnLst>
                          </p:cTn>
                        </p:par>
                        <p:par>
                          <p:cTn id="41" fill="hold">
                            <p:stCondLst>
                              <p:cond delay="4000"/>
                            </p:stCondLst>
                            <p:childTnLst>
                              <p:par>
                                <p:cTn id="42" presetID="22" presetClass="entr" presetSubtype="1" fill="hold" grpId="0" nodeType="afterEffect">
                                  <p:stCondLst>
                                    <p:cond delay="0"/>
                                  </p:stCondLst>
                                  <p:childTnLst>
                                    <p:set>
                                      <p:cBhvr>
                                        <p:cTn id="43" dur="1" fill="hold">
                                          <p:stCondLst>
                                            <p:cond delay="0"/>
                                          </p:stCondLst>
                                        </p:cTn>
                                        <p:tgtEl>
                                          <p:spTgt spid="85001"/>
                                        </p:tgtEl>
                                        <p:attrNameLst>
                                          <p:attrName>style.visibility</p:attrName>
                                        </p:attrNameLst>
                                      </p:cBhvr>
                                      <p:to>
                                        <p:strVal val="visible"/>
                                      </p:to>
                                    </p:set>
                                    <p:animEffect transition="in" filter="wipe(up)">
                                      <p:cBhvr>
                                        <p:cTn id="44" dur="500"/>
                                        <p:tgtEl>
                                          <p:spTgt spid="85001"/>
                                        </p:tgtEl>
                                      </p:cBhvr>
                                    </p:animEffect>
                                  </p:childTnLst>
                                </p:cTn>
                              </p:par>
                            </p:childTnLst>
                          </p:cTn>
                        </p:par>
                        <p:par>
                          <p:cTn id="45" fill="hold">
                            <p:stCondLst>
                              <p:cond delay="4500"/>
                            </p:stCondLst>
                            <p:childTnLst>
                              <p:par>
                                <p:cTn id="46" presetID="22" presetClass="entr" presetSubtype="1" fill="hold" grpId="0" nodeType="afterEffect">
                                  <p:stCondLst>
                                    <p:cond delay="0"/>
                                  </p:stCondLst>
                                  <p:childTnLst>
                                    <p:set>
                                      <p:cBhvr>
                                        <p:cTn id="47" dur="1" fill="hold">
                                          <p:stCondLst>
                                            <p:cond delay="0"/>
                                          </p:stCondLst>
                                        </p:cTn>
                                        <p:tgtEl>
                                          <p:spTgt spid="85008"/>
                                        </p:tgtEl>
                                        <p:attrNameLst>
                                          <p:attrName>style.visibility</p:attrName>
                                        </p:attrNameLst>
                                      </p:cBhvr>
                                      <p:to>
                                        <p:strVal val="visible"/>
                                      </p:to>
                                    </p:set>
                                    <p:animEffect transition="in" filter="wipe(up)">
                                      <p:cBhvr>
                                        <p:cTn id="48" dur="500"/>
                                        <p:tgtEl>
                                          <p:spTgt spid="85008"/>
                                        </p:tgtEl>
                                      </p:cBhvr>
                                    </p:animEffect>
                                  </p:childTnLst>
                                </p:cTn>
                              </p:par>
                            </p:childTnLst>
                          </p:cTn>
                        </p:par>
                        <p:par>
                          <p:cTn id="49" fill="hold">
                            <p:stCondLst>
                              <p:cond delay="5000"/>
                            </p:stCondLst>
                            <p:childTnLst>
                              <p:par>
                                <p:cTn id="50" presetID="22" presetClass="entr" presetSubtype="1" fill="hold" grpId="0" nodeType="afterEffect">
                                  <p:stCondLst>
                                    <p:cond delay="0"/>
                                  </p:stCondLst>
                                  <p:childTnLst>
                                    <p:set>
                                      <p:cBhvr>
                                        <p:cTn id="51" dur="1" fill="hold">
                                          <p:stCondLst>
                                            <p:cond delay="0"/>
                                          </p:stCondLst>
                                        </p:cTn>
                                        <p:tgtEl>
                                          <p:spTgt spid="85002"/>
                                        </p:tgtEl>
                                        <p:attrNameLst>
                                          <p:attrName>style.visibility</p:attrName>
                                        </p:attrNameLst>
                                      </p:cBhvr>
                                      <p:to>
                                        <p:strVal val="visible"/>
                                      </p:to>
                                    </p:set>
                                    <p:animEffect transition="in" filter="wipe(up)">
                                      <p:cBhvr>
                                        <p:cTn id="52" dur="500"/>
                                        <p:tgtEl>
                                          <p:spTgt spid="85002"/>
                                        </p:tgtEl>
                                      </p:cBhvr>
                                    </p:animEffect>
                                  </p:childTnLst>
                                </p:cTn>
                              </p:par>
                            </p:childTnLst>
                          </p:cTn>
                        </p:par>
                        <p:par>
                          <p:cTn id="53" fill="hold">
                            <p:stCondLst>
                              <p:cond delay="5500"/>
                            </p:stCondLst>
                            <p:childTnLst>
                              <p:par>
                                <p:cTn id="54" presetID="22" presetClass="entr" presetSubtype="1" fill="hold" grpId="0" nodeType="afterEffect">
                                  <p:stCondLst>
                                    <p:cond delay="0"/>
                                  </p:stCondLst>
                                  <p:childTnLst>
                                    <p:set>
                                      <p:cBhvr>
                                        <p:cTn id="55" dur="1" fill="hold">
                                          <p:stCondLst>
                                            <p:cond delay="0"/>
                                          </p:stCondLst>
                                        </p:cTn>
                                        <p:tgtEl>
                                          <p:spTgt spid="85009"/>
                                        </p:tgtEl>
                                        <p:attrNameLst>
                                          <p:attrName>style.visibility</p:attrName>
                                        </p:attrNameLst>
                                      </p:cBhvr>
                                      <p:to>
                                        <p:strVal val="visible"/>
                                      </p:to>
                                    </p:set>
                                    <p:animEffect transition="in" filter="wipe(up)">
                                      <p:cBhvr>
                                        <p:cTn id="56" dur="500"/>
                                        <p:tgtEl>
                                          <p:spTgt spid="85009"/>
                                        </p:tgtEl>
                                      </p:cBhvr>
                                    </p:animEffect>
                                  </p:childTnLst>
                                </p:cTn>
                              </p:par>
                            </p:childTnLst>
                          </p:cTn>
                        </p:par>
                        <p:par>
                          <p:cTn id="57" fill="hold">
                            <p:stCondLst>
                              <p:cond delay="6000"/>
                            </p:stCondLst>
                            <p:childTnLst>
                              <p:par>
                                <p:cTn id="58" presetID="22" presetClass="entr" presetSubtype="1" fill="hold" grpId="0" nodeType="afterEffect">
                                  <p:stCondLst>
                                    <p:cond delay="0"/>
                                  </p:stCondLst>
                                  <p:childTnLst>
                                    <p:set>
                                      <p:cBhvr>
                                        <p:cTn id="59" dur="1" fill="hold">
                                          <p:stCondLst>
                                            <p:cond delay="0"/>
                                          </p:stCondLst>
                                        </p:cTn>
                                        <p:tgtEl>
                                          <p:spTgt spid="85003"/>
                                        </p:tgtEl>
                                        <p:attrNameLst>
                                          <p:attrName>style.visibility</p:attrName>
                                        </p:attrNameLst>
                                      </p:cBhvr>
                                      <p:to>
                                        <p:strVal val="visible"/>
                                      </p:to>
                                    </p:set>
                                    <p:animEffect transition="in" filter="wipe(up)">
                                      <p:cBhvr>
                                        <p:cTn id="60" dur="500"/>
                                        <p:tgtEl>
                                          <p:spTgt spid="85003"/>
                                        </p:tgtEl>
                                      </p:cBhvr>
                                    </p:animEffect>
                                  </p:childTnLst>
                                </p:cTn>
                              </p:par>
                            </p:childTnLst>
                          </p:cTn>
                        </p:par>
                        <p:par>
                          <p:cTn id="61" fill="hold">
                            <p:stCondLst>
                              <p:cond delay="6500"/>
                            </p:stCondLst>
                            <p:childTnLst>
                              <p:par>
                                <p:cTn id="62" presetID="22" presetClass="entr" presetSubtype="1" fill="hold" grpId="0" nodeType="afterEffect">
                                  <p:stCondLst>
                                    <p:cond delay="0"/>
                                  </p:stCondLst>
                                  <p:childTnLst>
                                    <p:set>
                                      <p:cBhvr>
                                        <p:cTn id="63" dur="1" fill="hold">
                                          <p:stCondLst>
                                            <p:cond delay="0"/>
                                          </p:stCondLst>
                                        </p:cTn>
                                        <p:tgtEl>
                                          <p:spTgt spid="85010"/>
                                        </p:tgtEl>
                                        <p:attrNameLst>
                                          <p:attrName>style.visibility</p:attrName>
                                        </p:attrNameLst>
                                      </p:cBhvr>
                                      <p:to>
                                        <p:strVal val="visible"/>
                                      </p:to>
                                    </p:set>
                                    <p:animEffect transition="in" filter="wipe(up)">
                                      <p:cBhvr>
                                        <p:cTn id="64" dur="500"/>
                                        <p:tgtEl>
                                          <p:spTgt spid="85010"/>
                                        </p:tgtEl>
                                      </p:cBhvr>
                                    </p:animEffect>
                                  </p:childTnLst>
                                </p:cTn>
                              </p:par>
                            </p:childTnLst>
                          </p:cTn>
                        </p:par>
                        <p:par>
                          <p:cTn id="65" fill="hold">
                            <p:stCondLst>
                              <p:cond delay="7000"/>
                            </p:stCondLst>
                            <p:childTnLst>
                              <p:par>
                                <p:cTn id="66" presetID="22" presetClass="entr" presetSubtype="1" fill="hold" grpId="0" nodeType="afterEffect">
                                  <p:stCondLst>
                                    <p:cond delay="0"/>
                                  </p:stCondLst>
                                  <p:childTnLst>
                                    <p:set>
                                      <p:cBhvr>
                                        <p:cTn id="67" dur="1" fill="hold">
                                          <p:stCondLst>
                                            <p:cond delay="0"/>
                                          </p:stCondLst>
                                        </p:cTn>
                                        <p:tgtEl>
                                          <p:spTgt spid="84998"/>
                                        </p:tgtEl>
                                        <p:attrNameLst>
                                          <p:attrName>style.visibility</p:attrName>
                                        </p:attrNameLst>
                                      </p:cBhvr>
                                      <p:to>
                                        <p:strVal val="visible"/>
                                      </p:to>
                                    </p:set>
                                    <p:animEffect transition="in" filter="wipe(up)">
                                      <p:cBhvr>
                                        <p:cTn id="68" dur="500"/>
                                        <p:tgtEl>
                                          <p:spTgt spid="84998"/>
                                        </p:tgtEl>
                                      </p:cBhvr>
                                    </p:animEffect>
                                  </p:childTnLst>
                                </p:cTn>
                              </p:par>
                            </p:childTnLst>
                          </p:cTn>
                        </p:par>
                        <p:par>
                          <p:cTn id="69" fill="hold">
                            <p:stCondLst>
                              <p:cond delay="7500"/>
                            </p:stCondLst>
                            <p:childTnLst>
                              <p:par>
                                <p:cTn id="70" presetID="22" presetClass="entr" presetSubtype="1" fill="hold" grpId="0" nodeType="afterEffect">
                                  <p:stCondLst>
                                    <p:cond delay="0"/>
                                  </p:stCondLst>
                                  <p:childTnLst>
                                    <p:set>
                                      <p:cBhvr>
                                        <p:cTn id="71" dur="1" fill="hold">
                                          <p:stCondLst>
                                            <p:cond delay="0"/>
                                          </p:stCondLst>
                                        </p:cTn>
                                        <p:tgtEl>
                                          <p:spTgt spid="85011"/>
                                        </p:tgtEl>
                                        <p:attrNameLst>
                                          <p:attrName>style.visibility</p:attrName>
                                        </p:attrNameLst>
                                      </p:cBhvr>
                                      <p:to>
                                        <p:strVal val="visible"/>
                                      </p:to>
                                    </p:set>
                                    <p:animEffect transition="in" filter="wipe(up)">
                                      <p:cBhvr>
                                        <p:cTn id="72" dur="500"/>
                                        <p:tgtEl>
                                          <p:spTgt spid="85011"/>
                                        </p:tgtEl>
                                      </p:cBhvr>
                                    </p:animEffect>
                                  </p:childTnLst>
                                </p:cTn>
                              </p:par>
                            </p:childTnLst>
                          </p:cTn>
                        </p:par>
                        <p:par>
                          <p:cTn id="73" fill="hold">
                            <p:stCondLst>
                              <p:cond delay="8000"/>
                            </p:stCondLst>
                            <p:childTnLst>
                              <p:par>
                                <p:cTn id="74" presetID="22" presetClass="entr" presetSubtype="1" fill="hold" grpId="0" nodeType="afterEffect">
                                  <p:stCondLst>
                                    <p:cond delay="0"/>
                                  </p:stCondLst>
                                  <p:childTnLst>
                                    <p:set>
                                      <p:cBhvr>
                                        <p:cTn id="75" dur="1" fill="hold">
                                          <p:stCondLst>
                                            <p:cond delay="0"/>
                                          </p:stCondLst>
                                        </p:cTn>
                                        <p:tgtEl>
                                          <p:spTgt spid="84999"/>
                                        </p:tgtEl>
                                        <p:attrNameLst>
                                          <p:attrName>style.visibility</p:attrName>
                                        </p:attrNameLst>
                                      </p:cBhvr>
                                      <p:to>
                                        <p:strVal val="visible"/>
                                      </p:to>
                                    </p:set>
                                    <p:animEffect transition="in" filter="wipe(up)">
                                      <p:cBhvr>
                                        <p:cTn id="76" dur="500"/>
                                        <p:tgtEl>
                                          <p:spTgt spid="84999"/>
                                        </p:tgtEl>
                                      </p:cBhvr>
                                    </p:animEffect>
                                  </p:childTnLst>
                                </p:cTn>
                              </p:par>
                            </p:childTnLst>
                          </p:cTn>
                        </p:par>
                        <p:par>
                          <p:cTn id="77" fill="hold">
                            <p:stCondLst>
                              <p:cond delay="8500"/>
                            </p:stCondLst>
                            <p:childTnLst>
                              <p:par>
                                <p:cTn id="78" presetID="22" presetClass="entr" presetSubtype="1" fill="hold" grpId="0" nodeType="afterEffect">
                                  <p:stCondLst>
                                    <p:cond delay="0"/>
                                  </p:stCondLst>
                                  <p:childTnLst>
                                    <p:set>
                                      <p:cBhvr>
                                        <p:cTn id="79" dur="1" fill="hold">
                                          <p:stCondLst>
                                            <p:cond delay="0"/>
                                          </p:stCondLst>
                                        </p:cTn>
                                        <p:tgtEl>
                                          <p:spTgt spid="85012"/>
                                        </p:tgtEl>
                                        <p:attrNameLst>
                                          <p:attrName>style.visibility</p:attrName>
                                        </p:attrNameLst>
                                      </p:cBhvr>
                                      <p:to>
                                        <p:strVal val="visible"/>
                                      </p:to>
                                    </p:set>
                                    <p:animEffect transition="in" filter="wipe(up)">
                                      <p:cBhvr>
                                        <p:cTn id="80" dur="500"/>
                                        <p:tgtEl>
                                          <p:spTgt spid="85012"/>
                                        </p:tgtEl>
                                      </p:cBhvr>
                                    </p:animEffect>
                                  </p:childTnLst>
                                </p:cTn>
                              </p:par>
                            </p:childTnLst>
                          </p:cTn>
                        </p:par>
                        <p:par>
                          <p:cTn id="81" fill="hold">
                            <p:stCondLst>
                              <p:cond delay="9000"/>
                            </p:stCondLst>
                            <p:childTnLst>
                              <p:par>
                                <p:cTn id="82" presetID="22" presetClass="entr" presetSubtype="1" fill="hold" grpId="0" nodeType="afterEffect">
                                  <p:stCondLst>
                                    <p:cond delay="0"/>
                                  </p:stCondLst>
                                  <p:childTnLst>
                                    <p:set>
                                      <p:cBhvr>
                                        <p:cTn id="83" dur="1" fill="hold">
                                          <p:stCondLst>
                                            <p:cond delay="0"/>
                                          </p:stCondLst>
                                        </p:cTn>
                                        <p:tgtEl>
                                          <p:spTgt spid="85000"/>
                                        </p:tgtEl>
                                        <p:attrNameLst>
                                          <p:attrName>style.visibility</p:attrName>
                                        </p:attrNameLst>
                                      </p:cBhvr>
                                      <p:to>
                                        <p:strVal val="visible"/>
                                      </p:to>
                                    </p:set>
                                    <p:animEffect transition="in" filter="wipe(up)">
                                      <p:cBhvr>
                                        <p:cTn id="84" dur="500"/>
                                        <p:tgtEl>
                                          <p:spTgt spid="85000"/>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iterate type="wd">
                                    <p:tmPct val="100000"/>
                                  </p:iterate>
                                  <p:childTnLst>
                                    <p:set>
                                      <p:cBhvr>
                                        <p:cTn id="88" dur="1" fill="hold">
                                          <p:stCondLst>
                                            <p:cond delay="0"/>
                                          </p:stCondLst>
                                        </p:cTn>
                                        <p:tgtEl>
                                          <p:spTgt spid="85014"/>
                                        </p:tgtEl>
                                        <p:attrNameLst>
                                          <p:attrName>style.visibility</p:attrName>
                                        </p:attrNameLst>
                                      </p:cBhvr>
                                      <p:to>
                                        <p:strVal val="visible"/>
                                      </p:to>
                                    </p:set>
                                    <p:animEffect transition="in" filter="wipe(left)">
                                      <p:cBhvr>
                                        <p:cTn id="89" dur="300"/>
                                        <p:tgtEl>
                                          <p:spTgt spid="85014"/>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grpId="0" nodeType="clickEffect">
                                  <p:stCondLst>
                                    <p:cond delay="0"/>
                                  </p:stCondLst>
                                  <p:iterate type="wd">
                                    <p:tmPct val="100000"/>
                                  </p:iterate>
                                  <p:childTnLst>
                                    <p:set>
                                      <p:cBhvr>
                                        <p:cTn id="93" dur="1" fill="hold">
                                          <p:stCondLst>
                                            <p:cond delay="0"/>
                                          </p:stCondLst>
                                        </p:cTn>
                                        <p:tgtEl>
                                          <p:spTgt spid="85016"/>
                                        </p:tgtEl>
                                        <p:attrNameLst>
                                          <p:attrName>style.visibility</p:attrName>
                                        </p:attrNameLst>
                                      </p:cBhvr>
                                      <p:to>
                                        <p:strVal val="visible"/>
                                      </p:to>
                                    </p:set>
                                    <p:animEffect transition="in" filter="wipe(left)">
                                      <p:cBhvr>
                                        <p:cTn id="94" dur="300"/>
                                        <p:tgtEl>
                                          <p:spTgt spid="85016"/>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85015"/>
                                        </p:tgtEl>
                                        <p:attrNameLst>
                                          <p:attrName>style.visibility</p:attrName>
                                        </p:attrNameLst>
                                      </p:cBhvr>
                                      <p:to>
                                        <p:strVal val="visible"/>
                                      </p:to>
                                    </p:set>
                                    <p:animEffect transition="in" filter="wipe(left)">
                                      <p:cBhvr>
                                        <p:cTn id="99" dur="500"/>
                                        <p:tgtEl>
                                          <p:spTgt spid="85015"/>
                                        </p:tgtEl>
                                      </p:cBhvr>
                                    </p:animEffect>
                                  </p:childTnLst>
                                </p:cTn>
                              </p:par>
                            </p:childTnLst>
                          </p:cTn>
                        </p:par>
                        <p:par>
                          <p:cTn id="100" fill="hold">
                            <p:stCondLst>
                              <p:cond delay="500"/>
                            </p:stCondLst>
                            <p:childTnLst>
                              <p:par>
                                <p:cTn id="101" presetID="22" presetClass="entr" presetSubtype="8" fill="hold" grpId="0" nodeType="afterEffect">
                                  <p:stCondLst>
                                    <p:cond delay="0"/>
                                  </p:stCondLst>
                                  <p:childTnLst>
                                    <p:set>
                                      <p:cBhvr>
                                        <p:cTn id="102" dur="1" fill="hold">
                                          <p:stCondLst>
                                            <p:cond delay="0"/>
                                          </p:stCondLst>
                                        </p:cTn>
                                        <p:tgtEl>
                                          <p:spTgt spid="85018"/>
                                        </p:tgtEl>
                                        <p:attrNameLst>
                                          <p:attrName>style.visibility</p:attrName>
                                        </p:attrNameLst>
                                      </p:cBhvr>
                                      <p:to>
                                        <p:strVal val="visible"/>
                                      </p:to>
                                    </p:set>
                                    <p:animEffect transition="in" filter="wipe(left)">
                                      <p:cBhvr>
                                        <p:cTn id="103" dur="500"/>
                                        <p:tgtEl>
                                          <p:spTgt spid="85018"/>
                                        </p:tgtEl>
                                      </p:cBhvr>
                                    </p:animEffect>
                                  </p:childTnLst>
                                </p:cTn>
                              </p:par>
                            </p:childTnLst>
                          </p:cTn>
                        </p:par>
                        <p:par>
                          <p:cTn id="104" fill="hold">
                            <p:stCondLst>
                              <p:cond delay="1000"/>
                            </p:stCondLst>
                            <p:childTnLst>
                              <p:par>
                                <p:cTn id="105" presetID="22" presetClass="entr" presetSubtype="1" fill="hold" grpId="0" nodeType="afterEffect">
                                  <p:stCondLst>
                                    <p:cond delay="0"/>
                                  </p:stCondLst>
                                  <p:childTnLst>
                                    <p:set>
                                      <p:cBhvr>
                                        <p:cTn id="106" dur="1" fill="hold">
                                          <p:stCondLst>
                                            <p:cond delay="0"/>
                                          </p:stCondLst>
                                        </p:cTn>
                                        <p:tgtEl>
                                          <p:spTgt spid="85019"/>
                                        </p:tgtEl>
                                        <p:attrNameLst>
                                          <p:attrName>style.visibility</p:attrName>
                                        </p:attrNameLst>
                                      </p:cBhvr>
                                      <p:to>
                                        <p:strVal val="visible"/>
                                      </p:to>
                                    </p:set>
                                    <p:animEffect transition="in" filter="wipe(up)">
                                      <p:cBhvr>
                                        <p:cTn id="107" dur="500"/>
                                        <p:tgtEl>
                                          <p:spTgt spid="85019"/>
                                        </p:tgtEl>
                                      </p:cBhvr>
                                    </p:animEffect>
                                  </p:childTnLst>
                                </p:cTn>
                              </p:par>
                            </p:childTnLst>
                          </p:cTn>
                        </p:par>
                        <p:par>
                          <p:cTn id="108" fill="hold">
                            <p:stCondLst>
                              <p:cond delay="1500"/>
                            </p:stCondLst>
                            <p:childTnLst>
                              <p:par>
                                <p:cTn id="109" presetID="22" presetClass="entr" presetSubtype="1" fill="hold" grpId="0" nodeType="afterEffect">
                                  <p:stCondLst>
                                    <p:cond delay="0"/>
                                  </p:stCondLst>
                                  <p:childTnLst>
                                    <p:set>
                                      <p:cBhvr>
                                        <p:cTn id="110" dur="1" fill="hold">
                                          <p:stCondLst>
                                            <p:cond delay="0"/>
                                          </p:stCondLst>
                                        </p:cTn>
                                        <p:tgtEl>
                                          <p:spTgt spid="85034"/>
                                        </p:tgtEl>
                                        <p:attrNameLst>
                                          <p:attrName>style.visibility</p:attrName>
                                        </p:attrNameLst>
                                      </p:cBhvr>
                                      <p:to>
                                        <p:strVal val="visible"/>
                                      </p:to>
                                    </p:set>
                                    <p:animEffect transition="in" filter="wipe(up)">
                                      <p:cBhvr>
                                        <p:cTn id="111" dur="500"/>
                                        <p:tgtEl>
                                          <p:spTgt spid="85034"/>
                                        </p:tgtEl>
                                      </p:cBhvr>
                                    </p:animEffect>
                                  </p:childTnLst>
                                </p:cTn>
                              </p:par>
                            </p:childTnLst>
                          </p:cTn>
                        </p:par>
                      </p:childTnLst>
                    </p:cTn>
                  </p:par>
                  <p:par>
                    <p:cTn id="112" fill="hold">
                      <p:stCondLst>
                        <p:cond delay="indefinite"/>
                      </p:stCondLst>
                      <p:childTnLst>
                        <p:par>
                          <p:cTn id="113" fill="hold">
                            <p:stCondLst>
                              <p:cond delay="0"/>
                            </p:stCondLst>
                            <p:childTnLst>
                              <p:par>
                                <p:cTn id="114" presetID="22" presetClass="entr" presetSubtype="8" fill="hold" grpId="0" nodeType="clickEffect">
                                  <p:stCondLst>
                                    <p:cond delay="0"/>
                                  </p:stCondLst>
                                  <p:childTnLst>
                                    <p:set>
                                      <p:cBhvr>
                                        <p:cTn id="115" dur="1" fill="hold">
                                          <p:stCondLst>
                                            <p:cond delay="0"/>
                                          </p:stCondLst>
                                        </p:cTn>
                                        <p:tgtEl>
                                          <p:spTgt spid="85017"/>
                                        </p:tgtEl>
                                        <p:attrNameLst>
                                          <p:attrName>style.visibility</p:attrName>
                                        </p:attrNameLst>
                                      </p:cBhvr>
                                      <p:to>
                                        <p:strVal val="visible"/>
                                      </p:to>
                                    </p:set>
                                    <p:animEffect transition="in" filter="wipe(left)">
                                      <p:cBhvr>
                                        <p:cTn id="116" dur="500"/>
                                        <p:tgtEl>
                                          <p:spTgt spid="85017"/>
                                        </p:tgtEl>
                                      </p:cBhvr>
                                    </p:animEffect>
                                  </p:childTnLst>
                                </p:cTn>
                              </p:par>
                            </p:childTnLst>
                          </p:cTn>
                        </p:par>
                      </p:childTnLst>
                    </p:cTn>
                  </p:par>
                  <p:par>
                    <p:cTn id="117" fill="hold">
                      <p:stCondLst>
                        <p:cond delay="indefinite"/>
                      </p:stCondLst>
                      <p:childTnLst>
                        <p:par>
                          <p:cTn id="118" fill="hold">
                            <p:stCondLst>
                              <p:cond delay="0"/>
                            </p:stCondLst>
                            <p:childTnLst>
                              <p:par>
                                <p:cTn id="119" presetID="22" presetClass="entr" presetSubtype="8" fill="hold" grpId="0" nodeType="clickEffect">
                                  <p:stCondLst>
                                    <p:cond delay="0"/>
                                  </p:stCondLst>
                                  <p:childTnLst>
                                    <p:set>
                                      <p:cBhvr>
                                        <p:cTn id="120" dur="1" fill="hold">
                                          <p:stCondLst>
                                            <p:cond delay="0"/>
                                          </p:stCondLst>
                                        </p:cTn>
                                        <p:tgtEl>
                                          <p:spTgt spid="85020"/>
                                        </p:tgtEl>
                                        <p:attrNameLst>
                                          <p:attrName>style.visibility</p:attrName>
                                        </p:attrNameLst>
                                      </p:cBhvr>
                                      <p:to>
                                        <p:strVal val="visible"/>
                                      </p:to>
                                    </p:set>
                                    <p:animEffect transition="in" filter="wipe(left)">
                                      <p:cBhvr>
                                        <p:cTn id="121" dur="500"/>
                                        <p:tgtEl>
                                          <p:spTgt spid="85020"/>
                                        </p:tgtEl>
                                      </p:cBhvr>
                                    </p:animEffect>
                                  </p:childTnLst>
                                </p:cTn>
                              </p:par>
                            </p:childTnLst>
                          </p:cTn>
                        </p:par>
                        <p:par>
                          <p:cTn id="122" fill="hold">
                            <p:stCondLst>
                              <p:cond delay="500"/>
                            </p:stCondLst>
                            <p:childTnLst>
                              <p:par>
                                <p:cTn id="123" presetID="22" presetClass="entr" presetSubtype="8" fill="hold" grpId="0" nodeType="afterEffect">
                                  <p:stCondLst>
                                    <p:cond delay="0"/>
                                  </p:stCondLst>
                                  <p:childTnLst>
                                    <p:set>
                                      <p:cBhvr>
                                        <p:cTn id="124" dur="1" fill="hold">
                                          <p:stCondLst>
                                            <p:cond delay="0"/>
                                          </p:stCondLst>
                                        </p:cTn>
                                        <p:tgtEl>
                                          <p:spTgt spid="85035"/>
                                        </p:tgtEl>
                                        <p:attrNameLst>
                                          <p:attrName>style.visibility</p:attrName>
                                        </p:attrNameLst>
                                      </p:cBhvr>
                                      <p:to>
                                        <p:strVal val="visible"/>
                                      </p:to>
                                    </p:set>
                                    <p:animEffect transition="in" filter="wipe(left)">
                                      <p:cBhvr>
                                        <p:cTn id="125" dur="500"/>
                                        <p:tgtEl>
                                          <p:spTgt spid="85035"/>
                                        </p:tgtEl>
                                      </p:cBhvr>
                                    </p:animEffect>
                                  </p:childTnLst>
                                </p:cTn>
                              </p:par>
                            </p:childTnLst>
                          </p:cTn>
                        </p:par>
                      </p:childTnLst>
                    </p:cTn>
                  </p:par>
                  <p:par>
                    <p:cTn id="126" fill="hold">
                      <p:stCondLst>
                        <p:cond delay="indefinite"/>
                      </p:stCondLst>
                      <p:childTnLst>
                        <p:par>
                          <p:cTn id="127" fill="hold">
                            <p:stCondLst>
                              <p:cond delay="0"/>
                            </p:stCondLst>
                            <p:childTnLst>
                              <p:par>
                                <p:cTn id="128" presetID="22" presetClass="entr" presetSubtype="8" fill="hold" grpId="0" nodeType="clickEffect">
                                  <p:stCondLst>
                                    <p:cond delay="0"/>
                                  </p:stCondLst>
                                  <p:childTnLst>
                                    <p:set>
                                      <p:cBhvr>
                                        <p:cTn id="129" dur="1" fill="hold">
                                          <p:stCondLst>
                                            <p:cond delay="0"/>
                                          </p:stCondLst>
                                        </p:cTn>
                                        <p:tgtEl>
                                          <p:spTgt spid="85021"/>
                                        </p:tgtEl>
                                        <p:attrNameLst>
                                          <p:attrName>style.visibility</p:attrName>
                                        </p:attrNameLst>
                                      </p:cBhvr>
                                      <p:to>
                                        <p:strVal val="visible"/>
                                      </p:to>
                                    </p:set>
                                    <p:animEffect transition="in" filter="wipe(left)">
                                      <p:cBhvr>
                                        <p:cTn id="130" dur="500"/>
                                        <p:tgtEl>
                                          <p:spTgt spid="85021"/>
                                        </p:tgtEl>
                                      </p:cBhvr>
                                    </p:animEffect>
                                  </p:childTnLst>
                                </p:cTn>
                              </p:par>
                            </p:childTnLst>
                          </p:cTn>
                        </p:par>
                        <p:par>
                          <p:cTn id="131" fill="hold">
                            <p:stCondLst>
                              <p:cond delay="500"/>
                            </p:stCondLst>
                            <p:childTnLst>
                              <p:par>
                                <p:cTn id="132" presetID="22" presetClass="entr" presetSubtype="4" fill="hold" grpId="0" nodeType="afterEffect">
                                  <p:stCondLst>
                                    <p:cond delay="0"/>
                                  </p:stCondLst>
                                  <p:childTnLst>
                                    <p:set>
                                      <p:cBhvr>
                                        <p:cTn id="133" dur="1" fill="hold">
                                          <p:stCondLst>
                                            <p:cond delay="0"/>
                                          </p:stCondLst>
                                        </p:cTn>
                                        <p:tgtEl>
                                          <p:spTgt spid="85036"/>
                                        </p:tgtEl>
                                        <p:attrNameLst>
                                          <p:attrName>style.visibility</p:attrName>
                                        </p:attrNameLst>
                                      </p:cBhvr>
                                      <p:to>
                                        <p:strVal val="visible"/>
                                      </p:to>
                                    </p:set>
                                    <p:animEffect transition="in" filter="wipe(down)">
                                      <p:cBhvr>
                                        <p:cTn id="134" dur="500"/>
                                        <p:tgtEl>
                                          <p:spTgt spid="85036"/>
                                        </p:tgtEl>
                                      </p:cBhvr>
                                    </p:animEffect>
                                  </p:childTnLst>
                                </p:cTn>
                              </p:par>
                            </p:childTnLst>
                          </p:cTn>
                        </p:par>
                      </p:childTnLst>
                    </p:cTn>
                  </p:par>
                  <p:par>
                    <p:cTn id="135" fill="hold">
                      <p:stCondLst>
                        <p:cond delay="indefinite"/>
                      </p:stCondLst>
                      <p:childTnLst>
                        <p:par>
                          <p:cTn id="136" fill="hold">
                            <p:stCondLst>
                              <p:cond delay="0"/>
                            </p:stCondLst>
                            <p:childTnLst>
                              <p:par>
                                <p:cTn id="137" presetID="22" presetClass="entr" presetSubtype="8" fill="hold" grpId="0" nodeType="clickEffect">
                                  <p:stCondLst>
                                    <p:cond delay="0"/>
                                  </p:stCondLst>
                                  <p:childTnLst>
                                    <p:set>
                                      <p:cBhvr>
                                        <p:cTn id="138" dur="1" fill="hold">
                                          <p:stCondLst>
                                            <p:cond delay="0"/>
                                          </p:stCondLst>
                                        </p:cTn>
                                        <p:tgtEl>
                                          <p:spTgt spid="85022"/>
                                        </p:tgtEl>
                                        <p:attrNameLst>
                                          <p:attrName>style.visibility</p:attrName>
                                        </p:attrNameLst>
                                      </p:cBhvr>
                                      <p:to>
                                        <p:strVal val="visible"/>
                                      </p:to>
                                    </p:set>
                                    <p:animEffect transition="in" filter="wipe(left)">
                                      <p:cBhvr>
                                        <p:cTn id="139" dur="500"/>
                                        <p:tgtEl>
                                          <p:spTgt spid="85022"/>
                                        </p:tgtEl>
                                      </p:cBhvr>
                                    </p:animEffect>
                                  </p:childTnLst>
                                </p:cTn>
                              </p:par>
                            </p:childTnLst>
                          </p:cTn>
                        </p:par>
                        <p:par>
                          <p:cTn id="140" fill="hold">
                            <p:stCondLst>
                              <p:cond delay="500"/>
                            </p:stCondLst>
                            <p:childTnLst>
                              <p:par>
                                <p:cTn id="141" presetID="22" presetClass="entr" presetSubtype="8" fill="hold" grpId="0" nodeType="afterEffect">
                                  <p:stCondLst>
                                    <p:cond delay="500"/>
                                  </p:stCondLst>
                                  <p:childTnLst>
                                    <p:set>
                                      <p:cBhvr>
                                        <p:cTn id="142" dur="1" fill="hold">
                                          <p:stCondLst>
                                            <p:cond delay="0"/>
                                          </p:stCondLst>
                                        </p:cTn>
                                        <p:tgtEl>
                                          <p:spTgt spid="85023"/>
                                        </p:tgtEl>
                                        <p:attrNameLst>
                                          <p:attrName>style.visibility</p:attrName>
                                        </p:attrNameLst>
                                      </p:cBhvr>
                                      <p:to>
                                        <p:strVal val="visible"/>
                                      </p:to>
                                    </p:set>
                                    <p:animEffect transition="in" filter="wipe(left)">
                                      <p:cBhvr>
                                        <p:cTn id="143" dur="500"/>
                                        <p:tgtEl>
                                          <p:spTgt spid="85023"/>
                                        </p:tgtEl>
                                      </p:cBhvr>
                                    </p:animEffect>
                                  </p:childTnLst>
                                </p:cTn>
                              </p:par>
                            </p:childTnLst>
                          </p:cTn>
                        </p:par>
                      </p:childTnLst>
                    </p:cTn>
                  </p:par>
                  <p:par>
                    <p:cTn id="144" fill="hold">
                      <p:stCondLst>
                        <p:cond delay="indefinite"/>
                      </p:stCondLst>
                      <p:childTnLst>
                        <p:par>
                          <p:cTn id="145" fill="hold">
                            <p:stCondLst>
                              <p:cond delay="0"/>
                            </p:stCondLst>
                            <p:childTnLst>
                              <p:par>
                                <p:cTn id="146" presetID="22" presetClass="entr" presetSubtype="8" fill="hold" grpId="0" nodeType="clickEffect">
                                  <p:stCondLst>
                                    <p:cond delay="0"/>
                                  </p:stCondLst>
                                  <p:childTnLst>
                                    <p:set>
                                      <p:cBhvr>
                                        <p:cTn id="147" dur="1" fill="hold">
                                          <p:stCondLst>
                                            <p:cond delay="0"/>
                                          </p:stCondLst>
                                        </p:cTn>
                                        <p:tgtEl>
                                          <p:spTgt spid="85024"/>
                                        </p:tgtEl>
                                        <p:attrNameLst>
                                          <p:attrName>style.visibility</p:attrName>
                                        </p:attrNameLst>
                                      </p:cBhvr>
                                      <p:to>
                                        <p:strVal val="visible"/>
                                      </p:to>
                                    </p:set>
                                    <p:animEffect transition="in" filter="wipe(left)">
                                      <p:cBhvr>
                                        <p:cTn id="148" dur="500"/>
                                        <p:tgtEl>
                                          <p:spTgt spid="85024"/>
                                        </p:tgtEl>
                                      </p:cBhvr>
                                    </p:animEffect>
                                  </p:childTnLst>
                                </p:cTn>
                              </p:par>
                            </p:childTnLst>
                          </p:cTn>
                        </p:par>
                        <p:par>
                          <p:cTn id="149" fill="hold">
                            <p:stCondLst>
                              <p:cond delay="500"/>
                            </p:stCondLst>
                            <p:childTnLst>
                              <p:par>
                                <p:cTn id="150" presetID="22" presetClass="entr" presetSubtype="8" fill="hold" grpId="0" nodeType="afterEffect">
                                  <p:stCondLst>
                                    <p:cond delay="0"/>
                                  </p:stCondLst>
                                  <p:childTnLst>
                                    <p:set>
                                      <p:cBhvr>
                                        <p:cTn id="151" dur="1" fill="hold">
                                          <p:stCondLst>
                                            <p:cond delay="0"/>
                                          </p:stCondLst>
                                        </p:cTn>
                                        <p:tgtEl>
                                          <p:spTgt spid="85037"/>
                                        </p:tgtEl>
                                        <p:attrNameLst>
                                          <p:attrName>style.visibility</p:attrName>
                                        </p:attrNameLst>
                                      </p:cBhvr>
                                      <p:to>
                                        <p:strVal val="visible"/>
                                      </p:to>
                                    </p:set>
                                    <p:animEffect transition="in" filter="wipe(left)">
                                      <p:cBhvr>
                                        <p:cTn id="152" dur="500"/>
                                        <p:tgtEl>
                                          <p:spTgt spid="85037"/>
                                        </p:tgtEl>
                                      </p:cBhvr>
                                    </p:animEffect>
                                  </p:childTnLst>
                                </p:cTn>
                              </p:par>
                            </p:childTnLst>
                          </p:cTn>
                        </p:par>
                      </p:childTnLst>
                    </p:cTn>
                  </p:par>
                  <p:par>
                    <p:cTn id="153" fill="hold">
                      <p:stCondLst>
                        <p:cond delay="indefinite"/>
                      </p:stCondLst>
                      <p:childTnLst>
                        <p:par>
                          <p:cTn id="154" fill="hold">
                            <p:stCondLst>
                              <p:cond delay="0"/>
                            </p:stCondLst>
                            <p:childTnLst>
                              <p:par>
                                <p:cTn id="155" presetID="22" presetClass="entr" presetSubtype="1" fill="hold" grpId="0" nodeType="clickEffect">
                                  <p:stCondLst>
                                    <p:cond delay="0"/>
                                  </p:stCondLst>
                                  <p:childTnLst>
                                    <p:set>
                                      <p:cBhvr>
                                        <p:cTn id="156" dur="1" fill="hold">
                                          <p:stCondLst>
                                            <p:cond delay="0"/>
                                          </p:stCondLst>
                                        </p:cTn>
                                        <p:tgtEl>
                                          <p:spTgt spid="85025"/>
                                        </p:tgtEl>
                                        <p:attrNameLst>
                                          <p:attrName>style.visibility</p:attrName>
                                        </p:attrNameLst>
                                      </p:cBhvr>
                                      <p:to>
                                        <p:strVal val="visible"/>
                                      </p:to>
                                    </p:set>
                                    <p:animEffect transition="in" filter="wipe(up)">
                                      <p:cBhvr>
                                        <p:cTn id="157" dur="500"/>
                                        <p:tgtEl>
                                          <p:spTgt spid="85025"/>
                                        </p:tgtEl>
                                      </p:cBhvr>
                                    </p:animEffect>
                                  </p:childTnLst>
                                </p:cTn>
                              </p:par>
                            </p:childTnLst>
                          </p:cTn>
                        </p:par>
                        <p:par>
                          <p:cTn id="158" fill="hold">
                            <p:stCondLst>
                              <p:cond delay="500"/>
                            </p:stCondLst>
                            <p:childTnLst>
                              <p:par>
                                <p:cTn id="159" presetID="22" presetClass="entr" presetSubtype="4" fill="hold" grpId="0" nodeType="afterEffect">
                                  <p:stCondLst>
                                    <p:cond delay="0"/>
                                  </p:stCondLst>
                                  <p:childTnLst>
                                    <p:set>
                                      <p:cBhvr>
                                        <p:cTn id="160" dur="1" fill="hold">
                                          <p:stCondLst>
                                            <p:cond delay="0"/>
                                          </p:stCondLst>
                                        </p:cTn>
                                        <p:tgtEl>
                                          <p:spTgt spid="85038"/>
                                        </p:tgtEl>
                                        <p:attrNameLst>
                                          <p:attrName>style.visibility</p:attrName>
                                        </p:attrNameLst>
                                      </p:cBhvr>
                                      <p:to>
                                        <p:strVal val="visible"/>
                                      </p:to>
                                    </p:set>
                                    <p:animEffect transition="in" filter="wipe(down)">
                                      <p:cBhvr>
                                        <p:cTn id="161" dur="500"/>
                                        <p:tgtEl>
                                          <p:spTgt spid="85038"/>
                                        </p:tgtEl>
                                      </p:cBhvr>
                                    </p:animEffect>
                                  </p:childTnLst>
                                </p:cTn>
                              </p:par>
                            </p:childTnLst>
                          </p:cTn>
                        </p:par>
                      </p:childTnLst>
                    </p:cTn>
                  </p:par>
                  <p:par>
                    <p:cTn id="162" fill="hold">
                      <p:stCondLst>
                        <p:cond delay="indefinite"/>
                      </p:stCondLst>
                      <p:childTnLst>
                        <p:par>
                          <p:cTn id="163" fill="hold">
                            <p:stCondLst>
                              <p:cond delay="0"/>
                            </p:stCondLst>
                            <p:childTnLst>
                              <p:par>
                                <p:cTn id="164" presetID="22" presetClass="entr" presetSubtype="8" fill="hold" grpId="0" nodeType="clickEffect">
                                  <p:stCondLst>
                                    <p:cond delay="0"/>
                                  </p:stCondLst>
                                  <p:childTnLst>
                                    <p:set>
                                      <p:cBhvr>
                                        <p:cTn id="165" dur="1" fill="hold">
                                          <p:stCondLst>
                                            <p:cond delay="0"/>
                                          </p:stCondLst>
                                        </p:cTn>
                                        <p:tgtEl>
                                          <p:spTgt spid="85026"/>
                                        </p:tgtEl>
                                        <p:attrNameLst>
                                          <p:attrName>style.visibility</p:attrName>
                                        </p:attrNameLst>
                                      </p:cBhvr>
                                      <p:to>
                                        <p:strVal val="visible"/>
                                      </p:to>
                                    </p:set>
                                    <p:animEffect transition="in" filter="wipe(left)">
                                      <p:cBhvr>
                                        <p:cTn id="166" dur="500"/>
                                        <p:tgtEl>
                                          <p:spTgt spid="85026"/>
                                        </p:tgtEl>
                                      </p:cBhvr>
                                    </p:animEffect>
                                  </p:childTnLst>
                                </p:cTn>
                              </p:par>
                            </p:childTnLst>
                          </p:cTn>
                        </p:par>
                      </p:childTnLst>
                    </p:cTn>
                  </p:par>
                  <p:par>
                    <p:cTn id="167" fill="hold">
                      <p:stCondLst>
                        <p:cond delay="indefinite"/>
                      </p:stCondLst>
                      <p:childTnLst>
                        <p:par>
                          <p:cTn id="168" fill="hold">
                            <p:stCondLst>
                              <p:cond delay="0"/>
                            </p:stCondLst>
                            <p:childTnLst>
                              <p:par>
                                <p:cTn id="169" presetID="22" presetClass="entr" presetSubtype="8" fill="hold" grpId="0" nodeType="clickEffect">
                                  <p:stCondLst>
                                    <p:cond delay="0"/>
                                  </p:stCondLst>
                                  <p:childTnLst>
                                    <p:set>
                                      <p:cBhvr>
                                        <p:cTn id="170" dur="1" fill="hold">
                                          <p:stCondLst>
                                            <p:cond delay="0"/>
                                          </p:stCondLst>
                                        </p:cTn>
                                        <p:tgtEl>
                                          <p:spTgt spid="85027"/>
                                        </p:tgtEl>
                                        <p:attrNameLst>
                                          <p:attrName>style.visibility</p:attrName>
                                        </p:attrNameLst>
                                      </p:cBhvr>
                                      <p:to>
                                        <p:strVal val="visible"/>
                                      </p:to>
                                    </p:set>
                                    <p:animEffect transition="in" filter="wipe(left)">
                                      <p:cBhvr>
                                        <p:cTn id="171" dur="500"/>
                                        <p:tgtEl>
                                          <p:spTgt spid="85027"/>
                                        </p:tgtEl>
                                      </p:cBhvr>
                                    </p:animEffect>
                                  </p:childTnLst>
                                </p:cTn>
                              </p:par>
                            </p:childTnLst>
                          </p:cTn>
                        </p:par>
                        <p:par>
                          <p:cTn id="172" fill="hold">
                            <p:stCondLst>
                              <p:cond delay="500"/>
                            </p:stCondLst>
                            <p:childTnLst>
                              <p:par>
                                <p:cTn id="173" presetID="22" presetClass="entr" presetSubtype="8" fill="hold" grpId="0" nodeType="afterEffect">
                                  <p:stCondLst>
                                    <p:cond delay="0"/>
                                  </p:stCondLst>
                                  <p:childTnLst>
                                    <p:set>
                                      <p:cBhvr>
                                        <p:cTn id="174" dur="1" fill="hold">
                                          <p:stCondLst>
                                            <p:cond delay="0"/>
                                          </p:stCondLst>
                                        </p:cTn>
                                        <p:tgtEl>
                                          <p:spTgt spid="85028"/>
                                        </p:tgtEl>
                                        <p:attrNameLst>
                                          <p:attrName>style.visibility</p:attrName>
                                        </p:attrNameLst>
                                      </p:cBhvr>
                                      <p:to>
                                        <p:strVal val="visible"/>
                                      </p:to>
                                    </p:set>
                                    <p:animEffect transition="in" filter="wipe(left)">
                                      <p:cBhvr>
                                        <p:cTn id="175" dur="500"/>
                                        <p:tgtEl>
                                          <p:spTgt spid="85028"/>
                                        </p:tgtEl>
                                      </p:cBhvr>
                                    </p:animEffect>
                                  </p:childTnLst>
                                </p:cTn>
                              </p:par>
                            </p:childTnLst>
                          </p:cTn>
                        </p:par>
                      </p:childTnLst>
                    </p:cTn>
                  </p:par>
                  <p:par>
                    <p:cTn id="176" fill="hold">
                      <p:stCondLst>
                        <p:cond delay="indefinite"/>
                      </p:stCondLst>
                      <p:childTnLst>
                        <p:par>
                          <p:cTn id="177" fill="hold">
                            <p:stCondLst>
                              <p:cond delay="0"/>
                            </p:stCondLst>
                            <p:childTnLst>
                              <p:par>
                                <p:cTn id="178" presetID="22" presetClass="entr" presetSubtype="1" fill="hold" grpId="0" nodeType="clickEffect">
                                  <p:stCondLst>
                                    <p:cond delay="0"/>
                                  </p:stCondLst>
                                  <p:childTnLst>
                                    <p:set>
                                      <p:cBhvr>
                                        <p:cTn id="179" dur="1" fill="hold">
                                          <p:stCondLst>
                                            <p:cond delay="0"/>
                                          </p:stCondLst>
                                        </p:cTn>
                                        <p:tgtEl>
                                          <p:spTgt spid="85029"/>
                                        </p:tgtEl>
                                        <p:attrNameLst>
                                          <p:attrName>style.visibility</p:attrName>
                                        </p:attrNameLst>
                                      </p:cBhvr>
                                      <p:to>
                                        <p:strVal val="visible"/>
                                      </p:to>
                                    </p:set>
                                    <p:animEffect transition="in" filter="wipe(up)">
                                      <p:cBhvr>
                                        <p:cTn id="180" dur="500"/>
                                        <p:tgtEl>
                                          <p:spTgt spid="85029"/>
                                        </p:tgtEl>
                                      </p:cBhvr>
                                    </p:animEffect>
                                  </p:childTnLst>
                                  <p:subTnLst>
                                    <p:set>
                                      <p:cBhvr override="childStyle">
                                        <p:cTn dur="1" fill="hold" display="0" masterRel="nextClick" afterEffect="1"/>
                                        <p:tgtEl>
                                          <p:spTgt spid="85029"/>
                                        </p:tgtEl>
                                        <p:attrNameLst>
                                          <p:attrName>style.visibility</p:attrName>
                                        </p:attrNameLst>
                                      </p:cBhvr>
                                      <p:to>
                                        <p:strVal val="hidden"/>
                                      </p:to>
                                    </p:set>
                                  </p:subTnLst>
                                </p:cTn>
                              </p:par>
                            </p:childTnLst>
                          </p:cTn>
                        </p:par>
                        <p:par>
                          <p:cTn id="181" fill="hold">
                            <p:stCondLst>
                              <p:cond delay="500"/>
                            </p:stCondLst>
                            <p:childTnLst>
                              <p:par>
                                <p:cTn id="182" presetID="22" presetClass="entr" presetSubtype="1" fill="hold" grpId="0" nodeType="afterEffect">
                                  <p:stCondLst>
                                    <p:cond delay="0"/>
                                  </p:stCondLst>
                                  <p:childTnLst>
                                    <p:set>
                                      <p:cBhvr>
                                        <p:cTn id="183" dur="1" fill="hold">
                                          <p:stCondLst>
                                            <p:cond delay="0"/>
                                          </p:stCondLst>
                                        </p:cTn>
                                        <p:tgtEl>
                                          <p:spTgt spid="85030"/>
                                        </p:tgtEl>
                                        <p:attrNameLst>
                                          <p:attrName>style.visibility</p:attrName>
                                        </p:attrNameLst>
                                      </p:cBhvr>
                                      <p:to>
                                        <p:strVal val="visible"/>
                                      </p:to>
                                    </p:set>
                                    <p:animEffect transition="in" filter="wipe(up)">
                                      <p:cBhvr>
                                        <p:cTn id="184" dur="500"/>
                                        <p:tgtEl>
                                          <p:spTgt spid="85030"/>
                                        </p:tgtEl>
                                      </p:cBhvr>
                                    </p:animEffect>
                                  </p:childTnLst>
                                </p:cTn>
                              </p:par>
                            </p:childTnLst>
                          </p:cTn>
                        </p:par>
                      </p:childTnLst>
                    </p:cTn>
                  </p:par>
                  <p:par>
                    <p:cTn id="185" fill="hold">
                      <p:stCondLst>
                        <p:cond delay="indefinite"/>
                      </p:stCondLst>
                      <p:childTnLst>
                        <p:par>
                          <p:cTn id="186" fill="hold">
                            <p:stCondLst>
                              <p:cond delay="0"/>
                            </p:stCondLst>
                            <p:childTnLst>
                              <p:par>
                                <p:cTn id="187" presetID="22" presetClass="entr" presetSubtype="8" fill="hold" grpId="0" nodeType="clickEffect">
                                  <p:stCondLst>
                                    <p:cond delay="0"/>
                                  </p:stCondLst>
                                  <p:childTnLst>
                                    <p:set>
                                      <p:cBhvr>
                                        <p:cTn id="188" dur="1" fill="hold">
                                          <p:stCondLst>
                                            <p:cond delay="0"/>
                                          </p:stCondLst>
                                        </p:cTn>
                                        <p:tgtEl>
                                          <p:spTgt spid="85031"/>
                                        </p:tgtEl>
                                        <p:attrNameLst>
                                          <p:attrName>style.visibility</p:attrName>
                                        </p:attrNameLst>
                                      </p:cBhvr>
                                      <p:to>
                                        <p:strVal val="visible"/>
                                      </p:to>
                                    </p:set>
                                    <p:animEffect transition="in" filter="wipe(left)">
                                      <p:cBhvr>
                                        <p:cTn id="189" dur="500"/>
                                        <p:tgtEl>
                                          <p:spTgt spid="85031"/>
                                        </p:tgtEl>
                                      </p:cBhvr>
                                    </p:animEffect>
                                  </p:childTnLst>
                                </p:cTn>
                              </p:par>
                            </p:childTnLst>
                          </p:cTn>
                        </p:par>
                      </p:childTnLst>
                    </p:cTn>
                  </p:par>
                  <p:par>
                    <p:cTn id="190" fill="hold">
                      <p:stCondLst>
                        <p:cond delay="indefinite"/>
                      </p:stCondLst>
                      <p:childTnLst>
                        <p:par>
                          <p:cTn id="191" fill="hold">
                            <p:stCondLst>
                              <p:cond delay="0"/>
                            </p:stCondLst>
                            <p:childTnLst>
                              <p:par>
                                <p:cTn id="192" presetID="22" presetClass="entr" presetSubtype="8" fill="hold" grpId="0" nodeType="clickEffect">
                                  <p:stCondLst>
                                    <p:cond delay="0"/>
                                  </p:stCondLst>
                                  <p:childTnLst>
                                    <p:set>
                                      <p:cBhvr>
                                        <p:cTn id="193" dur="1" fill="hold">
                                          <p:stCondLst>
                                            <p:cond delay="0"/>
                                          </p:stCondLst>
                                        </p:cTn>
                                        <p:tgtEl>
                                          <p:spTgt spid="85033"/>
                                        </p:tgtEl>
                                        <p:attrNameLst>
                                          <p:attrName>style.visibility</p:attrName>
                                        </p:attrNameLst>
                                      </p:cBhvr>
                                      <p:to>
                                        <p:strVal val="visible"/>
                                      </p:to>
                                    </p:set>
                                    <p:animEffect transition="in" filter="wipe(left)">
                                      <p:cBhvr>
                                        <p:cTn id="194" dur="500"/>
                                        <p:tgtEl>
                                          <p:spTgt spid="85033"/>
                                        </p:tgtEl>
                                      </p:cBhvr>
                                    </p:animEffect>
                                  </p:childTnLst>
                                </p:cTn>
                              </p:par>
                            </p:childTnLst>
                          </p:cTn>
                        </p:par>
                        <p:par>
                          <p:cTn id="195" fill="hold">
                            <p:stCondLst>
                              <p:cond delay="500"/>
                            </p:stCondLst>
                            <p:childTnLst>
                              <p:par>
                                <p:cTn id="196" presetID="22" presetClass="entr" presetSubtype="8" fill="hold" grpId="0" nodeType="afterEffect">
                                  <p:stCondLst>
                                    <p:cond delay="0"/>
                                  </p:stCondLst>
                                  <p:childTnLst>
                                    <p:set>
                                      <p:cBhvr>
                                        <p:cTn id="197" dur="1" fill="hold">
                                          <p:stCondLst>
                                            <p:cond delay="0"/>
                                          </p:stCondLst>
                                        </p:cTn>
                                        <p:tgtEl>
                                          <p:spTgt spid="85032"/>
                                        </p:tgtEl>
                                        <p:attrNameLst>
                                          <p:attrName>style.visibility</p:attrName>
                                        </p:attrNameLst>
                                      </p:cBhvr>
                                      <p:to>
                                        <p:strVal val="visible"/>
                                      </p:to>
                                    </p:set>
                                    <p:animEffect transition="in" filter="wipe(left)">
                                      <p:cBhvr>
                                        <p:cTn id="198" dur="500"/>
                                        <p:tgtEl>
                                          <p:spTgt spid="850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4" grpId="0" bldLvl="0" animBg="1" autoUpdateAnimBg="0"/>
      <p:bldP spid="84995" grpId="0" bldLvl="0" animBg="1" autoUpdateAnimBg="0"/>
      <p:bldP spid="84996" grpId="0" bldLvl="0" animBg="1" autoUpdateAnimBg="0"/>
      <p:bldP spid="84997" grpId="0" bldLvl="0" animBg="1" autoUpdateAnimBg="0"/>
      <p:bldP spid="84998" grpId="0" bldLvl="0" animBg="1" autoUpdateAnimBg="0"/>
      <p:bldP spid="84999" grpId="0" bldLvl="0" animBg="1" autoUpdateAnimBg="0"/>
      <p:bldP spid="85000" grpId="0" bldLvl="0" animBg="1" autoUpdateAnimBg="0"/>
      <p:bldP spid="85001" grpId="0" bldLvl="0" animBg="1" autoUpdateAnimBg="0"/>
      <p:bldP spid="85002" grpId="0" bldLvl="0" animBg="1" autoUpdateAnimBg="0"/>
      <p:bldP spid="85003" grpId="0" bldLvl="0" animBg="1" autoUpdateAnimBg="0"/>
      <p:bldP spid="85004" grpId="0" bldLvl="0" animBg="1"/>
      <p:bldP spid="85005" grpId="0" bldLvl="0" animBg="1"/>
      <p:bldP spid="85006" grpId="0" bldLvl="0" animBg="1"/>
      <p:bldP spid="85007" grpId="0" bldLvl="0" animBg="1"/>
      <p:bldP spid="85008" grpId="0" bldLvl="0" animBg="1"/>
      <p:bldP spid="85009" grpId="0" bldLvl="0" animBg="1"/>
      <p:bldP spid="85010" grpId="0" bldLvl="0" animBg="1"/>
      <p:bldP spid="85011" grpId="0" bldLvl="0" animBg="1"/>
      <p:bldP spid="85012" grpId="0" bldLvl="0" animBg="1"/>
      <p:bldP spid="85013" grpId="0" bldLvl="0" animBg="1" autoUpdateAnimBg="0"/>
      <p:bldP spid="85014" grpId="0" bldLvl="0" animBg="1" autoUpdateAnimBg="0"/>
      <p:bldP spid="85015" grpId="0" bldLvl="0" animBg="1" autoUpdateAnimBg="0"/>
      <p:bldP spid="85016" grpId="0" bldLvl="0" animBg="1" autoUpdateAnimBg="0"/>
      <p:bldP spid="85017" grpId="0" bldLvl="0" animBg="1" autoUpdateAnimBg="0"/>
      <p:bldP spid="85018" grpId="0" bldLvl="0" animBg="1" autoUpdateAnimBg="0"/>
      <p:bldP spid="85019" grpId="0" bldLvl="0" animBg="1"/>
      <p:bldP spid="85020" grpId="0" bldLvl="0" animBg="1"/>
      <p:bldP spid="85021" grpId="0" bldLvl="0" animBg="1"/>
      <p:bldP spid="85022" grpId="0" bldLvl="0" animBg="1" autoUpdateAnimBg="0"/>
      <p:bldP spid="85023" grpId="0" bldLvl="0" animBg="1" autoUpdateAnimBg="0"/>
      <p:bldP spid="85024" grpId="0" bldLvl="0" animBg="1"/>
      <p:bldP spid="85025" grpId="0" bldLvl="0" animBg="1"/>
      <p:bldP spid="85026" grpId="0" bldLvl="0" animBg="1" autoUpdateAnimBg="0"/>
      <p:bldP spid="85027" grpId="0" bldLvl="0" animBg="1"/>
      <p:bldP spid="85028" grpId="0" bldLvl="0" animBg="1"/>
      <p:bldP spid="85029" grpId="0" bldLvl="0" animBg="1"/>
      <p:bldP spid="85030" grpId="0" bldLvl="0" animBg="1"/>
      <p:bldP spid="85031" grpId="0" bldLvl="0" animBg="1" autoUpdateAnimBg="0"/>
      <p:bldP spid="85032" grpId="0" bldLvl="0" animBg="1" autoUpdateAnimBg="0"/>
      <p:bldP spid="85033" grpId="0" bldLvl="0" animBg="1"/>
      <p:bldP spid="85034" grpId="0" bldLvl="0" animBg="1" autoUpdateAnimBg="0"/>
      <p:bldP spid="85035" grpId="0" bldLvl="0" animBg="1" autoUpdateAnimBg="0"/>
      <p:bldP spid="85036" grpId="0" bldLvl="0" animBg="1" autoUpdateAnimBg="0"/>
      <p:bldP spid="85037" grpId="0" bldLvl="0" animBg="1"/>
      <p:bldP spid="85038" grpId="0" bldLvl="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ext Box 2"/>
          <p:cNvSpPr txBox="1">
            <a:spLocks noChangeArrowheads="1"/>
          </p:cNvSpPr>
          <p:nvPr/>
        </p:nvSpPr>
        <p:spPr bwMode="auto">
          <a:xfrm>
            <a:off x="234950" y="128588"/>
            <a:ext cx="8909050" cy="6454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en-US" altLang="zh-CN" sz="3600" b="1">
                <a:ea typeface="楷体_GB2312" pitchFamily="49" charset="-122"/>
              </a:rPr>
              <a:t>void</a:t>
            </a:r>
            <a:r>
              <a:rPr lang="en-US" altLang="zh-CN" sz="3600">
                <a:ea typeface="楷体_GB2312" pitchFamily="49" charset="-122"/>
              </a:rPr>
              <a:t> HeapAdjust (RcdType </a:t>
            </a:r>
            <a:r>
              <a:rPr lang="en-US" altLang="zh-CN" sz="3600" b="1">
                <a:ea typeface="楷体_GB2312" pitchFamily="49" charset="-122"/>
              </a:rPr>
              <a:t>&amp;</a:t>
            </a:r>
            <a:r>
              <a:rPr lang="en-US" altLang="zh-CN" sz="3600">
                <a:ea typeface="楷体_GB2312" pitchFamily="49" charset="-122"/>
              </a:rPr>
              <a:t>R[], </a:t>
            </a:r>
            <a:r>
              <a:rPr lang="en-US" altLang="zh-CN" sz="3600" b="1">
                <a:ea typeface="楷体_GB2312" pitchFamily="49" charset="-122"/>
              </a:rPr>
              <a:t>int</a:t>
            </a:r>
            <a:r>
              <a:rPr lang="en-US" altLang="zh-CN" sz="3600">
                <a:ea typeface="楷体_GB2312" pitchFamily="49" charset="-122"/>
              </a:rPr>
              <a:t> </a:t>
            </a:r>
            <a:r>
              <a:rPr lang="en-US" altLang="zh-CN" sz="3600" b="1">
                <a:ea typeface="楷体_GB2312" pitchFamily="49" charset="-122"/>
              </a:rPr>
              <a:t>s</a:t>
            </a:r>
            <a:r>
              <a:rPr lang="en-US" altLang="zh-CN" sz="3600">
                <a:ea typeface="楷体_GB2312" pitchFamily="49" charset="-122"/>
              </a:rPr>
              <a:t>, </a:t>
            </a:r>
            <a:r>
              <a:rPr lang="en-US" altLang="zh-CN" sz="3600" b="1">
                <a:ea typeface="楷体_GB2312" pitchFamily="49" charset="-122"/>
              </a:rPr>
              <a:t>int</a:t>
            </a:r>
            <a:r>
              <a:rPr lang="en-US" altLang="zh-CN" sz="3600">
                <a:ea typeface="楷体_GB2312" pitchFamily="49" charset="-122"/>
              </a:rPr>
              <a:t> </a:t>
            </a:r>
            <a:r>
              <a:rPr lang="en-US" altLang="zh-CN" sz="3600" b="1">
                <a:ea typeface="楷体_GB2312" pitchFamily="49" charset="-122"/>
              </a:rPr>
              <a:t>m</a:t>
            </a:r>
            <a:r>
              <a:rPr lang="en-US" altLang="zh-CN" sz="3600">
                <a:ea typeface="楷体_GB2312" pitchFamily="49" charset="-122"/>
              </a:rPr>
              <a:t>)</a:t>
            </a:r>
            <a:endParaRPr lang="en-US" altLang="zh-CN" sz="3000">
              <a:ea typeface="楷体_GB2312" pitchFamily="49" charset="-122"/>
            </a:endParaRPr>
          </a:p>
          <a:p>
            <a:pPr>
              <a:lnSpc>
                <a:spcPct val="110000"/>
              </a:lnSpc>
            </a:pPr>
            <a:r>
              <a:rPr lang="en-US" altLang="zh-CN" sz="3600" b="1">
                <a:ea typeface="楷体_GB2312" pitchFamily="49" charset="-122"/>
              </a:rPr>
              <a:t>{</a:t>
            </a:r>
            <a:r>
              <a:rPr lang="en-US" altLang="zh-CN">
                <a:ea typeface="楷体_GB2312" pitchFamily="49" charset="-122"/>
              </a:rPr>
              <a:t> </a:t>
            </a:r>
            <a:r>
              <a:rPr lang="en-US" altLang="zh-CN" sz="2000" b="1">
                <a:solidFill>
                  <a:srgbClr val="006600"/>
                </a:solidFill>
                <a:latin typeface="Arial" panose="020B0604020202020204" pitchFamily="34" charset="0"/>
                <a:ea typeface="楷体_GB2312" pitchFamily="49" charset="-122"/>
                <a:cs typeface="Arial" panose="020B0604020202020204" pitchFamily="34" charset="0"/>
                <a:sym typeface="+mn-ea"/>
              </a:rPr>
              <a:t>// Except for R[s], all keywords in the known R[s..m] are</a:t>
            </a:r>
            <a:endParaRPr lang="en-US" altLang="zh-CN" sz="2000" b="1">
              <a:solidFill>
                <a:srgbClr val="006600"/>
              </a:solidFill>
              <a:latin typeface="Arial" panose="020B0604020202020204" pitchFamily="34" charset="0"/>
              <a:ea typeface="楷体_GB2312" pitchFamily="49" charset="-122"/>
              <a:cs typeface="Arial" panose="020B0604020202020204" pitchFamily="34" charset="0"/>
            </a:endParaRPr>
          </a:p>
          <a:p>
            <a:pPr>
              <a:lnSpc>
                <a:spcPct val="110000"/>
              </a:lnSpc>
            </a:pPr>
            <a:r>
              <a:rPr lang="en-US" altLang="zh-CN" sz="2000" b="1">
                <a:solidFill>
                  <a:srgbClr val="006600"/>
                </a:solidFill>
                <a:latin typeface="Arial" panose="020B0604020202020204" pitchFamily="34" charset="0"/>
                <a:ea typeface="楷体_GB2312" pitchFamily="49" charset="-122"/>
                <a:cs typeface="Arial" panose="020B0604020202020204" pitchFamily="34" charset="0"/>
                <a:sym typeface="+mn-ea"/>
              </a:rPr>
              <a:t>// This function adjusts R[s] from top to bottom to satisfy heap characteristics</a:t>
            </a:r>
            <a:endParaRPr lang="en-US" altLang="zh-CN" sz="2000" b="1">
              <a:solidFill>
                <a:srgbClr val="006600"/>
              </a:solidFill>
              <a:latin typeface="Arial" panose="020B0604020202020204" pitchFamily="34" charset="0"/>
              <a:ea typeface="楷体_GB2312" pitchFamily="49" charset="-122"/>
              <a:cs typeface="Arial" panose="020B0604020202020204" pitchFamily="34" charset="0"/>
            </a:endParaRPr>
          </a:p>
          <a:p>
            <a:pPr>
              <a:lnSpc>
                <a:spcPct val="110000"/>
              </a:lnSpc>
            </a:pPr>
            <a:r>
              <a:rPr lang="en-US" altLang="zh-CN" sz="2000" b="1">
                <a:solidFill>
                  <a:srgbClr val="006600"/>
                </a:solidFill>
                <a:latin typeface="Arial" panose="020B0604020202020204" pitchFamily="34" charset="0"/>
                <a:ea typeface="楷体_GB2312" pitchFamily="49" charset="-122"/>
                <a:cs typeface="Arial" panose="020B0604020202020204" pitchFamily="34" charset="0"/>
                <a:sym typeface="+mn-ea"/>
              </a:rPr>
              <a:t>// The keyword makes R[s..m] also a  max-heap</a:t>
            </a:r>
            <a:endParaRPr lang="en-US" altLang="zh-CN" sz="2000" b="1">
              <a:solidFill>
                <a:srgbClr val="006600"/>
              </a:solidFill>
              <a:latin typeface="Arial" panose="020B0604020202020204" pitchFamily="34" charset="0"/>
              <a:ea typeface="楷体_GB2312" pitchFamily="49" charset="-122"/>
              <a:cs typeface="Arial" panose="020B0604020202020204" pitchFamily="34" charset="0"/>
            </a:endParaRPr>
          </a:p>
          <a:p>
            <a:pPr>
              <a:lnSpc>
                <a:spcPct val="110000"/>
              </a:lnSpc>
            </a:pPr>
            <a:endParaRPr lang="zh-CN" altLang="en-US" sz="2800" b="1">
              <a:solidFill>
                <a:srgbClr val="006600"/>
              </a:solidFill>
              <a:ea typeface="楷体_GB2312" pitchFamily="49" charset="-122"/>
            </a:endParaRPr>
          </a:p>
          <a:p>
            <a:pPr>
              <a:lnSpc>
                <a:spcPct val="110000"/>
              </a:lnSpc>
            </a:pPr>
            <a:endParaRPr lang="zh-CN" altLang="en-US" sz="3600">
              <a:ea typeface="楷体_GB2312" pitchFamily="49" charset="-122"/>
            </a:endParaRPr>
          </a:p>
          <a:p>
            <a:pPr>
              <a:lnSpc>
                <a:spcPct val="110000"/>
              </a:lnSpc>
            </a:pPr>
            <a:endParaRPr lang="zh-CN" altLang="en-US" sz="3600">
              <a:ea typeface="楷体_GB2312" pitchFamily="49" charset="-122"/>
            </a:endParaRPr>
          </a:p>
          <a:p>
            <a:pPr>
              <a:lnSpc>
                <a:spcPct val="110000"/>
              </a:lnSpc>
            </a:pPr>
            <a:endParaRPr lang="zh-CN" altLang="en-US" sz="3600">
              <a:ea typeface="楷体_GB2312" pitchFamily="49" charset="-122"/>
            </a:endParaRPr>
          </a:p>
          <a:p>
            <a:pPr>
              <a:lnSpc>
                <a:spcPct val="110000"/>
              </a:lnSpc>
            </a:pPr>
            <a:endParaRPr lang="zh-CN" altLang="en-US" sz="3600">
              <a:ea typeface="楷体_GB2312" pitchFamily="49" charset="-122"/>
            </a:endParaRPr>
          </a:p>
          <a:p>
            <a:pPr>
              <a:lnSpc>
                <a:spcPct val="110000"/>
              </a:lnSpc>
            </a:pPr>
            <a:endParaRPr lang="zh-CN" altLang="en-US" sz="3600">
              <a:ea typeface="楷体_GB2312" pitchFamily="49" charset="-122"/>
            </a:endParaRPr>
          </a:p>
          <a:p>
            <a:pPr>
              <a:lnSpc>
                <a:spcPct val="110000"/>
              </a:lnSpc>
            </a:pPr>
            <a:r>
              <a:rPr lang="en-US" altLang="zh-CN" sz="3600" b="1">
                <a:ea typeface="楷体_GB2312" pitchFamily="49" charset="-122"/>
              </a:rPr>
              <a:t>}</a:t>
            </a:r>
            <a:r>
              <a:rPr lang="en-US" altLang="zh-CN">
                <a:ea typeface="楷体_GB2312" pitchFamily="49" charset="-122"/>
              </a:rPr>
              <a:t> // HeapAdjust</a:t>
            </a:r>
          </a:p>
        </p:txBody>
      </p:sp>
      <p:sp>
        <p:nvSpPr>
          <p:cNvPr id="86019" name="Rectangle 3"/>
          <p:cNvSpPr>
            <a:spLocks noChangeArrowheads="1"/>
          </p:cNvSpPr>
          <p:nvPr/>
        </p:nvSpPr>
        <p:spPr bwMode="auto">
          <a:xfrm>
            <a:off x="609600" y="2503488"/>
            <a:ext cx="7578090" cy="700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10000"/>
              </a:lnSpc>
            </a:pPr>
            <a:r>
              <a:rPr lang="en-US" altLang="zh-CN" sz="3600">
                <a:ea typeface="楷体_GB2312" pitchFamily="49" charset="-122"/>
              </a:rPr>
              <a:t>rc = R[s];           </a:t>
            </a:r>
            <a:r>
              <a:rPr lang="en-US" altLang="zh-CN" sz="2800" b="1">
                <a:solidFill>
                  <a:srgbClr val="006600"/>
                </a:solidFill>
                <a:ea typeface="楷体_GB2312" pitchFamily="49" charset="-122"/>
              </a:rPr>
              <a:t>// </a:t>
            </a:r>
            <a:r>
              <a:rPr lang="zh-CN" altLang="en-US" sz="2800" b="1">
                <a:solidFill>
                  <a:srgbClr val="006600"/>
                </a:solidFill>
                <a:ea typeface="楷体_GB2312" pitchFamily="49" charset="-122"/>
              </a:rPr>
              <a:t> </a:t>
            </a:r>
            <a:r>
              <a:rPr lang="zh-CN" altLang="en-US" sz="2800" b="1">
                <a:solidFill>
                  <a:srgbClr val="006600"/>
                </a:solidFill>
                <a:ea typeface="楷体_GB2312" pitchFamily="49" charset="-122"/>
                <a:sym typeface="+mn-ea"/>
              </a:rPr>
              <a:t>Temporary storage of R[s]</a:t>
            </a:r>
            <a:endParaRPr lang="zh-CN" altLang="en-US" sz="2800" b="1">
              <a:solidFill>
                <a:srgbClr val="006600"/>
              </a:solidFill>
              <a:ea typeface="楷体_GB2312" pitchFamily="49" charset="-122"/>
            </a:endParaRPr>
          </a:p>
        </p:txBody>
      </p:sp>
      <p:sp>
        <p:nvSpPr>
          <p:cNvPr id="86020" name="Rectangle 4">
            <a:hlinkClick r:id="" action="ppaction://hlinkshowjump?jump=nextslide"/>
          </p:cNvPr>
          <p:cNvSpPr>
            <a:spLocks noChangeArrowheads="1"/>
          </p:cNvSpPr>
          <p:nvPr/>
        </p:nvSpPr>
        <p:spPr bwMode="auto">
          <a:xfrm>
            <a:off x="609600" y="3241675"/>
            <a:ext cx="8139113" cy="1770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pPr>
            <a:r>
              <a:rPr lang="en-US" altLang="zh-CN" b="1">
                <a:ea typeface="楷体_GB2312" pitchFamily="49" charset="-122"/>
              </a:rPr>
              <a:t>for</a:t>
            </a:r>
            <a:r>
              <a:rPr lang="en-US" altLang="zh-CN">
                <a:ea typeface="楷体_GB2312" pitchFamily="49" charset="-122"/>
              </a:rPr>
              <a:t> ( </a:t>
            </a:r>
            <a:r>
              <a:rPr lang="en-US" altLang="zh-CN" b="1">
                <a:ea typeface="楷体_GB2312" pitchFamily="49" charset="-122"/>
              </a:rPr>
              <a:t>j=2*s; j&lt;=m; j*=2</a:t>
            </a:r>
            <a:r>
              <a:rPr lang="en-US" altLang="zh-CN">
                <a:ea typeface="楷体_GB2312" pitchFamily="49" charset="-122"/>
              </a:rPr>
              <a:t> ) </a:t>
            </a:r>
            <a:r>
              <a:rPr lang="en-US" altLang="zh-CN" b="1">
                <a:ea typeface="楷体_GB2312" pitchFamily="49" charset="-122"/>
              </a:rPr>
              <a:t>{  </a:t>
            </a:r>
            <a:r>
              <a:rPr lang="en-US" altLang="zh-CN" sz="2800" b="1">
                <a:solidFill>
                  <a:srgbClr val="006600"/>
                </a:solidFill>
                <a:ea typeface="楷体_GB2312" pitchFamily="49" charset="-122"/>
              </a:rPr>
              <a:t>//</a:t>
            </a:r>
            <a:r>
              <a:rPr lang="zh-CN" altLang="en-US" sz="1800" b="1">
                <a:solidFill>
                  <a:srgbClr val="006600"/>
                </a:solidFill>
                <a:ea typeface="楷体_GB2312" pitchFamily="49" charset="-122"/>
              </a:rPr>
              <a:t> </a:t>
            </a:r>
            <a:r>
              <a:rPr lang="zh-CN" altLang="en-US" sz="1800" b="1">
                <a:solidFill>
                  <a:srgbClr val="006600"/>
                </a:solidFill>
                <a:ea typeface="楷体_GB2312" pitchFamily="49" charset="-122"/>
                <a:sym typeface="+mn-ea"/>
              </a:rPr>
              <a:t>j initial value points to the left child</a:t>
            </a:r>
            <a:endParaRPr lang="zh-CN" altLang="en-US" b="1">
              <a:solidFill>
                <a:srgbClr val="006600"/>
              </a:solidFill>
              <a:ea typeface="楷体_GB2312" pitchFamily="49" charset="-122"/>
            </a:endParaRPr>
          </a:p>
          <a:p>
            <a:pPr>
              <a:lnSpc>
                <a:spcPct val="130000"/>
              </a:lnSpc>
            </a:pPr>
            <a:r>
              <a:rPr lang="zh-CN" altLang="en-US" b="1">
                <a:ea typeface="楷体_GB2312" pitchFamily="49" charset="-122"/>
                <a:sym typeface="+mn-ea"/>
              </a:rPr>
              <a:t>Top-down screening;</a:t>
            </a:r>
            <a:endParaRPr lang="en-US" altLang="zh-CN" b="1">
              <a:ea typeface="楷体_GB2312" pitchFamily="49" charset="-122"/>
            </a:endParaRPr>
          </a:p>
          <a:p>
            <a:pPr>
              <a:lnSpc>
                <a:spcPct val="130000"/>
              </a:lnSpc>
            </a:pPr>
            <a:r>
              <a:rPr lang="en-US" altLang="zh-CN" b="1">
                <a:ea typeface="楷体_GB2312" pitchFamily="49" charset="-122"/>
              </a:rPr>
              <a:t>}</a:t>
            </a:r>
            <a:endParaRPr lang="en-US" altLang="zh-CN">
              <a:ea typeface="楷体_GB2312" pitchFamily="49" charset="-122"/>
            </a:endParaRPr>
          </a:p>
        </p:txBody>
      </p:sp>
      <p:sp>
        <p:nvSpPr>
          <p:cNvPr id="86021" name="Rectangle 5"/>
          <p:cNvSpPr>
            <a:spLocks noChangeArrowheads="1"/>
          </p:cNvSpPr>
          <p:nvPr/>
        </p:nvSpPr>
        <p:spPr bwMode="auto">
          <a:xfrm>
            <a:off x="533400" y="5181600"/>
            <a:ext cx="8610600" cy="700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en-US" altLang="zh-CN" sz="3600">
                <a:ea typeface="楷体_GB2312" pitchFamily="49" charset="-122"/>
              </a:rPr>
              <a:t>R[s] = rc; </a:t>
            </a:r>
            <a:r>
              <a:rPr lang="en-US" altLang="zh-CN" sz="2800" b="1">
                <a:solidFill>
                  <a:srgbClr val="006600"/>
                </a:solidFill>
                <a:ea typeface="楷体_GB2312" pitchFamily="49" charset="-122"/>
              </a:rPr>
              <a:t>// </a:t>
            </a:r>
            <a:r>
              <a:rPr lang="zh-CN" altLang="en-US" sz="1800" b="1">
                <a:solidFill>
                  <a:srgbClr val="006600"/>
                </a:solidFill>
                <a:ea typeface="楷体_GB2312" pitchFamily="49" charset="-122"/>
                <a:sym typeface="+mn-ea"/>
              </a:rPr>
              <a:t>Insert the heap top record before adjustment into position s</a:t>
            </a:r>
            <a:endParaRPr lang="zh-CN" altLang="en-US" sz="1800" b="1">
              <a:solidFill>
                <a:srgbClr val="006600"/>
              </a:solidFill>
              <a:ea typeface="楷体_GB2312" pitchFamily="49" charset="-122"/>
            </a:endParaRP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89</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86018"/>
                                        </p:tgtEl>
                                        <p:attrNameLst>
                                          <p:attrName>style.visibility</p:attrName>
                                        </p:attrNameLst>
                                      </p:cBhvr>
                                      <p:to>
                                        <p:strVal val="visible"/>
                                      </p:to>
                                    </p:set>
                                    <p:animEffect transition="in" filter="strips(downRight)">
                                      <p:cBhvr>
                                        <p:cTn id="7" dur="500"/>
                                        <p:tgtEl>
                                          <p:spTgt spid="860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6019"/>
                                        </p:tgtEl>
                                        <p:attrNameLst>
                                          <p:attrName>style.visibility</p:attrName>
                                        </p:attrNameLst>
                                      </p:cBhvr>
                                      <p:to>
                                        <p:strVal val="visible"/>
                                      </p:to>
                                    </p:set>
                                    <p:animEffect transition="in" filter="wipe(left)">
                                      <p:cBhvr>
                                        <p:cTn id="12" dur="500"/>
                                        <p:tgtEl>
                                          <p:spTgt spid="860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6020"/>
                                        </p:tgtEl>
                                        <p:attrNameLst>
                                          <p:attrName>style.visibility</p:attrName>
                                        </p:attrNameLst>
                                      </p:cBhvr>
                                      <p:to>
                                        <p:strVal val="visible"/>
                                      </p:to>
                                    </p:set>
                                    <p:animEffect transition="in" filter="wipe(left)">
                                      <p:cBhvr>
                                        <p:cTn id="17" dur="500"/>
                                        <p:tgtEl>
                                          <p:spTgt spid="860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6021"/>
                                        </p:tgtEl>
                                        <p:attrNameLst>
                                          <p:attrName>style.visibility</p:attrName>
                                        </p:attrNameLst>
                                      </p:cBhvr>
                                      <p:to>
                                        <p:strVal val="visible"/>
                                      </p:to>
                                    </p:set>
                                    <p:animEffect transition="in" filter="wipe(left)">
                                      <p:cBhvr>
                                        <p:cTn id="22" dur="500"/>
                                        <p:tgtEl>
                                          <p:spTgt spid="860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8" grpId="0" bldLvl="0" animBg="1" autoUpdateAnimBg="0"/>
      <p:bldP spid="86019" grpId="0" bldLvl="0" animBg="1" autoUpdateAnimBg="0"/>
      <p:bldP spid="86020" grpId="0" bldLvl="0" animBg="1" autoUpdateAnimBg="0"/>
      <p:bldP spid="86021" grpId="0" bldLvl="0" animBg="1" autoUpdateAnimBg="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ChangeArrowheads="1"/>
          </p:cNvSpPr>
          <p:nvPr/>
        </p:nvSpPr>
        <p:spPr bwMode="auto">
          <a:xfrm>
            <a:off x="609600" y="2514600"/>
            <a:ext cx="8305800" cy="1783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en-US" altLang="zh-CN" b="1">
                <a:solidFill>
                  <a:srgbClr val="990000"/>
                </a:solidFill>
                <a:ea typeface="楷体_GB2312" pitchFamily="49" charset="-122"/>
              </a:rPr>
              <a:t>if (</a:t>
            </a:r>
            <a:r>
              <a:rPr lang="en-US" altLang="zh-CN">
                <a:ea typeface="楷体_GB2312" pitchFamily="49" charset="-122"/>
                <a:sym typeface="+mn-ea"/>
              </a:rPr>
              <a:t>rc.key &gt;</a:t>
            </a:r>
            <a:r>
              <a:rPr lang="en-US" altLang="zh-CN" b="1">
                <a:ea typeface="楷体_GB2312" pitchFamily="49" charset="-122"/>
                <a:sym typeface="+mn-ea"/>
              </a:rPr>
              <a:t>=</a:t>
            </a:r>
            <a:r>
              <a:rPr lang="en-US" altLang="zh-CN">
                <a:ea typeface="楷体_GB2312" pitchFamily="49" charset="-122"/>
                <a:sym typeface="+mn-ea"/>
              </a:rPr>
              <a:t> R[j].key</a:t>
            </a:r>
            <a:r>
              <a:rPr lang="en-US" altLang="zh-CN" b="1">
                <a:solidFill>
                  <a:srgbClr val="990000"/>
                </a:solidFill>
                <a:ea typeface="楷体_GB2312" pitchFamily="49" charset="-122"/>
              </a:rPr>
              <a:t> )   break;</a:t>
            </a:r>
            <a:endParaRPr lang="en-US" altLang="zh-CN" sz="4800">
              <a:solidFill>
                <a:srgbClr val="990000"/>
              </a:solidFill>
              <a:ea typeface="楷体_GB2312" pitchFamily="49" charset="-122"/>
            </a:endParaRPr>
          </a:p>
          <a:p>
            <a:pPr>
              <a:lnSpc>
                <a:spcPct val="125000"/>
              </a:lnSpc>
            </a:pPr>
            <a:r>
              <a:rPr lang="en-US" altLang="zh-CN" sz="2000" b="1">
                <a:solidFill>
                  <a:srgbClr val="006600"/>
                </a:solidFill>
                <a:ea typeface="楷体_GB2312" pitchFamily="49" charset="-122"/>
              </a:rPr>
              <a:t>// Re-compare the root and child tree root,</a:t>
            </a:r>
            <a:endParaRPr lang="zh-CN" altLang="en-US" sz="4000" b="1">
              <a:solidFill>
                <a:srgbClr val="006600"/>
              </a:solidFill>
              <a:ea typeface="楷体_GB2312" pitchFamily="49" charset="-122"/>
            </a:endParaRPr>
          </a:p>
          <a:p>
            <a:pPr>
              <a:lnSpc>
                <a:spcPct val="125000"/>
              </a:lnSpc>
            </a:pPr>
            <a:r>
              <a:rPr lang="en-US" altLang="zh-CN" sz="2000" b="1">
                <a:solidFill>
                  <a:srgbClr val="006600"/>
                </a:solidFill>
                <a:ea typeface="楷体_GB2312" pitchFamily="49" charset="-122"/>
              </a:rPr>
              <a:t>// If the "&gt;=" condition is true, it indicates that the rc plug has been found</a:t>
            </a:r>
            <a:endParaRPr lang="zh-CN" altLang="en-US" sz="4000" b="1">
              <a:solidFill>
                <a:srgbClr val="006600"/>
              </a:solidFill>
              <a:ea typeface="楷体_GB2312" pitchFamily="49" charset="-122"/>
            </a:endParaRPr>
          </a:p>
          <a:p>
            <a:pPr>
              <a:lnSpc>
                <a:spcPct val="125000"/>
              </a:lnSpc>
            </a:pPr>
            <a:r>
              <a:rPr lang="en-US" altLang="zh-CN" sz="2000" b="1">
                <a:solidFill>
                  <a:srgbClr val="006600"/>
                </a:solidFill>
                <a:ea typeface="楷体_GB2312" pitchFamily="49" charset="-122"/>
              </a:rPr>
              <a:t>// Enter position s. Do not continue adjusting downward</a:t>
            </a:r>
          </a:p>
        </p:txBody>
      </p:sp>
      <p:sp>
        <p:nvSpPr>
          <p:cNvPr id="87043" name="Rectangle 3"/>
          <p:cNvSpPr>
            <a:spLocks noChangeArrowheads="1"/>
          </p:cNvSpPr>
          <p:nvPr/>
        </p:nvSpPr>
        <p:spPr bwMode="auto">
          <a:xfrm>
            <a:off x="683895" y="5033010"/>
            <a:ext cx="7332980" cy="829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840C26"/>
                </a:solidFill>
                <a:ea typeface="楷体_GB2312" pitchFamily="49" charset="-122"/>
              </a:rPr>
              <a:t>R[s] = R[j];   s = j;</a:t>
            </a:r>
            <a:endParaRPr lang="en-US" altLang="zh-CN" sz="4800" b="1">
              <a:solidFill>
                <a:srgbClr val="840C26"/>
              </a:solidFill>
              <a:ea typeface="楷体_GB2312" pitchFamily="49" charset="-122"/>
            </a:endParaRPr>
          </a:p>
          <a:p>
            <a:r>
              <a:rPr lang="en-US" altLang="zh-CN" sz="2000" b="1">
                <a:solidFill>
                  <a:srgbClr val="006600"/>
                </a:solidFill>
                <a:ea typeface="楷体_GB2312" pitchFamily="49" charset="-122"/>
              </a:rPr>
              <a:t>Otherwise, the record will move up and needs further adjustment.</a:t>
            </a:r>
          </a:p>
        </p:txBody>
      </p:sp>
      <p:sp>
        <p:nvSpPr>
          <p:cNvPr id="87044" name="Rectangle 4"/>
          <p:cNvSpPr>
            <a:spLocks noChangeArrowheads="1"/>
          </p:cNvSpPr>
          <p:nvPr/>
        </p:nvSpPr>
        <p:spPr bwMode="auto">
          <a:xfrm>
            <a:off x="609600" y="381000"/>
            <a:ext cx="8534400" cy="1398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en-US" altLang="zh-CN" b="1">
                <a:solidFill>
                  <a:srgbClr val="990000"/>
                </a:solidFill>
                <a:ea typeface="楷体_GB2312" pitchFamily="49" charset="-122"/>
              </a:rPr>
              <a:t>if  ( </a:t>
            </a:r>
            <a:r>
              <a:rPr lang="en-US" altLang="zh-CN" u="sng">
                <a:ea typeface="楷体_GB2312" pitchFamily="49" charset="-122"/>
                <a:sym typeface="+mn-ea"/>
              </a:rPr>
              <a:t>j&lt;m</a:t>
            </a:r>
            <a:r>
              <a:rPr lang="en-US" altLang="zh-CN">
                <a:ea typeface="楷体_GB2312" pitchFamily="49" charset="-122"/>
                <a:sym typeface="+mn-ea"/>
              </a:rPr>
              <a:t> </a:t>
            </a:r>
            <a:r>
              <a:rPr lang="en-US" altLang="zh-CN" b="1">
                <a:ea typeface="楷体_GB2312" pitchFamily="49" charset="-122"/>
                <a:sym typeface="+mn-ea"/>
              </a:rPr>
              <a:t>&amp;&amp;</a:t>
            </a:r>
            <a:r>
              <a:rPr lang="en-US" altLang="zh-CN">
                <a:ea typeface="楷体_GB2312" pitchFamily="49" charset="-122"/>
                <a:sym typeface="+mn-ea"/>
              </a:rPr>
              <a:t> R[j].key</a:t>
            </a:r>
            <a:r>
              <a:rPr lang="en-US" altLang="zh-CN" b="1">
                <a:ea typeface="楷体_GB2312" pitchFamily="49" charset="-122"/>
                <a:sym typeface="+mn-ea"/>
              </a:rPr>
              <a:t>&lt;</a:t>
            </a:r>
            <a:r>
              <a:rPr lang="en-US" altLang="zh-CN">
                <a:ea typeface="楷体_GB2312" pitchFamily="49" charset="-122"/>
                <a:sym typeface="+mn-ea"/>
              </a:rPr>
              <a:t>R[j+1].key </a:t>
            </a:r>
            <a:r>
              <a:rPr lang="en-US" altLang="zh-CN" b="1">
                <a:solidFill>
                  <a:srgbClr val="990000"/>
                </a:solidFill>
                <a:ea typeface="楷体_GB2312" pitchFamily="49" charset="-122"/>
              </a:rPr>
              <a:t>)  ++j;</a:t>
            </a:r>
            <a:endParaRPr lang="en-US" altLang="zh-CN" sz="4800">
              <a:solidFill>
                <a:srgbClr val="990000"/>
              </a:solidFill>
              <a:ea typeface="楷体_GB2312" pitchFamily="49" charset="-122"/>
            </a:endParaRPr>
          </a:p>
          <a:p>
            <a:pPr>
              <a:lnSpc>
                <a:spcPct val="125000"/>
              </a:lnSpc>
            </a:pPr>
            <a:r>
              <a:rPr lang="en-US" altLang="zh-CN" sz="2000" b="1">
                <a:solidFill>
                  <a:srgbClr val="006600"/>
                </a:solidFill>
                <a:ea typeface="楷体_GB2312" pitchFamily="49" charset="-122"/>
              </a:rPr>
              <a:t>// Compare left/right subtree roots first</a:t>
            </a:r>
            <a:endParaRPr lang="zh-CN" altLang="en-US" sz="4000" b="1">
              <a:solidFill>
                <a:srgbClr val="006600"/>
              </a:solidFill>
              <a:ea typeface="楷体_GB2312" pitchFamily="49" charset="-122"/>
            </a:endParaRPr>
          </a:p>
          <a:p>
            <a:pPr>
              <a:lnSpc>
                <a:spcPct val="125000"/>
              </a:lnSpc>
            </a:pPr>
            <a:r>
              <a:rPr lang="en-US" altLang="zh-CN" sz="2000" b="1">
                <a:solidFill>
                  <a:srgbClr val="006600"/>
                </a:solidFill>
                <a:ea typeface="楷体_GB2312" pitchFamily="49" charset="-122"/>
              </a:rPr>
              <a:t>// Let j indicate the position of the record with the larger key</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90</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87044"/>
                                        </p:tgtEl>
                                        <p:attrNameLst>
                                          <p:attrName>style.visibility</p:attrName>
                                        </p:attrNameLst>
                                      </p:cBhvr>
                                      <p:to>
                                        <p:strVal val="visible"/>
                                      </p:to>
                                    </p:set>
                                    <p:animEffect transition="in" filter="strips(downRight)">
                                      <p:cBhvr>
                                        <p:cTn id="7" dur="500"/>
                                        <p:tgtEl>
                                          <p:spTgt spid="87044"/>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87042"/>
                                        </p:tgtEl>
                                        <p:attrNameLst>
                                          <p:attrName>style.visibility</p:attrName>
                                        </p:attrNameLst>
                                      </p:cBhvr>
                                      <p:to>
                                        <p:strVal val="visible"/>
                                      </p:to>
                                    </p:set>
                                    <p:animEffect transition="in" filter="strips(downRight)">
                                      <p:cBhvr>
                                        <p:cTn id="12" dur="500"/>
                                        <p:tgtEl>
                                          <p:spTgt spid="87042"/>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87043"/>
                                        </p:tgtEl>
                                        <p:attrNameLst>
                                          <p:attrName>style.visibility</p:attrName>
                                        </p:attrNameLst>
                                      </p:cBhvr>
                                      <p:to>
                                        <p:strVal val="visible"/>
                                      </p:to>
                                    </p:set>
                                    <p:animEffect transition="in" filter="strips(downRight)">
                                      <p:cBhvr>
                                        <p:cTn id="17" dur="500"/>
                                        <p:tgtEl>
                                          <p:spTgt spid="870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2" grpId="0" bldLvl="0" animBg="1" autoUpdateAnimBg="0"/>
      <p:bldP spid="87043" grpId="0" bldLvl="0" animBg="1" autoUpdateAnimBg="0"/>
      <p:bldP spid="87044" grpId="0" bldLvl="0" animBg="1" autoUpdateAnimBg="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Text Box 2"/>
          <p:cNvSpPr txBox="1">
            <a:spLocks noChangeArrowheads="1"/>
          </p:cNvSpPr>
          <p:nvPr/>
        </p:nvSpPr>
        <p:spPr bwMode="auto">
          <a:xfrm>
            <a:off x="142875" y="-100013"/>
            <a:ext cx="8909050" cy="6195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en-US" altLang="zh-CN" sz="3600" b="1">
                <a:ea typeface="楷体_GB2312" pitchFamily="49" charset="-122"/>
              </a:rPr>
              <a:t>void</a:t>
            </a:r>
            <a:r>
              <a:rPr lang="en-US" altLang="zh-CN" sz="3600">
                <a:ea typeface="楷体_GB2312" pitchFamily="49" charset="-122"/>
              </a:rPr>
              <a:t> HeapAdjust (RcdType </a:t>
            </a:r>
            <a:r>
              <a:rPr lang="en-US" altLang="zh-CN" sz="3600" b="1">
                <a:ea typeface="楷体_GB2312" pitchFamily="49" charset="-122"/>
              </a:rPr>
              <a:t>&amp;</a:t>
            </a:r>
            <a:r>
              <a:rPr lang="en-US" altLang="zh-CN" sz="3600">
                <a:ea typeface="楷体_GB2312" pitchFamily="49" charset="-122"/>
              </a:rPr>
              <a:t>R[], </a:t>
            </a:r>
            <a:r>
              <a:rPr lang="en-US" altLang="zh-CN" sz="3600" b="1">
                <a:ea typeface="楷体_GB2312" pitchFamily="49" charset="-122"/>
              </a:rPr>
              <a:t>int</a:t>
            </a:r>
            <a:r>
              <a:rPr lang="en-US" altLang="zh-CN" sz="3600">
                <a:ea typeface="楷体_GB2312" pitchFamily="49" charset="-122"/>
              </a:rPr>
              <a:t> </a:t>
            </a:r>
            <a:r>
              <a:rPr lang="en-US" altLang="zh-CN" sz="3600" b="1">
                <a:ea typeface="楷体_GB2312" pitchFamily="49" charset="-122"/>
              </a:rPr>
              <a:t>s</a:t>
            </a:r>
            <a:r>
              <a:rPr lang="en-US" altLang="zh-CN" sz="3600">
                <a:ea typeface="楷体_GB2312" pitchFamily="49" charset="-122"/>
              </a:rPr>
              <a:t>, </a:t>
            </a:r>
            <a:r>
              <a:rPr lang="en-US" altLang="zh-CN" sz="3600" b="1">
                <a:ea typeface="楷体_GB2312" pitchFamily="49" charset="-122"/>
              </a:rPr>
              <a:t>int</a:t>
            </a:r>
            <a:r>
              <a:rPr lang="en-US" altLang="zh-CN" sz="3600">
                <a:ea typeface="楷体_GB2312" pitchFamily="49" charset="-122"/>
              </a:rPr>
              <a:t> </a:t>
            </a:r>
            <a:r>
              <a:rPr lang="en-US" altLang="zh-CN" sz="3600" b="1">
                <a:ea typeface="楷体_GB2312" pitchFamily="49" charset="-122"/>
              </a:rPr>
              <a:t>m</a:t>
            </a:r>
            <a:r>
              <a:rPr lang="en-US" altLang="zh-CN" sz="3600">
                <a:ea typeface="楷体_GB2312" pitchFamily="49" charset="-122"/>
              </a:rPr>
              <a:t>)</a:t>
            </a:r>
            <a:endParaRPr lang="en-US" altLang="zh-CN" sz="3000">
              <a:ea typeface="楷体_GB2312" pitchFamily="49" charset="-122"/>
            </a:endParaRPr>
          </a:p>
          <a:p>
            <a:r>
              <a:rPr lang="en-US" altLang="zh-CN" sz="3600" b="1">
                <a:ea typeface="楷体_GB2312" pitchFamily="49" charset="-122"/>
              </a:rPr>
              <a:t>{</a:t>
            </a:r>
            <a:r>
              <a:rPr lang="zh-CN" altLang="en-US" sz="3600" b="1">
                <a:ea typeface="楷体_GB2312" pitchFamily="49" charset="-122"/>
              </a:rPr>
              <a:t>　</a:t>
            </a:r>
            <a:r>
              <a:rPr lang="en-US" altLang="zh-CN" sz="2400" b="1">
                <a:solidFill>
                  <a:srgbClr val="006600"/>
                </a:solidFill>
              </a:rPr>
              <a:t>// Max-heap</a:t>
            </a:r>
            <a:endParaRPr lang="en-US" altLang="zh-CN" sz="2400">
              <a:ea typeface="楷体_GB2312" pitchFamily="49" charset="-122"/>
            </a:endParaRPr>
          </a:p>
          <a:p>
            <a:pPr>
              <a:lnSpc>
                <a:spcPct val="110000"/>
              </a:lnSpc>
            </a:pPr>
            <a:endParaRPr lang="zh-CN" altLang="en-US">
              <a:ea typeface="楷体_GB2312" pitchFamily="49" charset="-122"/>
            </a:endParaRPr>
          </a:p>
          <a:p>
            <a:pPr>
              <a:lnSpc>
                <a:spcPct val="110000"/>
              </a:lnSpc>
            </a:pPr>
            <a:endParaRPr lang="zh-CN" altLang="en-US">
              <a:ea typeface="楷体_GB2312" pitchFamily="49" charset="-122"/>
            </a:endParaRPr>
          </a:p>
          <a:p>
            <a:pPr>
              <a:lnSpc>
                <a:spcPct val="110000"/>
              </a:lnSpc>
            </a:pPr>
            <a:endParaRPr lang="zh-CN" altLang="en-US" sz="2800" b="1">
              <a:solidFill>
                <a:srgbClr val="006600"/>
              </a:solidFill>
              <a:ea typeface="楷体_GB2312" pitchFamily="49" charset="-122"/>
            </a:endParaRPr>
          </a:p>
          <a:p>
            <a:pPr>
              <a:lnSpc>
                <a:spcPct val="110000"/>
              </a:lnSpc>
            </a:pPr>
            <a:endParaRPr lang="zh-CN" altLang="en-US" sz="2800" b="1">
              <a:solidFill>
                <a:srgbClr val="006600"/>
              </a:solidFill>
              <a:ea typeface="楷体_GB2312" pitchFamily="49" charset="-122"/>
            </a:endParaRPr>
          </a:p>
          <a:p>
            <a:pPr>
              <a:lnSpc>
                <a:spcPct val="110000"/>
              </a:lnSpc>
            </a:pPr>
            <a:endParaRPr lang="zh-CN" altLang="en-US" sz="3600">
              <a:ea typeface="楷体_GB2312" pitchFamily="49" charset="-122"/>
            </a:endParaRPr>
          </a:p>
          <a:p>
            <a:pPr>
              <a:lnSpc>
                <a:spcPct val="110000"/>
              </a:lnSpc>
            </a:pPr>
            <a:endParaRPr lang="zh-CN" altLang="en-US" sz="3600">
              <a:ea typeface="楷体_GB2312" pitchFamily="49" charset="-122"/>
            </a:endParaRPr>
          </a:p>
          <a:p>
            <a:pPr>
              <a:lnSpc>
                <a:spcPct val="110000"/>
              </a:lnSpc>
            </a:pPr>
            <a:endParaRPr lang="zh-CN" altLang="en-US" sz="3600">
              <a:ea typeface="楷体_GB2312" pitchFamily="49" charset="-122"/>
            </a:endParaRPr>
          </a:p>
          <a:p>
            <a:pPr>
              <a:lnSpc>
                <a:spcPct val="110000"/>
              </a:lnSpc>
            </a:pPr>
            <a:endParaRPr lang="zh-CN" altLang="en-US" sz="3600">
              <a:ea typeface="楷体_GB2312" pitchFamily="49" charset="-122"/>
            </a:endParaRPr>
          </a:p>
          <a:p>
            <a:pPr>
              <a:lnSpc>
                <a:spcPct val="110000"/>
              </a:lnSpc>
            </a:pPr>
            <a:r>
              <a:rPr lang="en-US" altLang="zh-CN" sz="3600" b="1">
                <a:ea typeface="楷体_GB2312" pitchFamily="49" charset="-122"/>
              </a:rPr>
              <a:t>}</a:t>
            </a:r>
            <a:r>
              <a:rPr lang="en-US" altLang="zh-CN">
                <a:ea typeface="楷体_GB2312" pitchFamily="49" charset="-122"/>
              </a:rPr>
              <a:t> // HeapAdjust</a:t>
            </a:r>
          </a:p>
        </p:txBody>
      </p:sp>
      <p:sp>
        <p:nvSpPr>
          <p:cNvPr id="214019" name="Rectangle 3"/>
          <p:cNvSpPr>
            <a:spLocks noChangeArrowheads="1"/>
          </p:cNvSpPr>
          <p:nvPr/>
        </p:nvSpPr>
        <p:spPr bwMode="auto">
          <a:xfrm>
            <a:off x="755650" y="981075"/>
            <a:ext cx="6678930" cy="700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10000"/>
              </a:lnSpc>
            </a:pPr>
            <a:r>
              <a:rPr lang="en-US" altLang="zh-CN" sz="3600">
                <a:ea typeface="楷体_GB2312" pitchFamily="49" charset="-122"/>
              </a:rPr>
              <a:t>rc = R[s];        </a:t>
            </a:r>
            <a:r>
              <a:rPr lang="en-US" altLang="zh-CN" sz="2800" b="1">
                <a:solidFill>
                  <a:srgbClr val="006600"/>
                </a:solidFill>
                <a:ea typeface="楷体_GB2312" pitchFamily="49" charset="-122"/>
              </a:rPr>
              <a:t>// Temporarily store R[s] </a:t>
            </a:r>
          </a:p>
        </p:txBody>
      </p:sp>
      <p:sp>
        <p:nvSpPr>
          <p:cNvPr id="214020" name="Rectangle 4"/>
          <p:cNvSpPr>
            <a:spLocks noChangeArrowheads="1"/>
          </p:cNvSpPr>
          <p:nvPr/>
        </p:nvSpPr>
        <p:spPr bwMode="auto">
          <a:xfrm>
            <a:off x="755650" y="1557338"/>
            <a:ext cx="8139113" cy="2889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pPr>
            <a:r>
              <a:rPr lang="en-US" altLang="zh-CN" b="1">
                <a:ea typeface="楷体_GB2312" pitchFamily="49" charset="-122"/>
              </a:rPr>
              <a:t>for</a:t>
            </a:r>
            <a:r>
              <a:rPr lang="en-US" altLang="zh-CN">
                <a:ea typeface="楷体_GB2312" pitchFamily="49" charset="-122"/>
              </a:rPr>
              <a:t> ( </a:t>
            </a:r>
            <a:r>
              <a:rPr lang="en-US" altLang="zh-CN" b="1">
                <a:ea typeface="楷体_GB2312" pitchFamily="49" charset="-122"/>
              </a:rPr>
              <a:t>j=2*s; j&lt;=m; j*=2</a:t>
            </a:r>
            <a:r>
              <a:rPr lang="en-US" altLang="zh-CN">
                <a:ea typeface="楷体_GB2312" pitchFamily="49" charset="-122"/>
              </a:rPr>
              <a:t> ) </a:t>
            </a:r>
            <a:r>
              <a:rPr lang="en-US" altLang="zh-CN" b="1">
                <a:ea typeface="楷体_GB2312" pitchFamily="49" charset="-122"/>
              </a:rPr>
              <a:t>{  </a:t>
            </a:r>
            <a:r>
              <a:rPr lang="en-US" altLang="zh-CN" sz="2800" b="1">
                <a:solidFill>
                  <a:srgbClr val="006600"/>
                </a:solidFill>
                <a:ea typeface="楷体_GB2312" pitchFamily="49" charset="-122"/>
              </a:rPr>
              <a:t>// </a:t>
            </a:r>
            <a:r>
              <a:rPr lang="en-US" altLang="zh-CN" sz="2000" b="1">
                <a:solidFill>
                  <a:srgbClr val="006600"/>
                </a:solidFill>
                <a:ea typeface="楷体_GB2312" pitchFamily="49" charset="-122"/>
              </a:rPr>
              <a:t>j initially points to the left child</a:t>
            </a:r>
          </a:p>
          <a:p>
            <a:pPr>
              <a:lnSpc>
                <a:spcPct val="130000"/>
              </a:lnSpc>
            </a:pPr>
            <a:endParaRPr lang="zh-CN" altLang="en-US" b="1">
              <a:ea typeface="楷体_GB2312" pitchFamily="49" charset="-122"/>
            </a:endParaRPr>
          </a:p>
          <a:p>
            <a:pPr>
              <a:lnSpc>
                <a:spcPct val="130000"/>
              </a:lnSpc>
            </a:pPr>
            <a:endParaRPr lang="zh-CN" altLang="en-US" b="1">
              <a:ea typeface="楷体_GB2312" pitchFamily="49" charset="-122"/>
            </a:endParaRPr>
          </a:p>
          <a:p>
            <a:pPr>
              <a:lnSpc>
                <a:spcPct val="130000"/>
              </a:lnSpc>
            </a:pPr>
            <a:endParaRPr lang="zh-CN" altLang="en-US" b="1">
              <a:ea typeface="楷体_GB2312" pitchFamily="49" charset="-122"/>
            </a:endParaRPr>
          </a:p>
          <a:p>
            <a:pPr>
              <a:lnSpc>
                <a:spcPct val="130000"/>
              </a:lnSpc>
            </a:pPr>
            <a:r>
              <a:rPr lang="zh-CN" altLang="en-US" b="1">
                <a:ea typeface="楷体_GB2312" pitchFamily="49" charset="-122"/>
              </a:rPr>
              <a:t> </a:t>
            </a:r>
            <a:r>
              <a:rPr lang="en-US" altLang="zh-CN" b="1">
                <a:ea typeface="楷体_GB2312" pitchFamily="49" charset="-122"/>
              </a:rPr>
              <a:t>}</a:t>
            </a:r>
            <a:endParaRPr lang="en-US" altLang="zh-CN">
              <a:ea typeface="楷体_GB2312" pitchFamily="49" charset="-122"/>
            </a:endParaRPr>
          </a:p>
        </p:txBody>
      </p:sp>
      <p:sp>
        <p:nvSpPr>
          <p:cNvPr id="214021" name="Rectangle 5"/>
          <p:cNvSpPr>
            <a:spLocks noChangeArrowheads="1"/>
          </p:cNvSpPr>
          <p:nvPr/>
        </p:nvSpPr>
        <p:spPr bwMode="auto">
          <a:xfrm>
            <a:off x="533400" y="4833938"/>
            <a:ext cx="8610600" cy="11741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en-US" altLang="zh-CN" sz="3600">
                <a:ea typeface="楷体_GB2312" pitchFamily="49" charset="-122"/>
              </a:rPr>
              <a:t>R[s] = rc; </a:t>
            </a:r>
            <a:r>
              <a:rPr lang="en-US" altLang="zh-CN" sz="2800" b="1">
                <a:solidFill>
                  <a:srgbClr val="006600"/>
                </a:solidFill>
                <a:ea typeface="楷体_GB2312" pitchFamily="49" charset="-122"/>
              </a:rPr>
              <a:t>// Insert the original top node into position s</a:t>
            </a:r>
          </a:p>
        </p:txBody>
      </p:sp>
      <p:sp>
        <p:nvSpPr>
          <p:cNvPr id="214022" name="Rectangle 6"/>
          <p:cNvSpPr>
            <a:spLocks noChangeArrowheads="1"/>
          </p:cNvSpPr>
          <p:nvPr/>
        </p:nvSpPr>
        <p:spPr bwMode="auto">
          <a:xfrm>
            <a:off x="1222375" y="2060575"/>
            <a:ext cx="7921625" cy="779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en-US" altLang="zh-CN" sz="3600" b="1">
                <a:solidFill>
                  <a:srgbClr val="990000"/>
                </a:solidFill>
                <a:ea typeface="楷体_GB2312" pitchFamily="49" charset="-122"/>
              </a:rPr>
              <a:t>if</a:t>
            </a:r>
            <a:r>
              <a:rPr lang="en-US" altLang="zh-CN" sz="3600">
                <a:solidFill>
                  <a:srgbClr val="990000"/>
                </a:solidFill>
                <a:ea typeface="楷体_GB2312" pitchFamily="49" charset="-122"/>
              </a:rPr>
              <a:t> </a:t>
            </a:r>
            <a:r>
              <a:rPr lang="en-US" altLang="zh-CN" sz="3600">
                <a:ea typeface="楷体_GB2312" pitchFamily="49" charset="-122"/>
              </a:rPr>
              <a:t>( </a:t>
            </a:r>
            <a:r>
              <a:rPr lang="en-US" altLang="zh-CN" sz="3600" u="sng">
                <a:ea typeface="楷体_GB2312" pitchFamily="49" charset="-122"/>
              </a:rPr>
              <a:t>j&lt;m</a:t>
            </a:r>
            <a:r>
              <a:rPr lang="en-US" altLang="zh-CN" sz="3600">
                <a:ea typeface="楷体_GB2312" pitchFamily="49" charset="-122"/>
              </a:rPr>
              <a:t> </a:t>
            </a:r>
            <a:r>
              <a:rPr lang="en-US" altLang="zh-CN" sz="3600" b="1">
                <a:ea typeface="楷体_GB2312" pitchFamily="49" charset="-122"/>
              </a:rPr>
              <a:t>&amp;&amp;</a:t>
            </a:r>
            <a:r>
              <a:rPr lang="en-US" altLang="zh-CN" sz="3600">
                <a:ea typeface="楷体_GB2312" pitchFamily="49" charset="-122"/>
              </a:rPr>
              <a:t> R[j].key</a:t>
            </a:r>
            <a:r>
              <a:rPr lang="zh-CN" altLang="en-US" sz="3600" b="1">
                <a:ea typeface="楷体_GB2312" pitchFamily="49" charset="-122"/>
              </a:rPr>
              <a:t>＜</a:t>
            </a:r>
            <a:r>
              <a:rPr lang="en-US" altLang="zh-CN" sz="3600">
                <a:ea typeface="楷体_GB2312" pitchFamily="49" charset="-122"/>
              </a:rPr>
              <a:t>R[j+1].key )</a:t>
            </a:r>
            <a:r>
              <a:rPr lang="en-US" altLang="zh-CN" sz="3600" b="1">
                <a:solidFill>
                  <a:srgbClr val="990000"/>
                </a:solidFill>
                <a:ea typeface="楷体_GB2312" pitchFamily="49" charset="-122"/>
              </a:rPr>
              <a:t>  ++</a:t>
            </a:r>
            <a:r>
              <a:rPr lang="en-US" altLang="zh-CN" sz="3600">
                <a:solidFill>
                  <a:srgbClr val="990000"/>
                </a:solidFill>
                <a:ea typeface="楷体_GB2312" pitchFamily="49" charset="-122"/>
              </a:rPr>
              <a:t>j;     </a:t>
            </a:r>
            <a:endParaRPr lang="en-US" altLang="zh-CN" sz="2800" b="1">
              <a:solidFill>
                <a:srgbClr val="006600"/>
              </a:solidFill>
              <a:ea typeface="楷体_GB2312" pitchFamily="49" charset="-122"/>
            </a:endParaRPr>
          </a:p>
        </p:txBody>
      </p:sp>
      <p:sp>
        <p:nvSpPr>
          <p:cNvPr id="214023" name="Rectangle 7"/>
          <p:cNvSpPr>
            <a:spLocks noChangeArrowheads="1"/>
          </p:cNvSpPr>
          <p:nvPr/>
        </p:nvSpPr>
        <p:spPr bwMode="auto">
          <a:xfrm>
            <a:off x="1187450" y="2744788"/>
            <a:ext cx="8305800" cy="779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en-US" altLang="zh-CN" sz="3600" b="1">
                <a:solidFill>
                  <a:srgbClr val="990000"/>
                </a:solidFill>
                <a:ea typeface="楷体_GB2312" pitchFamily="49" charset="-122"/>
              </a:rPr>
              <a:t>if</a:t>
            </a:r>
            <a:r>
              <a:rPr lang="en-US" altLang="zh-CN" sz="3600">
                <a:solidFill>
                  <a:srgbClr val="990000"/>
                </a:solidFill>
                <a:ea typeface="楷体_GB2312" pitchFamily="49" charset="-122"/>
              </a:rPr>
              <a:t> </a:t>
            </a:r>
            <a:r>
              <a:rPr lang="en-US" altLang="zh-CN" sz="3600">
                <a:ea typeface="楷体_GB2312" pitchFamily="49" charset="-122"/>
              </a:rPr>
              <a:t>( rc.key </a:t>
            </a:r>
            <a:r>
              <a:rPr lang="zh-CN" altLang="en-US" sz="3600">
                <a:ea typeface="楷体_GB2312" pitchFamily="49" charset="-122"/>
              </a:rPr>
              <a:t>＞</a:t>
            </a:r>
            <a:r>
              <a:rPr lang="en-US" altLang="zh-CN" sz="3600" b="1">
                <a:ea typeface="楷体_GB2312" pitchFamily="49" charset="-122"/>
              </a:rPr>
              <a:t>=</a:t>
            </a:r>
            <a:r>
              <a:rPr lang="en-US" altLang="zh-CN" sz="3600">
                <a:ea typeface="楷体_GB2312" pitchFamily="49" charset="-122"/>
              </a:rPr>
              <a:t> R[j].key )</a:t>
            </a:r>
            <a:r>
              <a:rPr lang="en-US" altLang="zh-CN" sz="3600">
                <a:solidFill>
                  <a:srgbClr val="990000"/>
                </a:solidFill>
                <a:ea typeface="楷体_GB2312" pitchFamily="49" charset="-122"/>
              </a:rPr>
              <a:t>  </a:t>
            </a:r>
            <a:r>
              <a:rPr lang="en-US" altLang="zh-CN" sz="3600" b="1">
                <a:solidFill>
                  <a:srgbClr val="990000"/>
                </a:solidFill>
                <a:ea typeface="楷体_GB2312" pitchFamily="49" charset="-122"/>
              </a:rPr>
              <a:t>break</a:t>
            </a:r>
            <a:r>
              <a:rPr lang="en-US" altLang="zh-CN" sz="3600">
                <a:solidFill>
                  <a:srgbClr val="990000"/>
                </a:solidFill>
                <a:ea typeface="楷体_GB2312" pitchFamily="49" charset="-122"/>
              </a:rPr>
              <a:t>; </a:t>
            </a:r>
          </a:p>
        </p:txBody>
      </p:sp>
      <p:sp>
        <p:nvSpPr>
          <p:cNvPr id="214024" name="Rectangle 8"/>
          <p:cNvSpPr>
            <a:spLocks noChangeArrowheads="1"/>
          </p:cNvSpPr>
          <p:nvPr/>
        </p:nvSpPr>
        <p:spPr bwMode="auto">
          <a:xfrm>
            <a:off x="1150938" y="3536950"/>
            <a:ext cx="4197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840C26"/>
                </a:solidFill>
                <a:ea typeface="楷体_GB2312" pitchFamily="49" charset="-122"/>
              </a:rPr>
              <a:t>R[s] = R[j];   s = j;    </a:t>
            </a:r>
            <a:endParaRPr lang="en-US" altLang="zh-CN" sz="2800" b="1">
              <a:solidFill>
                <a:srgbClr val="006600"/>
              </a:solidFill>
              <a:ea typeface="楷体_GB2312" pitchFamily="49" charset="-122"/>
            </a:endParaRP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91</a:t>
            </a:fld>
            <a:endParaRPr lang="en-US" altLang="zh-CN"/>
          </a:p>
        </p:txBody>
      </p:sp>
    </p:spTree>
  </p:cSld>
  <p:clrMapOvr>
    <a:masterClrMapping/>
  </p:clrMapOvr>
  <p:transition>
    <p:pull dir="rd"/>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Text Box 2"/>
          <p:cNvSpPr txBox="1">
            <a:spLocks noChangeArrowheads="1"/>
          </p:cNvSpPr>
          <p:nvPr/>
        </p:nvSpPr>
        <p:spPr bwMode="auto">
          <a:xfrm>
            <a:off x="0" y="188595"/>
            <a:ext cx="8234680" cy="953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b="1">
                <a:solidFill>
                  <a:srgbClr val="008784"/>
                </a:solidFill>
                <a:latin typeface="Arial" panose="020B0604020202020204" pitchFamily="34" charset="0"/>
                <a:ea typeface="楷体_GB2312" pitchFamily="49" charset="-122"/>
                <a:cs typeface="Arial" panose="020B0604020202020204" pitchFamily="34" charset="0"/>
              </a:rPr>
              <a:t>Building a heap is a process of "sifting" from bottom to top.</a:t>
            </a:r>
          </a:p>
        </p:txBody>
      </p:sp>
      <p:sp>
        <p:nvSpPr>
          <p:cNvPr id="137219" name="Oval 3"/>
          <p:cNvSpPr>
            <a:spLocks noChangeArrowheads="1"/>
          </p:cNvSpPr>
          <p:nvPr/>
        </p:nvSpPr>
        <p:spPr bwMode="auto">
          <a:xfrm>
            <a:off x="4648200" y="1981200"/>
            <a:ext cx="685800" cy="381000"/>
          </a:xfrm>
          <a:prstGeom prst="ellipse">
            <a:avLst/>
          </a:prstGeom>
          <a:solidFill>
            <a:srgbClr val="CCFFCC"/>
          </a:solidFill>
          <a:ln w="1270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chemeClr val="accent2"/>
                </a:solidFill>
              </a:rPr>
              <a:t>40</a:t>
            </a:r>
            <a:endParaRPr lang="en-US" altLang="zh-CN" sz="2400"/>
          </a:p>
        </p:txBody>
      </p:sp>
      <p:sp>
        <p:nvSpPr>
          <p:cNvPr id="137220" name="Oval 4"/>
          <p:cNvSpPr>
            <a:spLocks noChangeArrowheads="1"/>
          </p:cNvSpPr>
          <p:nvPr/>
        </p:nvSpPr>
        <p:spPr bwMode="auto">
          <a:xfrm>
            <a:off x="2590800" y="2743200"/>
            <a:ext cx="685800" cy="381000"/>
          </a:xfrm>
          <a:prstGeom prst="ellipse">
            <a:avLst/>
          </a:prstGeom>
          <a:solidFill>
            <a:srgbClr val="CCFFCC"/>
          </a:solidFill>
          <a:ln w="1270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chemeClr val="accent2"/>
                </a:solidFill>
              </a:rPr>
              <a:t>55</a:t>
            </a:r>
            <a:endParaRPr lang="en-US" altLang="zh-CN" b="1"/>
          </a:p>
        </p:txBody>
      </p:sp>
      <p:sp>
        <p:nvSpPr>
          <p:cNvPr id="137221" name="Oval 5"/>
          <p:cNvSpPr>
            <a:spLocks noChangeArrowheads="1"/>
          </p:cNvSpPr>
          <p:nvPr/>
        </p:nvSpPr>
        <p:spPr bwMode="auto">
          <a:xfrm>
            <a:off x="6858000" y="2743200"/>
            <a:ext cx="685800" cy="381000"/>
          </a:xfrm>
          <a:prstGeom prst="ellipse">
            <a:avLst/>
          </a:prstGeom>
          <a:solidFill>
            <a:srgbClr val="CCFFCC"/>
          </a:solidFill>
          <a:ln w="1270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chemeClr val="accent2"/>
                </a:solidFill>
              </a:rPr>
              <a:t>49</a:t>
            </a:r>
            <a:endParaRPr lang="en-US" altLang="zh-CN" sz="2400"/>
          </a:p>
        </p:txBody>
      </p:sp>
      <p:sp>
        <p:nvSpPr>
          <p:cNvPr id="137222" name="Oval 6"/>
          <p:cNvSpPr>
            <a:spLocks noChangeArrowheads="1"/>
          </p:cNvSpPr>
          <p:nvPr/>
        </p:nvSpPr>
        <p:spPr bwMode="auto">
          <a:xfrm>
            <a:off x="1219200" y="3505200"/>
            <a:ext cx="685800" cy="381000"/>
          </a:xfrm>
          <a:prstGeom prst="ellipse">
            <a:avLst/>
          </a:prstGeom>
          <a:solidFill>
            <a:srgbClr val="CCFFCC"/>
          </a:solidFill>
          <a:ln w="1270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chemeClr val="accent2"/>
                </a:solidFill>
              </a:rPr>
              <a:t>73</a:t>
            </a:r>
            <a:endParaRPr lang="en-US" altLang="zh-CN" sz="2400"/>
          </a:p>
        </p:txBody>
      </p:sp>
      <p:sp>
        <p:nvSpPr>
          <p:cNvPr id="137223" name="Oval 7"/>
          <p:cNvSpPr>
            <a:spLocks noChangeArrowheads="1"/>
          </p:cNvSpPr>
          <p:nvPr/>
        </p:nvSpPr>
        <p:spPr bwMode="auto">
          <a:xfrm>
            <a:off x="533400" y="4267200"/>
            <a:ext cx="685800" cy="381000"/>
          </a:xfrm>
          <a:prstGeom prst="ellipse">
            <a:avLst/>
          </a:prstGeom>
          <a:solidFill>
            <a:srgbClr val="CCFFCC"/>
          </a:solidFill>
          <a:ln w="1270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chemeClr val="accent2"/>
                </a:solidFill>
              </a:rPr>
              <a:t>81</a:t>
            </a:r>
            <a:endParaRPr lang="en-US" altLang="zh-CN" sz="2400"/>
          </a:p>
        </p:txBody>
      </p:sp>
      <p:sp>
        <p:nvSpPr>
          <p:cNvPr id="137224" name="Oval 8"/>
          <p:cNvSpPr>
            <a:spLocks noChangeArrowheads="1"/>
          </p:cNvSpPr>
          <p:nvPr/>
        </p:nvSpPr>
        <p:spPr bwMode="auto">
          <a:xfrm>
            <a:off x="1828800" y="4267200"/>
            <a:ext cx="685800" cy="381000"/>
          </a:xfrm>
          <a:prstGeom prst="ellipse">
            <a:avLst/>
          </a:prstGeom>
          <a:solidFill>
            <a:srgbClr val="CCFFCC"/>
          </a:solidFill>
          <a:ln w="1270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chemeClr val="accent2"/>
                </a:solidFill>
              </a:rPr>
              <a:t>64</a:t>
            </a:r>
            <a:endParaRPr lang="en-US" altLang="zh-CN" sz="2400"/>
          </a:p>
        </p:txBody>
      </p:sp>
      <p:sp>
        <p:nvSpPr>
          <p:cNvPr id="137225" name="Oval 9"/>
          <p:cNvSpPr>
            <a:spLocks noChangeArrowheads="1"/>
          </p:cNvSpPr>
          <p:nvPr/>
        </p:nvSpPr>
        <p:spPr bwMode="auto">
          <a:xfrm>
            <a:off x="3200400" y="4267200"/>
            <a:ext cx="685800" cy="381000"/>
          </a:xfrm>
          <a:prstGeom prst="ellipse">
            <a:avLst/>
          </a:prstGeom>
          <a:solidFill>
            <a:srgbClr val="CCFFCC"/>
          </a:solidFill>
          <a:ln w="1270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chemeClr val="accent2"/>
                </a:solidFill>
              </a:rPr>
              <a:t>36</a:t>
            </a:r>
            <a:endParaRPr lang="en-US" altLang="zh-CN" sz="2400"/>
          </a:p>
        </p:txBody>
      </p:sp>
      <p:sp>
        <p:nvSpPr>
          <p:cNvPr id="137226" name="Oval 10"/>
          <p:cNvSpPr>
            <a:spLocks noChangeArrowheads="1"/>
          </p:cNvSpPr>
          <p:nvPr/>
        </p:nvSpPr>
        <p:spPr bwMode="auto">
          <a:xfrm>
            <a:off x="3886200" y="3505200"/>
            <a:ext cx="685800" cy="381000"/>
          </a:xfrm>
          <a:prstGeom prst="ellipse">
            <a:avLst/>
          </a:prstGeom>
          <a:solidFill>
            <a:srgbClr val="CCFFCC"/>
          </a:solidFill>
          <a:ln w="1270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chemeClr val="accent2"/>
                </a:solidFill>
              </a:rPr>
              <a:t>12</a:t>
            </a:r>
            <a:endParaRPr lang="en-US" altLang="zh-CN" b="1">
              <a:solidFill>
                <a:srgbClr val="009999"/>
              </a:solidFill>
            </a:endParaRPr>
          </a:p>
        </p:txBody>
      </p:sp>
      <p:sp>
        <p:nvSpPr>
          <p:cNvPr id="137227" name="Oval 11"/>
          <p:cNvSpPr>
            <a:spLocks noChangeArrowheads="1"/>
          </p:cNvSpPr>
          <p:nvPr/>
        </p:nvSpPr>
        <p:spPr bwMode="auto">
          <a:xfrm>
            <a:off x="5715000" y="3505200"/>
            <a:ext cx="685800" cy="381000"/>
          </a:xfrm>
          <a:prstGeom prst="ellipse">
            <a:avLst/>
          </a:prstGeom>
          <a:solidFill>
            <a:srgbClr val="CCFFCC"/>
          </a:solidFill>
          <a:ln w="1270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chemeClr val="accent2"/>
                </a:solidFill>
              </a:rPr>
              <a:t>27</a:t>
            </a:r>
            <a:endParaRPr lang="en-US" altLang="zh-CN" sz="2400"/>
          </a:p>
        </p:txBody>
      </p:sp>
      <p:sp>
        <p:nvSpPr>
          <p:cNvPr id="137228" name="Oval 12"/>
          <p:cNvSpPr>
            <a:spLocks noChangeArrowheads="1"/>
          </p:cNvSpPr>
          <p:nvPr/>
        </p:nvSpPr>
        <p:spPr bwMode="auto">
          <a:xfrm>
            <a:off x="8077200" y="3505200"/>
            <a:ext cx="685800" cy="381000"/>
          </a:xfrm>
          <a:prstGeom prst="ellipse">
            <a:avLst/>
          </a:prstGeom>
          <a:solidFill>
            <a:srgbClr val="CCFFCC"/>
          </a:solidFill>
          <a:ln w="1270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chemeClr val="accent2"/>
                </a:solidFill>
              </a:rPr>
              <a:t>98</a:t>
            </a:r>
          </a:p>
        </p:txBody>
      </p:sp>
      <p:sp>
        <p:nvSpPr>
          <p:cNvPr id="137229" name="Line 13"/>
          <p:cNvSpPr>
            <a:spLocks noChangeShapeType="1"/>
          </p:cNvSpPr>
          <p:nvPr/>
        </p:nvSpPr>
        <p:spPr bwMode="auto">
          <a:xfrm flipH="1">
            <a:off x="2895600" y="2286000"/>
            <a:ext cx="1828800" cy="4572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30" name="Line 14"/>
          <p:cNvSpPr>
            <a:spLocks noChangeShapeType="1"/>
          </p:cNvSpPr>
          <p:nvPr/>
        </p:nvSpPr>
        <p:spPr bwMode="auto">
          <a:xfrm>
            <a:off x="5257800" y="2286000"/>
            <a:ext cx="1905000" cy="4572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31" name="Line 15"/>
          <p:cNvSpPr>
            <a:spLocks noChangeShapeType="1"/>
          </p:cNvSpPr>
          <p:nvPr/>
        </p:nvSpPr>
        <p:spPr bwMode="auto">
          <a:xfrm flipH="1">
            <a:off x="1524000" y="2971800"/>
            <a:ext cx="1066800" cy="5334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32" name="Line 16"/>
          <p:cNvSpPr>
            <a:spLocks noChangeShapeType="1"/>
          </p:cNvSpPr>
          <p:nvPr/>
        </p:nvSpPr>
        <p:spPr bwMode="auto">
          <a:xfrm>
            <a:off x="3276600" y="2971800"/>
            <a:ext cx="914400" cy="5334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33" name="Line 17"/>
          <p:cNvSpPr>
            <a:spLocks noChangeShapeType="1"/>
          </p:cNvSpPr>
          <p:nvPr/>
        </p:nvSpPr>
        <p:spPr bwMode="auto">
          <a:xfrm flipH="1">
            <a:off x="6019800" y="2971800"/>
            <a:ext cx="838200" cy="5334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34" name="Line 18"/>
          <p:cNvSpPr>
            <a:spLocks noChangeShapeType="1"/>
          </p:cNvSpPr>
          <p:nvPr/>
        </p:nvSpPr>
        <p:spPr bwMode="auto">
          <a:xfrm>
            <a:off x="7543800" y="2971800"/>
            <a:ext cx="914400" cy="5334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35" name="Line 19"/>
          <p:cNvSpPr>
            <a:spLocks noChangeShapeType="1"/>
          </p:cNvSpPr>
          <p:nvPr/>
        </p:nvSpPr>
        <p:spPr bwMode="auto">
          <a:xfrm flipH="1">
            <a:off x="838200" y="3733800"/>
            <a:ext cx="381000" cy="5334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36" name="Line 20"/>
          <p:cNvSpPr>
            <a:spLocks noChangeShapeType="1"/>
          </p:cNvSpPr>
          <p:nvPr/>
        </p:nvSpPr>
        <p:spPr bwMode="auto">
          <a:xfrm>
            <a:off x="1905000" y="3733800"/>
            <a:ext cx="228600" cy="5334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37" name="Line 21"/>
          <p:cNvSpPr>
            <a:spLocks noChangeShapeType="1"/>
          </p:cNvSpPr>
          <p:nvPr/>
        </p:nvSpPr>
        <p:spPr bwMode="auto">
          <a:xfrm flipH="1">
            <a:off x="3505200" y="3733800"/>
            <a:ext cx="381000" cy="5334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38" name="Text Box 22"/>
          <p:cNvSpPr txBox="1">
            <a:spLocks noChangeArrowheads="1"/>
          </p:cNvSpPr>
          <p:nvPr/>
        </p:nvSpPr>
        <p:spPr bwMode="auto">
          <a:xfrm>
            <a:off x="73025" y="1016000"/>
            <a:ext cx="9144000" cy="953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a:solidFill>
                  <a:srgbClr val="990000"/>
                </a:solidFill>
                <a:latin typeface="Arial" panose="020B0604020202020204" pitchFamily="34" charset="0"/>
                <a:ea typeface="隶书" panose="02010509060101010101" pitchFamily="49" charset="-122"/>
                <a:cs typeface="Arial" panose="020B0604020202020204" pitchFamily="34" charset="0"/>
              </a:rPr>
              <a:t>Example: The keyword sequence before sorting (building a max-heap)</a:t>
            </a:r>
          </a:p>
        </p:txBody>
      </p:sp>
      <p:sp>
        <p:nvSpPr>
          <p:cNvPr id="137239" name="Rectangle 23"/>
          <p:cNvSpPr>
            <a:spLocks noChangeArrowheads="1"/>
          </p:cNvSpPr>
          <p:nvPr/>
        </p:nvSpPr>
        <p:spPr bwMode="auto">
          <a:xfrm>
            <a:off x="3200400" y="3429000"/>
            <a:ext cx="1447800" cy="1295400"/>
          </a:xfrm>
          <a:prstGeom prst="rect">
            <a:avLst/>
          </a:prstGeom>
          <a:solidFill>
            <a:srgbClr val="CCFFCC">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40" name="Oval 24"/>
          <p:cNvSpPr>
            <a:spLocks noChangeArrowheads="1"/>
          </p:cNvSpPr>
          <p:nvPr/>
        </p:nvSpPr>
        <p:spPr bwMode="auto">
          <a:xfrm>
            <a:off x="3200400" y="4267200"/>
            <a:ext cx="685800" cy="381000"/>
          </a:xfrm>
          <a:prstGeom prst="ellipse">
            <a:avLst/>
          </a:prstGeom>
          <a:solidFill>
            <a:srgbClr val="CCFFCC"/>
          </a:solidFill>
          <a:ln w="1270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990000"/>
                </a:solidFill>
              </a:rPr>
              <a:t>12</a:t>
            </a:r>
            <a:endParaRPr lang="en-US" altLang="zh-CN" sz="2400"/>
          </a:p>
        </p:txBody>
      </p:sp>
      <p:sp>
        <p:nvSpPr>
          <p:cNvPr id="137241" name="Oval 25"/>
          <p:cNvSpPr>
            <a:spLocks noChangeArrowheads="1"/>
          </p:cNvSpPr>
          <p:nvPr/>
        </p:nvSpPr>
        <p:spPr bwMode="auto">
          <a:xfrm>
            <a:off x="3886200" y="3505200"/>
            <a:ext cx="685800" cy="381000"/>
          </a:xfrm>
          <a:prstGeom prst="ellipse">
            <a:avLst/>
          </a:prstGeom>
          <a:solidFill>
            <a:srgbClr val="CCFFCC"/>
          </a:solidFill>
          <a:ln w="1270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990000"/>
                </a:solidFill>
              </a:rPr>
              <a:t>36</a:t>
            </a:r>
            <a:endParaRPr lang="en-US" altLang="zh-CN" sz="2400"/>
          </a:p>
        </p:txBody>
      </p:sp>
      <p:sp>
        <p:nvSpPr>
          <p:cNvPr id="137242" name="Rectangle 26"/>
          <p:cNvSpPr>
            <a:spLocks noChangeArrowheads="1"/>
          </p:cNvSpPr>
          <p:nvPr/>
        </p:nvSpPr>
        <p:spPr bwMode="auto">
          <a:xfrm>
            <a:off x="533400" y="3429000"/>
            <a:ext cx="2057400" cy="1295400"/>
          </a:xfrm>
          <a:prstGeom prst="rect">
            <a:avLst/>
          </a:prstGeom>
          <a:solidFill>
            <a:srgbClr val="CCFFCC">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43" name="Oval 27"/>
          <p:cNvSpPr>
            <a:spLocks noChangeArrowheads="1"/>
          </p:cNvSpPr>
          <p:nvPr/>
        </p:nvSpPr>
        <p:spPr bwMode="auto">
          <a:xfrm>
            <a:off x="1219200" y="3505200"/>
            <a:ext cx="685800" cy="381000"/>
          </a:xfrm>
          <a:prstGeom prst="ellipse">
            <a:avLst/>
          </a:prstGeom>
          <a:solidFill>
            <a:srgbClr val="CCFFCC"/>
          </a:solidFill>
          <a:ln w="1270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990000"/>
                </a:solidFill>
              </a:rPr>
              <a:t>81</a:t>
            </a:r>
            <a:endParaRPr lang="en-US" altLang="zh-CN" sz="2400"/>
          </a:p>
        </p:txBody>
      </p:sp>
      <p:sp>
        <p:nvSpPr>
          <p:cNvPr id="137244" name="Oval 28"/>
          <p:cNvSpPr>
            <a:spLocks noChangeArrowheads="1"/>
          </p:cNvSpPr>
          <p:nvPr/>
        </p:nvSpPr>
        <p:spPr bwMode="auto">
          <a:xfrm>
            <a:off x="533400" y="4267200"/>
            <a:ext cx="685800" cy="381000"/>
          </a:xfrm>
          <a:prstGeom prst="ellipse">
            <a:avLst/>
          </a:prstGeom>
          <a:solidFill>
            <a:srgbClr val="CCFFCC"/>
          </a:solidFill>
          <a:ln w="1270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990000"/>
                </a:solidFill>
              </a:rPr>
              <a:t>73</a:t>
            </a:r>
            <a:endParaRPr lang="en-US" altLang="zh-CN" sz="2400"/>
          </a:p>
        </p:txBody>
      </p:sp>
      <p:sp>
        <p:nvSpPr>
          <p:cNvPr id="137245" name="Rectangle 29"/>
          <p:cNvSpPr>
            <a:spLocks noChangeArrowheads="1"/>
          </p:cNvSpPr>
          <p:nvPr/>
        </p:nvSpPr>
        <p:spPr bwMode="auto">
          <a:xfrm>
            <a:off x="5638800" y="2590800"/>
            <a:ext cx="3200400" cy="1371600"/>
          </a:xfrm>
          <a:prstGeom prst="rect">
            <a:avLst/>
          </a:prstGeom>
          <a:solidFill>
            <a:srgbClr val="CCFFCC">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46" name="Oval 30"/>
          <p:cNvSpPr>
            <a:spLocks noChangeArrowheads="1"/>
          </p:cNvSpPr>
          <p:nvPr/>
        </p:nvSpPr>
        <p:spPr bwMode="auto">
          <a:xfrm>
            <a:off x="8077200" y="3505200"/>
            <a:ext cx="685800" cy="381000"/>
          </a:xfrm>
          <a:prstGeom prst="ellipse">
            <a:avLst/>
          </a:prstGeom>
          <a:solidFill>
            <a:srgbClr val="CCFFCC"/>
          </a:solidFill>
          <a:ln w="1270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990000"/>
                </a:solidFill>
              </a:rPr>
              <a:t>49</a:t>
            </a:r>
            <a:endParaRPr lang="en-US" altLang="zh-CN" sz="2400"/>
          </a:p>
        </p:txBody>
      </p:sp>
      <p:sp>
        <p:nvSpPr>
          <p:cNvPr id="137247" name="Oval 31"/>
          <p:cNvSpPr>
            <a:spLocks noChangeArrowheads="1"/>
          </p:cNvSpPr>
          <p:nvPr/>
        </p:nvSpPr>
        <p:spPr bwMode="auto">
          <a:xfrm>
            <a:off x="6858000" y="2743200"/>
            <a:ext cx="685800" cy="381000"/>
          </a:xfrm>
          <a:prstGeom prst="ellipse">
            <a:avLst/>
          </a:prstGeom>
          <a:solidFill>
            <a:srgbClr val="CCFFCC"/>
          </a:solidFill>
          <a:ln w="1270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990000"/>
                </a:solidFill>
              </a:rPr>
              <a:t>98</a:t>
            </a:r>
            <a:endParaRPr lang="en-US" altLang="zh-CN" sz="2400"/>
          </a:p>
        </p:txBody>
      </p:sp>
      <p:sp>
        <p:nvSpPr>
          <p:cNvPr id="137248" name="Rectangle 32"/>
          <p:cNvSpPr>
            <a:spLocks noChangeArrowheads="1"/>
          </p:cNvSpPr>
          <p:nvPr/>
        </p:nvSpPr>
        <p:spPr bwMode="auto">
          <a:xfrm>
            <a:off x="533400" y="2667000"/>
            <a:ext cx="4114800" cy="2057400"/>
          </a:xfrm>
          <a:prstGeom prst="rect">
            <a:avLst/>
          </a:prstGeom>
          <a:solidFill>
            <a:srgbClr val="CCFFCC">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49" name="Oval 33"/>
          <p:cNvSpPr>
            <a:spLocks noChangeArrowheads="1"/>
          </p:cNvSpPr>
          <p:nvPr/>
        </p:nvSpPr>
        <p:spPr bwMode="auto">
          <a:xfrm>
            <a:off x="2590800" y="2743200"/>
            <a:ext cx="685800" cy="381000"/>
          </a:xfrm>
          <a:prstGeom prst="ellipse">
            <a:avLst/>
          </a:prstGeom>
          <a:solidFill>
            <a:srgbClr val="CCFFCC"/>
          </a:solidFill>
          <a:ln w="1270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990000"/>
                </a:solidFill>
              </a:rPr>
              <a:t>81</a:t>
            </a:r>
            <a:endParaRPr lang="en-US" altLang="zh-CN" sz="2400"/>
          </a:p>
        </p:txBody>
      </p:sp>
      <p:sp>
        <p:nvSpPr>
          <p:cNvPr id="137250" name="Oval 34"/>
          <p:cNvSpPr>
            <a:spLocks noChangeArrowheads="1"/>
          </p:cNvSpPr>
          <p:nvPr/>
        </p:nvSpPr>
        <p:spPr bwMode="auto">
          <a:xfrm>
            <a:off x="1219200" y="3505200"/>
            <a:ext cx="685800" cy="381000"/>
          </a:xfrm>
          <a:prstGeom prst="ellipse">
            <a:avLst/>
          </a:prstGeom>
          <a:solidFill>
            <a:srgbClr val="CCFFCC"/>
          </a:solidFill>
          <a:ln w="1270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990000"/>
                </a:solidFill>
              </a:rPr>
              <a:t>73</a:t>
            </a:r>
            <a:endParaRPr lang="en-US" altLang="zh-CN" sz="2400"/>
          </a:p>
        </p:txBody>
      </p:sp>
      <p:sp>
        <p:nvSpPr>
          <p:cNvPr id="137251" name="Oval 35"/>
          <p:cNvSpPr>
            <a:spLocks noChangeArrowheads="1"/>
          </p:cNvSpPr>
          <p:nvPr/>
        </p:nvSpPr>
        <p:spPr bwMode="auto">
          <a:xfrm>
            <a:off x="533400" y="4267200"/>
            <a:ext cx="685800" cy="381000"/>
          </a:xfrm>
          <a:prstGeom prst="ellipse">
            <a:avLst/>
          </a:prstGeom>
          <a:solidFill>
            <a:srgbClr val="CCFFCC"/>
          </a:solidFill>
          <a:ln w="1270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990000"/>
                </a:solidFill>
              </a:rPr>
              <a:t>55</a:t>
            </a:r>
            <a:endParaRPr lang="en-US" altLang="zh-CN" sz="2400"/>
          </a:p>
        </p:txBody>
      </p:sp>
      <p:sp>
        <p:nvSpPr>
          <p:cNvPr id="137252" name="Text Box 36"/>
          <p:cNvSpPr txBox="1">
            <a:spLocks noChangeArrowheads="1"/>
          </p:cNvSpPr>
          <p:nvPr/>
        </p:nvSpPr>
        <p:spPr bwMode="auto">
          <a:xfrm>
            <a:off x="365125" y="4724400"/>
            <a:ext cx="8778875" cy="138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solidFill>
                  <a:srgbClr val="FF6600"/>
                </a:solidFill>
                <a:latin typeface="Arial" panose="020B0604020202020204" pitchFamily="34" charset="0"/>
                <a:ea typeface="隶书" panose="02010509060101010101" pitchFamily="49" charset="-122"/>
                <a:cs typeface="Arial" panose="020B0604020202020204" pitchFamily="34" charset="0"/>
                <a:sym typeface="+mn-ea"/>
              </a:rPr>
              <a:t>Now that both left and right subtrees have been adjusted to heap structures, the final step is to adjust the root node to make the entire binary tree a heap.</a:t>
            </a:r>
          </a:p>
        </p:txBody>
      </p:sp>
      <p:sp>
        <p:nvSpPr>
          <p:cNvPr id="137253" name="Oval 37"/>
          <p:cNvSpPr>
            <a:spLocks noChangeArrowheads="1"/>
          </p:cNvSpPr>
          <p:nvPr/>
        </p:nvSpPr>
        <p:spPr bwMode="auto">
          <a:xfrm>
            <a:off x="4648200" y="1981200"/>
            <a:ext cx="685800" cy="381000"/>
          </a:xfrm>
          <a:prstGeom prst="ellipse">
            <a:avLst/>
          </a:prstGeom>
          <a:solidFill>
            <a:srgbClr val="CCFFCC"/>
          </a:solidFill>
          <a:ln w="1270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FF0000"/>
                </a:solidFill>
              </a:rPr>
              <a:t>98</a:t>
            </a:r>
            <a:endParaRPr lang="en-US" altLang="zh-CN" sz="2400"/>
          </a:p>
        </p:txBody>
      </p:sp>
      <p:sp>
        <p:nvSpPr>
          <p:cNvPr id="137254" name="Oval 38"/>
          <p:cNvSpPr>
            <a:spLocks noChangeArrowheads="1"/>
          </p:cNvSpPr>
          <p:nvPr/>
        </p:nvSpPr>
        <p:spPr bwMode="auto">
          <a:xfrm>
            <a:off x="6858000" y="2743200"/>
            <a:ext cx="685800" cy="381000"/>
          </a:xfrm>
          <a:prstGeom prst="ellipse">
            <a:avLst/>
          </a:prstGeom>
          <a:solidFill>
            <a:srgbClr val="CCFFCC"/>
          </a:solidFill>
          <a:ln w="1270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FF0000"/>
                </a:solidFill>
              </a:rPr>
              <a:t>49</a:t>
            </a:r>
            <a:endParaRPr lang="en-US" altLang="zh-CN" sz="2400"/>
          </a:p>
        </p:txBody>
      </p:sp>
      <p:sp>
        <p:nvSpPr>
          <p:cNvPr id="137255" name="Oval 39"/>
          <p:cNvSpPr>
            <a:spLocks noChangeArrowheads="1"/>
          </p:cNvSpPr>
          <p:nvPr/>
        </p:nvSpPr>
        <p:spPr bwMode="auto">
          <a:xfrm>
            <a:off x="8077200" y="3505200"/>
            <a:ext cx="685800" cy="381000"/>
          </a:xfrm>
          <a:prstGeom prst="ellipse">
            <a:avLst/>
          </a:prstGeom>
          <a:solidFill>
            <a:srgbClr val="CCFFCC"/>
          </a:solidFill>
          <a:ln w="1270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FF0000"/>
                </a:solidFill>
              </a:rPr>
              <a:t>40</a:t>
            </a:r>
            <a:endParaRPr lang="en-US" altLang="zh-CN" sz="2400"/>
          </a:p>
        </p:txBody>
      </p:sp>
      <p:sp>
        <p:nvSpPr>
          <p:cNvPr id="137256" name="Oval 40"/>
          <p:cNvSpPr>
            <a:spLocks noChangeArrowheads="1"/>
          </p:cNvSpPr>
          <p:nvPr/>
        </p:nvSpPr>
        <p:spPr bwMode="auto">
          <a:xfrm>
            <a:off x="1828800" y="4267200"/>
            <a:ext cx="685800" cy="381000"/>
          </a:xfrm>
          <a:prstGeom prst="ellipse">
            <a:avLst/>
          </a:prstGeom>
          <a:solidFill>
            <a:srgbClr val="CCFFCC"/>
          </a:solidFill>
          <a:ln w="1270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chemeClr val="accent2"/>
                </a:solidFill>
              </a:rPr>
              <a:t>64</a:t>
            </a:r>
            <a:endParaRPr lang="en-US" altLang="zh-CN" sz="2400"/>
          </a:p>
        </p:txBody>
      </p:sp>
      <p:sp>
        <p:nvSpPr>
          <p:cNvPr id="137257" name="Oval 41"/>
          <p:cNvSpPr>
            <a:spLocks noChangeArrowheads="1"/>
          </p:cNvSpPr>
          <p:nvPr/>
        </p:nvSpPr>
        <p:spPr bwMode="auto">
          <a:xfrm>
            <a:off x="3886200" y="3505200"/>
            <a:ext cx="685800" cy="381000"/>
          </a:xfrm>
          <a:prstGeom prst="ellipse">
            <a:avLst/>
          </a:prstGeom>
          <a:solidFill>
            <a:srgbClr val="CCFFCC"/>
          </a:solidFill>
          <a:ln w="1270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990000"/>
                </a:solidFill>
              </a:rPr>
              <a:t>36</a:t>
            </a:r>
            <a:endParaRPr lang="en-US" altLang="zh-CN" sz="2400"/>
          </a:p>
        </p:txBody>
      </p:sp>
      <p:sp>
        <p:nvSpPr>
          <p:cNvPr id="137258" name="Oval 42"/>
          <p:cNvSpPr>
            <a:spLocks noChangeArrowheads="1"/>
          </p:cNvSpPr>
          <p:nvPr/>
        </p:nvSpPr>
        <p:spPr bwMode="auto">
          <a:xfrm>
            <a:off x="3200400" y="4267200"/>
            <a:ext cx="685800" cy="381000"/>
          </a:xfrm>
          <a:prstGeom prst="ellipse">
            <a:avLst/>
          </a:prstGeom>
          <a:solidFill>
            <a:srgbClr val="CCFFCC"/>
          </a:solidFill>
          <a:ln w="1270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990000"/>
                </a:solidFill>
              </a:rPr>
              <a:t>12</a:t>
            </a:r>
            <a:endParaRPr lang="en-US" altLang="zh-CN" sz="2400"/>
          </a:p>
        </p:txBody>
      </p:sp>
      <p:sp>
        <p:nvSpPr>
          <p:cNvPr id="137259" name="Oval 43"/>
          <p:cNvSpPr>
            <a:spLocks noChangeArrowheads="1"/>
          </p:cNvSpPr>
          <p:nvPr/>
        </p:nvSpPr>
        <p:spPr bwMode="auto">
          <a:xfrm>
            <a:off x="5715000" y="3505200"/>
            <a:ext cx="685800" cy="381000"/>
          </a:xfrm>
          <a:prstGeom prst="ellipse">
            <a:avLst/>
          </a:prstGeom>
          <a:solidFill>
            <a:srgbClr val="CCFFCC"/>
          </a:solidFill>
          <a:ln w="1270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chemeClr val="accent2"/>
                </a:solidFill>
              </a:rPr>
              <a:t>27</a:t>
            </a:r>
            <a:endParaRPr lang="en-US" altLang="zh-CN" sz="2400"/>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92</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137218"/>
                                        </p:tgtEl>
                                        <p:attrNameLst>
                                          <p:attrName>style.visibility</p:attrName>
                                        </p:attrNameLst>
                                      </p:cBhvr>
                                      <p:to>
                                        <p:strVal val="visible"/>
                                      </p:to>
                                    </p:set>
                                    <p:anim calcmode="lin" valueType="num">
                                      <p:cBhvr additive="base">
                                        <p:cTn id="7" dur="500" fill="hold"/>
                                        <p:tgtEl>
                                          <p:spTgt spid="137218"/>
                                        </p:tgtEl>
                                        <p:attrNameLst>
                                          <p:attrName>ppt_x</p:attrName>
                                        </p:attrNameLst>
                                      </p:cBhvr>
                                      <p:tavLst>
                                        <p:tav tm="0">
                                          <p:val>
                                            <p:strVal val="#ppt_x"/>
                                          </p:val>
                                        </p:tav>
                                        <p:tav tm="100000">
                                          <p:val>
                                            <p:strVal val="#ppt_x"/>
                                          </p:val>
                                        </p:tav>
                                      </p:tavLst>
                                    </p:anim>
                                    <p:anim calcmode="lin" valueType="num">
                                      <p:cBhvr additive="base">
                                        <p:cTn id="8" dur="500" fill="hold"/>
                                        <p:tgtEl>
                                          <p:spTgt spid="137218"/>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37238"/>
                                        </p:tgtEl>
                                        <p:attrNameLst>
                                          <p:attrName>style.visibility</p:attrName>
                                        </p:attrNameLst>
                                      </p:cBhvr>
                                      <p:to>
                                        <p:strVal val="visible"/>
                                      </p:to>
                                    </p:set>
                                    <p:animEffect transition="in" filter="wipe(left)">
                                      <p:cBhvr>
                                        <p:cTn id="13" dur="500"/>
                                        <p:tgtEl>
                                          <p:spTgt spid="13723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137219"/>
                                        </p:tgtEl>
                                        <p:attrNameLst>
                                          <p:attrName>style.visibility</p:attrName>
                                        </p:attrNameLst>
                                      </p:cBhvr>
                                      <p:to>
                                        <p:strVal val="visible"/>
                                      </p:to>
                                    </p:set>
                                    <p:animEffect transition="in" filter="wipe(up)">
                                      <p:cBhvr>
                                        <p:cTn id="18" dur="500"/>
                                        <p:tgtEl>
                                          <p:spTgt spid="137219"/>
                                        </p:tgtEl>
                                      </p:cBhvr>
                                    </p:animEffect>
                                  </p:childTnLst>
                                </p:cTn>
                              </p:par>
                            </p:childTnLst>
                          </p:cTn>
                        </p:par>
                        <p:par>
                          <p:cTn id="19" fill="hold">
                            <p:stCondLst>
                              <p:cond delay="500"/>
                            </p:stCondLst>
                            <p:childTnLst>
                              <p:par>
                                <p:cTn id="20" presetID="22" presetClass="entr" presetSubtype="1" fill="hold" grpId="0" nodeType="afterEffect">
                                  <p:stCondLst>
                                    <p:cond delay="0"/>
                                  </p:stCondLst>
                                  <p:childTnLst>
                                    <p:set>
                                      <p:cBhvr>
                                        <p:cTn id="21" dur="1" fill="hold">
                                          <p:stCondLst>
                                            <p:cond delay="0"/>
                                          </p:stCondLst>
                                        </p:cTn>
                                        <p:tgtEl>
                                          <p:spTgt spid="137229"/>
                                        </p:tgtEl>
                                        <p:attrNameLst>
                                          <p:attrName>style.visibility</p:attrName>
                                        </p:attrNameLst>
                                      </p:cBhvr>
                                      <p:to>
                                        <p:strVal val="visible"/>
                                      </p:to>
                                    </p:set>
                                    <p:animEffect transition="in" filter="wipe(up)">
                                      <p:cBhvr>
                                        <p:cTn id="22" dur="500"/>
                                        <p:tgtEl>
                                          <p:spTgt spid="137229"/>
                                        </p:tgtEl>
                                      </p:cBhvr>
                                    </p:animEffect>
                                  </p:childTnLst>
                                </p:cTn>
                              </p:par>
                            </p:childTnLst>
                          </p:cTn>
                        </p:par>
                        <p:par>
                          <p:cTn id="23" fill="hold">
                            <p:stCondLst>
                              <p:cond delay="1000"/>
                            </p:stCondLst>
                            <p:childTnLst>
                              <p:par>
                                <p:cTn id="24" presetID="22" presetClass="entr" presetSubtype="1" fill="hold" grpId="0" nodeType="afterEffect">
                                  <p:stCondLst>
                                    <p:cond delay="0"/>
                                  </p:stCondLst>
                                  <p:childTnLst>
                                    <p:set>
                                      <p:cBhvr>
                                        <p:cTn id="25" dur="1" fill="hold">
                                          <p:stCondLst>
                                            <p:cond delay="0"/>
                                          </p:stCondLst>
                                        </p:cTn>
                                        <p:tgtEl>
                                          <p:spTgt spid="137220"/>
                                        </p:tgtEl>
                                        <p:attrNameLst>
                                          <p:attrName>style.visibility</p:attrName>
                                        </p:attrNameLst>
                                      </p:cBhvr>
                                      <p:to>
                                        <p:strVal val="visible"/>
                                      </p:to>
                                    </p:set>
                                    <p:animEffect transition="in" filter="wipe(up)">
                                      <p:cBhvr>
                                        <p:cTn id="26" dur="500"/>
                                        <p:tgtEl>
                                          <p:spTgt spid="137220"/>
                                        </p:tgtEl>
                                      </p:cBhvr>
                                    </p:animEffect>
                                  </p:childTnLst>
                                </p:cTn>
                              </p:par>
                            </p:childTnLst>
                          </p:cTn>
                        </p:par>
                        <p:par>
                          <p:cTn id="27" fill="hold">
                            <p:stCondLst>
                              <p:cond delay="1500"/>
                            </p:stCondLst>
                            <p:childTnLst>
                              <p:par>
                                <p:cTn id="28" presetID="22" presetClass="entr" presetSubtype="1" fill="hold" grpId="0" nodeType="afterEffect">
                                  <p:stCondLst>
                                    <p:cond delay="0"/>
                                  </p:stCondLst>
                                  <p:childTnLst>
                                    <p:set>
                                      <p:cBhvr>
                                        <p:cTn id="29" dur="1" fill="hold">
                                          <p:stCondLst>
                                            <p:cond delay="0"/>
                                          </p:stCondLst>
                                        </p:cTn>
                                        <p:tgtEl>
                                          <p:spTgt spid="137230"/>
                                        </p:tgtEl>
                                        <p:attrNameLst>
                                          <p:attrName>style.visibility</p:attrName>
                                        </p:attrNameLst>
                                      </p:cBhvr>
                                      <p:to>
                                        <p:strVal val="visible"/>
                                      </p:to>
                                    </p:set>
                                    <p:animEffect transition="in" filter="wipe(up)">
                                      <p:cBhvr>
                                        <p:cTn id="30" dur="500"/>
                                        <p:tgtEl>
                                          <p:spTgt spid="137230"/>
                                        </p:tgtEl>
                                      </p:cBhvr>
                                    </p:animEffect>
                                  </p:childTnLst>
                                </p:cTn>
                              </p:par>
                            </p:childTnLst>
                          </p:cTn>
                        </p:par>
                        <p:par>
                          <p:cTn id="31" fill="hold">
                            <p:stCondLst>
                              <p:cond delay="2000"/>
                            </p:stCondLst>
                            <p:childTnLst>
                              <p:par>
                                <p:cTn id="32" presetID="22" presetClass="entr" presetSubtype="1" fill="hold" grpId="0" nodeType="afterEffect">
                                  <p:stCondLst>
                                    <p:cond delay="0"/>
                                  </p:stCondLst>
                                  <p:childTnLst>
                                    <p:set>
                                      <p:cBhvr>
                                        <p:cTn id="33" dur="1" fill="hold">
                                          <p:stCondLst>
                                            <p:cond delay="0"/>
                                          </p:stCondLst>
                                        </p:cTn>
                                        <p:tgtEl>
                                          <p:spTgt spid="137221"/>
                                        </p:tgtEl>
                                        <p:attrNameLst>
                                          <p:attrName>style.visibility</p:attrName>
                                        </p:attrNameLst>
                                      </p:cBhvr>
                                      <p:to>
                                        <p:strVal val="visible"/>
                                      </p:to>
                                    </p:set>
                                    <p:animEffect transition="in" filter="wipe(up)">
                                      <p:cBhvr>
                                        <p:cTn id="34" dur="500"/>
                                        <p:tgtEl>
                                          <p:spTgt spid="137221"/>
                                        </p:tgtEl>
                                      </p:cBhvr>
                                    </p:animEffect>
                                  </p:childTnLst>
                                </p:cTn>
                              </p:par>
                            </p:childTnLst>
                          </p:cTn>
                        </p:par>
                        <p:par>
                          <p:cTn id="35" fill="hold">
                            <p:stCondLst>
                              <p:cond delay="2500"/>
                            </p:stCondLst>
                            <p:childTnLst>
                              <p:par>
                                <p:cTn id="36" presetID="22" presetClass="entr" presetSubtype="1" fill="hold" grpId="0" nodeType="afterEffect">
                                  <p:stCondLst>
                                    <p:cond delay="0"/>
                                  </p:stCondLst>
                                  <p:childTnLst>
                                    <p:set>
                                      <p:cBhvr>
                                        <p:cTn id="37" dur="1" fill="hold">
                                          <p:stCondLst>
                                            <p:cond delay="0"/>
                                          </p:stCondLst>
                                        </p:cTn>
                                        <p:tgtEl>
                                          <p:spTgt spid="137231"/>
                                        </p:tgtEl>
                                        <p:attrNameLst>
                                          <p:attrName>style.visibility</p:attrName>
                                        </p:attrNameLst>
                                      </p:cBhvr>
                                      <p:to>
                                        <p:strVal val="visible"/>
                                      </p:to>
                                    </p:set>
                                    <p:animEffect transition="in" filter="wipe(up)">
                                      <p:cBhvr>
                                        <p:cTn id="38" dur="500"/>
                                        <p:tgtEl>
                                          <p:spTgt spid="137231"/>
                                        </p:tgtEl>
                                      </p:cBhvr>
                                    </p:animEffect>
                                  </p:childTnLst>
                                </p:cTn>
                              </p:par>
                            </p:childTnLst>
                          </p:cTn>
                        </p:par>
                        <p:par>
                          <p:cTn id="39" fill="hold">
                            <p:stCondLst>
                              <p:cond delay="3000"/>
                            </p:stCondLst>
                            <p:childTnLst>
                              <p:par>
                                <p:cTn id="40" presetID="22" presetClass="entr" presetSubtype="1" fill="hold" grpId="0" nodeType="afterEffect">
                                  <p:stCondLst>
                                    <p:cond delay="0"/>
                                  </p:stCondLst>
                                  <p:childTnLst>
                                    <p:set>
                                      <p:cBhvr>
                                        <p:cTn id="41" dur="1" fill="hold">
                                          <p:stCondLst>
                                            <p:cond delay="0"/>
                                          </p:stCondLst>
                                        </p:cTn>
                                        <p:tgtEl>
                                          <p:spTgt spid="137222"/>
                                        </p:tgtEl>
                                        <p:attrNameLst>
                                          <p:attrName>style.visibility</p:attrName>
                                        </p:attrNameLst>
                                      </p:cBhvr>
                                      <p:to>
                                        <p:strVal val="visible"/>
                                      </p:to>
                                    </p:set>
                                    <p:animEffect transition="in" filter="wipe(up)">
                                      <p:cBhvr>
                                        <p:cTn id="42" dur="500"/>
                                        <p:tgtEl>
                                          <p:spTgt spid="137222"/>
                                        </p:tgtEl>
                                      </p:cBhvr>
                                    </p:animEffect>
                                  </p:childTnLst>
                                </p:cTn>
                              </p:par>
                            </p:childTnLst>
                          </p:cTn>
                        </p:par>
                        <p:par>
                          <p:cTn id="43" fill="hold">
                            <p:stCondLst>
                              <p:cond delay="3500"/>
                            </p:stCondLst>
                            <p:childTnLst>
                              <p:par>
                                <p:cTn id="44" presetID="22" presetClass="entr" presetSubtype="1" fill="hold" grpId="0" nodeType="afterEffect">
                                  <p:stCondLst>
                                    <p:cond delay="0"/>
                                  </p:stCondLst>
                                  <p:childTnLst>
                                    <p:set>
                                      <p:cBhvr>
                                        <p:cTn id="45" dur="1" fill="hold">
                                          <p:stCondLst>
                                            <p:cond delay="0"/>
                                          </p:stCondLst>
                                        </p:cTn>
                                        <p:tgtEl>
                                          <p:spTgt spid="137232"/>
                                        </p:tgtEl>
                                        <p:attrNameLst>
                                          <p:attrName>style.visibility</p:attrName>
                                        </p:attrNameLst>
                                      </p:cBhvr>
                                      <p:to>
                                        <p:strVal val="visible"/>
                                      </p:to>
                                    </p:set>
                                    <p:animEffect transition="in" filter="wipe(up)">
                                      <p:cBhvr>
                                        <p:cTn id="46" dur="500"/>
                                        <p:tgtEl>
                                          <p:spTgt spid="137232"/>
                                        </p:tgtEl>
                                      </p:cBhvr>
                                    </p:animEffect>
                                  </p:childTnLst>
                                </p:cTn>
                              </p:par>
                            </p:childTnLst>
                          </p:cTn>
                        </p:par>
                        <p:par>
                          <p:cTn id="47" fill="hold">
                            <p:stCondLst>
                              <p:cond delay="4000"/>
                            </p:stCondLst>
                            <p:childTnLst>
                              <p:par>
                                <p:cTn id="48" presetID="22" presetClass="entr" presetSubtype="1" fill="hold" grpId="0" nodeType="afterEffect">
                                  <p:stCondLst>
                                    <p:cond delay="0"/>
                                  </p:stCondLst>
                                  <p:childTnLst>
                                    <p:set>
                                      <p:cBhvr>
                                        <p:cTn id="49" dur="1" fill="hold">
                                          <p:stCondLst>
                                            <p:cond delay="0"/>
                                          </p:stCondLst>
                                        </p:cTn>
                                        <p:tgtEl>
                                          <p:spTgt spid="137226"/>
                                        </p:tgtEl>
                                        <p:attrNameLst>
                                          <p:attrName>style.visibility</p:attrName>
                                        </p:attrNameLst>
                                      </p:cBhvr>
                                      <p:to>
                                        <p:strVal val="visible"/>
                                      </p:to>
                                    </p:set>
                                    <p:animEffect transition="in" filter="wipe(up)">
                                      <p:cBhvr>
                                        <p:cTn id="50" dur="500"/>
                                        <p:tgtEl>
                                          <p:spTgt spid="137226"/>
                                        </p:tgtEl>
                                      </p:cBhvr>
                                    </p:animEffect>
                                  </p:childTnLst>
                                </p:cTn>
                              </p:par>
                            </p:childTnLst>
                          </p:cTn>
                        </p:par>
                        <p:par>
                          <p:cTn id="51" fill="hold">
                            <p:stCondLst>
                              <p:cond delay="4500"/>
                            </p:stCondLst>
                            <p:childTnLst>
                              <p:par>
                                <p:cTn id="52" presetID="22" presetClass="entr" presetSubtype="1" fill="hold" grpId="0" nodeType="afterEffect">
                                  <p:stCondLst>
                                    <p:cond delay="0"/>
                                  </p:stCondLst>
                                  <p:childTnLst>
                                    <p:set>
                                      <p:cBhvr>
                                        <p:cTn id="53" dur="1" fill="hold">
                                          <p:stCondLst>
                                            <p:cond delay="0"/>
                                          </p:stCondLst>
                                        </p:cTn>
                                        <p:tgtEl>
                                          <p:spTgt spid="137233"/>
                                        </p:tgtEl>
                                        <p:attrNameLst>
                                          <p:attrName>style.visibility</p:attrName>
                                        </p:attrNameLst>
                                      </p:cBhvr>
                                      <p:to>
                                        <p:strVal val="visible"/>
                                      </p:to>
                                    </p:set>
                                    <p:animEffect transition="in" filter="wipe(up)">
                                      <p:cBhvr>
                                        <p:cTn id="54" dur="500"/>
                                        <p:tgtEl>
                                          <p:spTgt spid="137233"/>
                                        </p:tgtEl>
                                      </p:cBhvr>
                                    </p:animEffect>
                                  </p:childTnLst>
                                </p:cTn>
                              </p:par>
                            </p:childTnLst>
                          </p:cTn>
                        </p:par>
                        <p:par>
                          <p:cTn id="55" fill="hold">
                            <p:stCondLst>
                              <p:cond delay="5000"/>
                            </p:stCondLst>
                            <p:childTnLst>
                              <p:par>
                                <p:cTn id="56" presetID="22" presetClass="entr" presetSubtype="1" fill="hold" grpId="0" nodeType="afterEffect">
                                  <p:stCondLst>
                                    <p:cond delay="0"/>
                                  </p:stCondLst>
                                  <p:childTnLst>
                                    <p:set>
                                      <p:cBhvr>
                                        <p:cTn id="57" dur="1" fill="hold">
                                          <p:stCondLst>
                                            <p:cond delay="0"/>
                                          </p:stCondLst>
                                        </p:cTn>
                                        <p:tgtEl>
                                          <p:spTgt spid="137227"/>
                                        </p:tgtEl>
                                        <p:attrNameLst>
                                          <p:attrName>style.visibility</p:attrName>
                                        </p:attrNameLst>
                                      </p:cBhvr>
                                      <p:to>
                                        <p:strVal val="visible"/>
                                      </p:to>
                                    </p:set>
                                    <p:animEffect transition="in" filter="wipe(up)">
                                      <p:cBhvr>
                                        <p:cTn id="58" dur="500"/>
                                        <p:tgtEl>
                                          <p:spTgt spid="137227"/>
                                        </p:tgtEl>
                                      </p:cBhvr>
                                    </p:animEffect>
                                  </p:childTnLst>
                                </p:cTn>
                              </p:par>
                            </p:childTnLst>
                          </p:cTn>
                        </p:par>
                        <p:par>
                          <p:cTn id="59" fill="hold">
                            <p:stCondLst>
                              <p:cond delay="5500"/>
                            </p:stCondLst>
                            <p:childTnLst>
                              <p:par>
                                <p:cTn id="60" presetID="22" presetClass="entr" presetSubtype="1" fill="hold" grpId="0" nodeType="afterEffect">
                                  <p:stCondLst>
                                    <p:cond delay="0"/>
                                  </p:stCondLst>
                                  <p:childTnLst>
                                    <p:set>
                                      <p:cBhvr>
                                        <p:cTn id="61" dur="1" fill="hold">
                                          <p:stCondLst>
                                            <p:cond delay="0"/>
                                          </p:stCondLst>
                                        </p:cTn>
                                        <p:tgtEl>
                                          <p:spTgt spid="137234"/>
                                        </p:tgtEl>
                                        <p:attrNameLst>
                                          <p:attrName>style.visibility</p:attrName>
                                        </p:attrNameLst>
                                      </p:cBhvr>
                                      <p:to>
                                        <p:strVal val="visible"/>
                                      </p:to>
                                    </p:set>
                                    <p:animEffect transition="in" filter="wipe(up)">
                                      <p:cBhvr>
                                        <p:cTn id="62" dur="500"/>
                                        <p:tgtEl>
                                          <p:spTgt spid="137234"/>
                                        </p:tgtEl>
                                      </p:cBhvr>
                                    </p:animEffect>
                                  </p:childTnLst>
                                </p:cTn>
                              </p:par>
                            </p:childTnLst>
                          </p:cTn>
                        </p:par>
                        <p:par>
                          <p:cTn id="63" fill="hold">
                            <p:stCondLst>
                              <p:cond delay="6000"/>
                            </p:stCondLst>
                            <p:childTnLst>
                              <p:par>
                                <p:cTn id="64" presetID="22" presetClass="entr" presetSubtype="1" fill="hold" grpId="0" nodeType="afterEffect">
                                  <p:stCondLst>
                                    <p:cond delay="0"/>
                                  </p:stCondLst>
                                  <p:childTnLst>
                                    <p:set>
                                      <p:cBhvr>
                                        <p:cTn id="65" dur="1" fill="hold">
                                          <p:stCondLst>
                                            <p:cond delay="0"/>
                                          </p:stCondLst>
                                        </p:cTn>
                                        <p:tgtEl>
                                          <p:spTgt spid="137228"/>
                                        </p:tgtEl>
                                        <p:attrNameLst>
                                          <p:attrName>style.visibility</p:attrName>
                                        </p:attrNameLst>
                                      </p:cBhvr>
                                      <p:to>
                                        <p:strVal val="visible"/>
                                      </p:to>
                                    </p:set>
                                    <p:animEffect transition="in" filter="wipe(up)">
                                      <p:cBhvr>
                                        <p:cTn id="66" dur="500"/>
                                        <p:tgtEl>
                                          <p:spTgt spid="137228"/>
                                        </p:tgtEl>
                                      </p:cBhvr>
                                    </p:animEffect>
                                  </p:childTnLst>
                                </p:cTn>
                              </p:par>
                            </p:childTnLst>
                          </p:cTn>
                        </p:par>
                        <p:par>
                          <p:cTn id="67" fill="hold">
                            <p:stCondLst>
                              <p:cond delay="6500"/>
                            </p:stCondLst>
                            <p:childTnLst>
                              <p:par>
                                <p:cTn id="68" presetID="22" presetClass="entr" presetSubtype="1" fill="hold" grpId="0" nodeType="afterEffect">
                                  <p:stCondLst>
                                    <p:cond delay="0"/>
                                  </p:stCondLst>
                                  <p:childTnLst>
                                    <p:set>
                                      <p:cBhvr>
                                        <p:cTn id="69" dur="1" fill="hold">
                                          <p:stCondLst>
                                            <p:cond delay="0"/>
                                          </p:stCondLst>
                                        </p:cTn>
                                        <p:tgtEl>
                                          <p:spTgt spid="137235"/>
                                        </p:tgtEl>
                                        <p:attrNameLst>
                                          <p:attrName>style.visibility</p:attrName>
                                        </p:attrNameLst>
                                      </p:cBhvr>
                                      <p:to>
                                        <p:strVal val="visible"/>
                                      </p:to>
                                    </p:set>
                                    <p:animEffect transition="in" filter="wipe(up)">
                                      <p:cBhvr>
                                        <p:cTn id="70" dur="500"/>
                                        <p:tgtEl>
                                          <p:spTgt spid="137235"/>
                                        </p:tgtEl>
                                      </p:cBhvr>
                                    </p:animEffect>
                                  </p:childTnLst>
                                </p:cTn>
                              </p:par>
                            </p:childTnLst>
                          </p:cTn>
                        </p:par>
                        <p:par>
                          <p:cTn id="71" fill="hold">
                            <p:stCondLst>
                              <p:cond delay="7000"/>
                            </p:stCondLst>
                            <p:childTnLst>
                              <p:par>
                                <p:cTn id="72" presetID="22" presetClass="entr" presetSubtype="1" fill="hold" grpId="0" nodeType="afterEffect">
                                  <p:stCondLst>
                                    <p:cond delay="0"/>
                                  </p:stCondLst>
                                  <p:childTnLst>
                                    <p:set>
                                      <p:cBhvr>
                                        <p:cTn id="73" dur="1" fill="hold">
                                          <p:stCondLst>
                                            <p:cond delay="0"/>
                                          </p:stCondLst>
                                        </p:cTn>
                                        <p:tgtEl>
                                          <p:spTgt spid="137223"/>
                                        </p:tgtEl>
                                        <p:attrNameLst>
                                          <p:attrName>style.visibility</p:attrName>
                                        </p:attrNameLst>
                                      </p:cBhvr>
                                      <p:to>
                                        <p:strVal val="visible"/>
                                      </p:to>
                                    </p:set>
                                    <p:animEffect transition="in" filter="wipe(up)">
                                      <p:cBhvr>
                                        <p:cTn id="74" dur="500"/>
                                        <p:tgtEl>
                                          <p:spTgt spid="137223"/>
                                        </p:tgtEl>
                                      </p:cBhvr>
                                    </p:animEffect>
                                  </p:childTnLst>
                                </p:cTn>
                              </p:par>
                            </p:childTnLst>
                          </p:cTn>
                        </p:par>
                        <p:par>
                          <p:cTn id="75" fill="hold">
                            <p:stCondLst>
                              <p:cond delay="7500"/>
                            </p:stCondLst>
                            <p:childTnLst>
                              <p:par>
                                <p:cTn id="76" presetID="22" presetClass="entr" presetSubtype="1" fill="hold" grpId="0" nodeType="afterEffect">
                                  <p:stCondLst>
                                    <p:cond delay="0"/>
                                  </p:stCondLst>
                                  <p:childTnLst>
                                    <p:set>
                                      <p:cBhvr>
                                        <p:cTn id="77" dur="1" fill="hold">
                                          <p:stCondLst>
                                            <p:cond delay="0"/>
                                          </p:stCondLst>
                                        </p:cTn>
                                        <p:tgtEl>
                                          <p:spTgt spid="137236"/>
                                        </p:tgtEl>
                                        <p:attrNameLst>
                                          <p:attrName>style.visibility</p:attrName>
                                        </p:attrNameLst>
                                      </p:cBhvr>
                                      <p:to>
                                        <p:strVal val="visible"/>
                                      </p:to>
                                    </p:set>
                                    <p:animEffect transition="in" filter="wipe(up)">
                                      <p:cBhvr>
                                        <p:cTn id="78" dur="500"/>
                                        <p:tgtEl>
                                          <p:spTgt spid="137236"/>
                                        </p:tgtEl>
                                      </p:cBhvr>
                                    </p:animEffect>
                                  </p:childTnLst>
                                </p:cTn>
                              </p:par>
                            </p:childTnLst>
                          </p:cTn>
                        </p:par>
                        <p:par>
                          <p:cTn id="79" fill="hold">
                            <p:stCondLst>
                              <p:cond delay="8000"/>
                            </p:stCondLst>
                            <p:childTnLst>
                              <p:par>
                                <p:cTn id="80" presetID="22" presetClass="entr" presetSubtype="1" fill="hold" grpId="0" nodeType="afterEffect">
                                  <p:stCondLst>
                                    <p:cond delay="0"/>
                                  </p:stCondLst>
                                  <p:childTnLst>
                                    <p:set>
                                      <p:cBhvr>
                                        <p:cTn id="81" dur="1" fill="hold">
                                          <p:stCondLst>
                                            <p:cond delay="0"/>
                                          </p:stCondLst>
                                        </p:cTn>
                                        <p:tgtEl>
                                          <p:spTgt spid="137224"/>
                                        </p:tgtEl>
                                        <p:attrNameLst>
                                          <p:attrName>style.visibility</p:attrName>
                                        </p:attrNameLst>
                                      </p:cBhvr>
                                      <p:to>
                                        <p:strVal val="visible"/>
                                      </p:to>
                                    </p:set>
                                    <p:animEffect transition="in" filter="wipe(up)">
                                      <p:cBhvr>
                                        <p:cTn id="82" dur="500"/>
                                        <p:tgtEl>
                                          <p:spTgt spid="137224"/>
                                        </p:tgtEl>
                                      </p:cBhvr>
                                    </p:animEffect>
                                  </p:childTnLst>
                                </p:cTn>
                              </p:par>
                            </p:childTnLst>
                          </p:cTn>
                        </p:par>
                        <p:par>
                          <p:cTn id="83" fill="hold">
                            <p:stCondLst>
                              <p:cond delay="8500"/>
                            </p:stCondLst>
                            <p:childTnLst>
                              <p:par>
                                <p:cTn id="84" presetID="22" presetClass="entr" presetSubtype="1" fill="hold" grpId="0" nodeType="afterEffect">
                                  <p:stCondLst>
                                    <p:cond delay="0"/>
                                  </p:stCondLst>
                                  <p:childTnLst>
                                    <p:set>
                                      <p:cBhvr>
                                        <p:cTn id="85" dur="1" fill="hold">
                                          <p:stCondLst>
                                            <p:cond delay="0"/>
                                          </p:stCondLst>
                                        </p:cTn>
                                        <p:tgtEl>
                                          <p:spTgt spid="137237"/>
                                        </p:tgtEl>
                                        <p:attrNameLst>
                                          <p:attrName>style.visibility</p:attrName>
                                        </p:attrNameLst>
                                      </p:cBhvr>
                                      <p:to>
                                        <p:strVal val="visible"/>
                                      </p:to>
                                    </p:set>
                                    <p:animEffect transition="in" filter="wipe(up)">
                                      <p:cBhvr>
                                        <p:cTn id="86" dur="500"/>
                                        <p:tgtEl>
                                          <p:spTgt spid="137237"/>
                                        </p:tgtEl>
                                      </p:cBhvr>
                                    </p:animEffect>
                                  </p:childTnLst>
                                </p:cTn>
                              </p:par>
                            </p:childTnLst>
                          </p:cTn>
                        </p:par>
                        <p:par>
                          <p:cTn id="87" fill="hold">
                            <p:stCondLst>
                              <p:cond delay="9000"/>
                            </p:stCondLst>
                            <p:childTnLst>
                              <p:par>
                                <p:cTn id="88" presetID="22" presetClass="entr" presetSubtype="1" fill="hold" grpId="0" nodeType="afterEffect">
                                  <p:stCondLst>
                                    <p:cond delay="0"/>
                                  </p:stCondLst>
                                  <p:childTnLst>
                                    <p:set>
                                      <p:cBhvr>
                                        <p:cTn id="89" dur="1" fill="hold">
                                          <p:stCondLst>
                                            <p:cond delay="0"/>
                                          </p:stCondLst>
                                        </p:cTn>
                                        <p:tgtEl>
                                          <p:spTgt spid="137225"/>
                                        </p:tgtEl>
                                        <p:attrNameLst>
                                          <p:attrName>style.visibility</p:attrName>
                                        </p:attrNameLst>
                                      </p:cBhvr>
                                      <p:to>
                                        <p:strVal val="visible"/>
                                      </p:to>
                                    </p:set>
                                    <p:animEffect transition="in" filter="wipe(up)">
                                      <p:cBhvr>
                                        <p:cTn id="90" dur="500"/>
                                        <p:tgtEl>
                                          <p:spTgt spid="137225"/>
                                        </p:tgtEl>
                                      </p:cBhvr>
                                    </p:animEffect>
                                  </p:childTnLst>
                                </p:cTn>
                              </p:par>
                            </p:childTnLst>
                          </p:cTn>
                        </p:par>
                      </p:childTnLst>
                    </p:cTn>
                  </p:par>
                  <p:par>
                    <p:cTn id="91" fill="hold">
                      <p:stCondLst>
                        <p:cond delay="indefinite"/>
                      </p:stCondLst>
                      <p:childTnLst>
                        <p:par>
                          <p:cTn id="92" fill="hold">
                            <p:stCondLst>
                              <p:cond delay="0"/>
                            </p:stCondLst>
                            <p:childTnLst>
                              <p:par>
                                <p:cTn id="93" presetID="12" presetClass="entr" presetSubtype="8" fill="hold" grpId="0" nodeType="clickEffect">
                                  <p:stCondLst>
                                    <p:cond delay="0"/>
                                  </p:stCondLst>
                                  <p:childTnLst>
                                    <p:set>
                                      <p:cBhvr>
                                        <p:cTn id="94" dur="1" fill="hold">
                                          <p:stCondLst>
                                            <p:cond delay="0"/>
                                          </p:stCondLst>
                                        </p:cTn>
                                        <p:tgtEl>
                                          <p:spTgt spid="137239"/>
                                        </p:tgtEl>
                                        <p:attrNameLst>
                                          <p:attrName>style.visibility</p:attrName>
                                        </p:attrNameLst>
                                      </p:cBhvr>
                                      <p:to>
                                        <p:strVal val="visible"/>
                                      </p:to>
                                    </p:set>
                                    <p:animEffect transition="in" filter="slide(fromLeft)">
                                      <p:cBhvr>
                                        <p:cTn id="95" dur="500"/>
                                        <p:tgtEl>
                                          <p:spTgt spid="137239"/>
                                        </p:tgtEl>
                                      </p:cBhvr>
                                    </p:animEffect>
                                  </p:childTnLst>
                                </p:cTn>
                              </p:par>
                            </p:childTnLst>
                          </p:cTn>
                        </p:par>
                      </p:childTnLst>
                    </p:cTn>
                  </p:par>
                  <p:par>
                    <p:cTn id="96" fill="hold">
                      <p:stCondLst>
                        <p:cond delay="indefinite"/>
                      </p:stCondLst>
                      <p:childTnLst>
                        <p:par>
                          <p:cTn id="97" fill="hold">
                            <p:stCondLst>
                              <p:cond delay="0"/>
                            </p:stCondLst>
                            <p:childTnLst>
                              <p:par>
                                <p:cTn id="98" presetID="12" presetClass="entr" presetSubtype="8" fill="hold" grpId="0" nodeType="clickEffect">
                                  <p:stCondLst>
                                    <p:cond delay="0"/>
                                  </p:stCondLst>
                                  <p:childTnLst>
                                    <p:set>
                                      <p:cBhvr>
                                        <p:cTn id="99" dur="1" fill="hold">
                                          <p:stCondLst>
                                            <p:cond delay="0"/>
                                          </p:stCondLst>
                                        </p:cTn>
                                        <p:tgtEl>
                                          <p:spTgt spid="137241"/>
                                        </p:tgtEl>
                                        <p:attrNameLst>
                                          <p:attrName>style.visibility</p:attrName>
                                        </p:attrNameLst>
                                      </p:cBhvr>
                                      <p:to>
                                        <p:strVal val="visible"/>
                                      </p:to>
                                    </p:set>
                                    <p:animEffect transition="in" filter="slide(fromLeft)">
                                      <p:cBhvr>
                                        <p:cTn id="100" dur="500"/>
                                        <p:tgtEl>
                                          <p:spTgt spid="137241"/>
                                        </p:tgtEl>
                                      </p:cBhvr>
                                    </p:animEffect>
                                  </p:childTnLst>
                                </p:cTn>
                              </p:par>
                            </p:childTnLst>
                          </p:cTn>
                        </p:par>
                      </p:childTnLst>
                    </p:cTn>
                  </p:par>
                  <p:par>
                    <p:cTn id="101" fill="hold">
                      <p:stCondLst>
                        <p:cond delay="indefinite"/>
                      </p:stCondLst>
                      <p:childTnLst>
                        <p:par>
                          <p:cTn id="102" fill="hold">
                            <p:stCondLst>
                              <p:cond delay="0"/>
                            </p:stCondLst>
                            <p:childTnLst>
                              <p:par>
                                <p:cTn id="103" presetID="12" presetClass="entr" presetSubtype="8" fill="hold" grpId="0" nodeType="clickEffect">
                                  <p:stCondLst>
                                    <p:cond delay="0"/>
                                  </p:stCondLst>
                                  <p:childTnLst>
                                    <p:set>
                                      <p:cBhvr>
                                        <p:cTn id="104" dur="1" fill="hold">
                                          <p:stCondLst>
                                            <p:cond delay="0"/>
                                          </p:stCondLst>
                                        </p:cTn>
                                        <p:tgtEl>
                                          <p:spTgt spid="137240"/>
                                        </p:tgtEl>
                                        <p:attrNameLst>
                                          <p:attrName>style.visibility</p:attrName>
                                        </p:attrNameLst>
                                      </p:cBhvr>
                                      <p:to>
                                        <p:strVal val="visible"/>
                                      </p:to>
                                    </p:set>
                                    <p:animEffect transition="in" filter="slide(fromLeft)">
                                      <p:cBhvr>
                                        <p:cTn id="105" dur="500"/>
                                        <p:tgtEl>
                                          <p:spTgt spid="137240"/>
                                        </p:tgtEl>
                                      </p:cBhvr>
                                    </p:animEffect>
                                  </p:childTnLst>
                                </p:cTn>
                              </p:par>
                            </p:childTnLst>
                          </p:cTn>
                        </p:par>
                      </p:childTnLst>
                    </p:cTn>
                  </p:par>
                  <p:par>
                    <p:cTn id="106" fill="hold">
                      <p:stCondLst>
                        <p:cond delay="indefinite"/>
                      </p:stCondLst>
                      <p:childTnLst>
                        <p:par>
                          <p:cTn id="107" fill="hold">
                            <p:stCondLst>
                              <p:cond delay="0"/>
                            </p:stCondLst>
                            <p:childTnLst>
                              <p:par>
                                <p:cTn id="108" presetID="12" presetClass="entr" presetSubtype="8" fill="hold" grpId="0" nodeType="clickEffect">
                                  <p:stCondLst>
                                    <p:cond delay="0"/>
                                  </p:stCondLst>
                                  <p:childTnLst>
                                    <p:set>
                                      <p:cBhvr>
                                        <p:cTn id="109" dur="1" fill="hold">
                                          <p:stCondLst>
                                            <p:cond delay="0"/>
                                          </p:stCondLst>
                                        </p:cTn>
                                        <p:tgtEl>
                                          <p:spTgt spid="137242"/>
                                        </p:tgtEl>
                                        <p:attrNameLst>
                                          <p:attrName>style.visibility</p:attrName>
                                        </p:attrNameLst>
                                      </p:cBhvr>
                                      <p:to>
                                        <p:strVal val="visible"/>
                                      </p:to>
                                    </p:set>
                                    <p:animEffect transition="in" filter="slide(fromLeft)">
                                      <p:cBhvr>
                                        <p:cTn id="110" dur="500"/>
                                        <p:tgtEl>
                                          <p:spTgt spid="137242"/>
                                        </p:tgtEl>
                                      </p:cBhvr>
                                    </p:animEffect>
                                  </p:childTnLst>
                                </p:cTn>
                              </p:par>
                            </p:childTnLst>
                          </p:cTn>
                        </p:par>
                      </p:childTnLst>
                    </p:cTn>
                  </p:par>
                  <p:par>
                    <p:cTn id="111" fill="hold">
                      <p:stCondLst>
                        <p:cond delay="indefinite"/>
                      </p:stCondLst>
                      <p:childTnLst>
                        <p:par>
                          <p:cTn id="112" fill="hold">
                            <p:stCondLst>
                              <p:cond delay="0"/>
                            </p:stCondLst>
                            <p:childTnLst>
                              <p:par>
                                <p:cTn id="113" presetID="12" presetClass="entr" presetSubtype="8" fill="hold" grpId="0" nodeType="clickEffect">
                                  <p:stCondLst>
                                    <p:cond delay="0"/>
                                  </p:stCondLst>
                                  <p:childTnLst>
                                    <p:set>
                                      <p:cBhvr>
                                        <p:cTn id="114" dur="1" fill="hold">
                                          <p:stCondLst>
                                            <p:cond delay="0"/>
                                          </p:stCondLst>
                                        </p:cTn>
                                        <p:tgtEl>
                                          <p:spTgt spid="137243"/>
                                        </p:tgtEl>
                                        <p:attrNameLst>
                                          <p:attrName>style.visibility</p:attrName>
                                        </p:attrNameLst>
                                      </p:cBhvr>
                                      <p:to>
                                        <p:strVal val="visible"/>
                                      </p:to>
                                    </p:set>
                                    <p:animEffect transition="in" filter="slide(fromLeft)">
                                      <p:cBhvr>
                                        <p:cTn id="115" dur="500"/>
                                        <p:tgtEl>
                                          <p:spTgt spid="137243"/>
                                        </p:tgtEl>
                                      </p:cBhvr>
                                    </p:animEffect>
                                  </p:childTnLst>
                                </p:cTn>
                              </p:par>
                            </p:childTnLst>
                          </p:cTn>
                        </p:par>
                      </p:childTnLst>
                    </p:cTn>
                  </p:par>
                  <p:par>
                    <p:cTn id="116" fill="hold">
                      <p:stCondLst>
                        <p:cond delay="indefinite"/>
                      </p:stCondLst>
                      <p:childTnLst>
                        <p:par>
                          <p:cTn id="117" fill="hold">
                            <p:stCondLst>
                              <p:cond delay="0"/>
                            </p:stCondLst>
                            <p:childTnLst>
                              <p:par>
                                <p:cTn id="118" presetID="12" presetClass="entr" presetSubtype="8" fill="hold" grpId="0" nodeType="clickEffect">
                                  <p:stCondLst>
                                    <p:cond delay="0"/>
                                  </p:stCondLst>
                                  <p:childTnLst>
                                    <p:set>
                                      <p:cBhvr>
                                        <p:cTn id="119" dur="1" fill="hold">
                                          <p:stCondLst>
                                            <p:cond delay="0"/>
                                          </p:stCondLst>
                                        </p:cTn>
                                        <p:tgtEl>
                                          <p:spTgt spid="137244"/>
                                        </p:tgtEl>
                                        <p:attrNameLst>
                                          <p:attrName>style.visibility</p:attrName>
                                        </p:attrNameLst>
                                      </p:cBhvr>
                                      <p:to>
                                        <p:strVal val="visible"/>
                                      </p:to>
                                    </p:set>
                                    <p:animEffect transition="in" filter="slide(fromLeft)">
                                      <p:cBhvr>
                                        <p:cTn id="120" dur="500"/>
                                        <p:tgtEl>
                                          <p:spTgt spid="137244"/>
                                        </p:tgtEl>
                                      </p:cBhvr>
                                    </p:animEffect>
                                  </p:childTnLst>
                                </p:cTn>
                              </p:par>
                            </p:childTnLst>
                          </p:cTn>
                        </p:par>
                      </p:childTnLst>
                    </p:cTn>
                  </p:par>
                  <p:par>
                    <p:cTn id="121" fill="hold">
                      <p:stCondLst>
                        <p:cond delay="indefinite"/>
                      </p:stCondLst>
                      <p:childTnLst>
                        <p:par>
                          <p:cTn id="122" fill="hold">
                            <p:stCondLst>
                              <p:cond delay="0"/>
                            </p:stCondLst>
                            <p:childTnLst>
                              <p:par>
                                <p:cTn id="123" presetID="12" presetClass="entr" presetSubtype="8" fill="hold" grpId="0" nodeType="clickEffect">
                                  <p:stCondLst>
                                    <p:cond delay="0"/>
                                  </p:stCondLst>
                                  <p:childTnLst>
                                    <p:set>
                                      <p:cBhvr>
                                        <p:cTn id="124" dur="1" fill="hold">
                                          <p:stCondLst>
                                            <p:cond delay="0"/>
                                          </p:stCondLst>
                                        </p:cTn>
                                        <p:tgtEl>
                                          <p:spTgt spid="137245"/>
                                        </p:tgtEl>
                                        <p:attrNameLst>
                                          <p:attrName>style.visibility</p:attrName>
                                        </p:attrNameLst>
                                      </p:cBhvr>
                                      <p:to>
                                        <p:strVal val="visible"/>
                                      </p:to>
                                    </p:set>
                                    <p:animEffect transition="in" filter="slide(fromLeft)">
                                      <p:cBhvr>
                                        <p:cTn id="125" dur="500"/>
                                        <p:tgtEl>
                                          <p:spTgt spid="137245"/>
                                        </p:tgtEl>
                                      </p:cBhvr>
                                    </p:animEffect>
                                  </p:childTnLst>
                                </p:cTn>
                              </p:par>
                            </p:childTnLst>
                          </p:cTn>
                        </p:par>
                      </p:childTnLst>
                    </p:cTn>
                  </p:par>
                  <p:par>
                    <p:cTn id="126" fill="hold">
                      <p:stCondLst>
                        <p:cond delay="indefinite"/>
                      </p:stCondLst>
                      <p:childTnLst>
                        <p:par>
                          <p:cTn id="127" fill="hold">
                            <p:stCondLst>
                              <p:cond delay="0"/>
                            </p:stCondLst>
                            <p:childTnLst>
                              <p:par>
                                <p:cTn id="128" presetID="12" presetClass="entr" presetSubtype="8" fill="hold" grpId="0" nodeType="clickEffect">
                                  <p:stCondLst>
                                    <p:cond delay="0"/>
                                  </p:stCondLst>
                                  <p:childTnLst>
                                    <p:set>
                                      <p:cBhvr>
                                        <p:cTn id="129" dur="1" fill="hold">
                                          <p:stCondLst>
                                            <p:cond delay="0"/>
                                          </p:stCondLst>
                                        </p:cTn>
                                        <p:tgtEl>
                                          <p:spTgt spid="137247"/>
                                        </p:tgtEl>
                                        <p:attrNameLst>
                                          <p:attrName>style.visibility</p:attrName>
                                        </p:attrNameLst>
                                      </p:cBhvr>
                                      <p:to>
                                        <p:strVal val="visible"/>
                                      </p:to>
                                    </p:set>
                                    <p:animEffect transition="in" filter="slide(fromLeft)">
                                      <p:cBhvr>
                                        <p:cTn id="130" dur="500"/>
                                        <p:tgtEl>
                                          <p:spTgt spid="137247"/>
                                        </p:tgtEl>
                                      </p:cBhvr>
                                    </p:animEffect>
                                  </p:childTnLst>
                                </p:cTn>
                              </p:par>
                            </p:childTnLst>
                          </p:cTn>
                        </p:par>
                      </p:childTnLst>
                    </p:cTn>
                  </p:par>
                  <p:par>
                    <p:cTn id="131" fill="hold">
                      <p:stCondLst>
                        <p:cond delay="indefinite"/>
                      </p:stCondLst>
                      <p:childTnLst>
                        <p:par>
                          <p:cTn id="132" fill="hold">
                            <p:stCondLst>
                              <p:cond delay="0"/>
                            </p:stCondLst>
                            <p:childTnLst>
                              <p:par>
                                <p:cTn id="133" presetID="12" presetClass="entr" presetSubtype="8" fill="hold" grpId="0" nodeType="clickEffect">
                                  <p:stCondLst>
                                    <p:cond delay="0"/>
                                  </p:stCondLst>
                                  <p:childTnLst>
                                    <p:set>
                                      <p:cBhvr>
                                        <p:cTn id="134" dur="1" fill="hold">
                                          <p:stCondLst>
                                            <p:cond delay="0"/>
                                          </p:stCondLst>
                                        </p:cTn>
                                        <p:tgtEl>
                                          <p:spTgt spid="137246"/>
                                        </p:tgtEl>
                                        <p:attrNameLst>
                                          <p:attrName>style.visibility</p:attrName>
                                        </p:attrNameLst>
                                      </p:cBhvr>
                                      <p:to>
                                        <p:strVal val="visible"/>
                                      </p:to>
                                    </p:set>
                                    <p:animEffect transition="in" filter="slide(fromLeft)">
                                      <p:cBhvr>
                                        <p:cTn id="135" dur="500"/>
                                        <p:tgtEl>
                                          <p:spTgt spid="137246"/>
                                        </p:tgtEl>
                                      </p:cBhvr>
                                    </p:animEffect>
                                  </p:childTnLst>
                                </p:cTn>
                              </p:par>
                            </p:childTnLst>
                          </p:cTn>
                        </p:par>
                      </p:childTnLst>
                    </p:cTn>
                  </p:par>
                  <p:par>
                    <p:cTn id="136" fill="hold">
                      <p:stCondLst>
                        <p:cond delay="indefinite"/>
                      </p:stCondLst>
                      <p:childTnLst>
                        <p:par>
                          <p:cTn id="137" fill="hold">
                            <p:stCondLst>
                              <p:cond delay="0"/>
                            </p:stCondLst>
                            <p:childTnLst>
                              <p:par>
                                <p:cTn id="138" presetID="12" presetClass="entr" presetSubtype="8" fill="hold" grpId="0" nodeType="clickEffect">
                                  <p:stCondLst>
                                    <p:cond delay="0"/>
                                  </p:stCondLst>
                                  <p:childTnLst>
                                    <p:set>
                                      <p:cBhvr>
                                        <p:cTn id="139" dur="1" fill="hold">
                                          <p:stCondLst>
                                            <p:cond delay="0"/>
                                          </p:stCondLst>
                                        </p:cTn>
                                        <p:tgtEl>
                                          <p:spTgt spid="137248"/>
                                        </p:tgtEl>
                                        <p:attrNameLst>
                                          <p:attrName>style.visibility</p:attrName>
                                        </p:attrNameLst>
                                      </p:cBhvr>
                                      <p:to>
                                        <p:strVal val="visible"/>
                                      </p:to>
                                    </p:set>
                                    <p:animEffect transition="in" filter="slide(fromLeft)">
                                      <p:cBhvr>
                                        <p:cTn id="140" dur="500"/>
                                        <p:tgtEl>
                                          <p:spTgt spid="137248"/>
                                        </p:tgtEl>
                                      </p:cBhvr>
                                    </p:animEffect>
                                  </p:childTnLst>
                                </p:cTn>
                              </p:par>
                            </p:childTnLst>
                          </p:cTn>
                        </p:par>
                      </p:childTnLst>
                    </p:cTn>
                  </p:par>
                  <p:par>
                    <p:cTn id="141" fill="hold">
                      <p:stCondLst>
                        <p:cond delay="indefinite"/>
                      </p:stCondLst>
                      <p:childTnLst>
                        <p:par>
                          <p:cTn id="142" fill="hold">
                            <p:stCondLst>
                              <p:cond delay="0"/>
                            </p:stCondLst>
                            <p:childTnLst>
                              <p:par>
                                <p:cTn id="143" presetID="12" presetClass="entr" presetSubtype="8" fill="hold" grpId="0" nodeType="clickEffect">
                                  <p:stCondLst>
                                    <p:cond delay="0"/>
                                  </p:stCondLst>
                                  <p:childTnLst>
                                    <p:set>
                                      <p:cBhvr>
                                        <p:cTn id="144" dur="1" fill="hold">
                                          <p:stCondLst>
                                            <p:cond delay="0"/>
                                          </p:stCondLst>
                                        </p:cTn>
                                        <p:tgtEl>
                                          <p:spTgt spid="137249"/>
                                        </p:tgtEl>
                                        <p:attrNameLst>
                                          <p:attrName>style.visibility</p:attrName>
                                        </p:attrNameLst>
                                      </p:cBhvr>
                                      <p:to>
                                        <p:strVal val="visible"/>
                                      </p:to>
                                    </p:set>
                                    <p:animEffect transition="in" filter="slide(fromLeft)">
                                      <p:cBhvr>
                                        <p:cTn id="145" dur="500"/>
                                        <p:tgtEl>
                                          <p:spTgt spid="137249"/>
                                        </p:tgtEl>
                                      </p:cBhvr>
                                    </p:animEffect>
                                  </p:childTnLst>
                                </p:cTn>
                              </p:par>
                            </p:childTnLst>
                          </p:cTn>
                        </p:par>
                      </p:childTnLst>
                    </p:cTn>
                  </p:par>
                  <p:par>
                    <p:cTn id="146" fill="hold">
                      <p:stCondLst>
                        <p:cond delay="indefinite"/>
                      </p:stCondLst>
                      <p:childTnLst>
                        <p:par>
                          <p:cTn id="147" fill="hold">
                            <p:stCondLst>
                              <p:cond delay="0"/>
                            </p:stCondLst>
                            <p:childTnLst>
                              <p:par>
                                <p:cTn id="148" presetID="12" presetClass="entr" presetSubtype="8" fill="hold" grpId="0" nodeType="clickEffect">
                                  <p:stCondLst>
                                    <p:cond delay="0"/>
                                  </p:stCondLst>
                                  <p:childTnLst>
                                    <p:set>
                                      <p:cBhvr>
                                        <p:cTn id="149" dur="1" fill="hold">
                                          <p:stCondLst>
                                            <p:cond delay="0"/>
                                          </p:stCondLst>
                                        </p:cTn>
                                        <p:tgtEl>
                                          <p:spTgt spid="137250"/>
                                        </p:tgtEl>
                                        <p:attrNameLst>
                                          <p:attrName>style.visibility</p:attrName>
                                        </p:attrNameLst>
                                      </p:cBhvr>
                                      <p:to>
                                        <p:strVal val="visible"/>
                                      </p:to>
                                    </p:set>
                                    <p:animEffect transition="in" filter="slide(fromLeft)">
                                      <p:cBhvr>
                                        <p:cTn id="150" dur="500"/>
                                        <p:tgtEl>
                                          <p:spTgt spid="137250"/>
                                        </p:tgtEl>
                                      </p:cBhvr>
                                    </p:animEffect>
                                  </p:childTnLst>
                                </p:cTn>
                              </p:par>
                            </p:childTnLst>
                          </p:cTn>
                        </p:par>
                      </p:childTnLst>
                    </p:cTn>
                  </p:par>
                  <p:par>
                    <p:cTn id="151" fill="hold">
                      <p:stCondLst>
                        <p:cond delay="indefinite"/>
                      </p:stCondLst>
                      <p:childTnLst>
                        <p:par>
                          <p:cTn id="152" fill="hold">
                            <p:stCondLst>
                              <p:cond delay="0"/>
                            </p:stCondLst>
                            <p:childTnLst>
                              <p:par>
                                <p:cTn id="153" presetID="12" presetClass="entr" presetSubtype="8" fill="hold" grpId="0" nodeType="clickEffect">
                                  <p:stCondLst>
                                    <p:cond delay="0"/>
                                  </p:stCondLst>
                                  <p:childTnLst>
                                    <p:set>
                                      <p:cBhvr>
                                        <p:cTn id="154" dur="1" fill="hold">
                                          <p:stCondLst>
                                            <p:cond delay="0"/>
                                          </p:stCondLst>
                                        </p:cTn>
                                        <p:tgtEl>
                                          <p:spTgt spid="137251"/>
                                        </p:tgtEl>
                                        <p:attrNameLst>
                                          <p:attrName>style.visibility</p:attrName>
                                        </p:attrNameLst>
                                      </p:cBhvr>
                                      <p:to>
                                        <p:strVal val="visible"/>
                                      </p:to>
                                    </p:set>
                                    <p:animEffect transition="in" filter="slide(fromLeft)">
                                      <p:cBhvr>
                                        <p:cTn id="155" dur="500"/>
                                        <p:tgtEl>
                                          <p:spTgt spid="137251"/>
                                        </p:tgtEl>
                                      </p:cBhvr>
                                    </p:animEffect>
                                  </p:childTnLst>
                                </p:cTn>
                              </p:par>
                            </p:childTnLst>
                          </p:cTn>
                        </p:par>
                      </p:childTnLst>
                    </p:cTn>
                  </p:par>
                  <p:par>
                    <p:cTn id="156" fill="hold">
                      <p:stCondLst>
                        <p:cond delay="indefinite"/>
                      </p:stCondLst>
                      <p:childTnLst>
                        <p:par>
                          <p:cTn id="157" fill="hold">
                            <p:stCondLst>
                              <p:cond delay="0"/>
                            </p:stCondLst>
                            <p:childTnLst>
                              <p:par>
                                <p:cTn id="158" presetID="22" presetClass="entr" presetSubtype="8" fill="hold" grpId="0" nodeType="clickEffect">
                                  <p:stCondLst>
                                    <p:cond delay="0"/>
                                  </p:stCondLst>
                                  <p:iterate type="wd">
                                    <p:tmPct val="100000"/>
                                  </p:iterate>
                                  <p:childTnLst>
                                    <p:set>
                                      <p:cBhvr>
                                        <p:cTn id="159" dur="1" fill="hold">
                                          <p:stCondLst>
                                            <p:cond delay="0"/>
                                          </p:stCondLst>
                                        </p:cTn>
                                        <p:tgtEl>
                                          <p:spTgt spid="137252"/>
                                        </p:tgtEl>
                                        <p:attrNameLst>
                                          <p:attrName>style.visibility</p:attrName>
                                        </p:attrNameLst>
                                      </p:cBhvr>
                                      <p:to>
                                        <p:strVal val="visible"/>
                                      </p:to>
                                    </p:set>
                                    <p:animEffect transition="in" filter="wipe(left)">
                                      <p:cBhvr>
                                        <p:cTn id="160" dur="100"/>
                                        <p:tgtEl>
                                          <p:spTgt spid="137252"/>
                                        </p:tgtEl>
                                      </p:cBhvr>
                                    </p:animEffect>
                                  </p:childTnLst>
                                </p:cTn>
                              </p:par>
                            </p:childTnLst>
                          </p:cTn>
                        </p:par>
                      </p:childTnLst>
                    </p:cTn>
                  </p:par>
                  <p:par>
                    <p:cTn id="161" fill="hold">
                      <p:stCondLst>
                        <p:cond delay="indefinite"/>
                      </p:stCondLst>
                      <p:childTnLst>
                        <p:par>
                          <p:cTn id="162" fill="hold">
                            <p:stCondLst>
                              <p:cond delay="0"/>
                            </p:stCondLst>
                            <p:childTnLst>
                              <p:par>
                                <p:cTn id="163" presetID="12" presetClass="entr" presetSubtype="8" fill="hold" grpId="0" nodeType="clickEffect">
                                  <p:stCondLst>
                                    <p:cond delay="0"/>
                                  </p:stCondLst>
                                  <p:childTnLst>
                                    <p:set>
                                      <p:cBhvr>
                                        <p:cTn id="164" dur="1" fill="hold">
                                          <p:stCondLst>
                                            <p:cond delay="0"/>
                                          </p:stCondLst>
                                        </p:cTn>
                                        <p:tgtEl>
                                          <p:spTgt spid="137253"/>
                                        </p:tgtEl>
                                        <p:attrNameLst>
                                          <p:attrName>style.visibility</p:attrName>
                                        </p:attrNameLst>
                                      </p:cBhvr>
                                      <p:to>
                                        <p:strVal val="visible"/>
                                      </p:to>
                                    </p:set>
                                    <p:animEffect transition="in" filter="slide(fromLeft)">
                                      <p:cBhvr>
                                        <p:cTn id="165" dur="500"/>
                                        <p:tgtEl>
                                          <p:spTgt spid="137253"/>
                                        </p:tgtEl>
                                      </p:cBhvr>
                                    </p:animEffect>
                                  </p:childTnLst>
                                </p:cTn>
                              </p:par>
                            </p:childTnLst>
                          </p:cTn>
                        </p:par>
                      </p:childTnLst>
                    </p:cTn>
                  </p:par>
                  <p:par>
                    <p:cTn id="166" fill="hold">
                      <p:stCondLst>
                        <p:cond delay="indefinite"/>
                      </p:stCondLst>
                      <p:childTnLst>
                        <p:par>
                          <p:cTn id="167" fill="hold">
                            <p:stCondLst>
                              <p:cond delay="0"/>
                            </p:stCondLst>
                            <p:childTnLst>
                              <p:par>
                                <p:cTn id="168" presetID="12" presetClass="entr" presetSubtype="8" fill="hold" grpId="0" nodeType="clickEffect">
                                  <p:stCondLst>
                                    <p:cond delay="0"/>
                                  </p:stCondLst>
                                  <p:childTnLst>
                                    <p:set>
                                      <p:cBhvr>
                                        <p:cTn id="169" dur="1" fill="hold">
                                          <p:stCondLst>
                                            <p:cond delay="0"/>
                                          </p:stCondLst>
                                        </p:cTn>
                                        <p:tgtEl>
                                          <p:spTgt spid="137254"/>
                                        </p:tgtEl>
                                        <p:attrNameLst>
                                          <p:attrName>style.visibility</p:attrName>
                                        </p:attrNameLst>
                                      </p:cBhvr>
                                      <p:to>
                                        <p:strVal val="visible"/>
                                      </p:to>
                                    </p:set>
                                    <p:animEffect transition="in" filter="slide(fromLeft)">
                                      <p:cBhvr>
                                        <p:cTn id="170" dur="500"/>
                                        <p:tgtEl>
                                          <p:spTgt spid="137254"/>
                                        </p:tgtEl>
                                      </p:cBhvr>
                                    </p:animEffect>
                                  </p:childTnLst>
                                </p:cTn>
                              </p:par>
                            </p:childTnLst>
                          </p:cTn>
                        </p:par>
                      </p:childTnLst>
                    </p:cTn>
                  </p:par>
                  <p:par>
                    <p:cTn id="171" fill="hold">
                      <p:stCondLst>
                        <p:cond delay="indefinite"/>
                      </p:stCondLst>
                      <p:childTnLst>
                        <p:par>
                          <p:cTn id="172" fill="hold">
                            <p:stCondLst>
                              <p:cond delay="0"/>
                            </p:stCondLst>
                            <p:childTnLst>
                              <p:par>
                                <p:cTn id="173" presetID="12" presetClass="entr" presetSubtype="8" fill="hold" grpId="0" nodeType="clickEffect">
                                  <p:stCondLst>
                                    <p:cond delay="0"/>
                                  </p:stCondLst>
                                  <p:childTnLst>
                                    <p:set>
                                      <p:cBhvr>
                                        <p:cTn id="174" dur="1" fill="hold">
                                          <p:stCondLst>
                                            <p:cond delay="0"/>
                                          </p:stCondLst>
                                        </p:cTn>
                                        <p:tgtEl>
                                          <p:spTgt spid="137255"/>
                                        </p:tgtEl>
                                        <p:attrNameLst>
                                          <p:attrName>style.visibility</p:attrName>
                                        </p:attrNameLst>
                                      </p:cBhvr>
                                      <p:to>
                                        <p:strVal val="visible"/>
                                      </p:to>
                                    </p:set>
                                    <p:animEffect transition="in" filter="slide(fromLeft)">
                                      <p:cBhvr>
                                        <p:cTn id="175" dur="500"/>
                                        <p:tgtEl>
                                          <p:spTgt spid="137255"/>
                                        </p:tgtEl>
                                      </p:cBhvr>
                                    </p:animEffect>
                                  </p:childTnLst>
                                </p:cTn>
                              </p:par>
                            </p:childTnLst>
                          </p:cTn>
                        </p:par>
                        <p:par>
                          <p:cTn id="176" fill="hold">
                            <p:stCondLst>
                              <p:cond delay="500"/>
                            </p:stCondLst>
                            <p:childTnLst>
                              <p:par>
                                <p:cTn id="177" presetID="1" presetClass="entr" presetSubtype="0" fill="hold" grpId="0" nodeType="afterEffect">
                                  <p:stCondLst>
                                    <p:cond delay="0"/>
                                  </p:stCondLst>
                                  <p:childTnLst>
                                    <p:set>
                                      <p:cBhvr>
                                        <p:cTn id="178" dur="1" fill="hold">
                                          <p:stCondLst>
                                            <p:cond delay="499"/>
                                          </p:stCondLst>
                                        </p:cTn>
                                        <p:tgtEl>
                                          <p:spTgt spid="137256"/>
                                        </p:tgtEl>
                                        <p:attrNameLst>
                                          <p:attrName>style.visibility</p:attrName>
                                        </p:attrNameLst>
                                      </p:cBhvr>
                                      <p:to>
                                        <p:strVal val="visible"/>
                                      </p:to>
                                    </p:set>
                                  </p:childTnLst>
                                </p:cTn>
                              </p:par>
                            </p:childTnLst>
                          </p:cTn>
                        </p:par>
                        <p:par>
                          <p:cTn id="179" fill="hold">
                            <p:stCondLst>
                              <p:cond delay="1000"/>
                            </p:stCondLst>
                            <p:childTnLst>
                              <p:par>
                                <p:cTn id="180" presetID="1" presetClass="entr" presetSubtype="0" fill="hold" grpId="0" nodeType="afterEffect">
                                  <p:stCondLst>
                                    <p:cond delay="0"/>
                                  </p:stCondLst>
                                  <p:childTnLst>
                                    <p:set>
                                      <p:cBhvr>
                                        <p:cTn id="181" dur="1" fill="hold">
                                          <p:stCondLst>
                                            <p:cond delay="499"/>
                                          </p:stCondLst>
                                        </p:cTn>
                                        <p:tgtEl>
                                          <p:spTgt spid="137257"/>
                                        </p:tgtEl>
                                        <p:attrNameLst>
                                          <p:attrName>style.visibility</p:attrName>
                                        </p:attrNameLst>
                                      </p:cBhvr>
                                      <p:to>
                                        <p:strVal val="visible"/>
                                      </p:to>
                                    </p:set>
                                  </p:childTnLst>
                                </p:cTn>
                              </p:par>
                            </p:childTnLst>
                          </p:cTn>
                        </p:par>
                        <p:par>
                          <p:cTn id="182" fill="hold">
                            <p:stCondLst>
                              <p:cond delay="1500"/>
                            </p:stCondLst>
                            <p:childTnLst>
                              <p:par>
                                <p:cTn id="183" presetID="1" presetClass="entr" presetSubtype="0" fill="hold" grpId="0" nodeType="afterEffect">
                                  <p:stCondLst>
                                    <p:cond delay="0"/>
                                  </p:stCondLst>
                                  <p:childTnLst>
                                    <p:set>
                                      <p:cBhvr>
                                        <p:cTn id="184" dur="1" fill="hold">
                                          <p:stCondLst>
                                            <p:cond delay="499"/>
                                          </p:stCondLst>
                                        </p:cTn>
                                        <p:tgtEl>
                                          <p:spTgt spid="137258"/>
                                        </p:tgtEl>
                                        <p:attrNameLst>
                                          <p:attrName>style.visibility</p:attrName>
                                        </p:attrNameLst>
                                      </p:cBhvr>
                                      <p:to>
                                        <p:strVal val="visible"/>
                                      </p:to>
                                    </p:set>
                                  </p:childTnLst>
                                </p:cTn>
                              </p:par>
                            </p:childTnLst>
                          </p:cTn>
                        </p:par>
                        <p:par>
                          <p:cTn id="185" fill="hold">
                            <p:stCondLst>
                              <p:cond delay="2000"/>
                            </p:stCondLst>
                            <p:childTnLst>
                              <p:par>
                                <p:cTn id="186" presetID="1" presetClass="entr" presetSubtype="0" fill="hold" grpId="0" nodeType="afterEffect">
                                  <p:stCondLst>
                                    <p:cond delay="0"/>
                                  </p:stCondLst>
                                  <p:childTnLst>
                                    <p:set>
                                      <p:cBhvr>
                                        <p:cTn id="187" dur="1" fill="hold">
                                          <p:stCondLst>
                                            <p:cond delay="499"/>
                                          </p:stCondLst>
                                        </p:cTn>
                                        <p:tgtEl>
                                          <p:spTgt spid="1372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18" grpId="0" bldLvl="0" animBg="1" autoUpdateAnimBg="0"/>
      <p:bldP spid="137219" grpId="0" animBg="1" autoUpdateAnimBg="0"/>
      <p:bldP spid="137220" grpId="0" animBg="1" autoUpdateAnimBg="0"/>
      <p:bldP spid="137221" grpId="0" animBg="1" autoUpdateAnimBg="0"/>
      <p:bldP spid="137222" grpId="0" animBg="1" autoUpdateAnimBg="0"/>
      <p:bldP spid="137223" grpId="0" animBg="1" autoUpdateAnimBg="0"/>
      <p:bldP spid="137224" grpId="0" animBg="1" autoUpdateAnimBg="0"/>
      <p:bldP spid="137225" grpId="0" animBg="1" autoUpdateAnimBg="0"/>
      <p:bldP spid="137226" grpId="0" animBg="1" autoUpdateAnimBg="0"/>
      <p:bldP spid="137227" grpId="0" animBg="1" autoUpdateAnimBg="0"/>
      <p:bldP spid="137228" grpId="0" animBg="1" autoUpdateAnimBg="0"/>
      <p:bldP spid="137229" grpId="0" animBg="1"/>
      <p:bldP spid="137230" grpId="0" animBg="1"/>
      <p:bldP spid="137231" grpId="0" animBg="1"/>
      <p:bldP spid="137232" grpId="0" animBg="1"/>
      <p:bldP spid="137233" grpId="0" animBg="1"/>
      <p:bldP spid="137234" grpId="0" animBg="1"/>
      <p:bldP spid="137235" grpId="0" animBg="1"/>
      <p:bldP spid="137236" grpId="0" animBg="1"/>
      <p:bldP spid="137237" grpId="0" animBg="1"/>
      <p:bldP spid="137238" grpId="0" bldLvl="0" animBg="1" autoUpdateAnimBg="0"/>
      <p:bldP spid="137239" grpId="0" animBg="1"/>
      <p:bldP spid="137240" grpId="0" animBg="1" autoUpdateAnimBg="0"/>
      <p:bldP spid="137241" grpId="0" animBg="1" autoUpdateAnimBg="0"/>
      <p:bldP spid="137242" grpId="0" animBg="1"/>
      <p:bldP spid="137243" grpId="0" animBg="1" autoUpdateAnimBg="0"/>
      <p:bldP spid="137244" grpId="0" animBg="1" autoUpdateAnimBg="0"/>
      <p:bldP spid="137245" grpId="0" animBg="1"/>
      <p:bldP spid="137246" grpId="0" animBg="1" autoUpdateAnimBg="0"/>
      <p:bldP spid="137247" grpId="0" animBg="1" autoUpdateAnimBg="0"/>
      <p:bldP spid="137248" grpId="0" animBg="1"/>
      <p:bldP spid="137249" grpId="0" animBg="1" autoUpdateAnimBg="0"/>
      <p:bldP spid="137250" grpId="0" animBg="1" autoUpdateAnimBg="0"/>
      <p:bldP spid="137251" grpId="0" animBg="1" autoUpdateAnimBg="0"/>
      <p:bldP spid="137252" grpId="0" bldLvl="0" animBg="1" autoUpdateAnimBg="0"/>
      <p:bldP spid="137253" grpId="0" animBg="1" autoUpdateAnimBg="0"/>
      <p:bldP spid="137254" grpId="0" animBg="1" autoUpdateAnimBg="0"/>
      <p:bldP spid="137255" grpId="0" animBg="1" autoUpdateAnimBg="0"/>
      <p:bldP spid="137256" grpId="0" animBg="1" autoUpdateAnimBg="0"/>
      <p:bldP spid="137257" grpId="0" animBg="1" autoUpdateAnimBg="0"/>
      <p:bldP spid="137258" grpId="0" animBg="1" autoUpdateAnimBg="0"/>
      <p:bldP spid="137259" grpId="0" animBg="1" autoUpdateAnimBg="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Text Box 2"/>
          <p:cNvSpPr txBox="1">
            <a:spLocks noChangeArrowheads="1"/>
          </p:cNvSpPr>
          <p:nvPr/>
        </p:nvSpPr>
        <p:spPr bwMode="auto">
          <a:xfrm>
            <a:off x="0" y="152400"/>
            <a:ext cx="8915400" cy="6431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a:t>Typedef  SqList  HeapType; </a:t>
            </a:r>
            <a:r>
              <a:rPr lang="en-US" altLang="zh-CN" sz="2000" b="1">
                <a:solidFill>
                  <a:srgbClr val="006600"/>
                </a:solidFill>
                <a:ea typeface="楷体_GB2312" pitchFamily="49" charset="-122"/>
              </a:rPr>
              <a:t>//</a:t>
            </a:r>
            <a:r>
              <a:rPr lang="en-US" altLang="zh-CN" sz="2000" b="1">
                <a:solidFill>
                  <a:srgbClr val="006600"/>
                </a:solidFill>
                <a:ea typeface="楷体_GB2312" pitchFamily="49" charset="-122"/>
                <a:sym typeface="+mn-ea"/>
              </a:rPr>
              <a:t>The heap uses sequential list storage</a:t>
            </a:r>
            <a:endParaRPr lang="zh-CN" altLang="en-US" sz="1000" b="1">
              <a:ea typeface="楷体_GB2312" pitchFamily="49" charset="-122"/>
            </a:endParaRPr>
          </a:p>
          <a:p>
            <a:pPr>
              <a:spcBef>
                <a:spcPct val="50000"/>
              </a:spcBef>
            </a:pPr>
            <a:r>
              <a:rPr lang="en-US" altLang="zh-CN" sz="2800" b="1"/>
              <a:t>Void HeapSort(HeapType  &amp;H)</a:t>
            </a:r>
            <a:r>
              <a:rPr lang="en-US" altLang="zh-CN" sz="2400" b="1"/>
              <a:t> {  </a:t>
            </a:r>
          </a:p>
          <a:p>
            <a:pPr>
              <a:spcBef>
                <a:spcPct val="50000"/>
              </a:spcBef>
            </a:pPr>
            <a:r>
              <a:rPr lang="en-US" altLang="zh-CN" sz="2400" b="1"/>
              <a:t>  </a:t>
            </a:r>
            <a:r>
              <a:rPr lang="en-US" altLang="zh-CN" sz="2400" b="1">
                <a:solidFill>
                  <a:srgbClr val="006600"/>
                </a:solidFill>
                <a:ea typeface="楷体_GB2312" pitchFamily="49" charset="-122"/>
              </a:rPr>
              <a:t>//Sort the sequential list H using heap sort</a:t>
            </a:r>
          </a:p>
          <a:p>
            <a:pPr>
              <a:spcBef>
                <a:spcPct val="50000"/>
              </a:spcBef>
            </a:pPr>
            <a:r>
              <a:rPr lang="zh-CN" altLang="en-US" sz="2400" b="1"/>
              <a:t>  </a:t>
            </a:r>
            <a:r>
              <a:rPr lang="en-US" altLang="zh-CN" sz="2800" b="1"/>
              <a:t>for (i=H.length/2; i&gt;0; --i)</a:t>
            </a:r>
            <a:r>
              <a:rPr lang="en-US" altLang="zh-CN" sz="2400" b="1"/>
              <a:t>  </a:t>
            </a:r>
            <a:r>
              <a:rPr lang="en-US" altLang="zh-CN" sz="2400" b="1">
                <a:solidFill>
                  <a:srgbClr val="006600"/>
                </a:solidFill>
                <a:ea typeface="楷体_GB2312" pitchFamily="49" charset="-122"/>
              </a:rPr>
              <a:t>//</a:t>
            </a:r>
            <a:r>
              <a:rPr lang="en-US" altLang="zh-CN" sz="2000" b="1">
                <a:solidFill>
                  <a:srgbClr val="006600"/>
                </a:solidFill>
                <a:ea typeface="楷体_GB2312" pitchFamily="49" charset="-122"/>
              </a:rPr>
              <a:t>Build H.r[1..H.Length] into a max-heap</a:t>
            </a:r>
            <a:endParaRPr lang="en-US" altLang="zh-CN" sz="2400" b="1">
              <a:solidFill>
                <a:srgbClr val="006600"/>
              </a:solidFill>
              <a:ea typeface="楷体_GB2312" pitchFamily="49" charset="-122"/>
            </a:endParaRPr>
          </a:p>
          <a:p>
            <a:pPr>
              <a:spcBef>
                <a:spcPct val="50000"/>
              </a:spcBef>
            </a:pPr>
            <a:r>
              <a:rPr lang="zh-CN" altLang="en-US" sz="2400" b="1"/>
              <a:t>      </a:t>
            </a:r>
            <a:r>
              <a:rPr lang="en-US" altLang="zh-CN" sz="2800" b="1">
                <a:solidFill>
                  <a:schemeClr val="accent2"/>
                </a:solidFill>
              </a:rPr>
              <a:t>HeapAdjust(H,i,H.length);</a:t>
            </a:r>
          </a:p>
          <a:p>
            <a:pPr>
              <a:spcBef>
                <a:spcPct val="50000"/>
              </a:spcBef>
            </a:pPr>
            <a:r>
              <a:rPr lang="en-US" altLang="zh-CN" sz="2800" b="1"/>
              <a:t>  for (i=H.length; i&gt;1; --i) {</a:t>
            </a:r>
          </a:p>
          <a:p>
            <a:pPr>
              <a:spcBef>
                <a:spcPct val="50000"/>
              </a:spcBef>
            </a:pPr>
            <a:r>
              <a:rPr lang="en-US" altLang="zh-CN" sz="2400" b="1"/>
              <a:t>      </a:t>
            </a:r>
            <a:r>
              <a:rPr lang="en-US" altLang="zh-CN" sz="2800" b="1"/>
              <a:t>H.r[1]</a:t>
            </a:r>
            <a:r>
              <a:rPr lang="en-US" altLang="zh-CN" sz="2800" b="1">
                <a:ea typeface="仿宋_GB2312" pitchFamily="49" charset="-122"/>
              </a:rPr>
              <a:t>←→</a:t>
            </a:r>
            <a:r>
              <a:rPr lang="en-US" altLang="zh-CN" sz="2800" b="1"/>
              <a:t>H.r[i];</a:t>
            </a:r>
            <a:r>
              <a:rPr lang="en-US" altLang="zh-CN" sz="2400" b="1"/>
              <a:t>      </a:t>
            </a:r>
            <a:r>
              <a:rPr lang="en-US" altLang="zh-CN" sz="2400" b="1">
                <a:solidFill>
                  <a:srgbClr val="006600"/>
                </a:solidFill>
                <a:ea typeface="楷体_GB2312" pitchFamily="49" charset="-122"/>
              </a:rPr>
              <a:t>//Swap the heap top (H.r[1]) with the     		//last element of the unsorted sub-sequence H.r[1..i]</a:t>
            </a:r>
          </a:p>
          <a:p>
            <a:pPr>
              <a:spcBef>
                <a:spcPct val="50000"/>
              </a:spcBef>
            </a:pPr>
            <a:r>
              <a:rPr lang="zh-CN" altLang="en-US" sz="2400" b="1"/>
              <a:t>      </a:t>
            </a:r>
            <a:r>
              <a:rPr lang="en-US" altLang="zh-CN" sz="2800" b="1">
                <a:solidFill>
                  <a:schemeClr val="accent2"/>
                </a:solidFill>
              </a:rPr>
              <a:t>HeapAdjust(H,1,i-1);</a:t>
            </a:r>
            <a:r>
              <a:rPr lang="en-US" altLang="zh-CN" sz="2400" b="1"/>
              <a:t>  </a:t>
            </a:r>
            <a:r>
              <a:rPr lang="en-US" altLang="zh-CN" sz="2400" b="1">
                <a:solidFill>
                  <a:srgbClr val="006600"/>
                </a:solidFill>
                <a:ea typeface="楷体_GB2312" pitchFamily="49" charset="-122"/>
              </a:rPr>
              <a:t>//Re-adjust H.r[1..i-1] to a max-heap</a:t>
            </a:r>
          </a:p>
          <a:p>
            <a:pPr>
              <a:spcBef>
                <a:spcPct val="50000"/>
              </a:spcBef>
            </a:pPr>
            <a:r>
              <a:rPr lang="zh-CN" altLang="en-US" sz="2400" b="1"/>
              <a:t>    </a:t>
            </a:r>
            <a:r>
              <a:rPr lang="en-US" altLang="zh-CN" sz="2400" b="1"/>
              <a:t>}</a:t>
            </a:r>
          </a:p>
          <a:p>
            <a:pPr>
              <a:spcBef>
                <a:spcPct val="50000"/>
              </a:spcBef>
            </a:pPr>
            <a:r>
              <a:rPr lang="en-US" altLang="zh-CN" sz="2400" b="1"/>
              <a:t>}</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93</a:t>
            </a:fld>
            <a:endParaRPr lang="en-US" altLang="zh-CN"/>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Text Box 2"/>
          <p:cNvSpPr txBox="1">
            <a:spLocks noChangeArrowheads="1"/>
          </p:cNvSpPr>
          <p:nvPr/>
        </p:nvSpPr>
        <p:spPr bwMode="auto">
          <a:xfrm>
            <a:off x="107315" y="188595"/>
            <a:ext cx="7652385"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200" b="1">
                <a:solidFill>
                  <a:srgbClr val="000080"/>
                </a:solidFill>
                <a:latin typeface="Arial" panose="020B0604020202020204" pitchFamily="34" charset="0"/>
                <a:ea typeface="隶书" panose="02010509060101010101" pitchFamily="49" charset="-122"/>
                <a:cs typeface="Arial" panose="020B0604020202020204" pitchFamily="34" charset="0"/>
              </a:rPr>
              <a:t>Time complexity analysis of heap sort:</a:t>
            </a:r>
          </a:p>
        </p:txBody>
      </p:sp>
      <p:sp>
        <p:nvSpPr>
          <p:cNvPr id="138243" name="Text Box 3"/>
          <p:cNvSpPr txBox="1">
            <a:spLocks noChangeArrowheads="1"/>
          </p:cNvSpPr>
          <p:nvPr/>
        </p:nvSpPr>
        <p:spPr bwMode="auto">
          <a:xfrm>
            <a:off x="228600" y="949325"/>
            <a:ext cx="8991600" cy="1050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buClrTx/>
              <a:buSzTx/>
              <a:buFontTx/>
            </a:pPr>
            <a:r>
              <a:rPr lang="en-US" altLang="zh-CN" sz="2600">
                <a:solidFill>
                  <a:srgbClr val="990000"/>
                </a:solidFill>
                <a:latin typeface="Arial" panose="020B0604020202020204" pitchFamily="34" charset="0"/>
                <a:ea typeface="楷体_GB2312" pitchFamily="49" charset="-122"/>
                <a:cs typeface="Arial" panose="020B0604020202020204" pitchFamily="34" charset="0"/>
              </a:rPr>
              <a:t>1.Keywords required for "filtering" in a heap of depth k</a:t>
            </a:r>
          </a:p>
          <a:p>
            <a:pPr algn="l">
              <a:lnSpc>
                <a:spcPct val="120000"/>
              </a:lnSpc>
              <a:buClrTx/>
              <a:buSzTx/>
              <a:buFontTx/>
            </a:pPr>
            <a:r>
              <a:rPr lang="en-US" altLang="zh-CN" sz="2600">
                <a:solidFill>
                  <a:srgbClr val="990000"/>
                </a:solidFill>
                <a:latin typeface="Arial" panose="020B0604020202020204" pitchFamily="34" charset="0"/>
                <a:ea typeface="楷体_GB2312" pitchFamily="49" charset="-122"/>
                <a:cs typeface="Arial" panose="020B0604020202020204" pitchFamily="34" charset="0"/>
              </a:rPr>
              <a:t>The maximum number of comparisons is </a:t>
            </a:r>
            <a:r>
              <a:rPr lang="en-US" altLang="zh-CN" sz="2600">
                <a:solidFill>
                  <a:srgbClr val="FF3300"/>
                </a:solidFill>
                <a:latin typeface="Arial" panose="020B0604020202020204" pitchFamily="34" charset="0"/>
                <a:ea typeface="楷体_GB2312" pitchFamily="49" charset="-122"/>
                <a:cs typeface="Arial" panose="020B0604020202020204" pitchFamily="34" charset="0"/>
                <a:sym typeface="+mn-ea"/>
              </a:rPr>
              <a:t>2(k-1)</a:t>
            </a:r>
            <a:r>
              <a:rPr lang="zh-CN" altLang="en-US" sz="2600">
                <a:solidFill>
                  <a:srgbClr val="990000"/>
                </a:solidFill>
                <a:latin typeface="Arial" panose="020B0604020202020204" pitchFamily="34" charset="0"/>
                <a:ea typeface="楷体_GB2312" pitchFamily="49" charset="-122"/>
                <a:cs typeface="Arial" panose="020B0604020202020204" pitchFamily="34" charset="0"/>
              </a:rPr>
              <a:t>.</a:t>
            </a:r>
          </a:p>
        </p:txBody>
      </p:sp>
      <p:sp>
        <p:nvSpPr>
          <p:cNvPr id="138244" name="Text Box 4"/>
          <p:cNvSpPr txBox="1">
            <a:spLocks noChangeArrowheads="1"/>
          </p:cNvSpPr>
          <p:nvPr/>
        </p:nvSpPr>
        <p:spPr bwMode="auto">
          <a:xfrm>
            <a:off x="250825" y="3429000"/>
            <a:ext cx="10439400" cy="1591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en-US" altLang="zh-CN" sz="2600" b="1">
                <a:solidFill>
                  <a:srgbClr val="990000"/>
                </a:solidFill>
                <a:latin typeface="Arial" panose="020B0604020202020204" pitchFamily="34" charset="0"/>
                <a:ea typeface="楷体_GB2312" pitchFamily="49" charset="-122"/>
                <a:cs typeface="Arial" panose="020B0604020202020204" pitchFamily="34" charset="0"/>
              </a:rPr>
              <a:t>3.</a:t>
            </a:r>
            <a:r>
              <a:rPr lang="zh-CN" altLang="en-US" sz="2600">
                <a:solidFill>
                  <a:srgbClr val="990000"/>
                </a:solidFill>
                <a:latin typeface="Arial" panose="020B0604020202020204" pitchFamily="34" charset="0"/>
                <a:ea typeface="楷体_GB2312" pitchFamily="49" charset="-122"/>
                <a:cs typeface="Arial" panose="020B0604020202020204" pitchFamily="34" charset="0"/>
              </a:rPr>
              <a:t>Adjust the "top heap" n-1 times, totaling the key</a:t>
            </a:r>
          </a:p>
          <a:p>
            <a:pPr>
              <a:lnSpc>
                <a:spcPct val="125000"/>
              </a:lnSpc>
            </a:pPr>
            <a:r>
              <a:rPr lang="zh-CN" altLang="en-US" sz="2600">
                <a:solidFill>
                  <a:srgbClr val="990000"/>
                </a:solidFill>
                <a:latin typeface="Arial" panose="020B0604020202020204" pitchFamily="34" charset="0"/>
                <a:ea typeface="楷体_GB2312" pitchFamily="49" charset="-122"/>
                <a:cs typeface="Arial" panose="020B0604020202020204" pitchFamily="34" charset="0"/>
              </a:rPr>
              <a:t>The number of character comparisons does not exceed</a:t>
            </a:r>
          </a:p>
          <a:p>
            <a:pPr>
              <a:lnSpc>
                <a:spcPct val="125000"/>
              </a:lnSpc>
            </a:pPr>
            <a:r>
              <a:rPr lang="en-US" altLang="zh-CN" sz="2600" b="1">
                <a:solidFill>
                  <a:srgbClr val="990000"/>
                </a:solidFill>
                <a:ea typeface="楷体_GB2312" pitchFamily="49" charset="-122"/>
                <a:sym typeface="+mn-ea"/>
              </a:rPr>
              <a:t>2 (</a:t>
            </a:r>
            <a:r>
              <a:rPr lang="en-US" altLang="zh-CN" sz="2600" b="1">
                <a:solidFill>
                  <a:srgbClr val="990000"/>
                </a:solidFill>
                <a:ea typeface="楷体_GB2312" pitchFamily="49" charset="-122"/>
                <a:sym typeface="Symbol" panose="05050102010706020507" pitchFamily="18" charset="2"/>
              </a:rPr>
              <a:t></a:t>
            </a:r>
            <a:r>
              <a:rPr lang="en-US" altLang="zh-CN" sz="2600" b="1" i="1">
                <a:solidFill>
                  <a:srgbClr val="990000"/>
                </a:solidFill>
                <a:ea typeface="楷体_GB2312" pitchFamily="49" charset="-122"/>
                <a:sym typeface="+mn-ea"/>
              </a:rPr>
              <a:t>log</a:t>
            </a:r>
            <a:r>
              <a:rPr lang="en-US" altLang="zh-CN" sz="2600" b="1" i="1" baseline="-25000">
                <a:solidFill>
                  <a:srgbClr val="990000"/>
                </a:solidFill>
                <a:ea typeface="楷体_GB2312" pitchFamily="49" charset="-122"/>
                <a:sym typeface="+mn-ea"/>
              </a:rPr>
              <a:t>2</a:t>
            </a:r>
            <a:r>
              <a:rPr lang="en-US" altLang="zh-CN" sz="2600" b="1" i="1">
                <a:solidFill>
                  <a:srgbClr val="990000"/>
                </a:solidFill>
                <a:ea typeface="楷体_GB2312" pitchFamily="49" charset="-122"/>
                <a:sym typeface="+mn-ea"/>
              </a:rPr>
              <a:t>(n-1)</a:t>
            </a:r>
            <a:r>
              <a:rPr lang="en-US" altLang="zh-CN" sz="2600" b="1">
                <a:solidFill>
                  <a:srgbClr val="990000"/>
                </a:solidFill>
                <a:ea typeface="楷体_GB2312" pitchFamily="49" charset="-122"/>
                <a:sym typeface="Symbol" panose="05050102010706020507" pitchFamily="18" charset="2"/>
              </a:rPr>
              <a:t></a:t>
            </a:r>
            <a:r>
              <a:rPr lang="en-US" altLang="zh-CN" sz="2600" b="1">
                <a:solidFill>
                  <a:srgbClr val="990000"/>
                </a:solidFill>
                <a:ea typeface="楷体_GB2312" pitchFamily="49" charset="-122"/>
                <a:sym typeface="+mn-ea"/>
              </a:rPr>
              <a:t>+ </a:t>
            </a:r>
            <a:r>
              <a:rPr lang="en-US" altLang="zh-CN" sz="2600" b="1">
                <a:solidFill>
                  <a:srgbClr val="990000"/>
                </a:solidFill>
                <a:ea typeface="楷体_GB2312" pitchFamily="49" charset="-122"/>
                <a:sym typeface="Symbol" panose="05050102010706020507" pitchFamily="18" charset="2"/>
              </a:rPr>
              <a:t></a:t>
            </a:r>
            <a:r>
              <a:rPr lang="en-US" altLang="zh-CN" sz="2600" b="1" i="1">
                <a:solidFill>
                  <a:srgbClr val="990000"/>
                </a:solidFill>
                <a:ea typeface="楷体_GB2312" pitchFamily="49" charset="-122"/>
                <a:sym typeface="+mn-ea"/>
              </a:rPr>
              <a:t>log</a:t>
            </a:r>
            <a:r>
              <a:rPr lang="en-US" altLang="zh-CN" sz="2600" b="1" i="1" baseline="-25000">
                <a:solidFill>
                  <a:srgbClr val="990000"/>
                </a:solidFill>
                <a:ea typeface="楷体_GB2312" pitchFamily="49" charset="-122"/>
                <a:sym typeface="+mn-ea"/>
              </a:rPr>
              <a:t>2</a:t>
            </a:r>
            <a:r>
              <a:rPr lang="en-US" altLang="zh-CN" sz="2600" b="1" i="1">
                <a:solidFill>
                  <a:srgbClr val="990000"/>
                </a:solidFill>
                <a:ea typeface="楷体_GB2312" pitchFamily="49" charset="-122"/>
                <a:sym typeface="+mn-ea"/>
              </a:rPr>
              <a:t>(n-2)</a:t>
            </a:r>
            <a:r>
              <a:rPr lang="en-US" altLang="zh-CN" sz="2600" b="1">
                <a:solidFill>
                  <a:srgbClr val="990000"/>
                </a:solidFill>
                <a:ea typeface="楷体_GB2312" pitchFamily="49" charset="-122"/>
                <a:sym typeface="Symbol" panose="05050102010706020507" pitchFamily="18" charset="2"/>
              </a:rPr>
              <a:t></a:t>
            </a:r>
            <a:r>
              <a:rPr lang="en-US" altLang="zh-CN" sz="2600" b="1">
                <a:solidFill>
                  <a:srgbClr val="990000"/>
                </a:solidFill>
                <a:ea typeface="楷体_GB2312" pitchFamily="49" charset="-122"/>
                <a:sym typeface="+mn-ea"/>
              </a:rPr>
              <a:t>+</a:t>
            </a:r>
            <a:r>
              <a:rPr lang="en-US" altLang="zh-CN" sz="2600" b="1">
                <a:solidFill>
                  <a:srgbClr val="990000"/>
                </a:solidFill>
                <a:latin typeface="楷体_GB2312" pitchFamily="49" charset="-122"/>
                <a:ea typeface="楷体_GB2312" pitchFamily="49" charset="-122"/>
                <a:sym typeface="+mn-ea"/>
              </a:rPr>
              <a:t> </a:t>
            </a:r>
            <a:r>
              <a:rPr lang="en-US" altLang="zh-CN" sz="2600" b="1">
                <a:solidFill>
                  <a:srgbClr val="990000"/>
                </a:solidFill>
                <a:latin typeface="Times New Roman" panose="02020603050405020304"/>
                <a:ea typeface="楷体_GB2312" pitchFamily="49" charset="-122"/>
                <a:sym typeface="+mn-ea"/>
              </a:rPr>
              <a:t>…</a:t>
            </a:r>
            <a:r>
              <a:rPr lang="en-US" altLang="zh-CN" sz="2600" b="1">
                <a:solidFill>
                  <a:srgbClr val="990000"/>
                </a:solidFill>
                <a:ea typeface="楷体_GB2312" pitchFamily="49" charset="-122"/>
                <a:sym typeface="+mn-ea"/>
              </a:rPr>
              <a:t>+</a:t>
            </a:r>
            <a:r>
              <a:rPr lang="en-US" altLang="zh-CN" sz="2600" b="1" i="1">
                <a:solidFill>
                  <a:srgbClr val="990000"/>
                </a:solidFill>
                <a:ea typeface="楷体_GB2312" pitchFamily="49" charset="-122"/>
                <a:sym typeface="+mn-ea"/>
              </a:rPr>
              <a:t>log</a:t>
            </a:r>
            <a:r>
              <a:rPr lang="en-US" altLang="zh-CN" sz="2600" b="1" i="1" baseline="-25000">
                <a:solidFill>
                  <a:srgbClr val="990000"/>
                </a:solidFill>
                <a:ea typeface="楷体_GB2312" pitchFamily="49" charset="-122"/>
                <a:sym typeface="+mn-ea"/>
              </a:rPr>
              <a:t>2</a:t>
            </a:r>
            <a:r>
              <a:rPr lang="en-US" altLang="zh-CN" sz="2600" b="1" i="1">
                <a:solidFill>
                  <a:srgbClr val="990000"/>
                </a:solidFill>
                <a:ea typeface="楷体_GB2312" pitchFamily="49" charset="-122"/>
                <a:sym typeface="+mn-ea"/>
              </a:rPr>
              <a:t>2</a:t>
            </a:r>
            <a:r>
              <a:rPr lang="en-US" altLang="zh-CN" sz="2600" b="1">
                <a:solidFill>
                  <a:srgbClr val="990000"/>
                </a:solidFill>
                <a:ea typeface="楷体_GB2312" pitchFamily="49" charset="-122"/>
                <a:sym typeface="+mn-ea"/>
              </a:rPr>
              <a:t>) &lt; 2</a:t>
            </a:r>
            <a:r>
              <a:rPr lang="en-US" altLang="zh-CN" sz="2600" b="1" i="1">
                <a:solidFill>
                  <a:srgbClr val="990000"/>
                </a:solidFill>
                <a:ea typeface="楷体_GB2312" pitchFamily="49" charset="-122"/>
                <a:sym typeface="+mn-ea"/>
              </a:rPr>
              <a:t>n</a:t>
            </a:r>
            <a:r>
              <a:rPr lang="en-US" altLang="zh-CN" sz="2600" b="1">
                <a:solidFill>
                  <a:srgbClr val="990000"/>
                </a:solidFill>
                <a:ea typeface="楷体_GB2312" pitchFamily="49" charset="-122"/>
                <a:sym typeface="+mn-ea"/>
              </a:rPr>
              <a:t>(</a:t>
            </a:r>
            <a:r>
              <a:rPr lang="en-US" altLang="zh-CN" sz="2600" b="1">
                <a:solidFill>
                  <a:srgbClr val="990000"/>
                </a:solidFill>
                <a:ea typeface="楷体_GB2312" pitchFamily="49" charset="-122"/>
                <a:sym typeface="Symbol" panose="05050102010706020507" pitchFamily="18" charset="2"/>
              </a:rPr>
              <a:t></a:t>
            </a:r>
            <a:r>
              <a:rPr lang="en-US" altLang="zh-CN" sz="2600" b="1" i="1">
                <a:solidFill>
                  <a:srgbClr val="990000"/>
                </a:solidFill>
                <a:ea typeface="楷体_GB2312" pitchFamily="49" charset="-122"/>
                <a:sym typeface="+mn-ea"/>
              </a:rPr>
              <a:t>log</a:t>
            </a:r>
            <a:r>
              <a:rPr lang="en-US" altLang="zh-CN" sz="2600" b="1" i="1" baseline="-25000">
                <a:solidFill>
                  <a:srgbClr val="990000"/>
                </a:solidFill>
                <a:ea typeface="楷体_GB2312" pitchFamily="49" charset="-122"/>
                <a:sym typeface="+mn-ea"/>
              </a:rPr>
              <a:t>2</a:t>
            </a:r>
            <a:r>
              <a:rPr lang="en-US" altLang="zh-CN" sz="2600" b="1" i="1">
                <a:solidFill>
                  <a:srgbClr val="990000"/>
                </a:solidFill>
                <a:ea typeface="楷体_GB2312" pitchFamily="49" charset="-122"/>
                <a:sym typeface="+mn-ea"/>
              </a:rPr>
              <a:t>n</a:t>
            </a:r>
            <a:r>
              <a:rPr lang="en-US" altLang="zh-CN" sz="2600" b="1">
                <a:solidFill>
                  <a:srgbClr val="990000"/>
                </a:solidFill>
                <a:ea typeface="楷体_GB2312" pitchFamily="49" charset="-122"/>
                <a:sym typeface="Symbol" panose="05050102010706020507" pitchFamily="18" charset="2"/>
              </a:rPr>
              <a:t></a:t>
            </a:r>
            <a:r>
              <a:rPr lang="en-US" altLang="zh-CN" sz="2600" b="1">
                <a:solidFill>
                  <a:srgbClr val="990000"/>
                </a:solidFill>
                <a:ea typeface="楷体_GB2312" pitchFamily="49" charset="-122"/>
                <a:sym typeface="+mn-ea"/>
              </a:rPr>
              <a:t>)</a:t>
            </a:r>
            <a:r>
              <a:rPr lang="en-US" altLang="zh-CN" sz="2600" b="1">
                <a:ea typeface="楷体_GB2312" pitchFamily="49" charset="-122"/>
                <a:sym typeface="+mn-ea"/>
              </a:rPr>
              <a:t> </a:t>
            </a:r>
            <a:endParaRPr lang="en-US" altLang="zh-CN" sz="2600" b="1">
              <a:latin typeface="Arial" panose="020B0604020202020204" pitchFamily="34" charset="0"/>
              <a:ea typeface="楷体_GB2312" pitchFamily="49" charset="-122"/>
              <a:cs typeface="Arial" panose="020B0604020202020204" pitchFamily="34" charset="0"/>
            </a:endParaRPr>
          </a:p>
        </p:txBody>
      </p:sp>
      <p:sp>
        <p:nvSpPr>
          <p:cNvPr id="138245" name="Text Box 5"/>
          <p:cNvSpPr txBox="1">
            <a:spLocks noChangeArrowheads="1"/>
          </p:cNvSpPr>
          <p:nvPr/>
        </p:nvSpPr>
        <p:spPr bwMode="auto">
          <a:xfrm>
            <a:off x="395288" y="5445125"/>
            <a:ext cx="8214360" cy="49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600">
                <a:solidFill>
                  <a:srgbClr val="990000"/>
                </a:solidFill>
                <a:latin typeface="Arial" panose="020B0604020202020204" pitchFamily="34" charset="0"/>
                <a:ea typeface="隶书" panose="02010509060101010101" pitchFamily="49" charset="-122"/>
                <a:cs typeface="Arial" panose="020B0604020202020204" pitchFamily="34" charset="0"/>
              </a:rPr>
              <a:t>Therefore, </a:t>
            </a:r>
            <a:r>
              <a:rPr lang="zh-CN" altLang="en-US" sz="2600">
                <a:solidFill>
                  <a:srgbClr val="0000FF"/>
                </a:solidFill>
                <a:latin typeface="Arial" panose="020B0604020202020204" pitchFamily="34" charset="0"/>
                <a:ea typeface="隶书" panose="02010509060101010101" pitchFamily="49" charset="-122"/>
                <a:cs typeface="Arial" panose="020B0604020202020204" pitchFamily="34" charset="0"/>
              </a:rPr>
              <a:t>the time complexity of heap sort is</a:t>
            </a:r>
            <a:r>
              <a:rPr lang="zh-CN" altLang="en-US" sz="2600">
                <a:solidFill>
                  <a:srgbClr val="0000FF"/>
                </a:solidFill>
                <a:ea typeface="隶书" panose="02010509060101010101" pitchFamily="49" charset="-122"/>
              </a:rPr>
              <a:t> </a:t>
            </a:r>
            <a:r>
              <a:rPr lang="en-US" altLang="zh-CN" sz="2600" b="1">
                <a:solidFill>
                  <a:srgbClr val="0000FF"/>
                </a:solidFill>
                <a:ea typeface="楷体_GB2312" pitchFamily="49" charset="-122"/>
                <a:sym typeface="+mn-ea"/>
              </a:rPr>
              <a:t>O(</a:t>
            </a:r>
            <a:r>
              <a:rPr lang="en-US" altLang="zh-CN" sz="2600" b="1" i="1">
                <a:solidFill>
                  <a:srgbClr val="0000FF"/>
                </a:solidFill>
                <a:ea typeface="楷体_GB2312" pitchFamily="49" charset="-122"/>
                <a:sym typeface="+mn-ea"/>
              </a:rPr>
              <a:t>n</a:t>
            </a:r>
            <a:r>
              <a:rPr lang="en-US" altLang="zh-CN" sz="2600" b="1">
                <a:solidFill>
                  <a:srgbClr val="0000FF"/>
                </a:solidFill>
                <a:ea typeface="楷体_GB2312" pitchFamily="49" charset="-122"/>
                <a:sym typeface="+mn-ea"/>
              </a:rPr>
              <a:t>log</a:t>
            </a:r>
            <a:r>
              <a:rPr lang="en-US" altLang="zh-CN" sz="2600" b="1" i="1">
                <a:solidFill>
                  <a:srgbClr val="0000FF"/>
                </a:solidFill>
                <a:ea typeface="楷体_GB2312" pitchFamily="49" charset="-122"/>
                <a:sym typeface="+mn-ea"/>
              </a:rPr>
              <a:t>n</a:t>
            </a:r>
            <a:r>
              <a:rPr lang="en-US" altLang="zh-CN" sz="2600" b="1">
                <a:solidFill>
                  <a:srgbClr val="0000FF"/>
                </a:solidFill>
                <a:ea typeface="楷体_GB2312" pitchFamily="49" charset="-122"/>
                <a:sym typeface="+mn-ea"/>
              </a:rPr>
              <a:t>)</a:t>
            </a:r>
            <a:r>
              <a:rPr lang="zh-CN" altLang="en-US" sz="2600">
                <a:solidFill>
                  <a:srgbClr val="0000FF"/>
                </a:solidFill>
                <a:ea typeface="隶书" panose="02010509060101010101" pitchFamily="49" charset="-122"/>
              </a:rPr>
              <a:t>.</a:t>
            </a:r>
          </a:p>
        </p:txBody>
      </p:sp>
      <p:sp>
        <p:nvSpPr>
          <p:cNvPr id="138247" name="Rectangle 7"/>
          <p:cNvSpPr>
            <a:spLocks noChangeArrowheads="1"/>
          </p:cNvSpPr>
          <p:nvPr/>
        </p:nvSpPr>
        <p:spPr bwMode="auto">
          <a:xfrm>
            <a:off x="287338" y="2385060"/>
            <a:ext cx="9296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kumimoji="1" sz="4400">
                <a:solidFill>
                  <a:schemeClr val="tx2"/>
                </a:solidFill>
                <a:latin typeface="Times New Roman" panose="02020603050405020304" pitchFamily="18" charset="0"/>
                <a:ea typeface="宋体" panose="02010600030101010101" pitchFamily="2" charset="-122"/>
              </a:defRPr>
            </a:lvl1pPr>
            <a:lvl2pPr algn="ctr">
              <a:defRPr kumimoji="1" sz="4400">
                <a:solidFill>
                  <a:schemeClr val="tx2"/>
                </a:solidFill>
                <a:latin typeface="Times New Roman" panose="02020603050405020304" pitchFamily="18" charset="0"/>
                <a:ea typeface="宋体" panose="02010600030101010101" pitchFamily="2" charset="-122"/>
              </a:defRPr>
            </a:lvl2pPr>
            <a:lvl3pPr algn="ctr">
              <a:defRPr kumimoji="1" sz="4400">
                <a:solidFill>
                  <a:schemeClr val="tx2"/>
                </a:solidFill>
                <a:latin typeface="Times New Roman" panose="02020603050405020304" pitchFamily="18" charset="0"/>
                <a:ea typeface="宋体" panose="02010600030101010101" pitchFamily="2" charset="-122"/>
              </a:defRPr>
            </a:lvl3pPr>
            <a:lvl4pPr algn="ctr">
              <a:defRPr kumimoji="1" sz="4400">
                <a:solidFill>
                  <a:schemeClr val="tx2"/>
                </a:solidFill>
                <a:latin typeface="Times New Roman" panose="02020603050405020304" pitchFamily="18" charset="0"/>
                <a:ea typeface="宋体" panose="02010600030101010101" pitchFamily="2" charset="-122"/>
              </a:defRPr>
            </a:lvl4pPr>
            <a:lvl5pPr algn="ctr">
              <a:defRPr kumimoji="1" sz="4400">
                <a:solidFill>
                  <a:schemeClr val="tx2"/>
                </a:solidFill>
                <a:latin typeface="Times New Roman" panose="02020603050405020304" pitchFamily="18" charset="0"/>
                <a:ea typeface="宋体" panose="02010600030101010101" pitchFamily="2" charset="-122"/>
              </a:defRPr>
            </a:lvl5pPr>
            <a:lvl6pPr marL="4572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lgn="l">
              <a:lnSpc>
                <a:spcPct val="120000"/>
              </a:lnSpc>
            </a:pPr>
            <a:r>
              <a:rPr lang="en-US" altLang="zh-CN" sz="2600" b="1">
                <a:solidFill>
                  <a:srgbClr val="990000"/>
                </a:solidFill>
                <a:latin typeface="Arial" panose="020B0604020202020204" pitchFamily="34" charset="0"/>
                <a:ea typeface="楷体_GB2312" pitchFamily="49" charset="-122"/>
                <a:cs typeface="Arial" panose="020B0604020202020204" pitchFamily="34" charset="0"/>
              </a:rPr>
              <a:t>2.</a:t>
            </a:r>
            <a:r>
              <a:rPr lang="zh-CN" altLang="en-US" sz="2600">
                <a:solidFill>
                  <a:srgbClr val="990000"/>
                </a:solidFill>
                <a:latin typeface="Arial" panose="020B0604020202020204" pitchFamily="34" charset="0"/>
                <a:ea typeface="楷体_GB2312" pitchFamily="49" charset="-122"/>
                <a:cs typeface="Arial" panose="020B0604020202020204" pitchFamily="34" charset="0"/>
              </a:rPr>
              <a:t>For n keywords, build a heap of depth </a:t>
            </a:r>
            <a:r>
              <a:rPr lang="en-US" altLang="zh-CN" sz="2600" b="1" i="1">
                <a:solidFill>
                  <a:srgbClr val="990000"/>
                </a:solidFill>
                <a:latin typeface="Arial" panose="020B0604020202020204" pitchFamily="34" charset="0"/>
                <a:ea typeface="楷体_GB2312" pitchFamily="49" charset="-122"/>
                <a:cs typeface="Arial" panose="020B0604020202020204" pitchFamily="34" charset="0"/>
                <a:sym typeface="+mn-ea"/>
              </a:rPr>
              <a:t>h</a:t>
            </a:r>
            <a:r>
              <a:rPr lang="en-US" altLang="zh-CN" sz="2600">
                <a:solidFill>
                  <a:srgbClr val="990000"/>
                </a:solidFill>
                <a:latin typeface="Arial" panose="020B0604020202020204" pitchFamily="34" charset="0"/>
                <a:ea typeface="楷体_GB2312" pitchFamily="49" charset="-122"/>
                <a:cs typeface="Arial" panose="020B0604020202020204" pitchFamily="34" charset="0"/>
                <a:sym typeface="+mn-ea"/>
              </a:rPr>
              <a:t>(=</a:t>
            </a:r>
            <a:r>
              <a:rPr lang="en-US" altLang="zh-CN" sz="2600">
                <a:solidFill>
                  <a:srgbClr val="990000"/>
                </a:solidFill>
                <a:latin typeface="Arial" panose="020B0604020202020204" pitchFamily="34" charset="0"/>
                <a:ea typeface="楷体_GB2312" pitchFamily="49" charset="-122"/>
                <a:cs typeface="Arial" panose="020B0604020202020204" pitchFamily="34" charset="0"/>
                <a:sym typeface="Symbol" panose="05050102010706020507" pitchFamily="18" charset="2"/>
              </a:rPr>
              <a:t></a:t>
            </a:r>
            <a:r>
              <a:rPr lang="en-US" altLang="zh-CN" sz="2600" b="1" i="1">
                <a:solidFill>
                  <a:srgbClr val="990000"/>
                </a:solidFill>
                <a:latin typeface="Arial" panose="020B0604020202020204" pitchFamily="34" charset="0"/>
                <a:ea typeface="楷体_GB2312" pitchFamily="49" charset="-122"/>
                <a:cs typeface="Arial" panose="020B0604020202020204" pitchFamily="34" charset="0"/>
                <a:sym typeface="+mn-ea"/>
              </a:rPr>
              <a:t>log</a:t>
            </a:r>
            <a:r>
              <a:rPr lang="en-US" altLang="zh-CN" sz="2600" b="1" i="1" baseline="-25000">
                <a:solidFill>
                  <a:srgbClr val="990000"/>
                </a:solidFill>
                <a:latin typeface="Arial" panose="020B0604020202020204" pitchFamily="34" charset="0"/>
                <a:ea typeface="楷体_GB2312" pitchFamily="49" charset="-122"/>
                <a:cs typeface="Arial" panose="020B0604020202020204" pitchFamily="34" charset="0"/>
                <a:sym typeface="+mn-ea"/>
              </a:rPr>
              <a:t>2</a:t>
            </a:r>
            <a:r>
              <a:rPr lang="en-US" altLang="zh-CN" sz="2600" b="1" i="1">
                <a:solidFill>
                  <a:srgbClr val="990000"/>
                </a:solidFill>
                <a:latin typeface="Arial" panose="020B0604020202020204" pitchFamily="34" charset="0"/>
                <a:ea typeface="楷体_GB2312" pitchFamily="49" charset="-122"/>
                <a:cs typeface="Arial" panose="020B0604020202020204" pitchFamily="34" charset="0"/>
                <a:sym typeface="+mn-ea"/>
              </a:rPr>
              <a:t>n</a:t>
            </a:r>
            <a:r>
              <a:rPr lang="en-US" altLang="zh-CN" sz="2600">
                <a:solidFill>
                  <a:srgbClr val="990000"/>
                </a:solidFill>
                <a:latin typeface="Arial" panose="020B0604020202020204" pitchFamily="34" charset="0"/>
                <a:ea typeface="楷体_GB2312" pitchFamily="49" charset="-122"/>
                <a:cs typeface="Arial" panose="020B0604020202020204" pitchFamily="34" charset="0"/>
                <a:sym typeface="Symbol" panose="05050102010706020507" pitchFamily="18" charset="2"/>
              </a:rPr>
              <a:t>+1)</a:t>
            </a:r>
            <a:r>
              <a:rPr lang="zh-CN" altLang="en-US" sz="2600">
                <a:solidFill>
                  <a:srgbClr val="990000"/>
                </a:solidFill>
                <a:latin typeface="Arial" panose="020B0604020202020204" pitchFamily="34" charset="0"/>
                <a:ea typeface="楷体_GB2312" pitchFamily="49" charset="-122"/>
                <a:cs typeface="Arial" panose="020B0604020202020204" pitchFamily="34" charset="0"/>
              </a:rPr>
              <a:t>, and the number of key comparisons required is at most 4 n;</a:t>
            </a:r>
            <a:br>
              <a:rPr lang="zh-CN" altLang="en-US" sz="2600">
                <a:solidFill>
                  <a:srgbClr val="990000"/>
                </a:solidFill>
                <a:latin typeface="Arial" panose="020B0604020202020204" pitchFamily="34" charset="0"/>
                <a:ea typeface="楷体_GB2312" pitchFamily="49" charset="-122"/>
                <a:cs typeface="Arial" panose="020B0604020202020204" pitchFamily="34" charset="0"/>
                <a:sym typeface="Symbol" panose="05050102010706020507" pitchFamily="18" charset="2"/>
              </a:rPr>
            </a:br>
            <a:endParaRPr lang="zh-CN" altLang="en-US" sz="2600">
              <a:solidFill>
                <a:srgbClr val="990000"/>
              </a:solidFill>
              <a:latin typeface="Arial" panose="020B0604020202020204" pitchFamily="34" charset="0"/>
              <a:ea typeface="楷体_GB2312" pitchFamily="49" charset="-122"/>
              <a:cs typeface="Arial" panose="020B0604020202020204" pitchFamily="34" charset="0"/>
              <a:sym typeface="Symbol" panose="05050102010706020507" pitchFamily="18" charset="2"/>
            </a:endParaRP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94</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138242"/>
                                        </p:tgtEl>
                                        <p:attrNameLst>
                                          <p:attrName>style.visibility</p:attrName>
                                        </p:attrNameLst>
                                      </p:cBhvr>
                                      <p:to>
                                        <p:strVal val="visible"/>
                                      </p:to>
                                    </p:set>
                                    <p:anim calcmode="lin" valueType="num">
                                      <p:cBhvr additive="base">
                                        <p:cTn id="7" dur="500" fill="hold"/>
                                        <p:tgtEl>
                                          <p:spTgt spid="138242"/>
                                        </p:tgtEl>
                                        <p:attrNameLst>
                                          <p:attrName>ppt_x</p:attrName>
                                        </p:attrNameLst>
                                      </p:cBhvr>
                                      <p:tavLst>
                                        <p:tav tm="0">
                                          <p:val>
                                            <p:strVal val="#ppt_x"/>
                                          </p:val>
                                        </p:tav>
                                        <p:tav tm="100000">
                                          <p:val>
                                            <p:strVal val="#ppt_x"/>
                                          </p:val>
                                        </p:tav>
                                      </p:tavLst>
                                    </p:anim>
                                    <p:anim calcmode="lin" valueType="num">
                                      <p:cBhvr additive="base">
                                        <p:cTn id="8" dur="500" fill="hold"/>
                                        <p:tgtEl>
                                          <p:spTgt spid="13824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38243"/>
                                        </p:tgtEl>
                                        <p:attrNameLst>
                                          <p:attrName>style.visibility</p:attrName>
                                        </p:attrNameLst>
                                      </p:cBhvr>
                                      <p:to>
                                        <p:strVal val="visible"/>
                                      </p:to>
                                    </p:set>
                                    <p:animEffect transition="in" filter="wipe(left)">
                                      <p:cBhvr>
                                        <p:cTn id="13" dur="500"/>
                                        <p:tgtEl>
                                          <p:spTgt spid="13824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8247"/>
                                        </p:tgtEl>
                                        <p:attrNameLst>
                                          <p:attrName>style.visibility</p:attrName>
                                        </p:attrNameLst>
                                      </p:cBhvr>
                                      <p:to>
                                        <p:strVal val="visible"/>
                                      </p:to>
                                    </p:set>
                                    <p:animEffect transition="in" filter="wipe(left)">
                                      <p:cBhvr>
                                        <p:cTn id="18" dur="500"/>
                                        <p:tgtEl>
                                          <p:spTgt spid="13824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8244"/>
                                        </p:tgtEl>
                                        <p:attrNameLst>
                                          <p:attrName>style.visibility</p:attrName>
                                        </p:attrNameLst>
                                      </p:cBhvr>
                                      <p:to>
                                        <p:strVal val="visible"/>
                                      </p:to>
                                    </p:set>
                                    <p:animEffect transition="in" filter="wipe(left)">
                                      <p:cBhvr>
                                        <p:cTn id="23" dur="500"/>
                                        <p:tgtEl>
                                          <p:spTgt spid="13824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138245"/>
                                        </p:tgtEl>
                                        <p:attrNameLst>
                                          <p:attrName>style.visibility</p:attrName>
                                        </p:attrNameLst>
                                      </p:cBhvr>
                                      <p:to>
                                        <p:strVal val="visible"/>
                                      </p:to>
                                    </p:set>
                                    <p:animEffect transition="in" filter="wipe(down)">
                                      <p:cBhvr>
                                        <p:cTn id="28" dur="500"/>
                                        <p:tgtEl>
                                          <p:spTgt spid="1382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2" grpId="0" bldLvl="0" animBg="1" autoUpdateAnimBg="0"/>
      <p:bldP spid="138243" grpId="0" bldLvl="0" animBg="1" autoUpdateAnimBg="0"/>
      <p:bldP spid="138244" grpId="0" bldLvl="0" animBg="1" autoUpdateAnimBg="0"/>
      <p:bldP spid="138245" grpId="0" bldLvl="0" animBg="1" autoUpdateAnimBg="0"/>
      <p:bldP spid="138247" grpId="0" bldLvl="0" animBg="1" autoUpdateAnimBg="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0" y="116632"/>
            <a:ext cx="7200800" cy="720080"/>
          </a:xfrm>
        </p:spPr>
        <p:txBody>
          <a:bodyPr/>
          <a:lstStyle/>
          <a:p>
            <a:r>
              <a:rPr altLang="zh-CN">
                <a:effectLst/>
                <a:sym typeface="+mn-ea"/>
              </a:rPr>
              <a:t>Chapter Contents</a:t>
            </a:r>
            <a:endParaRPr lang="zh-CN" altLang="en-US" dirty="0">
              <a:ea typeface="宋体" panose="02010600030101010101" pitchFamily="2" charset="-122"/>
              <a:cs typeface="Arial" panose="020B0604020202020204" pitchFamily="34" charset="0"/>
            </a:endParaRPr>
          </a:p>
        </p:txBody>
      </p:sp>
      <p:sp>
        <p:nvSpPr>
          <p:cNvPr id="3" name="内容占位符 2"/>
          <p:cNvSpPr>
            <a:spLocks noGrp="1"/>
          </p:cNvSpPr>
          <p:nvPr>
            <p:ph idx="1"/>
          </p:nvPr>
        </p:nvSpPr>
        <p:spPr>
          <a:xfrm>
            <a:off x="251520" y="836712"/>
            <a:ext cx="8640960" cy="5544616"/>
          </a:xfrm>
        </p:spPr>
        <p:txBody>
          <a:bodyPr/>
          <a:lstStyle/>
          <a:p>
            <a:r>
              <a:rPr lang="en-US" altLang="zh-CN" b="1" dirty="0">
                <a:cs typeface="Arial" panose="020B0604020202020204" pitchFamily="34" charset="0"/>
              </a:rPr>
              <a:t>I</a:t>
            </a:r>
            <a:r>
              <a:rPr lang="zh-CN" altLang="en-US" b="1" dirty="0">
                <a:cs typeface="Arial" panose="020B0604020202020204" pitchFamily="34" charset="0"/>
              </a:rPr>
              <a:t>nsertion </a:t>
            </a:r>
            <a:r>
              <a:rPr lang="en-US" altLang="zh-CN" b="1" dirty="0">
                <a:cs typeface="Arial" panose="020B0604020202020204" pitchFamily="34" charset="0"/>
              </a:rPr>
              <a:t>S</a:t>
            </a:r>
            <a:r>
              <a:rPr lang="zh-CN" altLang="en-US" b="1" dirty="0">
                <a:cs typeface="Arial" panose="020B0604020202020204" pitchFamily="34" charset="0"/>
              </a:rPr>
              <a:t>ort</a:t>
            </a:r>
            <a:endParaRPr lang="en-US" altLang="zh-CN" b="1" dirty="0">
              <a:cs typeface="Arial" panose="020B0604020202020204" pitchFamily="34" charset="0"/>
            </a:endParaRPr>
          </a:p>
          <a:p>
            <a:r>
              <a:rPr lang="zh-CN" altLang="en-US" b="1" dirty="0">
                <a:cs typeface="Arial" panose="020B0604020202020204" pitchFamily="34" charset="0"/>
              </a:rPr>
              <a:t>Exchange </a:t>
            </a:r>
            <a:r>
              <a:rPr lang="en-US" altLang="zh-CN" b="1" dirty="0">
                <a:cs typeface="Arial" panose="020B0604020202020204" pitchFamily="34" charset="0"/>
              </a:rPr>
              <a:t>S</a:t>
            </a:r>
            <a:r>
              <a:rPr lang="zh-CN" altLang="en-US" b="1" dirty="0">
                <a:cs typeface="Arial" panose="020B0604020202020204" pitchFamily="34" charset="0"/>
              </a:rPr>
              <a:t>ort </a:t>
            </a:r>
            <a:r>
              <a:rPr lang="en-US" altLang="zh-CN" b="1" dirty="0">
                <a:cs typeface="Arial" panose="020B0604020202020204" pitchFamily="34" charset="0"/>
              </a:rPr>
              <a:t> </a:t>
            </a:r>
          </a:p>
          <a:p>
            <a:r>
              <a:rPr lang="en-US" altLang="zh-CN" b="1" dirty="0">
                <a:cs typeface="Arial" panose="020B0604020202020204" pitchFamily="34" charset="0"/>
              </a:rPr>
              <a:t>Selection Sort</a:t>
            </a:r>
            <a:r>
              <a:rPr lang="zh-CN" altLang="en-US" b="1" dirty="0">
                <a:cs typeface="Arial" panose="020B0604020202020204" pitchFamily="34" charset="0"/>
              </a:rPr>
              <a:t> </a:t>
            </a:r>
            <a:r>
              <a:rPr lang="en-US" altLang="zh-CN" b="1" dirty="0">
                <a:cs typeface="Arial" panose="020B0604020202020204" pitchFamily="34" charset="0"/>
              </a:rPr>
              <a:t> </a:t>
            </a:r>
          </a:p>
          <a:p>
            <a:r>
              <a:rPr lang="en-US" altLang="zh-CN" b="1" dirty="0">
                <a:solidFill>
                  <a:srgbClr val="FF0000"/>
                </a:solidFill>
                <a:cs typeface="Arial" panose="020B0604020202020204" pitchFamily="34" charset="0"/>
              </a:rPr>
              <a:t>M</a:t>
            </a:r>
            <a:r>
              <a:rPr lang="zh-CN" altLang="en-US" b="1" dirty="0">
                <a:solidFill>
                  <a:srgbClr val="FF0000"/>
                </a:solidFill>
                <a:cs typeface="Arial" panose="020B0604020202020204" pitchFamily="34" charset="0"/>
              </a:rPr>
              <a:t>erge </a:t>
            </a:r>
            <a:r>
              <a:rPr lang="en-US" altLang="zh-CN" b="1" dirty="0">
                <a:solidFill>
                  <a:srgbClr val="FF0000"/>
                </a:solidFill>
                <a:cs typeface="Arial" panose="020B0604020202020204" pitchFamily="34" charset="0"/>
              </a:rPr>
              <a:t>S</a:t>
            </a:r>
            <a:r>
              <a:rPr lang="zh-CN" altLang="en-US" b="1" dirty="0">
                <a:solidFill>
                  <a:srgbClr val="FF0000"/>
                </a:solidFill>
                <a:cs typeface="Arial" panose="020B0604020202020204" pitchFamily="34" charset="0"/>
              </a:rPr>
              <a:t>ort</a:t>
            </a:r>
            <a:endParaRPr lang="en-US" altLang="zh-CN" b="1" dirty="0">
              <a:solidFill>
                <a:srgbClr val="FF0000"/>
              </a:solidFill>
              <a:cs typeface="Arial" panose="020B0604020202020204" pitchFamily="34" charset="0"/>
            </a:endParaRPr>
          </a:p>
          <a:p>
            <a:r>
              <a:rPr lang="en-US" altLang="zh-CN" dirty="0">
                <a:cs typeface="Arial" panose="020B0604020202020204" pitchFamily="34" charset="0"/>
              </a:rPr>
              <a:t>R</a:t>
            </a:r>
            <a:r>
              <a:rPr lang="zh-CN" altLang="en-US" dirty="0">
                <a:cs typeface="Arial" panose="020B0604020202020204" pitchFamily="34" charset="0"/>
              </a:rPr>
              <a:t>adix </a:t>
            </a:r>
            <a:r>
              <a:rPr lang="en-US" altLang="zh-CN" dirty="0">
                <a:cs typeface="Arial" panose="020B0604020202020204" pitchFamily="34" charset="0"/>
              </a:rPr>
              <a:t>S</a:t>
            </a:r>
            <a:r>
              <a:rPr lang="zh-CN" altLang="en-US" dirty="0">
                <a:cs typeface="Arial" panose="020B0604020202020204" pitchFamily="34" charset="0"/>
              </a:rPr>
              <a:t>orting</a:t>
            </a:r>
            <a:endParaRPr lang="en-US" altLang="zh-CN" dirty="0">
              <a:cs typeface="Arial" panose="020B0604020202020204" pitchFamily="34" charset="0"/>
            </a:endParaRPr>
          </a:p>
          <a:p>
            <a:r>
              <a:rPr lang="zh-CN" altLang="en-US" dirty="0">
                <a:cs typeface="Arial" panose="020B0604020202020204" pitchFamily="34" charset="0"/>
              </a:rPr>
              <a:t>A Comprehensive Comparison of Various Sorting Methods</a:t>
            </a:r>
            <a:endParaRPr lang="en-US" altLang="zh-CN" dirty="0">
              <a:cs typeface="Arial" panose="020B0604020202020204" pitchFamily="34" charset="0"/>
            </a:endParaRPr>
          </a:p>
          <a:p>
            <a:r>
              <a:rPr lang="en-US" altLang="zh-CN" dirty="0">
                <a:cs typeface="Arial" panose="020B0604020202020204" pitchFamily="34" charset="0"/>
              </a:rPr>
              <a:t>E</a:t>
            </a:r>
            <a:r>
              <a:rPr lang="zh-CN" altLang="en-US" dirty="0">
                <a:cs typeface="Arial" panose="020B0604020202020204" pitchFamily="34" charset="0"/>
              </a:rPr>
              <a:t>xternal </a:t>
            </a:r>
            <a:r>
              <a:rPr lang="en-US" altLang="zh-CN" dirty="0">
                <a:cs typeface="Arial" panose="020B0604020202020204" pitchFamily="34" charset="0"/>
              </a:rPr>
              <a:t>S</a:t>
            </a:r>
            <a:r>
              <a:rPr lang="zh-CN" altLang="en-US" dirty="0">
                <a:cs typeface="Arial" panose="020B0604020202020204" pitchFamily="34" charset="0"/>
              </a:rPr>
              <a:t>ort</a:t>
            </a:r>
          </a:p>
        </p:txBody>
      </p:sp>
      <p:sp>
        <p:nvSpPr>
          <p:cNvPr id="4" name="页脚占位符 3"/>
          <p:cNvSpPr>
            <a:spLocks noGrp="1"/>
          </p:cNvSpPr>
          <p:nvPr>
            <p:ph type="ftr" sz="quarter" idx="10"/>
          </p:nvPr>
        </p:nvSpPr>
        <p:spPr/>
        <p:txBody>
          <a:bodyPr/>
          <a:lstStyle/>
          <a:p>
            <a:pPr>
              <a:defRPr/>
            </a:pPr>
            <a:r>
              <a:rPr lang="en-US" altLang="zh-CN"/>
              <a:t>@ Zhihai Wang, 2025</a:t>
            </a:r>
            <a:endParaRPr lang="en-US" altLang="zh-CN" dirty="0"/>
          </a:p>
        </p:txBody>
      </p:sp>
      <p:sp>
        <p:nvSpPr>
          <p:cNvPr id="5" name="灯片编号占位符 4"/>
          <p:cNvSpPr>
            <a:spLocks noGrp="1"/>
          </p:cNvSpPr>
          <p:nvPr>
            <p:ph type="sldNum" sz="quarter" idx="11"/>
          </p:nvPr>
        </p:nvSpPr>
        <p:spPr/>
        <p:txBody>
          <a:bodyPr/>
          <a:lstStyle/>
          <a:p>
            <a:pPr>
              <a:defRPr/>
            </a:pPr>
            <a:fld id="{B40C3BFD-24D0-4966-81A9-4BDD3454C069}" type="slidenum">
              <a:rPr lang="en-US" altLang="zh-CN" smtClean="0"/>
              <a:t>95</a:t>
            </a:fld>
            <a:endParaRPr lang="en-US" altLang="zh-CN"/>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ext Box 2"/>
          <p:cNvSpPr txBox="1">
            <a:spLocks noChangeArrowheads="1"/>
          </p:cNvSpPr>
          <p:nvPr/>
        </p:nvSpPr>
        <p:spPr bwMode="auto">
          <a:xfrm>
            <a:off x="1676400" y="533400"/>
            <a:ext cx="4342130" cy="76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4400" b="1">
                <a:latin typeface="Arial" panose="020B0604020202020204" pitchFamily="34" charset="0"/>
                <a:ea typeface="楷体_GB2312" pitchFamily="49" charset="-122"/>
                <a:cs typeface="Arial" panose="020B0604020202020204" pitchFamily="34" charset="0"/>
              </a:rPr>
              <a:t>10.5 Merge Sort</a:t>
            </a:r>
          </a:p>
        </p:txBody>
      </p:sp>
      <p:sp>
        <p:nvSpPr>
          <p:cNvPr id="88067" name="Text Box 3"/>
          <p:cNvSpPr txBox="1">
            <a:spLocks noChangeArrowheads="1"/>
          </p:cNvSpPr>
          <p:nvPr/>
        </p:nvSpPr>
        <p:spPr bwMode="auto">
          <a:xfrm>
            <a:off x="762000" y="2057400"/>
            <a:ext cx="7848600" cy="2245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zh-CN" altLang="en-US">
                <a:latin typeface="Arial" panose="020B0604020202020204" pitchFamily="34" charset="0"/>
                <a:ea typeface="楷体_GB2312" pitchFamily="49" charset="-122"/>
                <a:cs typeface="Arial" panose="020B0604020202020204" pitchFamily="34" charset="0"/>
              </a:rPr>
              <a:t>The process of merge sort is based on the following </a:t>
            </a:r>
            <a:r>
              <a:rPr lang="zh-CN" altLang="en-US" u="sng">
                <a:latin typeface="Arial" panose="020B0604020202020204" pitchFamily="34" charset="0"/>
                <a:ea typeface="楷体_GB2312" pitchFamily="49" charset="-122"/>
                <a:cs typeface="Arial" panose="020B0604020202020204" pitchFamily="34" charset="0"/>
              </a:rPr>
              <a:t>basic ideas</a:t>
            </a:r>
            <a:r>
              <a:rPr lang="zh-CN" altLang="en-US">
                <a:latin typeface="Arial" panose="020B0604020202020204" pitchFamily="34" charset="0"/>
                <a:ea typeface="楷体_GB2312" pitchFamily="49" charset="-122"/>
                <a:cs typeface="Arial" panose="020B0604020202020204" pitchFamily="34" charset="0"/>
              </a:rPr>
              <a:t>:</a:t>
            </a:r>
          </a:p>
          <a:p>
            <a:pPr>
              <a:lnSpc>
                <a:spcPct val="125000"/>
              </a:lnSpc>
            </a:pPr>
            <a:r>
              <a:rPr lang="zh-CN" altLang="en-US">
                <a:latin typeface="Arial" panose="020B0604020202020204" pitchFamily="34" charset="0"/>
                <a:ea typeface="楷体_GB2312" pitchFamily="49" charset="-122"/>
                <a:cs typeface="Arial" panose="020B0604020202020204" pitchFamily="34" charset="0"/>
              </a:rPr>
              <a:t>Merge two or more ordered sub-sequences into one ordered sequence.</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96</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88066"/>
                                        </p:tgtEl>
                                        <p:attrNameLst>
                                          <p:attrName>style.visibility</p:attrName>
                                        </p:attrNameLst>
                                      </p:cBhvr>
                                      <p:to>
                                        <p:strVal val="visible"/>
                                      </p:to>
                                    </p:set>
                                    <p:animEffect transition="in" filter="dissolve">
                                      <p:cBhvr>
                                        <p:cTn id="7" dur="500"/>
                                        <p:tgtEl>
                                          <p:spTgt spid="88066"/>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88067"/>
                                        </p:tgtEl>
                                        <p:attrNameLst>
                                          <p:attrName>style.visibility</p:attrName>
                                        </p:attrNameLst>
                                      </p:cBhvr>
                                      <p:to>
                                        <p:strVal val="visible"/>
                                      </p:to>
                                    </p:set>
                                    <p:animEffect transition="in" filter="strips(downRight)">
                                      <p:cBhvr>
                                        <p:cTn id="12" dur="500"/>
                                        <p:tgtEl>
                                          <p:spTgt spid="880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6" grpId="0" bldLvl="0" animBg="1" autoUpdateAnimBg="0"/>
      <p:bldP spid="88067" grpId="0" bldLvl="0" animBg="1" autoUpdateAnimBg="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ext Box 2"/>
          <p:cNvSpPr txBox="1">
            <a:spLocks noChangeArrowheads="1"/>
          </p:cNvSpPr>
          <p:nvPr/>
        </p:nvSpPr>
        <p:spPr bwMode="auto">
          <a:xfrm>
            <a:off x="457200" y="746125"/>
            <a:ext cx="8382000" cy="1706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zh-CN" altLang="en-US">
                <a:latin typeface="Arial" panose="020B0604020202020204" pitchFamily="34" charset="0"/>
                <a:ea typeface="楷体_GB2312" pitchFamily="49" charset="-122"/>
                <a:cs typeface="Arial" panose="020B0604020202020204" pitchFamily="34" charset="0"/>
              </a:rPr>
              <a:t>In internal sorting, the </a:t>
            </a:r>
            <a:r>
              <a:rPr lang="en-US" altLang="zh-CN">
                <a:solidFill>
                  <a:srgbClr val="0000FF"/>
                </a:solidFill>
                <a:latin typeface="Arial" panose="020B0604020202020204" pitchFamily="34" charset="0"/>
                <a:ea typeface="楷体_GB2312" pitchFamily="49" charset="-122"/>
                <a:cs typeface="Arial" panose="020B0604020202020204" pitchFamily="34" charset="0"/>
              </a:rPr>
              <a:t>2-way merge sort</a:t>
            </a:r>
            <a:r>
              <a:rPr lang="zh-CN" altLang="en-US">
                <a:latin typeface="Arial" panose="020B0604020202020204" pitchFamily="34" charset="0"/>
                <a:ea typeface="楷体_GB2312" pitchFamily="49" charset="-122"/>
                <a:cs typeface="Arial" panose="020B0604020202020204" pitchFamily="34" charset="0"/>
              </a:rPr>
              <a:t> is typically used. This means that two </a:t>
            </a:r>
            <a:r>
              <a:rPr lang="zh-CN" altLang="en-US" b="1">
                <a:solidFill>
                  <a:srgbClr val="FF3300"/>
                </a:solidFill>
                <a:latin typeface="Arial" panose="020B0604020202020204" pitchFamily="34" charset="0"/>
                <a:ea typeface="楷体_GB2312" pitchFamily="49" charset="-122"/>
                <a:cs typeface="Arial" panose="020B0604020202020204" pitchFamily="34" charset="0"/>
              </a:rPr>
              <a:t>adjacent records </a:t>
            </a:r>
            <a:r>
              <a:rPr lang="zh-CN" altLang="en-US">
                <a:latin typeface="Arial" panose="020B0604020202020204" pitchFamily="34" charset="0"/>
                <a:ea typeface="楷体_GB2312" pitchFamily="49" charset="-122"/>
                <a:cs typeface="Arial" panose="020B0604020202020204" pitchFamily="34" charset="0"/>
              </a:rPr>
              <a:t>are merged into a sorted subsequence.</a:t>
            </a:r>
            <a:endParaRPr lang="zh-CN" altLang="en-US">
              <a:solidFill>
                <a:srgbClr val="000080"/>
              </a:solidFill>
              <a:latin typeface="Arial" panose="020B0604020202020204" pitchFamily="34" charset="0"/>
              <a:ea typeface="楷体_GB2312" pitchFamily="49" charset="-122"/>
              <a:cs typeface="Arial" panose="020B0604020202020204" pitchFamily="34" charset="0"/>
            </a:endParaRPr>
          </a:p>
        </p:txBody>
      </p:sp>
      <p:sp>
        <p:nvSpPr>
          <p:cNvPr id="89091" name="Text Box 3"/>
          <p:cNvSpPr txBox="1">
            <a:spLocks noChangeArrowheads="1"/>
          </p:cNvSpPr>
          <p:nvPr/>
        </p:nvSpPr>
        <p:spPr bwMode="auto">
          <a:xfrm>
            <a:off x="723900" y="3633788"/>
            <a:ext cx="709549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solidFill>
                  <a:srgbClr val="000080"/>
                </a:solidFill>
                <a:latin typeface="Arial" panose="020B0604020202020204" pitchFamily="34" charset="0"/>
                <a:ea typeface="楷体_GB2312" pitchFamily="49" charset="-122"/>
                <a:cs typeface="Arial" panose="020B0604020202020204" pitchFamily="34" charset="0"/>
              </a:rPr>
              <a:t>Merge into an ordered sequence of records.</a:t>
            </a:r>
            <a:endParaRPr lang="zh-CN" altLang="en-US">
              <a:latin typeface="Arial" panose="020B0604020202020204" pitchFamily="34" charset="0"/>
              <a:ea typeface="楷体_GB2312" pitchFamily="49" charset="-122"/>
              <a:cs typeface="Arial" panose="020B0604020202020204" pitchFamily="34" charset="0"/>
            </a:endParaRPr>
          </a:p>
        </p:txBody>
      </p:sp>
      <p:sp>
        <p:nvSpPr>
          <p:cNvPr id="89092" name="Rectangle 4"/>
          <p:cNvSpPr>
            <a:spLocks noChangeArrowheads="1"/>
          </p:cNvSpPr>
          <p:nvPr/>
        </p:nvSpPr>
        <p:spPr bwMode="auto">
          <a:xfrm>
            <a:off x="762000" y="4572000"/>
            <a:ext cx="7620000" cy="609600"/>
          </a:xfrm>
          <a:prstGeom prst="rect">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b="1"/>
              <a:t>Ordered sequence R[i..</a:t>
            </a:r>
            <a:r>
              <a:rPr lang="en-US" altLang="zh-CN" sz="2400" b="1" i="1"/>
              <a:t>n]</a:t>
            </a:r>
          </a:p>
        </p:txBody>
      </p:sp>
      <p:sp>
        <p:nvSpPr>
          <p:cNvPr id="89093" name="Text Box 5"/>
          <p:cNvSpPr txBox="1">
            <a:spLocks noChangeArrowheads="1"/>
          </p:cNvSpPr>
          <p:nvPr/>
        </p:nvSpPr>
        <p:spPr bwMode="auto">
          <a:xfrm>
            <a:off x="657860" y="2667000"/>
            <a:ext cx="3914140" cy="608330"/>
          </a:xfrm>
          <a:prstGeom prst="rect">
            <a:avLst/>
          </a:prstGeom>
          <a:solidFill>
            <a:srgbClr val="FF9900">
              <a:alpha val="50000"/>
            </a:srgbClr>
          </a:solidFill>
          <a:ln w="12700">
            <a:solidFill>
              <a:srgbClr val="99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r>
              <a:rPr lang="zh-CN" altLang="en-US" sz="2000" b="1"/>
              <a:t>Ordered subsequence R[i..</a:t>
            </a:r>
            <a:r>
              <a:rPr lang="en-US" altLang="zh-CN" sz="2000" b="1" i="1"/>
              <a:t>m]</a:t>
            </a:r>
          </a:p>
        </p:txBody>
      </p:sp>
      <p:sp>
        <p:nvSpPr>
          <p:cNvPr id="89094" name="Rectangle 6"/>
          <p:cNvSpPr>
            <a:spLocks noChangeArrowheads="1"/>
          </p:cNvSpPr>
          <p:nvPr/>
        </p:nvSpPr>
        <p:spPr bwMode="auto">
          <a:xfrm>
            <a:off x="4572000" y="2667000"/>
            <a:ext cx="3810000" cy="609600"/>
          </a:xfrm>
          <a:prstGeom prst="rect">
            <a:avLst/>
          </a:prstGeom>
          <a:solidFill>
            <a:srgbClr val="FF6600">
              <a:alpha val="50000"/>
            </a:srgb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t>Ordered subsequence R[m+1..</a:t>
            </a:r>
            <a:r>
              <a:rPr lang="en-US" altLang="zh-CN" sz="2000" b="1" i="1"/>
              <a:t>n]</a:t>
            </a:r>
          </a:p>
        </p:txBody>
      </p:sp>
      <p:sp>
        <p:nvSpPr>
          <p:cNvPr id="89095" name="Text Box 7"/>
          <p:cNvSpPr txBox="1">
            <a:spLocks noChangeArrowheads="1"/>
          </p:cNvSpPr>
          <p:nvPr/>
        </p:nvSpPr>
        <p:spPr bwMode="auto">
          <a:xfrm>
            <a:off x="730250" y="5486400"/>
            <a:ext cx="73660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latin typeface="Arial" panose="020B0604020202020204" pitchFamily="34" charset="0"/>
                <a:ea typeface="楷体_GB2312" pitchFamily="49" charset="-122"/>
                <a:cs typeface="Arial" panose="020B0604020202020204" pitchFamily="34" charset="0"/>
              </a:rPr>
              <a:t>This operation is effortless for sequential lists.</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97</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89090"/>
                                        </p:tgtEl>
                                        <p:attrNameLst>
                                          <p:attrName>style.visibility</p:attrName>
                                        </p:attrNameLst>
                                      </p:cBhvr>
                                      <p:to>
                                        <p:strVal val="visible"/>
                                      </p:to>
                                    </p:set>
                                    <p:animEffect transition="in" filter="strips(downRight)">
                                      <p:cBhvr>
                                        <p:cTn id="7" dur="500"/>
                                        <p:tgtEl>
                                          <p:spTgt spid="8909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9093"/>
                                        </p:tgtEl>
                                        <p:attrNameLst>
                                          <p:attrName>style.visibility</p:attrName>
                                        </p:attrNameLst>
                                      </p:cBhvr>
                                      <p:to>
                                        <p:strVal val="visible"/>
                                      </p:to>
                                    </p:set>
                                    <p:animEffect transition="in" filter="wipe(left)">
                                      <p:cBhvr>
                                        <p:cTn id="11" dur="500"/>
                                        <p:tgtEl>
                                          <p:spTgt spid="89093"/>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89094"/>
                                        </p:tgtEl>
                                        <p:attrNameLst>
                                          <p:attrName>style.visibility</p:attrName>
                                        </p:attrNameLst>
                                      </p:cBhvr>
                                      <p:to>
                                        <p:strVal val="visible"/>
                                      </p:to>
                                    </p:set>
                                    <p:animEffect transition="in" filter="wipe(left)">
                                      <p:cBhvr>
                                        <p:cTn id="15" dur="500"/>
                                        <p:tgtEl>
                                          <p:spTgt spid="8909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89091"/>
                                        </p:tgtEl>
                                        <p:attrNameLst>
                                          <p:attrName>style.visibility</p:attrName>
                                        </p:attrNameLst>
                                      </p:cBhvr>
                                      <p:to>
                                        <p:strVal val="visible"/>
                                      </p:to>
                                    </p:set>
                                    <p:animEffect transition="in" filter="wipe(left)">
                                      <p:cBhvr>
                                        <p:cTn id="20" dur="500"/>
                                        <p:tgtEl>
                                          <p:spTgt spid="89091"/>
                                        </p:tgtEl>
                                      </p:cBhvr>
                                    </p:animEffect>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89092"/>
                                        </p:tgtEl>
                                        <p:attrNameLst>
                                          <p:attrName>style.visibility</p:attrName>
                                        </p:attrNameLst>
                                      </p:cBhvr>
                                      <p:to>
                                        <p:strVal val="visible"/>
                                      </p:to>
                                    </p:set>
                                    <p:animEffect transition="in" filter="wipe(left)">
                                      <p:cBhvr>
                                        <p:cTn id="24" dur="500"/>
                                        <p:tgtEl>
                                          <p:spTgt spid="8909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89095"/>
                                        </p:tgtEl>
                                        <p:attrNameLst>
                                          <p:attrName>style.visibility</p:attrName>
                                        </p:attrNameLst>
                                      </p:cBhvr>
                                      <p:to>
                                        <p:strVal val="visible"/>
                                      </p:to>
                                    </p:set>
                                    <p:animEffect transition="in" filter="wipe(left)">
                                      <p:cBhvr>
                                        <p:cTn id="29" dur="500"/>
                                        <p:tgtEl>
                                          <p:spTgt spid="890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0" grpId="0" bldLvl="0" animBg="1" autoUpdateAnimBg="0"/>
      <p:bldP spid="89091" grpId="0" bldLvl="0" animBg="1" autoUpdateAnimBg="0"/>
      <p:bldP spid="89092" grpId="0" bldLvl="0" animBg="1" autoUpdateAnimBg="0"/>
      <p:bldP spid="89093" grpId="0" bldLvl="0" animBg="1" autoUpdateAnimBg="0"/>
      <p:bldP spid="89094" grpId="0" bldLvl="0" animBg="1" autoUpdateAnimBg="0"/>
      <p:bldP spid="89095" grpId="0" bldLvl="0" animBg="1" autoUpdateAnimBg="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ext Box 2"/>
          <p:cNvSpPr txBox="1">
            <a:spLocks noChangeArrowheads="1"/>
          </p:cNvSpPr>
          <p:nvPr/>
        </p:nvSpPr>
        <p:spPr bwMode="auto">
          <a:xfrm>
            <a:off x="381000" y="76200"/>
            <a:ext cx="8729345" cy="6031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15000"/>
              </a:lnSpc>
            </a:pPr>
            <a:r>
              <a:rPr lang="en-US" altLang="zh-CN" b="1">
                <a:ea typeface="楷体_GB2312" pitchFamily="49" charset="-122"/>
              </a:rPr>
              <a:t>void </a:t>
            </a:r>
            <a:r>
              <a:rPr lang="en-US" altLang="zh-CN">
                <a:ea typeface="楷体_GB2312" pitchFamily="49" charset="-122"/>
              </a:rPr>
              <a:t>Merge (RcdType SR[], RcdType </a:t>
            </a:r>
            <a:r>
              <a:rPr lang="en-US" altLang="zh-CN" b="1">
                <a:ea typeface="楷体_GB2312" pitchFamily="49" charset="-122"/>
              </a:rPr>
              <a:t>&amp;</a:t>
            </a:r>
            <a:r>
              <a:rPr lang="en-US" altLang="zh-CN">
                <a:ea typeface="楷体_GB2312" pitchFamily="49" charset="-122"/>
              </a:rPr>
              <a:t>TR[], </a:t>
            </a:r>
          </a:p>
          <a:p>
            <a:pPr algn="l">
              <a:lnSpc>
                <a:spcPct val="115000"/>
              </a:lnSpc>
            </a:pPr>
            <a:r>
              <a:rPr lang="en-US" altLang="zh-CN">
                <a:ea typeface="楷体_GB2312" pitchFamily="49" charset="-122"/>
              </a:rPr>
              <a:t>                                                    </a:t>
            </a:r>
            <a:r>
              <a:rPr lang="en-US" altLang="zh-CN" b="1">
                <a:ea typeface="楷体_GB2312" pitchFamily="49" charset="-122"/>
              </a:rPr>
              <a:t>int</a:t>
            </a:r>
            <a:r>
              <a:rPr lang="en-US" altLang="zh-CN">
                <a:ea typeface="楷体_GB2312" pitchFamily="49" charset="-122"/>
              </a:rPr>
              <a:t> i, </a:t>
            </a:r>
            <a:r>
              <a:rPr lang="en-US" altLang="zh-CN" b="1">
                <a:ea typeface="楷体_GB2312" pitchFamily="49" charset="-122"/>
              </a:rPr>
              <a:t>int</a:t>
            </a:r>
            <a:r>
              <a:rPr lang="en-US" altLang="zh-CN">
                <a:ea typeface="楷体_GB2312" pitchFamily="49" charset="-122"/>
              </a:rPr>
              <a:t> m, </a:t>
            </a:r>
            <a:r>
              <a:rPr lang="en-US" altLang="zh-CN" b="1">
                <a:ea typeface="楷体_GB2312" pitchFamily="49" charset="-122"/>
              </a:rPr>
              <a:t>int</a:t>
            </a:r>
            <a:r>
              <a:rPr lang="en-US" altLang="zh-CN">
                <a:ea typeface="楷体_GB2312" pitchFamily="49" charset="-122"/>
              </a:rPr>
              <a:t> n) </a:t>
            </a:r>
            <a:r>
              <a:rPr lang="en-US" altLang="zh-CN" b="1">
                <a:ea typeface="楷体_GB2312" pitchFamily="49" charset="-122"/>
              </a:rPr>
              <a:t>{</a:t>
            </a:r>
            <a:endParaRPr lang="en-US" altLang="zh-CN">
              <a:ea typeface="楷体_GB2312" pitchFamily="49" charset="-122"/>
            </a:endParaRPr>
          </a:p>
          <a:p>
            <a:pPr algn="l">
              <a:lnSpc>
                <a:spcPct val="115000"/>
              </a:lnSpc>
            </a:pPr>
            <a:r>
              <a:rPr lang="en-US" altLang="zh-CN" sz="2800" b="1">
                <a:solidFill>
                  <a:srgbClr val="006600"/>
                </a:solidFill>
                <a:ea typeface="楷体_GB2312" pitchFamily="49" charset="-122"/>
              </a:rPr>
              <a:t>/</a:t>
            </a:r>
            <a:r>
              <a:rPr lang="en-US" altLang="zh-CN" b="1">
                <a:solidFill>
                  <a:srgbClr val="006600"/>
                </a:solidFill>
                <a:ea typeface="楷体_GB2312" pitchFamily="49" charset="-122"/>
                <a:sym typeface="+mn-ea"/>
              </a:rPr>
              <a:t>/ The ordered record sequence SR[i..m] and SR[m+1..n]</a:t>
            </a:r>
            <a:endParaRPr lang="en-US" altLang="zh-CN" b="1">
              <a:solidFill>
                <a:srgbClr val="006600"/>
              </a:solidFill>
              <a:ea typeface="楷体_GB2312" pitchFamily="49" charset="-122"/>
            </a:endParaRPr>
          </a:p>
          <a:p>
            <a:pPr algn="l">
              <a:lnSpc>
                <a:spcPct val="115000"/>
              </a:lnSpc>
            </a:pPr>
            <a:r>
              <a:rPr lang="en-US" altLang="zh-CN" b="1">
                <a:solidFill>
                  <a:srgbClr val="006600"/>
                </a:solidFill>
                <a:ea typeface="楷体_GB2312" pitchFamily="49" charset="-122"/>
                <a:sym typeface="+mn-ea"/>
              </a:rPr>
              <a:t>// Merge into an ordered record sequence TR[i..n]</a:t>
            </a:r>
            <a:endParaRPr lang="en-US" altLang="zh-CN" b="1">
              <a:solidFill>
                <a:srgbClr val="006600"/>
              </a:solidFill>
              <a:ea typeface="楷体_GB2312" pitchFamily="49" charset="-122"/>
            </a:endParaRPr>
          </a:p>
          <a:p>
            <a:pPr algn="l">
              <a:lnSpc>
                <a:spcPct val="115000"/>
              </a:lnSpc>
            </a:pPr>
            <a:endParaRPr lang="en-US" altLang="zh-CN" sz="2800" b="1">
              <a:solidFill>
                <a:srgbClr val="006600"/>
              </a:solidFill>
              <a:ea typeface="楷体_GB2312" pitchFamily="49" charset="-122"/>
            </a:endParaRPr>
          </a:p>
          <a:p>
            <a:pPr algn="l">
              <a:lnSpc>
                <a:spcPct val="115000"/>
              </a:lnSpc>
            </a:pPr>
            <a:endParaRPr lang="en-US" altLang="zh-CN" b="1">
              <a:ea typeface="楷体_GB2312" pitchFamily="49" charset="-122"/>
            </a:endParaRPr>
          </a:p>
          <a:p>
            <a:pPr algn="l">
              <a:lnSpc>
                <a:spcPct val="115000"/>
              </a:lnSpc>
              <a:buClrTx/>
              <a:buSzTx/>
              <a:buFontTx/>
            </a:pPr>
            <a:endParaRPr lang="en-US" altLang="zh-CN" b="1">
              <a:solidFill>
                <a:srgbClr val="006600"/>
              </a:solidFill>
              <a:ea typeface="楷体_GB2312" pitchFamily="49" charset="-122"/>
            </a:endParaRPr>
          </a:p>
          <a:p>
            <a:pPr algn="l">
              <a:lnSpc>
                <a:spcPct val="115000"/>
              </a:lnSpc>
            </a:pPr>
            <a:endParaRPr lang="en-US" altLang="zh-CN" b="1">
              <a:ea typeface="楷体_GB2312" pitchFamily="49" charset="-122"/>
            </a:endParaRPr>
          </a:p>
          <a:p>
            <a:pPr algn="l">
              <a:lnSpc>
                <a:spcPct val="115000"/>
              </a:lnSpc>
            </a:pPr>
            <a:endParaRPr lang="en-US" altLang="zh-CN" b="1">
              <a:ea typeface="楷体_GB2312" pitchFamily="49" charset="-122"/>
            </a:endParaRPr>
          </a:p>
          <a:p>
            <a:pPr algn="l">
              <a:lnSpc>
                <a:spcPct val="115000"/>
              </a:lnSpc>
            </a:pPr>
            <a:endParaRPr lang="en-US" altLang="zh-CN" b="1">
              <a:ea typeface="楷体_GB2312" pitchFamily="49" charset="-122"/>
            </a:endParaRPr>
          </a:p>
          <a:p>
            <a:pPr algn="l">
              <a:lnSpc>
                <a:spcPct val="115000"/>
              </a:lnSpc>
            </a:pPr>
            <a:endParaRPr lang="en-US" altLang="zh-CN" b="1">
              <a:ea typeface="楷体_GB2312" pitchFamily="49" charset="-122"/>
            </a:endParaRPr>
          </a:p>
          <a:p>
            <a:pPr algn="l">
              <a:lnSpc>
                <a:spcPct val="115000"/>
              </a:lnSpc>
            </a:pPr>
            <a:r>
              <a:rPr lang="en-US" altLang="zh-CN" b="1">
                <a:ea typeface="楷体_GB2312" pitchFamily="49" charset="-122"/>
              </a:rPr>
              <a:t>}</a:t>
            </a:r>
            <a:r>
              <a:rPr lang="en-US" altLang="zh-CN">
                <a:ea typeface="楷体_GB2312" pitchFamily="49" charset="-122"/>
              </a:rPr>
              <a:t> // Merge</a:t>
            </a:r>
          </a:p>
        </p:txBody>
      </p:sp>
      <p:sp>
        <p:nvSpPr>
          <p:cNvPr id="90115" name="Rectangle 3"/>
          <p:cNvSpPr>
            <a:spLocks noChangeArrowheads="1"/>
          </p:cNvSpPr>
          <p:nvPr/>
        </p:nvSpPr>
        <p:spPr bwMode="auto">
          <a:xfrm>
            <a:off x="533400" y="2438400"/>
            <a:ext cx="7985760" cy="278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25000"/>
              </a:lnSpc>
            </a:pPr>
            <a:r>
              <a:rPr lang="en-US" altLang="zh-CN" b="1">
                <a:ea typeface="楷体_GB2312" pitchFamily="49" charset="-122"/>
              </a:rPr>
              <a:t>for </a:t>
            </a:r>
            <a:r>
              <a:rPr lang="en-US" altLang="zh-CN">
                <a:ea typeface="楷体_GB2312" pitchFamily="49" charset="-122"/>
              </a:rPr>
              <a:t>(j=m+1, k=i;  i&lt;=m </a:t>
            </a:r>
            <a:r>
              <a:rPr lang="en-US" altLang="zh-CN" b="1">
                <a:ea typeface="楷体_GB2312" pitchFamily="49" charset="-122"/>
              </a:rPr>
              <a:t>&amp;&amp;</a:t>
            </a:r>
            <a:r>
              <a:rPr lang="en-US" altLang="zh-CN">
                <a:ea typeface="楷体_GB2312" pitchFamily="49" charset="-122"/>
              </a:rPr>
              <a:t> j&lt;=n;  ++k)   </a:t>
            </a:r>
          </a:p>
          <a:p>
            <a:pPr algn="l">
              <a:lnSpc>
                <a:spcPct val="125000"/>
              </a:lnSpc>
            </a:pPr>
            <a:r>
              <a:rPr lang="en-US" altLang="zh-CN">
                <a:ea typeface="楷体_GB2312" pitchFamily="49" charset="-122"/>
              </a:rPr>
              <a:t>  </a:t>
            </a:r>
            <a:r>
              <a:rPr lang="en-US" altLang="zh-CN" b="1">
                <a:ea typeface="楷体_GB2312" pitchFamily="49" charset="-122"/>
              </a:rPr>
              <a:t>{   </a:t>
            </a:r>
            <a:r>
              <a:rPr lang="en-US" altLang="zh-CN" sz="2800" b="1">
                <a:solidFill>
                  <a:srgbClr val="006600"/>
                </a:solidFill>
                <a:ea typeface="楷体_GB2312" pitchFamily="49" charset="-122"/>
              </a:rPr>
              <a:t>// </a:t>
            </a:r>
            <a:r>
              <a:rPr lang="en-US" altLang="zh-CN" b="1">
                <a:solidFill>
                  <a:srgbClr val="006600"/>
                </a:solidFill>
                <a:ea typeface="楷体_GB2312" pitchFamily="49" charset="-122"/>
                <a:sym typeface="+mn-ea"/>
              </a:rPr>
              <a:t>Merge SR records into TR in ascending order</a:t>
            </a:r>
            <a:endParaRPr lang="en-US" altLang="zh-CN" sz="2800" b="1">
              <a:solidFill>
                <a:srgbClr val="006600"/>
              </a:solidFill>
              <a:ea typeface="楷体_GB2312" pitchFamily="49" charset="-122"/>
            </a:endParaRPr>
          </a:p>
          <a:p>
            <a:pPr algn="l">
              <a:lnSpc>
                <a:spcPct val="125000"/>
              </a:lnSpc>
            </a:pPr>
            <a:r>
              <a:rPr lang="en-US" altLang="zh-CN">
                <a:ea typeface="楷体_GB2312" pitchFamily="49" charset="-122"/>
              </a:rPr>
              <a:t>    </a:t>
            </a:r>
            <a:r>
              <a:rPr lang="en-US" altLang="zh-CN" b="1">
                <a:ea typeface="楷体_GB2312" pitchFamily="49" charset="-122"/>
              </a:rPr>
              <a:t>if</a:t>
            </a:r>
            <a:r>
              <a:rPr lang="en-US" altLang="zh-CN">
                <a:ea typeface="楷体_GB2312" pitchFamily="49" charset="-122"/>
              </a:rPr>
              <a:t> (SR[i].key</a:t>
            </a:r>
            <a:r>
              <a:rPr lang="en-US" altLang="zh-CN" b="1">
                <a:ea typeface="楷体_GB2312" pitchFamily="49" charset="-122"/>
              </a:rPr>
              <a:t>&lt;=</a:t>
            </a:r>
            <a:r>
              <a:rPr lang="en-US" altLang="zh-CN">
                <a:ea typeface="楷体_GB2312" pitchFamily="49" charset="-122"/>
              </a:rPr>
              <a:t>SR[j].key)  TR[k] = SR[i</a:t>
            </a:r>
            <a:r>
              <a:rPr lang="en-US" altLang="zh-CN" b="1">
                <a:ea typeface="楷体_GB2312" pitchFamily="49" charset="-122"/>
              </a:rPr>
              <a:t>++</a:t>
            </a:r>
            <a:r>
              <a:rPr lang="en-US" altLang="zh-CN">
                <a:ea typeface="楷体_GB2312" pitchFamily="49" charset="-122"/>
              </a:rPr>
              <a:t>];</a:t>
            </a:r>
          </a:p>
          <a:p>
            <a:pPr algn="l">
              <a:lnSpc>
                <a:spcPct val="125000"/>
              </a:lnSpc>
            </a:pPr>
            <a:r>
              <a:rPr lang="en-US" altLang="zh-CN">
                <a:ea typeface="楷体_GB2312" pitchFamily="49" charset="-122"/>
              </a:rPr>
              <a:t>    </a:t>
            </a:r>
            <a:r>
              <a:rPr lang="en-US" altLang="zh-CN" b="1">
                <a:ea typeface="楷体_GB2312" pitchFamily="49" charset="-122"/>
              </a:rPr>
              <a:t>else</a:t>
            </a:r>
            <a:r>
              <a:rPr lang="en-US" altLang="zh-CN">
                <a:ea typeface="楷体_GB2312" pitchFamily="49" charset="-122"/>
              </a:rPr>
              <a:t> TR[k] = SR[j</a:t>
            </a:r>
            <a:r>
              <a:rPr lang="en-US" altLang="zh-CN" b="1">
                <a:ea typeface="楷体_GB2312" pitchFamily="49" charset="-122"/>
              </a:rPr>
              <a:t>++</a:t>
            </a:r>
            <a:r>
              <a:rPr lang="en-US" altLang="zh-CN">
                <a:ea typeface="楷体_GB2312" pitchFamily="49" charset="-122"/>
              </a:rPr>
              <a:t>];</a:t>
            </a:r>
          </a:p>
          <a:p>
            <a:pPr algn="l">
              <a:lnSpc>
                <a:spcPct val="125000"/>
              </a:lnSpc>
            </a:pPr>
            <a:r>
              <a:rPr lang="en-US" altLang="zh-CN">
                <a:ea typeface="楷体_GB2312" pitchFamily="49" charset="-122"/>
              </a:rPr>
              <a:t>  </a:t>
            </a:r>
            <a:r>
              <a:rPr lang="en-US" altLang="zh-CN" b="1">
                <a:ea typeface="楷体_GB2312" pitchFamily="49" charset="-122"/>
              </a:rPr>
              <a:t>}</a:t>
            </a:r>
            <a:endParaRPr lang="en-US" altLang="zh-CN" sz="2800">
              <a:ea typeface="楷体_GB2312" pitchFamily="49" charset="-122"/>
            </a:endParaRPr>
          </a:p>
        </p:txBody>
      </p:sp>
      <p:sp>
        <p:nvSpPr>
          <p:cNvPr id="90116" name="Text Box 4">
            <a:hlinkClick r:id="" action="ppaction://hlinkshowjump?jump=nextslide"/>
          </p:cNvPr>
          <p:cNvSpPr txBox="1">
            <a:spLocks noChangeArrowheads="1"/>
          </p:cNvSpPr>
          <p:nvPr/>
        </p:nvSpPr>
        <p:spPr bwMode="auto">
          <a:xfrm>
            <a:off x="35560" y="5013325"/>
            <a:ext cx="4070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t>       </a:t>
            </a:r>
            <a:r>
              <a:rPr lang="en-US" altLang="zh-CN" sz="3600" b="1">
                <a:solidFill>
                  <a:srgbClr val="FF3300"/>
                </a:solidFill>
              </a:rPr>
              <a:t>…   …</a:t>
            </a:r>
            <a:r>
              <a:rPr lang="en-US" altLang="zh-CN" sz="3600" b="1"/>
              <a:t>                </a:t>
            </a:r>
            <a:endParaRPr lang="en-US" altLang="zh-CN" sz="3600"/>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98</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90114"/>
                                        </p:tgtEl>
                                        <p:attrNameLst>
                                          <p:attrName>style.visibility</p:attrName>
                                        </p:attrNameLst>
                                      </p:cBhvr>
                                      <p:to>
                                        <p:strVal val="visible"/>
                                      </p:to>
                                    </p:set>
                                    <p:animEffect transition="in" filter="strips(downRight)">
                                      <p:cBhvr>
                                        <p:cTn id="7" dur="500"/>
                                        <p:tgtEl>
                                          <p:spTgt spid="901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0115"/>
                                        </p:tgtEl>
                                        <p:attrNameLst>
                                          <p:attrName>style.visibility</p:attrName>
                                        </p:attrNameLst>
                                      </p:cBhvr>
                                      <p:to>
                                        <p:strVal val="visible"/>
                                      </p:to>
                                    </p:set>
                                    <p:animEffect transition="in" filter="wipe(left)">
                                      <p:cBhvr>
                                        <p:cTn id="12" dur="500"/>
                                        <p:tgtEl>
                                          <p:spTgt spid="901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0116"/>
                                        </p:tgtEl>
                                        <p:attrNameLst>
                                          <p:attrName>style.visibility</p:attrName>
                                        </p:attrNameLst>
                                      </p:cBhvr>
                                      <p:to>
                                        <p:strVal val="visible"/>
                                      </p:to>
                                    </p:set>
                                    <p:animEffect transition="in" filter="wipe(left)">
                                      <p:cBhvr>
                                        <p:cTn id="17" dur="500"/>
                                        <p:tgtEl>
                                          <p:spTgt spid="90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4" grpId="0" bldLvl="0" animBg="1" autoUpdateAnimBg="0"/>
      <p:bldP spid="90115" grpId="0" bldLvl="0" animBg="1" autoUpdateAnimBg="0"/>
      <p:bldP spid="90116" grpId="0" bldLvl="0" animBg="1" autoUpdateAnimBg="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ChangeArrowheads="1"/>
          </p:cNvSpPr>
          <p:nvPr/>
        </p:nvSpPr>
        <p:spPr bwMode="auto">
          <a:xfrm>
            <a:off x="609600" y="1235075"/>
            <a:ext cx="5523865" cy="138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50000"/>
              </a:lnSpc>
            </a:pPr>
            <a:r>
              <a:rPr lang="en-US" altLang="zh-CN" sz="3200" b="1">
                <a:latin typeface="Arial" panose="020B0604020202020204" pitchFamily="34" charset="0"/>
                <a:ea typeface="楷体_GB2312" pitchFamily="49" charset="-122"/>
                <a:cs typeface="Arial" panose="020B0604020202020204" pitchFamily="34" charset="0"/>
              </a:rPr>
              <a:t>if (i&lt;=m) TR[k..n] = SR[i..m];</a:t>
            </a:r>
            <a:endParaRPr lang="en-US" altLang="zh-CN" sz="5400">
              <a:latin typeface="Arial" panose="020B0604020202020204" pitchFamily="34" charset="0"/>
              <a:ea typeface="楷体_GB2312" pitchFamily="49" charset="-122"/>
              <a:cs typeface="Arial" panose="020B0604020202020204" pitchFamily="34" charset="0"/>
            </a:endParaRPr>
          </a:p>
          <a:p>
            <a:pPr>
              <a:lnSpc>
                <a:spcPct val="150000"/>
              </a:lnSpc>
            </a:pPr>
            <a:r>
              <a:rPr lang="en-US" altLang="zh-CN" sz="2400" b="1">
                <a:solidFill>
                  <a:srgbClr val="006600"/>
                </a:solidFill>
                <a:latin typeface="Arial" panose="020B0604020202020204" pitchFamily="34" charset="0"/>
                <a:ea typeface="楷体_GB2312" pitchFamily="49" charset="-122"/>
                <a:cs typeface="Arial" panose="020B0604020202020204" pitchFamily="34" charset="0"/>
              </a:rPr>
              <a:t>// Copy the remaining SR[i..m] to TR</a:t>
            </a:r>
          </a:p>
        </p:txBody>
      </p:sp>
      <p:sp>
        <p:nvSpPr>
          <p:cNvPr id="91139" name="Rectangle 3"/>
          <p:cNvSpPr>
            <a:spLocks noChangeArrowheads="1"/>
          </p:cNvSpPr>
          <p:nvPr/>
        </p:nvSpPr>
        <p:spPr bwMode="auto">
          <a:xfrm>
            <a:off x="609600" y="3444875"/>
            <a:ext cx="5297805" cy="138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50000"/>
              </a:lnSpc>
            </a:pPr>
            <a:r>
              <a:rPr lang="en-US" altLang="zh-CN" sz="3200" b="1">
                <a:latin typeface="Arial" panose="020B0604020202020204" pitchFamily="34" charset="0"/>
                <a:ea typeface="楷体_GB2312" pitchFamily="49" charset="-122"/>
                <a:cs typeface="Arial" panose="020B0604020202020204" pitchFamily="34" charset="0"/>
              </a:rPr>
              <a:t>if (j&lt;=n) TR[k..n] = SR[j..n];</a:t>
            </a:r>
            <a:endParaRPr lang="en-US" altLang="zh-CN" sz="5400">
              <a:latin typeface="Arial" panose="020B0604020202020204" pitchFamily="34" charset="0"/>
              <a:ea typeface="楷体_GB2312" pitchFamily="49" charset="-122"/>
              <a:cs typeface="Arial" panose="020B0604020202020204" pitchFamily="34" charset="0"/>
            </a:endParaRPr>
          </a:p>
          <a:p>
            <a:pPr>
              <a:lnSpc>
                <a:spcPct val="150000"/>
              </a:lnSpc>
            </a:pPr>
            <a:r>
              <a:rPr lang="en-US" altLang="zh-CN" sz="2400" b="1">
                <a:solidFill>
                  <a:srgbClr val="006600"/>
                </a:solidFill>
                <a:latin typeface="Arial" panose="020B0604020202020204" pitchFamily="34" charset="0"/>
                <a:ea typeface="楷体_GB2312" pitchFamily="49" charset="-122"/>
                <a:cs typeface="Arial" panose="020B0604020202020204" pitchFamily="34" charset="0"/>
              </a:rPr>
              <a:t>// Copy the remaining SR[j..n] to TR</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99</a:t>
            </a:fld>
            <a:endParaRPr lang="en-US" altLang="zh-CN"/>
          </a:p>
        </p:txBody>
      </p:sp>
    </p:spTree>
  </p:cSld>
  <p:clrMapOvr>
    <a:masterClrMapping/>
  </p:clrMapOvr>
  <p:transition>
    <p:pull dir="rd"/>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Text Box 2"/>
          <p:cNvSpPr txBox="1">
            <a:spLocks noChangeArrowheads="1"/>
          </p:cNvSpPr>
          <p:nvPr/>
        </p:nvSpPr>
        <p:spPr bwMode="auto">
          <a:xfrm>
            <a:off x="304800" y="228600"/>
            <a:ext cx="8534400" cy="3384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200" b="1">
                <a:solidFill>
                  <a:srgbClr val="993300"/>
                </a:solidFill>
                <a:latin typeface="Arial" panose="020B0604020202020204" pitchFamily="34" charset="0"/>
                <a:ea typeface="楷体_GB2312" pitchFamily="49" charset="-122"/>
                <a:cs typeface="Arial" panose="020B0604020202020204" pitchFamily="34" charset="0"/>
              </a:rPr>
              <a:t>The idea of merge sort for 2-way merge:</a:t>
            </a:r>
            <a:endParaRPr lang="zh-CN" altLang="en-US" sz="3200" b="1">
              <a:latin typeface="Arial" panose="020B0604020202020204" pitchFamily="34" charset="0"/>
              <a:ea typeface="楷体_GB2312" pitchFamily="49" charset="-122"/>
              <a:cs typeface="Arial" panose="020B0604020202020204" pitchFamily="34" charset="0"/>
            </a:endParaRPr>
          </a:p>
          <a:p>
            <a:pPr>
              <a:spcBef>
                <a:spcPct val="50000"/>
              </a:spcBef>
            </a:pPr>
            <a:r>
              <a:rPr lang="zh-CN" altLang="en-US" b="1">
                <a:latin typeface="Arial" panose="020B0604020202020204" pitchFamily="34" charset="0"/>
                <a:ea typeface="楷体_GB2312" pitchFamily="49" charset="-122"/>
                <a:cs typeface="Arial" panose="020B0604020202020204" pitchFamily="34" charset="0"/>
              </a:rPr>
              <a:t>If the initial sequence contains n records, it can be regarded as n ordered sub-sequences, each of length 1. Then merge them pairwise to obtain n/2 ordered sub-sequences of length 2 or 1. Continue merging pairwise until an ordered sequence of length n is obtained.</a:t>
            </a:r>
          </a:p>
        </p:txBody>
      </p:sp>
      <p:sp>
        <p:nvSpPr>
          <p:cNvPr id="148483" name="Line 3"/>
          <p:cNvSpPr>
            <a:spLocks noChangeShapeType="1"/>
          </p:cNvSpPr>
          <p:nvPr/>
        </p:nvSpPr>
        <p:spPr bwMode="auto">
          <a:xfrm>
            <a:off x="297180" y="2290445"/>
            <a:ext cx="0" cy="38100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8484" name="Line 4"/>
          <p:cNvSpPr>
            <a:spLocks noChangeShapeType="1"/>
          </p:cNvSpPr>
          <p:nvPr/>
        </p:nvSpPr>
        <p:spPr bwMode="auto">
          <a:xfrm>
            <a:off x="1014095" y="2290445"/>
            <a:ext cx="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8485" name="Line 5"/>
          <p:cNvSpPr>
            <a:spLocks noChangeShapeType="1"/>
          </p:cNvSpPr>
          <p:nvPr/>
        </p:nvSpPr>
        <p:spPr bwMode="auto">
          <a:xfrm>
            <a:off x="297180" y="2290445"/>
            <a:ext cx="2286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8486" name="Line 6"/>
          <p:cNvSpPr>
            <a:spLocks noChangeShapeType="1"/>
          </p:cNvSpPr>
          <p:nvPr/>
        </p:nvSpPr>
        <p:spPr bwMode="auto">
          <a:xfrm>
            <a:off x="861695" y="2290445"/>
            <a:ext cx="152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100</a:t>
            </a:fld>
            <a:endParaRPr lang="en-US" altLang="zh-CN"/>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ChangeArrowheads="1"/>
          </p:cNvSpPr>
          <p:nvPr/>
        </p:nvSpPr>
        <p:spPr bwMode="auto">
          <a:xfrm>
            <a:off x="762000" y="533400"/>
            <a:ext cx="77724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sz="3600" b="1">
                <a:solidFill>
                  <a:srgbClr val="990000"/>
                </a:solidFill>
                <a:latin typeface="Arial" panose="020B0604020202020204" pitchFamily="34" charset="0"/>
                <a:ea typeface="楷体_GB2312" pitchFamily="49" charset="-122"/>
                <a:cs typeface="Arial" panose="020B0604020202020204" pitchFamily="34" charset="0"/>
                <a:sym typeface="+mn-ea"/>
              </a:rPr>
              <a:t>The process of 2-way merge sort</a:t>
            </a:r>
          </a:p>
        </p:txBody>
      </p:sp>
      <p:sp>
        <p:nvSpPr>
          <p:cNvPr id="93187" name="Rectangle 3"/>
          <p:cNvSpPr>
            <a:spLocks noChangeArrowheads="1"/>
          </p:cNvSpPr>
          <p:nvPr/>
        </p:nvSpPr>
        <p:spPr bwMode="auto">
          <a:xfrm>
            <a:off x="685800" y="2905125"/>
            <a:ext cx="7924800"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pPr>
            <a:r>
              <a:rPr lang="en-US" altLang="zh-CN" sz="2800" b="1"/>
              <a:t>Initial state</a:t>
            </a:r>
            <a:r>
              <a:rPr lang="en-US" altLang="zh-CN" sz="3200" b="1"/>
              <a:t> </a:t>
            </a:r>
            <a:r>
              <a:rPr lang="zh-CN" altLang="en-US" sz="3200" b="1"/>
              <a:t> </a:t>
            </a:r>
            <a:r>
              <a:rPr lang="en-US" altLang="zh-CN" sz="3200" b="1"/>
              <a:t>  </a:t>
            </a:r>
            <a:r>
              <a:rPr lang="zh-CN" altLang="en-US" sz="3200" b="1"/>
              <a:t>  </a:t>
            </a:r>
            <a:r>
              <a:rPr lang="en-US" altLang="zh-CN" sz="3200" b="1"/>
              <a:t>[25] [57]  [48][37]  [12][92]  </a:t>
            </a:r>
            <a:r>
              <a:rPr lang="en-US" altLang="zh-CN" sz="3200" b="1">
                <a:solidFill>
                  <a:schemeClr val="tx2"/>
                </a:solidFill>
              </a:rPr>
              <a:t>[86]</a:t>
            </a:r>
            <a:endParaRPr lang="en-US" altLang="zh-CN" sz="3200" b="1"/>
          </a:p>
          <a:p>
            <a:pPr>
              <a:spcBef>
                <a:spcPct val="20000"/>
              </a:spcBef>
            </a:pPr>
            <a:r>
              <a:rPr lang="en-US" altLang="zh-CN" sz="2800" b="1"/>
              <a:t>1st pass merge  </a:t>
            </a:r>
            <a:r>
              <a:rPr lang="en-US" altLang="zh-CN" sz="3200" b="1"/>
              <a:t>[25   57]  [37   48]  [12  92]  </a:t>
            </a:r>
            <a:r>
              <a:rPr lang="en-US" altLang="zh-CN" sz="3200" b="1">
                <a:solidFill>
                  <a:schemeClr val="tx2"/>
                </a:solidFill>
              </a:rPr>
              <a:t>[86]</a:t>
            </a:r>
            <a:endParaRPr lang="en-US" altLang="zh-CN" sz="3200" b="1"/>
          </a:p>
          <a:p>
            <a:pPr>
              <a:spcBef>
                <a:spcPct val="20000"/>
              </a:spcBef>
            </a:pPr>
            <a:r>
              <a:rPr lang="en-US" altLang="zh-CN" sz="2800" b="1"/>
              <a:t>2nd pass merge </a:t>
            </a:r>
            <a:r>
              <a:rPr lang="en-US" altLang="zh-CN" sz="3200" b="1"/>
              <a:t>[25   37</a:t>
            </a:r>
            <a:r>
              <a:rPr lang="zh-CN" altLang="en-US" sz="3200" b="1"/>
              <a:t>　</a:t>
            </a:r>
            <a:r>
              <a:rPr lang="en-US" altLang="zh-CN" sz="3200" b="1"/>
              <a:t>48</a:t>
            </a:r>
            <a:r>
              <a:rPr lang="zh-CN" altLang="en-US" sz="3200" b="1"/>
              <a:t>　</a:t>
            </a:r>
            <a:r>
              <a:rPr lang="en-US" altLang="zh-CN" sz="3200" b="1"/>
              <a:t>57] </a:t>
            </a:r>
            <a:r>
              <a:rPr lang="en-US" altLang="zh-CN" sz="3200" b="1">
                <a:solidFill>
                  <a:schemeClr val="tx2"/>
                </a:solidFill>
              </a:rPr>
              <a:t>[12</a:t>
            </a:r>
            <a:r>
              <a:rPr lang="zh-CN" altLang="en-US" sz="3200" b="1">
                <a:solidFill>
                  <a:schemeClr val="tx2"/>
                </a:solidFill>
              </a:rPr>
              <a:t>　</a:t>
            </a:r>
            <a:r>
              <a:rPr lang="en-US" altLang="zh-CN" sz="3200" b="1">
                <a:solidFill>
                  <a:schemeClr val="tx2"/>
                </a:solidFill>
              </a:rPr>
              <a:t>86</a:t>
            </a:r>
            <a:r>
              <a:rPr lang="zh-CN" altLang="en-US" sz="3200" b="1">
                <a:solidFill>
                  <a:schemeClr val="tx2"/>
                </a:solidFill>
              </a:rPr>
              <a:t>　</a:t>
            </a:r>
            <a:r>
              <a:rPr lang="en-US" altLang="zh-CN" sz="3200" b="1">
                <a:solidFill>
                  <a:schemeClr val="tx2"/>
                </a:solidFill>
              </a:rPr>
              <a:t>92]</a:t>
            </a:r>
            <a:endParaRPr lang="en-US" altLang="zh-CN" sz="3200" b="1"/>
          </a:p>
          <a:p>
            <a:pPr>
              <a:spcBef>
                <a:spcPct val="20000"/>
              </a:spcBef>
            </a:pPr>
            <a:r>
              <a:rPr lang="en-US" altLang="zh-CN" sz="2800" b="1"/>
              <a:t>3rd pass merge </a:t>
            </a:r>
            <a:r>
              <a:rPr lang="en-US" altLang="zh-CN" sz="3200" b="1"/>
              <a:t>[12   25</a:t>
            </a:r>
            <a:r>
              <a:rPr lang="zh-CN" altLang="en-US" sz="3200" b="1"/>
              <a:t>　</a:t>
            </a:r>
            <a:r>
              <a:rPr lang="en-US" altLang="zh-CN" sz="3200" b="1"/>
              <a:t>37</a:t>
            </a:r>
            <a:r>
              <a:rPr lang="zh-CN" altLang="en-US" sz="3200" b="1"/>
              <a:t>　</a:t>
            </a:r>
            <a:r>
              <a:rPr lang="en-US" altLang="zh-CN" sz="3200" b="1"/>
              <a:t>48</a:t>
            </a:r>
            <a:r>
              <a:rPr lang="zh-CN" altLang="en-US" sz="3200" b="1"/>
              <a:t>　</a:t>
            </a:r>
            <a:r>
              <a:rPr lang="en-US" altLang="zh-CN" sz="3200" b="1"/>
              <a:t>57</a:t>
            </a:r>
            <a:r>
              <a:rPr lang="zh-CN" altLang="en-US" sz="3200" b="1"/>
              <a:t>　</a:t>
            </a:r>
            <a:r>
              <a:rPr lang="en-US" altLang="zh-CN" sz="3200" b="1"/>
              <a:t>86</a:t>
            </a:r>
            <a:r>
              <a:rPr lang="zh-CN" altLang="en-US" sz="3200" b="1"/>
              <a:t>　</a:t>
            </a:r>
            <a:r>
              <a:rPr lang="en-US" altLang="zh-CN" sz="3200" b="1"/>
              <a:t>92]</a:t>
            </a:r>
          </a:p>
          <a:p>
            <a:pPr>
              <a:spcBef>
                <a:spcPct val="20000"/>
              </a:spcBef>
              <a:buFontTx/>
              <a:buChar char="•"/>
            </a:pPr>
            <a:endParaRPr lang="en-US" altLang="zh-CN" sz="3200" b="1"/>
          </a:p>
        </p:txBody>
      </p:sp>
      <p:sp>
        <p:nvSpPr>
          <p:cNvPr id="93188" name="Text Box 4"/>
          <p:cNvSpPr txBox="1">
            <a:spLocks noChangeArrowheads="1"/>
          </p:cNvSpPr>
          <p:nvPr/>
        </p:nvSpPr>
        <p:spPr bwMode="auto">
          <a:xfrm>
            <a:off x="663575" y="1481455"/>
            <a:ext cx="8337550" cy="829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zh-CN" sz="2400" b="1">
                <a:latin typeface="Arial" panose="020B0604020202020204" pitchFamily="34" charset="0"/>
                <a:ea typeface="楷体_GB2312" pitchFamily="49" charset="-122"/>
                <a:cs typeface="Arial" panose="020B0604020202020204" pitchFamily="34" charset="0"/>
              </a:rPr>
              <a:t>The sequence to be sorted is (25, 57, 48, 37, 12, 92, 86)</a:t>
            </a:r>
          </a:p>
          <a:p>
            <a:pPr algn="l"/>
            <a:r>
              <a:rPr lang="en-US" altLang="zh-CN" sz="2400" b="1">
                <a:latin typeface="Arial" panose="020B0604020202020204" pitchFamily="34" charset="0"/>
                <a:ea typeface="楷体_GB2312" pitchFamily="49" charset="-122"/>
                <a:cs typeface="Arial" panose="020B0604020202020204" pitchFamily="34" charset="0"/>
              </a:rPr>
              <a:t>Sequence state after each pass of 2-way merge sort:</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101</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3188"/>
                                        </p:tgtEl>
                                        <p:attrNameLst>
                                          <p:attrName>style.visibility</p:attrName>
                                        </p:attrNameLst>
                                      </p:cBhvr>
                                      <p:to>
                                        <p:strVal val="visible"/>
                                      </p:to>
                                    </p:set>
                                    <p:anim calcmode="lin" valueType="num">
                                      <p:cBhvr additive="base">
                                        <p:cTn id="7" dur="500" fill="hold"/>
                                        <p:tgtEl>
                                          <p:spTgt spid="93188"/>
                                        </p:tgtEl>
                                        <p:attrNameLst>
                                          <p:attrName>ppt_x</p:attrName>
                                        </p:attrNameLst>
                                      </p:cBhvr>
                                      <p:tavLst>
                                        <p:tav tm="0">
                                          <p:val>
                                            <p:strVal val="0-#ppt_w/2"/>
                                          </p:val>
                                        </p:tav>
                                        <p:tav tm="100000">
                                          <p:val>
                                            <p:strVal val="#ppt_x"/>
                                          </p:val>
                                        </p:tav>
                                      </p:tavLst>
                                    </p:anim>
                                    <p:anim calcmode="lin" valueType="num">
                                      <p:cBhvr additive="base">
                                        <p:cTn id="8" dur="500" fill="hold"/>
                                        <p:tgtEl>
                                          <p:spTgt spid="9318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3187">
                                            <p:txEl>
                                              <p:pRg st="0" end="0"/>
                                            </p:txEl>
                                          </p:spTgt>
                                        </p:tgtEl>
                                        <p:attrNameLst>
                                          <p:attrName>style.visibility</p:attrName>
                                        </p:attrNameLst>
                                      </p:cBhvr>
                                      <p:to>
                                        <p:strVal val="visible"/>
                                      </p:to>
                                    </p:set>
                                    <p:anim calcmode="lin" valueType="num">
                                      <p:cBhvr additive="base">
                                        <p:cTn id="13" dur="500" fill="hold"/>
                                        <p:tgtEl>
                                          <p:spTgt spid="93187">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3187">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3187">
                                            <p:txEl>
                                              <p:pRg st="1" end="1"/>
                                            </p:txEl>
                                          </p:spTgt>
                                        </p:tgtEl>
                                        <p:attrNameLst>
                                          <p:attrName>style.visibility</p:attrName>
                                        </p:attrNameLst>
                                      </p:cBhvr>
                                      <p:to>
                                        <p:strVal val="visible"/>
                                      </p:to>
                                    </p:set>
                                    <p:anim calcmode="lin" valueType="num">
                                      <p:cBhvr additive="base">
                                        <p:cTn id="19" dur="500" fill="hold"/>
                                        <p:tgtEl>
                                          <p:spTgt spid="93187">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3187">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3187">
                                            <p:txEl>
                                              <p:pRg st="2" end="2"/>
                                            </p:txEl>
                                          </p:spTgt>
                                        </p:tgtEl>
                                        <p:attrNameLst>
                                          <p:attrName>style.visibility</p:attrName>
                                        </p:attrNameLst>
                                      </p:cBhvr>
                                      <p:to>
                                        <p:strVal val="visible"/>
                                      </p:to>
                                    </p:set>
                                    <p:anim calcmode="lin" valueType="num">
                                      <p:cBhvr additive="base">
                                        <p:cTn id="25" dur="500" fill="hold"/>
                                        <p:tgtEl>
                                          <p:spTgt spid="93187">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3187">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WHOOSH.WAV"/>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3187">
                                            <p:txEl>
                                              <p:pRg st="3" end="3"/>
                                            </p:txEl>
                                          </p:spTgt>
                                        </p:tgtEl>
                                        <p:attrNameLst>
                                          <p:attrName>style.visibility</p:attrName>
                                        </p:attrNameLst>
                                      </p:cBhvr>
                                      <p:to>
                                        <p:strVal val="visible"/>
                                      </p:to>
                                    </p:set>
                                    <p:anim calcmode="lin" valueType="num">
                                      <p:cBhvr additive="base">
                                        <p:cTn id="31" dur="500" fill="hold"/>
                                        <p:tgtEl>
                                          <p:spTgt spid="93187">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3187">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7" grpId="0" build="p" autoUpdateAnimBg="0"/>
      <p:bldP spid="93188" grpId="0" bldLvl="0" animBg="1" autoUpdateAnimBg="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ChangeArrowheads="1"/>
          </p:cNvSpPr>
          <p:nvPr/>
        </p:nvSpPr>
        <p:spPr bwMode="auto">
          <a:xfrm>
            <a:off x="0" y="238125"/>
            <a:ext cx="8687435" cy="6292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40000"/>
              </a:lnSpc>
            </a:pPr>
            <a:r>
              <a:rPr lang="en-US" altLang="zh-CN" sz="3600" b="1">
                <a:solidFill>
                  <a:srgbClr val="003366"/>
                </a:solidFill>
                <a:ea typeface="楷体_GB2312" pitchFamily="49" charset="-122"/>
              </a:rPr>
              <a:t>void</a:t>
            </a:r>
            <a:r>
              <a:rPr lang="en-US" altLang="zh-CN" sz="3600">
                <a:ea typeface="楷体_GB2312" pitchFamily="49" charset="-122"/>
              </a:rPr>
              <a:t> </a:t>
            </a:r>
            <a:r>
              <a:rPr lang="en-US" altLang="zh-CN" sz="3600">
                <a:solidFill>
                  <a:srgbClr val="0000FF"/>
                </a:solidFill>
                <a:ea typeface="楷体_GB2312" pitchFamily="49" charset="-122"/>
              </a:rPr>
              <a:t>Msort ( RcdType SR[],  </a:t>
            </a:r>
          </a:p>
          <a:p>
            <a:pPr algn="l">
              <a:lnSpc>
                <a:spcPct val="140000"/>
              </a:lnSpc>
            </a:pPr>
            <a:r>
              <a:rPr lang="en-US" altLang="zh-CN" sz="3600">
                <a:solidFill>
                  <a:srgbClr val="0000FF"/>
                </a:solidFill>
                <a:ea typeface="楷体_GB2312" pitchFamily="49" charset="-122"/>
              </a:rPr>
              <a:t>                       RcdType </a:t>
            </a:r>
            <a:r>
              <a:rPr lang="en-US" altLang="zh-CN" sz="3600" b="1">
                <a:solidFill>
                  <a:srgbClr val="0000FF"/>
                </a:solidFill>
                <a:ea typeface="楷体_GB2312" pitchFamily="49" charset="-122"/>
              </a:rPr>
              <a:t>&amp;</a:t>
            </a:r>
            <a:r>
              <a:rPr lang="en-US" altLang="zh-CN" sz="3600">
                <a:solidFill>
                  <a:srgbClr val="0000FF"/>
                </a:solidFill>
                <a:ea typeface="楷体_GB2312" pitchFamily="49" charset="-122"/>
              </a:rPr>
              <a:t>TR1[], </a:t>
            </a:r>
            <a:r>
              <a:rPr lang="en-US" altLang="zh-CN" sz="3600" b="1">
                <a:solidFill>
                  <a:srgbClr val="0000FF"/>
                </a:solidFill>
                <a:ea typeface="楷体_GB2312" pitchFamily="49" charset="-122"/>
              </a:rPr>
              <a:t>int</a:t>
            </a:r>
            <a:r>
              <a:rPr lang="en-US" altLang="zh-CN" sz="3600">
                <a:solidFill>
                  <a:srgbClr val="0000FF"/>
                </a:solidFill>
                <a:ea typeface="楷体_GB2312" pitchFamily="49" charset="-122"/>
              </a:rPr>
              <a:t> s, </a:t>
            </a:r>
            <a:r>
              <a:rPr lang="en-US" altLang="zh-CN" sz="3600" b="1">
                <a:solidFill>
                  <a:srgbClr val="0000FF"/>
                </a:solidFill>
                <a:ea typeface="楷体_GB2312" pitchFamily="49" charset="-122"/>
              </a:rPr>
              <a:t>int</a:t>
            </a:r>
            <a:r>
              <a:rPr lang="en-US" altLang="zh-CN" sz="3600">
                <a:solidFill>
                  <a:srgbClr val="0000FF"/>
                </a:solidFill>
                <a:ea typeface="楷体_GB2312" pitchFamily="49" charset="-122"/>
              </a:rPr>
              <a:t> t )</a:t>
            </a:r>
            <a:r>
              <a:rPr lang="en-US" altLang="zh-CN" sz="3600">
                <a:ea typeface="楷体_GB2312" pitchFamily="49" charset="-122"/>
              </a:rPr>
              <a:t> </a:t>
            </a:r>
            <a:r>
              <a:rPr lang="en-US" altLang="zh-CN" sz="3600" b="1">
                <a:solidFill>
                  <a:srgbClr val="003366"/>
                </a:solidFill>
                <a:ea typeface="楷体_GB2312" pitchFamily="49" charset="-122"/>
              </a:rPr>
              <a:t>{</a:t>
            </a:r>
          </a:p>
          <a:p>
            <a:pPr algn="l">
              <a:lnSpc>
                <a:spcPct val="140000"/>
              </a:lnSpc>
            </a:pPr>
            <a:r>
              <a:rPr lang="en-US" altLang="zh-CN" sz="3600" b="1">
                <a:solidFill>
                  <a:srgbClr val="003366"/>
                </a:solidFill>
                <a:ea typeface="楷体_GB2312" pitchFamily="49" charset="-122"/>
              </a:rPr>
              <a:t>                     </a:t>
            </a:r>
            <a:r>
              <a:rPr lang="en-US" altLang="zh-CN" b="1">
                <a:solidFill>
                  <a:srgbClr val="006600"/>
                </a:solidFill>
                <a:ea typeface="楷体_GB2312" pitchFamily="49" charset="-122"/>
                <a:sym typeface="+mn-ea"/>
              </a:rPr>
              <a:t>// Merge sort SR[s..t] into TR1[s..t]</a:t>
            </a:r>
            <a:endParaRPr lang="en-US" altLang="zh-CN" sz="3600" b="1">
              <a:solidFill>
                <a:srgbClr val="003366"/>
              </a:solidFill>
              <a:ea typeface="楷体_GB2312" pitchFamily="49" charset="-122"/>
            </a:endParaRPr>
          </a:p>
          <a:p>
            <a:pPr algn="l">
              <a:lnSpc>
                <a:spcPct val="140000"/>
              </a:lnSpc>
            </a:pPr>
            <a:r>
              <a:rPr lang="en-US" altLang="zh-CN" sz="3600">
                <a:solidFill>
                  <a:srgbClr val="003366"/>
                </a:solidFill>
                <a:ea typeface="楷体_GB2312" pitchFamily="49" charset="-122"/>
              </a:rPr>
              <a:t>    </a:t>
            </a:r>
            <a:r>
              <a:rPr lang="en-US" altLang="zh-CN" sz="3600" b="1">
                <a:solidFill>
                  <a:srgbClr val="003366"/>
                </a:solidFill>
                <a:ea typeface="楷体_GB2312" pitchFamily="49" charset="-122"/>
              </a:rPr>
              <a:t>if</a:t>
            </a:r>
            <a:r>
              <a:rPr lang="en-US" altLang="zh-CN" sz="3600">
                <a:solidFill>
                  <a:srgbClr val="003366"/>
                </a:solidFill>
                <a:ea typeface="楷体_GB2312" pitchFamily="49" charset="-122"/>
              </a:rPr>
              <a:t> (s= =t) TR1[s]=SR[s];</a:t>
            </a:r>
          </a:p>
          <a:p>
            <a:pPr algn="l">
              <a:lnSpc>
                <a:spcPct val="140000"/>
              </a:lnSpc>
            </a:pPr>
            <a:r>
              <a:rPr lang="en-US" altLang="zh-CN" sz="3600">
                <a:solidFill>
                  <a:srgbClr val="003366"/>
                </a:solidFill>
                <a:ea typeface="楷体_GB2312" pitchFamily="49" charset="-122"/>
              </a:rPr>
              <a:t>    </a:t>
            </a:r>
            <a:r>
              <a:rPr lang="en-US" altLang="zh-CN" sz="3600" b="1">
                <a:solidFill>
                  <a:srgbClr val="003366"/>
                </a:solidFill>
                <a:ea typeface="楷体_GB2312" pitchFamily="49" charset="-122"/>
              </a:rPr>
              <a:t>else</a:t>
            </a:r>
            <a:r>
              <a:rPr lang="en-US" altLang="zh-CN" sz="3600">
                <a:solidFill>
                  <a:srgbClr val="003366"/>
                </a:solidFill>
                <a:ea typeface="楷体_GB2312" pitchFamily="49" charset="-122"/>
              </a:rPr>
              <a:t> </a:t>
            </a:r>
          </a:p>
          <a:p>
            <a:pPr algn="l">
              <a:lnSpc>
                <a:spcPct val="140000"/>
              </a:lnSpc>
            </a:pPr>
            <a:r>
              <a:rPr lang="en-US" altLang="zh-CN" sz="3600">
                <a:solidFill>
                  <a:srgbClr val="003366"/>
                </a:solidFill>
                <a:ea typeface="楷体_GB2312" pitchFamily="49" charset="-122"/>
              </a:rPr>
              <a:t>      {</a:t>
            </a:r>
          </a:p>
          <a:p>
            <a:pPr algn="l">
              <a:lnSpc>
                <a:spcPct val="140000"/>
              </a:lnSpc>
            </a:pPr>
            <a:r>
              <a:rPr lang="en-US" altLang="zh-CN" sz="3600">
                <a:solidFill>
                  <a:srgbClr val="003366"/>
                </a:solidFill>
                <a:ea typeface="楷体_GB2312" pitchFamily="49" charset="-122"/>
              </a:rPr>
              <a:t>       }</a:t>
            </a:r>
          </a:p>
          <a:p>
            <a:pPr algn="l">
              <a:lnSpc>
                <a:spcPct val="140000"/>
              </a:lnSpc>
            </a:pPr>
            <a:r>
              <a:rPr lang="en-US" altLang="zh-CN" sz="3600" b="1">
                <a:solidFill>
                  <a:srgbClr val="003366"/>
                </a:solidFill>
                <a:ea typeface="楷体_GB2312" pitchFamily="49" charset="-122"/>
              </a:rPr>
              <a:t>}</a:t>
            </a:r>
            <a:r>
              <a:rPr lang="en-US" altLang="zh-CN" sz="3600">
                <a:solidFill>
                  <a:srgbClr val="003366"/>
                </a:solidFill>
                <a:ea typeface="楷体_GB2312" pitchFamily="49" charset="-122"/>
              </a:rPr>
              <a:t> // Msort</a:t>
            </a:r>
            <a:endParaRPr lang="en-US" altLang="zh-CN" sz="3600" b="1">
              <a:ea typeface="楷体_GB2312" pitchFamily="49" charset="-122"/>
            </a:endParaRPr>
          </a:p>
        </p:txBody>
      </p:sp>
      <p:sp>
        <p:nvSpPr>
          <p:cNvPr id="94211" name="Text Box 3">
            <a:hlinkClick r:id="" action="ppaction://hlinkshowjump?jump=nextslide"/>
          </p:cNvPr>
          <p:cNvSpPr txBox="1">
            <a:spLocks noChangeArrowheads="1"/>
          </p:cNvSpPr>
          <p:nvPr/>
        </p:nvSpPr>
        <p:spPr bwMode="auto">
          <a:xfrm>
            <a:off x="1654175" y="4114800"/>
            <a:ext cx="2724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4000" b="1">
                <a:solidFill>
                  <a:srgbClr val="003366"/>
                </a:solidFill>
              </a:rPr>
              <a:t>    </a:t>
            </a:r>
            <a:r>
              <a:rPr lang="en-US" altLang="zh-CN" sz="4000" b="1">
                <a:solidFill>
                  <a:srgbClr val="FF3300"/>
                </a:solidFill>
              </a:rPr>
              <a:t>…   …</a:t>
            </a:r>
            <a:r>
              <a:rPr lang="en-US" altLang="zh-CN" sz="4000" b="1">
                <a:solidFill>
                  <a:srgbClr val="003366"/>
                </a:solidFill>
              </a:rPr>
              <a:t>     </a:t>
            </a:r>
            <a:endParaRPr lang="en-US" altLang="zh-CN" sz="4000"/>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102</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94210"/>
                                        </p:tgtEl>
                                        <p:attrNameLst>
                                          <p:attrName>style.visibility</p:attrName>
                                        </p:attrNameLst>
                                      </p:cBhvr>
                                      <p:to>
                                        <p:strVal val="visible"/>
                                      </p:to>
                                    </p:set>
                                    <p:animEffect transition="in" filter="strips(downRight)">
                                      <p:cBhvr>
                                        <p:cTn id="7" dur="500"/>
                                        <p:tgtEl>
                                          <p:spTgt spid="94210"/>
                                        </p:tgtEl>
                                      </p:cBhvr>
                                    </p:animEffect>
                                  </p:childTnLst>
                                </p:cTn>
                              </p:par>
                            </p:childTnLst>
                          </p:cTn>
                        </p:par>
                        <p:par>
                          <p:cTn id="8" fill="hold">
                            <p:stCondLst>
                              <p:cond delay="500"/>
                            </p:stCondLst>
                            <p:childTnLst>
                              <p:par>
                                <p:cTn id="9" presetID="18" presetClass="entr" presetSubtype="6" fill="hold" grpId="0" nodeType="afterEffect">
                                  <p:stCondLst>
                                    <p:cond delay="0"/>
                                  </p:stCondLst>
                                  <p:childTnLst>
                                    <p:set>
                                      <p:cBhvr>
                                        <p:cTn id="10" dur="1" fill="hold">
                                          <p:stCondLst>
                                            <p:cond delay="0"/>
                                          </p:stCondLst>
                                        </p:cTn>
                                        <p:tgtEl>
                                          <p:spTgt spid="94211"/>
                                        </p:tgtEl>
                                        <p:attrNameLst>
                                          <p:attrName>style.visibility</p:attrName>
                                        </p:attrNameLst>
                                      </p:cBhvr>
                                      <p:to>
                                        <p:strVal val="visible"/>
                                      </p:to>
                                    </p:set>
                                    <p:animEffect transition="in" filter="strips(downRight)">
                                      <p:cBhvr>
                                        <p:cTn id="11" dur="500"/>
                                        <p:tgtEl>
                                          <p:spTgt spid="942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0" grpId="0" bldLvl="0" animBg="1" autoUpdateAnimBg="0"/>
      <p:bldP spid="94211" grpId="0" autoUpdateAnimBg="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ChangeArrowheads="1"/>
          </p:cNvSpPr>
          <p:nvPr/>
        </p:nvSpPr>
        <p:spPr bwMode="auto">
          <a:xfrm>
            <a:off x="457200" y="457200"/>
            <a:ext cx="8490585" cy="116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25000"/>
              </a:lnSpc>
            </a:pPr>
            <a:r>
              <a:rPr lang="en-US" altLang="zh-CN">
                <a:solidFill>
                  <a:srgbClr val="FF0000"/>
                </a:solidFill>
                <a:ea typeface="楷体_GB2312" pitchFamily="49" charset="-122"/>
              </a:rPr>
              <a:t>m = (s+t)/2;</a:t>
            </a:r>
          </a:p>
          <a:p>
            <a:pPr algn="l">
              <a:lnSpc>
                <a:spcPct val="125000"/>
              </a:lnSpc>
            </a:pPr>
            <a:r>
              <a:rPr lang="en-US" altLang="zh-CN">
                <a:ea typeface="楷体_GB2312" pitchFamily="49" charset="-122"/>
              </a:rPr>
              <a:t>               </a:t>
            </a:r>
            <a:r>
              <a:rPr lang="en-US" altLang="zh-CN" b="1">
                <a:solidFill>
                  <a:srgbClr val="006600"/>
                </a:solidFill>
                <a:ea typeface="楷体_GB2312" pitchFamily="49" charset="-122"/>
                <a:sym typeface="+mn-ea"/>
              </a:rPr>
              <a:t>// Divide SR[s..t] into SR[s..m] and SR[m+1..t]</a:t>
            </a:r>
            <a:endParaRPr lang="en-US" altLang="zh-CN" sz="2800" b="1">
              <a:solidFill>
                <a:srgbClr val="006600"/>
              </a:solidFill>
              <a:ea typeface="楷体_GB2312" pitchFamily="49" charset="-122"/>
            </a:endParaRPr>
          </a:p>
        </p:txBody>
      </p:sp>
      <p:sp>
        <p:nvSpPr>
          <p:cNvPr id="95235" name="Rectangle 3"/>
          <p:cNvSpPr>
            <a:spLocks noChangeArrowheads="1"/>
          </p:cNvSpPr>
          <p:nvPr/>
        </p:nvSpPr>
        <p:spPr bwMode="auto">
          <a:xfrm>
            <a:off x="457200" y="1981200"/>
            <a:ext cx="8110855" cy="2168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25000"/>
              </a:lnSpc>
            </a:pPr>
            <a:r>
              <a:rPr lang="en-US" altLang="zh-CN">
                <a:solidFill>
                  <a:srgbClr val="0000FF"/>
                </a:solidFill>
                <a:ea typeface="楷体_GB2312" pitchFamily="49" charset="-122"/>
              </a:rPr>
              <a:t>Msort (SR, TR2, s, m);</a:t>
            </a:r>
          </a:p>
          <a:p>
            <a:pPr algn="l">
              <a:lnSpc>
                <a:spcPct val="125000"/>
              </a:lnSpc>
            </a:pPr>
            <a:r>
              <a:rPr lang="en-US" altLang="zh-CN" sz="2400" b="1">
                <a:solidFill>
                  <a:srgbClr val="006600"/>
                </a:solidFill>
                <a:ea typeface="楷体_GB2312" pitchFamily="49" charset="-122"/>
                <a:sym typeface="+mn-ea"/>
              </a:rPr>
              <a:t>// recursively merge SR[s..m] into an ordered TR2[s..m]</a:t>
            </a:r>
            <a:endParaRPr lang="en-US" altLang="zh-CN" sz="2400" b="1">
              <a:solidFill>
                <a:srgbClr val="006600"/>
              </a:solidFill>
              <a:ea typeface="楷体_GB2312" pitchFamily="49" charset="-122"/>
            </a:endParaRPr>
          </a:p>
          <a:p>
            <a:pPr algn="l">
              <a:lnSpc>
                <a:spcPct val="125000"/>
              </a:lnSpc>
            </a:pPr>
            <a:r>
              <a:rPr lang="en-US" altLang="zh-CN">
                <a:solidFill>
                  <a:srgbClr val="0000FF"/>
                </a:solidFill>
                <a:ea typeface="楷体_GB2312" pitchFamily="49" charset="-122"/>
              </a:rPr>
              <a:t>Msort (SR, TR2, m+1, t);</a:t>
            </a:r>
          </a:p>
          <a:p>
            <a:pPr algn="l">
              <a:lnSpc>
                <a:spcPct val="125000"/>
              </a:lnSpc>
            </a:pPr>
            <a:r>
              <a:rPr lang="en-US" altLang="zh-CN">
                <a:ea typeface="楷体_GB2312" pitchFamily="49" charset="-122"/>
              </a:rPr>
              <a:t> </a:t>
            </a:r>
            <a:r>
              <a:rPr lang="en-US" altLang="zh-CN" sz="2400" b="1">
                <a:solidFill>
                  <a:srgbClr val="006600"/>
                </a:solidFill>
                <a:ea typeface="楷体_GB2312" pitchFamily="49" charset="-122"/>
                <a:sym typeface="+mn-ea"/>
              </a:rPr>
              <a:t>// recursively merge SR[m+1..t] into an ordered TR2[m+1..t]</a:t>
            </a:r>
          </a:p>
        </p:txBody>
      </p:sp>
      <p:sp>
        <p:nvSpPr>
          <p:cNvPr id="95236" name="Rectangle 4"/>
          <p:cNvSpPr>
            <a:spLocks noChangeArrowheads="1"/>
          </p:cNvSpPr>
          <p:nvPr/>
        </p:nvSpPr>
        <p:spPr bwMode="auto">
          <a:xfrm>
            <a:off x="457200" y="4654550"/>
            <a:ext cx="8411845" cy="1210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30000"/>
              </a:lnSpc>
            </a:pPr>
            <a:r>
              <a:rPr lang="en-US" altLang="zh-CN">
                <a:solidFill>
                  <a:srgbClr val="FF0000"/>
                </a:solidFill>
                <a:ea typeface="楷体_GB2312" pitchFamily="49" charset="-122"/>
              </a:rPr>
              <a:t>Merge (TR2, TR1, s, m, t);</a:t>
            </a:r>
            <a:endParaRPr lang="en-US" altLang="zh-CN">
              <a:solidFill>
                <a:schemeClr val="accent2"/>
              </a:solidFill>
              <a:ea typeface="楷体_GB2312" pitchFamily="49" charset="-122"/>
            </a:endParaRPr>
          </a:p>
          <a:p>
            <a:pPr algn="l">
              <a:lnSpc>
                <a:spcPct val="130000"/>
              </a:lnSpc>
            </a:pPr>
            <a:r>
              <a:rPr lang="en-US" altLang="zh-CN">
                <a:ea typeface="楷体_GB2312" pitchFamily="49" charset="-122"/>
              </a:rPr>
              <a:t>       </a:t>
            </a:r>
            <a:r>
              <a:rPr lang="en-US" altLang="zh-CN" sz="2800" b="1">
                <a:solidFill>
                  <a:srgbClr val="006600"/>
                </a:solidFill>
                <a:ea typeface="楷体_GB2312" pitchFamily="49" charset="-122"/>
              </a:rPr>
              <a:t>// </a:t>
            </a:r>
            <a:r>
              <a:rPr lang="en-US" altLang="zh-CN" b="1">
                <a:solidFill>
                  <a:srgbClr val="006600"/>
                </a:solidFill>
                <a:ea typeface="楷体_GB2312" pitchFamily="49" charset="-122"/>
                <a:sym typeface="+mn-ea"/>
              </a:rPr>
              <a:t>Merge TR2[s..m] and TR2[m+1..t] into TR1[s..t]</a:t>
            </a:r>
            <a:endParaRPr lang="en-US" altLang="zh-CN" sz="2800" b="1">
              <a:solidFill>
                <a:srgbClr val="006600"/>
              </a:solidFill>
              <a:ea typeface="楷体_GB2312" pitchFamily="49" charset="-122"/>
            </a:endParaRP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103</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5234"/>
                                        </p:tgtEl>
                                        <p:attrNameLst>
                                          <p:attrName>style.visibility</p:attrName>
                                        </p:attrNameLst>
                                      </p:cBhvr>
                                      <p:to>
                                        <p:strVal val="visible"/>
                                      </p:to>
                                    </p:set>
                                    <p:animEffect transition="in" filter="wipe(left)">
                                      <p:cBhvr>
                                        <p:cTn id="7" dur="500"/>
                                        <p:tgtEl>
                                          <p:spTgt spid="952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5235"/>
                                        </p:tgtEl>
                                        <p:attrNameLst>
                                          <p:attrName>style.visibility</p:attrName>
                                        </p:attrNameLst>
                                      </p:cBhvr>
                                      <p:to>
                                        <p:strVal val="visible"/>
                                      </p:to>
                                    </p:set>
                                    <p:animEffect transition="in" filter="wipe(left)">
                                      <p:cBhvr>
                                        <p:cTn id="12" dur="500"/>
                                        <p:tgtEl>
                                          <p:spTgt spid="9523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5236"/>
                                        </p:tgtEl>
                                        <p:attrNameLst>
                                          <p:attrName>style.visibility</p:attrName>
                                        </p:attrNameLst>
                                      </p:cBhvr>
                                      <p:to>
                                        <p:strVal val="visible"/>
                                      </p:to>
                                    </p:set>
                                    <p:animEffect transition="in" filter="wipe(left)">
                                      <p:cBhvr>
                                        <p:cTn id="17" dur="500"/>
                                        <p:tgtEl>
                                          <p:spTgt spid="952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4" grpId="0" bldLvl="0" animBg="1" autoUpdateAnimBg="0"/>
      <p:bldP spid="95235" grpId="0" bldLvl="0" animBg="1" autoUpdateAnimBg="0"/>
      <p:bldP spid="95236" grpId="0" bldLvl="0" animBg="1" autoUpdateAnimBg="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ext Box 2"/>
          <p:cNvSpPr txBox="1">
            <a:spLocks noChangeArrowheads="1"/>
          </p:cNvSpPr>
          <p:nvPr/>
        </p:nvSpPr>
        <p:spPr bwMode="auto">
          <a:xfrm>
            <a:off x="533400" y="228600"/>
            <a:ext cx="8519795" cy="2861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25000"/>
              </a:lnSpc>
            </a:pPr>
            <a:r>
              <a:rPr lang="en-US" altLang="zh-CN" sz="3600" b="1">
                <a:ea typeface="楷体_GB2312" pitchFamily="49" charset="-122"/>
              </a:rPr>
              <a:t>void</a:t>
            </a:r>
            <a:r>
              <a:rPr lang="en-US" altLang="zh-CN" sz="3600">
                <a:ea typeface="楷体_GB2312" pitchFamily="49" charset="-122"/>
              </a:rPr>
              <a:t> MergeSort (SqList </a:t>
            </a:r>
            <a:r>
              <a:rPr lang="en-US" altLang="zh-CN" sz="3600" b="1">
                <a:ea typeface="楷体_GB2312" pitchFamily="49" charset="-122"/>
              </a:rPr>
              <a:t>&amp;</a:t>
            </a:r>
            <a:r>
              <a:rPr lang="en-US" altLang="zh-CN" sz="3600">
                <a:ea typeface="楷体_GB2312" pitchFamily="49" charset="-122"/>
              </a:rPr>
              <a:t>L) </a:t>
            </a:r>
            <a:r>
              <a:rPr lang="en-US" altLang="zh-CN" sz="3600" b="1">
                <a:ea typeface="楷体_GB2312" pitchFamily="49" charset="-122"/>
              </a:rPr>
              <a:t>{</a:t>
            </a:r>
            <a:endParaRPr lang="en-US" altLang="zh-CN" sz="3600">
              <a:ea typeface="楷体_GB2312" pitchFamily="49" charset="-122"/>
            </a:endParaRPr>
          </a:p>
          <a:p>
            <a:pPr algn="l">
              <a:lnSpc>
                <a:spcPct val="125000"/>
              </a:lnSpc>
            </a:pPr>
            <a:r>
              <a:rPr lang="en-US" altLang="zh-CN" sz="3600">
                <a:ea typeface="楷体_GB2312" pitchFamily="49" charset="-122"/>
              </a:rPr>
              <a:t>         </a:t>
            </a:r>
            <a:r>
              <a:rPr lang="en-US" altLang="zh-CN" sz="2800" b="1">
                <a:solidFill>
                  <a:srgbClr val="006600"/>
                </a:solidFill>
                <a:ea typeface="楷体_GB2312" pitchFamily="49" charset="-122"/>
              </a:rPr>
              <a:t> </a:t>
            </a:r>
            <a:r>
              <a:rPr lang="en-US" altLang="zh-CN" b="1">
                <a:solidFill>
                  <a:srgbClr val="006600"/>
                </a:solidFill>
                <a:ea typeface="楷体_GB2312" pitchFamily="49" charset="-122"/>
                <a:sym typeface="+mn-ea"/>
              </a:rPr>
              <a:t>// Perform 2-way merge sort on the sorted list L</a:t>
            </a:r>
            <a:endParaRPr lang="zh-CN" altLang="en-US" sz="2800" b="1">
              <a:solidFill>
                <a:srgbClr val="006600"/>
              </a:solidFill>
              <a:ea typeface="楷体_GB2312" pitchFamily="49" charset="-122"/>
            </a:endParaRPr>
          </a:p>
          <a:p>
            <a:pPr algn="l">
              <a:lnSpc>
                <a:spcPct val="125000"/>
              </a:lnSpc>
            </a:pPr>
            <a:r>
              <a:rPr lang="zh-CN" altLang="en-US" sz="3600">
                <a:ea typeface="楷体_GB2312" pitchFamily="49" charset="-122"/>
              </a:rPr>
              <a:t>   </a:t>
            </a:r>
            <a:r>
              <a:rPr lang="en-US" altLang="zh-CN" sz="3600">
                <a:ea typeface="楷体_GB2312" pitchFamily="49" charset="-122"/>
              </a:rPr>
              <a:t>MSort(L.r, L.r, 1, L.length);</a:t>
            </a:r>
          </a:p>
          <a:p>
            <a:pPr algn="l">
              <a:lnSpc>
                <a:spcPct val="125000"/>
              </a:lnSpc>
            </a:pPr>
            <a:r>
              <a:rPr lang="en-US" altLang="zh-CN" sz="3600" b="1">
                <a:ea typeface="楷体_GB2312" pitchFamily="49" charset="-122"/>
              </a:rPr>
              <a:t>}</a:t>
            </a:r>
            <a:r>
              <a:rPr lang="en-US" altLang="zh-CN" sz="3600">
                <a:ea typeface="楷体_GB2312" pitchFamily="49" charset="-122"/>
              </a:rPr>
              <a:t> // MergeSort</a:t>
            </a:r>
          </a:p>
        </p:txBody>
      </p:sp>
      <p:sp>
        <p:nvSpPr>
          <p:cNvPr id="96259" name="Text Box 3"/>
          <p:cNvSpPr txBox="1">
            <a:spLocks noChangeArrowheads="1"/>
          </p:cNvSpPr>
          <p:nvPr/>
        </p:nvSpPr>
        <p:spPr bwMode="auto">
          <a:xfrm>
            <a:off x="0" y="3357563"/>
            <a:ext cx="9144000" cy="1938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zh-CN" altLang="en-US" sz="2400">
                <a:latin typeface="Arial" panose="020B0604020202020204" pitchFamily="34" charset="0"/>
                <a:ea typeface="楷体_GB2312" pitchFamily="49" charset="-122"/>
                <a:cs typeface="Arial" panose="020B0604020202020204" pitchFamily="34" charset="0"/>
                <a:sym typeface="+mn-ea"/>
              </a:rPr>
              <a:t>Clearly, the time complexity of each merge operation is </a:t>
            </a:r>
            <a:r>
              <a:rPr lang="en-US" altLang="zh-CN" sz="2400">
                <a:solidFill>
                  <a:srgbClr val="0000FF"/>
                </a:solidFill>
                <a:latin typeface="Arial" panose="020B0604020202020204" pitchFamily="34" charset="0"/>
                <a:ea typeface="楷体_GB2312" pitchFamily="49" charset="-122"/>
                <a:cs typeface="Arial" panose="020B0604020202020204" pitchFamily="34" charset="0"/>
                <a:sym typeface="+mn-ea"/>
              </a:rPr>
              <a:t>O(</a:t>
            </a:r>
            <a:r>
              <a:rPr lang="en-US" altLang="zh-CN" sz="2400" i="1">
                <a:solidFill>
                  <a:srgbClr val="0000FF"/>
                </a:solidFill>
                <a:latin typeface="Arial" panose="020B0604020202020204" pitchFamily="34" charset="0"/>
                <a:ea typeface="楷体_GB2312" pitchFamily="49" charset="-122"/>
                <a:cs typeface="Arial" panose="020B0604020202020204" pitchFamily="34" charset="0"/>
                <a:sym typeface="+mn-ea"/>
              </a:rPr>
              <a:t>n</a:t>
            </a:r>
            <a:r>
              <a:rPr lang="en-US" altLang="zh-CN" sz="2400">
                <a:solidFill>
                  <a:srgbClr val="0000FF"/>
                </a:solidFill>
                <a:latin typeface="Arial" panose="020B0604020202020204" pitchFamily="34" charset="0"/>
                <a:ea typeface="楷体_GB2312" pitchFamily="49" charset="-122"/>
                <a:cs typeface="Arial" panose="020B0604020202020204" pitchFamily="34" charset="0"/>
                <a:sym typeface="+mn-ea"/>
              </a:rPr>
              <a:t>)</a:t>
            </a:r>
            <a:r>
              <a:rPr lang="zh-CN" altLang="en-US" sz="2400">
                <a:latin typeface="Arial" panose="020B0604020202020204" pitchFamily="34" charset="0"/>
                <a:ea typeface="楷体_GB2312" pitchFamily="49" charset="-122"/>
                <a:cs typeface="Arial" panose="020B0604020202020204" pitchFamily="34" charset="0"/>
                <a:sym typeface="+mn-ea"/>
              </a:rPr>
              <a:t>.</a:t>
            </a:r>
            <a:endParaRPr lang="zh-CN" altLang="en-US" sz="2400">
              <a:latin typeface="Arial" panose="020B0604020202020204" pitchFamily="34" charset="0"/>
              <a:ea typeface="楷体_GB2312" pitchFamily="49" charset="-122"/>
              <a:cs typeface="Arial" panose="020B0604020202020204" pitchFamily="34" charset="0"/>
            </a:endParaRPr>
          </a:p>
          <a:p>
            <a:pPr>
              <a:lnSpc>
                <a:spcPct val="125000"/>
              </a:lnSpc>
            </a:pPr>
            <a:r>
              <a:rPr lang="zh-CN" altLang="en-US" sz="2400">
                <a:latin typeface="Arial" panose="020B0604020202020204" pitchFamily="34" charset="0"/>
                <a:ea typeface="楷体_GB2312" pitchFamily="49" charset="-122"/>
                <a:cs typeface="Arial" panose="020B0604020202020204" pitchFamily="34" charset="0"/>
                <a:sym typeface="+mn-ea"/>
              </a:rPr>
              <a:t>A total of </a:t>
            </a:r>
            <a:r>
              <a:rPr lang="zh-CN" altLang="en-US" sz="2400">
                <a:solidFill>
                  <a:srgbClr val="0000FF"/>
                </a:solidFill>
                <a:latin typeface="Arial" panose="020B0604020202020204" pitchFamily="34" charset="0"/>
                <a:ea typeface="楷体_GB2312" pitchFamily="49" charset="-122"/>
                <a:cs typeface="Arial" panose="020B0604020202020204" pitchFamily="34" charset="0"/>
                <a:sym typeface="Symbol" panose="05050102010706020507" pitchFamily="18" charset="2"/>
              </a:rPr>
              <a:t></a:t>
            </a:r>
            <a:r>
              <a:rPr lang="en-US" altLang="zh-CN" sz="2400">
                <a:solidFill>
                  <a:srgbClr val="0000FF"/>
                </a:solidFill>
                <a:latin typeface="Arial" panose="020B0604020202020204" pitchFamily="34" charset="0"/>
                <a:ea typeface="楷体_GB2312" pitchFamily="49" charset="-122"/>
                <a:cs typeface="Arial" panose="020B0604020202020204" pitchFamily="34" charset="0"/>
                <a:sym typeface="+mn-ea"/>
              </a:rPr>
              <a:t>log</a:t>
            </a:r>
            <a:r>
              <a:rPr lang="en-US" altLang="zh-CN" sz="2400" baseline="-25000">
                <a:solidFill>
                  <a:srgbClr val="0000FF"/>
                </a:solidFill>
                <a:latin typeface="Arial" panose="020B0604020202020204" pitchFamily="34" charset="0"/>
                <a:ea typeface="楷体_GB2312" pitchFamily="49" charset="-122"/>
                <a:cs typeface="Arial" panose="020B0604020202020204" pitchFamily="34" charset="0"/>
                <a:sym typeface="+mn-ea"/>
              </a:rPr>
              <a:t>2</a:t>
            </a:r>
            <a:r>
              <a:rPr lang="en-US" altLang="zh-CN" sz="2400" i="1">
                <a:solidFill>
                  <a:srgbClr val="0000FF"/>
                </a:solidFill>
                <a:latin typeface="Arial" panose="020B0604020202020204" pitchFamily="34" charset="0"/>
                <a:ea typeface="楷体_GB2312" pitchFamily="49" charset="-122"/>
                <a:cs typeface="Arial" panose="020B0604020202020204" pitchFamily="34" charset="0"/>
                <a:sym typeface="+mn-ea"/>
              </a:rPr>
              <a:t>n</a:t>
            </a:r>
            <a:r>
              <a:rPr lang="en-US" altLang="zh-CN" sz="2400">
                <a:solidFill>
                  <a:srgbClr val="0000FF"/>
                </a:solidFill>
                <a:latin typeface="Arial" panose="020B0604020202020204" pitchFamily="34" charset="0"/>
                <a:ea typeface="楷体_GB2312" pitchFamily="49" charset="-122"/>
                <a:cs typeface="Arial" panose="020B0604020202020204" pitchFamily="34" charset="0"/>
                <a:sym typeface="Symbol" panose="05050102010706020507" pitchFamily="18" charset="2"/>
              </a:rPr>
              <a:t></a:t>
            </a:r>
            <a:r>
              <a:rPr lang="zh-CN" altLang="en-US" sz="2400">
                <a:latin typeface="Arial" panose="020B0604020202020204" pitchFamily="34" charset="0"/>
                <a:ea typeface="楷体_GB2312" pitchFamily="49" charset="-122"/>
                <a:cs typeface="Arial" panose="020B0604020202020204" pitchFamily="34" charset="0"/>
                <a:sym typeface="+mn-ea"/>
              </a:rPr>
              <a:t> trips are required.</a:t>
            </a:r>
            <a:endParaRPr lang="zh-CN" altLang="en-US" sz="2400">
              <a:latin typeface="Arial" panose="020B0604020202020204" pitchFamily="34" charset="0"/>
              <a:ea typeface="楷体_GB2312" pitchFamily="49" charset="-122"/>
              <a:cs typeface="Arial" panose="020B0604020202020204" pitchFamily="34" charset="0"/>
            </a:endParaRPr>
          </a:p>
          <a:p>
            <a:pPr>
              <a:lnSpc>
                <a:spcPct val="125000"/>
              </a:lnSpc>
            </a:pPr>
            <a:r>
              <a:rPr lang="zh-CN" altLang="en-US" sz="2400">
                <a:latin typeface="Arial" panose="020B0604020202020204" pitchFamily="34" charset="0"/>
                <a:ea typeface="楷体_GB2312" pitchFamily="49" charset="-122"/>
                <a:cs typeface="Arial" panose="020B0604020202020204" pitchFamily="34" charset="0"/>
                <a:sym typeface="+mn-ea"/>
              </a:rPr>
              <a:t>The time complexity of merge sort for n records is</a:t>
            </a:r>
            <a:endParaRPr lang="zh-CN" altLang="en-US" sz="2400">
              <a:latin typeface="Arial" panose="020B0604020202020204" pitchFamily="34" charset="0"/>
              <a:ea typeface="楷体_GB2312" pitchFamily="49" charset="-122"/>
              <a:cs typeface="Arial" panose="020B0604020202020204" pitchFamily="34" charset="0"/>
            </a:endParaRPr>
          </a:p>
          <a:p>
            <a:pPr>
              <a:lnSpc>
                <a:spcPct val="125000"/>
              </a:lnSpc>
            </a:pPr>
            <a:r>
              <a:rPr lang="en-US" altLang="zh-CN" sz="2400" b="1">
                <a:solidFill>
                  <a:srgbClr val="9900CC"/>
                </a:solidFill>
                <a:latin typeface="Arial" panose="020B0604020202020204" pitchFamily="34" charset="0"/>
                <a:ea typeface="楷体_GB2312" pitchFamily="49" charset="-122"/>
                <a:cs typeface="Arial" panose="020B0604020202020204" pitchFamily="34" charset="0"/>
                <a:sym typeface="+mn-ea"/>
              </a:rPr>
              <a:t>Ο(</a:t>
            </a:r>
            <a:r>
              <a:rPr lang="en-US" altLang="zh-CN" sz="2400" b="1" i="1">
                <a:solidFill>
                  <a:srgbClr val="9900CC"/>
                </a:solidFill>
                <a:latin typeface="Arial" panose="020B0604020202020204" pitchFamily="34" charset="0"/>
                <a:ea typeface="楷体_GB2312" pitchFamily="49" charset="-122"/>
                <a:cs typeface="Arial" panose="020B0604020202020204" pitchFamily="34" charset="0"/>
                <a:sym typeface="+mn-ea"/>
              </a:rPr>
              <a:t>n</a:t>
            </a:r>
            <a:r>
              <a:rPr lang="en-US" altLang="zh-CN" sz="2400" b="1">
                <a:solidFill>
                  <a:srgbClr val="9900CC"/>
                </a:solidFill>
                <a:latin typeface="Arial" panose="020B0604020202020204" pitchFamily="34" charset="0"/>
                <a:ea typeface="楷体_GB2312" pitchFamily="49" charset="-122"/>
                <a:cs typeface="Arial" panose="020B0604020202020204" pitchFamily="34" charset="0"/>
                <a:sym typeface="+mn-ea"/>
              </a:rPr>
              <a:t>log</a:t>
            </a:r>
            <a:r>
              <a:rPr lang="en-US" altLang="zh-CN" sz="2400" b="1" i="1">
                <a:solidFill>
                  <a:srgbClr val="9900CC"/>
                </a:solidFill>
                <a:latin typeface="Arial" panose="020B0604020202020204" pitchFamily="34" charset="0"/>
                <a:ea typeface="楷体_GB2312" pitchFamily="49" charset="-122"/>
                <a:cs typeface="Arial" panose="020B0604020202020204" pitchFamily="34" charset="0"/>
                <a:sym typeface="+mn-ea"/>
              </a:rPr>
              <a:t>n</a:t>
            </a:r>
            <a:r>
              <a:rPr lang="en-US" altLang="zh-CN" sz="2400" b="1">
                <a:solidFill>
                  <a:srgbClr val="9900CC"/>
                </a:solidFill>
                <a:latin typeface="Arial" panose="020B0604020202020204" pitchFamily="34" charset="0"/>
                <a:ea typeface="楷体_GB2312" pitchFamily="49" charset="-122"/>
                <a:cs typeface="Arial" panose="020B0604020202020204" pitchFamily="34" charset="0"/>
                <a:sym typeface="+mn-ea"/>
              </a:rPr>
              <a:t>).</a:t>
            </a:r>
            <a:r>
              <a:rPr lang="zh-CN" altLang="en-US" sz="2400">
                <a:latin typeface="Arial" panose="020B0604020202020204" pitchFamily="34" charset="0"/>
                <a:ea typeface="楷体_GB2312" pitchFamily="49" charset="-122"/>
                <a:cs typeface="Arial" panose="020B0604020202020204" pitchFamily="34" charset="0"/>
                <a:sym typeface="+mn-ea"/>
              </a:rPr>
              <a:t> The space complexity is </a:t>
            </a:r>
            <a:r>
              <a:rPr lang="en-US" altLang="zh-CN" sz="2400">
                <a:solidFill>
                  <a:srgbClr val="0000FF"/>
                </a:solidFill>
                <a:latin typeface="Arial" panose="020B0604020202020204" pitchFamily="34" charset="0"/>
                <a:ea typeface="楷体_GB2312" pitchFamily="49" charset="-122"/>
                <a:cs typeface="Arial" panose="020B0604020202020204" pitchFamily="34" charset="0"/>
                <a:sym typeface="+mn-ea"/>
              </a:rPr>
              <a:t>O(</a:t>
            </a:r>
            <a:r>
              <a:rPr lang="en-US" altLang="zh-CN" sz="2400" i="1">
                <a:solidFill>
                  <a:srgbClr val="0000FF"/>
                </a:solidFill>
                <a:latin typeface="Arial" panose="020B0604020202020204" pitchFamily="34" charset="0"/>
                <a:ea typeface="楷体_GB2312" pitchFamily="49" charset="-122"/>
                <a:cs typeface="Arial" panose="020B0604020202020204" pitchFamily="34" charset="0"/>
                <a:sym typeface="+mn-ea"/>
              </a:rPr>
              <a:t>n</a:t>
            </a:r>
            <a:r>
              <a:rPr lang="en-US" altLang="zh-CN" sz="2400">
                <a:solidFill>
                  <a:srgbClr val="0000FF"/>
                </a:solidFill>
                <a:latin typeface="Arial" panose="020B0604020202020204" pitchFamily="34" charset="0"/>
                <a:ea typeface="楷体_GB2312" pitchFamily="49" charset="-122"/>
                <a:cs typeface="Arial" panose="020B0604020202020204" pitchFamily="34" charset="0"/>
                <a:sym typeface="+mn-ea"/>
              </a:rPr>
              <a:t>)</a:t>
            </a:r>
            <a:r>
              <a:rPr lang="zh-CN" altLang="en-US" sz="2400">
                <a:latin typeface="Arial" panose="020B0604020202020204" pitchFamily="34" charset="0"/>
                <a:ea typeface="楷体_GB2312" pitchFamily="49" charset="-122"/>
                <a:cs typeface="Arial" panose="020B0604020202020204" pitchFamily="34" charset="0"/>
                <a:sym typeface="+mn-ea"/>
              </a:rPr>
              <a:t>.</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104</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6258"/>
                                        </p:tgtEl>
                                        <p:attrNameLst>
                                          <p:attrName>style.visibility</p:attrName>
                                        </p:attrNameLst>
                                      </p:cBhvr>
                                      <p:to>
                                        <p:strVal val="visible"/>
                                      </p:to>
                                    </p:set>
                                    <p:animEffect transition="in" filter="wipe(up)">
                                      <p:cBhvr>
                                        <p:cTn id="7" dur="500"/>
                                        <p:tgtEl>
                                          <p:spTgt spid="9625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6259">
                                            <p:txEl>
                                              <p:pRg st="0" end="0"/>
                                            </p:txEl>
                                          </p:spTgt>
                                        </p:tgtEl>
                                        <p:attrNameLst>
                                          <p:attrName>style.visibility</p:attrName>
                                        </p:attrNameLst>
                                      </p:cBhvr>
                                      <p:to>
                                        <p:strVal val="visible"/>
                                      </p:to>
                                    </p:set>
                                    <p:animEffect transition="in" filter="wipe(left)">
                                      <p:cBhvr>
                                        <p:cTn id="12" dur="500"/>
                                        <p:tgtEl>
                                          <p:spTgt spid="9625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6259">
                                            <p:txEl>
                                              <p:pRg st="1" end="1"/>
                                            </p:txEl>
                                          </p:spTgt>
                                        </p:tgtEl>
                                        <p:attrNameLst>
                                          <p:attrName>style.visibility</p:attrName>
                                        </p:attrNameLst>
                                      </p:cBhvr>
                                      <p:to>
                                        <p:strVal val="visible"/>
                                      </p:to>
                                    </p:set>
                                    <p:animEffect transition="in" filter="wipe(left)">
                                      <p:cBhvr>
                                        <p:cTn id="17" dur="500"/>
                                        <p:tgtEl>
                                          <p:spTgt spid="9625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6259">
                                            <p:txEl>
                                              <p:pRg st="2" end="2"/>
                                            </p:txEl>
                                          </p:spTgt>
                                        </p:tgtEl>
                                        <p:attrNameLst>
                                          <p:attrName>style.visibility</p:attrName>
                                        </p:attrNameLst>
                                      </p:cBhvr>
                                      <p:to>
                                        <p:strVal val="visible"/>
                                      </p:to>
                                    </p:set>
                                    <p:animEffect transition="in" filter="wipe(left)">
                                      <p:cBhvr>
                                        <p:cTn id="22" dur="500"/>
                                        <p:tgtEl>
                                          <p:spTgt spid="96259">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6259">
                                            <p:txEl>
                                              <p:pRg st="3" end="3"/>
                                            </p:txEl>
                                          </p:spTgt>
                                        </p:tgtEl>
                                        <p:attrNameLst>
                                          <p:attrName>style.visibility</p:attrName>
                                        </p:attrNameLst>
                                      </p:cBhvr>
                                      <p:to>
                                        <p:strVal val="visible"/>
                                      </p:to>
                                    </p:set>
                                    <p:animEffect transition="in" filter="wipe(left)">
                                      <p:cBhvr>
                                        <p:cTn id="27" dur="500"/>
                                        <p:tgtEl>
                                          <p:spTgt spid="9625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8" grpId="0" bldLvl="0" animBg="1" autoUpdateAnimBg="0"/>
      <p:bldP spid="96259" grpId="0" build="p" autoUpdateAnimBg="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0" y="116632"/>
            <a:ext cx="7200800" cy="720080"/>
          </a:xfrm>
        </p:spPr>
        <p:txBody>
          <a:bodyPr/>
          <a:lstStyle/>
          <a:p>
            <a:r>
              <a:rPr altLang="zh-CN">
                <a:effectLst/>
                <a:sym typeface="+mn-ea"/>
              </a:rPr>
              <a:t>Chapter Contents</a:t>
            </a:r>
            <a:endParaRPr lang="zh-CN" altLang="en-US" dirty="0">
              <a:ea typeface="宋体" panose="02010600030101010101" pitchFamily="2" charset="-122"/>
              <a:cs typeface="Arial" panose="020B0604020202020204" pitchFamily="34" charset="0"/>
            </a:endParaRPr>
          </a:p>
        </p:txBody>
      </p:sp>
      <p:sp>
        <p:nvSpPr>
          <p:cNvPr id="3" name="内容占位符 2"/>
          <p:cNvSpPr>
            <a:spLocks noGrp="1"/>
          </p:cNvSpPr>
          <p:nvPr>
            <p:ph idx="1"/>
          </p:nvPr>
        </p:nvSpPr>
        <p:spPr>
          <a:xfrm>
            <a:off x="251520" y="836712"/>
            <a:ext cx="8640960" cy="5544616"/>
          </a:xfrm>
        </p:spPr>
        <p:txBody>
          <a:bodyPr/>
          <a:lstStyle/>
          <a:p>
            <a:r>
              <a:rPr lang="en-US" altLang="zh-CN" b="1" dirty="0">
                <a:cs typeface="Arial" panose="020B0604020202020204" pitchFamily="34" charset="0"/>
              </a:rPr>
              <a:t>I</a:t>
            </a:r>
            <a:r>
              <a:rPr lang="zh-CN" altLang="en-US" b="1" dirty="0">
                <a:cs typeface="Arial" panose="020B0604020202020204" pitchFamily="34" charset="0"/>
              </a:rPr>
              <a:t>nsertion </a:t>
            </a:r>
            <a:r>
              <a:rPr lang="en-US" altLang="zh-CN" b="1" dirty="0">
                <a:cs typeface="Arial" panose="020B0604020202020204" pitchFamily="34" charset="0"/>
              </a:rPr>
              <a:t>S</a:t>
            </a:r>
            <a:r>
              <a:rPr lang="zh-CN" altLang="en-US" b="1" dirty="0">
                <a:cs typeface="Arial" panose="020B0604020202020204" pitchFamily="34" charset="0"/>
              </a:rPr>
              <a:t>ort</a:t>
            </a:r>
            <a:endParaRPr lang="en-US" altLang="zh-CN" b="1" dirty="0">
              <a:cs typeface="Arial" panose="020B0604020202020204" pitchFamily="34" charset="0"/>
            </a:endParaRPr>
          </a:p>
          <a:p>
            <a:r>
              <a:rPr lang="zh-CN" altLang="en-US" b="1" dirty="0">
                <a:cs typeface="Arial" panose="020B0604020202020204" pitchFamily="34" charset="0"/>
              </a:rPr>
              <a:t>Exchange </a:t>
            </a:r>
            <a:r>
              <a:rPr lang="en-US" altLang="zh-CN" b="1" dirty="0">
                <a:cs typeface="Arial" panose="020B0604020202020204" pitchFamily="34" charset="0"/>
              </a:rPr>
              <a:t>S</a:t>
            </a:r>
            <a:r>
              <a:rPr lang="zh-CN" altLang="en-US" b="1" dirty="0">
                <a:cs typeface="Arial" panose="020B0604020202020204" pitchFamily="34" charset="0"/>
              </a:rPr>
              <a:t>ort </a:t>
            </a:r>
            <a:r>
              <a:rPr lang="en-US" altLang="zh-CN" b="1" dirty="0">
                <a:cs typeface="Arial" panose="020B0604020202020204" pitchFamily="34" charset="0"/>
              </a:rPr>
              <a:t> </a:t>
            </a:r>
          </a:p>
          <a:p>
            <a:r>
              <a:rPr lang="en-US" altLang="zh-CN" b="1" dirty="0">
                <a:cs typeface="Arial" panose="020B0604020202020204" pitchFamily="34" charset="0"/>
              </a:rPr>
              <a:t>Selection Sort</a:t>
            </a:r>
            <a:r>
              <a:rPr lang="zh-CN" altLang="en-US" b="1" dirty="0">
                <a:cs typeface="Arial" panose="020B0604020202020204" pitchFamily="34" charset="0"/>
              </a:rPr>
              <a:t> </a:t>
            </a:r>
            <a:r>
              <a:rPr lang="en-US" altLang="zh-CN" b="1" dirty="0">
                <a:cs typeface="Arial" panose="020B0604020202020204" pitchFamily="34" charset="0"/>
              </a:rPr>
              <a:t> </a:t>
            </a:r>
          </a:p>
          <a:p>
            <a:r>
              <a:rPr lang="en-US" altLang="zh-CN" b="1" dirty="0">
                <a:cs typeface="Arial" panose="020B0604020202020204" pitchFamily="34" charset="0"/>
              </a:rPr>
              <a:t>M</a:t>
            </a:r>
            <a:r>
              <a:rPr lang="zh-CN" altLang="en-US" b="1" dirty="0">
                <a:cs typeface="Arial" panose="020B0604020202020204" pitchFamily="34" charset="0"/>
              </a:rPr>
              <a:t>erge </a:t>
            </a:r>
            <a:r>
              <a:rPr lang="en-US" altLang="zh-CN" b="1" dirty="0">
                <a:cs typeface="Arial" panose="020B0604020202020204" pitchFamily="34" charset="0"/>
              </a:rPr>
              <a:t>S</a:t>
            </a:r>
            <a:r>
              <a:rPr lang="zh-CN" altLang="en-US" b="1" dirty="0">
                <a:cs typeface="Arial" panose="020B0604020202020204" pitchFamily="34" charset="0"/>
              </a:rPr>
              <a:t>ort</a:t>
            </a:r>
            <a:endParaRPr lang="en-US" altLang="zh-CN" b="1" dirty="0">
              <a:cs typeface="Arial" panose="020B0604020202020204" pitchFamily="34" charset="0"/>
            </a:endParaRPr>
          </a:p>
          <a:p>
            <a:r>
              <a:rPr lang="en-US" altLang="zh-CN" b="1" dirty="0">
                <a:solidFill>
                  <a:srgbClr val="FF0000"/>
                </a:solidFill>
                <a:cs typeface="Arial" panose="020B0604020202020204" pitchFamily="34" charset="0"/>
              </a:rPr>
              <a:t>R</a:t>
            </a:r>
            <a:r>
              <a:rPr lang="zh-CN" altLang="en-US" b="1" dirty="0">
                <a:solidFill>
                  <a:srgbClr val="FF0000"/>
                </a:solidFill>
                <a:cs typeface="Arial" panose="020B0604020202020204" pitchFamily="34" charset="0"/>
              </a:rPr>
              <a:t>adix </a:t>
            </a:r>
            <a:r>
              <a:rPr lang="en-US" altLang="zh-CN" b="1" dirty="0">
                <a:solidFill>
                  <a:srgbClr val="FF0000"/>
                </a:solidFill>
                <a:cs typeface="Arial" panose="020B0604020202020204" pitchFamily="34" charset="0"/>
              </a:rPr>
              <a:t>S</a:t>
            </a:r>
            <a:r>
              <a:rPr lang="zh-CN" altLang="en-US" b="1" dirty="0">
                <a:solidFill>
                  <a:srgbClr val="FF0000"/>
                </a:solidFill>
                <a:cs typeface="Arial" panose="020B0604020202020204" pitchFamily="34" charset="0"/>
              </a:rPr>
              <a:t>orting</a:t>
            </a:r>
            <a:endParaRPr lang="en-US" altLang="zh-CN" b="1" dirty="0">
              <a:solidFill>
                <a:srgbClr val="FF0000"/>
              </a:solidFill>
              <a:cs typeface="Arial" panose="020B0604020202020204" pitchFamily="34" charset="0"/>
            </a:endParaRPr>
          </a:p>
          <a:p>
            <a:r>
              <a:rPr lang="zh-CN" altLang="en-US" dirty="0">
                <a:cs typeface="Arial" panose="020B0604020202020204" pitchFamily="34" charset="0"/>
              </a:rPr>
              <a:t>A Comprehensive Comparison of Various Sorting Methods</a:t>
            </a:r>
            <a:endParaRPr lang="en-US" altLang="zh-CN" dirty="0">
              <a:cs typeface="Arial" panose="020B0604020202020204" pitchFamily="34" charset="0"/>
            </a:endParaRPr>
          </a:p>
          <a:p>
            <a:r>
              <a:rPr lang="en-US" altLang="zh-CN" dirty="0">
                <a:cs typeface="Arial" panose="020B0604020202020204" pitchFamily="34" charset="0"/>
              </a:rPr>
              <a:t>E</a:t>
            </a:r>
            <a:r>
              <a:rPr lang="zh-CN" altLang="en-US" dirty="0">
                <a:cs typeface="Arial" panose="020B0604020202020204" pitchFamily="34" charset="0"/>
              </a:rPr>
              <a:t>xternal </a:t>
            </a:r>
            <a:r>
              <a:rPr lang="en-US" altLang="zh-CN" dirty="0">
                <a:cs typeface="Arial" panose="020B0604020202020204" pitchFamily="34" charset="0"/>
              </a:rPr>
              <a:t>S</a:t>
            </a:r>
            <a:r>
              <a:rPr lang="zh-CN" altLang="en-US" dirty="0">
                <a:cs typeface="Arial" panose="020B0604020202020204" pitchFamily="34" charset="0"/>
              </a:rPr>
              <a:t>ort</a:t>
            </a:r>
          </a:p>
        </p:txBody>
      </p:sp>
      <p:sp>
        <p:nvSpPr>
          <p:cNvPr id="4" name="页脚占位符 3"/>
          <p:cNvSpPr>
            <a:spLocks noGrp="1"/>
          </p:cNvSpPr>
          <p:nvPr>
            <p:ph type="ftr" sz="quarter" idx="10"/>
          </p:nvPr>
        </p:nvSpPr>
        <p:spPr/>
        <p:txBody>
          <a:bodyPr/>
          <a:lstStyle/>
          <a:p>
            <a:pPr>
              <a:defRPr/>
            </a:pPr>
            <a:r>
              <a:rPr lang="en-US" altLang="zh-CN"/>
              <a:t>@ Zhihai Wang, 2025</a:t>
            </a:r>
            <a:endParaRPr lang="en-US" altLang="zh-CN" dirty="0"/>
          </a:p>
        </p:txBody>
      </p:sp>
      <p:sp>
        <p:nvSpPr>
          <p:cNvPr id="5" name="灯片编号占位符 4"/>
          <p:cNvSpPr>
            <a:spLocks noGrp="1"/>
          </p:cNvSpPr>
          <p:nvPr>
            <p:ph type="sldNum" sz="quarter" idx="11"/>
          </p:nvPr>
        </p:nvSpPr>
        <p:spPr/>
        <p:txBody>
          <a:bodyPr/>
          <a:lstStyle/>
          <a:p>
            <a:pPr>
              <a:defRPr/>
            </a:pPr>
            <a:fld id="{B40C3BFD-24D0-4966-81A9-4BDD3454C069}" type="slidenum">
              <a:rPr lang="en-US" altLang="zh-CN" smtClean="0"/>
              <a:t>105</a:t>
            </a:fld>
            <a:endParaRPr lang="en-US" altLang="zh-CN"/>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ext Box 2"/>
          <p:cNvSpPr txBox="1">
            <a:spLocks noChangeArrowheads="1"/>
          </p:cNvSpPr>
          <p:nvPr/>
        </p:nvSpPr>
        <p:spPr bwMode="auto">
          <a:xfrm>
            <a:off x="457200" y="1219200"/>
            <a:ext cx="8686800" cy="26377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pPr>
            <a:r>
              <a:rPr lang="zh-CN" altLang="en-US" sz="2400" b="1">
                <a:solidFill>
                  <a:srgbClr val="993300"/>
                </a:solidFill>
                <a:latin typeface="Arial" panose="020B0604020202020204" pitchFamily="34" charset="0"/>
                <a:ea typeface="楷体_GB2312" pitchFamily="49" charset="-122"/>
                <a:cs typeface="Arial" panose="020B0604020202020204" pitchFamily="34" charset="0"/>
              </a:rPr>
              <a:t>Radix sort</a:t>
            </a:r>
            <a:r>
              <a:rPr lang="en-US" altLang="zh-CN" sz="2400">
                <a:latin typeface="Arial" panose="020B0604020202020204" pitchFamily="34" charset="0"/>
                <a:ea typeface="楷体_GB2312" pitchFamily="49" charset="-122"/>
                <a:cs typeface="Arial" panose="020B0604020202020204" pitchFamily="34" charset="0"/>
              </a:rPr>
              <a:t> is an internal sorting algorithm that implements "</a:t>
            </a:r>
            <a:r>
              <a:rPr lang="en-US" altLang="zh-CN" sz="2400" u="sng">
                <a:latin typeface="Arial" panose="020B0604020202020204" pitchFamily="34" charset="0"/>
                <a:ea typeface="楷体_GB2312" pitchFamily="49" charset="-122"/>
                <a:cs typeface="Arial" panose="020B0604020202020204" pitchFamily="34" charset="0"/>
              </a:rPr>
              <a:t>single-key sorting</a:t>
            </a:r>
            <a:r>
              <a:rPr lang="en-US" altLang="zh-CN" sz="2400">
                <a:latin typeface="Arial" panose="020B0604020202020204" pitchFamily="34" charset="0"/>
                <a:ea typeface="楷体_GB2312" pitchFamily="49" charset="-122"/>
                <a:cs typeface="Arial" panose="020B0604020202020204" pitchFamily="34" charset="0"/>
              </a:rPr>
              <a:t>" by leveraging the idea of "multi-key sorting". Radix sort </a:t>
            </a:r>
            <a:r>
              <a:rPr lang="zh-CN" altLang="en-US" sz="2400" b="1">
                <a:solidFill>
                  <a:srgbClr val="993300"/>
                </a:solidFill>
                <a:latin typeface="Arial" panose="020B0604020202020204" pitchFamily="34" charset="0"/>
                <a:ea typeface="楷体_GB2312" pitchFamily="49" charset="-122"/>
                <a:cs typeface="Arial" panose="020B0604020202020204" pitchFamily="34" charset="0"/>
              </a:rPr>
              <a:t>does NOT require key comparisons</a:t>
            </a:r>
            <a:r>
              <a:rPr lang="en-US" altLang="zh-CN" sz="2400">
                <a:latin typeface="Arial" panose="020B0604020202020204" pitchFamily="34" charset="0"/>
                <a:ea typeface="楷体_GB2312" pitchFamily="49" charset="-122"/>
                <a:cs typeface="Arial" panose="020B0604020202020204" pitchFamily="34" charset="0"/>
              </a:rPr>
              <a:t>.</a:t>
            </a:r>
          </a:p>
          <a:p>
            <a:pPr>
              <a:lnSpc>
                <a:spcPct val="115000"/>
              </a:lnSpc>
            </a:pPr>
            <a:endParaRPr lang="en-US" altLang="zh-CN" sz="2400">
              <a:latin typeface="Arial" panose="020B0604020202020204" pitchFamily="34" charset="0"/>
              <a:ea typeface="楷体_GB2312" pitchFamily="49" charset="-122"/>
              <a:cs typeface="Arial" panose="020B0604020202020204" pitchFamily="34" charset="0"/>
            </a:endParaRPr>
          </a:p>
          <a:p>
            <a:pPr>
              <a:lnSpc>
                <a:spcPct val="115000"/>
              </a:lnSpc>
            </a:pPr>
            <a:r>
              <a:rPr lang="en-US" altLang="zh-CN" sz="2400">
                <a:latin typeface="Arial" panose="020B0604020202020204" pitchFamily="34" charset="0"/>
                <a:ea typeface="楷体_GB2312" pitchFamily="49" charset="-122"/>
                <a:cs typeface="Arial" panose="020B0604020202020204" pitchFamily="34" charset="0"/>
              </a:rPr>
              <a:t>Previous sorting methods are implemented through </a:t>
            </a:r>
            <a:r>
              <a:rPr lang="zh-CN" altLang="en-US" sz="2400" b="1">
                <a:solidFill>
                  <a:srgbClr val="993300"/>
                </a:solidFill>
                <a:latin typeface="Arial" panose="020B0604020202020204" pitchFamily="34" charset="0"/>
                <a:ea typeface="楷体_GB2312" pitchFamily="49" charset="-122"/>
                <a:cs typeface="Arial" panose="020B0604020202020204" pitchFamily="34" charset="0"/>
              </a:rPr>
              <a:t>two operations: key comparison and record movement</a:t>
            </a:r>
            <a:r>
              <a:rPr lang="en-US" altLang="zh-CN" sz="2400">
                <a:latin typeface="Arial" panose="020B0604020202020204" pitchFamily="34" charset="0"/>
                <a:ea typeface="楷体_GB2312" pitchFamily="49" charset="-122"/>
                <a:cs typeface="Arial" panose="020B0604020202020204" pitchFamily="34" charset="0"/>
              </a:rPr>
              <a:t>.</a:t>
            </a:r>
          </a:p>
        </p:txBody>
      </p:sp>
      <p:sp>
        <p:nvSpPr>
          <p:cNvPr id="97283" name="Text Box 3"/>
          <p:cNvSpPr txBox="1">
            <a:spLocks noChangeArrowheads="1"/>
          </p:cNvSpPr>
          <p:nvPr/>
        </p:nvSpPr>
        <p:spPr bwMode="auto">
          <a:xfrm>
            <a:off x="2667000" y="4708525"/>
            <a:ext cx="439801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rgbClr val="993300"/>
                </a:solidFill>
                <a:latin typeface="Arial" panose="020B0604020202020204" pitchFamily="34" charset="0"/>
                <a:ea typeface="隶书" panose="02010509060101010101" pitchFamily="49" charset="-122"/>
                <a:cs typeface="Arial" panose="020B0604020202020204" pitchFamily="34" charset="0"/>
              </a:rPr>
              <a:t>sorting by multiple keywords</a:t>
            </a:r>
          </a:p>
        </p:txBody>
      </p:sp>
      <p:sp>
        <p:nvSpPr>
          <p:cNvPr id="97284" name="Text Box 4"/>
          <p:cNvSpPr txBox="1">
            <a:spLocks noChangeArrowheads="1"/>
          </p:cNvSpPr>
          <p:nvPr/>
        </p:nvSpPr>
        <p:spPr bwMode="auto">
          <a:xfrm>
            <a:off x="2743200" y="5408613"/>
            <a:ext cx="245173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rgbClr val="993300"/>
                </a:solidFill>
                <a:latin typeface="Arial" panose="020B0604020202020204" pitchFamily="34" charset="0"/>
                <a:ea typeface="隶书" panose="02010509060101010101" pitchFamily="49" charset="-122"/>
                <a:cs typeface="Arial" panose="020B0604020202020204" pitchFamily="34" charset="0"/>
              </a:rPr>
              <a:t>chain radix sort</a:t>
            </a:r>
          </a:p>
        </p:txBody>
      </p:sp>
      <p:pic>
        <p:nvPicPr>
          <p:cNvPr id="97285" name="Picture 5" descr="Metallic Orb">
            <a:hlinkClick r:id="" action="ppaction://hlinkshowjump?jump=nextslide" highlightClick="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4876800"/>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97286" name="Picture 6" descr="Metallic Orb">
            <a:hlinkClick r:id="rId3" action="ppaction://hlinksldjump" highlightClick="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5576888"/>
            <a:ext cx="381000" cy="381000"/>
          </a:xfrm>
          <a:prstGeom prst="rect">
            <a:avLst/>
          </a:prstGeom>
          <a:noFill/>
          <a:extLst>
            <a:ext uri="{909E8E84-426E-40DD-AFC4-6F175D3DCCD1}">
              <a14:hiddenFill xmlns:a14="http://schemas.microsoft.com/office/drawing/2010/main">
                <a:solidFill>
                  <a:srgbClr val="FFFFFF"/>
                </a:solidFill>
              </a14:hiddenFill>
            </a:ext>
          </a:extLst>
        </p:spPr>
      </p:pic>
      <p:sp>
        <p:nvSpPr>
          <p:cNvPr id="97287" name="Text Box 7"/>
          <p:cNvSpPr txBox="1">
            <a:spLocks noChangeArrowheads="1"/>
          </p:cNvSpPr>
          <p:nvPr/>
        </p:nvSpPr>
        <p:spPr bwMode="auto">
          <a:xfrm>
            <a:off x="1835785" y="260350"/>
            <a:ext cx="4587875" cy="829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4800" b="1">
                <a:solidFill>
                  <a:srgbClr val="0000FF"/>
                </a:solidFill>
                <a:latin typeface="Arial" panose="020B0604020202020204" pitchFamily="34" charset="0"/>
                <a:ea typeface="楷体_GB2312" pitchFamily="49" charset="-122"/>
                <a:cs typeface="Arial" panose="020B0604020202020204" pitchFamily="34" charset="0"/>
              </a:rPr>
              <a:t>10.6 Radix Sort</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106</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97282"/>
                                        </p:tgtEl>
                                        <p:attrNameLst>
                                          <p:attrName>style.visibility</p:attrName>
                                        </p:attrNameLst>
                                      </p:cBhvr>
                                      <p:to>
                                        <p:strVal val="visible"/>
                                      </p:to>
                                    </p:set>
                                    <p:animEffect transition="in" filter="barn(outVertical)">
                                      <p:cBhvr>
                                        <p:cTn id="7" dur="500"/>
                                        <p:tgtEl>
                                          <p:spTgt spid="9728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12" fill="hold" grpId="0" nodeType="clickEffect">
                                  <p:stCondLst>
                                    <p:cond delay="0"/>
                                  </p:stCondLst>
                                  <p:childTnLst>
                                    <p:set>
                                      <p:cBhvr>
                                        <p:cTn id="11" dur="1" fill="hold">
                                          <p:stCondLst>
                                            <p:cond delay="0"/>
                                          </p:stCondLst>
                                        </p:cTn>
                                        <p:tgtEl>
                                          <p:spTgt spid="97283"/>
                                        </p:tgtEl>
                                        <p:attrNameLst>
                                          <p:attrName>style.visibility</p:attrName>
                                        </p:attrNameLst>
                                      </p:cBhvr>
                                      <p:to>
                                        <p:strVal val="visible"/>
                                      </p:to>
                                    </p:set>
                                    <p:anim calcmode="lin" valueType="num">
                                      <p:cBhvr additive="base">
                                        <p:cTn id="12" dur="500" fill="hold"/>
                                        <p:tgtEl>
                                          <p:spTgt spid="97283"/>
                                        </p:tgtEl>
                                        <p:attrNameLst>
                                          <p:attrName>ppt_x</p:attrName>
                                        </p:attrNameLst>
                                      </p:cBhvr>
                                      <p:tavLst>
                                        <p:tav tm="0">
                                          <p:val>
                                            <p:strVal val="0-#ppt_w/2"/>
                                          </p:val>
                                        </p:tav>
                                        <p:tav tm="100000">
                                          <p:val>
                                            <p:strVal val="#ppt_x"/>
                                          </p:val>
                                        </p:tav>
                                      </p:tavLst>
                                    </p:anim>
                                    <p:anim calcmode="lin" valueType="num">
                                      <p:cBhvr additive="base">
                                        <p:cTn id="13" dur="500" fill="hold"/>
                                        <p:tgtEl>
                                          <p:spTgt spid="97283"/>
                                        </p:tgtEl>
                                        <p:attrNameLst>
                                          <p:attrName>ppt_y</p:attrName>
                                        </p:attrNameLst>
                                      </p:cBhvr>
                                      <p:tavLst>
                                        <p:tav tm="0">
                                          <p:val>
                                            <p:strVal val="1+#ppt_h/2"/>
                                          </p:val>
                                        </p:tav>
                                        <p:tav tm="100000">
                                          <p:val>
                                            <p:strVal val="#ppt_y"/>
                                          </p:val>
                                        </p:tav>
                                      </p:tavLst>
                                    </p:anim>
                                  </p:childTnLst>
                                </p:cTn>
                              </p:par>
                            </p:childTnLst>
                          </p:cTn>
                        </p:par>
                        <p:par>
                          <p:cTn id="14" fill="hold">
                            <p:stCondLst>
                              <p:cond delay="500"/>
                            </p:stCondLst>
                            <p:childTnLst>
                              <p:par>
                                <p:cTn id="15" presetID="1" presetClass="entr" presetSubtype="0" fill="hold" nodeType="afterEffect">
                                  <p:stCondLst>
                                    <p:cond delay="0"/>
                                  </p:stCondLst>
                                  <p:childTnLst>
                                    <p:set>
                                      <p:cBhvr>
                                        <p:cTn id="16" dur="1" fill="hold">
                                          <p:stCondLst>
                                            <p:cond delay="499"/>
                                          </p:stCondLst>
                                        </p:cTn>
                                        <p:tgtEl>
                                          <p:spTgt spid="97285"/>
                                        </p:tgtEl>
                                        <p:attrNameLst>
                                          <p:attrName>style.visibility</p:attrName>
                                        </p:attrNameLst>
                                      </p:cBhvr>
                                      <p:to>
                                        <p:strVal val="visible"/>
                                      </p:to>
                                    </p:set>
                                  </p:childTnLst>
                                </p:cTn>
                              </p:par>
                            </p:childTnLst>
                          </p:cTn>
                        </p:par>
                        <p:par>
                          <p:cTn id="17" fill="hold">
                            <p:stCondLst>
                              <p:cond delay="1000"/>
                            </p:stCondLst>
                            <p:childTnLst>
                              <p:par>
                                <p:cTn id="18" presetID="2" presetClass="entr" presetSubtype="12" fill="hold" grpId="0" nodeType="afterEffect">
                                  <p:stCondLst>
                                    <p:cond delay="0"/>
                                  </p:stCondLst>
                                  <p:childTnLst>
                                    <p:set>
                                      <p:cBhvr>
                                        <p:cTn id="19" dur="1" fill="hold">
                                          <p:stCondLst>
                                            <p:cond delay="0"/>
                                          </p:stCondLst>
                                        </p:cTn>
                                        <p:tgtEl>
                                          <p:spTgt spid="97284"/>
                                        </p:tgtEl>
                                        <p:attrNameLst>
                                          <p:attrName>style.visibility</p:attrName>
                                        </p:attrNameLst>
                                      </p:cBhvr>
                                      <p:to>
                                        <p:strVal val="visible"/>
                                      </p:to>
                                    </p:set>
                                    <p:anim calcmode="lin" valueType="num">
                                      <p:cBhvr additive="base">
                                        <p:cTn id="20" dur="500" fill="hold"/>
                                        <p:tgtEl>
                                          <p:spTgt spid="97284"/>
                                        </p:tgtEl>
                                        <p:attrNameLst>
                                          <p:attrName>ppt_x</p:attrName>
                                        </p:attrNameLst>
                                      </p:cBhvr>
                                      <p:tavLst>
                                        <p:tav tm="0">
                                          <p:val>
                                            <p:strVal val="0-#ppt_w/2"/>
                                          </p:val>
                                        </p:tav>
                                        <p:tav tm="100000">
                                          <p:val>
                                            <p:strVal val="#ppt_x"/>
                                          </p:val>
                                        </p:tav>
                                      </p:tavLst>
                                    </p:anim>
                                    <p:anim calcmode="lin" valueType="num">
                                      <p:cBhvr additive="base">
                                        <p:cTn id="21" dur="500" fill="hold"/>
                                        <p:tgtEl>
                                          <p:spTgt spid="97284"/>
                                        </p:tgtEl>
                                        <p:attrNameLst>
                                          <p:attrName>ppt_y</p:attrName>
                                        </p:attrNameLst>
                                      </p:cBhvr>
                                      <p:tavLst>
                                        <p:tav tm="0">
                                          <p:val>
                                            <p:strVal val="1+#ppt_h/2"/>
                                          </p:val>
                                        </p:tav>
                                        <p:tav tm="100000">
                                          <p:val>
                                            <p:strVal val="#ppt_y"/>
                                          </p:val>
                                        </p:tav>
                                      </p:tavLst>
                                    </p:anim>
                                  </p:childTnLst>
                                </p:cTn>
                              </p:par>
                            </p:childTnLst>
                          </p:cTn>
                        </p:par>
                        <p:par>
                          <p:cTn id="22" fill="hold">
                            <p:stCondLst>
                              <p:cond delay="1500"/>
                            </p:stCondLst>
                            <p:childTnLst>
                              <p:par>
                                <p:cTn id="23" presetID="1" presetClass="entr" presetSubtype="0" fill="hold" nodeType="afterEffect">
                                  <p:stCondLst>
                                    <p:cond delay="0"/>
                                  </p:stCondLst>
                                  <p:childTnLst>
                                    <p:set>
                                      <p:cBhvr>
                                        <p:cTn id="24" dur="1" fill="hold">
                                          <p:stCondLst>
                                            <p:cond delay="499"/>
                                          </p:stCondLst>
                                        </p:cTn>
                                        <p:tgtEl>
                                          <p:spTgt spid="972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2" grpId="0" bldLvl="0" animBg="1" autoUpdateAnimBg="0"/>
      <p:bldP spid="97283" grpId="0" bldLvl="0" animBg="1" autoUpdateAnimBg="0"/>
      <p:bldP spid="97284" grpId="0" bldLvl="0" animBg="1" autoUpdateAnimBg="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ext Box 2"/>
          <p:cNvSpPr txBox="1">
            <a:spLocks noChangeArrowheads="1"/>
          </p:cNvSpPr>
          <p:nvPr/>
        </p:nvSpPr>
        <p:spPr bwMode="auto">
          <a:xfrm>
            <a:off x="381000" y="365125"/>
            <a:ext cx="4475480"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3600" b="1">
                <a:solidFill>
                  <a:srgbClr val="993300"/>
                </a:solidFill>
                <a:latin typeface="Arial" panose="020B0604020202020204" pitchFamily="34" charset="0"/>
                <a:ea typeface="楷体_GB2312" pitchFamily="49" charset="-122"/>
                <a:cs typeface="Arial" panose="020B0604020202020204" pitchFamily="34" charset="0"/>
              </a:rPr>
              <a:t>1. </a:t>
            </a:r>
            <a:r>
              <a:rPr lang="en-US" altLang="zh-CN" sz="3600" b="1">
                <a:solidFill>
                  <a:srgbClr val="993300"/>
                </a:solidFill>
                <a:latin typeface="Arial" panose="020B0604020202020204" pitchFamily="34" charset="0"/>
                <a:ea typeface="楷体_GB2312" pitchFamily="49" charset="-122"/>
                <a:cs typeface="Arial" panose="020B0604020202020204" pitchFamily="34" charset="0"/>
              </a:rPr>
              <a:t>Multi-Key Sorting</a:t>
            </a:r>
          </a:p>
        </p:txBody>
      </p:sp>
      <p:sp>
        <p:nvSpPr>
          <p:cNvPr id="98307" name="Text Box 3"/>
          <p:cNvSpPr txBox="1">
            <a:spLocks noChangeArrowheads="1"/>
          </p:cNvSpPr>
          <p:nvPr/>
        </p:nvSpPr>
        <p:spPr bwMode="auto">
          <a:xfrm>
            <a:off x="609600" y="1150938"/>
            <a:ext cx="7467600" cy="1770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pPr>
            <a:r>
              <a:rPr lang="en-US" altLang="zh-CN" b="1" i="1">
                <a:solidFill>
                  <a:srgbClr val="000080"/>
                </a:solidFill>
                <a:latin typeface="Arial" panose="020B0604020202020204" pitchFamily="34" charset="0"/>
                <a:ea typeface="楷体_GB2312" pitchFamily="49" charset="-122"/>
                <a:cs typeface="Arial" panose="020B0604020202020204" pitchFamily="34" charset="0"/>
              </a:rPr>
              <a:t>a sequence of n records </a:t>
            </a:r>
            <a:r>
              <a:rPr lang="en-US" altLang="zh-CN" b="1">
                <a:solidFill>
                  <a:srgbClr val="000080"/>
                </a:solidFill>
                <a:latin typeface="Arial" panose="020B0604020202020204" pitchFamily="34" charset="0"/>
                <a:ea typeface="楷体_GB2312" pitchFamily="49" charset="-122"/>
                <a:cs typeface="Arial" panose="020B0604020202020204" pitchFamily="34" charset="0"/>
                <a:sym typeface="+mn-ea"/>
              </a:rPr>
              <a:t>{ R</a:t>
            </a:r>
            <a:r>
              <a:rPr lang="en-US" altLang="zh-CN" b="1" baseline="-25000">
                <a:solidFill>
                  <a:srgbClr val="000080"/>
                </a:solidFill>
                <a:latin typeface="Arial" panose="020B0604020202020204" pitchFamily="34" charset="0"/>
                <a:ea typeface="楷体_GB2312" pitchFamily="49" charset="-122"/>
                <a:cs typeface="Arial" panose="020B0604020202020204" pitchFamily="34" charset="0"/>
                <a:sym typeface="+mn-ea"/>
              </a:rPr>
              <a:t>1</a:t>
            </a:r>
            <a:r>
              <a:rPr lang="en-US" altLang="zh-CN" b="1">
                <a:solidFill>
                  <a:srgbClr val="000080"/>
                </a:solidFill>
                <a:latin typeface="Arial" panose="020B0604020202020204" pitchFamily="34" charset="0"/>
                <a:ea typeface="楷体_GB2312" pitchFamily="49" charset="-122"/>
                <a:cs typeface="Arial" panose="020B0604020202020204" pitchFamily="34" charset="0"/>
                <a:sym typeface="+mn-ea"/>
              </a:rPr>
              <a:t>, R</a:t>
            </a:r>
            <a:r>
              <a:rPr lang="en-US" altLang="zh-CN" b="1" baseline="-25000">
                <a:solidFill>
                  <a:srgbClr val="000080"/>
                </a:solidFill>
                <a:latin typeface="Arial" panose="020B0604020202020204" pitchFamily="34" charset="0"/>
                <a:ea typeface="楷体_GB2312" pitchFamily="49" charset="-122"/>
                <a:cs typeface="Arial" panose="020B0604020202020204" pitchFamily="34" charset="0"/>
                <a:sym typeface="+mn-ea"/>
              </a:rPr>
              <a:t>2</a:t>
            </a:r>
            <a:r>
              <a:rPr lang="en-US" altLang="zh-CN" b="1">
                <a:solidFill>
                  <a:srgbClr val="000080"/>
                </a:solidFill>
                <a:latin typeface="Arial" panose="020B0604020202020204" pitchFamily="34" charset="0"/>
                <a:ea typeface="楷体_GB2312" pitchFamily="49" charset="-122"/>
                <a:cs typeface="Arial" panose="020B0604020202020204" pitchFamily="34" charset="0"/>
                <a:sym typeface="+mn-ea"/>
              </a:rPr>
              <a:t>, …</a:t>
            </a:r>
            <a:r>
              <a:rPr lang="zh-CN" altLang="en-US" b="1">
                <a:solidFill>
                  <a:srgbClr val="000080"/>
                </a:solidFill>
                <a:latin typeface="Arial" panose="020B0604020202020204" pitchFamily="34" charset="0"/>
                <a:ea typeface="楷体_GB2312" pitchFamily="49" charset="-122"/>
                <a:cs typeface="Arial" panose="020B0604020202020204" pitchFamily="34" charset="0"/>
                <a:sym typeface="+mn-ea"/>
              </a:rPr>
              <a:t>，</a:t>
            </a:r>
            <a:r>
              <a:rPr lang="en-US" altLang="zh-CN" b="1">
                <a:solidFill>
                  <a:srgbClr val="000080"/>
                </a:solidFill>
                <a:latin typeface="Arial" panose="020B0604020202020204" pitchFamily="34" charset="0"/>
                <a:ea typeface="楷体_GB2312" pitchFamily="49" charset="-122"/>
                <a:cs typeface="Arial" panose="020B0604020202020204" pitchFamily="34" charset="0"/>
                <a:sym typeface="+mn-ea"/>
              </a:rPr>
              <a:t>R</a:t>
            </a:r>
            <a:r>
              <a:rPr lang="en-US" altLang="zh-CN" b="1" baseline="-25000">
                <a:solidFill>
                  <a:srgbClr val="000080"/>
                </a:solidFill>
                <a:latin typeface="Arial" panose="020B0604020202020204" pitchFamily="34" charset="0"/>
                <a:ea typeface="楷体_GB2312" pitchFamily="49" charset="-122"/>
                <a:cs typeface="Arial" panose="020B0604020202020204" pitchFamily="34" charset="0"/>
                <a:sym typeface="+mn-ea"/>
              </a:rPr>
              <a:t>n</a:t>
            </a:r>
            <a:r>
              <a:rPr lang="en-US" altLang="zh-CN" b="1">
                <a:solidFill>
                  <a:srgbClr val="000080"/>
                </a:solidFill>
                <a:latin typeface="Arial" panose="020B0604020202020204" pitchFamily="34" charset="0"/>
                <a:ea typeface="楷体_GB2312" pitchFamily="49" charset="-122"/>
                <a:cs typeface="Arial" panose="020B0604020202020204" pitchFamily="34" charset="0"/>
                <a:sym typeface="+mn-ea"/>
              </a:rPr>
              <a:t>}</a:t>
            </a:r>
            <a:endParaRPr lang="en-US" altLang="zh-CN" b="1">
              <a:solidFill>
                <a:srgbClr val="000080"/>
              </a:solidFill>
              <a:latin typeface="Arial" panose="020B0604020202020204" pitchFamily="34" charset="0"/>
              <a:ea typeface="楷体_GB2312" pitchFamily="49" charset="-122"/>
              <a:cs typeface="Arial" panose="020B0604020202020204" pitchFamily="34" charset="0"/>
            </a:endParaRPr>
          </a:p>
          <a:p>
            <a:pPr>
              <a:lnSpc>
                <a:spcPct val="130000"/>
              </a:lnSpc>
            </a:pPr>
            <a:r>
              <a:rPr lang="zh-CN" altLang="en-US" b="1">
                <a:solidFill>
                  <a:srgbClr val="000080"/>
                </a:solidFill>
                <a:latin typeface="Arial" panose="020B0604020202020204" pitchFamily="34" charset="0"/>
                <a:ea typeface="楷体_GB2312" pitchFamily="49" charset="-122"/>
                <a:cs typeface="Arial" panose="020B0604020202020204" pitchFamily="34" charset="0"/>
              </a:rPr>
              <a:t>The ordering of keywords </a:t>
            </a:r>
            <a:r>
              <a:rPr lang="en-US" altLang="zh-CN" b="1">
                <a:solidFill>
                  <a:srgbClr val="000080"/>
                </a:solidFill>
                <a:latin typeface="Arial" panose="020B0604020202020204" pitchFamily="34" charset="0"/>
                <a:ea typeface="楷体_GB2312" pitchFamily="49" charset="-122"/>
                <a:cs typeface="Arial" panose="020B0604020202020204" pitchFamily="34" charset="0"/>
                <a:sym typeface="+mn-ea"/>
              </a:rPr>
              <a:t>(K</a:t>
            </a:r>
            <a:r>
              <a:rPr lang="en-US" altLang="zh-CN" b="1" baseline="-25000">
                <a:solidFill>
                  <a:srgbClr val="000080"/>
                </a:solidFill>
                <a:latin typeface="Arial" panose="020B0604020202020204" pitchFamily="34" charset="0"/>
                <a:ea typeface="楷体_GB2312" pitchFamily="49" charset="-122"/>
                <a:cs typeface="Arial" panose="020B0604020202020204" pitchFamily="34" charset="0"/>
                <a:sym typeface="+mn-ea"/>
              </a:rPr>
              <a:t>i</a:t>
            </a:r>
            <a:r>
              <a:rPr lang="en-US" altLang="zh-CN" b="1" baseline="30000">
                <a:solidFill>
                  <a:srgbClr val="000080"/>
                </a:solidFill>
                <a:latin typeface="Arial" panose="020B0604020202020204" pitchFamily="34" charset="0"/>
                <a:ea typeface="楷体_GB2312" pitchFamily="49" charset="-122"/>
                <a:cs typeface="Arial" panose="020B0604020202020204" pitchFamily="34" charset="0"/>
                <a:sym typeface="+mn-ea"/>
              </a:rPr>
              <a:t>0</a:t>
            </a:r>
            <a:r>
              <a:rPr lang="en-US" altLang="zh-CN" b="1">
                <a:solidFill>
                  <a:srgbClr val="000080"/>
                </a:solidFill>
                <a:latin typeface="Arial" panose="020B0604020202020204" pitchFamily="34" charset="0"/>
                <a:ea typeface="楷体_GB2312" pitchFamily="49" charset="-122"/>
                <a:cs typeface="Arial" panose="020B0604020202020204" pitchFamily="34" charset="0"/>
                <a:sym typeface="+mn-ea"/>
              </a:rPr>
              <a:t>, K</a:t>
            </a:r>
            <a:r>
              <a:rPr lang="en-US" altLang="zh-CN" b="1" baseline="-25000">
                <a:solidFill>
                  <a:srgbClr val="000080"/>
                </a:solidFill>
                <a:latin typeface="Arial" panose="020B0604020202020204" pitchFamily="34" charset="0"/>
                <a:ea typeface="楷体_GB2312" pitchFamily="49" charset="-122"/>
                <a:cs typeface="Arial" panose="020B0604020202020204" pitchFamily="34" charset="0"/>
                <a:sym typeface="+mn-ea"/>
              </a:rPr>
              <a:t>i</a:t>
            </a:r>
            <a:r>
              <a:rPr lang="en-US" altLang="zh-CN" b="1" baseline="30000">
                <a:solidFill>
                  <a:srgbClr val="000080"/>
                </a:solidFill>
                <a:latin typeface="Arial" panose="020B0604020202020204" pitchFamily="34" charset="0"/>
                <a:ea typeface="楷体_GB2312" pitchFamily="49" charset="-122"/>
                <a:cs typeface="Arial" panose="020B0604020202020204" pitchFamily="34" charset="0"/>
                <a:sym typeface="+mn-ea"/>
              </a:rPr>
              <a:t>1</a:t>
            </a:r>
            <a:r>
              <a:rPr lang="en-US" altLang="zh-CN" b="1">
                <a:solidFill>
                  <a:srgbClr val="000080"/>
                </a:solidFill>
                <a:latin typeface="Arial" panose="020B0604020202020204" pitchFamily="34" charset="0"/>
                <a:ea typeface="楷体_GB2312" pitchFamily="49" charset="-122"/>
                <a:cs typeface="Arial" panose="020B0604020202020204" pitchFamily="34" charset="0"/>
                <a:sym typeface="+mn-ea"/>
              </a:rPr>
              <a:t>,…,K</a:t>
            </a:r>
            <a:r>
              <a:rPr lang="en-US" altLang="zh-CN" b="1" baseline="-25000">
                <a:solidFill>
                  <a:srgbClr val="000080"/>
                </a:solidFill>
                <a:latin typeface="Arial" panose="020B0604020202020204" pitchFamily="34" charset="0"/>
                <a:ea typeface="楷体_GB2312" pitchFamily="49" charset="-122"/>
                <a:cs typeface="Arial" panose="020B0604020202020204" pitchFamily="34" charset="0"/>
                <a:sym typeface="+mn-ea"/>
              </a:rPr>
              <a:t>i</a:t>
            </a:r>
            <a:r>
              <a:rPr lang="en-US" altLang="zh-CN" b="1" baseline="30000">
                <a:solidFill>
                  <a:srgbClr val="000080"/>
                </a:solidFill>
                <a:latin typeface="Arial" panose="020B0604020202020204" pitchFamily="34" charset="0"/>
                <a:ea typeface="楷体_GB2312" pitchFamily="49" charset="-122"/>
                <a:cs typeface="Arial" panose="020B0604020202020204" pitchFamily="34" charset="0"/>
                <a:sym typeface="+mn-ea"/>
              </a:rPr>
              <a:t>d-1</a:t>
            </a:r>
            <a:r>
              <a:rPr lang="en-US" altLang="zh-CN" b="1">
                <a:solidFill>
                  <a:srgbClr val="000080"/>
                </a:solidFill>
                <a:latin typeface="Arial" panose="020B0604020202020204" pitchFamily="34" charset="0"/>
                <a:ea typeface="楷体_GB2312" pitchFamily="49" charset="-122"/>
                <a:cs typeface="Arial" panose="020B0604020202020204" pitchFamily="34" charset="0"/>
                <a:sym typeface="+mn-ea"/>
              </a:rPr>
              <a:t>) </a:t>
            </a:r>
            <a:r>
              <a:rPr lang="zh-CN" altLang="en-US" b="1">
                <a:solidFill>
                  <a:srgbClr val="000080"/>
                </a:solidFill>
                <a:latin typeface="Arial" panose="020B0604020202020204" pitchFamily="34" charset="0"/>
                <a:ea typeface="楷体_GB2312" pitchFamily="49" charset="-122"/>
                <a:cs typeface="Arial" panose="020B0604020202020204" pitchFamily="34" charset="0"/>
              </a:rPr>
              <a:t>is defined as:</a:t>
            </a:r>
          </a:p>
        </p:txBody>
      </p:sp>
      <p:sp>
        <p:nvSpPr>
          <p:cNvPr id="98308" name="Text Box 4"/>
          <p:cNvSpPr txBox="1">
            <a:spLocks noChangeArrowheads="1"/>
          </p:cNvSpPr>
          <p:nvPr/>
        </p:nvSpPr>
        <p:spPr bwMode="auto">
          <a:xfrm>
            <a:off x="212725" y="5059363"/>
            <a:ext cx="8931275" cy="1014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zh-CN" altLang="en-US" sz="2400" b="1">
                <a:latin typeface="Arial" panose="020B0604020202020204" pitchFamily="34" charset="0"/>
                <a:ea typeface="楷体_GB2312" pitchFamily="49" charset="-122"/>
                <a:cs typeface="Arial" panose="020B0604020202020204" pitchFamily="34" charset="0"/>
              </a:rPr>
              <a:t>Among them, </a:t>
            </a:r>
            <a:r>
              <a:rPr lang="en-US" altLang="zh-CN" sz="2400" b="1">
                <a:solidFill>
                  <a:srgbClr val="FF0000"/>
                </a:solidFill>
                <a:latin typeface="Arial" panose="020B0604020202020204" pitchFamily="34" charset="0"/>
                <a:ea typeface="楷体_GB2312" pitchFamily="49" charset="-122"/>
                <a:cs typeface="Arial" panose="020B0604020202020204" pitchFamily="34" charset="0"/>
                <a:sym typeface="+mn-ea"/>
              </a:rPr>
              <a:t>K</a:t>
            </a:r>
            <a:r>
              <a:rPr lang="en-US" altLang="zh-CN" sz="2400" b="1" baseline="30000">
                <a:solidFill>
                  <a:srgbClr val="FF0000"/>
                </a:solidFill>
                <a:latin typeface="Arial" panose="020B0604020202020204" pitchFamily="34" charset="0"/>
                <a:ea typeface="楷体_GB2312" pitchFamily="49" charset="-122"/>
                <a:cs typeface="Arial" panose="020B0604020202020204" pitchFamily="34" charset="0"/>
                <a:sym typeface="+mn-ea"/>
              </a:rPr>
              <a:t>0  </a:t>
            </a:r>
            <a:r>
              <a:rPr lang="en-US" altLang="zh-CN" sz="2400" b="1">
                <a:solidFill>
                  <a:srgbClr val="FF0000"/>
                </a:solidFill>
                <a:latin typeface="Arial" panose="020B0604020202020204" pitchFamily="34" charset="0"/>
                <a:ea typeface="楷体_GB2312" pitchFamily="49" charset="-122"/>
                <a:cs typeface="Arial" panose="020B0604020202020204" pitchFamily="34" charset="0"/>
              </a:rPr>
              <a:t> is called the "most significant" key</a:t>
            </a:r>
          </a:p>
          <a:p>
            <a:pPr>
              <a:lnSpc>
                <a:spcPct val="125000"/>
              </a:lnSpc>
            </a:pPr>
            <a:r>
              <a:rPr lang="en-US" altLang="zh-CN" sz="2400" b="1">
                <a:solidFill>
                  <a:srgbClr val="FF0000"/>
                </a:solidFill>
                <a:latin typeface="Arial" panose="020B0604020202020204" pitchFamily="34" charset="0"/>
                <a:ea typeface="楷体_GB2312" pitchFamily="49" charset="-122"/>
                <a:cs typeface="Arial" panose="020B0604020202020204" pitchFamily="34" charset="0"/>
              </a:rPr>
              <a:t>                        </a:t>
            </a:r>
            <a:r>
              <a:rPr lang="en-US" altLang="zh-CN" sz="2400" b="1">
                <a:solidFill>
                  <a:srgbClr val="FF0000"/>
                </a:solidFill>
                <a:ea typeface="楷体_GB2312" pitchFamily="49" charset="-122"/>
                <a:sym typeface="+mn-ea"/>
              </a:rPr>
              <a:t>K</a:t>
            </a:r>
            <a:r>
              <a:rPr lang="en-US" altLang="zh-CN" sz="2400" b="1" baseline="30000">
                <a:solidFill>
                  <a:srgbClr val="FF0000"/>
                </a:solidFill>
                <a:ea typeface="楷体_GB2312" pitchFamily="49" charset="-122"/>
                <a:sym typeface="+mn-ea"/>
              </a:rPr>
              <a:t>d-1</a:t>
            </a:r>
            <a:r>
              <a:rPr lang="en-US" altLang="zh-CN" sz="2400" b="1">
                <a:solidFill>
                  <a:srgbClr val="FF0000"/>
                </a:solidFill>
                <a:ea typeface="楷体_GB2312" pitchFamily="49" charset="-122"/>
                <a:sym typeface="+mn-ea"/>
              </a:rPr>
              <a:t> </a:t>
            </a:r>
            <a:r>
              <a:rPr lang="en-US" altLang="zh-CN" sz="2400" b="1">
                <a:solidFill>
                  <a:srgbClr val="FF0000"/>
                </a:solidFill>
                <a:latin typeface="Arial" panose="020B0604020202020204" pitchFamily="34" charset="0"/>
                <a:ea typeface="楷体_GB2312" pitchFamily="49" charset="-122"/>
                <a:cs typeface="Arial" panose="020B0604020202020204" pitchFamily="34" charset="0"/>
                <a:sym typeface="+mn-ea"/>
              </a:rPr>
              <a:t>is called the </a:t>
            </a:r>
            <a:r>
              <a:rPr lang="en-US" altLang="zh-CN" sz="2400" b="1">
                <a:solidFill>
                  <a:srgbClr val="FF0000"/>
                </a:solidFill>
                <a:latin typeface="Arial" panose="020B0604020202020204" pitchFamily="34" charset="0"/>
                <a:ea typeface="楷体_GB2312" pitchFamily="49" charset="-122"/>
                <a:cs typeface="Arial" panose="020B0604020202020204" pitchFamily="34" charset="0"/>
              </a:rPr>
              <a:t>"least significant" key</a:t>
            </a:r>
          </a:p>
        </p:txBody>
      </p:sp>
      <p:sp>
        <p:nvSpPr>
          <p:cNvPr id="98309" name="Rectangle 5"/>
          <p:cNvSpPr>
            <a:spLocks noChangeArrowheads="1"/>
          </p:cNvSpPr>
          <p:nvPr/>
        </p:nvSpPr>
        <p:spPr bwMode="auto">
          <a:xfrm>
            <a:off x="1676400" y="5821363"/>
            <a:ext cx="30988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endParaRPr lang="zh-CN" altLang="en-US" b="1">
              <a:latin typeface="楷体_GB2312" pitchFamily="49" charset="-122"/>
              <a:ea typeface="楷体_GB2312" pitchFamily="49" charset="-122"/>
            </a:endParaRPr>
          </a:p>
        </p:txBody>
      </p:sp>
      <p:sp>
        <p:nvSpPr>
          <p:cNvPr id="98310" name="Rectangle 6"/>
          <p:cNvSpPr>
            <a:spLocks noChangeArrowheads="1"/>
          </p:cNvSpPr>
          <p:nvPr/>
        </p:nvSpPr>
        <p:spPr bwMode="auto">
          <a:xfrm>
            <a:off x="685800" y="2657475"/>
            <a:ext cx="7924800" cy="2330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pPr>
            <a:r>
              <a:rPr lang="zh-CN" altLang="en-US">
                <a:latin typeface="Arial" panose="020B0604020202020204" pitchFamily="34" charset="0"/>
                <a:ea typeface="楷体_GB2312" pitchFamily="49" charset="-122"/>
                <a:cs typeface="Arial" panose="020B0604020202020204" pitchFamily="34" charset="0"/>
              </a:rPr>
              <a:t>For any two records R i and R j in the sequence</a:t>
            </a:r>
            <a:endParaRPr lang="en-US" altLang="zh-CN" baseline="-25000">
              <a:latin typeface="Arial" panose="020B0604020202020204" pitchFamily="34" charset="0"/>
              <a:ea typeface="楷体_GB2312" pitchFamily="49" charset="-122"/>
              <a:cs typeface="Arial" panose="020B0604020202020204" pitchFamily="34" charset="0"/>
            </a:endParaRPr>
          </a:p>
          <a:p>
            <a:pPr>
              <a:lnSpc>
                <a:spcPct val="130000"/>
              </a:lnSpc>
            </a:pPr>
            <a:r>
              <a:rPr lang="en-US" altLang="zh-CN">
                <a:latin typeface="Arial" panose="020B0604020202020204" pitchFamily="34" charset="0"/>
                <a:ea typeface="楷体_GB2312" pitchFamily="49" charset="-122"/>
                <a:cs typeface="Arial" panose="020B0604020202020204" pitchFamily="34" charset="0"/>
              </a:rPr>
              <a:t>For all (1≤i&lt;j≤n), the following ordered relation (as defined in the dictionary) must be </a:t>
            </a:r>
            <a:r>
              <a:rPr lang="en-US" altLang="zh-CN" b="1">
                <a:solidFill>
                  <a:srgbClr val="000080"/>
                </a:solidFill>
                <a:latin typeface="Arial" panose="020B0604020202020204" pitchFamily="34" charset="0"/>
                <a:ea typeface="楷体_GB2312" pitchFamily="49" charset="-122"/>
                <a:cs typeface="Arial" panose="020B0604020202020204" pitchFamily="34" charset="0"/>
              </a:rPr>
              <a:t>satisfied</a:t>
            </a:r>
            <a:r>
              <a:rPr lang="en-US" altLang="zh-CN">
                <a:latin typeface="Arial" panose="020B0604020202020204" pitchFamily="34" charset="0"/>
                <a:ea typeface="楷体_GB2312" pitchFamily="49" charset="-122"/>
                <a:cs typeface="Arial" panose="020B0604020202020204" pitchFamily="34" charset="0"/>
              </a:rPr>
              <a:t>:</a:t>
            </a:r>
            <a:endParaRPr lang="zh-CN" altLang="en-US">
              <a:latin typeface="Arial" panose="020B0604020202020204" pitchFamily="34" charset="0"/>
              <a:ea typeface="楷体_GB2312" pitchFamily="49" charset="-122"/>
              <a:cs typeface="Arial" panose="020B0604020202020204" pitchFamily="34" charset="0"/>
            </a:endParaRPr>
          </a:p>
          <a:p>
            <a:pPr>
              <a:lnSpc>
                <a:spcPct val="130000"/>
              </a:lnSpc>
            </a:pPr>
            <a:r>
              <a:rPr lang="en-US" altLang="zh-CN" b="1">
                <a:solidFill>
                  <a:srgbClr val="000080"/>
                </a:solidFill>
                <a:latin typeface="Arial" panose="020B0604020202020204" pitchFamily="34" charset="0"/>
                <a:ea typeface="楷体_GB2312" pitchFamily="49" charset="-122"/>
                <a:cs typeface="Arial" panose="020B0604020202020204" pitchFamily="34" charset="0"/>
                <a:sym typeface="+mn-ea"/>
              </a:rPr>
              <a:t>(K</a:t>
            </a:r>
            <a:r>
              <a:rPr lang="en-US" altLang="zh-CN" b="1" baseline="-25000">
                <a:solidFill>
                  <a:srgbClr val="000080"/>
                </a:solidFill>
                <a:latin typeface="Arial" panose="020B0604020202020204" pitchFamily="34" charset="0"/>
                <a:ea typeface="楷体_GB2312" pitchFamily="49" charset="-122"/>
                <a:cs typeface="Arial" panose="020B0604020202020204" pitchFamily="34" charset="0"/>
                <a:sym typeface="+mn-ea"/>
              </a:rPr>
              <a:t>i</a:t>
            </a:r>
            <a:r>
              <a:rPr lang="en-US" altLang="zh-CN" b="1" baseline="30000">
                <a:solidFill>
                  <a:srgbClr val="000080"/>
                </a:solidFill>
                <a:latin typeface="Arial" panose="020B0604020202020204" pitchFamily="34" charset="0"/>
                <a:ea typeface="楷体_GB2312" pitchFamily="49" charset="-122"/>
                <a:cs typeface="Arial" panose="020B0604020202020204" pitchFamily="34" charset="0"/>
                <a:sym typeface="+mn-ea"/>
              </a:rPr>
              <a:t>0</a:t>
            </a:r>
            <a:r>
              <a:rPr lang="en-US" altLang="zh-CN" b="1">
                <a:solidFill>
                  <a:srgbClr val="000080"/>
                </a:solidFill>
                <a:latin typeface="Arial" panose="020B0604020202020204" pitchFamily="34" charset="0"/>
                <a:ea typeface="楷体_GB2312" pitchFamily="49" charset="-122"/>
                <a:cs typeface="Arial" panose="020B0604020202020204" pitchFamily="34" charset="0"/>
                <a:sym typeface="+mn-ea"/>
              </a:rPr>
              <a:t>, K</a:t>
            </a:r>
            <a:r>
              <a:rPr lang="en-US" altLang="zh-CN" b="1" baseline="-25000">
                <a:solidFill>
                  <a:srgbClr val="000080"/>
                </a:solidFill>
                <a:latin typeface="Arial" panose="020B0604020202020204" pitchFamily="34" charset="0"/>
                <a:ea typeface="楷体_GB2312" pitchFamily="49" charset="-122"/>
                <a:cs typeface="Arial" panose="020B0604020202020204" pitchFamily="34" charset="0"/>
                <a:sym typeface="+mn-ea"/>
              </a:rPr>
              <a:t>i</a:t>
            </a:r>
            <a:r>
              <a:rPr lang="en-US" altLang="zh-CN" b="1" baseline="30000">
                <a:solidFill>
                  <a:srgbClr val="000080"/>
                </a:solidFill>
                <a:latin typeface="Arial" panose="020B0604020202020204" pitchFamily="34" charset="0"/>
                <a:ea typeface="楷体_GB2312" pitchFamily="49" charset="-122"/>
                <a:cs typeface="Arial" panose="020B0604020202020204" pitchFamily="34" charset="0"/>
                <a:sym typeface="+mn-ea"/>
              </a:rPr>
              <a:t>1</a:t>
            </a:r>
            <a:r>
              <a:rPr lang="en-US" altLang="zh-CN" b="1">
                <a:solidFill>
                  <a:srgbClr val="000080"/>
                </a:solidFill>
                <a:latin typeface="Arial" panose="020B0604020202020204" pitchFamily="34" charset="0"/>
                <a:ea typeface="楷体_GB2312" pitchFamily="49" charset="-122"/>
                <a:cs typeface="Arial" panose="020B0604020202020204" pitchFamily="34" charset="0"/>
                <a:sym typeface="+mn-ea"/>
              </a:rPr>
              <a:t>, …,K</a:t>
            </a:r>
            <a:r>
              <a:rPr lang="en-US" altLang="zh-CN" b="1" baseline="-25000">
                <a:solidFill>
                  <a:srgbClr val="000080"/>
                </a:solidFill>
                <a:latin typeface="Arial" panose="020B0604020202020204" pitchFamily="34" charset="0"/>
                <a:ea typeface="楷体_GB2312" pitchFamily="49" charset="-122"/>
                <a:cs typeface="Arial" panose="020B0604020202020204" pitchFamily="34" charset="0"/>
                <a:sym typeface="+mn-ea"/>
              </a:rPr>
              <a:t>i</a:t>
            </a:r>
            <a:r>
              <a:rPr lang="en-US" altLang="zh-CN" b="1" baseline="30000">
                <a:solidFill>
                  <a:srgbClr val="000080"/>
                </a:solidFill>
                <a:latin typeface="Arial" panose="020B0604020202020204" pitchFamily="34" charset="0"/>
                <a:ea typeface="楷体_GB2312" pitchFamily="49" charset="-122"/>
                <a:cs typeface="Arial" panose="020B0604020202020204" pitchFamily="34" charset="0"/>
                <a:sym typeface="+mn-ea"/>
              </a:rPr>
              <a:t>d-1</a:t>
            </a:r>
            <a:r>
              <a:rPr lang="en-US" altLang="zh-CN" b="1">
                <a:solidFill>
                  <a:srgbClr val="000080"/>
                </a:solidFill>
                <a:latin typeface="Arial" panose="020B0604020202020204" pitchFamily="34" charset="0"/>
                <a:ea typeface="楷体_GB2312" pitchFamily="49" charset="-122"/>
                <a:cs typeface="Arial" panose="020B0604020202020204" pitchFamily="34" charset="0"/>
                <a:sym typeface="+mn-ea"/>
              </a:rPr>
              <a:t>) &lt;  (K</a:t>
            </a:r>
            <a:r>
              <a:rPr lang="en-US" altLang="zh-CN" b="1" baseline="-25000">
                <a:solidFill>
                  <a:srgbClr val="000080"/>
                </a:solidFill>
                <a:latin typeface="Arial" panose="020B0604020202020204" pitchFamily="34" charset="0"/>
                <a:ea typeface="楷体_GB2312" pitchFamily="49" charset="-122"/>
                <a:cs typeface="Arial" panose="020B0604020202020204" pitchFamily="34" charset="0"/>
                <a:sym typeface="+mn-ea"/>
              </a:rPr>
              <a:t>j</a:t>
            </a:r>
            <a:r>
              <a:rPr lang="en-US" altLang="zh-CN" b="1" baseline="30000">
                <a:solidFill>
                  <a:srgbClr val="000080"/>
                </a:solidFill>
                <a:latin typeface="Arial" panose="020B0604020202020204" pitchFamily="34" charset="0"/>
                <a:ea typeface="楷体_GB2312" pitchFamily="49" charset="-122"/>
                <a:cs typeface="Arial" panose="020B0604020202020204" pitchFamily="34" charset="0"/>
                <a:sym typeface="+mn-ea"/>
              </a:rPr>
              <a:t>0</a:t>
            </a:r>
            <a:r>
              <a:rPr lang="en-US" altLang="zh-CN" b="1">
                <a:solidFill>
                  <a:srgbClr val="000080"/>
                </a:solidFill>
                <a:latin typeface="Arial" panose="020B0604020202020204" pitchFamily="34" charset="0"/>
                <a:ea typeface="楷体_GB2312" pitchFamily="49" charset="-122"/>
                <a:cs typeface="Arial" panose="020B0604020202020204" pitchFamily="34" charset="0"/>
                <a:sym typeface="+mn-ea"/>
              </a:rPr>
              <a:t>, K</a:t>
            </a:r>
            <a:r>
              <a:rPr lang="en-US" altLang="zh-CN" b="1" baseline="-25000">
                <a:solidFill>
                  <a:srgbClr val="000080"/>
                </a:solidFill>
                <a:latin typeface="Arial" panose="020B0604020202020204" pitchFamily="34" charset="0"/>
                <a:ea typeface="楷体_GB2312" pitchFamily="49" charset="-122"/>
                <a:cs typeface="Arial" panose="020B0604020202020204" pitchFamily="34" charset="0"/>
                <a:sym typeface="+mn-ea"/>
              </a:rPr>
              <a:t>j</a:t>
            </a:r>
            <a:r>
              <a:rPr lang="en-US" altLang="zh-CN" b="1" baseline="30000">
                <a:solidFill>
                  <a:srgbClr val="000080"/>
                </a:solidFill>
                <a:latin typeface="Arial" panose="020B0604020202020204" pitchFamily="34" charset="0"/>
                <a:ea typeface="楷体_GB2312" pitchFamily="49" charset="-122"/>
                <a:cs typeface="Arial" panose="020B0604020202020204" pitchFamily="34" charset="0"/>
                <a:sym typeface="+mn-ea"/>
              </a:rPr>
              <a:t>1</a:t>
            </a:r>
            <a:r>
              <a:rPr lang="en-US" altLang="zh-CN" b="1">
                <a:solidFill>
                  <a:srgbClr val="000080"/>
                </a:solidFill>
                <a:latin typeface="Arial" panose="020B0604020202020204" pitchFamily="34" charset="0"/>
                <a:ea typeface="楷体_GB2312" pitchFamily="49" charset="-122"/>
                <a:cs typeface="Arial" panose="020B0604020202020204" pitchFamily="34" charset="0"/>
                <a:sym typeface="+mn-ea"/>
              </a:rPr>
              <a:t>, …,K</a:t>
            </a:r>
            <a:r>
              <a:rPr lang="en-US" altLang="zh-CN" b="1" baseline="-25000">
                <a:solidFill>
                  <a:srgbClr val="000080"/>
                </a:solidFill>
                <a:latin typeface="Arial" panose="020B0604020202020204" pitchFamily="34" charset="0"/>
                <a:ea typeface="楷体_GB2312" pitchFamily="49" charset="-122"/>
                <a:cs typeface="Arial" panose="020B0604020202020204" pitchFamily="34" charset="0"/>
                <a:sym typeface="+mn-ea"/>
              </a:rPr>
              <a:t>j</a:t>
            </a:r>
            <a:r>
              <a:rPr lang="en-US" altLang="zh-CN" b="1" baseline="30000">
                <a:solidFill>
                  <a:srgbClr val="000080"/>
                </a:solidFill>
                <a:latin typeface="Arial" panose="020B0604020202020204" pitchFamily="34" charset="0"/>
                <a:ea typeface="楷体_GB2312" pitchFamily="49" charset="-122"/>
                <a:cs typeface="Arial" panose="020B0604020202020204" pitchFamily="34" charset="0"/>
                <a:sym typeface="+mn-ea"/>
              </a:rPr>
              <a:t>d-1</a:t>
            </a:r>
            <a:r>
              <a:rPr lang="en-US" altLang="zh-CN" b="1">
                <a:solidFill>
                  <a:srgbClr val="000080"/>
                </a:solidFill>
                <a:latin typeface="Arial" panose="020B0604020202020204" pitchFamily="34" charset="0"/>
                <a:ea typeface="楷体_GB2312" pitchFamily="49" charset="-122"/>
                <a:cs typeface="Arial" panose="020B0604020202020204" pitchFamily="34" charset="0"/>
                <a:sym typeface="+mn-ea"/>
              </a:rPr>
              <a:t>)</a:t>
            </a:r>
            <a:endParaRPr lang="en-US" altLang="zh-CN" b="1">
              <a:solidFill>
                <a:srgbClr val="000080"/>
              </a:solidFill>
              <a:latin typeface="Arial" panose="020B0604020202020204" pitchFamily="34" charset="0"/>
              <a:ea typeface="楷体_GB2312" pitchFamily="49" charset="-122"/>
              <a:cs typeface="Arial" panose="020B0604020202020204" pitchFamily="34" charset="0"/>
            </a:endParaRP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107</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98306"/>
                                        </p:tgtEl>
                                        <p:attrNameLst>
                                          <p:attrName>style.visibility</p:attrName>
                                        </p:attrNameLst>
                                      </p:cBhvr>
                                      <p:to>
                                        <p:strVal val="visible"/>
                                      </p:to>
                                    </p:set>
                                    <p:anim calcmode="lin" valueType="num">
                                      <p:cBhvr additive="base">
                                        <p:cTn id="7" dur="500" fill="hold"/>
                                        <p:tgtEl>
                                          <p:spTgt spid="98306"/>
                                        </p:tgtEl>
                                        <p:attrNameLst>
                                          <p:attrName>ppt_x</p:attrName>
                                        </p:attrNameLst>
                                      </p:cBhvr>
                                      <p:tavLst>
                                        <p:tav tm="0">
                                          <p:val>
                                            <p:strVal val="#ppt_x"/>
                                          </p:val>
                                        </p:tav>
                                        <p:tav tm="100000">
                                          <p:val>
                                            <p:strVal val="#ppt_x"/>
                                          </p:val>
                                        </p:tav>
                                      </p:tavLst>
                                    </p:anim>
                                    <p:anim calcmode="lin" valueType="num">
                                      <p:cBhvr additive="base">
                                        <p:cTn id="8" dur="500" fill="hold"/>
                                        <p:tgtEl>
                                          <p:spTgt spid="98306"/>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98307"/>
                                        </p:tgtEl>
                                        <p:attrNameLst>
                                          <p:attrName>style.visibility</p:attrName>
                                        </p:attrNameLst>
                                      </p:cBhvr>
                                      <p:to>
                                        <p:strVal val="visible"/>
                                      </p:to>
                                    </p:set>
                                    <p:animEffect transition="in" filter="wipe(left)">
                                      <p:cBhvr>
                                        <p:cTn id="13" dur="500"/>
                                        <p:tgtEl>
                                          <p:spTgt spid="9830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98310"/>
                                        </p:tgtEl>
                                        <p:attrNameLst>
                                          <p:attrName>style.visibility</p:attrName>
                                        </p:attrNameLst>
                                      </p:cBhvr>
                                      <p:to>
                                        <p:strVal val="visible"/>
                                      </p:to>
                                    </p:set>
                                    <p:animEffect transition="in" filter="wipe(left)">
                                      <p:cBhvr>
                                        <p:cTn id="18" dur="500"/>
                                        <p:tgtEl>
                                          <p:spTgt spid="98310"/>
                                        </p:tgtEl>
                                      </p:cBhvr>
                                    </p:animEffect>
                                  </p:childTnLst>
                                </p:cTn>
                              </p:par>
                            </p:childTnLst>
                          </p:cTn>
                        </p:par>
                        <p:par>
                          <p:cTn id="19" fill="hold">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98308"/>
                                        </p:tgtEl>
                                        <p:attrNameLst>
                                          <p:attrName>style.visibility</p:attrName>
                                        </p:attrNameLst>
                                      </p:cBhvr>
                                      <p:to>
                                        <p:strVal val="visible"/>
                                      </p:to>
                                    </p:set>
                                    <p:animEffect transition="in" filter="wipe(left)">
                                      <p:cBhvr>
                                        <p:cTn id="22" dur="500"/>
                                        <p:tgtEl>
                                          <p:spTgt spid="9830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8309"/>
                                        </p:tgtEl>
                                        <p:attrNameLst>
                                          <p:attrName>style.visibility</p:attrName>
                                        </p:attrNameLst>
                                      </p:cBhvr>
                                      <p:to>
                                        <p:strVal val="visible"/>
                                      </p:to>
                                    </p:set>
                                    <p:animEffect transition="in" filter="wipe(left)">
                                      <p:cBhvr>
                                        <p:cTn id="27" dur="500"/>
                                        <p:tgtEl>
                                          <p:spTgt spid="98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6" grpId="0" bldLvl="0" animBg="1" autoUpdateAnimBg="0"/>
      <p:bldP spid="98307" grpId="0" bldLvl="0" animBg="1" autoUpdateAnimBg="0"/>
      <p:bldP spid="98308" grpId="0" bldLvl="0" animBg="1" autoUpdateAnimBg="0"/>
      <p:bldP spid="98309" grpId="0" bldLvl="0" animBg="1" autoUpdateAnimBg="0"/>
      <p:bldP spid="98310" grpId="0" bldLvl="0" animBg="1" autoUpdateAnimBg="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ext Box 2"/>
          <p:cNvSpPr txBox="1">
            <a:spLocks noChangeArrowheads="1"/>
          </p:cNvSpPr>
          <p:nvPr/>
        </p:nvSpPr>
        <p:spPr bwMode="auto">
          <a:xfrm>
            <a:off x="76200" y="973138"/>
            <a:ext cx="8534400" cy="116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zh-CN" altLang="en-US" b="1">
                <a:latin typeface="Arial" panose="020B0604020202020204" pitchFamily="34" charset="0"/>
                <a:ea typeface="楷体_GB2312" pitchFamily="49" charset="-122"/>
                <a:cs typeface="Arial" panose="020B0604020202020204" pitchFamily="34" charset="0"/>
              </a:rPr>
              <a:t>There are two common approaches to implement multi-key sorting:</a:t>
            </a:r>
          </a:p>
        </p:txBody>
      </p:sp>
      <p:sp>
        <p:nvSpPr>
          <p:cNvPr id="99331" name="Text Box 3"/>
          <p:cNvSpPr txBox="1">
            <a:spLocks noChangeArrowheads="1"/>
          </p:cNvSpPr>
          <p:nvPr/>
        </p:nvSpPr>
        <p:spPr bwMode="auto">
          <a:xfrm>
            <a:off x="1639888" y="3276600"/>
            <a:ext cx="7123112"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FontTx/>
              <a:buChar char="•"/>
            </a:pPr>
            <a:r>
              <a:rPr lang="en-US" altLang="zh-CN" sz="2800">
                <a:solidFill>
                  <a:srgbClr val="993300"/>
                </a:solidFill>
                <a:latin typeface="Arial" panose="020B0604020202020204" pitchFamily="34" charset="0"/>
                <a:ea typeface="楷体_GB2312" pitchFamily="49" charset="-122"/>
                <a:cs typeface="Arial" panose="020B0604020202020204" pitchFamily="34" charset="0"/>
              </a:rPr>
              <a:t>Least Significant Digit (LSD) method</a:t>
            </a:r>
          </a:p>
        </p:txBody>
      </p:sp>
      <p:sp>
        <p:nvSpPr>
          <p:cNvPr id="99332" name="Text Box 4"/>
          <p:cNvSpPr txBox="1">
            <a:spLocks noChangeArrowheads="1"/>
          </p:cNvSpPr>
          <p:nvPr/>
        </p:nvSpPr>
        <p:spPr bwMode="auto">
          <a:xfrm>
            <a:off x="1660525" y="2286000"/>
            <a:ext cx="603504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buFontTx/>
              <a:buChar char="•"/>
            </a:pPr>
            <a:r>
              <a:rPr lang="en-US" altLang="zh-CN">
                <a:solidFill>
                  <a:srgbClr val="993300"/>
                </a:solidFill>
                <a:latin typeface="Arial" panose="020B0604020202020204" pitchFamily="34" charset="0"/>
                <a:ea typeface="楷体_GB2312" pitchFamily="49" charset="-122"/>
                <a:cs typeface="Arial" panose="020B0604020202020204" pitchFamily="34" charset="0"/>
              </a:rPr>
              <a:t>Most Significant Digit (MSD) method</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108</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9330"/>
                                        </p:tgtEl>
                                        <p:attrNameLst>
                                          <p:attrName>style.visibility</p:attrName>
                                        </p:attrNameLst>
                                      </p:cBhvr>
                                      <p:to>
                                        <p:strVal val="visible"/>
                                      </p:to>
                                    </p:set>
                                    <p:animEffect transition="in" filter="blinds(horizontal)">
                                      <p:cBhvr>
                                        <p:cTn id="7" dur="500"/>
                                        <p:tgtEl>
                                          <p:spTgt spid="99330"/>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8" fill="hold" grpId="0" nodeType="clickEffect">
                                  <p:stCondLst>
                                    <p:cond delay="0"/>
                                  </p:stCondLst>
                                  <p:childTnLst>
                                    <p:set>
                                      <p:cBhvr>
                                        <p:cTn id="11" dur="1" fill="hold">
                                          <p:stCondLst>
                                            <p:cond delay="0"/>
                                          </p:stCondLst>
                                        </p:cTn>
                                        <p:tgtEl>
                                          <p:spTgt spid="99332"/>
                                        </p:tgtEl>
                                        <p:attrNameLst>
                                          <p:attrName>style.visibility</p:attrName>
                                        </p:attrNameLst>
                                      </p:cBhvr>
                                      <p:to>
                                        <p:strVal val="visible"/>
                                      </p:to>
                                    </p:set>
                                    <p:anim calcmode="lin" valueType="num">
                                      <p:cBhvr>
                                        <p:cTn id="12" dur="500" fill="hold"/>
                                        <p:tgtEl>
                                          <p:spTgt spid="99332"/>
                                        </p:tgtEl>
                                        <p:attrNameLst>
                                          <p:attrName>ppt_x</p:attrName>
                                        </p:attrNameLst>
                                      </p:cBhvr>
                                      <p:tavLst>
                                        <p:tav tm="0">
                                          <p:val>
                                            <p:strVal val="#ppt_x-#ppt_w/2"/>
                                          </p:val>
                                        </p:tav>
                                        <p:tav tm="100000">
                                          <p:val>
                                            <p:strVal val="#ppt_x"/>
                                          </p:val>
                                        </p:tav>
                                      </p:tavLst>
                                    </p:anim>
                                    <p:anim calcmode="lin" valueType="num">
                                      <p:cBhvr>
                                        <p:cTn id="13" dur="500" fill="hold"/>
                                        <p:tgtEl>
                                          <p:spTgt spid="99332"/>
                                        </p:tgtEl>
                                        <p:attrNameLst>
                                          <p:attrName>ppt_y</p:attrName>
                                        </p:attrNameLst>
                                      </p:cBhvr>
                                      <p:tavLst>
                                        <p:tav tm="0">
                                          <p:val>
                                            <p:strVal val="#ppt_y"/>
                                          </p:val>
                                        </p:tav>
                                        <p:tav tm="100000">
                                          <p:val>
                                            <p:strVal val="#ppt_y"/>
                                          </p:val>
                                        </p:tav>
                                      </p:tavLst>
                                    </p:anim>
                                    <p:anim calcmode="lin" valueType="num">
                                      <p:cBhvr>
                                        <p:cTn id="14" dur="500" fill="hold"/>
                                        <p:tgtEl>
                                          <p:spTgt spid="99332"/>
                                        </p:tgtEl>
                                        <p:attrNameLst>
                                          <p:attrName>ppt_w</p:attrName>
                                        </p:attrNameLst>
                                      </p:cBhvr>
                                      <p:tavLst>
                                        <p:tav tm="0">
                                          <p:val>
                                            <p:fltVal val="0"/>
                                          </p:val>
                                        </p:tav>
                                        <p:tav tm="100000">
                                          <p:val>
                                            <p:strVal val="#ppt_w"/>
                                          </p:val>
                                        </p:tav>
                                      </p:tavLst>
                                    </p:anim>
                                    <p:anim calcmode="lin" valueType="num">
                                      <p:cBhvr>
                                        <p:cTn id="15" dur="500" fill="hold"/>
                                        <p:tgtEl>
                                          <p:spTgt spid="99332"/>
                                        </p:tgtEl>
                                        <p:attrNameLst>
                                          <p:attrName>ppt_h</p:attrName>
                                        </p:attrNameLst>
                                      </p:cBhvr>
                                      <p:tavLst>
                                        <p:tav tm="0">
                                          <p:val>
                                            <p:strVal val="#ppt_h"/>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17" presetClass="entr" presetSubtype="8" fill="hold" grpId="0" nodeType="clickEffect">
                                  <p:stCondLst>
                                    <p:cond delay="0"/>
                                  </p:stCondLst>
                                  <p:childTnLst>
                                    <p:set>
                                      <p:cBhvr>
                                        <p:cTn id="19" dur="1" fill="hold">
                                          <p:stCondLst>
                                            <p:cond delay="0"/>
                                          </p:stCondLst>
                                        </p:cTn>
                                        <p:tgtEl>
                                          <p:spTgt spid="99331"/>
                                        </p:tgtEl>
                                        <p:attrNameLst>
                                          <p:attrName>style.visibility</p:attrName>
                                        </p:attrNameLst>
                                      </p:cBhvr>
                                      <p:to>
                                        <p:strVal val="visible"/>
                                      </p:to>
                                    </p:set>
                                    <p:anim calcmode="lin" valueType="num">
                                      <p:cBhvr>
                                        <p:cTn id="20" dur="500" fill="hold"/>
                                        <p:tgtEl>
                                          <p:spTgt spid="99331"/>
                                        </p:tgtEl>
                                        <p:attrNameLst>
                                          <p:attrName>ppt_x</p:attrName>
                                        </p:attrNameLst>
                                      </p:cBhvr>
                                      <p:tavLst>
                                        <p:tav tm="0">
                                          <p:val>
                                            <p:strVal val="#ppt_x-#ppt_w/2"/>
                                          </p:val>
                                        </p:tav>
                                        <p:tav tm="100000">
                                          <p:val>
                                            <p:strVal val="#ppt_x"/>
                                          </p:val>
                                        </p:tav>
                                      </p:tavLst>
                                    </p:anim>
                                    <p:anim calcmode="lin" valueType="num">
                                      <p:cBhvr>
                                        <p:cTn id="21" dur="500" fill="hold"/>
                                        <p:tgtEl>
                                          <p:spTgt spid="99331"/>
                                        </p:tgtEl>
                                        <p:attrNameLst>
                                          <p:attrName>ppt_y</p:attrName>
                                        </p:attrNameLst>
                                      </p:cBhvr>
                                      <p:tavLst>
                                        <p:tav tm="0">
                                          <p:val>
                                            <p:strVal val="#ppt_y"/>
                                          </p:val>
                                        </p:tav>
                                        <p:tav tm="100000">
                                          <p:val>
                                            <p:strVal val="#ppt_y"/>
                                          </p:val>
                                        </p:tav>
                                      </p:tavLst>
                                    </p:anim>
                                    <p:anim calcmode="lin" valueType="num">
                                      <p:cBhvr>
                                        <p:cTn id="22" dur="500" fill="hold"/>
                                        <p:tgtEl>
                                          <p:spTgt spid="99331"/>
                                        </p:tgtEl>
                                        <p:attrNameLst>
                                          <p:attrName>ppt_w</p:attrName>
                                        </p:attrNameLst>
                                      </p:cBhvr>
                                      <p:tavLst>
                                        <p:tav tm="0">
                                          <p:val>
                                            <p:fltVal val="0"/>
                                          </p:val>
                                        </p:tav>
                                        <p:tav tm="100000">
                                          <p:val>
                                            <p:strVal val="#ppt_w"/>
                                          </p:val>
                                        </p:tav>
                                      </p:tavLst>
                                    </p:anim>
                                    <p:anim calcmode="lin" valueType="num">
                                      <p:cBhvr>
                                        <p:cTn id="23" dur="500" fill="hold"/>
                                        <p:tgtEl>
                                          <p:spTgt spid="9933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0" grpId="0" bldLvl="0" animBg="1" autoUpdateAnimBg="0"/>
      <p:bldP spid="99331" grpId="0" bldLvl="0" animBg="1" autoUpdateAnimBg="0"/>
      <p:bldP spid="99332" grpId="0" bldLvl="0" animBg="1" autoUpdateAnimBg="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ext Box 2"/>
          <p:cNvSpPr txBox="1">
            <a:spLocks noChangeArrowheads="1"/>
          </p:cNvSpPr>
          <p:nvPr/>
        </p:nvSpPr>
        <p:spPr bwMode="auto">
          <a:xfrm>
            <a:off x="468313" y="1196975"/>
            <a:ext cx="8153400" cy="3408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zh-CN" altLang="en-US" b="1">
                <a:solidFill>
                  <a:srgbClr val="000080"/>
                </a:solidFill>
                <a:latin typeface="Arial" panose="020B0604020202020204" pitchFamily="34" charset="0"/>
                <a:ea typeface="楷体_GB2312" pitchFamily="49" charset="-122"/>
                <a:cs typeface="Arial" panose="020B0604020202020204" pitchFamily="34" charset="0"/>
              </a:rPr>
              <a:t>First, sort </a:t>
            </a:r>
            <a:r>
              <a:rPr lang="en-US" altLang="zh-CN" b="1">
                <a:solidFill>
                  <a:srgbClr val="000080"/>
                </a:solidFill>
                <a:latin typeface="Arial" panose="020B0604020202020204" pitchFamily="34" charset="0"/>
                <a:ea typeface="楷体_GB2312" pitchFamily="49" charset="-122"/>
                <a:cs typeface="Arial" panose="020B0604020202020204" pitchFamily="34" charset="0"/>
                <a:sym typeface="+mn-ea"/>
              </a:rPr>
              <a:t>K</a:t>
            </a:r>
            <a:r>
              <a:rPr lang="en-US" altLang="zh-CN" b="1" baseline="30000">
                <a:solidFill>
                  <a:srgbClr val="000080"/>
                </a:solidFill>
                <a:latin typeface="Arial" panose="020B0604020202020204" pitchFamily="34" charset="0"/>
                <a:ea typeface="楷体_GB2312" pitchFamily="49" charset="-122"/>
                <a:cs typeface="Arial" panose="020B0604020202020204" pitchFamily="34" charset="0"/>
                <a:sym typeface="+mn-ea"/>
              </a:rPr>
              <a:t>0</a:t>
            </a:r>
            <a:r>
              <a:rPr lang="zh-CN" altLang="en-US" b="1">
                <a:solidFill>
                  <a:srgbClr val="000080"/>
                </a:solidFill>
                <a:latin typeface="Arial" panose="020B0604020202020204" pitchFamily="34" charset="0"/>
                <a:ea typeface="楷体_GB2312" pitchFamily="49" charset="-122"/>
                <a:cs typeface="Arial" panose="020B0604020202020204" pitchFamily="34" charset="0"/>
              </a:rPr>
              <a:t> and divide the record sequence into several sub-sequences according to different values of </a:t>
            </a:r>
            <a:r>
              <a:rPr lang="en-US" altLang="zh-CN" b="1">
                <a:solidFill>
                  <a:srgbClr val="000080"/>
                </a:solidFill>
                <a:latin typeface="Arial" panose="020B0604020202020204" pitchFamily="34" charset="0"/>
                <a:ea typeface="楷体_GB2312" pitchFamily="49" charset="-122"/>
                <a:cs typeface="Arial" panose="020B0604020202020204" pitchFamily="34" charset="0"/>
                <a:sym typeface="+mn-ea"/>
              </a:rPr>
              <a:t>K</a:t>
            </a:r>
            <a:r>
              <a:rPr lang="en-US" altLang="zh-CN" b="1" baseline="30000">
                <a:solidFill>
                  <a:srgbClr val="000080"/>
                </a:solidFill>
                <a:latin typeface="Arial" panose="020B0604020202020204" pitchFamily="34" charset="0"/>
                <a:ea typeface="楷体_GB2312" pitchFamily="49" charset="-122"/>
                <a:cs typeface="Arial" panose="020B0604020202020204" pitchFamily="34" charset="0"/>
                <a:sym typeface="+mn-ea"/>
              </a:rPr>
              <a:t>0</a:t>
            </a:r>
            <a:r>
              <a:rPr lang="zh-CN" altLang="en-US" b="1">
                <a:solidFill>
                  <a:srgbClr val="000080"/>
                </a:solidFill>
                <a:latin typeface="Arial" panose="020B0604020202020204" pitchFamily="34" charset="0"/>
                <a:ea typeface="楷体_GB2312" pitchFamily="49" charset="-122"/>
                <a:cs typeface="Arial" panose="020B0604020202020204" pitchFamily="34" charset="0"/>
              </a:rPr>
              <a:t> (</a:t>
            </a:r>
            <a:r>
              <a:rPr lang="zh-CN" altLang="en-US">
                <a:solidFill>
                  <a:srgbClr val="006666"/>
                </a:solidFill>
                <a:latin typeface="Arial" panose="020B0604020202020204" pitchFamily="34" charset="0"/>
                <a:ea typeface="楷体_GB2312" pitchFamily="49" charset="-122"/>
                <a:cs typeface="Arial" panose="020B0604020202020204" pitchFamily="34" charset="0"/>
              </a:rPr>
              <a:t>each sub-sequence contains records with the same </a:t>
            </a:r>
            <a:r>
              <a:rPr lang="zh-CN" altLang="en-US">
                <a:solidFill>
                  <a:srgbClr val="006666"/>
                </a:solidFill>
                <a:latin typeface="Arial" panose="020B0604020202020204" pitchFamily="34" charset="0"/>
                <a:ea typeface="楷体_GB2312" pitchFamily="49" charset="-122"/>
                <a:cs typeface="Arial" panose="020B0604020202020204" pitchFamily="34" charset="0"/>
                <a:sym typeface="+mn-ea"/>
              </a:rPr>
              <a:t>K</a:t>
            </a:r>
            <a:r>
              <a:rPr lang="zh-CN" altLang="en-US" baseline="30000">
                <a:solidFill>
                  <a:srgbClr val="006666"/>
                </a:solidFill>
                <a:latin typeface="Arial" panose="020B0604020202020204" pitchFamily="34" charset="0"/>
                <a:ea typeface="楷体_GB2312" pitchFamily="49" charset="-122"/>
                <a:cs typeface="Arial" panose="020B0604020202020204" pitchFamily="34" charset="0"/>
                <a:sym typeface="+mn-ea"/>
              </a:rPr>
              <a:t>0</a:t>
            </a:r>
            <a:r>
              <a:rPr lang="zh-CN" altLang="en-US">
                <a:solidFill>
                  <a:srgbClr val="006666"/>
                </a:solidFill>
                <a:latin typeface="Arial" panose="020B0604020202020204" pitchFamily="34" charset="0"/>
                <a:ea typeface="楷体_GB2312" pitchFamily="49" charset="-122"/>
                <a:cs typeface="Arial" panose="020B0604020202020204" pitchFamily="34" charset="0"/>
              </a:rPr>
              <a:t>). Then,</a:t>
            </a:r>
            <a:r>
              <a:rPr lang="zh-CN" altLang="en-US" b="1">
                <a:solidFill>
                  <a:srgbClr val="000080"/>
                </a:solidFill>
                <a:latin typeface="Arial" panose="020B0604020202020204" pitchFamily="34" charset="0"/>
                <a:ea typeface="楷体_GB2312" pitchFamily="49" charset="-122"/>
                <a:cs typeface="Arial" panose="020B0604020202020204" pitchFamily="34" charset="0"/>
              </a:rPr>
              <a:t> </a:t>
            </a:r>
            <a:r>
              <a:rPr lang="zh-CN" altLang="en-US">
                <a:solidFill>
                  <a:srgbClr val="006666"/>
                </a:solidFill>
                <a:latin typeface="Arial" panose="020B0604020202020204" pitchFamily="34" charset="0"/>
                <a:ea typeface="楷体_GB2312" pitchFamily="49" charset="-122"/>
                <a:cs typeface="Arial" panose="020B0604020202020204" pitchFamily="34" charset="0"/>
              </a:rPr>
              <a:t>sort each sub-sequence separately according to K</a:t>
            </a:r>
            <a:r>
              <a:rPr lang="zh-CN" altLang="en-US" baseline="30000">
                <a:solidFill>
                  <a:srgbClr val="006666"/>
                </a:solidFill>
                <a:latin typeface="Arial" panose="020B0604020202020204" pitchFamily="34" charset="0"/>
                <a:ea typeface="楷体_GB2312" pitchFamily="49" charset="-122"/>
                <a:cs typeface="Arial" panose="020B0604020202020204" pitchFamily="34" charset="0"/>
              </a:rPr>
              <a:t>1</a:t>
            </a:r>
            <a:r>
              <a:rPr lang="zh-CN" altLang="en-US">
                <a:solidFill>
                  <a:srgbClr val="006666"/>
                </a:solidFill>
                <a:latin typeface="Arial" panose="020B0604020202020204" pitchFamily="34" charset="0"/>
                <a:ea typeface="楷体_GB2312" pitchFamily="49" charset="-122"/>
                <a:cs typeface="Arial" panose="020B0604020202020204" pitchFamily="34" charset="0"/>
              </a:rPr>
              <a:t>, and so on</a:t>
            </a:r>
            <a:r>
              <a:rPr lang="zh-CN" altLang="en-US" b="1">
                <a:solidFill>
                  <a:srgbClr val="000080"/>
                </a:solidFill>
                <a:latin typeface="Arial" panose="020B0604020202020204" pitchFamily="34" charset="0"/>
                <a:ea typeface="楷体_GB2312" pitchFamily="49" charset="-122"/>
                <a:cs typeface="Arial" panose="020B0604020202020204" pitchFamily="34" charset="0"/>
              </a:rPr>
              <a:t>.</a:t>
            </a:r>
            <a:r>
              <a:rPr lang="en-US" altLang="zh-CN">
                <a:latin typeface="Arial" panose="020B0604020202020204" pitchFamily="34" charset="0"/>
                <a:ea typeface="楷体_GB2312" pitchFamily="49" charset="-122"/>
                <a:cs typeface="Arial" panose="020B0604020202020204" pitchFamily="34" charset="0"/>
              </a:rPr>
              <a:t>..., and so on, until the last keyword is sorted.</a:t>
            </a:r>
            <a:endParaRPr lang="zh-CN" altLang="en-US">
              <a:latin typeface="Arial" panose="020B0604020202020204" pitchFamily="34" charset="0"/>
              <a:ea typeface="楷体_GB2312" pitchFamily="49" charset="-122"/>
              <a:cs typeface="Arial" panose="020B0604020202020204" pitchFamily="34" charset="0"/>
            </a:endParaRPr>
          </a:p>
        </p:txBody>
      </p:sp>
      <p:sp>
        <p:nvSpPr>
          <p:cNvPr id="100355" name="Text Box 3"/>
          <p:cNvSpPr txBox="1">
            <a:spLocks noChangeArrowheads="1"/>
          </p:cNvSpPr>
          <p:nvPr/>
        </p:nvSpPr>
        <p:spPr bwMode="auto">
          <a:xfrm>
            <a:off x="1043940" y="332740"/>
            <a:ext cx="6732905"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indent="0" algn="l">
              <a:buFontTx/>
              <a:buNone/>
            </a:pPr>
            <a:r>
              <a:rPr lang="en-US" altLang="zh-CN" sz="3200">
                <a:solidFill>
                  <a:srgbClr val="993300"/>
                </a:solidFill>
                <a:latin typeface="Arial" panose="020B0604020202020204" pitchFamily="34" charset="0"/>
                <a:ea typeface="楷体_GB2312" pitchFamily="49" charset="-122"/>
                <a:cs typeface="Arial" panose="020B0604020202020204" pitchFamily="34" charset="0"/>
                <a:sym typeface="+mn-ea"/>
              </a:rPr>
              <a:t>Most Significant Digit (MSD) method</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109</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00354"/>
                                        </p:tgtEl>
                                        <p:attrNameLst>
                                          <p:attrName>style.visibility</p:attrName>
                                        </p:attrNameLst>
                                      </p:cBhvr>
                                      <p:to>
                                        <p:strVal val="visible"/>
                                      </p:to>
                                    </p:set>
                                    <p:animEffect transition="in" filter="checkerboard(across)">
                                      <p:cBhvr>
                                        <p:cTn id="7" dur="500"/>
                                        <p:tgtEl>
                                          <p:spTgt spid="1003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4" grpId="0" bldLvl="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ext Box 2"/>
          <p:cNvSpPr txBox="1">
            <a:spLocks noChangeArrowheads="1"/>
          </p:cNvSpPr>
          <p:nvPr/>
        </p:nvSpPr>
        <p:spPr bwMode="auto">
          <a:xfrm>
            <a:off x="685800" y="965200"/>
            <a:ext cx="7848600" cy="1038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zh-CN" altLang="en-US">
                <a:solidFill>
                  <a:srgbClr val="000080"/>
                </a:solidFill>
                <a:latin typeface="Arial" panose="020B0604020202020204" pitchFamily="34" charset="0"/>
                <a:ea typeface="楷体_GB2312" pitchFamily="49" charset="-122"/>
                <a:cs typeface="Arial" panose="020B0604020202020204" pitchFamily="34" charset="0"/>
              </a:rPr>
              <a:t>First, sort </a:t>
            </a:r>
            <a:r>
              <a:rPr lang="en-US" altLang="zh-CN" b="1">
                <a:solidFill>
                  <a:srgbClr val="000080"/>
                </a:solidFill>
                <a:latin typeface="Arial" panose="020B0604020202020204" pitchFamily="34" charset="0"/>
                <a:ea typeface="楷体_GB2312" pitchFamily="49" charset="-122"/>
                <a:cs typeface="Arial" panose="020B0604020202020204" pitchFamily="34" charset="0"/>
                <a:sym typeface="+mn-ea"/>
              </a:rPr>
              <a:t>K</a:t>
            </a:r>
            <a:r>
              <a:rPr lang="en-US" altLang="zh-CN" b="1" baseline="30000">
                <a:solidFill>
                  <a:srgbClr val="000080"/>
                </a:solidFill>
                <a:latin typeface="Arial" panose="020B0604020202020204" pitchFamily="34" charset="0"/>
                <a:ea typeface="楷体_GB2312" pitchFamily="49" charset="-122"/>
                <a:cs typeface="Arial" panose="020B0604020202020204" pitchFamily="34" charset="0"/>
                <a:sym typeface="+mn-ea"/>
              </a:rPr>
              <a:t>d-1</a:t>
            </a:r>
            <a:r>
              <a:rPr lang="zh-CN" altLang="en-US">
                <a:solidFill>
                  <a:srgbClr val="000080"/>
                </a:solidFill>
                <a:latin typeface="Arial" panose="020B0604020202020204" pitchFamily="34" charset="0"/>
                <a:ea typeface="楷体_GB2312" pitchFamily="49" charset="-122"/>
                <a:cs typeface="Arial" panose="020B0604020202020204" pitchFamily="34" charset="0"/>
              </a:rPr>
              <a:t>, then </a:t>
            </a:r>
            <a:r>
              <a:rPr lang="en-US" altLang="zh-CN" b="1">
                <a:solidFill>
                  <a:srgbClr val="000066"/>
                </a:solidFill>
                <a:latin typeface="Arial" panose="020B0604020202020204" pitchFamily="34" charset="0"/>
                <a:ea typeface="楷体_GB2312" pitchFamily="49" charset="-122"/>
                <a:cs typeface="Arial" panose="020B0604020202020204" pitchFamily="34" charset="0"/>
                <a:sym typeface="+mn-ea"/>
              </a:rPr>
              <a:t>K</a:t>
            </a:r>
            <a:r>
              <a:rPr lang="en-US" altLang="zh-CN" b="1" baseline="30000">
                <a:solidFill>
                  <a:srgbClr val="000066"/>
                </a:solidFill>
                <a:latin typeface="Arial" panose="020B0604020202020204" pitchFamily="34" charset="0"/>
                <a:ea typeface="楷体_GB2312" pitchFamily="49" charset="-122"/>
                <a:cs typeface="Arial" panose="020B0604020202020204" pitchFamily="34" charset="0"/>
                <a:sym typeface="+mn-ea"/>
              </a:rPr>
              <a:t>d-2 </a:t>
            </a:r>
            <a:r>
              <a:rPr lang="zh-CN" altLang="en-US">
                <a:solidFill>
                  <a:srgbClr val="000080"/>
                </a:solidFill>
                <a:latin typeface="Arial" panose="020B0604020202020204" pitchFamily="34" charset="0"/>
                <a:ea typeface="楷体_GB2312" pitchFamily="49" charset="-122"/>
                <a:cs typeface="Arial" panose="020B0604020202020204" pitchFamily="34" charset="0"/>
              </a:rPr>
              <a:t>, and so on until the most dominant keyword </a:t>
            </a:r>
            <a:r>
              <a:rPr lang="en-US" altLang="zh-CN" b="1">
                <a:solidFill>
                  <a:srgbClr val="000080"/>
                </a:solidFill>
                <a:latin typeface="Arial" panose="020B0604020202020204" pitchFamily="34" charset="0"/>
                <a:ea typeface="楷体_GB2312" pitchFamily="49" charset="-122"/>
                <a:cs typeface="Arial" panose="020B0604020202020204" pitchFamily="34" charset="0"/>
                <a:sym typeface="+mn-ea"/>
              </a:rPr>
              <a:t>K</a:t>
            </a:r>
            <a:r>
              <a:rPr lang="en-US" altLang="zh-CN" b="1" baseline="30000">
                <a:solidFill>
                  <a:srgbClr val="000080"/>
                </a:solidFill>
                <a:latin typeface="Arial" panose="020B0604020202020204" pitchFamily="34" charset="0"/>
                <a:ea typeface="楷体_GB2312" pitchFamily="49" charset="-122"/>
                <a:cs typeface="Arial" panose="020B0604020202020204" pitchFamily="34" charset="0"/>
                <a:sym typeface="+mn-ea"/>
              </a:rPr>
              <a:t>0</a:t>
            </a:r>
            <a:r>
              <a:rPr lang="zh-CN" altLang="en-US">
                <a:solidFill>
                  <a:srgbClr val="000080"/>
                </a:solidFill>
                <a:latin typeface="Arial" panose="020B0604020202020204" pitchFamily="34" charset="0"/>
                <a:ea typeface="楷体_GB2312" pitchFamily="49" charset="-122"/>
                <a:cs typeface="Arial" panose="020B0604020202020204" pitchFamily="34" charset="0"/>
              </a:rPr>
              <a:t> is sorted.</a:t>
            </a:r>
          </a:p>
        </p:txBody>
      </p:sp>
      <p:sp>
        <p:nvSpPr>
          <p:cNvPr id="101379" name="Text Box 3"/>
          <p:cNvSpPr txBox="1">
            <a:spLocks noChangeArrowheads="1"/>
          </p:cNvSpPr>
          <p:nvPr/>
        </p:nvSpPr>
        <p:spPr bwMode="auto">
          <a:xfrm>
            <a:off x="611188" y="3068638"/>
            <a:ext cx="8093075" cy="1038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zh-CN" altLang="en-US">
                <a:latin typeface="Arial" panose="020B0604020202020204" pitchFamily="34" charset="0"/>
                <a:ea typeface="楷体_GB2312" pitchFamily="49" charset="-122"/>
                <a:cs typeface="Arial" panose="020B0604020202020204" pitchFamily="34" charset="0"/>
              </a:rPr>
              <a:t>In the process of sorting, each keyword is the whole sequence to participate in the sorting.</a:t>
            </a:r>
            <a:endParaRPr lang="zh-CN" altLang="en-US">
              <a:latin typeface="Arial" panose="020B0604020202020204" pitchFamily="34" charset="0"/>
              <a:cs typeface="Arial" panose="020B0604020202020204" pitchFamily="34" charset="0"/>
            </a:endParaRPr>
          </a:p>
        </p:txBody>
      </p:sp>
      <p:sp>
        <p:nvSpPr>
          <p:cNvPr id="101380" name="Text Box 4">
            <a:hlinkClick r:id="rId2" action="ppaction://hlinksldjump"/>
          </p:cNvPr>
          <p:cNvSpPr txBox="1">
            <a:spLocks noChangeArrowheads="1"/>
          </p:cNvSpPr>
          <p:nvPr/>
        </p:nvSpPr>
        <p:spPr bwMode="auto">
          <a:xfrm>
            <a:off x="395605" y="260985"/>
            <a:ext cx="7548880"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indent="0" algn="l">
              <a:buFontTx/>
              <a:buNone/>
            </a:pPr>
            <a:r>
              <a:rPr lang="en-US" altLang="zh-CN" sz="3600">
                <a:solidFill>
                  <a:srgbClr val="993300"/>
                </a:solidFill>
                <a:latin typeface="Arial" panose="020B0604020202020204" pitchFamily="34" charset="0"/>
                <a:ea typeface="楷体_GB2312" pitchFamily="49" charset="-122"/>
                <a:cs typeface="Arial" panose="020B0604020202020204" pitchFamily="34" charset="0"/>
                <a:sym typeface="+mn-ea"/>
              </a:rPr>
              <a:t>Least Significant Digit (LSD) method</a:t>
            </a:r>
            <a:endParaRPr lang="en-US" altLang="zh-CN" sz="3600" b="1">
              <a:solidFill>
                <a:srgbClr val="993300"/>
              </a:solidFill>
              <a:latin typeface="Arial" panose="020B0604020202020204" pitchFamily="34" charset="0"/>
              <a:ea typeface="楷体_GB2312" pitchFamily="49" charset="-122"/>
              <a:cs typeface="Arial" panose="020B0604020202020204" pitchFamily="34" charset="0"/>
              <a:sym typeface="+mn-ea"/>
            </a:endParaRPr>
          </a:p>
        </p:txBody>
      </p:sp>
      <p:sp>
        <p:nvSpPr>
          <p:cNvPr id="101381" name="Rectangle 5"/>
          <p:cNvSpPr>
            <a:spLocks noChangeArrowheads="1"/>
          </p:cNvSpPr>
          <p:nvPr/>
        </p:nvSpPr>
        <p:spPr bwMode="auto">
          <a:xfrm>
            <a:off x="684213" y="4724400"/>
            <a:ext cx="7848600" cy="138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i="1">
                <a:solidFill>
                  <a:srgbClr val="FF3300"/>
                </a:solidFill>
                <a:latin typeface="Arial" panose="020B0604020202020204" pitchFamily="34" charset="0"/>
                <a:cs typeface="Arial" panose="020B0604020202020204" pitchFamily="34" charset="0"/>
              </a:rPr>
              <a:t>Note: </a:t>
            </a:r>
            <a:r>
              <a:rPr lang="zh-CN" altLang="en-US" b="1">
                <a:solidFill>
                  <a:schemeClr val="accent2"/>
                </a:solidFill>
                <a:latin typeface="Arial" panose="020B0604020202020204" pitchFamily="34" charset="0"/>
                <a:cs typeface="Arial" panose="020B0604020202020204" pitchFamily="34" charset="0"/>
              </a:rPr>
              <a:t>The LSD method requires stable sorting for all keyword bits except the least significant bit.</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110</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9" fill="hold" grpId="0" nodeType="clickEffect">
                                  <p:stCondLst>
                                    <p:cond delay="0"/>
                                  </p:stCondLst>
                                  <p:childTnLst>
                                    <p:set>
                                      <p:cBhvr>
                                        <p:cTn id="6" dur="1" fill="hold">
                                          <p:stCondLst>
                                            <p:cond delay="0"/>
                                          </p:stCondLst>
                                        </p:cTn>
                                        <p:tgtEl>
                                          <p:spTgt spid="101378"/>
                                        </p:tgtEl>
                                        <p:attrNameLst>
                                          <p:attrName>style.visibility</p:attrName>
                                        </p:attrNameLst>
                                      </p:cBhvr>
                                      <p:to>
                                        <p:strVal val="visible"/>
                                      </p:to>
                                    </p:set>
                                    <p:animEffect transition="in" filter="strips(upLeft)">
                                      <p:cBhvr>
                                        <p:cTn id="7" dur="500"/>
                                        <p:tgtEl>
                                          <p:spTgt spid="101378"/>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01379"/>
                                        </p:tgtEl>
                                        <p:attrNameLst>
                                          <p:attrName>style.visibility</p:attrName>
                                        </p:attrNameLst>
                                      </p:cBhvr>
                                      <p:to>
                                        <p:strVal val="visible"/>
                                      </p:to>
                                    </p:set>
                                    <p:animEffect transition="in" filter="strips(downRight)">
                                      <p:cBhvr>
                                        <p:cTn id="12" dur="500"/>
                                        <p:tgtEl>
                                          <p:spTgt spid="101379"/>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01381"/>
                                        </p:tgtEl>
                                        <p:attrNameLst>
                                          <p:attrName>style.visibility</p:attrName>
                                        </p:attrNameLst>
                                      </p:cBhvr>
                                      <p:to>
                                        <p:strVal val="visible"/>
                                      </p:to>
                                    </p:set>
                                    <p:animEffect transition="in" filter="checkerboard(across)">
                                      <p:cBhvr>
                                        <p:cTn id="17" dur="500"/>
                                        <p:tgtEl>
                                          <p:spTgt spid="1013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8" grpId="0" bldLvl="0" animBg="1" autoUpdateAnimBg="0"/>
      <p:bldP spid="101379" grpId="0" bldLvl="0" animBg="1" autoUpdateAnimBg="0"/>
      <p:bldP spid="101381" grpId="0" bldLvl="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ext Box 2"/>
          <p:cNvSpPr txBox="1">
            <a:spLocks noChangeArrowheads="1"/>
          </p:cNvSpPr>
          <p:nvPr/>
        </p:nvSpPr>
        <p:spPr bwMode="auto">
          <a:xfrm>
            <a:off x="762000" y="152400"/>
            <a:ext cx="7848600" cy="1938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zh-CN" altLang="en-US" sz="2400" b="1">
                <a:solidFill>
                  <a:srgbClr val="990033"/>
                </a:solidFill>
                <a:latin typeface="Arial" panose="020B0604020202020204" pitchFamily="34" charset="0"/>
                <a:ea typeface="楷体_GB2312" pitchFamily="49" charset="-122"/>
                <a:cs typeface="Arial" panose="020B0604020202020204" pitchFamily="34" charset="0"/>
              </a:rPr>
              <a:t>For example: </a:t>
            </a:r>
            <a:r>
              <a:rPr lang="zh-CN" altLang="en-US" sz="2400">
                <a:latin typeface="Arial" panose="020B0604020202020204" pitchFamily="34" charset="0"/>
                <a:ea typeface="楷体_GB2312" pitchFamily="49" charset="-122"/>
                <a:cs typeface="Arial" panose="020B0604020202020204" pitchFamily="34" charset="0"/>
              </a:rPr>
              <a:t>The student record contains three keywords:</a:t>
            </a:r>
          </a:p>
          <a:p>
            <a:pPr>
              <a:lnSpc>
                <a:spcPct val="125000"/>
              </a:lnSpc>
            </a:pPr>
            <a:r>
              <a:rPr lang="zh-CN" altLang="en-US" sz="2400" b="1">
                <a:solidFill>
                  <a:srgbClr val="0000FF"/>
                </a:solidFill>
                <a:latin typeface="Arial" panose="020B0604020202020204" pitchFamily="34" charset="0"/>
                <a:ea typeface="楷体_GB2312" pitchFamily="49" charset="-122"/>
                <a:cs typeface="Arial" panose="020B0604020202020204" pitchFamily="34" charset="0"/>
              </a:rPr>
              <a:t>Department</a:t>
            </a:r>
            <a:r>
              <a:rPr lang="zh-CN" altLang="en-US" sz="2400">
                <a:latin typeface="Arial" panose="020B0604020202020204" pitchFamily="34" charset="0"/>
                <a:ea typeface="楷体_GB2312" pitchFamily="49" charset="-122"/>
                <a:cs typeface="Arial" panose="020B0604020202020204" pitchFamily="34" charset="0"/>
              </a:rPr>
              <a:t>, </a:t>
            </a:r>
            <a:r>
              <a:rPr lang="zh-CN" altLang="en-US" sz="2400" b="1">
                <a:solidFill>
                  <a:srgbClr val="FF0000"/>
                </a:solidFill>
                <a:latin typeface="Arial" panose="020B0604020202020204" pitchFamily="34" charset="0"/>
                <a:ea typeface="楷体_GB2312" pitchFamily="49" charset="-122"/>
                <a:cs typeface="Arial" panose="020B0604020202020204" pitchFamily="34" charset="0"/>
              </a:rPr>
              <a:t>class number</a:t>
            </a:r>
            <a:r>
              <a:rPr lang="zh-CN" altLang="en-US" sz="2400">
                <a:latin typeface="Arial" panose="020B0604020202020204" pitchFamily="34" charset="0"/>
                <a:ea typeface="楷体_GB2312" pitchFamily="49" charset="-122"/>
                <a:cs typeface="Arial" panose="020B0604020202020204" pitchFamily="34" charset="0"/>
              </a:rPr>
              <a:t>, and s</a:t>
            </a:r>
            <a:r>
              <a:rPr lang="zh-CN" altLang="en-US" sz="2400" b="1">
                <a:solidFill>
                  <a:srgbClr val="990033"/>
                </a:solidFill>
                <a:latin typeface="Arial" panose="020B0604020202020204" pitchFamily="34" charset="0"/>
                <a:ea typeface="楷体_GB2312" pitchFamily="49" charset="-122"/>
                <a:cs typeface="Arial" panose="020B0604020202020204" pitchFamily="34" charset="0"/>
              </a:rPr>
              <a:t>erial number within the class</a:t>
            </a:r>
            <a:r>
              <a:rPr lang="zh-CN" altLang="en-US" sz="2400">
                <a:latin typeface="Arial" panose="020B0604020202020204" pitchFamily="34" charset="0"/>
                <a:ea typeface="楷体_GB2312" pitchFamily="49" charset="-122"/>
                <a:cs typeface="Arial" panose="020B0604020202020204" pitchFamily="34" charset="0"/>
              </a:rPr>
              <a:t>, with department as the primary keyword.</a:t>
            </a:r>
          </a:p>
        </p:txBody>
      </p:sp>
      <p:sp>
        <p:nvSpPr>
          <p:cNvPr id="102403" name="Rectangle 3"/>
          <p:cNvSpPr>
            <a:spLocks noChangeArrowheads="1"/>
          </p:cNvSpPr>
          <p:nvPr/>
        </p:nvSpPr>
        <p:spPr bwMode="auto">
          <a:xfrm>
            <a:off x="457200" y="3429000"/>
            <a:ext cx="8382000" cy="2743200"/>
          </a:xfrm>
          <a:prstGeom prst="rect">
            <a:avLst/>
          </a:prstGeom>
          <a:noFill/>
          <a:ln w="9525">
            <a:solidFill>
              <a:srgbClr val="009999"/>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Arial" panose="020B0604020202020204" pitchFamily="34" charset="0"/>
              <a:cs typeface="Arial" panose="020B0604020202020204" pitchFamily="34" charset="0"/>
            </a:endParaRPr>
          </a:p>
        </p:txBody>
      </p:sp>
      <p:sp>
        <p:nvSpPr>
          <p:cNvPr id="102404" name="Line 4"/>
          <p:cNvSpPr>
            <a:spLocks noChangeShapeType="1"/>
          </p:cNvSpPr>
          <p:nvPr/>
        </p:nvSpPr>
        <p:spPr bwMode="auto">
          <a:xfrm>
            <a:off x="457200" y="4114800"/>
            <a:ext cx="8382000" cy="0"/>
          </a:xfrm>
          <a:prstGeom prst="line">
            <a:avLst/>
          </a:prstGeom>
          <a:noFill/>
          <a:ln w="9525">
            <a:solidFill>
              <a:srgbClr val="0099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405" name="Line 5"/>
          <p:cNvSpPr>
            <a:spLocks noChangeShapeType="1"/>
          </p:cNvSpPr>
          <p:nvPr/>
        </p:nvSpPr>
        <p:spPr bwMode="auto">
          <a:xfrm>
            <a:off x="457200" y="4800600"/>
            <a:ext cx="8382000" cy="0"/>
          </a:xfrm>
          <a:prstGeom prst="line">
            <a:avLst/>
          </a:prstGeom>
          <a:noFill/>
          <a:ln w="9525">
            <a:solidFill>
              <a:srgbClr val="0099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406" name="Line 6"/>
          <p:cNvSpPr>
            <a:spLocks noChangeShapeType="1"/>
          </p:cNvSpPr>
          <p:nvPr/>
        </p:nvSpPr>
        <p:spPr bwMode="auto">
          <a:xfrm>
            <a:off x="457200" y="5486400"/>
            <a:ext cx="8382000" cy="0"/>
          </a:xfrm>
          <a:prstGeom prst="line">
            <a:avLst/>
          </a:prstGeom>
          <a:noFill/>
          <a:ln w="9525">
            <a:solidFill>
              <a:srgbClr val="0099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412" name="Text Box 12"/>
          <p:cNvSpPr txBox="1">
            <a:spLocks noChangeArrowheads="1"/>
          </p:cNvSpPr>
          <p:nvPr/>
        </p:nvSpPr>
        <p:spPr bwMode="auto">
          <a:xfrm>
            <a:off x="381000" y="3435350"/>
            <a:ext cx="2319338" cy="706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000" b="1">
                <a:solidFill>
                  <a:schemeClr val="accent2"/>
                </a:solidFill>
                <a:latin typeface="Arial" panose="020B0604020202020204" pitchFamily="34" charset="0"/>
                <a:ea typeface="楷体_GB2312" pitchFamily="49" charset="-122"/>
                <a:cs typeface="Arial" panose="020B0604020202020204" pitchFamily="34" charset="0"/>
              </a:rPr>
              <a:t>disordered sequence</a:t>
            </a:r>
          </a:p>
        </p:txBody>
      </p:sp>
      <p:sp>
        <p:nvSpPr>
          <p:cNvPr id="102413" name="Text Box 13"/>
          <p:cNvSpPr txBox="1">
            <a:spLocks noChangeArrowheads="1"/>
          </p:cNvSpPr>
          <p:nvPr/>
        </p:nvSpPr>
        <p:spPr bwMode="auto">
          <a:xfrm>
            <a:off x="457200" y="4191000"/>
            <a:ext cx="209867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a:solidFill>
                  <a:schemeClr val="accent2"/>
                </a:solidFill>
                <a:latin typeface="Arial" panose="020B0604020202020204" pitchFamily="34" charset="0"/>
                <a:ea typeface="楷体_GB2312" pitchFamily="49" charset="-122"/>
                <a:cs typeface="Arial" panose="020B0604020202020204" pitchFamily="34" charset="0"/>
              </a:rPr>
              <a:t>K2 sort</a:t>
            </a:r>
          </a:p>
        </p:txBody>
      </p:sp>
      <p:sp>
        <p:nvSpPr>
          <p:cNvPr id="102414" name="Text Box 14"/>
          <p:cNvSpPr txBox="1">
            <a:spLocks noChangeArrowheads="1"/>
          </p:cNvSpPr>
          <p:nvPr/>
        </p:nvSpPr>
        <p:spPr bwMode="auto">
          <a:xfrm>
            <a:off x="457200" y="4800600"/>
            <a:ext cx="209867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a:solidFill>
                  <a:schemeClr val="accent2"/>
                </a:solidFill>
                <a:latin typeface="Arial" panose="020B0604020202020204" pitchFamily="34" charset="0"/>
                <a:ea typeface="楷体_GB2312" pitchFamily="49" charset="-122"/>
                <a:cs typeface="Arial" panose="020B0604020202020204" pitchFamily="34" charset="0"/>
              </a:rPr>
              <a:t>K1 sort</a:t>
            </a:r>
          </a:p>
        </p:txBody>
      </p:sp>
      <p:sp>
        <p:nvSpPr>
          <p:cNvPr id="102415" name="Text Box 15"/>
          <p:cNvSpPr txBox="1">
            <a:spLocks noChangeArrowheads="1"/>
          </p:cNvSpPr>
          <p:nvPr/>
        </p:nvSpPr>
        <p:spPr bwMode="auto">
          <a:xfrm>
            <a:off x="457200" y="5562600"/>
            <a:ext cx="2170113"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a:solidFill>
                  <a:schemeClr val="accent2"/>
                </a:solidFill>
                <a:latin typeface="Arial" panose="020B0604020202020204" pitchFamily="34" charset="0"/>
                <a:ea typeface="楷体_GB2312" pitchFamily="49" charset="-122"/>
                <a:cs typeface="Arial" panose="020B0604020202020204" pitchFamily="34" charset="0"/>
              </a:rPr>
              <a:t>K0 sort</a:t>
            </a:r>
          </a:p>
        </p:txBody>
      </p:sp>
      <p:sp>
        <p:nvSpPr>
          <p:cNvPr id="102436" name="Rectangle 36"/>
          <p:cNvSpPr>
            <a:spLocks noChangeArrowheads="1"/>
          </p:cNvSpPr>
          <p:nvPr/>
        </p:nvSpPr>
        <p:spPr bwMode="auto">
          <a:xfrm>
            <a:off x="762000" y="2438400"/>
            <a:ext cx="5786120" cy="553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5000"/>
              </a:lnSpc>
            </a:pPr>
            <a:r>
              <a:rPr lang="en-US" altLang="zh-CN" sz="2400" b="1">
                <a:latin typeface="Arial" panose="020B0604020202020204" pitchFamily="34" charset="0"/>
                <a:ea typeface="楷体_GB2312" pitchFamily="49" charset="-122"/>
                <a:cs typeface="Arial" panose="020B0604020202020204" pitchFamily="34" charset="0"/>
              </a:rPr>
              <a:t>The LSD sorting process is as follows:</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111</a:t>
            </a:fld>
            <a:endParaRPr lang="en-US" altLang="zh-CN"/>
          </a:p>
        </p:txBody>
      </p:sp>
      <p:sp>
        <p:nvSpPr>
          <p:cNvPr id="29" name="Line 7"/>
          <p:cNvSpPr>
            <a:spLocks noChangeShapeType="1"/>
          </p:cNvSpPr>
          <p:nvPr/>
        </p:nvSpPr>
        <p:spPr bwMode="auto">
          <a:xfrm>
            <a:off x="4800600" y="3429000"/>
            <a:ext cx="0" cy="2743200"/>
          </a:xfrm>
          <a:prstGeom prst="line">
            <a:avLst/>
          </a:prstGeom>
          <a:noFill/>
          <a:ln w="9525">
            <a:solidFill>
              <a:srgbClr val="0099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Line 8"/>
          <p:cNvSpPr>
            <a:spLocks noChangeShapeType="1"/>
          </p:cNvSpPr>
          <p:nvPr/>
        </p:nvSpPr>
        <p:spPr bwMode="auto">
          <a:xfrm>
            <a:off x="6172200" y="3429000"/>
            <a:ext cx="0" cy="2743200"/>
          </a:xfrm>
          <a:prstGeom prst="line">
            <a:avLst/>
          </a:prstGeom>
          <a:noFill/>
          <a:ln w="9525">
            <a:solidFill>
              <a:srgbClr val="0099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9"/>
          <p:cNvSpPr>
            <a:spLocks noChangeShapeType="1"/>
          </p:cNvSpPr>
          <p:nvPr/>
        </p:nvSpPr>
        <p:spPr bwMode="auto">
          <a:xfrm>
            <a:off x="7543800" y="3429000"/>
            <a:ext cx="0" cy="2743200"/>
          </a:xfrm>
          <a:prstGeom prst="line">
            <a:avLst/>
          </a:prstGeom>
          <a:noFill/>
          <a:ln w="9525">
            <a:solidFill>
              <a:srgbClr val="0099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10"/>
          <p:cNvSpPr>
            <a:spLocks noChangeShapeType="1"/>
          </p:cNvSpPr>
          <p:nvPr/>
        </p:nvSpPr>
        <p:spPr bwMode="auto">
          <a:xfrm>
            <a:off x="3505200" y="3429000"/>
            <a:ext cx="0" cy="2743200"/>
          </a:xfrm>
          <a:prstGeom prst="line">
            <a:avLst/>
          </a:prstGeom>
          <a:noFill/>
          <a:ln w="9525">
            <a:solidFill>
              <a:srgbClr val="0099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11"/>
          <p:cNvSpPr>
            <a:spLocks noChangeShapeType="1"/>
          </p:cNvSpPr>
          <p:nvPr/>
        </p:nvSpPr>
        <p:spPr bwMode="auto">
          <a:xfrm>
            <a:off x="2286000" y="3429000"/>
            <a:ext cx="0" cy="2743200"/>
          </a:xfrm>
          <a:prstGeom prst="line">
            <a:avLst/>
          </a:prstGeom>
          <a:noFill/>
          <a:ln w="9525">
            <a:solidFill>
              <a:srgbClr val="0099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Text Box 16"/>
          <p:cNvSpPr txBox="1">
            <a:spLocks noChangeArrowheads="1"/>
          </p:cNvSpPr>
          <p:nvPr/>
        </p:nvSpPr>
        <p:spPr bwMode="auto">
          <a:xfrm>
            <a:off x="2286000" y="3505200"/>
            <a:ext cx="11366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000">
                <a:solidFill>
                  <a:srgbClr val="008784"/>
                </a:solidFill>
                <a:ea typeface="楷体_GB2312" pitchFamily="49" charset="-122"/>
              </a:rPr>
              <a:t>3,2,30</a:t>
            </a:r>
            <a:endParaRPr lang="en-US" altLang="zh-CN" sz="3000">
              <a:ea typeface="楷体_GB2312" pitchFamily="49" charset="-122"/>
            </a:endParaRPr>
          </a:p>
        </p:txBody>
      </p:sp>
      <p:sp>
        <p:nvSpPr>
          <p:cNvPr id="35" name="Text Box 17"/>
          <p:cNvSpPr txBox="1">
            <a:spLocks noChangeArrowheads="1"/>
          </p:cNvSpPr>
          <p:nvPr/>
        </p:nvSpPr>
        <p:spPr bwMode="auto">
          <a:xfrm>
            <a:off x="3565525" y="3505200"/>
            <a:ext cx="11366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000">
                <a:solidFill>
                  <a:srgbClr val="008784"/>
                </a:solidFill>
                <a:ea typeface="楷体_GB2312" pitchFamily="49" charset="-122"/>
              </a:rPr>
              <a:t>1,2,15</a:t>
            </a:r>
            <a:endParaRPr lang="en-US" altLang="zh-CN" sz="3000">
              <a:ea typeface="楷体_GB2312" pitchFamily="49" charset="-122"/>
            </a:endParaRPr>
          </a:p>
        </p:txBody>
      </p:sp>
      <p:sp>
        <p:nvSpPr>
          <p:cNvPr id="36" name="Text Box 18"/>
          <p:cNvSpPr txBox="1">
            <a:spLocks noChangeArrowheads="1"/>
          </p:cNvSpPr>
          <p:nvPr/>
        </p:nvSpPr>
        <p:spPr bwMode="auto">
          <a:xfrm>
            <a:off x="4860925" y="3505200"/>
            <a:ext cx="11366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000">
                <a:solidFill>
                  <a:srgbClr val="008784"/>
                </a:solidFill>
                <a:ea typeface="楷体_GB2312" pitchFamily="49" charset="-122"/>
              </a:rPr>
              <a:t>3,1,20</a:t>
            </a:r>
            <a:endParaRPr lang="en-US" altLang="zh-CN" sz="3000">
              <a:ea typeface="楷体_GB2312" pitchFamily="49" charset="-122"/>
            </a:endParaRPr>
          </a:p>
        </p:txBody>
      </p:sp>
      <p:sp>
        <p:nvSpPr>
          <p:cNvPr id="37" name="Text Box 19"/>
          <p:cNvSpPr txBox="1">
            <a:spLocks noChangeArrowheads="1"/>
          </p:cNvSpPr>
          <p:nvPr/>
        </p:nvSpPr>
        <p:spPr bwMode="auto">
          <a:xfrm>
            <a:off x="6232525" y="3505200"/>
            <a:ext cx="11366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000">
                <a:solidFill>
                  <a:srgbClr val="008784"/>
                </a:solidFill>
                <a:ea typeface="楷体_GB2312" pitchFamily="49" charset="-122"/>
              </a:rPr>
              <a:t>2,3,18</a:t>
            </a:r>
            <a:endParaRPr lang="en-US" altLang="zh-CN" sz="3000">
              <a:ea typeface="楷体_GB2312" pitchFamily="49" charset="-122"/>
            </a:endParaRPr>
          </a:p>
        </p:txBody>
      </p:sp>
      <p:sp>
        <p:nvSpPr>
          <p:cNvPr id="38" name="Text Box 20"/>
          <p:cNvSpPr txBox="1">
            <a:spLocks noChangeArrowheads="1"/>
          </p:cNvSpPr>
          <p:nvPr/>
        </p:nvSpPr>
        <p:spPr bwMode="auto">
          <a:xfrm>
            <a:off x="7620000" y="3505200"/>
            <a:ext cx="11366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000">
                <a:solidFill>
                  <a:srgbClr val="008784"/>
                </a:solidFill>
                <a:ea typeface="楷体_GB2312" pitchFamily="49" charset="-122"/>
              </a:rPr>
              <a:t>2,1,20</a:t>
            </a:r>
            <a:endParaRPr lang="en-US" altLang="zh-CN" sz="3000">
              <a:ea typeface="楷体_GB2312" pitchFamily="49" charset="-122"/>
            </a:endParaRPr>
          </a:p>
        </p:txBody>
      </p:sp>
      <p:sp>
        <p:nvSpPr>
          <p:cNvPr id="39" name="Text Box 21"/>
          <p:cNvSpPr txBox="1">
            <a:spLocks noChangeArrowheads="1"/>
          </p:cNvSpPr>
          <p:nvPr/>
        </p:nvSpPr>
        <p:spPr bwMode="auto">
          <a:xfrm>
            <a:off x="2286000" y="4191000"/>
            <a:ext cx="1073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rgbClr val="008784"/>
                </a:solidFill>
                <a:ea typeface="楷体_GB2312" pitchFamily="49" charset="-122"/>
              </a:rPr>
              <a:t>1,2,</a:t>
            </a:r>
            <a:r>
              <a:rPr lang="en-US" altLang="zh-CN" sz="2800" b="1">
                <a:solidFill>
                  <a:srgbClr val="800000"/>
                </a:solidFill>
                <a:ea typeface="楷体_GB2312" pitchFamily="49" charset="-122"/>
              </a:rPr>
              <a:t>15</a:t>
            </a:r>
          </a:p>
        </p:txBody>
      </p:sp>
      <p:sp>
        <p:nvSpPr>
          <p:cNvPr id="40" name="Text Box 22"/>
          <p:cNvSpPr txBox="1">
            <a:spLocks noChangeArrowheads="1"/>
          </p:cNvSpPr>
          <p:nvPr/>
        </p:nvSpPr>
        <p:spPr bwMode="auto">
          <a:xfrm>
            <a:off x="3581400" y="4175125"/>
            <a:ext cx="11366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000">
                <a:solidFill>
                  <a:srgbClr val="008784"/>
                </a:solidFill>
                <a:ea typeface="楷体_GB2312" pitchFamily="49" charset="-122"/>
              </a:rPr>
              <a:t>2,3,</a:t>
            </a:r>
            <a:r>
              <a:rPr lang="en-US" altLang="zh-CN" sz="3000" b="1">
                <a:solidFill>
                  <a:srgbClr val="800000"/>
                </a:solidFill>
                <a:ea typeface="楷体_GB2312" pitchFamily="49" charset="-122"/>
              </a:rPr>
              <a:t>18</a:t>
            </a:r>
          </a:p>
        </p:txBody>
      </p:sp>
      <p:sp>
        <p:nvSpPr>
          <p:cNvPr id="41" name="Text Box 23"/>
          <p:cNvSpPr txBox="1">
            <a:spLocks noChangeArrowheads="1"/>
          </p:cNvSpPr>
          <p:nvPr/>
        </p:nvSpPr>
        <p:spPr bwMode="auto">
          <a:xfrm>
            <a:off x="4860925" y="4157663"/>
            <a:ext cx="11366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000">
                <a:solidFill>
                  <a:srgbClr val="008784"/>
                </a:solidFill>
                <a:ea typeface="楷体_GB2312" pitchFamily="49" charset="-122"/>
              </a:rPr>
              <a:t>3,1,</a:t>
            </a:r>
            <a:r>
              <a:rPr lang="en-US" altLang="zh-CN" sz="3000" b="1">
                <a:solidFill>
                  <a:srgbClr val="800000"/>
                </a:solidFill>
                <a:ea typeface="楷体_GB2312" pitchFamily="49" charset="-122"/>
              </a:rPr>
              <a:t>20</a:t>
            </a:r>
          </a:p>
        </p:txBody>
      </p:sp>
      <p:sp>
        <p:nvSpPr>
          <p:cNvPr id="42" name="Text Box 24"/>
          <p:cNvSpPr txBox="1">
            <a:spLocks noChangeArrowheads="1"/>
          </p:cNvSpPr>
          <p:nvPr/>
        </p:nvSpPr>
        <p:spPr bwMode="auto">
          <a:xfrm>
            <a:off x="6232525" y="4175125"/>
            <a:ext cx="11366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000">
                <a:solidFill>
                  <a:srgbClr val="008784"/>
                </a:solidFill>
                <a:ea typeface="楷体_GB2312" pitchFamily="49" charset="-122"/>
              </a:rPr>
              <a:t>2,1,</a:t>
            </a:r>
            <a:r>
              <a:rPr lang="en-US" altLang="zh-CN" sz="3000" b="1">
                <a:solidFill>
                  <a:srgbClr val="800000"/>
                </a:solidFill>
                <a:ea typeface="楷体_GB2312" pitchFamily="49" charset="-122"/>
              </a:rPr>
              <a:t>20</a:t>
            </a:r>
          </a:p>
        </p:txBody>
      </p:sp>
      <p:sp>
        <p:nvSpPr>
          <p:cNvPr id="43" name="Text Box 25"/>
          <p:cNvSpPr txBox="1">
            <a:spLocks noChangeArrowheads="1"/>
          </p:cNvSpPr>
          <p:nvPr/>
        </p:nvSpPr>
        <p:spPr bwMode="auto">
          <a:xfrm>
            <a:off x="7620000" y="4157663"/>
            <a:ext cx="11366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000">
                <a:solidFill>
                  <a:srgbClr val="008784"/>
                </a:solidFill>
                <a:ea typeface="楷体_GB2312" pitchFamily="49" charset="-122"/>
              </a:rPr>
              <a:t>3,2,</a:t>
            </a:r>
            <a:r>
              <a:rPr lang="en-US" altLang="zh-CN" sz="3000" b="1">
                <a:solidFill>
                  <a:srgbClr val="800000"/>
                </a:solidFill>
                <a:ea typeface="楷体_GB2312" pitchFamily="49" charset="-122"/>
              </a:rPr>
              <a:t>30</a:t>
            </a:r>
          </a:p>
        </p:txBody>
      </p:sp>
      <p:sp>
        <p:nvSpPr>
          <p:cNvPr id="44" name="Text Box 26"/>
          <p:cNvSpPr txBox="1">
            <a:spLocks noChangeArrowheads="1"/>
          </p:cNvSpPr>
          <p:nvPr/>
        </p:nvSpPr>
        <p:spPr bwMode="auto">
          <a:xfrm>
            <a:off x="2286000" y="4876800"/>
            <a:ext cx="11366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000">
                <a:solidFill>
                  <a:srgbClr val="008784"/>
                </a:solidFill>
                <a:ea typeface="楷体_GB2312" pitchFamily="49" charset="-122"/>
              </a:rPr>
              <a:t>3,</a:t>
            </a:r>
            <a:r>
              <a:rPr lang="en-US" altLang="zh-CN" sz="3000" b="1">
                <a:solidFill>
                  <a:srgbClr val="FF0000"/>
                </a:solidFill>
                <a:ea typeface="楷体_GB2312" pitchFamily="49" charset="-122"/>
              </a:rPr>
              <a:t>1</a:t>
            </a:r>
            <a:r>
              <a:rPr lang="en-US" altLang="zh-CN" sz="3000">
                <a:solidFill>
                  <a:srgbClr val="008784"/>
                </a:solidFill>
                <a:ea typeface="楷体_GB2312" pitchFamily="49" charset="-122"/>
              </a:rPr>
              <a:t>,20</a:t>
            </a:r>
            <a:endParaRPr lang="en-US" altLang="zh-CN" sz="3000">
              <a:ea typeface="楷体_GB2312" pitchFamily="49" charset="-122"/>
            </a:endParaRPr>
          </a:p>
        </p:txBody>
      </p:sp>
      <p:sp>
        <p:nvSpPr>
          <p:cNvPr id="45" name="Text Box 27"/>
          <p:cNvSpPr txBox="1">
            <a:spLocks noChangeArrowheads="1"/>
          </p:cNvSpPr>
          <p:nvPr/>
        </p:nvSpPr>
        <p:spPr bwMode="auto">
          <a:xfrm>
            <a:off x="3565525" y="4843463"/>
            <a:ext cx="11366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000">
                <a:solidFill>
                  <a:srgbClr val="008784"/>
                </a:solidFill>
                <a:ea typeface="楷体_GB2312" pitchFamily="49" charset="-122"/>
              </a:rPr>
              <a:t>2,</a:t>
            </a:r>
            <a:r>
              <a:rPr lang="en-US" altLang="zh-CN" sz="3000" b="1">
                <a:solidFill>
                  <a:srgbClr val="FF0000"/>
                </a:solidFill>
                <a:ea typeface="楷体_GB2312" pitchFamily="49" charset="-122"/>
              </a:rPr>
              <a:t>1</a:t>
            </a:r>
            <a:r>
              <a:rPr lang="en-US" altLang="zh-CN" sz="3000">
                <a:solidFill>
                  <a:srgbClr val="008784"/>
                </a:solidFill>
                <a:ea typeface="楷体_GB2312" pitchFamily="49" charset="-122"/>
              </a:rPr>
              <a:t>,20</a:t>
            </a:r>
            <a:endParaRPr lang="en-US" altLang="zh-CN" sz="3000">
              <a:ea typeface="楷体_GB2312" pitchFamily="49" charset="-122"/>
            </a:endParaRPr>
          </a:p>
        </p:txBody>
      </p:sp>
      <p:sp>
        <p:nvSpPr>
          <p:cNvPr id="46" name="Text Box 28"/>
          <p:cNvSpPr txBox="1">
            <a:spLocks noChangeArrowheads="1"/>
          </p:cNvSpPr>
          <p:nvPr/>
        </p:nvSpPr>
        <p:spPr bwMode="auto">
          <a:xfrm>
            <a:off x="4860925" y="4843463"/>
            <a:ext cx="11366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000">
                <a:solidFill>
                  <a:srgbClr val="008784"/>
                </a:solidFill>
                <a:ea typeface="楷体_GB2312" pitchFamily="49" charset="-122"/>
              </a:rPr>
              <a:t>1,</a:t>
            </a:r>
            <a:r>
              <a:rPr lang="en-US" altLang="zh-CN" sz="3000" b="1">
                <a:solidFill>
                  <a:srgbClr val="FF0000"/>
                </a:solidFill>
                <a:ea typeface="楷体_GB2312" pitchFamily="49" charset="-122"/>
              </a:rPr>
              <a:t>2</a:t>
            </a:r>
            <a:r>
              <a:rPr lang="en-US" altLang="zh-CN" sz="3000">
                <a:solidFill>
                  <a:srgbClr val="008784"/>
                </a:solidFill>
                <a:ea typeface="楷体_GB2312" pitchFamily="49" charset="-122"/>
              </a:rPr>
              <a:t>,15</a:t>
            </a:r>
            <a:endParaRPr lang="en-US" altLang="zh-CN" sz="3000">
              <a:ea typeface="楷体_GB2312" pitchFamily="49" charset="-122"/>
            </a:endParaRPr>
          </a:p>
        </p:txBody>
      </p:sp>
      <p:sp>
        <p:nvSpPr>
          <p:cNvPr id="47" name="Text Box 29"/>
          <p:cNvSpPr txBox="1">
            <a:spLocks noChangeArrowheads="1"/>
          </p:cNvSpPr>
          <p:nvPr/>
        </p:nvSpPr>
        <p:spPr bwMode="auto">
          <a:xfrm>
            <a:off x="6248400" y="4860925"/>
            <a:ext cx="11366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000">
                <a:solidFill>
                  <a:srgbClr val="008784"/>
                </a:solidFill>
                <a:ea typeface="楷体_GB2312" pitchFamily="49" charset="-122"/>
              </a:rPr>
              <a:t>3,</a:t>
            </a:r>
            <a:r>
              <a:rPr lang="en-US" altLang="zh-CN" sz="3000" b="1">
                <a:solidFill>
                  <a:srgbClr val="FF0000"/>
                </a:solidFill>
                <a:ea typeface="楷体_GB2312" pitchFamily="49" charset="-122"/>
              </a:rPr>
              <a:t>2</a:t>
            </a:r>
            <a:r>
              <a:rPr lang="en-US" altLang="zh-CN" sz="3000">
                <a:solidFill>
                  <a:srgbClr val="008784"/>
                </a:solidFill>
                <a:ea typeface="楷体_GB2312" pitchFamily="49" charset="-122"/>
              </a:rPr>
              <a:t>,30</a:t>
            </a:r>
            <a:endParaRPr lang="en-US" altLang="zh-CN" sz="3000">
              <a:ea typeface="楷体_GB2312" pitchFamily="49" charset="-122"/>
            </a:endParaRPr>
          </a:p>
        </p:txBody>
      </p:sp>
      <p:sp>
        <p:nvSpPr>
          <p:cNvPr id="48" name="Text Box 30"/>
          <p:cNvSpPr txBox="1">
            <a:spLocks noChangeArrowheads="1"/>
          </p:cNvSpPr>
          <p:nvPr/>
        </p:nvSpPr>
        <p:spPr bwMode="auto">
          <a:xfrm>
            <a:off x="7604125" y="4843463"/>
            <a:ext cx="11366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000">
                <a:solidFill>
                  <a:srgbClr val="008784"/>
                </a:solidFill>
                <a:ea typeface="楷体_GB2312" pitchFamily="49" charset="-122"/>
              </a:rPr>
              <a:t>2,</a:t>
            </a:r>
            <a:r>
              <a:rPr lang="en-US" altLang="zh-CN" sz="3000" b="1">
                <a:solidFill>
                  <a:srgbClr val="FF0000"/>
                </a:solidFill>
                <a:ea typeface="楷体_GB2312" pitchFamily="49" charset="-122"/>
              </a:rPr>
              <a:t>3</a:t>
            </a:r>
            <a:r>
              <a:rPr lang="en-US" altLang="zh-CN" sz="3000">
                <a:solidFill>
                  <a:srgbClr val="008784"/>
                </a:solidFill>
                <a:ea typeface="楷体_GB2312" pitchFamily="49" charset="-122"/>
              </a:rPr>
              <a:t>,18</a:t>
            </a:r>
            <a:endParaRPr lang="en-US" altLang="zh-CN" sz="3000">
              <a:ea typeface="楷体_GB2312" pitchFamily="49" charset="-122"/>
            </a:endParaRPr>
          </a:p>
        </p:txBody>
      </p:sp>
      <p:sp>
        <p:nvSpPr>
          <p:cNvPr id="49" name="Text Box 31"/>
          <p:cNvSpPr txBox="1">
            <a:spLocks noChangeArrowheads="1"/>
          </p:cNvSpPr>
          <p:nvPr/>
        </p:nvSpPr>
        <p:spPr bwMode="auto">
          <a:xfrm>
            <a:off x="2216150" y="5562600"/>
            <a:ext cx="12319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000" b="1">
                <a:solidFill>
                  <a:srgbClr val="000080"/>
                </a:solidFill>
                <a:ea typeface="楷体_GB2312" pitchFamily="49" charset="-122"/>
              </a:rPr>
              <a:t> </a:t>
            </a:r>
            <a:r>
              <a:rPr lang="en-US" altLang="zh-CN" sz="3000" b="1">
                <a:solidFill>
                  <a:srgbClr val="0000FF"/>
                </a:solidFill>
                <a:ea typeface="楷体_GB2312" pitchFamily="49" charset="-122"/>
              </a:rPr>
              <a:t>1</a:t>
            </a:r>
            <a:r>
              <a:rPr lang="en-US" altLang="zh-CN" sz="3000">
                <a:solidFill>
                  <a:srgbClr val="008784"/>
                </a:solidFill>
                <a:ea typeface="楷体_GB2312" pitchFamily="49" charset="-122"/>
              </a:rPr>
              <a:t>,2,15</a:t>
            </a:r>
            <a:endParaRPr lang="en-US" altLang="zh-CN" sz="3000">
              <a:ea typeface="楷体_GB2312" pitchFamily="49" charset="-122"/>
            </a:endParaRPr>
          </a:p>
        </p:txBody>
      </p:sp>
      <p:sp>
        <p:nvSpPr>
          <p:cNvPr id="50" name="Text Box 32"/>
          <p:cNvSpPr txBox="1">
            <a:spLocks noChangeArrowheads="1"/>
          </p:cNvSpPr>
          <p:nvPr/>
        </p:nvSpPr>
        <p:spPr bwMode="auto">
          <a:xfrm>
            <a:off x="3581400" y="5562600"/>
            <a:ext cx="11366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000" b="1">
                <a:solidFill>
                  <a:srgbClr val="0000FF"/>
                </a:solidFill>
                <a:ea typeface="楷体_GB2312" pitchFamily="49" charset="-122"/>
              </a:rPr>
              <a:t>2</a:t>
            </a:r>
            <a:r>
              <a:rPr lang="en-US" altLang="zh-CN" sz="3000">
                <a:solidFill>
                  <a:srgbClr val="008784"/>
                </a:solidFill>
                <a:ea typeface="楷体_GB2312" pitchFamily="49" charset="-122"/>
              </a:rPr>
              <a:t>,1,20</a:t>
            </a:r>
            <a:endParaRPr lang="en-US" altLang="zh-CN" sz="3000">
              <a:ea typeface="楷体_GB2312" pitchFamily="49" charset="-122"/>
            </a:endParaRPr>
          </a:p>
        </p:txBody>
      </p:sp>
      <p:sp>
        <p:nvSpPr>
          <p:cNvPr id="51" name="Text Box 33"/>
          <p:cNvSpPr txBox="1">
            <a:spLocks noChangeArrowheads="1"/>
          </p:cNvSpPr>
          <p:nvPr/>
        </p:nvSpPr>
        <p:spPr bwMode="auto">
          <a:xfrm>
            <a:off x="4876800" y="5562600"/>
            <a:ext cx="11366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000" b="1">
                <a:solidFill>
                  <a:srgbClr val="0000FF"/>
                </a:solidFill>
                <a:ea typeface="楷体_GB2312" pitchFamily="49" charset="-122"/>
              </a:rPr>
              <a:t>2</a:t>
            </a:r>
            <a:r>
              <a:rPr lang="en-US" altLang="zh-CN" sz="3000">
                <a:solidFill>
                  <a:srgbClr val="008784"/>
                </a:solidFill>
                <a:ea typeface="楷体_GB2312" pitchFamily="49" charset="-122"/>
              </a:rPr>
              <a:t>,3,18</a:t>
            </a:r>
            <a:endParaRPr lang="en-US" altLang="zh-CN" sz="3000">
              <a:ea typeface="楷体_GB2312" pitchFamily="49" charset="-122"/>
            </a:endParaRPr>
          </a:p>
        </p:txBody>
      </p:sp>
      <p:sp>
        <p:nvSpPr>
          <p:cNvPr id="52" name="Text Box 34"/>
          <p:cNvSpPr txBox="1">
            <a:spLocks noChangeArrowheads="1"/>
          </p:cNvSpPr>
          <p:nvPr/>
        </p:nvSpPr>
        <p:spPr bwMode="auto">
          <a:xfrm>
            <a:off x="6254750" y="5562600"/>
            <a:ext cx="11366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000" b="1">
                <a:solidFill>
                  <a:srgbClr val="0000FF"/>
                </a:solidFill>
                <a:ea typeface="楷体_GB2312" pitchFamily="49" charset="-122"/>
              </a:rPr>
              <a:t>3</a:t>
            </a:r>
            <a:r>
              <a:rPr lang="en-US" altLang="zh-CN" sz="3000">
                <a:solidFill>
                  <a:srgbClr val="008784"/>
                </a:solidFill>
                <a:ea typeface="楷体_GB2312" pitchFamily="49" charset="-122"/>
              </a:rPr>
              <a:t>,1,20</a:t>
            </a:r>
            <a:endParaRPr lang="en-US" altLang="zh-CN" sz="3000">
              <a:ea typeface="楷体_GB2312" pitchFamily="49" charset="-122"/>
            </a:endParaRPr>
          </a:p>
        </p:txBody>
      </p:sp>
      <p:sp>
        <p:nvSpPr>
          <p:cNvPr id="53" name="Text Box 35"/>
          <p:cNvSpPr txBox="1">
            <a:spLocks noChangeArrowheads="1"/>
          </p:cNvSpPr>
          <p:nvPr/>
        </p:nvSpPr>
        <p:spPr bwMode="auto">
          <a:xfrm>
            <a:off x="7620000" y="5562600"/>
            <a:ext cx="11366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000" b="1">
                <a:solidFill>
                  <a:srgbClr val="0000FF"/>
                </a:solidFill>
                <a:ea typeface="楷体_GB2312" pitchFamily="49" charset="-122"/>
              </a:rPr>
              <a:t>3</a:t>
            </a:r>
            <a:r>
              <a:rPr lang="en-US" altLang="zh-CN" sz="3000">
                <a:solidFill>
                  <a:srgbClr val="008784"/>
                </a:solidFill>
                <a:ea typeface="楷体_GB2312" pitchFamily="49" charset="-122"/>
              </a:rPr>
              <a:t>,2,30</a:t>
            </a:r>
            <a:endParaRPr lang="en-US" altLang="zh-CN" sz="3000">
              <a:ea typeface="楷体_GB2312" pitchFamily="49" charset="-122"/>
            </a:endParaRP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102402"/>
                                        </p:tgtEl>
                                        <p:attrNameLst>
                                          <p:attrName>style.visibility</p:attrName>
                                        </p:attrNameLst>
                                      </p:cBhvr>
                                      <p:to>
                                        <p:strVal val="visible"/>
                                      </p:to>
                                    </p:set>
                                    <p:animEffect transition="in" filter="strips(downRight)">
                                      <p:cBhvr>
                                        <p:cTn id="7" dur="500"/>
                                        <p:tgtEl>
                                          <p:spTgt spid="10240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2436"/>
                                        </p:tgtEl>
                                        <p:attrNameLst>
                                          <p:attrName>style.visibility</p:attrName>
                                        </p:attrNameLst>
                                      </p:cBhvr>
                                      <p:to>
                                        <p:strVal val="visible"/>
                                      </p:to>
                                    </p:set>
                                    <p:animEffect transition="in" filter="wipe(left)">
                                      <p:cBhvr>
                                        <p:cTn id="12" dur="500"/>
                                        <p:tgtEl>
                                          <p:spTgt spid="102436"/>
                                        </p:tgtEl>
                                      </p:cBhvr>
                                    </p:animEffect>
                                  </p:childTnLst>
                                </p:cTn>
                              </p:par>
                            </p:childTnLst>
                          </p:cTn>
                        </p:par>
                        <p:par>
                          <p:cTn id="13" fill="hold">
                            <p:stCondLst>
                              <p:cond delay="500"/>
                            </p:stCondLst>
                            <p:childTnLst>
                              <p:par>
                                <p:cTn id="14" presetID="17" presetClass="entr" presetSubtype="8" fill="hold" grpId="0" nodeType="afterEffect">
                                  <p:stCondLst>
                                    <p:cond delay="0"/>
                                  </p:stCondLst>
                                  <p:childTnLst>
                                    <p:set>
                                      <p:cBhvr>
                                        <p:cTn id="15" dur="1" fill="hold">
                                          <p:stCondLst>
                                            <p:cond delay="0"/>
                                          </p:stCondLst>
                                        </p:cTn>
                                        <p:tgtEl>
                                          <p:spTgt spid="102403"/>
                                        </p:tgtEl>
                                        <p:attrNameLst>
                                          <p:attrName>style.visibility</p:attrName>
                                        </p:attrNameLst>
                                      </p:cBhvr>
                                      <p:to>
                                        <p:strVal val="visible"/>
                                      </p:to>
                                    </p:set>
                                    <p:anim calcmode="lin" valueType="num">
                                      <p:cBhvr>
                                        <p:cTn id="16" dur="500" fill="hold"/>
                                        <p:tgtEl>
                                          <p:spTgt spid="102403"/>
                                        </p:tgtEl>
                                        <p:attrNameLst>
                                          <p:attrName>ppt_x</p:attrName>
                                        </p:attrNameLst>
                                      </p:cBhvr>
                                      <p:tavLst>
                                        <p:tav tm="0">
                                          <p:val>
                                            <p:strVal val="#ppt_x-#ppt_w/2"/>
                                          </p:val>
                                        </p:tav>
                                        <p:tav tm="100000">
                                          <p:val>
                                            <p:strVal val="#ppt_x"/>
                                          </p:val>
                                        </p:tav>
                                      </p:tavLst>
                                    </p:anim>
                                    <p:anim calcmode="lin" valueType="num">
                                      <p:cBhvr>
                                        <p:cTn id="17" dur="500" fill="hold"/>
                                        <p:tgtEl>
                                          <p:spTgt spid="102403"/>
                                        </p:tgtEl>
                                        <p:attrNameLst>
                                          <p:attrName>ppt_y</p:attrName>
                                        </p:attrNameLst>
                                      </p:cBhvr>
                                      <p:tavLst>
                                        <p:tav tm="0">
                                          <p:val>
                                            <p:strVal val="#ppt_y"/>
                                          </p:val>
                                        </p:tav>
                                        <p:tav tm="100000">
                                          <p:val>
                                            <p:strVal val="#ppt_y"/>
                                          </p:val>
                                        </p:tav>
                                      </p:tavLst>
                                    </p:anim>
                                    <p:anim calcmode="lin" valueType="num">
                                      <p:cBhvr>
                                        <p:cTn id="18" dur="500" fill="hold"/>
                                        <p:tgtEl>
                                          <p:spTgt spid="102403"/>
                                        </p:tgtEl>
                                        <p:attrNameLst>
                                          <p:attrName>ppt_w</p:attrName>
                                        </p:attrNameLst>
                                      </p:cBhvr>
                                      <p:tavLst>
                                        <p:tav tm="0">
                                          <p:val>
                                            <p:fltVal val="0"/>
                                          </p:val>
                                        </p:tav>
                                        <p:tav tm="100000">
                                          <p:val>
                                            <p:strVal val="#ppt_w"/>
                                          </p:val>
                                        </p:tav>
                                      </p:tavLst>
                                    </p:anim>
                                    <p:anim calcmode="lin" valueType="num">
                                      <p:cBhvr>
                                        <p:cTn id="19" dur="500" fill="hold"/>
                                        <p:tgtEl>
                                          <p:spTgt spid="102403"/>
                                        </p:tgtEl>
                                        <p:attrNameLst>
                                          <p:attrName>ppt_h</p:attrName>
                                        </p:attrNameLst>
                                      </p:cBhvr>
                                      <p:tavLst>
                                        <p:tav tm="0">
                                          <p:val>
                                            <p:strVal val="#ppt_h"/>
                                          </p:val>
                                        </p:tav>
                                        <p:tav tm="100000">
                                          <p:val>
                                            <p:strVal val="#ppt_h"/>
                                          </p:val>
                                        </p:tav>
                                      </p:tavLst>
                                    </p:anim>
                                  </p:childTnLst>
                                </p:cTn>
                              </p:par>
                            </p:childTnLst>
                          </p:cTn>
                        </p:par>
                        <p:par>
                          <p:cTn id="20" fill="hold">
                            <p:stCondLst>
                              <p:cond delay="1000"/>
                            </p:stCondLst>
                            <p:childTnLst>
                              <p:par>
                                <p:cTn id="21" presetID="1" presetClass="entr" presetSubtype="0" fill="hold" grpId="0" nodeType="afterEffect">
                                  <p:stCondLst>
                                    <p:cond delay="0"/>
                                  </p:stCondLst>
                                  <p:childTnLst>
                                    <p:set>
                                      <p:cBhvr>
                                        <p:cTn id="22" dur="1" fill="hold">
                                          <p:stCondLst>
                                            <p:cond delay="499"/>
                                          </p:stCondLst>
                                        </p:cTn>
                                        <p:tgtEl>
                                          <p:spTgt spid="102404"/>
                                        </p:tgtEl>
                                        <p:attrNameLst>
                                          <p:attrName>style.visibility</p:attrName>
                                        </p:attrNameLst>
                                      </p:cBhvr>
                                      <p:to>
                                        <p:strVal val="visible"/>
                                      </p:to>
                                    </p:set>
                                  </p:childTnLst>
                                </p:cTn>
                              </p:par>
                            </p:childTnLst>
                          </p:cTn>
                        </p:par>
                        <p:par>
                          <p:cTn id="23" fill="hold">
                            <p:stCondLst>
                              <p:cond delay="1500"/>
                            </p:stCondLst>
                            <p:childTnLst>
                              <p:par>
                                <p:cTn id="24" presetID="1" presetClass="entr" presetSubtype="0" fill="hold" grpId="0" nodeType="afterEffect">
                                  <p:stCondLst>
                                    <p:cond delay="0"/>
                                  </p:stCondLst>
                                  <p:childTnLst>
                                    <p:set>
                                      <p:cBhvr>
                                        <p:cTn id="25" dur="1" fill="hold">
                                          <p:stCondLst>
                                            <p:cond delay="499"/>
                                          </p:stCondLst>
                                        </p:cTn>
                                        <p:tgtEl>
                                          <p:spTgt spid="102405"/>
                                        </p:tgtEl>
                                        <p:attrNameLst>
                                          <p:attrName>style.visibility</p:attrName>
                                        </p:attrNameLst>
                                      </p:cBhvr>
                                      <p:to>
                                        <p:strVal val="visible"/>
                                      </p:to>
                                    </p:set>
                                  </p:childTnLst>
                                </p:cTn>
                              </p:par>
                            </p:childTnLst>
                          </p:cTn>
                        </p:par>
                        <p:par>
                          <p:cTn id="26" fill="hold">
                            <p:stCondLst>
                              <p:cond delay="2000"/>
                            </p:stCondLst>
                            <p:childTnLst>
                              <p:par>
                                <p:cTn id="27" presetID="1" presetClass="entr" presetSubtype="0" fill="hold" grpId="0" nodeType="afterEffect">
                                  <p:stCondLst>
                                    <p:cond delay="0"/>
                                  </p:stCondLst>
                                  <p:childTnLst>
                                    <p:set>
                                      <p:cBhvr>
                                        <p:cTn id="28" dur="1" fill="hold">
                                          <p:stCondLst>
                                            <p:cond delay="499"/>
                                          </p:stCondLst>
                                        </p:cTn>
                                        <p:tgtEl>
                                          <p:spTgt spid="102406"/>
                                        </p:tgtEl>
                                        <p:attrNameLst>
                                          <p:attrName>style.visibility</p:attrName>
                                        </p:attrNameLst>
                                      </p:cBhvr>
                                      <p:to>
                                        <p:strVal val="visible"/>
                                      </p:to>
                                    </p:set>
                                  </p:childTnLst>
                                </p:cTn>
                              </p:par>
                            </p:childTnLst>
                          </p:cTn>
                        </p:par>
                        <p:par>
                          <p:cTn id="29" fill="hold">
                            <p:stCondLst>
                              <p:cond delay="2500"/>
                            </p:stCondLst>
                            <p:childTnLst>
                              <p:par>
                                <p:cTn id="30" presetID="22" presetClass="entr" presetSubtype="8" fill="hold" grpId="0" nodeType="afterEffect">
                                  <p:stCondLst>
                                    <p:cond delay="0"/>
                                  </p:stCondLst>
                                  <p:childTnLst>
                                    <p:set>
                                      <p:cBhvr>
                                        <p:cTn id="31" dur="1" fill="hold">
                                          <p:stCondLst>
                                            <p:cond delay="0"/>
                                          </p:stCondLst>
                                        </p:cTn>
                                        <p:tgtEl>
                                          <p:spTgt spid="102412"/>
                                        </p:tgtEl>
                                        <p:attrNameLst>
                                          <p:attrName>style.visibility</p:attrName>
                                        </p:attrNameLst>
                                      </p:cBhvr>
                                      <p:to>
                                        <p:strVal val="visible"/>
                                      </p:to>
                                    </p:set>
                                    <p:animEffect transition="in" filter="wipe(left)">
                                      <p:cBhvr>
                                        <p:cTn id="32" dur="500"/>
                                        <p:tgtEl>
                                          <p:spTgt spid="1024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2413"/>
                                        </p:tgtEl>
                                        <p:attrNameLst>
                                          <p:attrName>style.visibility</p:attrName>
                                        </p:attrNameLst>
                                      </p:cBhvr>
                                      <p:to>
                                        <p:strVal val="visible"/>
                                      </p:to>
                                    </p:set>
                                    <p:animEffect transition="in" filter="wipe(left)">
                                      <p:cBhvr>
                                        <p:cTn id="37" dur="500"/>
                                        <p:tgtEl>
                                          <p:spTgt spid="10241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02414"/>
                                        </p:tgtEl>
                                        <p:attrNameLst>
                                          <p:attrName>style.visibility</p:attrName>
                                        </p:attrNameLst>
                                      </p:cBhvr>
                                      <p:to>
                                        <p:strVal val="visible"/>
                                      </p:to>
                                    </p:set>
                                    <p:animEffect transition="in" filter="wipe(left)">
                                      <p:cBhvr>
                                        <p:cTn id="42" dur="500"/>
                                        <p:tgtEl>
                                          <p:spTgt spid="10241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02415"/>
                                        </p:tgtEl>
                                        <p:attrNameLst>
                                          <p:attrName>style.visibility</p:attrName>
                                        </p:attrNameLst>
                                      </p:cBhvr>
                                      <p:to>
                                        <p:strVal val="visible"/>
                                      </p:to>
                                    </p:set>
                                    <p:animEffect transition="in" filter="wipe(left)">
                                      <p:cBhvr>
                                        <p:cTn id="47" dur="500"/>
                                        <p:tgtEl>
                                          <p:spTgt spid="102415"/>
                                        </p:tgtEl>
                                      </p:cBhvr>
                                    </p:animEffect>
                                  </p:childTnLst>
                                </p:cTn>
                              </p:par>
                            </p:childTnLst>
                          </p:cTn>
                        </p:par>
                        <p:par>
                          <p:cTn id="48" fill="hold">
                            <p:stCondLst>
                              <p:cond delay="500"/>
                            </p:stCondLst>
                            <p:childTnLst>
                              <p:par>
                                <p:cTn id="49" presetID="1" presetClass="entr" presetSubtype="0" fill="hold" grpId="0" nodeType="afterEffect">
                                  <p:stCondLst>
                                    <p:cond delay="0"/>
                                  </p:stCondLst>
                                  <p:childTnLst>
                                    <p:set>
                                      <p:cBhvr>
                                        <p:cTn id="50" dur="1" fill="hold">
                                          <p:stCondLst>
                                            <p:cond delay="499"/>
                                          </p:stCondLst>
                                        </p:cTn>
                                        <p:tgtEl>
                                          <p:spTgt spid="29"/>
                                        </p:tgtEl>
                                        <p:attrNameLst>
                                          <p:attrName>style.visibility</p:attrName>
                                        </p:attrNameLst>
                                      </p:cBhvr>
                                      <p:to>
                                        <p:strVal val="visible"/>
                                      </p:to>
                                    </p:set>
                                  </p:childTnLst>
                                </p:cTn>
                              </p:par>
                            </p:childTnLst>
                          </p:cTn>
                        </p:par>
                        <p:par>
                          <p:cTn id="51" fill="hold">
                            <p:stCondLst>
                              <p:cond delay="1000"/>
                            </p:stCondLst>
                            <p:childTnLst>
                              <p:par>
                                <p:cTn id="52" presetID="1" presetClass="entr" presetSubtype="0" fill="hold" grpId="0" nodeType="afterEffect">
                                  <p:stCondLst>
                                    <p:cond delay="0"/>
                                  </p:stCondLst>
                                  <p:childTnLst>
                                    <p:set>
                                      <p:cBhvr>
                                        <p:cTn id="53" dur="1" fill="hold">
                                          <p:stCondLst>
                                            <p:cond delay="499"/>
                                          </p:stCondLst>
                                        </p:cTn>
                                        <p:tgtEl>
                                          <p:spTgt spid="30"/>
                                        </p:tgtEl>
                                        <p:attrNameLst>
                                          <p:attrName>style.visibility</p:attrName>
                                        </p:attrNameLst>
                                      </p:cBhvr>
                                      <p:to>
                                        <p:strVal val="visible"/>
                                      </p:to>
                                    </p:set>
                                  </p:childTnLst>
                                </p:cTn>
                              </p:par>
                            </p:childTnLst>
                          </p:cTn>
                        </p:par>
                        <p:par>
                          <p:cTn id="54" fill="hold">
                            <p:stCondLst>
                              <p:cond delay="1500"/>
                            </p:stCondLst>
                            <p:childTnLst>
                              <p:par>
                                <p:cTn id="55" presetID="1" presetClass="entr" presetSubtype="0" fill="hold" grpId="0" nodeType="afterEffect">
                                  <p:stCondLst>
                                    <p:cond delay="0"/>
                                  </p:stCondLst>
                                  <p:childTnLst>
                                    <p:set>
                                      <p:cBhvr>
                                        <p:cTn id="56" dur="1" fill="hold">
                                          <p:stCondLst>
                                            <p:cond delay="499"/>
                                          </p:stCondLst>
                                        </p:cTn>
                                        <p:tgtEl>
                                          <p:spTgt spid="31"/>
                                        </p:tgtEl>
                                        <p:attrNameLst>
                                          <p:attrName>style.visibility</p:attrName>
                                        </p:attrNameLst>
                                      </p:cBhvr>
                                      <p:to>
                                        <p:strVal val="visible"/>
                                      </p:to>
                                    </p:set>
                                  </p:childTnLst>
                                </p:cTn>
                              </p:par>
                            </p:childTnLst>
                          </p:cTn>
                        </p:par>
                        <p:par>
                          <p:cTn id="57" fill="hold">
                            <p:stCondLst>
                              <p:cond delay="2000"/>
                            </p:stCondLst>
                            <p:childTnLst>
                              <p:par>
                                <p:cTn id="58" presetID="1" presetClass="entr" presetSubtype="0" fill="hold" grpId="0" nodeType="afterEffect">
                                  <p:stCondLst>
                                    <p:cond delay="0"/>
                                  </p:stCondLst>
                                  <p:childTnLst>
                                    <p:set>
                                      <p:cBhvr>
                                        <p:cTn id="59" dur="1" fill="hold">
                                          <p:stCondLst>
                                            <p:cond delay="499"/>
                                          </p:stCondLst>
                                        </p:cTn>
                                        <p:tgtEl>
                                          <p:spTgt spid="32"/>
                                        </p:tgtEl>
                                        <p:attrNameLst>
                                          <p:attrName>style.visibility</p:attrName>
                                        </p:attrNameLst>
                                      </p:cBhvr>
                                      <p:to>
                                        <p:strVal val="visible"/>
                                      </p:to>
                                    </p:set>
                                  </p:childTnLst>
                                </p:cTn>
                              </p:par>
                            </p:childTnLst>
                          </p:cTn>
                        </p:par>
                        <p:par>
                          <p:cTn id="60" fill="hold">
                            <p:stCondLst>
                              <p:cond delay="2500"/>
                            </p:stCondLst>
                            <p:childTnLst>
                              <p:par>
                                <p:cTn id="61" presetID="1" presetClass="entr" presetSubtype="0" fill="hold" grpId="0" nodeType="afterEffect">
                                  <p:stCondLst>
                                    <p:cond delay="0"/>
                                  </p:stCondLst>
                                  <p:childTnLst>
                                    <p:set>
                                      <p:cBhvr>
                                        <p:cTn id="62" dur="1" fill="hold">
                                          <p:stCondLst>
                                            <p:cond delay="499"/>
                                          </p:stCondLst>
                                        </p:cTn>
                                        <p:tgtEl>
                                          <p:spTgt spid="33"/>
                                        </p:tgtEl>
                                        <p:attrNameLst>
                                          <p:attrName>style.visibility</p:attrName>
                                        </p:attrNameLst>
                                      </p:cBhvr>
                                      <p:to>
                                        <p:strVal val="visible"/>
                                      </p:to>
                                    </p:set>
                                  </p:childTnLst>
                                </p:cTn>
                              </p:par>
                            </p:childTnLst>
                          </p:cTn>
                        </p:par>
                        <p:par>
                          <p:cTn id="63" fill="hold">
                            <p:stCondLst>
                              <p:cond delay="3000"/>
                            </p:stCondLst>
                            <p:childTnLst>
                              <p:par>
                                <p:cTn id="64" presetID="22" presetClass="entr" presetSubtype="8" fill="hold" grpId="0" nodeType="afterEffect">
                                  <p:stCondLst>
                                    <p:cond delay="0"/>
                                  </p:stCondLst>
                                  <p:childTnLst>
                                    <p:set>
                                      <p:cBhvr>
                                        <p:cTn id="65" dur="1" fill="hold">
                                          <p:stCondLst>
                                            <p:cond delay="0"/>
                                          </p:stCondLst>
                                        </p:cTn>
                                        <p:tgtEl>
                                          <p:spTgt spid="34"/>
                                        </p:tgtEl>
                                        <p:attrNameLst>
                                          <p:attrName>style.visibility</p:attrName>
                                        </p:attrNameLst>
                                      </p:cBhvr>
                                      <p:to>
                                        <p:strVal val="visible"/>
                                      </p:to>
                                    </p:set>
                                    <p:animEffect transition="in" filter="wipe(left)">
                                      <p:cBhvr>
                                        <p:cTn id="66" dur="500"/>
                                        <p:tgtEl>
                                          <p:spTgt spid="34"/>
                                        </p:tgtEl>
                                      </p:cBhvr>
                                    </p:animEffect>
                                  </p:childTnLst>
                                </p:cTn>
                              </p:par>
                            </p:childTnLst>
                          </p:cTn>
                        </p:par>
                        <p:par>
                          <p:cTn id="67" fill="hold">
                            <p:stCondLst>
                              <p:cond delay="3500"/>
                            </p:stCondLst>
                            <p:childTnLst>
                              <p:par>
                                <p:cTn id="68" presetID="22" presetClass="entr" presetSubtype="8" fill="hold" grpId="0" nodeType="afterEffect">
                                  <p:stCondLst>
                                    <p:cond delay="0"/>
                                  </p:stCondLst>
                                  <p:childTnLst>
                                    <p:set>
                                      <p:cBhvr>
                                        <p:cTn id="69" dur="1" fill="hold">
                                          <p:stCondLst>
                                            <p:cond delay="0"/>
                                          </p:stCondLst>
                                        </p:cTn>
                                        <p:tgtEl>
                                          <p:spTgt spid="35"/>
                                        </p:tgtEl>
                                        <p:attrNameLst>
                                          <p:attrName>style.visibility</p:attrName>
                                        </p:attrNameLst>
                                      </p:cBhvr>
                                      <p:to>
                                        <p:strVal val="visible"/>
                                      </p:to>
                                    </p:set>
                                    <p:animEffect transition="in" filter="wipe(left)">
                                      <p:cBhvr>
                                        <p:cTn id="70" dur="500"/>
                                        <p:tgtEl>
                                          <p:spTgt spid="35"/>
                                        </p:tgtEl>
                                      </p:cBhvr>
                                    </p:animEffect>
                                  </p:childTnLst>
                                </p:cTn>
                              </p:par>
                            </p:childTnLst>
                          </p:cTn>
                        </p:par>
                        <p:par>
                          <p:cTn id="71" fill="hold">
                            <p:stCondLst>
                              <p:cond delay="4000"/>
                            </p:stCondLst>
                            <p:childTnLst>
                              <p:par>
                                <p:cTn id="72" presetID="22" presetClass="entr" presetSubtype="8" fill="hold" grpId="0" nodeType="afterEffect">
                                  <p:stCondLst>
                                    <p:cond delay="0"/>
                                  </p:stCondLst>
                                  <p:childTnLst>
                                    <p:set>
                                      <p:cBhvr>
                                        <p:cTn id="73" dur="1" fill="hold">
                                          <p:stCondLst>
                                            <p:cond delay="0"/>
                                          </p:stCondLst>
                                        </p:cTn>
                                        <p:tgtEl>
                                          <p:spTgt spid="36"/>
                                        </p:tgtEl>
                                        <p:attrNameLst>
                                          <p:attrName>style.visibility</p:attrName>
                                        </p:attrNameLst>
                                      </p:cBhvr>
                                      <p:to>
                                        <p:strVal val="visible"/>
                                      </p:to>
                                    </p:set>
                                    <p:animEffect transition="in" filter="wipe(left)">
                                      <p:cBhvr>
                                        <p:cTn id="74" dur="500"/>
                                        <p:tgtEl>
                                          <p:spTgt spid="36"/>
                                        </p:tgtEl>
                                      </p:cBhvr>
                                    </p:animEffect>
                                  </p:childTnLst>
                                </p:cTn>
                              </p:par>
                            </p:childTnLst>
                          </p:cTn>
                        </p:par>
                        <p:par>
                          <p:cTn id="75" fill="hold">
                            <p:stCondLst>
                              <p:cond delay="4500"/>
                            </p:stCondLst>
                            <p:childTnLst>
                              <p:par>
                                <p:cTn id="76" presetID="22" presetClass="entr" presetSubtype="8" fill="hold" grpId="0" nodeType="afterEffect">
                                  <p:stCondLst>
                                    <p:cond delay="0"/>
                                  </p:stCondLst>
                                  <p:childTnLst>
                                    <p:set>
                                      <p:cBhvr>
                                        <p:cTn id="77" dur="1" fill="hold">
                                          <p:stCondLst>
                                            <p:cond delay="0"/>
                                          </p:stCondLst>
                                        </p:cTn>
                                        <p:tgtEl>
                                          <p:spTgt spid="37"/>
                                        </p:tgtEl>
                                        <p:attrNameLst>
                                          <p:attrName>style.visibility</p:attrName>
                                        </p:attrNameLst>
                                      </p:cBhvr>
                                      <p:to>
                                        <p:strVal val="visible"/>
                                      </p:to>
                                    </p:set>
                                    <p:animEffect transition="in" filter="wipe(left)">
                                      <p:cBhvr>
                                        <p:cTn id="78" dur="500"/>
                                        <p:tgtEl>
                                          <p:spTgt spid="37"/>
                                        </p:tgtEl>
                                      </p:cBhvr>
                                    </p:animEffect>
                                  </p:childTnLst>
                                </p:cTn>
                              </p:par>
                            </p:childTnLst>
                          </p:cTn>
                        </p:par>
                        <p:par>
                          <p:cTn id="79" fill="hold">
                            <p:stCondLst>
                              <p:cond delay="5000"/>
                            </p:stCondLst>
                            <p:childTnLst>
                              <p:par>
                                <p:cTn id="80" presetID="22" presetClass="entr" presetSubtype="8" fill="hold" grpId="0" nodeType="afterEffect">
                                  <p:stCondLst>
                                    <p:cond delay="0"/>
                                  </p:stCondLst>
                                  <p:childTnLst>
                                    <p:set>
                                      <p:cBhvr>
                                        <p:cTn id="81" dur="1" fill="hold">
                                          <p:stCondLst>
                                            <p:cond delay="0"/>
                                          </p:stCondLst>
                                        </p:cTn>
                                        <p:tgtEl>
                                          <p:spTgt spid="38"/>
                                        </p:tgtEl>
                                        <p:attrNameLst>
                                          <p:attrName>style.visibility</p:attrName>
                                        </p:attrNameLst>
                                      </p:cBhvr>
                                      <p:to>
                                        <p:strVal val="visible"/>
                                      </p:to>
                                    </p:set>
                                    <p:animEffect transition="in" filter="wipe(left)">
                                      <p:cBhvr>
                                        <p:cTn id="82" dur="500"/>
                                        <p:tgtEl>
                                          <p:spTgt spid="38"/>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39"/>
                                        </p:tgtEl>
                                        <p:attrNameLst>
                                          <p:attrName>style.visibility</p:attrName>
                                        </p:attrNameLst>
                                      </p:cBhvr>
                                      <p:to>
                                        <p:strVal val="visible"/>
                                      </p:to>
                                    </p:set>
                                    <p:animEffect transition="in" filter="wipe(left)">
                                      <p:cBhvr>
                                        <p:cTn id="87" dur="500"/>
                                        <p:tgtEl>
                                          <p:spTgt spid="39"/>
                                        </p:tgtEl>
                                      </p:cBhvr>
                                    </p:animEffect>
                                  </p:childTnLst>
                                </p:cTn>
                              </p:par>
                            </p:childTnLst>
                          </p:cTn>
                        </p:par>
                        <p:par>
                          <p:cTn id="88" fill="hold">
                            <p:stCondLst>
                              <p:cond delay="500"/>
                            </p:stCondLst>
                            <p:childTnLst>
                              <p:par>
                                <p:cTn id="89" presetID="22" presetClass="entr" presetSubtype="8" fill="hold" grpId="0" nodeType="afterEffect">
                                  <p:stCondLst>
                                    <p:cond delay="0"/>
                                  </p:stCondLst>
                                  <p:childTnLst>
                                    <p:set>
                                      <p:cBhvr>
                                        <p:cTn id="90" dur="1" fill="hold">
                                          <p:stCondLst>
                                            <p:cond delay="0"/>
                                          </p:stCondLst>
                                        </p:cTn>
                                        <p:tgtEl>
                                          <p:spTgt spid="40"/>
                                        </p:tgtEl>
                                        <p:attrNameLst>
                                          <p:attrName>style.visibility</p:attrName>
                                        </p:attrNameLst>
                                      </p:cBhvr>
                                      <p:to>
                                        <p:strVal val="visible"/>
                                      </p:to>
                                    </p:set>
                                    <p:animEffect transition="in" filter="wipe(left)">
                                      <p:cBhvr>
                                        <p:cTn id="91" dur="500"/>
                                        <p:tgtEl>
                                          <p:spTgt spid="40"/>
                                        </p:tgtEl>
                                      </p:cBhvr>
                                    </p:animEffect>
                                  </p:childTnLst>
                                </p:cTn>
                              </p:par>
                            </p:childTnLst>
                          </p:cTn>
                        </p:par>
                        <p:par>
                          <p:cTn id="92" fill="hold">
                            <p:stCondLst>
                              <p:cond delay="1000"/>
                            </p:stCondLst>
                            <p:childTnLst>
                              <p:par>
                                <p:cTn id="93" presetID="22" presetClass="entr" presetSubtype="8" fill="hold" grpId="0" nodeType="afterEffect">
                                  <p:stCondLst>
                                    <p:cond delay="0"/>
                                  </p:stCondLst>
                                  <p:childTnLst>
                                    <p:set>
                                      <p:cBhvr>
                                        <p:cTn id="94" dur="1" fill="hold">
                                          <p:stCondLst>
                                            <p:cond delay="0"/>
                                          </p:stCondLst>
                                        </p:cTn>
                                        <p:tgtEl>
                                          <p:spTgt spid="41"/>
                                        </p:tgtEl>
                                        <p:attrNameLst>
                                          <p:attrName>style.visibility</p:attrName>
                                        </p:attrNameLst>
                                      </p:cBhvr>
                                      <p:to>
                                        <p:strVal val="visible"/>
                                      </p:to>
                                    </p:set>
                                    <p:animEffect transition="in" filter="wipe(left)">
                                      <p:cBhvr>
                                        <p:cTn id="95" dur="500"/>
                                        <p:tgtEl>
                                          <p:spTgt spid="41"/>
                                        </p:tgtEl>
                                      </p:cBhvr>
                                    </p:animEffect>
                                  </p:childTnLst>
                                </p:cTn>
                              </p:par>
                            </p:childTnLst>
                          </p:cTn>
                        </p:par>
                        <p:par>
                          <p:cTn id="96" fill="hold">
                            <p:stCondLst>
                              <p:cond delay="1500"/>
                            </p:stCondLst>
                            <p:childTnLst>
                              <p:par>
                                <p:cTn id="97" presetID="22" presetClass="entr" presetSubtype="8" fill="hold" grpId="0" nodeType="afterEffect">
                                  <p:stCondLst>
                                    <p:cond delay="0"/>
                                  </p:stCondLst>
                                  <p:childTnLst>
                                    <p:set>
                                      <p:cBhvr>
                                        <p:cTn id="98" dur="1" fill="hold">
                                          <p:stCondLst>
                                            <p:cond delay="0"/>
                                          </p:stCondLst>
                                        </p:cTn>
                                        <p:tgtEl>
                                          <p:spTgt spid="42"/>
                                        </p:tgtEl>
                                        <p:attrNameLst>
                                          <p:attrName>style.visibility</p:attrName>
                                        </p:attrNameLst>
                                      </p:cBhvr>
                                      <p:to>
                                        <p:strVal val="visible"/>
                                      </p:to>
                                    </p:set>
                                    <p:animEffect transition="in" filter="wipe(left)">
                                      <p:cBhvr>
                                        <p:cTn id="99" dur="500"/>
                                        <p:tgtEl>
                                          <p:spTgt spid="42"/>
                                        </p:tgtEl>
                                      </p:cBhvr>
                                    </p:animEffect>
                                  </p:childTnLst>
                                </p:cTn>
                              </p:par>
                            </p:childTnLst>
                          </p:cTn>
                        </p:par>
                        <p:par>
                          <p:cTn id="100" fill="hold">
                            <p:stCondLst>
                              <p:cond delay="2000"/>
                            </p:stCondLst>
                            <p:childTnLst>
                              <p:par>
                                <p:cTn id="101" presetID="22" presetClass="entr" presetSubtype="8" fill="hold" grpId="0" nodeType="afterEffect">
                                  <p:stCondLst>
                                    <p:cond delay="0"/>
                                  </p:stCondLst>
                                  <p:childTnLst>
                                    <p:set>
                                      <p:cBhvr>
                                        <p:cTn id="102" dur="1" fill="hold">
                                          <p:stCondLst>
                                            <p:cond delay="0"/>
                                          </p:stCondLst>
                                        </p:cTn>
                                        <p:tgtEl>
                                          <p:spTgt spid="43"/>
                                        </p:tgtEl>
                                        <p:attrNameLst>
                                          <p:attrName>style.visibility</p:attrName>
                                        </p:attrNameLst>
                                      </p:cBhvr>
                                      <p:to>
                                        <p:strVal val="visible"/>
                                      </p:to>
                                    </p:set>
                                    <p:animEffect transition="in" filter="wipe(left)">
                                      <p:cBhvr>
                                        <p:cTn id="103" dur="500"/>
                                        <p:tgtEl>
                                          <p:spTgt spid="43"/>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44"/>
                                        </p:tgtEl>
                                        <p:attrNameLst>
                                          <p:attrName>style.visibility</p:attrName>
                                        </p:attrNameLst>
                                      </p:cBhvr>
                                      <p:to>
                                        <p:strVal val="visible"/>
                                      </p:to>
                                    </p:set>
                                    <p:animEffect transition="in" filter="wipe(left)">
                                      <p:cBhvr>
                                        <p:cTn id="108" dur="500"/>
                                        <p:tgtEl>
                                          <p:spTgt spid="44"/>
                                        </p:tgtEl>
                                      </p:cBhvr>
                                    </p:animEffect>
                                  </p:childTnLst>
                                </p:cTn>
                              </p:par>
                            </p:childTnLst>
                          </p:cTn>
                        </p:par>
                        <p:par>
                          <p:cTn id="109" fill="hold">
                            <p:stCondLst>
                              <p:cond delay="500"/>
                            </p:stCondLst>
                            <p:childTnLst>
                              <p:par>
                                <p:cTn id="110" presetID="22" presetClass="entr" presetSubtype="8" fill="hold" grpId="0" nodeType="afterEffect">
                                  <p:stCondLst>
                                    <p:cond delay="0"/>
                                  </p:stCondLst>
                                  <p:childTnLst>
                                    <p:set>
                                      <p:cBhvr>
                                        <p:cTn id="111" dur="1" fill="hold">
                                          <p:stCondLst>
                                            <p:cond delay="0"/>
                                          </p:stCondLst>
                                        </p:cTn>
                                        <p:tgtEl>
                                          <p:spTgt spid="45"/>
                                        </p:tgtEl>
                                        <p:attrNameLst>
                                          <p:attrName>style.visibility</p:attrName>
                                        </p:attrNameLst>
                                      </p:cBhvr>
                                      <p:to>
                                        <p:strVal val="visible"/>
                                      </p:to>
                                    </p:set>
                                    <p:animEffect transition="in" filter="wipe(left)">
                                      <p:cBhvr>
                                        <p:cTn id="112" dur="500"/>
                                        <p:tgtEl>
                                          <p:spTgt spid="45"/>
                                        </p:tgtEl>
                                      </p:cBhvr>
                                    </p:animEffect>
                                  </p:childTnLst>
                                </p:cTn>
                              </p:par>
                            </p:childTnLst>
                          </p:cTn>
                        </p:par>
                        <p:par>
                          <p:cTn id="113" fill="hold">
                            <p:stCondLst>
                              <p:cond delay="1000"/>
                            </p:stCondLst>
                            <p:childTnLst>
                              <p:par>
                                <p:cTn id="114" presetID="22" presetClass="entr" presetSubtype="8" fill="hold" grpId="0" nodeType="afterEffect">
                                  <p:stCondLst>
                                    <p:cond delay="0"/>
                                  </p:stCondLst>
                                  <p:childTnLst>
                                    <p:set>
                                      <p:cBhvr>
                                        <p:cTn id="115" dur="1" fill="hold">
                                          <p:stCondLst>
                                            <p:cond delay="0"/>
                                          </p:stCondLst>
                                        </p:cTn>
                                        <p:tgtEl>
                                          <p:spTgt spid="46"/>
                                        </p:tgtEl>
                                        <p:attrNameLst>
                                          <p:attrName>style.visibility</p:attrName>
                                        </p:attrNameLst>
                                      </p:cBhvr>
                                      <p:to>
                                        <p:strVal val="visible"/>
                                      </p:to>
                                    </p:set>
                                    <p:animEffect transition="in" filter="wipe(left)">
                                      <p:cBhvr>
                                        <p:cTn id="116" dur="500"/>
                                        <p:tgtEl>
                                          <p:spTgt spid="46"/>
                                        </p:tgtEl>
                                      </p:cBhvr>
                                    </p:animEffect>
                                  </p:childTnLst>
                                </p:cTn>
                              </p:par>
                            </p:childTnLst>
                          </p:cTn>
                        </p:par>
                        <p:par>
                          <p:cTn id="117" fill="hold">
                            <p:stCondLst>
                              <p:cond delay="1500"/>
                            </p:stCondLst>
                            <p:childTnLst>
                              <p:par>
                                <p:cTn id="118" presetID="22" presetClass="entr" presetSubtype="8" fill="hold" grpId="0" nodeType="afterEffect">
                                  <p:stCondLst>
                                    <p:cond delay="0"/>
                                  </p:stCondLst>
                                  <p:childTnLst>
                                    <p:set>
                                      <p:cBhvr>
                                        <p:cTn id="119" dur="1" fill="hold">
                                          <p:stCondLst>
                                            <p:cond delay="0"/>
                                          </p:stCondLst>
                                        </p:cTn>
                                        <p:tgtEl>
                                          <p:spTgt spid="47"/>
                                        </p:tgtEl>
                                        <p:attrNameLst>
                                          <p:attrName>style.visibility</p:attrName>
                                        </p:attrNameLst>
                                      </p:cBhvr>
                                      <p:to>
                                        <p:strVal val="visible"/>
                                      </p:to>
                                    </p:set>
                                    <p:animEffect transition="in" filter="wipe(left)">
                                      <p:cBhvr>
                                        <p:cTn id="120" dur="500"/>
                                        <p:tgtEl>
                                          <p:spTgt spid="47"/>
                                        </p:tgtEl>
                                      </p:cBhvr>
                                    </p:animEffect>
                                  </p:childTnLst>
                                </p:cTn>
                              </p:par>
                            </p:childTnLst>
                          </p:cTn>
                        </p:par>
                        <p:par>
                          <p:cTn id="121" fill="hold">
                            <p:stCondLst>
                              <p:cond delay="2000"/>
                            </p:stCondLst>
                            <p:childTnLst>
                              <p:par>
                                <p:cTn id="122" presetID="22" presetClass="entr" presetSubtype="8" fill="hold" grpId="0" nodeType="afterEffect">
                                  <p:stCondLst>
                                    <p:cond delay="0"/>
                                  </p:stCondLst>
                                  <p:childTnLst>
                                    <p:set>
                                      <p:cBhvr>
                                        <p:cTn id="123" dur="1" fill="hold">
                                          <p:stCondLst>
                                            <p:cond delay="0"/>
                                          </p:stCondLst>
                                        </p:cTn>
                                        <p:tgtEl>
                                          <p:spTgt spid="48"/>
                                        </p:tgtEl>
                                        <p:attrNameLst>
                                          <p:attrName>style.visibility</p:attrName>
                                        </p:attrNameLst>
                                      </p:cBhvr>
                                      <p:to>
                                        <p:strVal val="visible"/>
                                      </p:to>
                                    </p:set>
                                    <p:animEffect transition="in" filter="wipe(left)">
                                      <p:cBhvr>
                                        <p:cTn id="124" dur="500"/>
                                        <p:tgtEl>
                                          <p:spTgt spid="48"/>
                                        </p:tgtEl>
                                      </p:cBhvr>
                                    </p:animEffect>
                                  </p:childTnLst>
                                </p:cTn>
                              </p:par>
                            </p:childTnLst>
                          </p:cTn>
                        </p:par>
                      </p:childTnLst>
                    </p:cTn>
                  </p:par>
                  <p:par>
                    <p:cTn id="125" fill="hold">
                      <p:stCondLst>
                        <p:cond delay="indefinite"/>
                      </p:stCondLst>
                      <p:childTnLst>
                        <p:par>
                          <p:cTn id="126" fill="hold">
                            <p:stCondLst>
                              <p:cond delay="0"/>
                            </p:stCondLst>
                            <p:childTnLst>
                              <p:par>
                                <p:cTn id="127" presetID="22" presetClass="entr" presetSubtype="8" fill="hold" grpId="0" nodeType="clickEffect">
                                  <p:stCondLst>
                                    <p:cond delay="0"/>
                                  </p:stCondLst>
                                  <p:childTnLst>
                                    <p:set>
                                      <p:cBhvr>
                                        <p:cTn id="128" dur="1" fill="hold">
                                          <p:stCondLst>
                                            <p:cond delay="0"/>
                                          </p:stCondLst>
                                        </p:cTn>
                                        <p:tgtEl>
                                          <p:spTgt spid="49"/>
                                        </p:tgtEl>
                                        <p:attrNameLst>
                                          <p:attrName>style.visibility</p:attrName>
                                        </p:attrNameLst>
                                      </p:cBhvr>
                                      <p:to>
                                        <p:strVal val="visible"/>
                                      </p:to>
                                    </p:set>
                                    <p:animEffect transition="in" filter="wipe(left)">
                                      <p:cBhvr>
                                        <p:cTn id="129" dur="500"/>
                                        <p:tgtEl>
                                          <p:spTgt spid="49"/>
                                        </p:tgtEl>
                                      </p:cBhvr>
                                    </p:animEffect>
                                  </p:childTnLst>
                                </p:cTn>
                              </p:par>
                            </p:childTnLst>
                          </p:cTn>
                        </p:par>
                        <p:par>
                          <p:cTn id="130" fill="hold">
                            <p:stCondLst>
                              <p:cond delay="500"/>
                            </p:stCondLst>
                            <p:childTnLst>
                              <p:par>
                                <p:cTn id="131" presetID="22" presetClass="entr" presetSubtype="8" fill="hold" grpId="0" nodeType="afterEffect">
                                  <p:stCondLst>
                                    <p:cond delay="0"/>
                                  </p:stCondLst>
                                  <p:childTnLst>
                                    <p:set>
                                      <p:cBhvr>
                                        <p:cTn id="132" dur="1" fill="hold">
                                          <p:stCondLst>
                                            <p:cond delay="0"/>
                                          </p:stCondLst>
                                        </p:cTn>
                                        <p:tgtEl>
                                          <p:spTgt spid="50"/>
                                        </p:tgtEl>
                                        <p:attrNameLst>
                                          <p:attrName>style.visibility</p:attrName>
                                        </p:attrNameLst>
                                      </p:cBhvr>
                                      <p:to>
                                        <p:strVal val="visible"/>
                                      </p:to>
                                    </p:set>
                                    <p:animEffect transition="in" filter="wipe(left)">
                                      <p:cBhvr>
                                        <p:cTn id="133" dur="500"/>
                                        <p:tgtEl>
                                          <p:spTgt spid="50"/>
                                        </p:tgtEl>
                                      </p:cBhvr>
                                    </p:animEffect>
                                  </p:childTnLst>
                                </p:cTn>
                              </p:par>
                            </p:childTnLst>
                          </p:cTn>
                        </p:par>
                        <p:par>
                          <p:cTn id="134" fill="hold">
                            <p:stCondLst>
                              <p:cond delay="1000"/>
                            </p:stCondLst>
                            <p:childTnLst>
                              <p:par>
                                <p:cTn id="135" presetID="22" presetClass="entr" presetSubtype="8" fill="hold" grpId="0" nodeType="afterEffect">
                                  <p:stCondLst>
                                    <p:cond delay="0"/>
                                  </p:stCondLst>
                                  <p:childTnLst>
                                    <p:set>
                                      <p:cBhvr>
                                        <p:cTn id="136" dur="1" fill="hold">
                                          <p:stCondLst>
                                            <p:cond delay="0"/>
                                          </p:stCondLst>
                                        </p:cTn>
                                        <p:tgtEl>
                                          <p:spTgt spid="51"/>
                                        </p:tgtEl>
                                        <p:attrNameLst>
                                          <p:attrName>style.visibility</p:attrName>
                                        </p:attrNameLst>
                                      </p:cBhvr>
                                      <p:to>
                                        <p:strVal val="visible"/>
                                      </p:to>
                                    </p:set>
                                    <p:animEffect transition="in" filter="wipe(left)">
                                      <p:cBhvr>
                                        <p:cTn id="137" dur="500"/>
                                        <p:tgtEl>
                                          <p:spTgt spid="51"/>
                                        </p:tgtEl>
                                      </p:cBhvr>
                                    </p:animEffect>
                                  </p:childTnLst>
                                </p:cTn>
                              </p:par>
                            </p:childTnLst>
                          </p:cTn>
                        </p:par>
                        <p:par>
                          <p:cTn id="138" fill="hold">
                            <p:stCondLst>
                              <p:cond delay="1500"/>
                            </p:stCondLst>
                            <p:childTnLst>
                              <p:par>
                                <p:cTn id="139" presetID="22" presetClass="entr" presetSubtype="8" fill="hold" grpId="0" nodeType="afterEffect">
                                  <p:stCondLst>
                                    <p:cond delay="0"/>
                                  </p:stCondLst>
                                  <p:childTnLst>
                                    <p:set>
                                      <p:cBhvr>
                                        <p:cTn id="140" dur="1" fill="hold">
                                          <p:stCondLst>
                                            <p:cond delay="0"/>
                                          </p:stCondLst>
                                        </p:cTn>
                                        <p:tgtEl>
                                          <p:spTgt spid="52"/>
                                        </p:tgtEl>
                                        <p:attrNameLst>
                                          <p:attrName>style.visibility</p:attrName>
                                        </p:attrNameLst>
                                      </p:cBhvr>
                                      <p:to>
                                        <p:strVal val="visible"/>
                                      </p:to>
                                    </p:set>
                                    <p:animEffect transition="in" filter="wipe(left)">
                                      <p:cBhvr>
                                        <p:cTn id="141" dur="500"/>
                                        <p:tgtEl>
                                          <p:spTgt spid="52"/>
                                        </p:tgtEl>
                                      </p:cBhvr>
                                    </p:animEffect>
                                  </p:childTnLst>
                                </p:cTn>
                              </p:par>
                            </p:childTnLst>
                          </p:cTn>
                        </p:par>
                        <p:par>
                          <p:cTn id="142" fill="hold">
                            <p:stCondLst>
                              <p:cond delay="2000"/>
                            </p:stCondLst>
                            <p:childTnLst>
                              <p:par>
                                <p:cTn id="143" presetID="22" presetClass="entr" presetSubtype="8" fill="hold" grpId="0" nodeType="afterEffect">
                                  <p:stCondLst>
                                    <p:cond delay="0"/>
                                  </p:stCondLst>
                                  <p:childTnLst>
                                    <p:set>
                                      <p:cBhvr>
                                        <p:cTn id="144" dur="1" fill="hold">
                                          <p:stCondLst>
                                            <p:cond delay="0"/>
                                          </p:stCondLst>
                                        </p:cTn>
                                        <p:tgtEl>
                                          <p:spTgt spid="53"/>
                                        </p:tgtEl>
                                        <p:attrNameLst>
                                          <p:attrName>style.visibility</p:attrName>
                                        </p:attrNameLst>
                                      </p:cBhvr>
                                      <p:to>
                                        <p:strVal val="visible"/>
                                      </p:to>
                                    </p:set>
                                    <p:animEffect transition="in" filter="wipe(left)">
                                      <p:cBhvr>
                                        <p:cTn id="145"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2" grpId="0" bldLvl="0" animBg="1" autoUpdateAnimBg="0"/>
      <p:bldP spid="102403" grpId="0" bldLvl="0" animBg="1" autoUpdateAnimBg="0"/>
      <p:bldP spid="102404" grpId="0" bldLvl="0" animBg="1"/>
      <p:bldP spid="102405" grpId="0" bldLvl="0" animBg="1"/>
      <p:bldP spid="102406" grpId="0" bldLvl="0" animBg="1"/>
      <p:bldP spid="102412" grpId="0" bldLvl="0" animBg="1" autoUpdateAnimBg="0"/>
      <p:bldP spid="102413" grpId="0" bldLvl="0" animBg="1" autoUpdateAnimBg="0"/>
      <p:bldP spid="102414" grpId="0" bldLvl="0" animBg="1" autoUpdateAnimBg="0"/>
      <p:bldP spid="102415" grpId="0" bldLvl="0" animBg="1" autoUpdateAnimBg="0"/>
      <p:bldP spid="102436" grpId="0" bldLvl="0" animBg="1" autoUpdateAnimBg="0"/>
      <p:bldP spid="29" grpId="0" bldLvl="0" animBg="1"/>
      <p:bldP spid="30" grpId="0" bldLvl="0" animBg="1"/>
      <p:bldP spid="31" grpId="0" bldLvl="0" animBg="1"/>
      <p:bldP spid="32" grpId="0" bldLvl="0" animBg="1"/>
      <p:bldP spid="33" grpId="0" bldLvl="0" animBg="1"/>
      <p:bldP spid="34" grpId="0" bldLvl="0" animBg="1" autoUpdateAnimBg="0"/>
      <p:bldP spid="35" grpId="0" bldLvl="0" animBg="1" autoUpdateAnimBg="0"/>
      <p:bldP spid="36" grpId="0" bldLvl="0" animBg="1" autoUpdateAnimBg="0"/>
      <p:bldP spid="37" grpId="0" bldLvl="0" animBg="1" autoUpdateAnimBg="0"/>
      <p:bldP spid="38" grpId="0" bldLvl="0" animBg="1" autoUpdateAnimBg="0"/>
      <p:bldP spid="39" grpId="0" bldLvl="0" animBg="1" autoUpdateAnimBg="0"/>
      <p:bldP spid="40" grpId="0" bldLvl="0" animBg="1" autoUpdateAnimBg="0"/>
      <p:bldP spid="41" grpId="0" bldLvl="0" animBg="1" autoUpdateAnimBg="0"/>
      <p:bldP spid="42" grpId="0" bldLvl="0" animBg="1" autoUpdateAnimBg="0"/>
      <p:bldP spid="43" grpId="0" bldLvl="0" animBg="1" autoUpdateAnimBg="0"/>
      <p:bldP spid="44" grpId="0" bldLvl="0" animBg="1" autoUpdateAnimBg="0"/>
      <p:bldP spid="45" grpId="0" bldLvl="0" animBg="1" autoUpdateAnimBg="0"/>
      <p:bldP spid="46" grpId="0" bldLvl="0" animBg="1" autoUpdateAnimBg="0"/>
      <p:bldP spid="47" grpId="0" bldLvl="0" animBg="1" autoUpdateAnimBg="0"/>
      <p:bldP spid="48" grpId="0" bldLvl="0" animBg="1" autoUpdateAnimBg="0"/>
      <p:bldP spid="49" grpId="0" bldLvl="0" animBg="1" autoUpdateAnimBg="0"/>
      <p:bldP spid="50" grpId="0" bldLvl="0" animBg="1" autoUpdateAnimBg="0"/>
      <p:bldP spid="51" grpId="0" bldLvl="0" animBg="1" autoUpdateAnimBg="0"/>
      <p:bldP spid="52" grpId="0" bldLvl="0" animBg="1" autoUpdateAnimBg="0"/>
      <p:bldP spid="53" grpId="0" bldLvl="0" animBg="1" autoUpdateAnimBg="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ext Box 2"/>
          <p:cNvSpPr txBox="1">
            <a:spLocks noChangeArrowheads="1"/>
          </p:cNvSpPr>
          <p:nvPr/>
        </p:nvSpPr>
        <p:spPr bwMode="auto">
          <a:xfrm>
            <a:off x="381000" y="365125"/>
            <a:ext cx="4838700"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600" b="1">
                <a:latin typeface="Arial" panose="020B0604020202020204" pitchFamily="34" charset="0"/>
                <a:ea typeface="楷体_GB2312" pitchFamily="49" charset="-122"/>
                <a:cs typeface="Arial" panose="020B0604020202020204" pitchFamily="34" charset="0"/>
              </a:rPr>
              <a:t>2</a:t>
            </a:r>
            <a:r>
              <a:rPr lang="zh-CN" altLang="en-US" sz="3600" b="1">
                <a:latin typeface="Arial" panose="020B0604020202020204" pitchFamily="34" charset="0"/>
                <a:ea typeface="楷体_GB2312" pitchFamily="49" charset="-122"/>
                <a:cs typeface="Arial" panose="020B0604020202020204" pitchFamily="34" charset="0"/>
              </a:rPr>
              <a:t>. </a:t>
            </a:r>
            <a:r>
              <a:rPr lang="en-US" altLang="zh-CN" sz="3600" b="1">
                <a:latin typeface="Arial" panose="020B0604020202020204" pitchFamily="34" charset="0"/>
                <a:ea typeface="楷体_GB2312" pitchFamily="49" charset="-122"/>
                <a:cs typeface="Arial" panose="020B0604020202020204" pitchFamily="34" charset="0"/>
              </a:rPr>
              <a:t>Linked Radix Sort</a:t>
            </a:r>
          </a:p>
        </p:txBody>
      </p:sp>
      <p:sp>
        <p:nvSpPr>
          <p:cNvPr id="103428" name="Text Box 4"/>
          <p:cNvSpPr txBox="1">
            <a:spLocks noChangeArrowheads="1"/>
          </p:cNvSpPr>
          <p:nvPr/>
        </p:nvSpPr>
        <p:spPr bwMode="auto">
          <a:xfrm>
            <a:off x="517525" y="1773238"/>
            <a:ext cx="8626475" cy="278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en-US" altLang="zh-CN" b="1">
                <a:solidFill>
                  <a:srgbClr val="0000FF"/>
                </a:solidFill>
                <a:latin typeface="Arial" panose="020B0604020202020204" pitchFamily="34" charset="0"/>
                <a:ea typeface="楷体_GB2312" pitchFamily="49" charset="-122"/>
                <a:cs typeface="Arial" panose="020B0604020202020204" pitchFamily="34" charset="0"/>
              </a:rPr>
              <a:t>For numeric or character-type </a:t>
            </a:r>
            <a:r>
              <a:rPr lang="zh-CN" altLang="en-US" b="1">
                <a:solidFill>
                  <a:srgbClr val="000080"/>
                </a:solidFill>
                <a:latin typeface="Arial" panose="020B0604020202020204" pitchFamily="34" charset="0"/>
                <a:ea typeface="楷体_GB2312" pitchFamily="49" charset="-122"/>
                <a:cs typeface="Arial" panose="020B0604020202020204" pitchFamily="34" charset="0"/>
              </a:rPr>
              <a:t>single keys,</a:t>
            </a:r>
            <a:r>
              <a:rPr lang="en-US" altLang="zh-CN" b="1">
                <a:solidFill>
                  <a:srgbClr val="0000FF"/>
                </a:solidFill>
                <a:latin typeface="Arial" panose="020B0604020202020204" pitchFamily="34" charset="0"/>
                <a:ea typeface="楷体_GB2312" pitchFamily="49" charset="-122"/>
                <a:cs typeface="Arial" panose="020B0604020202020204" pitchFamily="34" charset="0"/>
              </a:rPr>
              <a:t> they can be </a:t>
            </a:r>
            <a:r>
              <a:rPr lang="zh-CN" altLang="en-US" b="1">
                <a:solidFill>
                  <a:srgbClr val="000080"/>
                </a:solidFill>
                <a:latin typeface="Arial" panose="020B0604020202020204" pitchFamily="34" charset="0"/>
                <a:ea typeface="楷体_GB2312" pitchFamily="49" charset="-122"/>
                <a:cs typeface="Arial" panose="020B0604020202020204" pitchFamily="34" charset="0"/>
              </a:rPr>
              <a:t>treated</a:t>
            </a:r>
            <a:r>
              <a:rPr lang="en-US" altLang="zh-CN" b="1">
                <a:solidFill>
                  <a:srgbClr val="0000FF"/>
                </a:solidFill>
                <a:latin typeface="Arial" panose="020B0604020202020204" pitchFamily="34" charset="0"/>
                <a:ea typeface="楷体_GB2312" pitchFamily="49" charset="-122"/>
                <a:cs typeface="Arial" panose="020B0604020202020204" pitchFamily="34" charset="0"/>
              </a:rPr>
              <a:t> as </a:t>
            </a:r>
            <a:r>
              <a:rPr lang="zh-CN" altLang="en-US" b="1">
                <a:solidFill>
                  <a:srgbClr val="000080"/>
                </a:solidFill>
                <a:latin typeface="Arial" panose="020B0604020202020204" pitchFamily="34" charset="0"/>
                <a:ea typeface="楷体_GB2312" pitchFamily="49" charset="-122"/>
                <a:cs typeface="Arial" panose="020B0604020202020204" pitchFamily="34" charset="0"/>
              </a:rPr>
              <a:t>multi-keys</a:t>
            </a:r>
            <a:r>
              <a:rPr lang="en-US" altLang="zh-CN" b="1">
                <a:solidFill>
                  <a:srgbClr val="0000FF"/>
                </a:solidFill>
                <a:latin typeface="Arial" panose="020B0604020202020204" pitchFamily="34" charset="0"/>
                <a:ea typeface="楷体_GB2312" pitchFamily="49" charset="-122"/>
                <a:cs typeface="Arial" panose="020B0604020202020204" pitchFamily="34" charset="0"/>
              </a:rPr>
              <a:t> composed of multiple digits or characters. In this case, the "</a:t>
            </a:r>
            <a:r>
              <a:rPr lang="zh-CN" altLang="en-US" b="1">
                <a:solidFill>
                  <a:srgbClr val="000080"/>
                </a:solidFill>
                <a:latin typeface="Arial" panose="020B0604020202020204" pitchFamily="34" charset="0"/>
                <a:ea typeface="楷体_GB2312" pitchFamily="49" charset="-122"/>
                <a:cs typeface="Arial" panose="020B0604020202020204" pitchFamily="34" charset="0"/>
              </a:rPr>
              <a:t>distribution-collection</a:t>
            </a:r>
            <a:r>
              <a:rPr lang="en-US" altLang="zh-CN" b="1">
                <a:solidFill>
                  <a:srgbClr val="0000FF"/>
                </a:solidFill>
                <a:latin typeface="Arial" panose="020B0604020202020204" pitchFamily="34" charset="0"/>
                <a:ea typeface="楷体_GB2312" pitchFamily="49" charset="-122"/>
                <a:cs typeface="Arial" panose="020B0604020202020204" pitchFamily="34" charset="0"/>
              </a:rPr>
              <a:t>" method can be used for sorting, which is called the </a:t>
            </a:r>
            <a:r>
              <a:rPr lang="zh-CN" altLang="en-US" b="1">
                <a:solidFill>
                  <a:srgbClr val="000080"/>
                </a:solidFill>
                <a:latin typeface="Arial" panose="020B0604020202020204" pitchFamily="34" charset="0"/>
                <a:ea typeface="楷体_GB2312" pitchFamily="49" charset="-122"/>
                <a:cs typeface="Arial" panose="020B0604020202020204" pitchFamily="34" charset="0"/>
              </a:rPr>
              <a:t>radix sort algorithm.</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112</a:t>
            </a:fld>
            <a:endParaRPr lang="en-US" altLang="zh-CN"/>
          </a:p>
        </p:txBody>
      </p:sp>
    </p:spTree>
  </p:cSld>
  <p:clrMapOvr>
    <a:masterClrMapping/>
  </p:clrMapOvr>
  <p:transition>
    <p:pull dir="rd"/>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ext Box 2"/>
          <p:cNvSpPr txBox="1">
            <a:spLocks noChangeArrowheads="1"/>
          </p:cNvSpPr>
          <p:nvPr/>
        </p:nvSpPr>
        <p:spPr bwMode="auto">
          <a:xfrm>
            <a:off x="381000" y="-76200"/>
            <a:ext cx="7472045" cy="1124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lang="zh-CN" altLang="en-US" b="1">
                <a:latin typeface="Arial" panose="020B0604020202020204" pitchFamily="34" charset="0"/>
                <a:ea typeface="楷体_GB2312" pitchFamily="49" charset="-122"/>
                <a:cs typeface="Arial" panose="020B0604020202020204" pitchFamily="34" charset="0"/>
              </a:rPr>
              <a:t>For example: the following set of keywords</a:t>
            </a:r>
            <a:endParaRPr lang="zh-CN" altLang="en-US">
              <a:latin typeface="Arial" panose="020B0604020202020204" pitchFamily="34" charset="0"/>
              <a:ea typeface="楷体_GB2312" pitchFamily="49" charset="-122"/>
              <a:cs typeface="Arial" panose="020B0604020202020204" pitchFamily="34" charset="0"/>
            </a:endParaRPr>
          </a:p>
          <a:p>
            <a:pPr>
              <a:lnSpc>
                <a:spcPct val="120000"/>
              </a:lnSpc>
            </a:pPr>
            <a:r>
              <a:rPr lang="en-US" altLang="zh-CN">
                <a:solidFill>
                  <a:srgbClr val="0000FF"/>
                </a:solidFill>
                <a:latin typeface="Arial" panose="020B0604020202020204" pitchFamily="34" charset="0"/>
                <a:ea typeface="楷体_GB2312" pitchFamily="49" charset="-122"/>
                <a:cs typeface="Arial" panose="020B0604020202020204" pitchFamily="34" charset="0"/>
              </a:rPr>
              <a:t>{209, 386, 768, 185, 247, 606, 230, 834, 539 }</a:t>
            </a:r>
            <a:endParaRPr lang="en-US" altLang="zh-CN">
              <a:latin typeface="Arial" panose="020B0604020202020204" pitchFamily="34" charset="0"/>
              <a:ea typeface="楷体_GB2312" pitchFamily="49" charset="-122"/>
              <a:cs typeface="Arial" panose="020B0604020202020204" pitchFamily="34" charset="0"/>
            </a:endParaRPr>
          </a:p>
        </p:txBody>
      </p:sp>
      <p:sp>
        <p:nvSpPr>
          <p:cNvPr id="104451" name="Text Box 3"/>
          <p:cNvSpPr txBox="1">
            <a:spLocks noChangeArrowheads="1"/>
          </p:cNvSpPr>
          <p:nvPr/>
        </p:nvSpPr>
        <p:spPr bwMode="auto">
          <a:xfrm>
            <a:off x="441325" y="1219200"/>
            <a:ext cx="8474075" cy="181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a:latin typeface="Arial" panose="020B0604020202020204" pitchFamily="34" charset="0"/>
                <a:ea typeface="楷体_GB2312" pitchFamily="49" charset="-122"/>
                <a:cs typeface="Arial" panose="020B0604020202020204" pitchFamily="34" charset="0"/>
              </a:rPr>
              <a:t>First, </a:t>
            </a:r>
            <a:r>
              <a:rPr lang="zh-CN" altLang="en-US" b="1">
                <a:solidFill>
                  <a:srgbClr val="FF0000"/>
                </a:solidFill>
                <a:latin typeface="Arial" panose="020B0604020202020204" pitchFamily="34" charset="0"/>
                <a:ea typeface="楷体_GB2312" pitchFamily="49" charset="-122"/>
                <a:cs typeface="Arial" panose="020B0604020202020204" pitchFamily="34" charset="0"/>
              </a:rPr>
              <a:t>distribute</a:t>
            </a:r>
            <a:r>
              <a:rPr lang="en-US" altLang="zh-CN">
                <a:latin typeface="Arial" panose="020B0604020202020204" pitchFamily="34" charset="0"/>
                <a:ea typeface="楷体_GB2312" pitchFamily="49" charset="-122"/>
                <a:cs typeface="Arial" panose="020B0604020202020204" pitchFamily="34" charset="0"/>
              </a:rPr>
              <a:t> them into 10 groups based on the value of their </a:t>
            </a:r>
            <a:r>
              <a:rPr lang="zh-CN" altLang="en-US" b="1">
                <a:solidFill>
                  <a:srgbClr val="993300"/>
                </a:solidFill>
                <a:latin typeface="Arial" panose="020B0604020202020204" pitchFamily="34" charset="0"/>
                <a:ea typeface="楷体_GB2312" pitchFamily="49" charset="-122"/>
                <a:cs typeface="Arial" panose="020B0604020202020204" pitchFamily="34" charset="0"/>
              </a:rPr>
              <a:t>units digit</a:t>
            </a:r>
            <a:r>
              <a:rPr lang="en-US" altLang="zh-CN">
                <a:latin typeface="Arial" panose="020B0604020202020204" pitchFamily="34" charset="0"/>
                <a:ea typeface="楷体_GB2312" pitchFamily="49" charset="-122"/>
                <a:cs typeface="Arial" panose="020B0604020202020204" pitchFamily="34" charset="0"/>
              </a:rPr>
              <a:t> (0, 1, ..., 9), then</a:t>
            </a:r>
            <a:r>
              <a:rPr lang="zh-CN" altLang="en-US" b="1">
                <a:solidFill>
                  <a:srgbClr val="FF0000"/>
                </a:solidFill>
                <a:latin typeface="Arial" panose="020B0604020202020204" pitchFamily="34" charset="0"/>
                <a:ea typeface="楷体_GB2312" pitchFamily="49" charset="-122"/>
                <a:cs typeface="Arial" panose="020B0604020202020204" pitchFamily="34" charset="0"/>
              </a:rPr>
              <a:t> collect</a:t>
            </a:r>
            <a:r>
              <a:rPr lang="en-US" altLang="zh-CN">
                <a:latin typeface="Arial" panose="020B0604020202020204" pitchFamily="34" charset="0"/>
                <a:ea typeface="楷体_GB2312" pitchFamily="49" charset="-122"/>
                <a:cs typeface="Arial" panose="020B0604020202020204" pitchFamily="34" charset="0"/>
              </a:rPr>
              <a:t> them in order from 0 to </a:t>
            </a:r>
            <a:r>
              <a:rPr lang="en-US" altLang="zh-CN" b="1">
                <a:solidFill>
                  <a:srgbClr val="FF0000"/>
                </a:solidFill>
                <a:latin typeface="Arial" panose="020B0604020202020204" pitchFamily="34" charset="0"/>
                <a:ea typeface="楷体_GB2312" pitchFamily="49" charset="-122"/>
                <a:cs typeface="Arial" panose="020B0604020202020204" pitchFamily="34" charset="0"/>
              </a:rPr>
              <a:t>9: {230,834,185,386,606,247,768,209,539}</a:t>
            </a:r>
            <a:endParaRPr lang="en-US" altLang="zh-CN">
              <a:latin typeface="Arial" panose="020B0604020202020204" pitchFamily="34" charset="0"/>
              <a:ea typeface="楷体_GB2312" pitchFamily="49" charset="-122"/>
              <a:cs typeface="Arial" panose="020B0604020202020204" pitchFamily="34" charset="0"/>
            </a:endParaRPr>
          </a:p>
        </p:txBody>
      </p:sp>
      <p:sp>
        <p:nvSpPr>
          <p:cNvPr id="104452" name="Rectangle 4"/>
          <p:cNvSpPr>
            <a:spLocks noChangeArrowheads="1"/>
          </p:cNvSpPr>
          <p:nvPr/>
        </p:nvSpPr>
        <p:spPr bwMode="auto">
          <a:xfrm>
            <a:off x="381000" y="3292475"/>
            <a:ext cx="8534400" cy="181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a:latin typeface="Arial" panose="020B0604020202020204" pitchFamily="34" charset="0"/>
                <a:ea typeface="楷体_GB2312" pitchFamily="49" charset="-122"/>
                <a:cs typeface="Arial" panose="020B0604020202020204" pitchFamily="34" charset="0"/>
              </a:rPr>
              <a:t>Next, </a:t>
            </a:r>
            <a:r>
              <a:rPr lang="en-US" altLang="zh-CN" b="1">
                <a:solidFill>
                  <a:srgbClr val="FF0000"/>
                </a:solidFill>
                <a:latin typeface="Arial" panose="020B0604020202020204" pitchFamily="34" charset="0"/>
                <a:ea typeface="楷体_GB2312" pitchFamily="49" charset="-122"/>
                <a:cs typeface="Arial" panose="020B0604020202020204" pitchFamily="34" charset="0"/>
              </a:rPr>
              <a:t>distribute </a:t>
            </a:r>
            <a:r>
              <a:rPr lang="en-US" altLang="zh-CN">
                <a:latin typeface="Arial" panose="020B0604020202020204" pitchFamily="34" charset="0"/>
                <a:ea typeface="楷体_GB2312" pitchFamily="49" charset="-122"/>
                <a:cs typeface="Arial" panose="020B0604020202020204" pitchFamily="34" charset="0"/>
              </a:rPr>
              <a:t>them into 10 groups based on the value of their </a:t>
            </a:r>
            <a:r>
              <a:rPr lang="zh-CN" altLang="en-US" b="1">
                <a:solidFill>
                  <a:srgbClr val="993300"/>
                </a:solidFill>
                <a:latin typeface="Arial" panose="020B0604020202020204" pitchFamily="34" charset="0"/>
                <a:ea typeface="楷体_GB2312" pitchFamily="49" charset="-122"/>
                <a:cs typeface="Arial" panose="020B0604020202020204" pitchFamily="34" charset="0"/>
              </a:rPr>
              <a:t>tens digit</a:t>
            </a:r>
            <a:r>
              <a:rPr lang="en-US" altLang="zh-CN">
                <a:latin typeface="Arial" panose="020B0604020202020204" pitchFamily="34" charset="0"/>
                <a:ea typeface="楷体_GB2312" pitchFamily="49" charset="-122"/>
                <a:cs typeface="Arial" panose="020B0604020202020204" pitchFamily="34" charset="0"/>
              </a:rPr>
              <a:t> (0, 1, ..., 9), then </a:t>
            </a:r>
            <a:r>
              <a:rPr lang="en-US" altLang="zh-CN" b="1">
                <a:solidFill>
                  <a:srgbClr val="FF0000"/>
                </a:solidFill>
                <a:latin typeface="Arial" panose="020B0604020202020204" pitchFamily="34" charset="0"/>
                <a:ea typeface="楷体_GB2312" pitchFamily="49" charset="-122"/>
                <a:cs typeface="Arial" panose="020B0604020202020204" pitchFamily="34" charset="0"/>
              </a:rPr>
              <a:t>collect</a:t>
            </a:r>
            <a:r>
              <a:rPr lang="en-US" altLang="zh-CN">
                <a:latin typeface="Arial" panose="020B0604020202020204" pitchFamily="34" charset="0"/>
                <a:ea typeface="楷体_GB2312" pitchFamily="49" charset="-122"/>
                <a:cs typeface="Arial" panose="020B0604020202020204" pitchFamily="34" charset="0"/>
              </a:rPr>
              <a:t> them again in order from 0 to 9:</a:t>
            </a:r>
            <a:r>
              <a:rPr lang="zh-CN" altLang="en-US">
                <a:latin typeface="Arial" panose="020B0604020202020204" pitchFamily="34" charset="0"/>
                <a:ea typeface="楷体_GB2312" pitchFamily="49" charset="-122"/>
                <a:cs typeface="Arial" panose="020B0604020202020204" pitchFamily="34" charset="0"/>
              </a:rPr>
              <a:t> {606,209,230,834,539,247,768,185,386}</a:t>
            </a:r>
            <a:endParaRPr lang="en-US" altLang="zh-CN">
              <a:latin typeface="Arial" panose="020B0604020202020204" pitchFamily="34" charset="0"/>
              <a:ea typeface="楷体_GB2312" pitchFamily="49" charset="-122"/>
              <a:cs typeface="Arial" panose="020B0604020202020204" pitchFamily="34" charset="0"/>
            </a:endParaRPr>
          </a:p>
        </p:txBody>
      </p:sp>
      <p:sp>
        <p:nvSpPr>
          <p:cNvPr id="104453" name="Rectangle 5"/>
          <p:cNvSpPr>
            <a:spLocks noChangeArrowheads="1"/>
          </p:cNvSpPr>
          <p:nvPr/>
        </p:nvSpPr>
        <p:spPr bwMode="auto">
          <a:xfrm>
            <a:off x="381000" y="5486400"/>
            <a:ext cx="8235950" cy="953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latin typeface="Arial" panose="020B0604020202020204" pitchFamily="34" charset="0"/>
                <a:ea typeface="楷体_GB2312" pitchFamily="49" charset="-122"/>
                <a:cs typeface="Arial" panose="020B0604020202020204" pitchFamily="34" charset="0"/>
              </a:rPr>
              <a:t>Repeat the above operation for the </a:t>
            </a:r>
            <a:r>
              <a:rPr lang="zh-CN" altLang="en-US" b="1">
                <a:solidFill>
                  <a:srgbClr val="993300"/>
                </a:solidFill>
                <a:latin typeface="Arial" panose="020B0604020202020204" pitchFamily="34" charset="0"/>
                <a:ea typeface="楷体_GB2312" pitchFamily="49" charset="-122"/>
                <a:cs typeface="Arial" panose="020B0604020202020204" pitchFamily="34" charset="0"/>
              </a:rPr>
              <a:t>hundred digit</a:t>
            </a:r>
            <a:r>
              <a:rPr lang="zh-CN" altLang="en-US">
                <a:latin typeface="Arial" panose="020B0604020202020204" pitchFamily="34" charset="0"/>
                <a:ea typeface="楷体_GB2312" pitchFamily="49" charset="-122"/>
                <a:cs typeface="Arial" panose="020B0604020202020204" pitchFamily="34" charset="0"/>
              </a:rPr>
              <a:t>.</a:t>
            </a:r>
          </a:p>
          <a:p>
            <a:r>
              <a:rPr lang="en-US" altLang="zh-CN">
                <a:latin typeface="Arial" panose="020B0604020202020204" pitchFamily="34" charset="0"/>
                <a:ea typeface="楷体_GB2312" pitchFamily="49" charset="-122"/>
                <a:cs typeface="Arial" panose="020B0604020202020204" pitchFamily="34" charset="0"/>
              </a:rPr>
              <a:t>{185,209,230,247,386,539,606,768,834}</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113</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4450"/>
                                        </p:tgtEl>
                                        <p:attrNameLst>
                                          <p:attrName>style.visibility</p:attrName>
                                        </p:attrNameLst>
                                      </p:cBhvr>
                                      <p:to>
                                        <p:strVal val="visible"/>
                                      </p:to>
                                    </p:set>
                                    <p:animEffect transition="in" filter="wipe(left)">
                                      <p:cBhvr>
                                        <p:cTn id="7" dur="500"/>
                                        <p:tgtEl>
                                          <p:spTgt spid="10445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4451"/>
                                        </p:tgtEl>
                                        <p:attrNameLst>
                                          <p:attrName>style.visibility</p:attrName>
                                        </p:attrNameLst>
                                      </p:cBhvr>
                                      <p:to>
                                        <p:strVal val="visible"/>
                                      </p:to>
                                    </p:set>
                                    <p:animEffect transition="in" filter="wipe(left)">
                                      <p:cBhvr>
                                        <p:cTn id="12" dur="500"/>
                                        <p:tgtEl>
                                          <p:spTgt spid="10445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4452"/>
                                        </p:tgtEl>
                                        <p:attrNameLst>
                                          <p:attrName>style.visibility</p:attrName>
                                        </p:attrNameLst>
                                      </p:cBhvr>
                                      <p:to>
                                        <p:strVal val="visible"/>
                                      </p:to>
                                    </p:set>
                                    <p:animEffect transition="in" filter="wipe(left)">
                                      <p:cBhvr>
                                        <p:cTn id="17" dur="500"/>
                                        <p:tgtEl>
                                          <p:spTgt spid="10445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4453"/>
                                        </p:tgtEl>
                                        <p:attrNameLst>
                                          <p:attrName>style.visibility</p:attrName>
                                        </p:attrNameLst>
                                      </p:cBhvr>
                                      <p:to>
                                        <p:strVal val="visible"/>
                                      </p:to>
                                    </p:set>
                                    <p:animEffect transition="in" filter="wipe(left)">
                                      <p:cBhvr>
                                        <p:cTn id="22" dur="500"/>
                                        <p:tgtEl>
                                          <p:spTgt spid="1044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0" grpId="0" bldLvl="0" animBg="1" autoUpdateAnimBg="0"/>
      <p:bldP spid="104451" grpId="0" bldLvl="0" animBg="1" autoUpdateAnimBg="0"/>
      <p:bldP spid="104452" grpId="0" bldLvl="0" animBg="1" autoUpdateAnimBg="0"/>
      <p:bldP spid="104453" grpId="0" bldLvl="0" animBg="1" autoUpdateAnimBg="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5" name="Text Box 3"/>
          <p:cNvSpPr txBox="1">
            <a:spLocks noChangeArrowheads="1"/>
          </p:cNvSpPr>
          <p:nvPr/>
        </p:nvSpPr>
        <p:spPr bwMode="auto">
          <a:xfrm>
            <a:off x="208280" y="1920875"/>
            <a:ext cx="8630920" cy="829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b="1">
                <a:latin typeface="Arial" panose="020B0604020202020204" pitchFamily="34" charset="0"/>
                <a:ea typeface="楷体_GB2312" pitchFamily="49" charset="-122"/>
                <a:cs typeface="Arial" panose="020B0604020202020204" pitchFamily="34" charset="0"/>
              </a:rPr>
              <a:t>1. The records to be sorted are linked by pointers to form a linked list;</a:t>
            </a:r>
          </a:p>
        </p:txBody>
      </p:sp>
      <p:sp>
        <p:nvSpPr>
          <p:cNvPr id="105476" name="Text Box 4"/>
          <p:cNvSpPr txBox="1">
            <a:spLocks noChangeArrowheads="1"/>
          </p:cNvSpPr>
          <p:nvPr/>
        </p:nvSpPr>
        <p:spPr bwMode="auto">
          <a:xfrm>
            <a:off x="290513" y="2636520"/>
            <a:ext cx="8624887" cy="186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zh-CN" altLang="en-US" sz="2400" b="1">
                <a:latin typeface="Arial" panose="020B0604020202020204" pitchFamily="34" charset="0"/>
                <a:ea typeface="楷体_GB2312" pitchFamily="49" charset="-122"/>
                <a:cs typeface="Arial" panose="020B0604020202020204" pitchFamily="34" charset="0"/>
              </a:rPr>
              <a:t>2. During the "</a:t>
            </a:r>
            <a:r>
              <a:rPr lang="zh-CN" altLang="en-US" sz="2400" b="1">
                <a:solidFill>
                  <a:srgbClr val="993300"/>
                </a:solidFill>
                <a:latin typeface="Arial" panose="020B0604020202020204" pitchFamily="34" charset="0"/>
                <a:ea typeface="楷体_GB2312" pitchFamily="49" charset="-122"/>
                <a:cs typeface="Arial" panose="020B0604020202020204" pitchFamily="34" charset="0"/>
              </a:rPr>
              <a:t>allocation</a:t>
            </a:r>
            <a:r>
              <a:rPr lang="zh-CN" altLang="en-US" sz="2400" b="1">
                <a:latin typeface="Arial" panose="020B0604020202020204" pitchFamily="34" charset="0"/>
                <a:ea typeface="楷体_GB2312" pitchFamily="49" charset="-122"/>
                <a:cs typeface="Arial" panose="020B0604020202020204" pitchFamily="34" charset="0"/>
              </a:rPr>
              <a:t>" process, records are assigned to different "</a:t>
            </a:r>
            <a:r>
              <a:rPr lang="zh-CN" altLang="en-US" sz="2400" b="1">
                <a:solidFill>
                  <a:srgbClr val="993300"/>
                </a:solidFill>
                <a:latin typeface="Arial" panose="020B0604020202020204" pitchFamily="34" charset="0"/>
                <a:ea typeface="楷体_GB2312" pitchFamily="49" charset="-122"/>
                <a:cs typeface="Arial" panose="020B0604020202020204" pitchFamily="34" charset="0"/>
              </a:rPr>
              <a:t>linked queues</a:t>
            </a:r>
            <a:r>
              <a:rPr lang="zh-CN" altLang="en-US" sz="2400" b="1">
                <a:latin typeface="Arial" panose="020B0604020202020204" pitchFamily="34" charset="0"/>
                <a:ea typeface="楷体_GB2312" pitchFamily="49" charset="-122"/>
                <a:cs typeface="Arial" panose="020B0604020202020204" pitchFamily="34" charset="0"/>
              </a:rPr>
              <a:t>" based on their current "key bit" values, with all records in each queue sharing the same "key bit".</a:t>
            </a:r>
          </a:p>
        </p:txBody>
      </p:sp>
      <p:sp>
        <p:nvSpPr>
          <p:cNvPr id="105477" name="Text Box 5"/>
          <p:cNvSpPr txBox="1">
            <a:spLocks noChangeArrowheads="1"/>
          </p:cNvSpPr>
          <p:nvPr/>
        </p:nvSpPr>
        <p:spPr bwMode="auto">
          <a:xfrm>
            <a:off x="304483" y="4364673"/>
            <a:ext cx="8545512" cy="1420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zh-CN" altLang="en-US" sz="2400" b="1">
                <a:latin typeface="Arial" panose="020B0604020202020204" pitchFamily="34" charset="0"/>
                <a:ea typeface="楷体_GB2312" pitchFamily="49" charset="-122"/>
                <a:cs typeface="Arial" panose="020B0604020202020204" pitchFamily="34" charset="0"/>
              </a:rPr>
              <a:t>3. When "</a:t>
            </a:r>
            <a:r>
              <a:rPr lang="zh-CN" altLang="en-US" sz="2400" b="1">
                <a:solidFill>
                  <a:srgbClr val="993300"/>
                </a:solidFill>
                <a:latin typeface="Arial" panose="020B0604020202020204" pitchFamily="34" charset="0"/>
                <a:ea typeface="楷体_GB2312" pitchFamily="49" charset="-122"/>
                <a:cs typeface="Arial" panose="020B0604020202020204" pitchFamily="34" charset="0"/>
              </a:rPr>
              <a:t>collecting</a:t>
            </a:r>
            <a:r>
              <a:rPr lang="zh-CN" altLang="en-US" sz="2400" b="1">
                <a:latin typeface="Arial" panose="020B0604020202020204" pitchFamily="34" charset="0"/>
                <a:ea typeface="楷体_GB2312" pitchFamily="49" charset="-122"/>
                <a:cs typeface="Arial" panose="020B0604020202020204" pitchFamily="34" charset="0"/>
              </a:rPr>
              <a:t>", the values of the current keyword bit are taken from small to large, and the first and last of each queue are linked together to form a linked list;</a:t>
            </a:r>
          </a:p>
        </p:txBody>
      </p:sp>
      <p:sp>
        <p:nvSpPr>
          <p:cNvPr id="105478" name="Text Box 6"/>
          <p:cNvSpPr txBox="1">
            <a:spLocks noChangeArrowheads="1"/>
          </p:cNvSpPr>
          <p:nvPr/>
        </p:nvSpPr>
        <p:spPr bwMode="auto">
          <a:xfrm>
            <a:off x="290513" y="5732463"/>
            <a:ext cx="770001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latin typeface="Arial" panose="020B0604020202020204" pitchFamily="34" charset="0"/>
                <a:ea typeface="楷体_GB2312" pitchFamily="49" charset="-122"/>
                <a:cs typeface="Arial" panose="020B0604020202020204" pitchFamily="34" charset="0"/>
              </a:rPr>
              <a:t>4. Repeat steps 2) and 3) for each keyword position.</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114</a:t>
            </a:fld>
            <a:endParaRPr lang="en-US" altLang="zh-CN"/>
          </a:p>
        </p:txBody>
      </p:sp>
      <p:sp>
        <p:nvSpPr>
          <p:cNvPr id="4" name="Text Box 2"/>
          <p:cNvSpPr txBox="1">
            <a:spLocks noChangeArrowheads="1"/>
          </p:cNvSpPr>
          <p:nvPr/>
        </p:nvSpPr>
        <p:spPr bwMode="auto">
          <a:xfrm>
            <a:off x="252095" y="260350"/>
            <a:ext cx="8626475" cy="156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a:solidFill>
                  <a:srgbClr val="0000FF"/>
                </a:solidFill>
                <a:latin typeface="Arial" panose="020B0604020202020204" pitchFamily="34" charset="0"/>
                <a:ea typeface="隶书" panose="02010509060101010101" pitchFamily="49" charset="-122"/>
                <a:cs typeface="Arial" panose="020B0604020202020204" pitchFamily="34" charset="0"/>
              </a:rPr>
              <a:t>When implementing radix sort on a computer, linked lists should be used as the storage structure (</a:t>
            </a:r>
            <a:r>
              <a:rPr lang="en-US" altLang="zh-CN" sz="2400">
                <a:latin typeface="Arial" panose="020B0604020202020204" pitchFamily="34" charset="0"/>
                <a:ea typeface="楷体_GB2312" pitchFamily="49" charset="-122"/>
                <a:cs typeface="Arial" panose="020B0604020202020204" pitchFamily="34" charset="0"/>
              </a:rPr>
              <a:t>i.e., linked radix sort</a:t>
            </a:r>
            <a:r>
              <a:rPr lang="zh-CN" altLang="en-US" sz="2400">
                <a:solidFill>
                  <a:srgbClr val="0000FF"/>
                </a:solidFill>
                <a:latin typeface="Arial" panose="020B0604020202020204" pitchFamily="34" charset="0"/>
                <a:ea typeface="隶书" panose="02010509060101010101" pitchFamily="49" charset="-122"/>
                <a:cs typeface="Arial" panose="020B0604020202020204" pitchFamily="34" charset="0"/>
              </a:rPr>
              <a:t>) to reduce the required auxiliary storage space. </a:t>
            </a:r>
            <a:r>
              <a:rPr lang="en-US" altLang="zh-CN" sz="2400">
                <a:latin typeface="Arial" panose="020B0604020202020204" pitchFamily="34" charset="0"/>
                <a:ea typeface="楷体_GB2312" pitchFamily="49" charset="-122"/>
                <a:cs typeface="Arial" panose="020B0604020202020204" pitchFamily="34" charset="0"/>
              </a:rPr>
              <a:t>The specific steps are as follows:</a:t>
            </a:r>
            <a:endParaRPr lang="zh-CN" altLang="en-US" sz="3500">
              <a:solidFill>
                <a:srgbClr val="0000FF"/>
              </a:solidFill>
              <a:latin typeface="Arial" panose="020B0604020202020204" pitchFamily="34" charset="0"/>
              <a:ea typeface="隶书" panose="02010509060101010101" pitchFamily="49" charset="-122"/>
              <a:cs typeface="Arial" panose="020B0604020202020204" pitchFamily="34" charset="0"/>
            </a:endParaRP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5475">
                                            <p:txEl>
                                              <p:pRg st="0" end="0"/>
                                            </p:txEl>
                                          </p:spTgt>
                                        </p:tgtEl>
                                        <p:attrNameLst>
                                          <p:attrName>style.visibility</p:attrName>
                                        </p:attrNameLst>
                                      </p:cBhvr>
                                      <p:to>
                                        <p:strVal val="visible"/>
                                      </p:to>
                                    </p:set>
                                    <p:animEffect transition="in" filter="wipe(left)">
                                      <p:cBhvr>
                                        <p:cTn id="7" dur="500"/>
                                        <p:tgtEl>
                                          <p:spTgt spid="1054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5476">
                                            <p:txEl>
                                              <p:pRg st="0" end="0"/>
                                            </p:txEl>
                                          </p:spTgt>
                                        </p:tgtEl>
                                        <p:attrNameLst>
                                          <p:attrName>style.visibility</p:attrName>
                                        </p:attrNameLst>
                                      </p:cBhvr>
                                      <p:to>
                                        <p:strVal val="visible"/>
                                      </p:to>
                                    </p:set>
                                    <p:animEffect transition="in" filter="wipe(left)">
                                      <p:cBhvr>
                                        <p:cTn id="12" dur="500"/>
                                        <p:tgtEl>
                                          <p:spTgt spid="10547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5477">
                                            <p:txEl>
                                              <p:pRg st="0" end="0"/>
                                            </p:txEl>
                                          </p:spTgt>
                                        </p:tgtEl>
                                        <p:attrNameLst>
                                          <p:attrName>style.visibility</p:attrName>
                                        </p:attrNameLst>
                                      </p:cBhvr>
                                      <p:to>
                                        <p:strVal val="visible"/>
                                      </p:to>
                                    </p:set>
                                    <p:animEffect transition="in" filter="wipe(left)">
                                      <p:cBhvr>
                                        <p:cTn id="17" dur="500"/>
                                        <p:tgtEl>
                                          <p:spTgt spid="10547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5478">
                                            <p:txEl>
                                              <p:pRg st="0" end="0"/>
                                            </p:txEl>
                                          </p:spTgt>
                                        </p:tgtEl>
                                        <p:attrNameLst>
                                          <p:attrName>style.visibility</p:attrName>
                                        </p:attrNameLst>
                                      </p:cBhvr>
                                      <p:to>
                                        <p:strVal val="visible"/>
                                      </p:to>
                                    </p:set>
                                    <p:animEffect transition="in" filter="wipe(left)">
                                      <p:cBhvr>
                                        <p:cTn id="22" dur="500"/>
                                        <p:tgtEl>
                                          <p:spTgt spid="105478">
                                            <p:txEl>
                                              <p:pRg st="0" end="0"/>
                                            </p:txEl>
                                          </p:spTgt>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wipe(left)">
                                      <p:cBhvr>
                                        <p:cTn id="2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5" grpId="0" build="p" autoUpdateAnimBg="0"/>
      <p:bldP spid="105476" grpId="0" build="p" autoUpdateAnimBg="0"/>
      <p:bldP spid="105477" grpId="0" build="p" autoUpdateAnimBg="0"/>
      <p:bldP spid="105478" grpId="0" build="p" autoUpdateAnimBg="0"/>
      <p:bldP spid="4" grpId="0" bldLvl="0" animBg="1" autoUpdateAnimBg="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ext Box 2"/>
          <p:cNvSpPr txBox="1">
            <a:spLocks noChangeArrowheads="1"/>
          </p:cNvSpPr>
          <p:nvPr/>
        </p:nvSpPr>
        <p:spPr bwMode="auto">
          <a:xfrm>
            <a:off x="152400" y="0"/>
            <a:ext cx="2300605" cy="706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4000">
                <a:solidFill>
                  <a:srgbClr val="9933FF"/>
                </a:solidFill>
                <a:latin typeface="Arial" panose="020B0604020202020204" pitchFamily="34" charset="0"/>
                <a:ea typeface="隶书" panose="02010509060101010101" pitchFamily="49" charset="-122"/>
                <a:cs typeface="Arial" panose="020B0604020202020204" pitchFamily="34" charset="0"/>
              </a:rPr>
              <a:t>Example:</a:t>
            </a:r>
          </a:p>
        </p:txBody>
      </p:sp>
      <p:sp>
        <p:nvSpPr>
          <p:cNvPr id="106499" name="Text Box 3"/>
          <p:cNvSpPr txBox="1">
            <a:spLocks noChangeArrowheads="1"/>
          </p:cNvSpPr>
          <p:nvPr/>
        </p:nvSpPr>
        <p:spPr bwMode="auto">
          <a:xfrm>
            <a:off x="400050" y="685800"/>
            <a:ext cx="85153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ea typeface="楷体_GB2312" pitchFamily="49" charset="-122"/>
              </a:rPr>
              <a:t>p</a:t>
            </a:r>
            <a:r>
              <a:rPr lang="en-US" altLang="zh-CN">
                <a:latin typeface="楷体_GB2312" pitchFamily="49" charset="-122"/>
                <a:ea typeface="楷体_GB2312" pitchFamily="49" charset="-122"/>
              </a:rPr>
              <a:t>→</a:t>
            </a:r>
            <a:r>
              <a:rPr lang="en-US" altLang="zh-CN">
                <a:ea typeface="楷体_GB2312" pitchFamily="49" charset="-122"/>
              </a:rPr>
              <a:t>369</a:t>
            </a:r>
            <a:r>
              <a:rPr lang="en-US" altLang="zh-CN">
                <a:latin typeface="楷体_GB2312" pitchFamily="49" charset="-122"/>
                <a:ea typeface="楷体_GB2312" pitchFamily="49" charset="-122"/>
              </a:rPr>
              <a:t>→</a:t>
            </a:r>
            <a:r>
              <a:rPr lang="en-US" altLang="zh-CN">
                <a:ea typeface="楷体_GB2312" pitchFamily="49" charset="-122"/>
              </a:rPr>
              <a:t>367</a:t>
            </a:r>
            <a:r>
              <a:rPr lang="en-US" altLang="zh-CN">
                <a:latin typeface="楷体_GB2312" pitchFamily="49" charset="-122"/>
                <a:ea typeface="楷体_GB2312" pitchFamily="49" charset="-122"/>
              </a:rPr>
              <a:t>→</a:t>
            </a:r>
            <a:r>
              <a:rPr lang="en-US" altLang="zh-CN">
                <a:ea typeface="楷体_GB2312" pitchFamily="49" charset="-122"/>
              </a:rPr>
              <a:t>167</a:t>
            </a:r>
            <a:r>
              <a:rPr lang="en-US" altLang="zh-CN">
                <a:latin typeface="楷体_GB2312" pitchFamily="49" charset="-122"/>
                <a:ea typeface="楷体_GB2312" pitchFamily="49" charset="-122"/>
              </a:rPr>
              <a:t>→</a:t>
            </a:r>
            <a:r>
              <a:rPr lang="en-US" altLang="zh-CN">
                <a:ea typeface="楷体_GB2312" pitchFamily="49" charset="-122"/>
              </a:rPr>
              <a:t>239</a:t>
            </a:r>
            <a:r>
              <a:rPr lang="en-US" altLang="zh-CN">
                <a:latin typeface="楷体_GB2312" pitchFamily="49" charset="-122"/>
                <a:ea typeface="楷体_GB2312" pitchFamily="49" charset="-122"/>
              </a:rPr>
              <a:t>→</a:t>
            </a:r>
            <a:r>
              <a:rPr lang="en-US" altLang="zh-CN">
                <a:ea typeface="楷体_GB2312" pitchFamily="49" charset="-122"/>
              </a:rPr>
              <a:t>237</a:t>
            </a:r>
            <a:r>
              <a:rPr lang="en-US" altLang="zh-CN">
                <a:latin typeface="楷体_GB2312" pitchFamily="49" charset="-122"/>
                <a:ea typeface="楷体_GB2312" pitchFamily="49" charset="-122"/>
              </a:rPr>
              <a:t>→</a:t>
            </a:r>
            <a:r>
              <a:rPr lang="en-US" altLang="zh-CN">
                <a:ea typeface="楷体_GB2312" pitchFamily="49" charset="-122"/>
              </a:rPr>
              <a:t>138</a:t>
            </a:r>
            <a:r>
              <a:rPr lang="en-US" altLang="zh-CN">
                <a:latin typeface="楷体_GB2312" pitchFamily="49" charset="-122"/>
                <a:ea typeface="楷体_GB2312" pitchFamily="49" charset="-122"/>
              </a:rPr>
              <a:t>→</a:t>
            </a:r>
            <a:r>
              <a:rPr lang="en-US" altLang="zh-CN">
                <a:ea typeface="楷体_GB2312" pitchFamily="49" charset="-122"/>
              </a:rPr>
              <a:t>230</a:t>
            </a:r>
            <a:r>
              <a:rPr lang="en-US" altLang="zh-CN">
                <a:latin typeface="楷体_GB2312" pitchFamily="49" charset="-122"/>
                <a:ea typeface="楷体_GB2312" pitchFamily="49" charset="-122"/>
              </a:rPr>
              <a:t>→</a:t>
            </a:r>
            <a:r>
              <a:rPr lang="en-US" altLang="zh-CN">
                <a:ea typeface="楷体_GB2312" pitchFamily="49" charset="-122"/>
              </a:rPr>
              <a:t>139</a:t>
            </a:r>
          </a:p>
        </p:txBody>
      </p:sp>
      <p:sp>
        <p:nvSpPr>
          <p:cNvPr id="106500" name="Text Box 4"/>
          <p:cNvSpPr txBox="1">
            <a:spLocks noChangeArrowheads="1"/>
          </p:cNvSpPr>
          <p:nvPr/>
        </p:nvSpPr>
        <p:spPr bwMode="auto">
          <a:xfrm>
            <a:off x="228600" y="1174750"/>
            <a:ext cx="8229600" cy="8115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pPr>
            <a:r>
              <a:rPr lang="en-US" altLang="zh-CN" sz="3600">
                <a:solidFill>
                  <a:schemeClr val="tx1">
                    <a:lumMod val="95000"/>
                    <a:lumOff val="5000"/>
                  </a:schemeClr>
                </a:solidFill>
                <a:latin typeface="Arial" panose="020B0604020202020204" pitchFamily="34" charset="0"/>
                <a:ea typeface="楷体_GB2312" pitchFamily="49" charset="-122"/>
                <a:cs typeface="Arial" panose="020B0604020202020204" pitchFamily="34" charset="0"/>
              </a:rPr>
              <a:t>First Distribution</a:t>
            </a:r>
            <a:r>
              <a:rPr lang="en-US" altLang="zh-CN" sz="3600">
                <a:solidFill>
                  <a:srgbClr val="993300"/>
                </a:solidFill>
                <a:latin typeface="Arial" panose="020B0604020202020204" pitchFamily="34" charset="0"/>
                <a:ea typeface="楷体_GB2312" pitchFamily="49" charset="-122"/>
                <a:cs typeface="Arial" panose="020B0604020202020204" pitchFamily="34" charset="0"/>
              </a:rPr>
              <a:t> (by units digit)</a:t>
            </a:r>
          </a:p>
        </p:txBody>
      </p:sp>
      <p:sp>
        <p:nvSpPr>
          <p:cNvPr id="106501" name="Text Box 5"/>
          <p:cNvSpPr txBox="1">
            <a:spLocks noChangeArrowheads="1"/>
          </p:cNvSpPr>
          <p:nvPr/>
        </p:nvSpPr>
        <p:spPr bwMode="auto">
          <a:xfrm>
            <a:off x="107950" y="5111750"/>
            <a:ext cx="9036050" cy="706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en-US" altLang="zh-CN" sz="3200">
                <a:solidFill>
                  <a:schemeClr val="tx1">
                    <a:lumMod val="95000"/>
                    <a:lumOff val="5000"/>
                  </a:schemeClr>
                </a:solidFill>
                <a:latin typeface="Arial" panose="020B0604020202020204" pitchFamily="34" charset="0"/>
                <a:ea typeface="楷体_GB2312" pitchFamily="49" charset="-122"/>
                <a:cs typeface="Arial" panose="020B0604020202020204" pitchFamily="34" charset="0"/>
              </a:rPr>
              <a:t>First Collection</a:t>
            </a:r>
            <a:r>
              <a:rPr lang="en-US" altLang="zh-CN" sz="3200" b="1">
                <a:latin typeface="Arial" panose="020B0604020202020204" pitchFamily="34" charset="0"/>
                <a:ea typeface="隶书" panose="02010509060101010101" pitchFamily="49" charset="-122"/>
                <a:cs typeface="Arial" panose="020B0604020202020204" pitchFamily="34" charset="0"/>
              </a:rPr>
              <a:t> (</a:t>
            </a:r>
            <a:r>
              <a:rPr lang="en-US" altLang="zh-CN" sz="3200">
                <a:solidFill>
                  <a:srgbClr val="993300"/>
                </a:solidFill>
                <a:latin typeface="Arial" panose="020B0604020202020204" pitchFamily="34" charset="0"/>
                <a:ea typeface="楷体_GB2312" pitchFamily="49" charset="-122"/>
                <a:cs typeface="Arial" panose="020B0604020202020204" pitchFamily="34" charset="0"/>
              </a:rPr>
              <a:t>concatenate queues in order</a:t>
            </a:r>
            <a:r>
              <a:rPr lang="en-US" altLang="zh-CN" sz="3200" b="1">
                <a:latin typeface="Arial" panose="020B0604020202020204" pitchFamily="34" charset="0"/>
                <a:ea typeface="隶书" panose="02010509060101010101" pitchFamily="49" charset="-122"/>
                <a:cs typeface="Arial" panose="020B0604020202020204" pitchFamily="34" charset="0"/>
              </a:rPr>
              <a:t>)</a:t>
            </a:r>
          </a:p>
        </p:txBody>
      </p:sp>
      <p:sp>
        <p:nvSpPr>
          <p:cNvPr id="106502" name="Rectangle 6"/>
          <p:cNvSpPr>
            <a:spLocks noChangeArrowheads="1"/>
          </p:cNvSpPr>
          <p:nvPr/>
        </p:nvSpPr>
        <p:spPr bwMode="auto">
          <a:xfrm>
            <a:off x="1143000" y="1936750"/>
            <a:ext cx="3155950" cy="80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30000"/>
              </a:lnSpc>
            </a:pPr>
            <a:r>
              <a:rPr lang="en-US" altLang="zh-CN" sz="3600">
                <a:solidFill>
                  <a:srgbClr val="006666"/>
                </a:solidFill>
                <a:ea typeface="楷体_GB2312" pitchFamily="49" charset="-122"/>
              </a:rPr>
              <a:t>f[</a:t>
            </a:r>
            <a:r>
              <a:rPr lang="en-US" altLang="zh-CN" sz="3600" b="1">
                <a:solidFill>
                  <a:srgbClr val="FF0000"/>
                </a:solidFill>
                <a:ea typeface="楷体_GB2312" pitchFamily="49" charset="-122"/>
              </a:rPr>
              <a:t>0</a:t>
            </a:r>
            <a:r>
              <a:rPr lang="en-US" altLang="zh-CN" sz="3600">
                <a:solidFill>
                  <a:srgbClr val="006666"/>
                </a:solidFill>
                <a:ea typeface="楷体_GB2312" pitchFamily="49" charset="-122"/>
              </a:rPr>
              <a:t>]              r[</a:t>
            </a:r>
            <a:r>
              <a:rPr lang="en-US" altLang="zh-CN" sz="3600" b="1">
                <a:solidFill>
                  <a:srgbClr val="FF0000"/>
                </a:solidFill>
                <a:ea typeface="楷体_GB2312" pitchFamily="49" charset="-122"/>
              </a:rPr>
              <a:t>0</a:t>
            </a:r>
            <a:r>
              <a:rPr lang="en-US" altLang="zh-CN" sz="3600">
                <a:solidFill>
                  <a:srgbClr val="006666"/>
                </a:solidFill>
                <a:ea typeface="楷体_GB2312" pitchFamily="49" charset="-122"/>
              </a:rPr>
              <a:t>]</a:t>
            </a:r>
            <a:endParaRPr lang="en-US" altLang="zh-CN" sz="4000">
              <a:solidFill>
                <a:srgbClr val="006666"/>
              </a:solidFill>
              <a:ea typeface="楷体_GB2312" pitchFamily="49" charset="-122"/>
            </a:endParaRPr>
          </a:p>
        </p:txBody>
      </p:sp>
      <p:sp>
        <p:nvSpPr>
          <p:cNvPr id="106503" name="Rectangle 7"/>
          <p:cNvSpPr>
            <a:spLocks noChangeArrowheads="1"/>
          </p:cNvSpPr>
          <p:nvPr/>
        </p:nvSpPr>
        <p:spPr bwMode="auto">
          <a:xfrm>
            <a:off x="1143000" y="2808288"/>
            <a:ext cx="5441950" cy="696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10000"/>
              </a:lnSpc>
            </a:pPr>
            <a:r>
              <a:rPr lang="en-US" altLang="zh-CN" sz="3600">
                <a:solidFill>
                  <a:srgbClr val="006666"/>
                </a:solidFill>
                <a:ea typeface="楷体_GB2312" pitchFamily="49" charset="-122"/>
              </a:rPr>
              <a:t>f[</a:t>
            </a:r>
            <a:r>
              <a:rPr lang="en-US" altLang="zh-CN" sz="3600">
                <a:solidFill>
                  <a:srgbClr val="0000FF"/>
                </a:solidFill>
                <a:ea typeface="楷体_GB2312" pitchFamily="49" charset="-122"/>
              </a:rPr>
              <a:t>7</a:t>
            </a:r>
            <a:r>
              <a:rPr lang="en-US" altLang="zh-CN" sz="3600">
                <a:solidFill>
                  <a:srgbClr val="006666"/>
                </a:solidFill>
                <a:ea typeface="楷体_GB2312" pitchFamily="49" charset="-122"/>
              </a:rPr>
              <a:t>]                                  r[</a:t>
            </a:r>
            <a:r>
              <a:rPr lang="en-US" altLang="zh-CN" sz="3600" b="1">
                <a:solidFill>
                  <a:srgbClr val="0000FF"/>
                </a:solidFill>
                <a:ea typeface="楷体_GB2312" pitchFamily="49" charset="-122"/>
              </a:rPr>
              <a:t>7</a:t>
            </a:r>
            <a:r>
              <a:rPr lang="en-US" altLang="zh-CN" sz="3600">
                <a:solidFill>
                  <a:srgbClr val="006666"/>
                </a:solidFill>
                <a:ea typeface="楷体_GB2312" pitchFamily="49" charset="-122"/>
              </a:rPr>
              <a:t>]</a:t>
            </a:r>
            <a:endParaRPr lang="en-US" altLang="zh-CN" sz="4000">
              <a:solidFill>
                <a:srgbClr val="006666"/>
              </a:solidFill>
              <a:ea typeface="楷体_GB2312" pitchFamily="49" charset="-122"/>
            </a:endParaRPr>
          </a:p>
        </p:txBody>
      </p:sp>
      <p:sp>
        <p:nvSpPr>
          <p:cNvPr id="106504" name="Rectangle 8"/>
          <p:cNvSpPr>
            <a:spLocks noChangeArrowheads="1"/>
          </p:cNvSpPr>
          <p:nvPr/>
        </p:nvSpPr>
        <p:spPr bwMode="auto">
          <a:xfrm>
            <a:off x="1143000" y="3581400"/>
            <a:ext cx="3155950" cy="696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10000"/>
              </a:lnSpc>
            </a:pPr>
            <a:r>
              <a:rPr lang="en-US" altLang="zh-CN" sz="3600">
                <a:solidFill>
                  <a:srgbClr val="006666"/>
                </a:solidFill>
                <a:ea typeface="楷体_GB2312" pitchFamily="49" charset="-122"/>
              </a:rPr>
              <a:t>f[</a:t>
            </a:r>
            <a:r>
              <a:rPr lang="en-US" altLang="zh-CN" sz="3600" b="1">
                <a:solidFill>
                  <a:srgbClr val="FF00FF"/>
                </a:solidFill>
                <a:ea typeface="楷体_GB2312" pitchFamily="49" charset="-122"/>
              </a:rPr>
              <a:t>8</a:t>
            </a:r>
            <a:r>
              <a:rPr lang="en-US" altLang="zh-CN" sz="3600">
                <a:solidFill>
                  <a:srgbClr val="006666"/>
                </a:solidFill>
                <a:ea typeface="楷体_GB2312" pitchFamily="49" charset="-122"/>
              </a:rPr>
              <a:t>]              r[</a:t>
            </a:r>
            <a:r>
              <a:rPr lang="en-US" altLang="zh-CN" sz="3600" b="1">
                <a:solidFill>
                  <a:srgbClr val="FF00FF"/>
                </a:solidFill>
                <a:ea typeface="楷体_GB2312" pitchFamily="49" charset="-122"/>
              </a:rPr>
              <a:t>8</a:t>
            </a:r>
            <a:r>
              <a:rPr lang="en-US" altLang="zh-CN" sz="3600">
                <a:solidFill>
                  <a:srgbClr val="006666"/>
                </a:solidFill>
                <a:ea typeface="楷体_GB2312" pitchFamily="49" charset="-122"/>
              </a:rPr>
              <a:t>]</a:t>
            </a:r>
            <a:endParaRPr lang="en-US" altLang="zh-CN" sz="4000">
              <a:solidFill>
                <a:srgbClr val="006666"/>
              </a:solidFill>
              <a:ea typeface="楷体_GB2312" pitchFamily="49" charset="-122"/>
            </a:endParaRPr>
          </a:p>
        </p:txBody>
      </p:sp>
      <p:sp>
        <p:nvSpPr>
          <p:cNvPr id="106505" name="Rectangle 9"/>
          <p:cNvSpPr>
            <a:spLocks noChangeArrowheads="1"/>
          </p:cNvSpPr>
          <p:nvPr/>
        </p:nvSpPr>
        <p:spPr bwMode="auto">
          <a:xfrm>
            <a:off x="1143000" y="4419600"/>
            <a:ext cx="5441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solidFill>
                  <a:srgbClr val="006666"/>
                </a:solidFill>
                <a:ea typeface="楷体_GB2312" pitchFamily="49" charset="-122"/>
              </a:rPr>
              <a:t>f[</a:t>
            </a:r>
            <a:r>
              <a:rPr lang="en-US" altLang="zh-CN" sz="3600" b="1">
                <a:solidFill>
                  <a:srgbClr val="CC3300"/>
                </a:solidFill>
                <a:ea typeface="楷体_GB2312" pitchFamily="49" charset="-122"/>
              </a:rPr>
              <a:t>9</a:t>
            </a:r>
            <a:r>
              <a:rPr lang="en-US" altLang="zh-CN" sz="3600">
                <a:solidFill>
                  <a:srgbClr val="006666"/>
                </a:solidFill>
                <a:ea typeface="楷体_GB2312" pitchFamily="49" charset="-122"/>
              </a:rPr>
              <a:t>]                                  r[</a:t>
            </a:r>
            <a:r>
              <a:rPr lang="en-US" altLang="zh-CN" sz="3600" b="1">
                <a:solidFill>
                  <a:srgbClr val="CC3300"/>
                </a:solidFill>
                <a:ea typeface="楷体_GB2312" pitchFamily="49" charset="-122"/>
              </a:rPr>
              <a:t>9</a:t>
            </a:r>
            <a:r>
              <a:rPr lang="en-US" altLang="zh-CN" sz="3600">
                <a:solidFill>
                  <a:srgbClr val="006666"/>
                </a:solidFill>
                <a:ea typeface="楷体_GB2312" pitchFamily="49" charset="-122"/>
              </a:rPr>
              <a:t>]</a:t>
            </a:r>
            <a:endParaRPr lang="en-US" altLang="zh-CN" sz="4000">
              <a:solidFill>
                <a:srgbClr val="006666"/>
              </a:solidFill>
              <a:ea typeface="楷体_GB2312" pitchFamily="49" charset="-122"/>
            </a:endParaRPr>
          </a:p>
        </p:txBody>
      </p:sp>
      <p:sp>
        <p:nvSpPr>
          <p:cNvPr id="106506" name="Rectangle 10"/>
          <p:cNvSpPr>
            <a:spLocks noChangeArrowheads="1"/>
          </p:cNvSpPr>
          <p:nvPr/>
        </p:nvSpPr>
        <p:spPr bwMode="auto">
          <a:xfrm>
            <a:off x="304800" y="5943600"/>
            <a:ext cx="16033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a:solidFill>
                  <a:srgbClr val="660033"/>
                </a:solidFill>
                <a:ea typeface="楷体_GB2312" pitchFamily="49" charset="-122"/>
              </a:rPr>
              <a:t>p→230</a:t>
            </a:r>
          </a:p>
        </p:txBody>
      </p:sp>
      <p:sp>
        <p:nvSpPr>
          <p:cNvPr id="106507" name="Rectangle 11"/>
          <p:cNvSpPr>
            <a:spLocks noChangeArrowheads="1"/>
          </p:cNvSpPr>
          <p:nvPr/>
        </p:nvSpPr>
        <p:spPr bwMode="auto">
          <a:xfrm>
            <a:off x="1828800" y="2057400"/>
            <a:ext cx="1784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solidFill>
                  <a:srgbClr val="006666"/>
                </a:solidFill>
                <a:ea typeface="楷体_GB2312" pitchFamily="49" charset="-122"/>
              </a:rPr>
              <a:t>→</a:t>
            </a:r>
            <a:r>
              <a:rPr lang="en-US" altLang="zh-CN" sz="3600">
                <a:ea typeface="楷体_GB2312" pitchFamily="49" charset="-122"/>
              </a:rPr>
              <a:t>23</a:t>
            </a:r>
            <a:r>
              <a:rPr lang="en-US" altLang="zh-CN" sz="3600" b="1">
                <a:solidFill>
                  <a:srgbClr val="FF0000"/>
                </a:solidFill>
                <a:ea typeface="楷体_GB2312" pitchFamily="49" charset="-122"/>
              </a:rPr>
              <a:t>0</a:t>
            </a:r>
            <a:r>
              <a:rPr lang="en-US" altLang="zh-CN" sz="3600">
                <a:solidFill>
                  <a:srgbClr val="006666"/>
                </a:solidFill>
                <a:ea typeface="楷体_GB2312" pitchFamily="49" charset="-122"/>
              </a:rPr>
              <a:t>←</a:t>
            </a:r>
          </a:p>
        </p:txBody>
      </p:sp>
      <p:sp>
        <p:nvSpPr>
          <p:cNvPr id="106508" name="Rectangle 12"/>
          <p:cNvSpPr>
            <a:spLocks noChangeArrowheads="1"/>
          </p:cNvSpPr>
          <p:nvPr/>
        </p:nvSpPr>
        <p:spPr bwMode="auto">
          <a:xfrm>
            <a:off x="1828800" y="2863850"/>
            <a:ext cx="4070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solidFill>
                  <a:srgbClr val="006666"/>
                </a:solidFill>
                <a:ea typeface="楷体_GB2312" pitchFamily="49" charset="-122"/>
              </a:rPr>
              <a:t>→</a:t>
            </a:r>
            <a:r>
              <a:rPr lang="en-US" altLang="zh-CN" sz="3600">
                <a:ea typeface="楷体_GB2312" pitchFamily="49" charset="-122"/>
              </a:rPr>
              <a:t>36</a:t>
            </a:r>
            <a:r>
              <a:rPr lang="en-US" altLang="zh-CN" sz="3600" b="1">
                <a:solidFill>
                  <a:srgbClr val="0000FF"/>
                </a:solidFill>
                <a:ea typeface="楷体_GB2312" pitchFamily="49" charset="-122"/>
              </a:rPr>
              <a:t>7                    </a:t>
            </a:r>
            <a:r>
              <a:rPr lang="en-US" altLang="zh-CN" sz="3600">
                <a:solidFill>
                  <a:srgbClr val="006666"/>
                </a:solidFill>
                <a:ea typeface="楷体_GB2312" pitchFamily="49" charset="-122"/>
              </a:rPr>
              <a:t>←</a:t>
            </a:r>
          </a:p>
        </p:txBody>
      </p:sp>
      <p:sp>
        <p:nvSpPr>
          <p:cNvPr id="106509" name="Rectangle 13"/>
          <p:cNvSpPr>
            <a:spLocks noChangeArrowheads="1"/>
          </p:cNvSpPr>
          <p:nvPr/>
        </p:nvSpPr>
        <p:spPr bwMode="auto">
          <a:xfrm>
            <a:off x="2971800" y="2863850"/>
            <a:ext cx="1327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ea typeface="楷体_GB2312" pitchFamily="49" charset="-122"/>
              </a:rPr>
              <a:t>→16</a:t>
            </a:r>
            <a:r>
              <a:rPr lang="en-US" altLang="zh-CN" sz="3600" b="1">
                <a:solidFill>
                  <a:srgbClr val="0000FF"/>
                </a:solidFill>
                <a:ea typeface="楷体_GB2312" pitchFamily="49" charset="-122"/>
              </a:rPr>
              <a:t>7</a:t>
            </a:r>
          </a:p>
        </p:txBody>
      </p:sp>
      <p:sp>
        <p:nvSpPr>
          <p:cNvPr id="106510" name="Rectangle 14"/>
          <p:cNvSpPr>
            <a:spLocks noChangeArrowheads="1"/>
          </p:cNvSpPr>
          <p:nvPr/>
        </p:nvSpPr>
        <p:spPr bwMode="auto">
          <a:xfrm>
            <a:off x="4114800" y="2863850"/>
            <a:ext cx="1327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ea typeface="楷体_GB2312" pitchFamily="49" charset="-122"/>
              </a:rPr>
              <a:t>→23</a:t>
            </a:r>
            <a:r>
              <a:rPr lang="en-US" altLang="zh-CN" sz="3600" b="1">
                <a:solidFill>
                  <a:srgbClr val="0000FF"/>
                </a:solidFill>
                <a:ea typeface="楷体_GB2312" pitchFamily="49" charset="-122"/>
              </a:rPr>
              <a:t>7</a:t>
            </a:r>
          </a:p>
        </p:txBody>
      </p:sp>
      <p:sp>
        <p:nvSpPr>
          <p:cNvPr id="106511" name="Rectangle 15"/>
          <p:cNvSpPr>
            <a:spLocks noChangeArrowheads="1"/>
          </p:cNvSpPr>
          <p:nvPr/>
        </p:nvSpPr>
        <p:spPr bwMode="auto">
          <a:xfrm>
            <a:off x="1524000" y="5943600"/>
            <a:ext cx="34083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a:solidFill>
                  <a:srgbClr val="660033"/>
                </a:solidFill>
                <a:ea typeface="楷体_GB2312" pitchFamily="49" charset="-122"/>
              </a:rPr>
              <a:t>→367→167→237</a:t>
            </a:r>
          </a:p>
        </p:txBody>
      </p:sp>
      <p:sp>
        <p:nvSpPr>
          <p:cNvPr id="106512" name="Rectangle 16"/>
          <p:cNvSpPr>
            <a:spLocks noChangeArrowheads="1"/>
          </p:cNvSpPr>
          <p:nvPr/>
        </p:nvSpPr>
        <p:spPr bwMode="auto">
          <a:xfrm>
            <a:off x="4648200" y="5943600"/>
            <a:ext cx="14366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a:solidFill>
                  <a:srgbClr val="660033"/>
                </a:solidFill>
                <a:ea typeface="楷体_GB2312" pitchFamily="49" charset="-122"/>
              </a:rPr>
              <a:t>→138</a:t>
            </a:r>
          </a:p>
        </p:txBody>
      </p:sp>
      <p:sp>
        <p:nvSpPr>
          <p:cNvPr id="106513" name="Rectangle 17"/>
          <p:cNvSpPr>
            <a:spLocks noChangeArrowheads="1"/>
          </p:cNvSpPr>
          <p:nvPr/>
        </p:nvSpPr>
        <p:spPr bwMode="auto">
          <a:xfrm>
            <a:off x="5715000" y="5943600"/>
            <a:ext cx="3249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a:solidFill>
                  <a:srgbClr val="660033"/>
                </a:solidFill>
                <a:ea typeface="楷体_GB2312" pitchFamily="49" charset="-122"/>
              </a:rPr>
              <a:t>→369→239→139</a:t>
            </a:r>
          </a:p>
        </p:txBody>
      </p:sp>
      <p:sp>
        <p:nvSpPr>
          <p:cNvPr id="106514" name="Rectangle 18"/>
          <p:cNvSpPr>
            <a:spLocks noChangeArrowheads="1"/>
          </p:cNvSpPr>
          <p:nvPr/>
        </p:nvSpPr>
        <p:spPr bwMode="auto">
          <a:xfrm>
            <a:off x="1828800" y="4419600"/>
            <a:ext cx="4070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solidFill>
                  <a:srgbClr val="006666"/>
                </a:solidFill>
                <a:ea typeface="楷体_GB2312" pitchFamily="49" charset="-122"/>
              </a:rPr>
              <a:t>→</a:t>
            </a:r>
            <a:r>
              <a:rPr lang="en-US" altLang="zh-CN" sz="3600">
                <a:ea typeface="楷体_GB2312" pitchFamily="49" charset="-122"/>
              </a:rPr>
              <a:t>36</a:t>
            </a:r>
            <a:r>
              <a:rPr lang="en-US" altLang="zh-CN" sz="3600" b="1">
                <a:solidFill>
                  <a:srgbClr val="CC3300"/>
                </a:solidFill>
                <a:ea typeface="楷体_GB2312" pitchFamily="49" charset="-122"/>
              </a:rPr>
              <a:t>9                    </a:t>
            </a:r>
            <a:r>
              <a:rPr lang="en-US" altLang="zh-CN" sz="3600">
                <a:solidFill>
                  <a:srgbClr val="006666"/>
                </a:solidFill>
                <a:ea typeface="楷体_GB2312" pitchFamily="49" charset="-122"/>
              </a:rPr>
              <a:t>←</a:t>
            </a:r>
          </a:p>
        </p:txBody>
      </p:sp>
      <p:sp>
        <p:nvSpPr>
          <p:cNvPr id="106515" name="Rectangle 19"/>
          <p:cNvSpPr>
            <a:spLocks noChangeArrowheads="1"/>
          </p:cNvSpPr>
          <p:nvPr/>
        </p:nvSpPr>
        <p:spPr bwMode="auto">
          <a:xfrm>
            <a:off x="2971800" y="4464050"/>
            <a:ext cx="1327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ea typeface="楷体_GB2312" pitchFamily="49" charset="-122"/>
              </a:rPr>
              <a:t>→23</a:t>
            </a:r>
            <a:r>
              <a:rPr lang="en-US" altLang="zh-CN" sz="3600" b="1">
                <a:solidFill>
                  <a:srgbClr val="CC3300"/>
                </a:solidFill>
                <a:ea typeface="楷体_GB2312" pitchFamily="49" charset="-122"/>
              </a:rPr>
              <a:t>9</a:t>
            </a:r>
          </a:p>
        </p:txBody>
      </p:sp>
      <p:sp>
        <p:nvSpPr>
          <p:cNvPr id="106516" name="Rectangle 20"/>
          <p:cNvSpPr>
            <a:spLocks noChangeArrowheads="1"/>
          </p:cNvSpPr>
          <p:nvPr/>
        </p:nvSpPr>
        <p:spPr bwMode="auto">
          <a:xfrm>
            <a:off x="4114800" y="4464050"/>
            <a:ext cx="1327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ea typeface="楷体_GB2312" pitchFamily="49" charset="-122"/>
              </a:rPr>
              <a:t>→13</a:t>
            </a:r>
            <a:r>
              <a:rPr lang="en-US" altLang="zh-CN" sz="3600" b="1">
                <a:solidFill>
                  <a:srgbClr val="CC3300"/>
                </a:solidFill>
                <a:ea typeface="楷体_GB2312" pitchFamily="49" charset="-122"/>
              </a:rPr>
              <a:t>9</a:t>
            </a:r>
          </a:p>
        </p:txBody>
      </p:sp>
      <p:sp>
        <p:nvSpPr>
          <p:cNvPr id="106517" name="Rectangle 21"/>
          <p:cNvSpPr>
            <a:spLocks noChangeArrowheads="1"/>
          </p:cNvSpPr>
          <p:nvPr/>
        </p:nvSpPr>
        <p:spPr bwMode="auto">
          <a:xfrm>
            <a:off x="1797050" y="3657600"/>
            <a:ext cx="1784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solidFill>
                  <a:srgbClr val="006666"/>
                </a:solidFill>
                <a:ea typeface="楷体_GB2312" pitchFamily="49" charset="-122"/>
              </a:rPr>
              <a:t>→</a:t>
            </a:r>
            <a:r>
              <a:rPr lang="en-US" altLang="zh-CN" sz="3600">
                <a:ea typeface="楷体_GB2312" pitchFamily="49" charset="-122"/>
              </a:rPr>
              <a:t>13</a:t>
            </a:r>
            <a:r>
              <a:rPr lang="en-US" altLang="zh-CN" sz="3600" b="1">
                <a:solidFill>
                  <a:srgbClr val="FF00FF"/>
                </a:solidFill>
                <a:ea typeface="楷体_GB2312" pitchFamily="49" charset="-122"/>
              </a:rPr>
              <a:t>8</a:t>
            </a:r>
            <a:r>
              <a:rPr lang="en-US" altLang="zh-CN" sz="3600">
                <a:solidFill>
                  <a:srgbClr val="006666"/>
                </a:solidFill>
                <a:ea typeface="楷体_GB2312" pitchFamily="49" charset="-122"/>
              </a:rPr>
              <a:t>←</a:t>
            </a:r>
          </a:p>
        </p:txBody>
      </p:sp>
      <p:sp>
        <p:nvSpPr>
          <p:cNvPr id="106518" name="Text Box 22"/>
          <p:cNvSpPr txBox="1">
            <a:spLocks noChangeArrowheads="1"/>
          </p:cNvSpPr>
          <p:nvPr/>
        </p:nvSpPr>
        <p:spPr bwMode="auto">
          <a:xfrm>
            <a:off x="0" y="2209800"/>
            <a:ext cx="130111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400" b="1">
                <a:solidFill>
                  <a:srgbClr val="993300"/>
                </a:solidFill>
                <a:ea typeface="楷体_GB2312" pitchFamily="49" charset="-122"/>
              </a:rPr>
              <a:t>0 </a:t>
            </a:r>
            <a:r>
              <a:rPr lang="zh-CN" altLang="en-US" sz="2400" b="1">
                <a:solidFill>
                  <a:srgbClr val="993300"/>
                </a:solidFill>
                <a:ea typeface="楷体_GB2312" pitchFamily="49" charset="-122"/>
              </a:rPr>
              <a:t>Head</a:t>
            </a:r>
          </a:p>
        </p:txBody>
      </p:sp>
      <p:sp>
        <p:nvSpPr>
          <p:cNvPr id="106519" name="Text Box 23"/>
          <p:cNvSpPr txBox="1">
            <a:spLocks noChangeArrowheads="1"/>
          </p:cNvSpPr>
          <p:nvPr/>
        </p:nvSpPr>
        <p:spPr bwMode="auto">
          <a:xfrm>
            <a:off x="0" y="2971800"/>
            <a:ext cx="142684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400" b="1">
                <a:solidFill>
                  <a:srgbClr val="993300"/>
                </a:solidFill>
                <a:ea typeface="楷体_GB2312" pitchFamily="49" charset="-122"/>
              </a:rPr>
              <a:t>7 </a:t>
            </a:r>
            <a:r>
              <a:rPr lang="zh-CN" altLang="en-US" sz="2400" b="1">
                <a:solidFill>
                  <a:srgbClr val="993300"/>
                </a:solidFill>
                <a:ea typeface="楷体_GB2312" pitchFamily="49" charset="-122"/>
              </a:rPr>
              <a:t>Head</a:t>
            </a:r>
          </a:p>
        </p:txBody>
      </p:sp>
      <p:sp>
        <p:nvSpPr>
          <p:cNvPr id="106520" name="Text Box 24"/>
          <p:cNvSpPr txBox="1">
            <a:spLocks noChangeArrowheads="1"/>
          </p:cNvSpPr>
          <p:nvPr/>
        </p:nvSpPr>
        <p:spPr bwMode="auto">
          <a:xfrm>
            <a:off x="0" y="3733800"/>
            <a:ext cx="11430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solidFill>
                  <a:srgbClr val="993300"/>
                </a:solidFill>
                <a:ea typeface="楷体_GB2312" pitchFamily="49" charset="-122"/>
              </a:rPr>
              <a:t>8 </a:t>
            </a:r>
            <a:r>
              <a:rPr lang="zh-CN" altLang="en-US" sz="2400" b="1">
                <a:solidFill>
                  <a:srgbClr val="993300"/>
                </a:solidFill>
                <a:ea typeface="楷体_GB2312" pitchFamily="49" charset="-122"/>
              </a:rPr>
              <a:t>Head</a:t>
            </a:r>
          </a:p>
        </p:txBody>
      </p:sp>
      <p:sp>
        <p:nvSpPr>
          <p:cNvPr id="106521" name="Text Box 25"/>
          <p:cNvSpPr txBox="1">
            <a:spLocks noChangeArrowheads="1"/>
          </p:cNvSpPr>
          <p:nvPr/>
        </p:nvSpPr>
        <p:spPr bwMode="auto">
          <a:xfrm>
            <a:off x="0" y="4572000"/>
            <a:ext cx="11430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solidFill>
                  <a:srgbClr val="993300"/>
                </a:solidFill>
                <a:ea typeface="楷体_GB2312" pitchFamily="49" charset="-122"/>
              </a:rPr>
              <a:t>9 </a:t>
            </a:r>
            <a:r>
              <a:rPr lang="zh-CN" altLang="en-US" sz="2400" b="1">
                <a:solidFill>
                  <a:srgbClr val="993300"/>
                </a:solidFill>
                <a:ea typeface="楷体_GB2312" pitchFamily="49" charset="-122"/>
              </a:rPr>
              <a:t>Head</a:t>
            </a:r>
          </a:p>
        </p:txBody>
      </p:sp>
      <p:sp>
        <p:nvSpPr>
          <p:cNvPr id="106522" name="Text Box 26"/>
          <p:cNvSpPr txBox="1">
            <a:spLocks noChangeArrowheads="1"/>
          </p:cNvSpPr>
          <p:nvPr/>
        </p:nvSpPr>
        <p:spPr bwMode="auto">
          <a:xfrm>
            <a:off x="7162800" y="2133600"/>
            <a:ext cx="14478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solidFill>
                  <a:srgbClr val="993300"/>
                </a:solidFill>
                <a:latin typeface="楷体_GB2312" pitchFamily="49" charset="-122"/>
                <a:ea typeface="楷体_GB2312" pitchFamily="49" charset="-122"/>
              </a:rPr>
              <a:t>0 </a:t>
            </a:r>
            <a:r>
              <a:rPr lang="zh-CN" altLang="en-US" sz="2400" b="1">
                <a:solidFill>
                  <a:srgbClr val="993300"/>
                </a:solidFill>
                <a:latin typeface="楷体_GB2312" pitchFamily="49" charset="-122"/>
                <a:ea typeface="楷体_GB2312" pitchFamily="49" charset="-122"/>
              </a:rPr>
              <a:t>Tail</a:t>
            </a:r>
          </a:p>
        </p:txBody>
      </p:sp>
      <p:sp>
        <p:nvSpPr>
          <p:cNvPr id="106523" name="Text Box 27"/>
          <p:cNvSpPr txBox="1">
            <a:spLocks noChangeArrowheads="1"/>
          </p:cNvSpPr>
          <p:nvPr/>
        </p:nvSpPr>
        <p:spPr bwMode="auto">
          <a:xfrm>
            <a:off x="7239000" y="2971800"/>
            <a:ext cx="14478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solidFill>
                  <a:srgbClr val="993300"/>
                </a:solidFill>
                <a:latin typeface="楷体_GB2312" pitchFamily="49" charset="-122"/>
                <a:ea typeface="楷体_GB2312" pitchFamily="49" charset="-122"/>
              </a:rPr>
              <a:t>7 </a:t>
            </a:r>
            <a:r>
              <a:rPr lang="zh-CN" altLang="en-US" sz="2400" b="1">
                <a:solidFill>
                  <a:srgbClr val="993300"/>
                </a:solidFill>
                <a:latin typeface="楷体_GB2312" pitchFamily="49" charset="-122"/>
                <a:ea typeface="楷体_GB2312" pitchFamily="49" charset="-122"/>
              </a:rPr>
              <a:t>Tail</a:t>
            </a:r>
          </a:p>
        </p:txBody>
      </p:sp>
      <p:sp>
        <p:nvSpPr>
          <p:cNvPr id="106524" name="Text Box 28"/>
          <p:cNvSpPr txBox="1">
            <a:spLocks noChangeArrowheads="1"/>
          </p:cNvSpPr>
          <p:nvPr/>
        </p:nvSpPr>
        <p:spPr bwMode="auto">
          <a:xfrm>
            <a:off x="7315200" y="3810000"/>
            <a:ext cx="14478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solidFill>
                  <a:srgbClr val="993300"/>
                </a:solidFill>
                <a:latin typeface="楷体_GB2312" pitchFamily="49" charset="-122"/>
                <a:ea typeface="楷体_GB2312" pitchFamily="49" charset="-122"/>
              </a:rPr>
              <a:t>8 </a:t>
            </a:r>
            <a:r>
              <a:rPr lang="zh-CN" altLang="en-US" sz="2400" b="1">
                <a:solidFill>
                  <a:srgbClr val="993300"/>
                </a:solidFill>
                <a:latin typeface="楷体_GB2312" pitchFamily="49" charset="-122"/>
                <a:ea typeface="楷体_GB2312" pitchFamily="49" charset="-122"/>
              </a:rPr>
              <a:t>Tail</a:t>
            </a:r>
          </a:p>
        </p:txBody>
      </p:sp>
      <p:sp>
        <p:nvSpPr>
          <p:cNvPr id="106525" name="Text Box 29"/>
          <p:cNvSpPr txBox="1">
            <a:spLocks noChangeArrowheads="1"/>
          </p:cNvSpPr>
          <p:nvPr/>
        </p:nvSpPr>
        <p:spPr bwMode="auto">
          <a:xfrm>
            <a:off x="7315200" y="4572000"/>
            <a:ext cx="14478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solidFill>
                  <a:srgbClr val="993300"/>
                </a:solidFill>
                <a:latin typeface="楷体_GB2312" pitchFamily="49" charset="-122"/>
                <a:ea typeface="楷体_GB2312" pitchFamily="49" charset="-122"/>
              </a:rPr>
              <a:t>9 </a:t>
            </a:r>
            <a:r>
              <a:rPr lang="zh-CN" altLang="en-US" sz="2400" b="1">
                <a:solidFill>
                  <a:srgbClr val="993300"/>
                </a:solidFill>
                <a:latin typeface="楷体_GB2312" pitchFamily="49" charset="-122"/>
                <a:ea typeface="楷体_GB2312" pitchFamily="49" charset="-122"/>
              </a:rPr>
              <a:t>Tail</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115</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6498"/>
                                        </p:tgtEl>
                                        <p:attrNameLst>
                                          <p:attrName>style.visibility</p:attrName>
                                        </p:attrNameLst>
                                      </p:cBhvr>
                                      <p:to>
                                        <p:strVal val="visible"/>
                                      </p:to>
                                    </p:set>
                                    <p:animEffect transition="in" filter="wipe(left)">
                                      <p:cBhvr>
                                        <p:cTn id="7" dur="500"/>
                                        <p:tgtEl>
                                          <p:spTgt spid="10649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6499"/>
                                        </p:tgtEl>
                                        <p:attrNameLst>
                                          <p:attrName>style.visibility</p:attrName>
                                        </p:attrNameLst>
                                      </p:cBhvr>
                                      <p:to>
                                        <p:strVal val="visible"/>
                                      </p:to>
                                    </p:set>
                                    <p:animEffect transition="in" filter="wipe(left)">
                                      <p:cBhvr>
                                        <p:cTn id="12" dur="500"/>
                                        <p:tgtEl>
                                          <p:spTgt spid="10649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6500"/>
                                        </p:tgtEl>
                                        <p:attrNameLst>
                                          <p:attrName>style.visibility</p:attrName>
                                        </p:attrNameLst>
                                      </p:cBhvr>
                                      <p:to>
                                        <p:strVal val="visible"/>
                                      </p:to>
                                    </p:set>
                                    <p:animEffect transition="in" filter="wipe(left)">
                                      <p:cBhvr>
                                        <p:cTn id="17" dur="500"/>
                                        <p:tgtEl>
                                          <p:spTgt spid="10650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6502"/>
                                        </p:tgtEl>
                                        <p:attrNameLst>
                                          <p:attrName>style.visibility</p:attrName>
                                        </p:attrNameLst>
                                      </p:cBhvr>
                                      <p:to>
                                        <p:strVal val="visible"/>
                                      </p:to>
                                    </p:set>
                                    <p:animEffect transition="in" filter="wipe(left)">
                                      <p:cBhvr>
                                        <p:cTn id="22" dur="500"/>
                                        <p:tgtEl>
                                          <p:spTgt spid="106502"/>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106503"/>
                                        </p:tgtEl>
                                        <p:attrNameLst>
                                          <p:attrName>style.visibility</p:attrName>
                                        </p:attrNameLst>
                                      </p:cBhvr>
                                      <p:to>
                                        <p:strVal val="visible"/>
                                      </p:to>
                                    </p:set>
                                    <p:animEffect transition="in" filter="wipe(left)">
                                      <p:cBhvr>
                                        <p:cTn id="26" dur="500"/>
                                        <p:tgtEl>
                                          <p:spTgt spid="106503"/>
                                        </p:tgtEl>
                                      </p:cBhvr>
                                    </p:animEffect>
                                  </p:childTnLst>
                                </p:cTn>
                              </p:par>
                            </p:childTnLst>
                          </p:cTn>
                        </p:par>
                        <p:par>
                          <p:cTn id="27" fill="hold">
                            <p:stCondLst>
                              <p:cond delay="1000"/>
                            </p:stCondLst>
                            <p:childTnLst>
                              <p:par>
                                <p:cTn id="28" presetID="22" presetClass="entr" presetSubtype="8" fill="hold" grpId="0" nodeType="afterEffect">
                                  <p:stCondLst>
                                    <p:cond delay="0"/>
                                  </p:stCondLst>
                                  <p:childTnLst>
                                    <p:set>
                                      <p:cBhvr>
                                        <p:cTn id="29" dur="1" fill="hold">
                                          <p:stCondLst>
                                            <p:cond delay="0"/>
                                          </p:stCondLst>
                                        </p:cTn>
                                        <p:tgtEl>
                                          <p:spTgt spid="106504"/>
                                        </p:tgtEl>
                                        <p:attrNameLst>
                                          <p:attrName>style.visibility</p:attrName>
                                        </p:attrNameLst>
                                      </p:cBhvr>
                                      <p:to>
                                        <p:strVal val="visible"/>
                                      </p:to>
                                    </p:set>
                                    <p:animEffect transition="in" filter="wipe(left)">
                                      <p:cBhvr>
                                        <p:cTn id="30" dur="500"/>
                                        <p:tgtEl>
                                          <p:spTgt spid="106504"/>
                                        </p:tgtEl>
                                      </p:cBhvr>
                                    </p:animEffect>
                                  </p:childTnLst>
                                </p:cTn>
                              </p:par>
                            </p:childTnLst>
                          </p:cTn>
                        </p:par>
                        <p:par>
                          <p:cTn id="31" fill="hold">
                            <p:stCondLst>
                              <p:cond delay="1500"/>
                            </p:stCondLst>
                            <p:childTnLst>
                              <p:par>
                                <p:cTn id="32" presetID="22" presetClass="entr" presetSubtype="8" fill="hold" grpId="0" nodeType="afterEffect">
                                  <p:stCondLst>
                                    <p:cond delay="0"/>
                                  </p:stCondLst>
                                  <p:childTnLst>
                                    <p:set>
                                      <p:cBhvr>
                                        <p:cTn id="33" dur="1" fill="hold">
                                          <p:stCondLst>
                                            <p:cond delay="0"/>
                                          </p:stCondLst>
                                        </p:cTn>
                                        <p:tgtEl>
                                          <p:spTgt spid="106505"/>
                                        </p:tgtEl>
                                        <p:attrNameLst>
                                          <p:attrName>style.visibility</p:attrName>
                                        </p:attrNameLst>
                                      </p:cBhvr>
                                      <p:to>
                                        <p:strVal val="visible"/>
                                      </p:to>
                                    </p:set>
                                    <p:animEffect transition="in" filter="wipe(left)">
                                      <p:cBhvr>
                                        <p:cTn id="34" dur="500"/>
                                        <p:tgtEl>
                                          <p:spTgt spid="10650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06514"/>
                                        </p:tgtEl>
                                        <p:attrNameLst>
                                          <p:attrName>style.visibility</p:attrName>
                                        </p:attrNameLst>
                                      </p:cBhvr>
                                      <p:to>
                                        <p:strVal val="visible"/>
                                      </p:to>
                                    </p:set>
                                    <p:animEffect transition="in" filter="wipe(left)">
                                      <p:cBhvr>
                                        <p:cTn id="39" dur="500"/>
                                        <p:tgtEl>
                                          <p:spTgt spid="106514"/>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06508"/>
                                        </p:tgtEl>
                                        <p:attrNameLst>
                                          <p:attrName>style.visibility</p:attrName>
                                        </p:attrNameLst>
                                      </p:cBhvr>
                                      <p:to>
                                        <p:strVal val="visible"/>
                                      </p:to>
                                    </p:set>
                                    <p:animEffect transition="in" filter="wipe(left)">
                                      <p:cBhvr>
                                        <p:cTn id="44" dur="500"/>
                                        <p:tgtEl>
                                          <p:spTgt spid="106508"/>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06509"/>
                                        </p:tgtEl>
                                        <p:attrNameLst>
                                          <p:attrName>style.visibility</p:attrName>
                                        </p:attrNameLst>
                                      </p:cBhvr>
                                      <p:to>
                                        <p:strVal val="visible"/>
                                      </p:to>
                                    </p:set>
                                    <p:animEffect transition="in" filter="wipe(left)">
                                      <p:cBhvr>
                                        <p:cTn id="49" dur="500"/>
                                        <p:tgtEl>
                                          <p:spTgt spid="106509"/>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06515"/>
                                        </p:tgtEl>
                                        <p:attrNameLst>
                                          <p:attrName>style.visibility</p:attrName>
                                        </p:attrNameLst>
                                      </p:cBhvr>
                                      <p:to>
                                        <p:strVal val="visible"/>
                                      </p:to>
                                    </p:set>
                                    <p:animEffect transition="in" filter="wipe(left)">
                                      <p:cBhvr>
                                        <p:cTn id="54" dur="500"/>
                                        <p:tgtEl>
                                          <p:spTgt spid="106515"/>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06510"/>
                                        </p:tgtEl>
                                        <p:attrNameLst>
                                          <p:attrName>style.visibility</p:attrName>
                                        </p:attrNameLst>
                                      </p:cBhvr>
                                      <p:to>
                                        <p:strVal val="visible"/>
                                      </p:to>
                                    </p:set>
                                    <p:animEffect transition="in" filter="wipe(left)">
                                      <p:cBhvr>
                                        <p:cTn id="59" dur="500"/>
                                        <p:tgtEl>
                                          <p:spTgt spid="106510"/>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106517"/>
                                        </p:tgtEl>
                                        <p:attrNameLst>
                                          <p:attrName>style.visibility</p:attrName>
                                        </p:attrNameLst>
                                      </p:cBhvr>
                                      <p:to>
                                        <p:strVal val="visible"/>
                                      </p:to>
                                    </p:set>
                                    <p:animEffect transition="in" filter="wipe(left)">
                                      <p:cBhvr>
                                        <p:cTn id="64" dur="500"/>
                                        <p:tgtEl>
                                          <p:spTgt spid="106517"/>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106507"/>
                                        </p:tgtEl>
                                        <p:attrNameLst>
                                          <p:attrName>style.visibility</p:attrName>
                                        </p:attrNameLst>
                                      </p:cBhvr>
                                      <p:to>
                                        <p:strVal val="visible"/>
                                      </p:to>
                                    </p:set>
                                    <p:animEffect transition="in" filter="wipe(left)">
                                      <p:cBhvr>
                                        <p:cTn id="69" dur="500"/>
                                        <p:tgtEl>
                                          <p:spTgt spid="106507"/>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106516"/>
                                        </p:tgtEl>
                                        <p:attrNameLst>
                                          <p:attrName>style.visibility</p:attrName>
                                        </p:attrNameLst>
                                      </p:cBhvr>
                                      <p:to>
                                        <p:strVal val="visible"/>
                                      </p:to>
                                    </p:set>
                                    <p:animEffect transition="in" filter="wipe(left)">
                                      <p:cBhvr>
                                        <p:cTn id="74" dur="500"/>
                                        <p:tgtEl>
                                          <p:spTgt spid="106516"/>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106501"/>
                                        </p:tgtEl>
                                        <p:attrNameLst>
                                          <p:attrName>style.visibility</p:attrName>
                                        </p:attrNameLst>
                                      </p:cBhvr>
                                      <p:to>
                                        <p:strVal val="visible"/>
                                      </p:to>
                                    </p:set>
                                    <p:animEffect transition="in" filter="wipe(left)">
                                      <p:cBhvr>
                                        <p:cTn id="79" dur="500"/>
                                        <p:tgtEl>
                                          <p:spTgt spid="106501"/>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106506"/>
                                        </p:tgtEl>
                                        <p:attrNameLst>
                                          <p:attrName>style.visibility</p:attrName>
                                        </p:attrNameLst>
                                      </p:cBhvr>
                                      <p:to>
                                        <p:strVal val="visible"/>
                                      </p:to>
                                    </p:set>
                                    <p:animEffect transition="in" filter="wipe(left)">
                                      <p:cBhvr>
                                        <p:cTn id="84" dur="500"/>
                                        <p:tgtEl>
                                          <p:spTgt spid="106506"/>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106511"/>
                                        </p:tgtEl>
                                        <p:attrNameLst>
                                          <p:attrName>style.visibility</p:attrName>
                                        </p:attrNameLst>
                                      </p:cBhvr>
                                      <p:to>
                                        <p:strVal val="visible"/>
                                      </p:to>
                                    </p:set>
                                    <p:animEffect transition="in" filter="wipe(left)">
                                      <p:cBhvr>
                                        <p:cTn id="89" dur="500"/>
                                        <p:tgtEl>
                                          <p:spTgt spid="106511"/>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106512"/>
                                        </p:tgtEl>
                                        <p:attrNameLst>
                                          <p:attrName>style.visibility</p:attrName>
                                        </p:attrNameLst>
                                      </p:cBhvr>
                                      <p:to>
                                        <p:strVal val="visible"/>
                                      </p:to>
                                    </p:set>
                                    <p:animEffect transition="in" filter="wipe(left)">
                                      <p:cBhvr>
                                        <p:cTn id="94" dur="500"/>
                                        <p:tgtEl>
                                          <p:spTgt spid="106512"/>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106513"/>
                                        </p:tgtEl>
                                        <p:attrNameLst>
                                          <p:attrName>style.visibility</p:attrName>
                                        </p:attrNameLst>
                                      </p:cBhvr>
                                      <p:to>
                                        <p:strVal val="visible"/>
                                      </p:to>
                                    </p:set>
                                    <p:animEffect transition="in" filter="wipe(left)">
                                      <p:cBhvr>
                                        <p:cTn id="99" dur="500"/>
                                        <p:tgtEl>
                                          <p:spTgt spid="1065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8" grpId="0" bldLvl="0" animBg="1" autoUpdateAnimBg="0"/>
      <p:bldP spid="106499" grpId="0" autoUpdateAnimBg="0"/>
      <p:bldP spid="106500" grpId="0" bldLvl="0" animBg="1" autoUpdateAnimBg="0"/>
      <p:bldP spid="106501" grpId="0" bldLvl="0" animBg="1" autoUpdateAnimBg="0"/>
      <p:bldP spid="106502" grpId="0" autoUpdateAnimBg="0"/>
      <p:bldP spid="106503" grpId="0" autoUpdateAnimBg="0"/>
      <p:bldP spid="106504" grpId="0" autoUpdateAnimBg="0"/>
      <p:bldP spid="106505" grpId="0" autoUpdateAnimBg="0"/>
      <p:bldP spid="106506" grpId="0" autoUpdateAnimBg="0"/>
      <p:bldP spid="106507" grpId="0" autoUpdateAnimBg="0"/>
      <p:bldP spid="106508" grpId="0" autoUpdateAnimBg="0"/>
      <p:bldP spid="106509" grpId="0" autoUpdateAnimBg="0"/>
      <p:bldP spid="106510" grpId="0" autoUpdateAnimBg="0"/>
      <p:bldP spid="106511" grpId="0" autoUpdateAnimBg="0"/>
      <p:bldP spid="106512" grpId="0" autoUpdateAnimBg="0"/>
      <p:bldP spid="106513" grpId="0" autoUpdateAnimBg="0"/>
      <p:bldP spid="106514" grpId="0" autoUpdateAnimBg="0"/>
      <p:bldP spid="106515" grpId="0" autoUpdateAnimBg="0"/>
      <p:bldP spid="106516" grpId="0" autoUpdateAnimBg="0"/>
      <p:bldP spid="106517" grpId="0" autoUpdateAnimBg="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ext Box 2"/>
          <p:cNvSpPr txBox="1">
            <a:spLocks noChangeArrowheads="1"/>
          </p:cNvSpPr>
          <p:nvPr/>
        </p:nvSpPr>
        <p:spPr bwMode="auto">
          <a:xfrm>
            <a:off x="304800" y="1143000"/>
            <a:ext cx="8610600" cy="75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en-US" altLang="zh-CN" sz="3600">
                <a:latin typeface="Arial" panose="020B0604020202020204" pitchFamily="34" charset="0"/>
                <a:ea typeface="楷体_GB2312" pitchFamily="49" charset="-122"/>
                <a:cs typeface="Arial" panose="020B0604020202020204" pitchFamily="34" charset="0"/>
              </a:rPr>
              <a:t>Second Distribution (</a:t>
            </a:r>
            <a:r>
              <a:rPr lang="en-US" altLang="zh-CN" sz="3600">
                <a:solidFill>
                  <a:srgbClr val="993300"/>
                </a:solidFill>
                <a:latin typeface="Arial" panose="020B0604020202020204" pitchFamily="34" charset="0"/>
                <a:ea typeface="楷体_GB2312" pitchFamily="49" charset="-122"/>
                <a:cs typeface="Arial" panose="020B0604020202020204" pitchFamily="34" charset="0"/>
              </a:rPr>
              <a:t>by tens digit</a:t>
            </a:r>
            <a:r>
              <a:rPr lang="en-US" altLang="zh-CN" sz="3600">
                <a:latin typeface="Arial" panose="020B0604020202020204" pitchFamily="34" charset="0"/>
                <a:ea typeface="楷体_GB2312" pitchFamily="49" charset="-122"/>
                <a:cs typeface="Arial" panose="020B0604020202020204" pitchFamily="34" charset="0"/>
              </a:rPr>
              <a:t>)</a:t>
            </a:r>
          </a:p>
        </p:txBody>
      </p:sp>
      <p:sp>
        <p:nvSpPr>
          <p:cNvPr id="107523" name="Text Box 3"/>
          <p:cNvSpPr txBox="1">
            <a:spLocks noChangeArrowheads="1"/>
          </p:cNvSpPr>
          <p:nvPr/>
        </p:nvSpPr>
        <p:spPr bwMode="auto">
          <a:xfrm>
            <a:off x="361950" y="5191125"/>
            <a:ext cx="5865813"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en-US" altLang="zh-CN" b="1">
                <a:solidFill>
                  <a:srgbClr val="660033"/>
                </a:solidFill>
                <a:ea typeface="楷体_GB2312" pitchFamily="49" charset="-122"/>
              </a:rPr>
              <a:t>p→230→237→138→239→139</a:t>
            </a:r>
            <a:endParaRPr lang="en-US" altLang="zh-CN" sz="3400">
              <a:ea typeface="楷体_GB2312" pitchFamily="49" charset="-122"/>
            </a:endParaRPr>
          </a:p>
        </p:txBody>
      </p:sp>
      <p:sp>
        <p:nvSpPr>
          <p:cNvPr id="107524" name="Text Box 4"/>
          <p:cNvSpPr txBox="1">
            <a:spLocks noChangeArrowheads="1"/>
          </p:cNvSpPr>
          <p:nvPr/>
        </p:nvSpPr>
        <p:spPr bwMode="auto">
          <a:xfrm>
            <a:off x="288925" y="400050"/>
            <a:ext cx="88550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a:solidFill>
                  <a:srgbClr val="660033"/>
                </a:solidFill>
                <a:ea typeface="楷体_GB2312" pitchFamily="49" charset="-122"/>
              </a:rPr>
              <a:t>p→230→367→167→237→138→369→239→139</a:t>
            </a:r>
          </a:p>
        </p:txBody>
      </p:sp>
      <p:sp>
        <p:nvSpPr>
          <p:cNvPr id="107525" name="Rectangle 5"/>
          <p:cNvSpPr>
            <a:spLocks noChangeArrowheads="1"/>
          </p:cNvSpPr>
          <p:nvPr/>
        </p:nvSpPr>
        <p:spPr bwMode="auto">
          <a:xfrm>
            <a:off x="381000" y="2057400"/>
            <a:ext cx="8569325"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lang="en-US" altLang="zh-CN" sz="4000">
                <a:solidFill>
                  <a:srgbClr val="006666"/>
                </a:solidFill>
                <a:ea typeface="楷体_GB2312" pitchFamily="49" charset="-122"/>
              </a:rPr>
              <a:t>f[</a:t>
            </a:r>
            <a:r>
              <a:rPr lang="en-US" altLang="zh-CN" sz="4000" b="1">
                <a:solidFill>
                  <a:srgbClr val="FF0000"/>
                </a:solidFill>
                <a:ea typeface="楷体_GB2312" pitchFamily="49" charset="-122"/>
              </a:rPr>
              <a:t>3</a:t>
            </a:r>
            <a:r>
              <a:rPr lang="en-US" altLang="zh-CN" sz="4000">
                <a:solidFill>
                  <a:srgbClr val="006666"/>
                </a:solidFill>
                <a:ea typeface="楷体_GB2312" pitchFamily="49" charset="-122"/>
              </a:rPr>
              <a:t>]                                                      r[</a:t>
            </a:r>
            <a:r>
              <a:rPr lang="en-US" altLang="zh-CN" sz="4000" b="1">
                <a:solidFill>
                  <a:srgbClr val="FF0000"/>
                </a:solidFill>
                <a:ea typeface="楷体_GB2312" pitchFamily="49" charset="-122"/>
              </a:rPr>
              <a:t>3</a:t>
            </a:r>
            <a:r>
              <a:rPr lang="en-US" altLang="zh-CN" sz="4000">
                <a:solidFill>
                  <a:srgbClr val="006666"/>
                </a:solidFill>
                <a:ea typeface="楷体_GB2312" pitchFamily="49" charset="-122"/>
              </a:rPr>
              <a:t>]</a:t>
            </a:r>
            <a:endParaRPr lang="en-US" altLang="zh-CN" sz="4000">
              <a:ea typeface="楷体_GB2312" pitchFamily="49" charset="-122"/>
            </a:endParaRPr>
          </a:p>
        </p:txBody>
      </p:sp>
      <p:sp>
        <p:nvSpPr>
          <p:cNvPr id="107526" name="Rectangle 6"/>
          <p:cNvSpPr>
            <a:spLocks noChangeArrowheads="1"/>
          </p:cNvSpPr>
          <p:nvPr/>
        </p:nvSpPr>
        <p:spPr bwMode="auto">
          <a:xfrm>
            <a:off x="381000" y="3200400"/>
            <a:ext cx="6029325"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lang="en-US" altLang="zh-CN" sz="4000">
                <a:solidFill>
                  <a:srgbClr val="006666"/>
                </a:solidFill>
                <a:ea typeface="楷体_GB2312" pitchFamily="49" charset="-122"/>
              </a:rPr>
              <a:t>f[</a:t>
            </a:r>
            <a:r>
              <a:rPr lang="en-US" altLang="zh-CN" sz="4000" b="1">
                <a:solidFill>
                  <a:srgbClr val="0000FF"/>
                </a:solidFill>
                <a:ea typeface="楷体_GB2312" pitchFamily="49" charset="-122"/>
              </a:rPr>
              <a:t>6</a:t>
            </a:r>
            <a:r>
              <a:rPr lang="en-US" altLang="zh-CN" sz="4000">
                <a:solidFill>
                  <a:srgbClr val="006666"/>
                </a:solidFill>
                <a:ea typeface="楷体_GB2312" pitchFamily="49" charset="-122"/>
              </a:rPr>
              <a:t>]                                  r[</a:t>
            </a:r>
            <a:r>
              <a:rPr lang="en-US" altLang="zh-CN" sz="4000" b="1">
                <a:solidFill>
                  <a:srgbClr val="0000FF"/>
                </a:solidFill>
                <a:ea typeface="楷体_GB2312" pitchFamily="49" charset="-122"/>
              </a:rPr>
              <a:t>6</a:t>
            </a:r>
            <a:r>
              <a:rPr lang="en-US" altLang="zh-CN" sz="4000">
                <a:solidFill>
                  <a:srgbClr val="006666"/>
                </a:solidFill>
                <a:ea typeface="楷体_GB2312" pitchFamily="49" charset="-122"/>
              </a:rPr>
              <a:t>]</a:t>
            </a:r>
          </a:p>
        </p:txBody>
      </p:sp>
      <p:sp>
        <p:nvSpPr>
          <p:cNvPr id="107527" name="Rectangle 7"/>
          <p:cNvSpPr>
            <a:spLocks noChangeArrowheads="1"/>
          </p:cNvSpPr>
          <p:nvPr/>
        </p:nvSpPr>
        <p:spPr bwMode="auto">
          <a:xfrm>
            <a:off x="1143000" y="2193925"/>
            <a:ext cx="7042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4000">
                <a:solidFill>
                  <a:srgbClr val="006666"/>
                </a:solidFill>
                <a:ea typeface="楷体_GB2312" pitchFamily="49" charset="-122"/>
              </a:rPr>
              <a:t>→</a:t>
            </a:r>
            <a:r>
              <a:rPr lang="en-US" altLang="zh-CN" sz="4000">
                <a:ea typeface="楷体_GB2312" pitchFamily="49" charset="-122"/>
              </a:rPr>
              <a:t>2</a:t>
            </a:r>
            <a:r>
              <a:rPr lang="en-US" altLang="zh-CN" sz="4000" b="1">
                <a:solidFill>
                  <a:srgbClr val="FF0000"/>
                </a:solidFill>
                <a:ea typeface="楷体_GB2312" pitchFamily="49" charset="-122"/>
              </a:rPr>
              <a:t>3</a:t>
            </a:r>
            <a:r>
              <a:rPr lang="en-US" altLang="zh-CN" sz="4000">
                <a:ea typeface="楷体_GB2312" pitchFamily="49" charset="-122"/>
              </a:rPr>
              <a:t>0                                        </a:t>
            </a:r>
            <a:r>
              <a:rPr lang="en-US" altLang="zh-CN" sz="4000">
                <a:solidFill>
                  <a:srgbClr val="006666"/>
                </a:solidFill>
                <a:ea typeface="楷体_GB2312" pitchFamily="49" charset="-122"/>
              </a:rPr>
              <a:t>←</a:t>
            </a:r>
          </a:p>
        </p:txBody>
      </p:sp>
      <p:sp>
        <p:nvSpPr>
          <p:cNvPr id="107528" name="Rectangle 8"/>
          <p:cNvSpPr>
            <a:spLocks noChangeArrowheads="1"/>
          </p:cNvSpPr>
          <p:nvPr/>
        </p:nvSpPr>
        <p:spPr bwMode="auto">
          <a:xfrm>
            <a:off x="2432050" y="2193925"/>
            <a:ext cx="1454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4000">
                <a:ea typeface="楷体_GB2312" pitchFamily="49" charset="-122"/>
              </a:rPr>
              <a:t>→2</a:t>
            </a:r>
            <a:r>
              <a:rPr lang="en-US" altLang="zh-CN" sz="4000" b="1">
                <a:solidFill>
                  <a:srgbClr val="FF0000"/>
                </a:solidFill>
                <a:ea typeface="楷体_GB2312" pitchFamily="49" charset="-122"/>
              </a:rPr>
              <a:t>3</a:t>
            </a:r>
            <a:r>
              <a:rPr lang="en-US" altLang="zh-CN" sz="4000">
                <a:ea typeface="楷体_GB2312" pitchFamily="49" charset="-122"/>
              </a:rPr>
              <a:t>7</a:t>
            </a:r>
          </a:p>
        </p:txBody>
      </p:sp>
      <p:sp>
        <p:nvSpPr>
          <p:cNvPr id="107529" name="Rectangle 9"/>
          <p:cNvSpPr>
            <a:spLocks noChangeArrowheads="1"/>
          </p:cNvSpPr>
          <p:nvPr/>
        </p:nvSpPr>
        <p:spPr bwMode="auto">
          <a:xfrm>
            <a:off x="3657600" y="2193925"/>
            <a:ext cx="1454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4000">
                <a:ea typeface="楷体_GB2312" pitchFamily="49" charset="-122"/>
              </a:rPr>
              <a:t>→1</a:t>
            </a:r>
            <a:r>
              <a:rPr lang="en-US" altLang="zh-CN" sz="4000" b="1">
                <a:solidFill>
                  <a:srgbClr val="FF0000"/>
                </a:solidFill>
                <a:ea typeface="楷体_GB2312" pitchFamily="49" charset="-122"/>
              </a:rPr>
              <a:t>3</a:t>
            </a:r>
            <a:r>
              <a:rPr lang="en-US" altLang="zh-CN" sz="4000">
                <a:ea typeface="楷体_GB2312" pitchFamily="49" charset="-122"/>
              </a:rPr>
              <a:t>8</a:t>
            </a:r>
          </a:p>
        </p:txBody>
      </p:sp>
      <p:sp>
        <p:nvSpPr>
          <p:cNvPr id="107530" name="Rectangle 10"/>
          <p:cNvSpPr>
            <a:spLocks noChangeArrowheads="1"/>
          </p:cNvSpPr>
          <p:nvPr/>
        </p:nvSpPr>
        <p:spPr bwMode="auto">
          <a:xfrm>
            <a:off x="4876800" y="2193925"/>
            <a:ext cx="1454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4000">
                <a:ea typeface="楷体_GB2312" pitchFamily="49" charset="-122"/>
              </a:rPr>
              <a:t>→2</a:t>
            </a:r>
            <a:r>
              <a:rPr lang="en-US" altLang="zh-CN" sz="4000" b="1">
                <a:solidFill>
                  <a:srgbClr val="FF0000"/>
                </a:solidFill>
                <a:ea typeface="楷体_GB2312" pitchFamily="49" charset="-122"/>
              </a:rPr>
              <a:t>3</a:t>
            </a:r>
            <a:r>
              <a:rPr lang="en-US" altLang="zh-CN" sz="4000">
                <a:ea typeface="楷体_GB2312" pitchFamily="49" charset="-122"/>
              </a:rPr>
              <a:t>9</a:t>
            </a:r>
          </a:p>
        </p:txBody>
      </p:sp>
      <p:sp>
        <p:nvSpPr>
          <p:cNvPr id="107531" name="Rectangle 11"/>
          <p:cNvSpPr>
            <a:spLocks noChangeArrowheads="1"/>
          </p:cNvSpPr>
          <p:nvPr/>
        </p:nvSpPr>
        <p:spPr bwMode="auto">
          <a:xfrm>
            <a:off x="6172200" y="2193925"/>
            <a:ext cx="1454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4000">
                <a:ea typeface="楷体_GB2312" pitchFamily="49" charset="-122"/>
              </a:rPr>
              <a:t>→1</a:t>
            </a:r>
            <a:r>
              <a:rPr lang="en-US" altLang="zh-CN" sz="4000" b="1">
                <a:solidFill>
                  <a:srgbClr val="FF0000"/>
                </a:solidFill>
                <a:ea typeface="楷体_GB2312" pitchFamily="49" charset="-122"/>
              </a:rPr>
              <a:t>3</a:t>
            </a:r>
            <a:r>
              <a:rPr lang="en-US" altLang="zh-CN" sz="4000">
                <a:ea typeface="楷体_GB2312" pitchFamily="49" charset="-122"/>
              </a:rPr>
              <a:t>9</a:t>
            </a:r>
          </a:p>
        </p:txBody>
      </p:sp>
      <p:sp>
        <p:nvSpPr>
          <p:cNvPr id="107532" name="Rectangle 12"/>
          <p:cNvSpPr>
            <a:spLocks noChangeArrowheads="1"/>
          </p:cNvSpPr>
          <p:nvPr/>
        </p:nvSpPr>
        <p:spPr bwMode="auto">
          <a:xfrm>
            <a:off x="1143000" y="3336925"/>
            <a:ext cx="4502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4000">
                <a:solidFill>
                  <a:srgbClr val="006666"/>
                </a:solidFill>
                <a:ea typeface="楷体_GB2312" pitchFamily="49" charset="-122"/>
              </a:rPr>
              <a:t>→</a:t>
            </a:r>
            <a:r>
              <a:rPr lang="en-US" altLang="zh-CN" sz="4000">
                <a:ea typeface="楷体_GB2312" pitchFamily="49" charset="-122"/>
              </a:rPr>
              <a:t>3</a:t>
            </a:r>
            <a:r>
              <a:rPr lang="en-US" altLang="zh-CN" sz="4000" b="1">
                <a:solidFill>
                  <a:srgbClr val="0000FF"/>
                </a:solidFill>
                <a:ea typeface="楷体_GB2312" pitchFamily="49" charset="-122"/>
              </a:rPr>
              <a:t>6</a:t>
            </a:r>
            <a:r>
              <a:rPr lang="en-US" altLang="zh-CN" sz="4000">
                <a:ea typeface="楷体_GB2312" pitchFamily="49" charset="-122"/>
              </a:rPr>
              <a:t>7                    </a:t>
            </a:r>
            <a:r>
              <a:rPr lang="en-US" altLang="zh-CN" sz="4000">
                <a:solidFill>
                  <a:srgbClr val="006666"/>
                </a:solidFill>
                <a:ea typeface="楷体_GB2312" pitchFamily="49" charset="-122"/>
              </a:rPr>
              <a:t>←</a:t>
            </a:r>
          </a:p>
        </p:txBody>
      </p:sp>
      <p:sp>
        <p:nvSpPr>
          <p:cNvPr id="107533" name="Rectangle 13"/>
          <p:cNvSpPr>
            <a:spLocks noChangeArrowheads="1"/>
          </p:cNvSpPr>
          <p:nvPr/>
        </p:nvSpPr>
        <p:spPr bwMode="auto">
          <a:xfrm>
            <a:off x="2362200" y="3336925"/>
            <a:ext cx="1454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4000">
                <a:ea typeface="楷体_GB2312" pitchFamily="49" charset="-122"/>
              </a:rPr>
              <a:t>→1</a:t>
            </a:r>
            <a:r>
              <a:rPr lang="en-US" altLang="zh-CN" sz="4000" b="1">
                <a:solidFill>
                  <a:srgbClr val="0000FF"/>
                </a:solidFill>
                <a:ea typeface="楷体_GB2312" pitchFamily="49" charset="-122"/>
              </a:rPr>
              <a:t>6</a:t>
            </a:r>
            <a:r>
              <a:rPr lang="en-US" altLang="zh-CN" sz="4000">
                <a:ea typeface="楷体_GB2312" pitchFamily="49" charset="-122"/>
              </a:rPr>
              <a:t>7</a:t>
            </a:r>
          </a:p>
        </p:txBody>
      </p:sp>
      <p:sp>
        <p:nvSpPr>
          <p:cNvPr id="107534" name="Rectangle 14"/>
          <p:cNvSpPr>
            <a:spLocks noChangeArrowheads="1"/>
          </p:cNvSpPr>
          <p:nvPr/>
        </p:nvSpPr>
        <p:spPr bwMode="auto">
          <a:xfrm>
            <a:off x="3657600" y="3336925"/>
            <a:ext cx="1454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4000">
                <a:ea typeface="楷体_GB2312" pitchFamily="49" charset="-122"/>
              </a:rPr>
              <a:t>→3</a:t>
            </a:r>
            <a:r>
              <a:rPr lang="en-US" altLang="zh-CN" sz="4000" b="1">
                <a:solidFill>
                  <a:srgbClr val="0000FF"/>
                </a:solidFill>
                <a:ea typeface="楷体_GB2312" pitchFamily="49" charset="-122"/>
              </a:rPr>
              <a:t>6</a:t>
            </a:r>
            <a:r>
              <a:rPr lang="en-US" altLang="zh-CN" sz="4000">
                <a:ea typeface="楷体_GB2312" pitchFamily="49" charset="-122"/>
              </a:rPr>
              <a:t>9</a:t>
            </a:r>
          </a:p>
        </p:txBody>
      </p:sp>
      <p:sp>
        <p:nvSpPr>
          <p:cNvPr id="107535" name="Rectangle 15"/>
          <p:cNvSpPr>
            <a:spLocks noChangeArrowheads="1"/>
          </p:cNvSpPr>
          <p:nvPr/>
        </p:nvSpPr>
        <p:spPr bwMode="auto">
          <a:xfrm>
            <a:off x="5791200" y="5287963"/>
            <a:ext cx="33528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a:solidFill>
                  <a:srgbClr val="660033"/>
                </a:solidFill>
                <a:ea typeface="楷体_GB2312" pitchFamily="49" charset="-122"/>
              </a:rPr>
              <a:t>→367→167→369</a:t>
            </a:r>
          </a:p>
        </p:txBody>
      </p:sp>
      <p:sp>
        <p:nvSpPr>
          <p:cNvPr id="107536" name="Rectangle 16"/>
          <p:cNvSpPr>
            <a:spLocks noChangeArrowheads="1"/>
          </p:cNvSpPr>
          <p:nvPr/>
        </p:nvSpPr>
        <p:spPr bwMode="auto">
          <a:xfrm>
            <a:off x="457200" y="4191000"/>
            <a:ext cx="3865880" cy="75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20000"/>
              </a:lnSpc>
            </a:pPr>
            <a:r>
              <a:rPr lang="en-US" altLang="zh-CN" sz="3600">
                <a:latin typeface="Arial" panose="020B0604020202020204" pitchFamily="34" charset="0"/>
                <a:ea typeface="隶书" panose="02010509060101010101" pitchFamily="49" charset="-122"/>
                <a:cs typeface="Arial" panose="020B0604020202020204" pitchFamily="34" charset="0"/>
              </a:rPr>
              <a:t>Second Collection</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116</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7524"/>
                                        </p:tgtEl>
                                        <p:attrNameLst>
                                          <p:attrName>style.visibility</p:attrName>
                                        </p:attrNameLst>
                                      </p:cBhvr>
                                      <p:to>
                                        <p:strVal val="visible"/>
                                      </p:to>
                                    </p:set>
                                    <p:animEffect transition="in" filter="wipe(left)">
                                      <p:cBhvr>
                                        <p:cTn id="7" dur="500"/>
                                        <p:tgtEl>
                                          <p:spTgt spid="1075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7522"/>
                                        </p:tgtEl>
                                        <p:attrNameLst>
                                          <p:attrName>style.visibility</p:attrName>
                                        </p:attrNameLst>
                                      </p:cBhvr>
                                      <p:to>
                                        <p:strVal val="visible"/>
                                      </p:to>
                                    </p:set>
                                    <p:animEffect transition="in" filter="wipe(left)">
                                      <p:cBhvr>
                                        <p:cTn id="12" dur="500"/>
                                        <p:tgtEl>
                                          <p:spTgt spid="10752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7525"/>
                                        </p:tgtEl>
                                        <p:attrNameLst>
                                          <p:attrName>style.visibility</p:attrName>
                                        </p:attrNameLst>
                                      </p:cBhvr>
                                      <p:to>
                                        <p:strVal val="visible"/>
                                      </p:to>
                                    </p:set>
                                    <p:animEffect transition="in" filter="wipe(left)">
                                      <p:cBhvr>
                                        <p:cTn id="17" dur="500"/>
                                        <p:tgtEl>
                                          <p:spTgt spid="107525"/>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107526"/>
                                        </p:tgtEl>
                                        <p:attrNameLst>
                                          <p:attrName>style.visibility</p:attrName>
                                        </p:attrNameLst>
                                      </p:cBhvr>
                                      <p:to>
                                        <p:strVal val="visible"/>
                                      </p:to>
                                    </p:set>
                                    <p:animEffect transition="in" filter="wipe(left)">
                                      <p:cBhvr>
                                        <p:cTn id="21" dur="500"/>
                                        <p:tgtEl>
                                          <p:spTgt spid="10752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07527"/>
                                        </p:tgtEl>
                                        <p:attrNameLst>
                                          <p:attrName>style.visibility</p:attrName>
                                        </p:attrNameLst>
                                      </p:cBhvr>
                                      <p:to>
                                        <p:strVal val="visible"/>
                                      </p:to>
                                    </p:set>
                                    <p:animEffect transition="in" filter="wipe(left)">
                                      <p:cBhvr>
                                        <p:cTn id="26" dur="500"/>
                                        <p:tgtEl>
                                          <p:spTgt spid="10752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07532"/>
                                        </p:tgtEl>
                                        <p:attrNameLst>
                                          <p:attrName>style.visibility</p:attrName>
                                        </p:attrNameLst>
                                      </p:cBhvr>
                                      <p:to>
                                        <p:strVal val="visible"/>
                                      </p:to>
                                    </p:set>
                                    <p:animEffect transition="in" filter="wipe(left)">
                                      <p:cBhvr>
                                        <p:cTn id="31" dur="500"/>
                                        <p:tgtEl>
                                          <p:spTgt spid="10753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07533"/>
                                        </p:tgtEl>
                                        <p:attrNameLst>
                                          <p:attrName>style.visibility</p:attrName>
                                        </p:attrNameLst>
                                      </p:cBhvr>
                                      <p:to>
                                        <p:strVal val="visible"/>
                                      </p:to>
                                    </p:set>
                                    <p:animEffect transition="in" filter="wipe(left)">
                                      <p:cBhvr>
                                        <p:cTn id="36" dur="500"/>
                                        <p:tgtEl>
                                          <p:spTgt spid="10753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07528"/>
                                        </p:tgtEl>
                                        <p:attrNameLst>
                                          <p:attrName>style.visibility</p:attrName>
                                        </p:attrNameLst>
                                      </p:cBhvr>
                                      <p:to>
                                        <p:strVal val="visible"/>
                                      </p:to>
                                    </p:set>
                                    <p:animEffect transition="in" filter="wipe(left)">
                                      <p:cBhvr>
                                        <p:cTn id="41" dur="500"/>
                                        <p:tgtEl>
                                          <p:spTgt spid="107528"/>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07529"/>
                                        </p:tgtEl>
                                        <p:attrNameLst>
                                          <p:attrName>style.visibility</p:attrName>
                                        </p:attrNameLst>
                                      </p:cBhvr>
                                      <p:to>
                                        <p:strVal val="visible"/>
                                      </p:to>
                                    </p:set>
                                    <p:animEffect transition="in" filter="wipe(left)">
                                      <p:cBhvr>
                                        <p:cTn id="46" dur="500"/>
                                        <p:tgtEl>
                                          <p:spTgt spid="107529"/>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07534"/>
                                        </p:tgtEl>
                                        <p:attrNameLst>
                                          <p:attrName>style.visibility</p:attrName>
                                        </p:attrNameLst>
                                      </p:cBhvr>
                                      <p:to>
                                        <p:strVal val="visible"/>
                                      </p:to>
                                    </p:set>
                                    <p:animEffect transition="in" filter="wipe(left)">
                                      <p:cBhvr>
                                        <p:cTn id="51" dur="500"/>
                                        <p:tgtEl>
                                          <p:spTgt spid="107534"/>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07530"/>
                                        </p:tgtEl>
                                        <p:attrNameLst>
                                          <p:attrName>style.visibility</p:attrName>
                                        </p:attrNameLst>
                                      </p:cBhvr>
                                      <p:to>
                                        <p:strVal val="visible"/>
                                      </p:to>
                                    </p:set>
                                    <p:animEffect transition="in" filter="wipe(left)">
                                      <p:cBhvr>
                                        <p:cTn id="56" dur="500"/>
                                        <p:tgtEl>
                                          <p:spTgt spid="107530"/>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07531"/>
                                        </p:tgtEl>
                                        <p:attrNameLst>
                                          <p:attrName>style.visibility</p:attrName>
                                        </p:attrNameLst>
                                      </p:cBhvr>
                                      <p:to>
                                        <p:strVal val="visible"/>
                                      </p:to>
                                    </p:set>
                                    <p:animEffect transition="in" filter="wipe(left)">
                                      <p:cBhvr>
                                        <p:cTn id="61" dur="500"/>
                                        <p:tgtEl>
                                          <p:spTgt spid="107531"/>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07536"/>
                                        </p:tgtEl>
                                        <p:attrNameLst>
                                          <p:attrName>style.visibility</p:attrName>
                                        </p:attrNameLst>
                                      </p:cBhvr>
                                      <p:to>
                                        <p:strVal val="visible"/>
                                      </p:to>
                                    </p:set>
                                    <p:animEffect transition="in" filter="wipe(left)">
                                      <p:cBhvr>
                                        <p:cTn id="66" dur="500"/>
                                        <p:tgtEl>
                                          <p:spTgt spid="107536"/>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107523"/>
                                        </p:tgtEl>
                                        <p:attrNameLst>
                                          <p:attrName>style.visibility</p:attrName>
                                        </p:attrNameLst>
                                      </p:cBhvr>
                                      <p:to>
                                        <p:strVal val="visible"/>
                                      </p:to>
                                    </p:set>
                                    <p:animEffect transition="in" filter="wipe(left)">
                                      <p:cBhvr>
                                        <p:cTn id="71" dur="500"/>
                                        <p:tgtEl>
                                          <p:spTgt spid="107523"/>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107535"/>
                                        </p:tgtEl>
                                        <p:attrNameLst>
                                          <p:attrName>style.visibility</p:attrName>
                                        </p:attrNameLst>
                                      </p:cBhvr>
                                      <p:to>
                                        <p:strVal val="visible"/>
                                      </p:to>
                                    </p:set>
                                    <p:animEffect transition="in" filter="wipe(left)">
                                      <p:cBhvr>
                                        <p:cTn id="76" dur="500"/>
                                        <p:tgtEl>
                                          <p:spTgt spid="1075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2" grpId="0" bldLvl="0" animBg="1" autoUpdateAnimBg="0"/>
      <p:bldP spid="107523" grpId="0" autoUpdateAnimBg="0"/>
      <p:bldP spid="107524" grpId="0" autoUpdateAnimBg="0"/>
      <p:bldP spid="107525" grpId="0" autoUpdateAnimBg="0"/>
      <p:bldP spid="107526" grpId="0" autoUpdateAnimBg="0"/>
      <p:bldP spid="107527" grpId="0" autoUpdateAnimBg="0"/>
      <p:bldP spid="107528" grpId="0" autoUpdateAnimBg="0"/>
      <p:bldP spid="107529" grpId="0" autoUpdateAnimBg="0"/>
      <p:bldP spid="107530" grpId="0" autoUpdateAnimBg="0"/>
      <p:bldP spid="107531" grpId="0" autoUpdateAnimBg="0"/>
      <p:bldP spid="107532" grpId="0" autoUpdateAnimBg="0"/>
      <p:bldP spid="107533" grpId="0" autoUpdateAnimBg="0"/>
      <p:bldP spid="107534" grpId="0" autoUpdateAnimBg="0"/>
      <p:bldP spid="107535" grpId="0" autoUpdateAnimBg="0"/>
      <p:bldP spid="107536" grpId="0" bldLvl="0" animBg="1" autoUpdateAnimBg="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ext Box 2"/>
          <p:cNvSpPr txBox="1">
            <a:spLocks noChangeArrowheads="1"/>
          </p:cNvSpPr>
          <p:nvPr/>
        </p:nvSpPr>
        <p:spPr bwMode="auto">
          <a:xfrm>
            <a:off x="0" y="4616450"/>
            <a:ext cx="8828405" cy="65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30000"/>
              </a:lnSpc>
            </a:pPr>
            <a:r>
              <a:rPr lang="en-US" altLang="zh-CN">
                <a:latin typeface="Arial" panose="020B0604020202020204" pitchFamily="34" charset="0"/>
                <a:ea typeface="楷体_GB2312" pitchFamily="49" charset="-122"/>
                <a:cs typeface="Arial" panose="020B0604020202020204" pitchFamily="34" charset="0"/>
              </a:rPr>
              <a:t>After Third Collection, the sorted sequence is obtained:</a:t>
            </a:r>
          </a:p>
        </p:txBody>
      </p:sp>
      <p:sp>
        <p:nvSpPr>
          <p:cNvPr id="108547" name="Text Box 3"/>
          <p:cNvSpPr txBox="1">
            <a:spLocks noChangeArrowheads="1"/>
          </p:cNvSpPr>
          <p:nvPr/>
        </p:nvSpPr>
        <p:spPr bwMode="auto">
          <a:xfrm>
            <a:off x="1143000" y="1752600"/>
            <a:ext cx="5441950" cy="750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lang="en-US" altLang="zh-CN" sz="3600">
                <a:solidFill>
                  <a:srgbClr val="006666"/>
                </a:solidFill>
                <a:ea typeface="楷体_GB2312" pitchFamily="49" charset="-122"/>
              </a:rPr>
              <a:t>f[</a:t>
            </a:r>
            <a:r>
              <a:rPr lang="en-US" altLang="zh-CN" sz="3600" b="1">
                <a:solidFill>
                  <a:srgbClr val="FF0000"/>
                </a:solidFill>
                <a:ea typeface="楷体_GB2312" pitchFamily="49" charset="-122"/>
              </a:rPr>
              <a:t>1</a:t>
            </a:r>
            <a:r>
              <a:rPr lang="en-US" altLang="zh-CN" sz="3600">
                <a:solidFill>
                  <a:srgbClr val="006666"/>
                </a:solidFill>
                <a:ea typeface="楷体_GB2312" pitchFamily="49" charset="-122"/>
              </a:rPr>
              <a:t>]                                  r[</a:t>
            </a:r>
            <a:r>
              <a:rPr lang="en-US" altLang="zh-CN" sz="3600" b="1">
                <a:solidFill>
                  <a:srgbClr val="FF0000"/>
                </a:solidFill>
                <a:ea typeface="楷体_GB2312" pitchFamily="49" charset="-122"/>
              </a:rPr>
              <a:t>1</a:t>
            </a:r>
            <a:r>
              <a:rPr lang="en-US" altLang="zh-CN" sz="3600">
                <a:solidFill>
                  <a:srgbClr val="006666"/>
                </a:solidFill>
                <a:ea typeface="楷体_GB2312" pitchFamily="49" charset="-122"/>
              </a:rPr>
              <a:t>]</a:t>
            </a:r>
            <a:endParaRPr lang="en-US" altLang="zh-CN" sz="3600">
              <a:ea typeface="楷体_GB2312" pitchFamily="49" charset="-122"/>
            </a:endParaRPr>
          </a:p>
        </p:txBody>
      </p:sp>
      <p:sp>
        <p:nvSpPr>
          <p:cNvPr id="108548" name="Text Box 4"/>
          <p:cNvSpPr txBox="1">
            <a:spLocks noChangeArrowheads="1"/>
          </p:cNvSpPr>
          <p:nvPr/>
        </p:nvSpPr>
        <p:spPr bwMode="auto">
          <a:xfrm>
            <a:off x="288925" y="171450"/>
            <a:ext cx="85629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660033"/>
                </a:solidFill>
                <a:ea typeface="楷体_GB2312" pitchFamily="49" charset="-122"/>
              </a:rPr>
              <a:t>p→230→237→138→239→139→367→167→369</a:t>
            </a:r>
          </a:p>
        </p:txBody>
      </p:sp>
      <p:sp>
        <p:nvSpPr>
          <p:cNvPr id="108549" name="Rectangle 5"/>
          <p:cNvSpPr>
            <a:spLocks noChangeArrowheads="1"/>
          </p:cNvSpPr>
          <p:nvPr/>
        </p:nvSpPr>
        <p:spPr bwMode="auto">
          <a:xfrm>
            <a:off x="533400" y="990600"/>
            <a:ext cx="8305800"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600" b="1">
                <a:latin typeface="Arial" panose="020B0604020202020204" pitchFamily="34" charset="0"/>
                <a:ea typeface="隶书" panose="02010509060101010101" pitchFamily="49" charset="-122"/>
                <a:cs typeface="Arial" panose="020B0604020202020204" pitchFamily="34" charset="0"/>
              </a:rPr>
              <a:t>Third Distribution (</a:t>
            </a:r>
            <a:r>
              <a:rPr lang="en-US" altLang="zh-CN" sz="3600">
                <a:solidFill>
                  <a:srgbClr val="993300"/>
                </a:solidFill>
                <a:latin typeface="Arial" panose="020B0604020202020204" pitchFamily="34" charset="0"/>
                <a:ea typeface="楷体_GB2312" pitchFamily="49" charset="-122"/>
                <a:cs typeface="Arial" panose="020B0604020202020204" pitchFamily="34" charset="0"/>
              </a:rPr>
              <a:t>by hundreds digit</a:t>
            </a:r>
            <a:r>
              <a:rPr lang="en-US" altLang="zh-CN" sz="3600" b="1">
                <a:latin typeface="Arial" panose="020B0604020202020204" pitchFamily="34" charset="0"/>
                <a:ea typeface="隶书" panose="02010509060101010101" pitchFamily="49" charset="-122"/>
                <a:cs typeface="Arial" panose="020B0604020202020204" pitchFamily="34" charset="0"/>
              </a:rPr>
              <a:t>)</a:t>
            </a:r>
          </a:p>
        </p:txBody>
      </p:sp>
      <p:sp>
        <p:nvSpPr>
          <p:cNvPr id="108550" name="Rectangle 6"/>
          <p:cNvSpPr>
            <a:spLocks noChangeArrowheads="1"/>
          </p:cNvSpPr>
          <p:nvPr/>
        </p:nvSpPr>
        <p:spPr bwMode="auto">
          <a:xfrm>
            <a:off x="1143000" y="2667000"/>
            <a:ext cx="5441950" cy="750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lang="en-US" altLang="zh-CN" sz="3600">
                <a:solidFill>
                  <a:srgbClr val="006666"/>
                </a:solidFill>
                <a:ea typeface="楷体_GB2312" pitchFamily="49" charset="-122"/>
              </a:rPr>
              <a:t>f[</a:t>
            </a:r>
            <a:r>
              <a:rPr lang="en-US" altLang="zh-CN" sz="3600" b="1">
                <a:solidFill>
                  <a:srgbClr val="0000FF"/>
                </a:solidFill>
                <a:ea typeface="楷体_GB2312" pitchFamily="49" charset="-122"/>
              </a:rPr>
              <a:t>2</a:t>
            </a:r>
            <a:r>
              <a:rPr lang="en-US" altLang="zh-CN" sz="3600">
                <a:solidFill>
                  <a:srgbClr val="006666"/>
                </a:solidFill>
                <a:ea typeface="楷体_GB2312" pitchFamily="49" charset="-122"/>
              </a:rPr>
              <a:t>]                                  r[</a:t>
            </a:r>
            <a:r>
              <a:rPr lang="en-US" altLang="zh-CN" sz="3600" b="1">
                <a:solidFill>
                  <a:srgbClr val="0000FF"/>
                </a:solidFill>
                <a:ea typeface="楷体_GB2312" pitchFamily="49" charset="-122"/>
              </a:rPr>
              <a:t>2</a:t>
            </a:r>
            <a:r>
              <a:rPr lang="en-US" altLang="zh-CN" sz="3600">
                <a:solidFill>
                  <a:srgbClr val="006666"/>
                </a:solidFill>
                <a:ea typeface="楷体_GB2312" pitchFamily="49" charset="-122"/>
              </a:rPr>
              <a:t>]</a:t>
            </a:r>
            <a:endParaRPr lang="en-US" altLang="zh-CN" sz="3600">
              <a:ea typeface="楷体_GB2312" pitchFamily="49" charset="-122"/>
            </a:endParaRPr>
          </a:p>
        </p:txBody>
      </p:sp>
      <p:sp>
        <p:nvSpPr>
          <p:cNvPr id="108551" name="Rectangle 7"/>
          <p:cNvSpPr>
            <a:spLocks noChangeArrowheads="1"/>
          </p:cNvSpPr>
          <p:nvPr/>
        </p:nvSpPr>
        <p:spPr bwMode="auto">
          <a:xfrm>
            <a:off x="1143000" y="3581400"/>
            <a:ext cx="4298950" cy="750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lang="en-US" altLang="zh-CN" sz="3600">
                <a:solidFill>
                  <a:srgbClr val="006666"/>
                </a:solidFill>
                <a:ea typeface="楷体_GB2312" pitchFamily="49" charset="-122"/>
              </a:rPr>
              <a:t>f[</a:t>
            </a:r>
            <a:r>
              <a:rPr lang="en-US" altLang="zh-CN" sz="3600" b="1">
                <a:solidFill>
                  <a:srgbClr val="FF00FF"/>
                </a:solidFill>
                <a:ea typeface="楷体_GB2312" pitchFamily="49" charset="-122"/>
              </a:rPr>
              <a:t>3</a:t>
            </a:r>
            <a:r>
              <a:rPr lang="en-US" altLang="zh-CN" sz="3600">
                <a:solidFill>
                  <a:srgbClr val="006666"/>
                </a:solidFill>
                <a:ea typeface="楷体_GB2312" pitchFamily="49" charset="-122"/>
              </a:rPr>
              <a:t>]                        r[</a:t>
            </a:r>
            <a:r>
              <a:rPr lang="en-US" altLang="zh-CN" sz="3600" b="1">
                <a:solidFill>
                  <a:srgbClr val="FF00FF"/>
                </a:solidFill>
                <a:ea typeface="楷体_GB2312" pitchFamily="49" charset="-122"/>
              </a:rPr>
              <a:t>3</a:t>
            </a:r>
            <a:r>
              <a:rPr lang="en-US" altLang="zh-CN" sz="3600">
                <a:solidFill>
                  <a:srgbClr val="006666"/>
                </a:solidFill>
                <a:ea typeface="楷体_GB2312" pitchFamily="49" charset="-122"/>
              </a:rPr>
              <a:t>]</a:t>
            </a:r>
          </a:p>
        </p:txBody>
      </p:sp>
      <p:sp>
        <p:nvSpPr>
          <p:cNvPr id="108552" name="Rectangle 8"/>
          <p:cNvSpPr>
            <a:spLocks noChangeArrowheads="1"/>
          </p:cNvSpPr>
          <p:nvPr/>
        </p:nvSpPr>
        <p:spPr bwMode="auto">
          <a:xfrm>
            <a:off x="1797050" y="1828800"/>
            <a:ext cx="4070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solidFill>
                  <a:srgbClr val="006666"/>
                </a:solidFill>
                <a:ea typeface="楷体_GB2312" pitchFamily="49" charset="-122"/>
              </a:rPr>
              <a:t>→</a:t>
            </a:r>
            <a:r>
              <a:rPr lang="en-US" altLang="zh-CN" sz="3600" b="1">
                <a:solidFill>
                  <a:srgbClr val="FF0000"/>
                </a:solidFill>
                <a:ea typeface="楷体_GB2312" pitchFamily="49" charset="-122"/>
              </a:rPr>
              <a:t>1</a:t>
            </a:r>
            <a:r>
              <a:rPr lang="en-US" altLang="zh-CN" sz="3600">
                <a:ea typeface="楷体_GB2312" pitchFamily="49" charset="-122"/>
              </a:rPr>
              <a:t>38                    </a:t>
            </a:r>
            <a:r>
              <a:rPr lang="en-US" altLang="zh-CN" sz="3600">
                <a:solidFill>
                  <a:srgbClr val="006666"/>
                </a:solidFill>
                <a:ea typeface="楷体_GB2312" pitchFamily="49" charset="-122"/>
              </a:rPr>
              <a:t>←</a:t>
            </a:r>
          </a:p>
        </p:txBody>
      </p:sp>
      <p:sp>
        <p:nvSpPr>
          <p:cNvPr id="108553" name="Rectangle 9"/>
          <p:cNvSpPr>
            <a:spLocks noChangeArrowheads="1"/>
          </p:cNvSpPr>
          <p:nvPr/>
        </p:nvSpPr>
        <p:spPr bwMode="auto">
          <a:xfrm>
            <a:off x="2940050" y="1828800"/>
            <a:ext cx="1327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ea typeface="楷体_GB2312" pitchFamily="49" charset="-122"/>
              </a:rPr>
              <a:t>→</a:t>
            </a:r>
            <a:r>
              <a:rPr lang="en-US" altLang="zh-CN" sz="3600" b="1">
                <a:solidFill>
                  <a:srgbClr val="FF0000"/>
                </a:solidFill>
                <a:ea typeface="楷体_GB2312" pitchFamily="49" charset="-122"/>
              </a:rPr>
              <a:t>1</a:t>
            </a:r>
            <a:r>
              <a:rPr lang="en-US" altLang="zh-CN" sz="3600">
                <a:ea typeface="楷体_GB2312" pitchFamily="49" charset="-122"/>
              </a:rPr>
              <a:t>39</a:t>
            </a:r>
          </a:p>
        </p:txBody>
      </p:sp>
      <p:sp>
        <p:nvSpPr>
          <p:cNvPr id="108554" name="Rectangle 10"/>
          <p:cNvSpPr>
            <a:spLocks noChangeArrowheads="1"/>
          </p:cNvSpPr>
          <p:nvPr/>
        </p:nvSpPr>
        <p:spPr bwMode="auto">
          <a:xfrm>
            <a:off x="4114800" y="1860550"/>
            <a:ext cx="1327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ea typeface="楷体_GB2312" pitchFamily="49" charset="-122"/>
              </a:rPr>
              <a:t>→</a:t>
            </a:r>
            <a:r>
              <a:rPr lang="en-US" altLang="zh-CN" sz="3600" b="1">
                <a:solidFill>
                  <a:srgbClr val="FF0000"/>
                </a:solidFill>
                <a:ea typeface="楷体_GB2312" pitchFamily="49" charset="-122"/>
              </a:rPr>
              <a:t>1</a:t>
            </a:r>
            <a:r>
              <a:rPr lang="en-US" altLang="zh-CN" sz="3600">
                <a:ea typeface="楷体_GB2312" pitchFamily="49" charset="-122"/>
              </a:rPr>
              <a:t>67</a:t>
            </a:r>
          </a:p>
        </p:txBody>
      </p:sp>
      <p:sp>
        <p:nvSpPr>
          <p:cNvPr id="108555" name="Rectangle 11"/>
          <p:cNvSpPr>
            <a:spLocks noChangeArrowheads="1"/>
          </p:cNvSpPr>
          <p:nvPr/>
        </p:nvSpPr>
        <p:spPr bwMode="auto">
          <a:xfrm>
            <a:off x="1797050" y="2787650"/>
            <a:ext cx="4070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solidFill>
                  <a:srgbClr val="006666"/>
                </a:solidFill>
                <a:ea typeface="楷体_GB2312" pitchFamily="49" charset="-122"/>
              </a:rPr>
              <a:t>→</a:t>
            </a:r>
            <a:r>
              <a:rPr lang="en-US" altLang="zh-CN" sz="3600" b="1">
                <a:solidFill>
                  <a:srgbClr val="0000FF"/>
                </a:solidFill>
                <a:ea typeface="楷体_GB2312" pitchFamily="49" charset="-122"/>
              </a:rPr>
              <a:t>2</a:t>
            </a:r>
            <a:r>
              <a:rPr lang="en-US" altLang="zh-CN" sz="3600">
                <a:ea typeface="楷体_GB2312" pitchFamily="49" charset="-122"/>
              </a:rPr>
              <a:t>30                    </a:t>
            </a:r>
            <a:r>
              <a:rPr lang="en-US" altLang="zh-CN" sz="3600">
                <a:solidFill>
                  <a:srgbClr val="006666"/>
                </a:solidFill>
                <a:ea typeface="楷体_GB2312" pitchFamily="49" charset="-122"/>
              </a:rPr>
              <a:t>←</a:t>
            </a:r>
          </a:p>
        </p:txBody>
      </p:sp>
      <p:sp>
        <p:nvSpPr>
          <p:cNvPr id="108556" name="Rectangle 12"/>
          <p:cNvSpPr>
            <a:spLocks noChangeArrowheads="1"/>
          </p:cNvSpPr>
          <p:nvPr/>
        </p:nvSpPr>
        <p:spPr bwMode="auto">
          <a:xfrm>
            <a:off x="2940050" y="2787650"/>
            <a:ext cx="1327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ea typeface="楷体_GB2312" pitchFamily="49" charset="-122"/>
              </a:rPr>
              <a:t>→</a:t>
            </a:r>
            <a:r>
              <a:rPr lang="en-US" altLang="zh-CN" sz="3600" b="1">
                <a:solidFill>
                  <a:srgbClr val="0000FF"/>
                </a:solidFill>
                <a:ea typeface="楷体_GB2312" pitchFamily="49" charset="-122"/>
              </a:rPr>
              <a:t>2</a:t>
            </a:r>
            <a:r>
              <a:rPr lang="en-US" altLang="zh-CN" sz="3600">
                <a:ea typeface="楷体_GB2312" pitchFamily="49" charset="-122"/>
              </a:rPr>
              <a:t>37</a:t>
            </a:r>
          </a:p>
        </p:txBody>
      </p:sp>
      <p:sp>
        <p:nvSpPr>
          <p:cNvPr id="108557" name="Rectangle 13"/>
          <p:cNvSpPr>
            <a:spLocks noChangeArrowheads="1"/>
          </p:cNvSpPr>
          <p:nvPr/>
        </p:nvSpPr>
        <p:spPr bwMode="auto">
          <a:xfrm>
            <a:off x="4083050" y="2787650"/>
            <a:ext cx="1327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ea typeface="楷体_GB2312" pitchFamily="49" charset="-122"/>
              </a:rPr>
              <a:t>→</a:t>
            </a:r>
            <a:r>
              <a:rPr lang="en-US" altLang="zh-CN" sz="3600" b="1">
                <a:solidFill>
                  <a:srgbClr val="0000FF"/>
                </a:solidFill>
                <a:ea typeface="楷体_GB2312" pitchFamily="49" charset="-122"/>
              </a:rPr>
              <a:t>2</a:t>
            </a:r>
            <a:r>
              <a:rPr lang="en-US" altLang="zh-CN" sz="3600">
                <a:ea typeface="楷体_GB2312" pitchFamily="49" charset="-122"/>
              </a:rPr>
              <a:t>39</a:t>
            </a:r>
          </a:p>
        </p:txBody>
      </p:sp>
      <p:sp>
        <p:nvSpPr>
          <p:cNvPr id="108558" name="Rectangle 14"/>
          <p:cNvSpPr>
            <a:spLocks noChangeArrowheads="1"/>
          </p:cNvSpPr>
          <p:nvPr/>
        </p:nvSpPr>
        <p:spPr bwMode="auto">
          <a:xfrm>
            <a:off x="1828800" y="3702050"/>
            <a:ext cx="2927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solidFill>
                  <a:srgbClr val="006666"/>
                </a:solidFill>
                <a:ea typeface="楷体_GB2312" pitchFamily="49" charset="-122"/>
              </a:rPr>
              <a:t>→</a:t>
            </a:r>
            <a:r>
              <a:rPr lang="en-US" altLang="zh-CN" sz="3600" b="1">
                <a:solidFill>
                  <a:srgbClr val="FF00FF"/>
                </a:solidFill>
                <a:ea typeface="楷体_GB2312" pitchFamily="49" charset="-122"/>
              </a:rPr>
              <a:t>3</a:t>
            </a:r>
            <a:r>
              <a:rPr lang="en-US" altLang="zh-CN" sz="3600">
                <a:ea typeface="楷体_GB2312" pitchFamily="49" charset="-122"/>
              </a:rPr>
              <a:t>67          </a:t>
            </a:r>
            <a:r>
              <a:rPr lang="en-US" altLang="zh-CN" sz="3600">
                <a:solidFill>
                  <a:srgbClr val="006666"/>
                </a:solidFill>
                <a:ea typeface="楷体_GB2312" pitchFamily="49" charset="-122"/>
              </a:rPr>
              <a:t>←</a:t>
            </a:r>
          </a:p>
        </p:txBody>
      </p:sp>
      <p:sp>
        <p:nvSpPr>
          <p:cNvPr id="108559" name="Rectangle 15"/>
          <p:cNvSpPr>
            <a:spLocks noChangeArrowheads="1"/>
          </p:cNvSpPr>
          <p:nvPr/>
        </p:nvSpPr>
        <p:spPr bwMode="auto">
          <a:xfrm>
            <a:off x="2971800" y="3702050"/>
            <a:ext cx="1327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ea typeface="楷体_GB2312" pitchFamily="49" charset="-122"/>
              </a:rPr>
              <a:t>→</a:t>
            </a:r>
            <a:r>
              <a:rPr lang="en-US" altLang="zh-CN" sz="3600" b="1">
                <a:solidFill>
                  <a:srgbClr val="FF00FF"/>
                </a:solidFill>
                <a:ea typeface="楷体_GB2312" pitchFamily="49" charset="-122"/>
              </a:rPr>
              <a:t>3</a:t>
            </a:r>
            <a:r>
              <a:rPr lang="en-US" altLang="zh-CN" sz="3600">
                <a:ea typeface="楷体_GB2312" pitchFamily="49" charset="-122"/>
              </a:rPr>
              <a:t>69</a:t>
            </a:r>
          </a:p>
        </p:txBody>
      </p:sp>
      <p:sp>
        <p:nvSpPr>
          <p:cNvPr id="108560" name="Rectangle 16"/>
          <p:cNvSpPr>
            <a:spLocks noChangeArrowheads="1"/>
          </p:cNvSpPr>
          <p:nvPr/>
        </p:nvSpPr>
        <p:spPr bwMode="auto">
          <a:xfrm>
            <a:off x="304800" y="5715000"/>
            <a:ext cx="34671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660033"/>
                </a:solidFill>
                <a:ea typeface="楷体_GB2312" pitchFamily="49" charset="-122"/>
              </a:rPr>
              <a:t>p→138→139→167</a:t>
            </a:r>
          </a:p>
        </p:txBody>
      </p:sp>
      <p:sp>
        <p:nvSpPr>
          <p:cNvPr id="108561" name="Rectangle 17"/>
          <p:cNvSpPr>
            <a:spLocks noChangeArrowheads="1"/>
          </p:cNvSpPr>
          <p:nvPr/>
        </p:nvSpPr>
        <p:spPr bwMode="auto">
          <a:xfrm>
            <a:off x="3581400" y="5715000"/>
            <a:ext cx="32416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660033"/>
                </a:solidFill>
                <a:ea typeface="楷体_GB2312" pitchFamily="49" charset="-122"/>
              </a:rPr>
              <a:t>→230→237→239</a:t>
            </a:r>
          </a:p>
        </p:txBody>
      </p:sp>
      <p:sp>
        <p:nvSpPr>
          <p:cNvPr id="108562" name="Rectangle 18"/>
          <p:cNvSpPr>
            <a:spLocks noChangeArrowheads="1"/>
          </p:cNvSpPr>
          <p:nvPr/>
        </p:nvSpPr>
        <p:spPr bwMode="auto">
          <a:xfrm>
            <a:off x="6629400" y="5715000"/>
            <a:ext cx="22225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660033"/>
                </a:solidFill>
                <a:ea typeface="楷体_GB2312" pitchFamily="49" charset="-122"/>
              </a:rPr>
              <a:t>→367→369</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117</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8548"/>
                                        </p:tgtEl>
                                        <p:attrNameLst>
                                          <p:attrName>style.visibility</p:attrName>
                                        </p:attrNameLst>
                                      </p:cBhvr>
                                      <p:to>
                                        <p:strVal val="visible"/>
                                      </p:to>
                                    </p:set>
                                    <p:animEffect transition="in" filter="wipe(left)">
                                      <p:cBhvr>
                                        <p:cTn id="7" dur="500"/>
                                        <p:tgtEl>
                                          <p:spTgt spid="10854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8549"/>
                                        </p:tgtEl>
                                        <p:attrNameLst>
                                          <p:attrName>style.visibility</p:attrName>
                                        </p:attrNameLst>
                                      </p:cBhvr>
                                      <p:to>
                                        <p:strVal val="visible"/>
                                      </p:to>
                                    </p:set>
                                    <p:animEffect transition="in" filter="wipe(left)">
                                      <p:cBhvr>
                                        <p:cTn id="12" dur="500"/>
                                        <p:tgtEl>
                                          <p:spTgt spid="10854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8547"/>
                                        </p:tgtEl>
                                        <p:attrNameLst>
                                          <p:attrName>style.visibility</p:attrName>
                                        </p:attrNameLst>
                                      </p:cBhvr>
                                      <p:to>
                                        <p:strVal val="visible"/>
                                      </p:to>
                                    </p:set>
                                    <p:animEffect transition="in" filter="wipe(left)">
                                      <p:cBhvr>
                                        <p:cTn id="17" dur="500"/>
                                        <p:tgtEl>
                                          <p:spTgt spid="108547"/>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108550"/>
                                        </p:tgtEl>
                                        <p:attrNameLst>
                                          <p:attrName>style.visibility</p:attrName>
                                        </p:attrNameLst>
                                      </p:cBhvr>
                                      <p:to>
                                        <p:strVal val="visible"/>
                                      </p:to>
                                    </p:set>
                                    <p:animEffect transition="in" filter="wipe(left)">
                                      <p:cBhvr>
                                        <p:cTn id="21" dur="500"/>
                                        <p:tgtEl>
                                          <p:spTgt spid="108550"/>
                                        </p:tgtEl>
                                      </p:cBhvr>
                                    </p:animEffec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108551"/>
                                        </p:tgtEl>
                                        <p:attrNameLst>
                                          <p:attrName>style.visibility</p:attrName>
                                        </p:attrNameLst>
                                      </p:cBhvr>
                                      <p:to>
                                        <p:strVal val="visible"/>
                                      </p:to>
                                    </p:set>
                                    <p:animEffect transition="in" filter="wipe(left)">
                                      <p:cBhvr>
                                        <p:cTn id="25" dur="500"/>
                                        <p:tgtEl>
                                          <p:spTgt spid="108551"/>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08555"/>
                                        </p:tgtEl>
                                        <p:attrNameLst>
                                          <p:attrName>style.visibility</p:attrName>
                                        </p:attrNameLst>
                                      </p:cBhvr>
                                      <p:to>
                                        <p:strVal val="visible"/>
                                      </p:to>
                                    </p:set>
                                    <p:animEffect transition="in" filter="wipe(left)">
                                      <p:cBhvr>
                                        <p:cTn id="30" dur="500"/>
                                        <p:tgtEl>
                                          <p:spTgt spid="108555"/>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08556"/>
                                        </p:tgtEl>
                                        <p:attrNameLst>
                                          <p:attrName>style.visibility</p:attrName>
                                        </p:attrNameLst>
                                      </p:cBhvr>
                                      <p:to>
                                        <p:strVal val="visible"/>
                                      </p:to>
                                    </p:set>
                                    <p:animEffect transition="in" filter="wipe(left)">
                                      <p:cBhvr>
                                        <p:cTn id="35" dur="500"/>
                                        <p:tgtEl>
                                          <p:spTgt spid="108556"/>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08552"/>
                                        </p:tgtEl>
                                        <p:attrNameLst>
                                          <p:attrName>style.visibility</p:attrName>
                                        </p:attrNameLst>
                                      </p:cBhvr>
                                      <p:to>
                                        <p:strVal val="visible"/>
                                      </p:to>
                                    </p:set>
                                    <p:animEffect transition="in" filter="wipe(left)">
                                      <p:cBhvr>
                                        <p:cTn id="40" dur="500"/>
                                        <p:tgtEl>
                                          <p:spTgt spid="108552"/>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08557"/>
                                        </p:tgtEl>
                                        <p:attrNameLst>
                                          <p:attrName>style.visibility</p:attrName>
                                        </p:attrNameLst>
                                      </p:cBhvr>
                                      <p:to>
                                        <p:strVal val="visible"/>
                                      </p:to>
                                    </p:set>
                                    <p:animEffect transition="in" filter="wipe(left)">
                                      <p:cBhvr>
                                        <p:cTn id="45" dur="500"/>
                                        <p:tgtEl>
                                          <p:spTgt spid="108557"/>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08553"/>
                                        </p:tgtEl>
                                        <p:attrNameLst>
                                          <p:attrName>style.visibility</p:attrName>
                                        </p:attrNameLst>
                                      </p:cBhvr>
                                      <p:to>
                                        <p:strVal val="visible"/>
                                      </p:to>
                                    </p:set>
                                    <p:animEffect transition="in" filter="wipe(left)">
                                      <p:cBhvr>
                                        <p:cTn id="50" dur="500"/>
                                        <p:tgtEl>
                                          <p:spTgt spid="108553"/>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08558"/>
                                        </p:tgtEl>
                                        <p:attrNameLst>
                                          <p:attrName>style.visibility</p:attrName>
                                        </p:attrNameLst>
                                      </p:cBhvr>
                                      <p:to>
                                        <p:strVal val="visible"/>
                                      </p:to>
                                    </p:set>
                                    <p:animEffect transition="in" filter="wipe(left)">
                                      <p:cBhvr>
                                        <p:cTn id="55" dur="500"/>
                                        <p:tgtEl>
                                          <p:spTgt spid="108558"/>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108554"/>
                                        </p:tgtEl>
                                        <p:attrNameLst>
                                          <p:attrName>style.visibility</p:attrName>
                                        </p:attrNameLst>
                                      </p:cBhvr>
                                      <p:to>
                                        <p:strVal val="visible"/>
                                      </p:to>
                                    </p:set>
                                    <p:animEffect transition="in" filter="wipe(left)">
                                      <p:cBhvr>
                                        <p:cTn id="60" dur="500"/>
                                        <p:tgtEl>
                                          <p:spTgt spid="108554"/>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108559"/>
                                        </p:tgtEl>
                                        <p:attrNameLst>
                                          <p:attrName>style.visibility</p:attrName>
                                        </p:attrNameLst>
                                      </p:cBhvr>
                                      <p:to>
                                        <p:strVal val="visible"/>
                                      </p:to>
                                    </p:set>
                                    <p:animEffect transition="in" filter="wipe(left)">
                                      <p:cBhvr>
                                        <p:cTn id="65" dur="500"/>
                                        <p:tgtEl>
                                          <p:spTgt spid="108559"/>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108546"/>
                                        </p:tgtEl>
                                        <p:attrNameLst>
                                          <p:attrName>style.visibility</p:attrName>
                                        </p:attrNameLst>
                                      </p:cBhvr>
                                      <p:to>
                                        <p:strVal val="visible"/>
                                      </p:to>
                                    </p:set>
                                    <p:animEffect transition="in" filter="wipe(left)">
                                      <p:cBhvr>
                                        <p:cTn id="70" dur="500"/>
                                        <p:tgtEl>
                                          <p:spTgt spid="108546"/>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108560"/>
                                        </p:tgtEl>
                                        <p:attrNameLst>
                                          <p:attrName>style.visibility</p:attrName>
                                        </p:attrNameLst>
                                      </p:cBhvr>
                                      <p:to>
                                        <p:strVal val="visible"/>
                                      </p:to>
                                    </p:set>
                                    <p:animEffect transition="in" filter="wipe(left)">
                                      <p:cBhvr>
                                        <p:cTn id="75" dur="500"/>
                                        <p:tgtEl>
                                          <p:spTgt spid="108560"/>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108561"/>
                                        </p:tgtEl>
                                        <p:attrNameLst>
                                          <p:attrName>style.visibility</p:attrName>
                                        </p:attrNameLst>
                                      </p:cBhvr>
                                      <p:to>
                                        <p:strVal val="visible"/>
                                      </p:to>
                                    </p:set>
                                    <p:animEffect transition="in" filter="wipe(left)">
                                      <p:cBhvr>
                                        <p:cTn id="80" dur="500"/>
                                        <p:tgtEl>
                                          <p:spTgt spid="108561"/>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108562"/>
                                        </p:tgtEl>
                                        <p:attrNameLst>
                                          <p:attrName>style.visibility</p:attrName>
                                        </p:attrNameLst>
                                      </p:cBhvr>
                                      <p:to>
                                        <p:strVal val="visible"/>
                                      </p:to>
                                    </p:set>
                                    <p:animEffect transition="in" filter="wipe(left)">
                                      <p:cBhvr>
                                        <p:cTn id="85" dur="500"/>
                                        <p:tgtEl>
                                          <p:spTgt spid="1085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6" grpId="0" bldLvl="0" animBg="1" autoUpdateAnimBg="0"/>
      <p:bldP spid="108547" grpId="0" autoUpdateAnimBg="0"/>
      <p:bldP spid="108548" grpId="0" autoUpdateAnimBg="0"/>
      <p:bldP spid="108549" grpId="0" bldLvl="0" animBg="1" autoUpdateAnimBg="0"/>
      <p:bldP spid="108550" grpId="0" autoUpdateAnimBg="0"/>
      <p:bldP spid="108551" grpId="0" autoUpdateAnimBg="0"/>
      <p:bldP spid="108552" grpId="0" autoUpdateAnimBg="0"/>
      <p:bldP spid="108553" grpId="0" autoUpdateAnimBg="0"/>
      <p:bldP spid="108554" grpId="0" autoUpdateAnimBg="0"/>
      <p:bldP spid="108555" grpId="0" autoUpdateAnimBg="0"/>
      <p:bldP spid="108556" grpId="0" autoUpdateAnimBg="0"/>
      <p:bldP spid="108557" grpId="0" autoUpdateAnimBg="0"/>
      <p:bldP spid="108558" grpId="0" autoUpdateAnimBg="0"/>
      <p:bldP spid="108559" grpId="0" autoUpdateAnimBg="0"/>
      <p:bldP spid="108560" grpId="0" autoUpdateAnimBg="0"/>
      <p:bldP spid="108561" grpId="0" autoUpdateAnimBg="0"/>
      <p:bldP spid="108562" grpId="0" autoUpdateAnimBg="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ext Box 2"/>
          <p:cNvSpPr txBox="1">
            <a:spLocks noChangeArrowheads="1"/>
          </p:cNvSpPr>
          <p:nvPr/>
        </p:nvSpPr>
        <p:spPr bwMode="auto">
          <a:xfrm>
            <a:off x="0" y="1143000"/>
            <a:ext cx="9228455"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3200" b="1">
                <a:solidFill>
                  <a:srgbClr val="000080"/>
                </a:solidFill>
                <a:latin typeface="Arial" panose="020B0604020202020204" pitchFamily="34" charset="0"/>
                <a:ea typeface="楷体_GB2312" pitchFamily="49" charset="-122"/>
                <a:cs typeface="Arial" panose="020B0604020202020204" pitchFamily="34" charset="0"/>
              </a:rPr>
              <a:t>The time complexity of radix sort is </a:t>
            </a:r>
            <a:r>
              <a:rPr lang="en-US" altLang="zh-CN" sz="3200" b="1">
                <a:solidFill>
                  <a:schemeClr val="accent2"/>
                </a:solidFill>
                <a:latin typeface="Arial" panose="020B0604020202020204" pitchFamily="34" charset="0"/>
                <a:ea typeface="楷体_GB2312" pitchFamily="49" charset="-122"/>
                <a:cs typeface="Arial" panose="020B0604020202020204" pitchFamily="34" charset="0"/>
                <a:sym typeface="+mn-ea"/>
              </a:rPr>
              <a:t>O(d(n+rd))</a:t>
            </a:r>
            <a:r>
              <a:rPr lang="zh-CN" altLang="en-US" sz="3200" b="1">
                <a:solidFill>
                  <a:srgbClr val="000080"/>
                </a:solidFill>
                <a:latin typeface="Arial" panose="020B0604020202020204" pitchFamily="34" charset="0"/>
                <a:ea typeface="楷体_GB2312" pitchFamily="49" charset="-122"/>
                <a:cs typeface="Arial" panose="020B0604020202020204" pitchFamily="34" charset="0"/>
              </a:rPr>
              <a:t>.</a:t>
            </a:r>
            <a:endParaRPr lang="en-US" altLang="zh-CN" sz="3200">
              <a:latin typeface="Arial" panose="020B0604020202020204" pitchFamily="34" charset="0"/>
              <a:ea typeface="楷体_GB2312" pitchFamily="49" charset="-122"/>
              <a:cs typeface="Arial" panose="020B0604020202020204" pitchFamily="34" charset="0"/>
            </a:endParaRPr>
          </a:p>
        </p:txBody>
      </p:sp>
      <p:sp>
        <p:nvSpPr>
          <p:cNvPr id="110595" name="Text Box 3"/>
          <p:cNvSpPr txBox="1">
            <a:spLocks noChangeArrowheads="1"/>
          </p:cNvSpPr>
          <p:nvPr/>
        </p:nvSpPr>
        <p:spPr bwMode="auto">
          <a:xfrm>
            <a:off x="609600" y="2436813"/>
            <a:ext cx="7762875" cy="2030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50000"/>
              </a:lnSpc>
            </a:pPr>
            <a:r>
              <a:rPr lang="zh-CN" altLang="en-US">
                <a:latin typeface="Arial" panose="020B0604020202020204" pitchFamily="34" charset="0"/>
                <a:ea typeface="楷体_GB2312" pitchFamily="49" charset="-122"/>
                <a:cs typeface="Arial" panose="020B0604020202020204" pitchFamily="34" charset="0"/>
              </a:rPr>
              <a:t>Among them: allocation is </a:t>
            </a:r>
            <a:r>
              <a:rPr lang="en-US" altLang="zh-CN">
                <a:solidFill>
                  <a:srgbClr val="9933FF"/>
                </a:solidFill>
                <a:latin typeface="Arial" panose="020B0604020202020204" pitchFamily="34" charset="0"/>
                <a:ea typeface="楷体_GB2312" pitchFamily="49" charset="-122"/>
                <a:cs typeface="Arial" panose="020B0604020202020204" pitchFamily="34" charset="0"/>
                <a:sym typeface="+mn-ea"/>
              </a:rPr>
              <a:t>O(n)</a:t>
            </a:r>
            <a:endParaRPr lang="en-US" altLang="zh-CN">
              <a:latin typeface="Arial" panose="020B0604020202020204" pitchFamily="34" charset="0"/>
              <a:ea typeface="楷体_GB2312" pitchFamily="49" charset="-122"/>
              <a:cs typeface="Arial" panose="020B0604020202020204" pitchFamily="34" charset="0"/>
            </a:endParaRPr>
          </a:p>
          <a:p>
            <a:pPr algn="l">
              <a:lnSpc>
                <a:spcPct val="150000"/>
              </a:lnSpc>
            </a:pPr>
            <a:r>
              <a:rPr lang="zh-CN" altLang="en-US">
                <a:latin typeface="Arial" panose="020B0604020202020204" pitchFamily="34" charset="0"/>
                <a:ea typeface="楷体_GB2312" pitchFamily="49" charset="-122"/>
                <a:cs typeface="Arial" panose="020B0604020202020204" pitchFamily="34" charset="0"/>
              </a:rPr>
              <a:t>Collects in </a:t>
            </a:r>
            <a:r>
              <a:rPr lang="en-US" altLang="zh-CN">
                <a:solidFill>
                  <a:srgbClr val="9900CC"/>
                </a:solidFill>
                <a:latin typeface="Arial" panose="020B0604020202020204" pitchFamily="34" charset="0"/>
                <a:ea typeface="楷体_GB2312" pitchFamily="49" charset="-122"/>
                <a:cs typeface="Arial" panose="020B0604020202020204" pitchFamily="34" charset="0"/>
              </a:rPr>
              <a:t>O(rd)</a:t>
            </a:r>
            <a:r>
              <a:rPr lang="zh-CN" altLang="en-US">
                <a:latin typeface="Arial" panose="020B0604020202020204" pitchFamily="34" charset="0"/>
                <a:ea typeface="楷体_GB2312" pitchFamily="49" charset="-122"/>
                <a:cs typeface="Arial" panose="020B0604020202020204" pitchFamily="34" charset="0"/>
              </a:rPr>
              <a:t> (rd is "base")</a:t>
            </a:r>
            <a:endParaRPr lang="en-US" altLang="zh-CN">
              <a:latin typeface="Arial" panose="020B0604020202020204" pitchFamily="34" charset="0"/>
              <a:ea typeface="楷体_GB2312" pitchFamily="49" charset="-122"/>
              <a:cs typeface="Arial" panose="020B0604020202020204" pitchFamily="34" charset="0"/>
            </a:endParaRPr>
          </a:p>
          <a:p>
            <a:pPr algn="l">
              <a:lnSpc>
                <a:spcPct val="150000"/>
              </a:lnSpc>
            </a:pPr>
            <a:r>
              <a:rPr lang="en-US" altLang="zh-CN">
                <a:solidFill>
                  <a:srgbClr val="9900CC"/>
                </a:solidFill>
                <a:latin typeface="Arial" panose="020B0604020202020204" pitchFamily="34" charset="0"/>
                <a:ea typeface="楷体_GB2312" pitchFamily="49" charset="-122"/>
                <a:cs typeface="Arial" panose="020B0604020202020204" pitchFamily="34" charset="0"/>
              </a:rPr>
              <a:t>d </a:t>
            </a:r>
            <a:r>
              <a:rPr lang="zh-CN" altLang="en-US">
                <a:latin typeface="Arial" panose="020B0604020202020204" pitchFamily="34" charset="0"/>
                <a:ea typeface="楷体_GB2312" pitchFamily="49" charset="-122"/>
                <a:cs typeface="Arial" panose="020B0604020202020204" pitchFamily="34" charset="0"/>
              </a:rPr>
              <a:t>is the number of trips for "allocation-collection"</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118</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0594"/>
                                        </p:tgtEl>
                                        <p:attrNameLst>
                                          <p:attrName>style.visibility</p:attrName>
                                        </p:attrNameLst>
                                      </p:cBhvr>
                                      <p:to>
                                        <p:strVal val="visible"/>
                                      </p:to>
                                    </p:set>
                                    <p:animEffect transition="in" filter="wipe(left)">
                                      <p:cBhvr>
                                        <p:cTn id="7" dur="500"/>
                                        <p:tgtEl>
                                          <p:spTgt spid="11059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0595"/>
                                        </p:tgtEl>
                                        <p:attrNameLst>
                                          <p:attrName>style.visibility</p:attrName>
                                        </p:attrNameLst>
                                      </p:cBhvr>
                                      <p:to>
                                        <p:strVal val="visible"/>
                                      </p:to>
                                    </p:set>
                                    <p:animEffect transition="in" filter="dissolve">
                                      <p:cBhvr>
                                        <p:cTn id="12" dur="500"/>
                                        <p:tgtEl>
                                          <p:spTgt spid="1105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4" grpId="0" bldLvl="0" animBg="1" autoUpdateAnimBg="0"/>
      <p:bldP spid="110595" grpId="0" bldLvl="0" animBg="1" autoUpdateAnimBg="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0" y="116632"/>
            <a:ext cx="7200800" cy="720080"/>
          </a:xfrm>
        </p:spPr>
        <p:txBody>
          <a:bodyPr/>
          <a:lstStyle/>
          <a:p>
            <a:r>
              <a:rPr altLang="zh-CN">
                <a:effectLst/>
                <a:sym typeface="+mn-ea"/>
              </a:rPr>
              <a:t>Chapter Contents</a:t>
            </a:r>
            <a:endParaRPr lang="zh-CN" altLang="en-US" dirty="0">
              <a:ea typeface="宋体" panose="02010600030101010101" pitchFamily="2" charset="-122"/>
              <a:cs typeface="Arial" panose="020B0604020202020204" pitchFamily="34" charset="0"/>
            </a:endParaRPr>
          </a:p>
        </p:txBody>
      </p:sp>
      <p:sp>
        <p:nvSpPr>
          <p:cNvPr id="3" name="内容占位符 2"/>
          <p:cNvSpPr>
            <a:spLocks noGrp="1"/>
          </p:cNvSpPr>
          <p:nvPr>
            <p:ph idx="1"/>
          </p:nvPr>
        </p:nvSpPr>
        <p:spPr>
          <a:xfrm>
            <a:off x="251520" y="836712"/>
            <a:ext cx="8640960" cy="5544616"/>
          </a:xfrm>
        </p:spPr>
        <p:txBody>
          <a:bodyPr/>
          <a:lstStyle/>
          <a:p>
            <a:r>
              <a:rPr lang="en-US" altLang="zh-CN" b="1" dirty="0">
                <a:cs typeface="Arial" panose="020B0604020202020204" pitchFamily="34" charset="0"/>
              </a:rPr>
              <a:t>I</a:t>
            </a:r>
            <a:r>
              <a:rPr lang="zh-CN" altLang="en-US" b="1" dirty="0">
                <a:cs typeface="Arial" panose="020B0604020202020204" pitchFamily="34" charset="0"/>
              </a:rPr>
              <a:t>nsertion </a:t>
            </a:r>
            <a:r>
              <a:rPr lang="en-US" altLang="zh-CN" b="1" dirty="0">
                <a:cs typeface="Arial" panose="020B0604020202020204" pitchFamily="34" charset="0"/>
              </a:rPr>
              <a:t>S</a:t>
            </a:r>
            <a:r>
              <a:rPr lang="zh-CN" altLang="en-US" b="1" dirty="0">
                <a:cs typeface="Arial" panose="020B0604020202020204" pitchFamily="34" charset="0"/>
              </a:rPr>
              <a:t>ort</a:t>
            </a:r>
            <a:endParaRPr lang="en-US" altLang="zh-CN" b="1" dirty="0">
              <a:cs typeface="Arial" panose="020B0604020202020204" pitchFamily="34" charset="0"/>
            </a:endParaRPr>
          </a:p>
          <a:p>
            <a:r>
              <a:rPr lang="zh-CN" altLang="en-US" b="1" dirty="0">
                <a:cs typeface="Arial" panose="020B0604020202020204" pitchFamily="34" charset="0"/>
              </a:rPr>
              <a:t>Exchange </a:t>
            </a:r>
            <a:r>
              <a:rPr lang="en-US" altLang="zh-CN" b="1" dirty="0">
                <a:cs typeface="Arial" panose="020B0604020202020204" pitchFamily="34" charset="0"/>
              </a:rPr>
              <a:t>S</a:t>
            </a:r>
            <a:r>
              <a:rPr lang="zh-CN" altLang="en-US" b="1" dirty="0">
                <a:cs typeface="Arial" panose="020B0604020202020204" pitchFamily="34" charset="0"/>
              </a:rPr>
              <a:t>ort </a:t>
            </a:r>
            <a:r>
              <a:rPr lang="en-US" altLang="zh-CN" b="1" dirty="0">
                <a:cs typeface="Arial" panose="020B0604020202020204" pitchFamily="34" charset="0"/>
              </a:rPr>
              <a:t> </a:t>
            </a:r>
          </a:p>
          <a:p>
            <a:r>
              <a:rPr lang="en-US" altLang="zh-CN" b="1" dirty="0">
                <a:cs typeface="Arial" panose="020B0604020202020204" pitchFamily="34" charset="0"/>
              </a:rPr>
              <a:t>Selection Sort</a:t>
            </a:r>
            <a:r>
              <a:rPr lang="zh-CN" altLang="en-US" b="1" dirty="0">
                <a:cs typeface="Arial" panose="020B0604020202020204" pitchFamily="34" charset="0"/>
              </a:rPr>
              <a:t> </a:t>
            </a:r>
            <a:r>
              <a:rPr lang="en-US" altLang="zh-CN" b="1" dirty="0">
                <a:cs typeface="Arial" panose="020B0604020202020204" pitchFamily="34" charset="0"/>
              </a:rPr>
              <a:t> </a:t>
            </a:r>
          </a:p>
          <a:p>
            <a:r>
              <a:rPr lang="en-US" altLang="zh-CN" b="1" dirty="0">
                <a:cs typeface="Arial" panose="020B0604020202020204" pitchFamily="34" charset="0"/>
              </a:rPr>
              <a:t>M</a:t>
            </a:r>
            <a:r>
              <a:rPr lang="zh-CN" altLang="en-US" b="1" dirty="0">
                <a:cs typeface="Arial" panose="020B0604020202020204" pitchFamily="34" charset="0"/>
              </a:rPr>
              <a:t>erge </a:t>
            </a:r>
            <a:r>
              <a:rPr lang="en-US" altLang="zh-CN" b="1" dirty="0">
                <a:cs typeface="Arial" panose="020B0604020202020204" pitchFamily="34" charset="0"/>
              </a:rPr>
              <a:t>S</a:t>
            </a:r>
            <a:r>
              <a:rPr lang="zh-CN" altLang="en-US" b="1" dirty="0">
                <a:cs typeface="Arial" panose="020B0604020202020204" pitchFamily="34" charset="0"/>
              </a:rPr>
              <a:t>ort</a:t>
            </a:r>
            <a:endParaRPr lang="en-US" altLang="zh-CN" b="1" dirty="0">
              <a:cs typeface="Arial" panose="020B0604020202020204" pitchFamily="34" charset="0"/>
            </a:endParaRPr>
          </a:p>
          <a:p>
            <a:r>
              <a:rPr lang="zh-CN" altLang="en-US" b="1" dirty="0">
                <a:cs typeface="Arial" panose="020B0604020202020204" pitchFamily="34" charset="0"/>
              </a:rPr>
              <a:t>Radix Sorting</a:t>
            </a:r>
          </a:p>
          <a:p>
            <a:r>
              <a:rPr lang="zh-CN" altLang="en-US" b="1" dirty="0">
                <a:solidFill>
                  <a:srgbClr val="FF0000"/>
                </a:solidFill>
                <a:cs typeface="Arial" panose="020B0604020202020204" pitchFamily="34" charset="0"/>
              </a:rPr>
              <a:t>A Comprehensive Comparison of Various Sorting Methods</a:t>
            </a:r>
          </a:p>
          <a:p>
            <a:r>
              <a:rPr lang="en-US" altLang="zh-CN" dirty="0">
                <a:cs typeface="Arial" panose="020B0604020202020204" pitchFamily="34" charset="0"/>
              </a:rPr>
              <a:t>E</a:t>
            </a:r>
            <a:r>
              <a:rPr lang="zh-CN" altLang="en-US" dirty="0">
                <a:cs typeface="Arial" panose="020B0604020202020204" pitchFamily="34" charset="0"/>
              </a:rPr>
              <a:t>xternal </a:t>
            </a:r>
            <a:r>
              <a:rPr lang="en-US" altLang="zh-CN" dirty="0">
                <a:cs typeface="Arial" panose="020B0604020202020204" pitchFamily="34" charset="0"/>
              </a:rPr>
              <a:t>S</a:t>
            </a:r>
            <a:r>
              <a:rPr lang="zh-CN" altLang="en-US" dirty="0">
                <a:cs typeface="Arial" panose="020B0604020202020204" pitchFamily="34" charset="0"/>
              </a:rPr>
              <a:t>ort</a:t>
            </a:r>
          </a:p>
        </p:txBody>
      </p:sp>
      <p:sp>
        <p:nvSpPr>
          <p:cNvPr id="4" name="页脚占位符 3"/>
          <p:cNvSpPr>
            <a:spLocks noGrp="1"/>
          </p:cNvSpPr>
          <p:nvPr>
            <p:ph type="ftr" sz="quarter" idx="10"/>
          </p:nvPr>
        </p:nvSpPr>
        <p:spPr/>
        <p:txBody>
          <a:bodyPr/>
          <a:lstStyle/>
          <a:p>
            <a:pPr>
              <a:defRPr/>
            </a:pPr>
            <a:r>
              <a:rPr lang="en-US" altLang="zh-CN"/>
              <a:t>@ Zhihai Wang, 2025</a:t>
            </a:r>
            <a:endParaRPr lang="en-US" altLang="zh-CN" dirty="0"/>
          </a:p>
        </p:txBody>
      </p:sp>
      <p:sp>
        <p:nvSpPr>
          <p:cNvPr id="5" name="灯片编号占位符 4"/>
          <p:cNvSpPr>
            <a:spLocks noGrp="1"/>
          </p:cNvSpPr>
          <p:nvPr>
            <p:ph type="sldNum" sz="quarter" idx="11"/>
          </p:nvPr>
        </p:nvSpPr>
        <p:spPr/>
        <p:txBody>
          <a:bodyPr/>
          <a:lstStyle/>
          <a:p>
            <a:pPr>
              <a:defRPr/>
            </a:pPr>
            <a:fld id="{B40C3BFD-24D0-4966-81A9-4BDD3454C069}" type="slidenum">
              <a:rPr lang="en-US" altLang="zh-CN" smtClean="0"/>
              <a:t>119</a:t>
            </a:fld>
            <a:endParaRPr lang="en-US" altLang="zh-CN"/>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ext Box 2"/>
          <p:cNvSpPr txBox="1">
            <a:spLocks noChangeArrowheads="1"/>
          </p:cNvSpPr>
          <p:nvPr/>
        </p:nvSpPr>
        <p:spPr bwMode="auto">
          <a:xfrm>
            <a:off x="-51911" y="652463"/>
            <a:ext cx="9103360" cy="138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150000"/>
              </a:lnSpc>
            </a:pPr>
            <a:r>
              <a:rPr lang="en-US" altLang="zh-CN" b="1">
                <a:ea typeface="楷体_GB2312" pitchFamily="49" charset="-122"/>
              </a:rPr>
              <a:t>10.7</a:t>
            </a:r>
          </a:p>
          <a:p>
            <a:pPr algn="ctr">
              <a:lnSpc>
                <a:spcPct val="150000"/>
              </a:lnSpc>
            </a:pPr>
            <a:r>
              <a:rPr lang="zh-CN" altLang="en-US" b="1">
                <a:ea typeface="楷体_GB2312" pitchFamily="49" charset="-122"/>
              </a:rPr>
              <a:t>A Comprehensive Comparison of Various Sorting Methods</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120</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11618"/>
                                        </p:tgtEl>
                                        <p:attrNameLst>
                                          <p:attrName>style.visibility</p:attrName>
                                        </p:attrNameLst>
                                      </p:cBhvr>
                                      <p:to>
                                        <p:strVal val="visible"/>
                                      </p:to>
                                    </p:set>
                                    <p:animEffect transition="in" filter="dissolve">
                                      <p:cBhvr>
                                        <p:cTn id="7" dur="500"/>
                                        <p:tgtEl>
                                          <p:spTgt spid="1116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8" grpId="0" bldLvl="0" animBg="1" autoUpdateAnimBg="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Text Box 2"/>
          <p:cNvSpPr txBox="1">
            <a:spLocks noChangeArrowheads="1"/>
          </p:cNvSpPr>
          <p:nvPr/>
        </p:nvSpPr>
        <p:spPr bwMode="auto">
          <a:xfrm>
            <a:off x="0" y="0"/>
            <a:ext cx="4383088"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a:latin typeface="Arial" panose="020B0604020202020204" pitchFamily="34" charset="0"/>
                <a:ea typeface="楷体_GB2312" pitchFamily="49" charset="-122"/>
                <a:cs typeface="Arial" panose="020B0604020202020204" pitchFamily="34" charset="0"/>
              </a:rPr>
              <a:t>I. Time Performance</a:t>
            </a:r>
          </a:p>
        </p:txBody>
      </p:sp>
      <p:sp>
        <p:nvSpPr>
          <p:cNvPr id="112643" name="Text Box 3"/>
          <p:cNvSpPr txBox="1">
            <a:spLocks noChangeArrowheads="1"/>
          </p:cNvSpPr>
          <p:nvPr/>
        </p:nvSpPr>
        <p:spPr bwMode="auto">
          <a:xfrm>
            <a:off x="-304800" y="1475423"/>
            <a:ext cx="5562600" cy="553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2">
              <a:lnSpc>
                <a:spcPct val="125000"/>
              </a:lnSpc>
            </a:pPr>
            <a:r>
              <a:rPr lang="en-US" altLang="zh-CN" sz="2400" b="1">
                <a:latin typeface="Arial" panose="020B0604020202020204" pitchFamily="34" charset="0"/>
                <a:ea typeface="楷体_GB2312" pitchFamily="49" charset="-122"/>
                <a:cs typeface="Arial" panose="020B0604020202020204" pitchFamily="34" charset="0"/>
              </a:rPr>
              <a:t>1.</a:t>
            </a:r>
            <a:r>
              <a:rPr lang="zh-CN" altLang="en-US" sz="2400" b="1">
                <a:latin typeface="Arial" panose="020B0604020202020204" pitchFamily="34" charset="0"/>
                <a:ea typeface="楷体_GB2312" pitchFamily="49" charset="-122"/>
                <a:cs typeface="Arial" panose="020B0604020202020204" pitchFamily="34" charset="0"/>
              </a:rPr>
              <a:t>average time performance</a:t>
            </a:r>
            <a:endParaRPr lang="zh-CN" altLang="en-US" sz="2400">
              <a:latin typeface="Arial" panose="020B0604020202020204" pitchFamily="34" charset="0"/>
              <a:ea typeface="楷体_GB2312" pitchFamily="49" charset="-122"/>
              <a:cs typeface="Arial" panose="020B0604020202020204" pitchFamily="34" charset="0"/>
            </a:endParaRPr>
          </a:p>
        </p:txBody>
      </p:sp>
      <p:sp>
        <p:nvSpPr>
          <p:cNvPr id="112644" name="Rectangle 4"/>
          <p:cNvSpPr>
            <a:spLocks noChangeArrowheads="1"/>
          </p:cNvSpPr>
          <p:nvPr/>
        </p:nvSpPr>
        <p:spPr bwMode="auto">
          <a:xfrm>
            <a:off x="1259840" y="5838825"/>
            <a:ext cx="3946525" cy="629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lvl="2">
              <a:lnSpc>
                <a:spcPct val="125000"/>
              </a:lnSpc>
            </a:pPr>
            <a:r>
              <a:rPr lang="zh-CN" altLang="en-US" b="1">
                <a:latin typeface="Arial" panose="020B0604020202020204" pitchFamily="34" charset="0"/>
                <a:ea typeface="楷体_GB2312" pitchFamily="49" charset="-122"/>
                <a:cs typeface="Arial" panose="020B0604020202020204" pitchFamily="34" charset="0"/>
              </a:rPr>
              <a:t>radix sorting</a:t>
            </a:r>
          </a:p>
        </p:txBody>
      </p:sp>
      <p:sp>
        <p:nvSpPr>
          <p:cNvPr id="112645" name="Rectangle 5"/>
          <p:cNvSpPr>
            <a:spLocks noChangeArrowheads="1"/>
          </p:cNvSpPr>
          <p:nvPr/>
        </p:nvSpPr>
        <p:spPr bwMode="auto">
          <a:xfrm>
            <a:off x="1143000" y="2101850"/>
            <a:ext cx="435800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400" b="1">
                <a:solidFill>
                  <a:srgbClr val="990000"/>
                </a:solidFill>
                <a:latin typeface="Arial" panose="020B0604020202020204" pitchFamily="34" charset="0"/>
                <a:ea typeface="隶书" panose="02010509060101010101" pitchFamily="49" charset="-122"/>
                <a:cs typeface="Arial" panose="020B0604020202020204" pitchFamily="34" charset="0"/>
              </a:rPr>
              <a:t>Time complexity is </a:t>
            </a:r>
            <a:r>
              <a:rPr lang="en-US" altLang="zh-CN" sz="2400" b="1">
                <a:solidFill>
                  <a:srgbClr val="990000"/>
                </a:solidFill>
                <a:latin typeface="Arial" panose="020B0604020202020204" pitchFamily="34" charset="0"/>
                <a:ea typeface="楷体_GB2312" pitchFamily="49" charset="-122"/>
                <a:cs typeface="Arial" panose="020B0604020202020204" pitchFamily="34" charset="0"/>
                <a:sym typeface="+mn-ea"/>
              </a:rPr>
              <a:t>O(</a:t>
            </a:r>
            <a:r>
              <a:rPr lang="en-US" altLang="zh-CN" sz="2400" b="1" i="1">
                <a:solidFill>
                  <a:srgbClr val="990000"/>
                </a:solidFill>
                <a:latin typeface="Arial" panose="020B0604020202020204" pitchFamily="34" charset="0"/>
                <a:ea typeface="楷体_GB2312" pitchFamily="49" charset="-122"/>
                <a:cs typeface="Arial" panose="020B0604020202020204" pitchFamily="34" charset="0"/>
                <a:sym typeface="+mn-ea"/>
              </a:rPr>
              <a:t>n</a:t>
            </a:r>
            <a:r>
              <a:rPr lang="en-US" altLang="zh-CN" sz="2400" b="1">
                <a:solidFill>
                  <a:srgbClr val="990000"/>
                </a:solidFill>
                <a:latin typeface="Arial" panose="020B0604020202020204" pitchFamily="34" charset="0"/>
                <a:ea typeface="楷体_GB2312" pitchFamily="49" charset="-122"/>
                <a:cs typeface="Arial" panose="020B0604020202020204" pitchFamily="34" charset="0"/>
                <a:sym typeface="+mn-ea"/>
              </a:rPr>
              <a:t>log</a:t>
            </a:r>
            <a:r>
              <a:rPr lang="en-US" altLang="zh-CN" sz="2400" b="1" i="1">
                <a:solidFill>
                  <a:srgbClr val="990000"/>
                </a:solidFill>
                <a:latin typeface="Arial" panose="020B0604020202020204" pitchFamily="34" charset="0"/>
                <a:ea typeface="楷体_GB2312" pitchFamily="49" charset="-122"/>
                <a:cs typeface="Arial" panose="020B0604020202020204" pitchFamily="34" charset="0"/>
                <a:sym typeface="+mn-ea"/>
              </a:rPr>
              <a:t>n</a:t>
            </a:r>
            <a:r>
              <a:rPr lang="en-US" altLang="zh-CN" sz="2400" b="1">
                <a:solidFill>
                  <a:srgbClr val="990000"/>
                </a:solidFill>
                <a:latin typeface="Arial" panose="020B0604020202020204" pitchFamily="34" charset="0"/>
                <a:ea typeface="楷体_GB2312" pitchFamily="49" charset="-122"/>
                <a:cs typeface="Arial" panose="020B0604020202020204" pitchFamily="34" charset="0"/>
                <a:sym typeface="+mn-ea"/>
              </a:rPr>
              <a:t>)</a:t>
            </a:r>
            <a:r>
              <a:rPr lang="zh-CN" altLang="en-US" sz="2400" b="1">
                <a:solidFill>
                  <a:srgbClr val="990000"/>
                </a:solidFill>
                <a:latin typeface="Arial" panose="020B0604020202020204" pitchFamily="34" charset="0"/>
                <a:ea typeface="隶书" panose="02010509060101010101" pitchFamily="49" charset="-122"/>
                <a:cs typeface="Arial" panose="020B0604020202020204" pitchFamily="34" charset="0"/>
              </a:rPr>
              <a:t>:</a:t>
            </a:r>
            <a:endParaRPr lang="zh-CN" altLang="en-US" sz="2400">
              <a:latin typeface="Arial" panose="020B0604020202020204" pitchFamily="34" charset="0"/>
              <a:ea typeface="楷体_GB2312" pitchFamily="49" charset="-122"/>
              <a:cs typeface="Arial" panose="020B0604020202020204" pitchFamily="34" charset="0"/>
            </a:endParaRPr>
          </a:p>
        </p:txBody>
      </p:sp>
      <p:sp>
        <p:nvSpPr>
          <p:cNvPr id="112646" name="Rectangle 6"/>
          <p:cNvSpPr>
            <a:spLocks noChangeArrowheads="1"/>
          </p:cNvSpPr>
          <p:nvPr/>
        </p:nvSpPr>
        <p:spPr bwMode="auto">
          <a:xfrm>
            <a:off x="1143000" y="2727325"/>
            <a:ext cx="7029450" cy="553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2">
              <a:lnSpc>
                <a:spcPct val="125000"/>
              </a:lnSpc>
            </a:pPr>
            <a:r>
              <a:rPr lang="zh-CN" altLang="en-US" sz="2400" b="1">
                <a:latin typeface="Arial" panose="020B0604020202020204" pitchFamily="34" charset="0"/>
                <a:ea typeface="楷体_GB2312" pitchFamily="49" charset="-122"/>
                <a:cs typeface="Arial" panose="020B0604020202020204" pitchFamily="34" charset="0"/>
              </a:rPr>
              <a:t>Quick sort, heap sort, and merge sort</a:t>
            </a:r>
          </a:p>
        </p:txBody>
      </p:sp>
      <p:sp>
        <p:nvSpPr>
          <p:cNvPr id="112647" name="Rectangle 7"/>
          <p:cNvSpPr>
            <a:spLocks noChangeArrowheads="1"/>
          </p:cNvSpPr>
          <p:nvPr/>
        </p:nvSpPr>
        <p:spPr bwMode="auto">
          <a:xfrm>
            <a:off x="1143000" y="3473450"/>
            <a:ext cx="381698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rgbClr val="990000"/>
                </a:solidFill>
                <a:latin typeface="Arial" panose="020B0604020202020204" pitchFamily="34" charset="0"/>
                <a:ea typeface="隶书" panose="02010509060101010101" pitchFamily="49" charset="-122"/>
                <a:cs typeface="Arial" panose="020B0604020202020204" pitchFamily="34" charset="0"/>
              </a:rPr>
              <a:t>Time complexity is O(n²):</a:t>
            </a:r>
          </a:p>
        </p:txBody>
      </p:sp>
      <p:sp>
        <p:nvSpPr>
          <p:cNvPr id="112648" name="Rectangle 8"/>
          <p:cNvSpPr>
            <a:spLocks noChangeArrowheads="1"/>
          </p:cNvSpPr>
          <p:nvPr/>
        </p:nvSpPr>
        <p:spPr bwMode="auto">
          <a:xfrm>
            <a:off x="1143000" y="4022725"/>
            <a:ext cx="5582285" cy="1014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vl="2">
              <a:lnSpc>
                <a:spcPct val="125000"/>
              </a:lnSpc>
            </a:pPr>
            <a:r>
              <a:rPr lang="zh-CN" altLang="en-US" sz="2400" b="1">
                <a:latin typeface="Arial" panose="020B0604020202020204" pitchFamily="34" charset="0"/>
                <a:ea typeface="楷体_GB2312" pitchFamily="49" charset="-122"/>
                <a:cs typeface="Arial" panose="020B0604020202020204" pitchFamily="34" charset="0"/>
              </a:rPr>
              <a:t>Insertion sort, bubble sort, and</a:t>
            </a:r>
          </a:p>
          <a:p>
            <a:pPr lvl="2">
              <a:lnSpc>
                <a:spcPct val="125000"/>
              </a:lnSpc>
            </a:pPr>
            <a:r>
              <a:rPr lang="zh-CN" altLang="en-US" sz="2400" b="1">
                <a:latin typeface="Arial" panose="020B0604020202020204" pitchFamily="34" charset="0"/>
                <a:ea typeface="楷体_GB2312" pitchFamily="49" charset="-122"/>
                <a:cs typeface="Arial" panose="020B0604020202020204" pitchFamily="34" charset="0"/>
              </a:rPr>
              <a:t>Simple Selection Sort</a:t>
            </a:r>
          </a:p>
        </p:txBody>
      </p:sp>
      <p:sp>
        <p:nvSpPr>
          <p:cNvPr id="112649" name="Rectangle 9"/>
          <p:cNvSpPr>
            <a:spLocks noChangeArrowheads="1"/>
          </p:cNvSpPr>
          <p:nvPr/>
        </p:nvSpPr>
        <p:spPr bwMode="auto">
          <a:xfrm>
            <a:off x="1143000" y="5378450"/>
            <a:ext cx="371538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rgbClr val="990000"/>
                </a:solidFill>
                <a:latin typeface="Arial" panose="020B0604020202020204" pitchFamily="34" charset="0"/>
                <a:ea typeface="隶书" panose="02010509060101010101" pitchFamily="49" charset="-122"/>
                <a:cs typeface="Arial" panose="020B0604020202020204" pitchFamily="34" charset="0"/>
              </a:rPr>
              <a:t>Time complexity is O(n):</a:t>
            </a:r>
          </a:p>
        </p:txBody>
      </p:sp>
      <p:sp>
        <p:nvSpPr>
          <p:cNvPr id="112650" name="Rectangle 10"/>
          <p:cNvSpPr>
            <a:spLocks noChangeArrowheads="1"/>
          </p:cNvSpPr>
          <p:nvPr/>
        </p:nvSpPr>
        <p:spPr bwMode="auto">
          <a:xfrm>
            <a:off x="251520" y="811560"/>
            <a:ext cx="8748712" cy="829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lvl="2"/>
            <a:r>
              <a:rPr lang="zh-CN" altLang="en-US" sz="2400" b="1" dirty="0">
                <a:latin typeface="Arial" panose="020B0604020202020204" pitchFamily="34" charset="0"/>
                <a:ea typeface="楷体_GB2312" pitchFamily="49" charset="-122"/>
                <a:cs typeface="Arial" panose="020B0604020202020204" pitchFamily="34" charset="0"/>
              </a:rPr>
              <a:t>Insertion Sort, Bubble Sort, Quick Sort, Simple Selection, Heap Sort, Merge Sort, Radix Sort</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121</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2642"/>
                                        </p:tgtEl>
                                        <p:attrNameLst>
                                          <p:attrName>style.visibility</p:attrName>
                                        </p:attrNameLst>
                                      </p:cBhvr>
                                      <p:to>
                                        <p:strVal val="visible"/>
                                      </p:to>
                                    </p:set>
                                    <p:animEffect transition="in" filter="wipe(left)">
                                      <p:cBhvr>
                                        <p:cTn id="7" dur="500"/>
                                        <p:tgtEl>
                                          <p:spTgt spid="11264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12650"/>
                                        </p:tgtEl>
                                        <p:attrNameLst>
                                          <p:attrName>style.visibility</p:attrName>
                                        </p:attrNameLst>
                                      </p:cBhvr>
                                      <p:to>
                                        <p:strVal val="visible"/>
                                      </p:to>
                                    </p:set>
                                    <p:animEffect transition="in" filter="wipe(left)">
                                      <p:cBhvr>
                                        <p:cTn id="11" dur="500"/>
                                        <p:tgtEl>
                                          <p:spTgt spid="11265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12643"/>
                                        </p:tgtEl>
                                        <p:attrNameLst>
                                          <p:attrName>style.visibility</p:attrName>
                                        </p:attrNameLst>
                                      </p:cBhvr>
                                      <p:to>
                                        <p:strVal val="visible"/>
                                      </p:to>
                                    </p:set>
                                    <p:animEffect transition="in" filter="wipe(left)">
                                      <p:cBhvr>
                                        <p:cTn id="16" dur="500"/>
                                        <p:tgtEl>
                                          <p:spTgt spid="11264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12645"/>
                                        </p:tgtEl>
                                        <p:attrNameLst>
                                          <p:attrName>style.visibility</p:attrName>
                                        </p:attrNameLst>
                                      </p:cBhvr>
                                      <p:to>
                                        <p:strVal val="visible"/>
                                      </p:to>
                                    </p:set>
                                    <p:animEffect transition="in" filter="wipe(left)">
                                      <p:cBhvr>
                                        <p:cTn id="21" dur="500"/>
                                        <p:tgtEl>
                                          <p:spTgt spid="112645"/>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112647"/>
                                        </p:tgtEl>
                                        <p:attrNameLst>
                                          <p:attrName>style.visibility</p:attrName>
                                        </p:attrNameLst>
                                      </p:cBhvr>
                                      <p:to>
                                        <p:strVal val="visible"/>
                                      </p:to>
                                    </p:set>
                                    <p:animEffect transition="in" filter="wipe(left)">
                                      <p:cBhvr>
                                        <p:cTn id="25" dur="500"/>
                                        <p:tgtEl>
                                          <p:spTgt spid="112647"/>
                                        </p:tgtEl>
                                      </p:cBhvr>
                                    </p:animEffect>
                                  </p:childTnLst>
                                </p:cTn>
                              </p:par>
                            </p:childTnLst>
                          </p:cTn>
                        </p:par>
                        <p:par>
                          <p:cTn id="26" fill="hold">
                            <p:stCondLst>
                              <p:cond delay="1000"/>
                            </p:stCondLst>
                            <p:childTnLst>
                              <p:par>
                                <p:cTn id="27" presetID="22" presetClass="entr" presetSubtype="8" fill="hold" grpId="0" nodeType="afterEffect">
                                  <p:stCondLst>
                                    <p:cond delay="0"/>
                                  </p:stCondLst>
                                  <p:childTnLst>
                                    <p:set>
                                      <p:cBhvr>
                                        <p:cTn id="28" dur="1" fill="hold">
                                          <p:stCondLst>
                                            <p:cond delay="0"/>
                                          </p:stCondLst>
                                        </p:cTn>
                                        <p:tgtEl>
                                          <p:spTgt spid="112649"/>
                                        </p:tgtEl>
                                        <p:attrNameLst>
                                          <p:attrName>style.visibility</p:attrName>
                                        </p:attrNameLst>
                                      </p:cBhvr>
                                      <p:to>
                                        <p:strVal val="visible"/>
                                      </p:to>
                                    </p:set>
                                    <p:animEffect transition="in" filter="wipe(left)">
                                      <p:cBhvr>
                                        <p:cTn id="29" dur="500"/>
                                        <p:tgtEl>
                                          <p:spTgt spid="11264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12646"/>
                                        </p:tgtEl>
                                        <p:attrNameLst>
                                          <p:attrName>style.visibility</p:attrName>
                                        </p:attrNameLst>
                                      </p:cBhvr>
                                      <p:to>
                                        <p:strVal val="visible"/>
                                      </p:to>
                                    </p:set>
                                    <p:animEffect transition="in" filter="wipe(left)">
                                      <p:cBhvr>
                                        <p:cTn id="34" dur="500"/>
                                        <p:tgtEl>
                                          <p:spTgt spid="112646"/>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12648"/>
                                        </p:tgtEl>
                                        <p:attrNameLst>
                                          <p:attrName>style.visibility</p:attrName>
                                        </p:attrNameLst>
                                      </p:cBhvr>
                                      <p:to>
                                        <p:strVal val="visible"/>
                                      </p:to>
                                    </p:set>
                                    <p:animEffect transition="in" filter="wipe(left)">
                                      <p:cBhvr>
                                        <p:cTn id="39" dur="500"/>
                                        <p:tgtEl>
                                          <p:spTgt spid="112648"/>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12644"/>
                                        </p:tgtEl>
                                        <p:attrNameLst>
                                          <p:attrName>style.visibility</p:attrName>
                                        </p:attrNameLst>
                                      </p:cBhvr>
                                      <p:to>
                                        <p:strVal val="visible"/>
                                      </p:to>
                                    </p:set>
                                    <p:animEffect transition="in" filter="wipe(left)">
                                      <p:cBhvr>
                                        <p:cTn id="44" dur="500"/>
                                        <p:tgtEl>
                                          <p:spTgt spid="1126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2" grpId="0" bldLvl="0" animBg="1" autoUpdateAnimBg="0"/>
      <p:bldP spid="112643" grpId="0" bldLvl="0" animBg="1" autoUpdateAnimBg="0"/>
      <p:bldP spid="112644" grpId="0" bldLvl="0" animBg="1" autoUpdateAnimBg="0"/>
      <p:bldP spid="112645" grpId="0" bldLvl="0" animBg="1" autoUpdateAnimBg="0"/>
      <p:bldP spid="112646" grpId="0" bldLvl="0" animBg="1" autoUpdateAnimBg="0"/>
      <p:bldP spid="112647" grpId="0" bldLvl="0" animBg="1" autoUpdateAnimBg="0"/>
      <p:bldP spid="112648" grpId="0" bldLvl="0" animBg="1" autoUpdateAnimBg="0"/>
      <p:bldP spid="112649" grpId="0" bldLvl="0" animBg="1" autoUpdateAnimBg="0"/>
      <p:bldP spid="112650" grpId="0" bldLvl="0" animBg="1" autoUpdateAnimBg="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Text Box 2"/>
          <p:cNvSpPr txBox="1">
            <a:spLocks noChangeArrowheads="1"/>
          </p:cNvSpPr>
          <p:nvPr/>
        </p:nvSpPr>
        <p:spPr bwMode="auto">
          <a:xfrm>
            <a:off x="0" y="188913"/>
            <a:ext cx="8093075" cy="1124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40000"/>
              </a:lnSpc>
            </a:pPr>
            <a:r>
              <a:rPr lang="en-US" altLang="zh-CN" sz="2400" b="1">
                <a:latin typeface="Arial" panose="020B0604020202020204" pitchFamily="34" charset="0"/>
                <a:ea typeface="楷体_GB2312" pitchFamily="49" charset="-122"/>
                <a:cs typeface="Arial" panose="020B0604020202020204" pitchFamily="34" charset="0"/>
              </a:rPr>
              <a:t>2. </a:t>
            </a:r>
            <a:r>
              <a:rPr lang="en-US" altLang="zh-CN" sz="2400">
                <a:solidFill>
                  <a:srgbClr val="993300"/>
                </a:solidFill>
                <a:latin typeface="Arial" panose="020B0604020202020204" pitchFamily="34" charset="0"/>
                <a:ea typeface="楷体_GB2312" pitchFamily="49" charset="-122"/>
                <a:cs typeface="Arial" panose="020B0604020202020204" pitchFamily="34" charset="0"/>
              </a:rPr>
              <a:t>When the sequence of records to be sorted is already ordered by key:</a:t>
            </a:r>
          </a:p>
        </p:txBody>
      </p:sp>
      <p:sp>
        <p:nvSpPr>
          <p:cNvPr id="113667" name="Text Box 3"/>
          <p:cNvSpPr txBox="1">
            <a:spLocks noChangeArrowheads="1"/>
          </p:cNvSpPr>
          <p:nvPr/>
        </p:nvSpPr>
        <p:spPr bwMode="auto">
          <a:xfrm>
            <a:off x="0" y="2960688"/>
            <a:ext cx="8928100" cy="1899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40000"/>
              </a:lnSpc>
            </a:pPr>
            <a:r>
              <a:rPr lang="en-US" altLang="zh-CN" sz="2800">
                <a:latin typeface="Arial" panose="020B0604020202020204" pitchFamily="34" charset="0"/>
                <a:ea typeface="楷体_GB2312" pitchFamily="49" charset="-122"/>
                <a:cs typeface="Arial" panose="020B0604020202020204" pitchFamily="34" charset="0"/>
              </a:rPr>
              <a:t>3.The time performance of </a:t>
            </a:r>
            <a:r>
              <a:rPr lang="en-US" altLang="zh-CN">
                <a:solidFill>
                  <a:srgbClr val="993300"/>
                </a:solidFill>
                <a:latin typeface="Arial" panose="020B0604020202020204" pitchFamily="34" charset="0"/>
                <a:ea typeface="楷体_GB2312" pitchFamily="49" charset="-122"/>
                <a:cs typeface="Arial" panose="020B0604020202020204" pitchFamily="34" charset="0"/>
              </a:rPr>
              <a:t>simple selection sort, heap sort, and merge sort</a:t>
            </a:r>
            <a:r>
              <a:rPr lang="en-US" altLang="zh-CN" sz="2800">
                <a:latin typeface="Arial" panose="020B0604020202020204" pitchFamily="34" charset="0"/>
                <a:ea typeface="楷体_GB2312" pitchFamily="49" charset="-122"/>
                <a:cs typeface="Arial" panose="020B0604020202020204" pitchFamily="34" charset="0"/>
              </a:rPr>
              <a:t> does </a:t>
            </a:r>
            <a:r>
              <a:rPr lang="en-US" altLang="zh-CN" sz="2800" b="1">
                <a:solidFill>
                  <a:srgbClr val="FF3300"/>
                </a:solidFill>
                <a:latin typeface="Arial" panose="020B0604020202020204" pitchFamily="34" charset="0"/>
                <a:cs typeface="Arial" panose="020B0604020202020204" pitchFamily="34" charset="0"/>
              </a:rPr>
              <a:t>not change with the distribution </a:t>
            </a:r>
            <a:r>
              <a:rPr lang="en-US" altLang="zh-CN" sz="2800">
                <a:latin typeface="Arial" panose="020B0604020202020204" pitchFamily="34" charset="0"/>
                <a:ea typeface="楷体_GB2312" pitchFamily="49" charset="-122"/>
                <a:cs typeface="Arial" panose="020B0604020202020204" pitchFamily="34" charset="0"/>
              </a:rPr>
              <a:t>of keys in the record sequence.</a:t>
            </a:r>
          </a:p>
        </p:txBody>
      </p:sp>
      <p:sp>
        <p:nvSpPr>
          <p:cNvPr id="113668" name="Rectangle 4"/>
          <p:cNvSpPr>
            <a:spLocks noChangeArrowheads="1"/>
          </p:cNvSpPr>
          <p:nvPr/>
        </p:nvSpPr>
        <p:spPr bwMode="auto">
          <a:xfrm>
            <a:off x="394970" y="1182688"/>
            <a:ext cx="8532813" cy="1899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40000"/>
              </a:lnSpc>
            </a:pPr>
            <a:r>
              <a:rPr lang="en-US" altLang="zh-CN">
                <a:latin typeface="Arial" panose="020B0604020202020204" pitchFamily="34" charset="0"/>
                <a:ea typeface="楷体_GB2312" pitchFamily="49" charset="-122"/>
                <a:cs typeface="Arial" panose="020B0604020202020204" pitchFamily="34" charset="0"/>
              </a:rPr>
              <a:t>Straight insertion sort and bubble sort achieve a time complexity of</a:t>
            </a:r>
            <a:r>
              <a:rPr lang="" altLang="en-US">
                <a:latin typeface="Arial" panose="020B0604020202020204" pitchFamily="34" charset="0"/>
                <a:ea typeface="楷体_GB2312" pitchFamily="49" charset="-122"/>
                <a:cs typeface="Arial" panose="020B0604020202020204" pitchFamily="34" charset="0"/>
              </a:rPr>
              <a:t> </a:t>
            </a:r>
            <a:r>
              <a:rPr lang="en-US">
                <a:latin typeface="Arial" panose="020B0604020202020204" pitchFamily="34" charset="0"/>
                <a:ea typeface="楷体_GB2312" pitchFamily="49" charset="-122"/>
                <a:cs typeface="Arial" panose="020B0604020202020204" pitchFamily="34" charset="0"/>
              </a:rPr>
              <a:t> </a:t>
            </a:r>
            <a:r>
              <a:rPr lang="en-US" altLang="zh-CN" b="1">
                <a:solidFill>
                  <a:srgbClr val="FF3300"/>
                </a:solidFill>
                <a:latin typeface="Arial" panose="020B0604020202020204" pitchFamily="34" charset="0"/>
                <a:cs typeface="Arial" panose="020B0604020202020204" pitchFamily="34" charset="0"/>
                <a:sym typeface="+mn-ea"/>
              </a:rPr>
              <a:t>O(</a:t>
            </a:r>
            <a:r>
              <a:rPr lang="en-US" altLang="zh-CN" b="1" i="1">
                <a:solidFill>
                  <a:srgbClr val="FF3300"/>
                </a:solidFill>
                <a:latin typeface="Arial" panose="020B0604020202020204" pitchFamily="34" charset="0"/>
                <a:cs typeface="Arial" panose="020B0604020202020204" pitchFamily="34" charset="0"/>
                <a:sym typeface="+mn-ea"/>
              </a:rPr>
              <a:t>n</a:t>
            </a:r>
            <a:r>
              <a:rPr lang="en-US" altLang="zh-CN" b="1" baseline="30000">
                <a:solidFill>
                  <a:srgbClr val="FF3300"/>
                </a:solidFill>
                <a:latin typeface="Arial" panose="020B0604020202020204" pitchFamily="34" charset="0"/>
                <a:cs typeface="Arial" panose="020B0604020202020204" pitchFamily="34" charset="0"/>
                <a:sym typeface="+mn-ea"/>
              </a:rPr>
              <a:t>2</a:t>
            </a:r>
            <a:r>
              <a:rPr lang="en-US" altLang="zh-CN" b="1">
                <a:solidFill>
                  <a:srgbClr val="FF3300"/>
                </a:solidFill>
                <a:latin typeface="Arial" panose="020B0604020202020204" pitchFamily="34" charset="0"/>
                <a:cs typeface="Arial" panose="020B0604020202020204" pitchFamily="34" charset="0"/>
                <a:sym typeface="+mn-ea"/>
              </a:rPr>
              <a:t>)</a:t>
            </a:r>
            <a:r>
              <a:rPr lang="en-US" altLang="zh-CN">
                <a:latin typeface="Arial" panose="020B0604020202020204" pitchFamily="34" charset="0"/>
                <a:ea typeface="楷体_GB2312" pitchFamily="49" charset="-122"/>
                <a:cs typeface="Arial" panose="020B0604020202020204" pitchFamily="34" charset="0"/>
              </a:rPr>
              <a:t>.The time performance of quicksort degrades to </a:t>
            </a:r>
            <a:r>
              <a:rPr lang="en-US" altLang="zh-CN" b="1">
                <a:solidFill>
                  <a:srgbClr val="FF3300"/>
                </a:solidFill>
                <a:latin typeface="Arial" panose="020B0604020202020204" pitchFamily="34" charset="0"/>
                <a:cs typeface="Arial" panose="020B0604020202020204" pitchFamily="34" charset="0"/>
                <a:sym typeface="+mn-ea"/>
              </a:rPr>
              <a:t>O(</a:t>
            </a:r>
            <a:r>
              <a:rPr lang="en-US" altLang="zh-CN" b="1" i="1">
                <a:solidFill>
                  <a:srgbClr val="FF3300"/>
                </a:solidFill>
                <a:latin typeface="Arial" panose="020B0604020202020204" pitchFamily="34" charset="0"/>
                <a:cs typeface="Arial" panose="020B0604020202020204" pitchFamily="34" charset="0"/>
                <a:sym typeface="+mn-ea"/>
              </a:rPr>
              <a:t>n</a:t>
            </a:r>
            <a:r>
              <a:rPr lang="en-US" altLang="zh-CN" b="1">
                <a:solidFill>
                  <a:srgbClr val="FF3300"/>
                </a:solidFill>
                <a:latin typeface="Arial" panose="020B0604020202020204" pitchFamily="34" charset="0"/>
                <a:cs typeface="Arial" panose="020B0604020202020204" pitchFamily="34" charset="0"/>
                <a:sym typeface="+mn-ea"/>
              </a:rPr>
              <a:t>)</a:t>
            </a:r>
            <a:r>
              <a:rPr lang="en-US" altLang="zh-CN">
                <a:latin typeface="Arial" panose="020B0604020202020204" pitchFamily="34" charset="0"/>
                <a:ea typeface="楷体_GB2312" pitchFamily="49" charset="-122"/>
                <a:cs typeface="Arial" panose="020B0604020202020204" pitchFamily="34" charset="0"/>
              </a:rPr>
              <a:t>.</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122</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113666"/>
                                        </p:tgtEl>
                                        <p:attrNameLst>
                                          <p:attrName>style.visibility</p:attrName>
                                        </p:attrNameLst>
                                      </p:cBhvr>
                                      <p:to>
                                        <p:strVal val="visible"/>
                                      </p:to>
                                    </p:set>
                                    <p:animEffect transition="in" filter="strips(downRight)">
                                      <p:cBhvr>
                                        <p:cTn id="7" dur="500"/>
                                        <p:tgtEl>
                                          <p:spTgt spid="113666"/>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13668"/>
                                        </p:tgtEl>
                                        <p:attrNameLst>
                                          <p:attrName>style.visibility</p:attrName>
                                        </p:attrNameLst>
                                      </p:cBhvr>
                                      <p:to>
                                        <p:strVal val="visible"/>
                                      </p:to>
                                    </p:set>
                                    <p:animEffect transition="in" filter="strips(downRight)">
                                      <p:cBhvr>
                                        <p:cTn id="12" dur="500"/>
                                        <p:tgtEl>
                                          <p:spTgt spid="113668"/>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13667"/>
                                        </p:tgtEl>
                                        <p:attrNameLst>
                                          <p:attrName>style.visibility</p:attrName>
                                        </p:attrNameLst>
                                      </p:cBhvr>
                                      <p:to>
                                        <p:strVal val="visible"/>
                                      </p:to>
                                    </p:set>
                                    <p:animEffect transition="in" filter="strips(downRight)">
                                      <p:cBhvr>
                                        <p:cTn id="17" dur="500"/>
                                        <p:tgtEl>
                                          <p:spTgt spid="1136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6" grpId="0" bldLvl="0" animBg="1" autoUpdateAnimBg="0"/>
      <p:bldP spid="113667" grpId="0" bldLvl="0" animBg="1" autoUpdateAnimBg="0"/>
      <p:bldP spid="113668" grpId="0" bldLvl="0" animBg="1" autoUpdateAnimBg="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ext Box 2"/>
          <p:cNvSpPr txBox="1">
            <a:spLocks noChangeArrowheads="1"/>
          </p:cNvSpPr>
          <p:nvPr/>
        </p:nvSpPr>
        <p:spPr bwMode="auto">
          <a:xfrm>
            <a:off x="215900" y="0"/>
            <a:ext cx="5172075"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a:latin typeface="Arial" panose="020B0604020202020204" pitchFamily="34" charset="0"/>
                <a:ea typeface="楷体_GB2312" pitchFamily="49" charset="-122"/>
                <a:cs typeface="Arial" panose="020B0604020202020204" pitchFamily="34" charset="0"/>
              </a:rPr>
              <a:t>2</a:t>
            </a:r>
            <a:r>
              <a:rPr lang="zh-CN" altLang="en-US" sz="3200" b="1">
                <a:latin typeface="Arial" panose="020B0604020202020204" pitchFamily="34" charset="0"/>
                <a:ea typeface="楷体_GB2312" pitchFamily="49" charset="-122"/>
                <a:cs typeface="Arial" panose="020B0604020202020204" pitchFamily="34" charset="0"/>
              </a:rPr>
              <a:t>. Space Performance</a:t>
            </a:r>
          </a:p>
        </p:txBody>
      </p:sp>
      <p:sp>
        <p:nvSpPr>
          <p:cNvPr id="114691" name="Text Box 3"/>
          <p:cNvSpPr txBox="1">
            <a:spLocks noChangeArrowheads="1"/>
          </p:cNvSpPr>
          <p:nvPr/>
        </p:nvSpPr>
        <p:spPr bwMode="auto">
          <a:xfrm>
            <a:off x="539750" y="620713"/>
            <a:ext cx="689038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a:latin typeface="Arial" panose="020B0604020202020204" pitchFamily="34" charset="0"/>
                <a:ea typeface="楷体_GB2312" pitchFamily="49" charset="-122"/>
                <a:cs typeface="Arial" panose="020B0604020202020204" pitchFamily="34" charset="0"/>
              </a:rPr>
              <a:t>It refers to the auxiliary space required for sorting.</a:t>
            </a:r>
          </a:p>
        </p:txBody>
      </p:sp>
      <p:sp>
        <p:nvSpPr>
          <p:cNvPr id="114692" name="Text Box 4"/>
          <p:cNvSpPr txBox="1">
            <a:spLocks noChangeArrowheads="1"/>
          </p:cNvSpPr>
          <p:nvPr/>
        </p:nvSpPr>
        <p:spPr bwMode="auto">
          <a:xfrm>
            <a:off x="381000" y="1233488"/>
            <a:ext cx="8763000" cy="1420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en-US" altLang="zh-CN" sz="2400" b="1">
                <a:latin typeface="Arial" panose="020B0604020202020204" pitchFamily="34" charset="0"/>
                <a:ea typeface="楷体_GB2312" pitchFamily="49" charset="-122"/>
                <a:cs typeface="Arial" panose="020B0604020202020204" pitchFamily="34" charset="0"/>
              </a:rPr>
              <a:t>1.</a:t>
            </a:r>
            <a:r>
              <a:rPr lang="zh-CN" altLang="en-US" sz="2400">
                <a:latin typeface="Arial" panose="020B0604020202020204" pitchFamily="34" charset="0"/>
                <a:ea typeface="楷体_GB2312" pitchFamily="49" charset="-122"/>
                <a:cs typeface="Arial" panose="020B0604020202020204" pitchFamily="34" charset="0"/>
              </a:rPr>
              <a:t>The space complexity of all </a:t>
            </a:r>
            <a:r>
              <a:rPr lang="zh-CN" altLang="en-US" sz="2400" b="1">
                <a:solidFill>
                  <a:srgbClr val="993300"/>
                </a:solidFill>
                <a:latin typeface="Arial" panose="020B0604020202020204" pitchFamily="34" charset="0"/>
                <a:ea typeface="楷体_GB2312" pitchFamily="49" charset="-122"/>
                <a:cs typeface="Arial" panose="020B0604020202020204" pitchFamily="34" charset="0"/>
              </a:rPr>
              <a:t>simple sorting methods</a:t>
            </a:r>
            <a:r>
              <a:rPr lang="zh-CN" altLang="en-US" sz="2400">
                <a:latin typeface="Arial" panose="020B0604020202020204" pitchFamily="34" charset="0"/>
                <a:ea typeface="楷体_GB2312" pitchFamily="49" charset="-122"/>
                <a:cs typeface="Arial" panose="020B0604020202020204" pitchFamily="34" charset="0"/>
              </a:rPr>
              <a:t> (including direct insertion, bubble sort, and simple selection) and </a:t>
            </a:r>
            <a:r>
              <a:rPr lang="zh-CN" altLang="en-US" sz="2400" b="1">
                <a:solidFill>
                  <a:srgbClr val="993300"/>
                </a:solidFill>
                <a:latin typeface="Arial" panose="020B0604020202020204" pitchFamily="34" charset="0"/>
                <a:ea typeface="楷体_GB2312" pitchFamily="49" charset="-122"/>
                <a:cs typeface="Arial" panose="020B0604020202020204" pitchFamily="34" charset="0"/>
              </a:rPr>
              <a:t>heap sort</a:t>
            </a:r>
            <a:r>
              <a:rPr lang="zh-CN" altLang="en-US" sz="2400">
                <a:latin typeface="Arial" panose="020B0604020202020204" pitchFamily="34" charset="0"/>
                <a:ea typeface="楷体_GB2312" pitchFamily="49" charset="-122"/>
                <a:cs typeface="Arial" panose="020B0604020202020204" pitchFamily="34" charset="0"/>
              </a:rPr>
              <a:t> is </a:t>
            </a:r>
            <a:r>
              <a:rPr lang="en-US" altLang="zh-CN" sz="2400" b="1">
                <a:solidFill>
                  <a:srgbClr val="FF3300"/>
                </a:solidFill>
                <a:latin typeface="Arial" panose="020B0604020202020204" pitchFamily="34" charset="0"/>
                <a:cs typeface="Arial" panose="020B0604020202020204" pitchFamily="34" charset="0"/>
                <a:sym typeface="+mn-ea"/>
              </a:rPr>
              <a:t>O(1)</a:t>
            </a:r>
            <a:r>
              <a:rPr lang="zh-CN" altLang="en-US" sz="2400">
                <a:latin typeface="Arial" panose="020B0604020202020204" pitchFamily="34" charset="0"/>
                <a:ea typeface="楷体_GB2312" pitchFamily="49" charset="-122"/>
                <a:cs typeface="Arial" panose="020B0604020202020204" pitchFamily="34" charset="0"/>
              </a:rPr>
              <a:t>.</a:t>
            </a:r>
          </a:p>
        </p:txBody>
      </p:sp>
      <p:sp>
        <p:nvSpPr>
          <p:cNvPr id="114693" name="Text Box 5"/>
          <p:cNvSpPr txBox="1">
            <a:spLocks noChangeArrowheads="1"/>
          </p:cNvSpPr>
          <p:nvPr/>
        </p:nvSpPr>
        <p:spPr bwMode="auto">
          <a:xfrm>
            <a:off x="395605" y="2787650"/>
            <a:ext cx="8305800" cy="977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en-US" altLang="zh-CN" sz="2400" b="1">
                <a:latin typeface="Arial" panose="020B0604020202020204" pitchFamily="34" charset="0"/>
                <a:ea typeface="楷体_GB2312" pitchFamily="49" charset="-122"/>
                <a:cs typeface="Arial" panose="020B0604020202020204" pitchFamily="34" charset="0"/>
              </a:rPr>
              <a:t>2.</a:t>
            </a:r>
            <a:r>
              <a:rPr lang="zh-CN" altLang="en-US" sz="2400" b="1">
                <a:solidFill>
                  <a:srgbClr val="993300"/>
                </a:solidFill>
                <a:latin typeface="Arial" panose="020B0604020202020204" pitchFamily="34" charset="0"/>
                <a:ea typeface="楷体_GB2312" pitchFamily="49" charset="-122"/>
                <a:cs typeface="Arial" panose="020B0604020202020204" pitchFamily="34" charset="0"/>
              </a:rPr>
              <a:t>Quick sort is</a:t>
            </a:r>
            <a:r>
              <a:rPr lang="en-US" altLang="zh-CN" sz="2400" b="1">
                <a:solidFill>
                  <a:srgbClr val="993300"/>
                </a:solidFill>
                <a:latin typeface="Arial" panose="020B0604020202020204" pitchFamily="34" charset="0"/>
                <a:ea typeface="楷体_GB2312" pitchFamily="49" charset="-122"/>
                <a:cs typeface="Arial" panose="020B0604020202020204" pitchFamily="34" charset="0"/>
              </a:rPr>
              <a:t> </a:t>
            </a:r>
            <a:r>
              <a:rPr lang="en-US" altLang="zh-CN" sz="2400" b="1">
                <a:solidFill>
                  <a:srgbClr val="FF3300"/>
                </a:solidFill>
                <a:latin typeface="Arial" panose="020B0604020202020204" pitchFamily="34" charset="0"/>
                <a:cs typeface="Arial" panose="020B0604020202020204" pitchFamily="34" charset="0"/>
                <a:sym typeface="+mn-ea"/>
              </a:rPr>
              <a:t>O(log</a:t>
            </a:r>
            <a:r>
              <a:rPr lang="en-US" altLang="zh-CN" sz="2400" b="1" i="1">
                <a:solidFill>
                  <a:srgbClr val="FF3300"/>
                </a:solidFill>
                <a:latin typeface="Arial" panose="020B0604020202020204" pitchFamily="34" charset="0"/>
                <a:cs typeface="Arial" panose="020B0604020202020204" pitchFamily="34" charset="0"/>
                <a:sym typeface="+mn-ea"/>
              </a:rPr>
              <a:t>n</a:t>
            </a:r>
            <a:r>
              <a:rPr lang="en-US" altLang="zh-CN" sz="2400" b="1">
                <a:solidFill>
                  <a:srgbClr val="FF3300"/>
                </a:solidFill>
                <a:latin typeface="Arial" panose="020B0604020202020204" pitchFamily="34" charset="0"/>
                <a:cs typeface="Arial" panose="020B0604020202020204" pitchFamily="34" charset="0"/>
                <a:sym typeface="+mn-ea"/>
              </a:rPr>
              <a:t>)</a:t>
            </a:r>
            <a:r>
              <a:rPr lang="zh-CN" altLang="en-US" sz="2400" b="1">
                <a:solidFill>
                  <a:srgbClr val="993300"/>
                </a:solidFill>
                <a:latin typeface="Arial" panose="020B0604020202020204" pitchFamily="34" charset="0"/>
                <a:ea typeface="楷体_GB2312" pitchFamily="49" charset="-122"/>
                <a:cs typeface="Arial" panose="020B0604020202020204" pitchFamily="34" charset="0"/>
              </a:rPr>
              <a:t>, </a:t>
            </a:r>
            <a:r>
              <a:rPr lang="zh-CN" altLang="en-US" sz="2400">
                <a:latin typeface="Arial" panose="020B0604020202020204" pitchFamily="34" charset="0"/>
                <a:ea typeface="楷体_GB2312" pitchFamily="49" charset="-122"/>
                <a:cs typeface="Arial" panose="020B0604020202020204" pitchFamily="34" charset="0"/>
              </a:rPr>
              <a:t>the auxiliary space required by the stack during the execution of the recursive program</a:t>
            </a:r>
            <a:r>
              <a:rPr lang="zh-CN" altLang="en-US" sz="2400" b="1">
                <a:solidFill>
                  <a:srgbClr val="993300"/>
                </a:solidFill>
                <a:latin typeface="Arial" panose="020B0604020202020204" pitchFamily="34" charset="0"/>
                <a:ea typeface="楷体_GB2312" pitchFamily="49" charset="-122"/>
                <a:cs typeface="Arial" panose="020B0604020202020204" pitchFamily="34" charset="0"/>
              </a:rPr>
              <a:t>;</a:t>
            </a:r>
            <a:endParaRPr lang="zh-CN" altLang="en-US" sz="2400">
              <a:latin typeface="Arial" panose="020B0604020202020204" pitchFamily="34" charset="0"/>
              <a:ea typeface="楷体_GB2312" pitchFamily="49" charset="-122"/>
              <a:cs typeface="Arial" panose="020B0604020202020204" pitchFamily="34" charset="0"/>
            </a:endParaRPr>
          </a:p>
        </p:txBody>
      </p:sp>
      <p:sp>
        <p:nvSpPr>
          <p:cNvPr id="114695" name="Text Box 7"/>
          <p:cNvSpPr txBox="1">
            <a:spLocks noChangeArrowheads="1"/>
          </p:cNvSpPr>
          <p:nvPr/>
        </p:nvSpPr>
        <p:spPr bwMode="auto">
          <a:xfrm>
            <a:off x="468313" y="3897313"/>
            <a:ext cx="8305800" cy="977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en-US" altLang="zh-CN" sz="2400" b="1">
                <a:latin typeface="Arial" panose="020B0604020202020204" pitchFamily="34" charset="0"/>
                <a:ea typeface="楷体_GB2312" pitchFamily="49" charset="-122"/>
                <a:cs typeface="Arial" panose="020B0604020202020204" pitchFamily="34" charset="0"/>
              </a:rPr>
              <a:t>3.</a:t>
            </a:r>
            <a:r>
              <a:rPr lang="zh-CN" altLang="en-US" sz="2400" b="1">
                <a:solidFill>
                  <a:srgbClr val="993300"/>
                </a:solidFill>
                <a:latin typeface="Arial" panose="020B0604020202020204" pitchFamily="34" charset="0"/>
                <a:ea typeface="楷体_GB2312" pitchFamily="49" charset="-122"/>
                <a:cs typeface="Arial" panose="020B0604020202020204" pitchFamily="34" charset="0"/>
              </a:rPr>
              <a:t>Merge sort </a:t>
            </a:r>
            <a:r>
              <a:rPr lang="zh-CN" altLang="en-US" sz="2400">
                <a:latin typeface="Arial" panose="020B0604020202020204" pitchFamily="34" charset="0"/>
                <a:ea typeface="楷体_GB2312" pitchFamily="49" charset="-122"/>
                <a:cs typeface="Arial" panose="020B0604020202020204" pitchFamily="34" charset="0"/>
              </a:rPr>
              <a:t>requires the most auxiliary space, and its space complexity is</a:t>
            </a:r>
            <a:r>
              <a:rPr lang="zh-CN" altLang="en-US" sz="2400" b="1">
                <a:solidFill>
                  <a:srgbClr val="993300"/>
                </a:solidFill>
                <a:latin typeface="Arial" panose="020B0604020202020204" pitchFamily="34" charset="0"/>
                <a:ea typeface="楷体_GB2312" pitchFamily="49" charset="-122"/>
                <a:cs typeface="Arial" panose="020B0604020202020204" pitchFamily="34" charset="0"/>
              </a:rPr>
              <a:t> </a:t>
            </a:r>
            <a:r>
              <a:rPr lang="en-US" altLang="zh-CN" sz="2400" b="1">
                <a:solidFill>
                  <a:srgbClr val="FF3300"/>
                </a:solidFill>
                <a:latin typeface="Arial" panose="020B0604020202020204" pitchFamily="34" charset="0"/>
                <a:cs typeface="Arial" panose="020B0604020202020204" pitchFamily="34" charset="0"/>
                <a:sym typeface="+mn-ea"/>
              </a:rPr>
              <a:t>O(</a:t>
            </a:r>
            <a:r>
              <a:rPr lang="en-US" altLang="zh-CN" sz="2400" b="1" i="1">
                <a:solidFill>
                  <a:srgbClr val="FF3300"/>
                </a:solidFill>
                <a:latin typeface="Arial" panose="020B0604020202020204" pitchFamily="34" charset="0"/>
                <a:cs typeface="Arial" panose="020B0604020202020204" pitchFamily="34" charset="0"/>
                <a:sym typeface="+mn-ea"/>
              </a:rPr>
              <a:t>n</a:t>
            </a:r>
            <a:r>
              <a:rPr lang="en-US" altLang="zh-CN" sz="2400" b="1">
                <a:solidFill>
                  <a:srgbClr val="FF3300"/>
                </a:solidFill>
                <a:latin typeface="Arial" panose="020B0604020202020204" pitchFamily="34" charset="0"/>
                <a:cs typeface="Arial" panose="020B0604020202020204" pitchFamily="34" charset="0"/>
                <a:sym typeface="+mn-ea"/>
              </a:rPr>
              <a:t>)</a:t>
            </a:r>
            <a:r>
              <a:rPr lang="zh-CN" altLang="en-US" sz="2400" b="1">
                <a:solidFill>
                  <a:srgbClr val="993300"/>
                </a:solidFill>
                <a:latin typeface="Arial" panose="020B0604020202020204" pitchFamily="34" charset="0"/>
                <a:ea typeface="楷体_GB2312" pitchFamily="49" charset="-122"/>
                <a:cs typeface="Arial" panose="020B0604020202020204" pitchFamily="34" charset="0"/>
              </a:rPr>
              <a:t>.</a:t>
            </a:r>
            <a:endParaRPr lang="en-US" altLang="zh-CN" sz="2400">
              <a:solidFill>
                <a:srgbClr val="993300"/>
              </a:solidFill>
              <a:latin typeface="Arial" panose="020B0604020202020204" pitchFamily="34" charset="0"/>
              <a:ea typeface="楷体_GB2312" pitchFamily="49" charset="-122"/>
              <a:cs typeface="Arial" panose="020B0604020202020204" pitchFamily="34" charset="0"/>
            </a:endParaRPr>
          </a:p>
        </p:txBody>
      </p:sp>
      <p:sp>
        <p:nvSpPr>
          <p:cNvPr id="114696" name="Text Box 8"/>
          <p:cNvSpPr txBox="1">
            <a:spLocks noChangeArrowheads="1"/>
          </p:cNvSpPr>
          <p:nvPr/>
        </p:nvSpPr>
        <p:spPr bwMode="auto">
          <a:xfrm>
            <a:off x="611188" y="5084763"/>
            <a:ext cx="8274050" cy="902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en-US" altLang="zh-CN" sz="2400" b="1">
                <a:latin typeface="Arial" panose="020B0604020202020204" pitchFamily="34" charset="0"/>
                <a:ea typeface="楷体_GB2312" pitchFamily="49" charset="-122"/>
                <a:cs typeface="Arial" panose="020B0604020202020204" pitchFamily="34" charset="0"/>
              </a:rPr>
              <a:t>4</a:t>
            </a:r>
            <a:r>
              <a:rPr lang="zh-CN" altLang="en-US" sz="2400">
                <a:latin typeface="Arial" panose="020B0604020202020204" pitchFamily="34" charset="0"/>
                <a:ea typeface="楷体_GB2312" pitchFamily="49" charset="-122"/>
                <a:cs typeface="Arial" panose="020B0604020202020204" pitchFamily="34" charset="0"/>
              </a:rPr>
              <a:t>.The space complexity of the </a:t>
            </a:r>
            <a:r>
              <a:rPr lang="zh-CN" altLang="en-US" sz="2400" b="1">
                <a:solidFill>
                  <a:srgbClr val="993300"/>
                </a:solidFill>
                <a:latin typeface="Arial" panose="020B0604020202020204" pitchFamily="34" charset="0"/>
                <a:ea typeface="楷体_GB2312" pitchFamily="49" charset="-122"/>
                <a:cs typeface="Arial" panose="020B0604020202020204" pitchFamily="34" charset="0"/>
              </a:rPr>
              <a:t>chain radix sort is </a:t>
            </a:r>
            <a:r>
              <a:rPr lang="en-US" altLang="zh-CN" sz="2400" b="1">
                <a:solidFill>
                  <a:srgbClr val="FF3300"/>
                </a:solidFill>
                <a:latin typeface="Arial" panose="020B0604020202020204" pitchFamily="34" charset="0"/>
                <a:ea typeface="楷体_GB2312" pitchFamily="49" charset="-122"/>
                <a:cs typeface="Arial" panose="020B0604020202020204" pitchFamily="34" charset="0"/>
                <a:sym typeface="+mn-ea"/>
              </a:rPr>
              <a:t>O(</a:t>
            </a:r>
            <a:r>
              <a:rPr lang="en-US" altLang="zh-CN" sz="2400" b="1" i="1">
                <a:solidFill>
                  <a:srgbClr val="FF3300"/>
                </a:solidFill>
                <a:latin typeface="Arial" panose="020B0604020202020204" pitchFamily="34" charset="0"/>
                <a:ea typeface="楷体_GB2312" pitchFamily="49" charset="-122"/>
                <a:cs typeface="Arial" panose="020B0604020202020204" pitchFamily="34" charset="0"/>
                <a:sym typeface="+mn-ea"/>
              </a:rPr>
              <a:t>rd</a:t>
            </a:r>
            <a:r>
              <a:rPr lang="en-US" altLang="zh-CN" sz="2400" b="1">
                <a:solidFill>
                  <a:srgbClr val="FF3300"/>
                </a:solidFill>
                <a:latin typeface="Arial" panose="020B0604020202020204" pitchFamily="34" charset="0"/>
                <a:ea typeface="楷体_GB2312" pitchFamily="49" charset="-122"/>
                <a:cs typeface="Arial" panose="020B0604020202020204" pitchFamily="34" charset="0"/>
                <a:sym typeface="+mn-ea"/>
              </a:rPr>
              <a:t>)</a:t>
            </a:r>
            <a:r>
              <a:rPr lang="zh-CN" altLang="en-US" sz="2400" b="1">
                <a:solidFill>
                  <a:srgbClr val="993300"/>
                </a:solidFill>
                <a:latin typeface="Arial" panose="020B0604020202020204" pitchFamily="34" charset="0"/>
                <a:ea typeface="楷体_GB2312" pitchFamily="49" charset="-122"/>
                <a:cs typeface="Arial" panose="020B0604020202020204" pitchFamily="34" charset="0"/>
              </a:rPr>
              <a:t> </a:t>
            </a:r>
            <a:r>
              <a:rPr lang="zh-CN" altLang="en-US" sz="2400">
                <a:latin typeface="Arial" panose="020B0604020202020204" pitchFamily="34" charset="0"/>
                <a:ea typeface="楷体_GB2312" pitchFamily="49" charset="-122"/>
                <a:cs typeface="Arial" panose="020B0604020202020204" pitchFamily="34" charset="0"/>
              </a:rPr>
              <a:t>because of the queue pointer.</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123</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114690"/>
                                        </p:tgtEl>
                                        <p:attrNameLst>
                                          <p:attrName>style.visibility</p:attrName>
                                        </p:attrNameLst>
                                      </p:cBhvr>
                                      <p:to>
                                        <p:strVal val="visible"/>
                                      </p:to>
                                    </p:set>
                                    <p:animEffect transition="in" filter="strips(downRight)">
                                      <p:cBhvr>
                                        <p:cTn id="7" dur="500"/>
                                        <p:tgtEl>
                                          <p:spTgt spid="114690"/>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14691"/>
                                        </p:tgtEl>
                                        <p:attrNameLst>
                                          <p:attrName>style.visibility</p:attrName>
                                        </p:attrNameLst>
                                      </p:cBhvr>
                                      <p:to>
                                        <p:strVal val="visible"/>
                                      </p:to>
                                    </p:set>
                                    <p:animEffect transition="in" filter="strips(downRight)">
                                      <p:cBhvr>
                                        <p:cTn id="12" dur="500"/>
                                        <p:tgtEl>
                                          <p:spTgt spid="114691"/>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14692"/>
                                        </p:tgtEl>
                                        <p:attrNameLst>
                                          <p:attrName>style.visibility</p:attrName>
                                        </p:attrNameLst>
                                      </p:cBhvr>
                                      <p:to>
                                        <p:strVal val="visible"/>
                                      </p:to>
                                    </p:set>
                                    <p:animEffect transition="in" filter="strips(downRight)">
                                      <p:cBhvr>
                                        <p:cTn id="17" dur="500"/>
                                        <p:tgtEl>
                                          <p:spTgt spid="114692"/>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14693"/>
                                        </p:tgtEl>
                                        <p:attrNameLst>
                                          <p:attrName>style.visibility</p:attrName>
                                        </p:attrNameLst>
                                      </p:cBhvr>
                                      <p:to>
                                        <p:strVal val="visible"/>
                                      </p:to>
                                    </p:set>
                                    <p:animEffect transition="in" filter="strips(downRight)">
                                      <p:cBhvr>
                                        <p:cTn id="22" dur="500"/>
                                        <p:tgtEl>
                                          <p:spTgt spid="11469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4695"/>
                                        </p:tgtEl>
                                        <p:attrNameLst>
                                          <p:attrName>style.visibility</p:attrName>
                                        </p:attrNameLst>
                                      </p:cBhvr>
                                      <p:to>
                                        <p:strVal val="visible"/>
                                      </p:to>
                                    </p:set>
                                    <p:animEffect transition="in" filter="wipe(left)">
                                      <p:cBhvr>
                                        <p:cTn id="27" dur="500"/>
                                        <p:tgtEl>
                                          <p:spTgt spid="11469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4696"/>
                                        </p:tgtEl>
                                        <p:attrNameLst>
                                          <p:attrName>style.visibility</p:attrName>
                                        </p:attrNameLst>
                                      </p:cBhvr>
                                      <p:to>
                                        <p:strVal val="visible"/>
                                      </p:to>
                                    </p:set>
                                    <p:animEffect transition="in" filter="wipe(left)">
                                      <p:cBhvr>
                                        <p:cTn id="32" dur="500"/>
                                        <p:tgtEl>
                                          <p:spTgt spid="1146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0" grpId="0" bldLvl="0" animBg="1" autoUpdateAnimBg="0"/>
      <p:bldP spid="114691" grpId="0" bldLvl="0" animBg="1" autoUpdateAnimBg="0"/>
      <p:bldP spid="114692" grpId="0" bldLvl="0" animBg="1" autoUpdateAnimBg="0"/>
      <p:bldP spid="114693" grpId="0" bldLvl="0" animBg="1" autoUpdateAnimBg="0"/>
      <p:bldP spid="114695" grpId="0" bldLvl="0" animBg="1" autoUpdateAnimBg="0"/>
      <p:bldP spid="114696" grpId="0" bldLvl="0" animBg="1" autoUpdateAnimBg="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Text Box 2"/>
          <p:cNvSpPr txBox="1">
            <a:spLocks noChangeArrowheads="1"/>
          </p:cNvSpPr>
          <p:nvPr/>
        </p:nvSpPr>
        <p:spPr bwMode="auto">
          <a:xfrm>
            <a:off x="358775" y="225425"/>
            <a:ext cx="7350760" cy="706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4000" b="1">
                <a:latin typeface="Arial" panose="020B0604020202020204" pitchFamily="34" charset="0"/>
                <a:ea typeface="楷体_GB2312" pitchFamily="49" charset="-122"/>
                <a:cs typeface="Arial" panose="020B0604020202020204" pitchFamily="34" charset="0"/>
              </a:rPr>
              <a:t>3.Stability of Sorting Methods</a:t>
            </a:r>
          </a:p>
        </p:txBody>
      </p:sp>
      <p:sp>
        <p:nvSpPr>
          <p:cNvPr id="116739" name="Text Box 3"/>
          <p:cNvSpPr txBox="1">
            <a:spLocks noChangeArrowheads="1"/>
          </p:cNvSpPr>
          <p:nvPr>
            <p:custDataLst>
              <p:tags r:id="rId1"/>
            </p:custDataLst>
          </p:nvPr>
        </p:nvSpPr>
        <p:spPr bwMode="auto">
          <a:xfrm>
            <a:off x="467360" y="932180"/>
            <a:ext cx="8321675" cy="2071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pPr>
            <a:r>
              <a:rPr lang="en-US" altLang="zh-CN">
                <a:latin typeface="Arial" panose="020B0604020202020204" pitchFamily="34" charset="0"/>
                <a:ea typeface="楷体_GB2312" pitchFamily="49" charset="-122"/>
                <a:cs typeface="Arial" panose="020B0604020202020204" pitchFamily="34" charset="0"/>
              </a:rPr>
              <a:t>        </a:t>
            </a:r>
            <a:r>
              <a:rPr lang="en-US" altLang="zh-CN" b="1">
                <a:latin typeface="Arial" panose="020B0604020202020204" pitchFamily="34" charset="0"/>
                <a:ea typeface="楷体_GB2312" pitchFamily="49" charset="-122"/>
                <a:cs typeface="Arial" panose="020B0604020202020204" pitchFamily="34" charset="0"/>
              </a:rPr>
              <a:t>1.</a:t>
            </a:r>
            <a:r>
              <a:rPr lang="en-US" altLang="zh-CN">
                <a:latin typeface="Arial" panose="020B0604020202020204" pitchFamily="34" charset="0"/>
                <a:ea typeface="楷体_GB2312" pitchFamily="49" charset="-122"/>
                <a:cs typeface="Arial" panose="020B0604020202020204" pitchFamily="34" charset="0"/>
              </a:rPr>
              <a:t> </a:t>
            </a:r>
            <a:r>
              <a:rPr lang="en-US" altLang="zh-CN">
                <a:solidFill>
                  <a:srgbClr val="000080"/>
                </a:solidFill>
                <a:latin typeface="Arial" panose="020B0604020202020204" pitchFamily="34" charset="0"/>
                <a:ea typeface="楷体_GB2312" pitchFamily="49" charset="-122"/>
                <a:cs typeface="Arial" panose="020B0604020202020204" pitchFamily="34" charset="0"/>
              </a:rPr>
              <a:t>A stable sorting method means that for two records with equal keys, their relative positions in the sequence remain unchanged before and after sorting.</a:t>
            </a:r>
            <a:endParaRPr lang="zh-CN" altLang="en-US">
              <a:solidFill>
                <a:srgbClr val="000080"/>
              </a:solidFill>
              <a:latin typeface="Arial" panose="020B0604020202020204" pitchFamily="34" charset="0"/>
              <a:ea typeface="楷体_GB2312" pitchFamily="49" charset="-122"/>
              <a:cs typeface="Arial" panose="020B0604020202020204" pitchFamily="34" charset="0"/>
            </a:endParaRPr>
          </a:p>
        </p:txBody>
      </p:sp>
      <p:sp>
        <p:nvSpPr>
          <p:cNvPr id="116740" name="Text Box 4"/>
          <p:cNvSpPr txBox="1">
            <a:spLocks noChangeArrowheads="1"/>
          </p:cNvSpPr>
          <p:nvPr>
            <p:custDataLst>
              <p:tags r:id="rId2"/>
            </p:custDataLst>
          </p:nvPr>
        </p:nvSpPr>
        <p:spPr bwMode="auto">
          <a:xfrm>
            <a:off x="441325" y="4184650"/>
            <a:ext cx="8702675" cy="2071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pPr>
            <a:r>
              <a:rPr lang="en-US" altLang="zh-CN" b="1">
                <a:latin typeface="Arial" panose="020B0604020202020204" pitchFamily="34" charset="0"/>
                <a:ea typeface="楷体_GB2312" pitchFamily="49" charset="-122"/>
                <a:cs typeface="Arial" panose="020B0604020202020204" pitchFamily="34" charset="0"/>
              </a:rPr>
              <a:t>      </a:t>
            </a:r>
            <a:r>
              <a:rPr lang="en-US" altLang="zh-CN">
                <a:latin typeface="Arial" panose="020B0604020202020204" pitchFamily="34" charset="0"/>
                <a:ea typeface="楷体_GB2312" pitchFamily="49" charset="-122"/>
                <a:cs typeface="Arial" panose="020B0604020202020204" pitchFamily="34" charset="0"/>
              </a:rPr>
              <a:t>2. When sorting a multi-key record sequence using the LSD (Least Significant Digit first) method, all key positions (except the least significant digit) must use stable sorting methods.</a:t>
            </a:r>
          </a:p>
        </p:txBody>
      </p:sp>
      <p:sp>
        <p:nvSpPr>
          <p:cNvPr id="116741" name="Text Box 5"/>
          <p:cNvSpPr txBox="1">
            <a:spLocks noChangeArrowheads="1"/>
          </p:cNvSpPr>
          <p:nvPr>
            <p:custDataLst>
              <p:tags r:id="rId3"/>
            </p:custDataLst>
          </p:nvPr>
        </p:nvSpPr>
        <p:spPr bwMode="auto">
          <a:xfrm>
            <a:off x="652145" y="2961005"/>
            <a:ext cx="775208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800">
                <a:solidFill>
                  <a:srgbClr val="003366"/>
                </a:solidFill>
              </a:rPr>
              <a:t>Before sorting:   { · · · · · </a:t>
            </a:r>
            <a:r>
              <a:rPr lang="en-US" altLang="zh-CN">
                <a:solidFill>
                  <a:srgbClr val="990033"/>
                </a:solidFill>
                <a:ea typeface="楷体_GB2312" pitchFamily="49" charset="-122"/>
              </a:rPr>
              <a:t>R</a:t>
            </a:r>
            <a:r>
              <a:rPr lang="en-US" altLang="zh-CN" baseline="-25000">
                <a:solidFill>
                  <a:srgbClr val="990033"/>
                </a:solidFill>
                <a:ea typeface="楷体_GB2312" pitchFamily="49" charset="-122"/>
              </a:rPr>
              <a:t>i</a:t>
            </a:r>
            <a:r>
              <a:rPr lang="en-US" altLang="zh-CN" sz="2800">
                <a:solidFill>
                  <a:srgbClr val="003366"/>
                </a:solidFill>
              </a:rPr>
              <a:t>(K) · · · · · </a:t>
            </a:r>
            <a:r>
              <a:rPr lang="en-US" altLang="zh-CN">
                <a:solidFill>
                  <a:srgbClr val="990033"/>
                </a:solidFill>
                <a:ea typeface="楷体_GB2312" pitchFamily="49" charset="-122"/>
              </a:rPr>
              <a:t>R</a:t>
            </a:r>
            <a:r>
              <a:rPr lang="en-US" altLang="zh-CN" baseline="-25000">
                <a:solidFill>
                  <a:srgbClr val="990033"/>
                </a:solidFill>
                <a:ea typeface="楷体_GB2312" pitchFamily="49" charset="-122"/>
              </a:rPr>
              <a:t>j</a:t>
            </a:r>
            <a:r>
              <a:rPr lang="en-US" altLang="zh-CN" sz="2800">
                <a:solidFill>
                  <a:srgbClr val="003366"/>
                </a:solidFill>
              </a:rPr>
              <a:t>(K) · · · · · }</a:t>
            </a:r>
          </a:p>
        </p:txBody>
      </p:sp>
      <p:sp>
        <p:nvSpPr>
          <p:cNvPr id="116742" name="Text Box 6"/>
          <p:cNvSpPr txBox="1">
            <a:spLocks noChangeArrowheads="1"/>
          </p:cNvSpPr>
          <p:nvPr>
            <p:custDataLst>
              <p:tags r:id="rId4"/>
            </p:custDataLst>
          </p:nvPr>
        </p:nvSpPr>
        <p:spPr bwMode="auto">
          <a:xfrm>
            <a:off x="772160" y="3646805"/>
            <a:ext cx="766381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800">
                <a:solidFill>
                  <a:srgbClr val="003366"/>
                </a:solidFill>
              </a:rPr>
              <a:t>After sorting:   { · · · · · </a:t>
            </a:r>
            <a:r>
              <a:rPr lang="en-US" altLang="zh-CN">
                <a:solidFill>
                  <a:srgbClr val="990033"/>
                </a:solidFill>
                <a:ea typeface="楷体_GB2312" pitchFamily="49" charset="-122"/>
              </a:rPr>
              <a:t>R</a:t>
            </a:r>
            <a:r>
              <a:rPr lang="en-US" altLang="zh-CN" baseline="-25000">
                <a:solidFill>
                  <a:srgbClr val="990033"/>
                </a:solidFill>
                <a:ea typeface="楷体_GB2312" pitchFamily="49" charset="-122"/>
              </a:rPr>
              <a:t>i</a:t>
            </a:r>
            <a:r>
              <a:rPr lang="en-US" altLang="zh-CN" sz="2800">
                <a:solidFill>
                  <a:srgbClr val="003366"/>
                </a:solidFill>
              </a:rPr>
              <a:t>(K) </a:t>
            </a:r>
            <a:r>
              <a:rPr lang="en-US" altLang="zh-CN">
                <a:solidFill>
                  <a:srgbClr val="990033"/>
                </a:solidFill>
                <a:ea typeface="楷体_GB2312" pitchFamily="49" charset="-122"/>
              </a:rPr>
              <a:t>R</a:t>
            </a:r>
            <a:r>
              <a:rPr lang="en-US" altLang="zh-CN" baseline="-25000">
                <a:solidFill>
                  <a:srgbClr val="990033"/>
                </a:solidFill>
                <a:ea typeface="楷体_GB2312" pitchFamily="49" charset="-122"/>
              </a:rPr>
              <a:t>j</a:t>
            </a:r>
            <a:r>
              <a:rPr lang="en-US" altLang="zh-CN" sz="2800">
                <a:solidFill>
                  <a:srgbClr val="003366"/>
                </a:solidFill>
              </a:rPr>
              <a:t>(K) · · · · ·· · · · · }</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124</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116738"/>
                                        </p:tgtEl>
                                        <p:attrNameLst>
                                          <p:attrName>style.visibility</p:attrName>
                                        </p:attrNameLst>
                                      </p:cBhvr>
                                      <p:to>
                                        <p:strVal val="visible"/>
                                      </p:to>
                                    </p:set>
                                    <p:animEffect transition="in" filter="strips(downRight)">
                                      <p:cBhvr>
                                        <p:cTn id="7" dur="500"/>
                                        <p:tgtEl>
                                          <p:spTgt spid="116738"/>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16739"/>
                                        </p:tgtEl>
                                        <p:attrNameLst>
                                          <p:attrName>style.visibility</p:attrName>
                                        </p:attrNameLst>
                                      </p:cBhvr>
                                      <p:to>
                                        <p:strVal val="visible"/>
                                      </p:to>
                                    </p:set>
                                    <p:animEffect transition="in" filter="strips(downRight)">
                                      <p:cBhvr>
                                        <p:cTn id="12" dur="500"/>
                                        <p:tgtEl>
                                          <p:spTgt spid="116739"/>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16741"/>
                                        </p:tgtEl>
                                        <p:attrNameLst>
                                          <p:attrName>style.visibility</p:attrName>
                                        </p:attrNameLst>
                                      </p:cBhvr>
                                      <p:to>
                                        <p:strVal val="visible"/>
                                      </p:to>
                                    </p:set>
                                    <p:animEffect transition="in" filter="strips(downRight)">
                                      <p:cBhvr>
                                        <p:cTn id="17" dur="500"/>
                                        <p:tgtEl>
                                          <p:spTgt spid="116741"/>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16742"/>
                                        </p:tgtEl>
                                        <p:attrNameLst>
                                          <p:attrName>style.visibility</p:attrName>
                                        </p:attrNameLst>
                                      </p:cBhvr>
                                      <p:to>
                                        <p:strVal val="visible"/>
                                      </p:to>
                                    </p:set>
                                    <p:animEffect transition="in" filter="strips(downRight)">
                                      <p:cBhvr>
                                        <p:cTn id="22" dur="500"/>
                                        <p:tgtEl>
                                          <p:spTgt spid="11674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6740"/>
                                        </p:tgtEl>
                                        <p:attrNameLst>
                                          <p:attrName>style.visibility</p:attrName>
                                        </p:attrNameLst>
                                      </p:cBhvr>
                                      <p:to>
                                        <p:strVal val="visible"/>
                                      </p:to>
                                    </p:set>
                                    <p:animEffect transition="in" filter="wipe(left)">
                                      <p:cBhvr>
                                        <p:cTn id="27" dur="500"/>
                                        <p:tgtEl>
                                          <p:spTgt spid="1167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38" grpId="0" bldLvl="0" animBg="1" autoUpdateAnimBg="0"/>
      <p:bldP spid="116739" grpId="0" bldLvl="0" animBg="1" autoUpdateAnimBg="0"/>
      <p:bldP spid="116740" grpId="0" bldLvl="0" animBg="1" autoUpdateAnimBg="0"/>
      <p:bldP spid="116741" grpId="0" bldLvl="0" animBg="1" autoUpdateAnimBg="0"/>
      <p:bldP spid="116742" grpId="0" bldLvl="0" animBg="1" autoUpdateAnimBg="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Text Box 2"/>
          <p:cNvSpPr txBox="1">
            <a:spLocks noChangeArrowheads="1"/>
          </p:cNvSpPr>
          <p:nvPr/>
        </p:nvSpPr>
        <p:spPr bwMode="auto">
          <a:xfrm>
            <a:off x="381000" y="288925"/>
            <a:ext cx="265366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a:solidFill>
                  <a:srgbClr val="003366"/>
                </a:solidFill>
                <a:latin typeface="Arial" panose="020B0604020202020204" pitchFamily="34" charset="0"/>
                <a:cs typeface="Arial" panose="020B0604020202020204" pitchFamily="34" charset="0"/>
              </a:rPr>
              <a:t>for instance ：</a:t>
            </a:r>
          </a:p>
        </p:txBody>
      </p:sp>
      <p:sp>
        <p:nvSpPr>
          <p:cNvPr id="117763" name="Rectangle 3"/>
          <p:cNvSpPr>
            <a:spLocks noChangeArrowheads="1"/>
          </p:cNvSpPr>
          <p:nvPr/>
        </p:nvSpPr>
        <p:spPr bwMode="auto">
          <a:xfrm>
            <a:off x="869950" y="1203325"/>
            <a:ext cx="612965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solidFill>
                  <a:srgbClr val="003366"/>
                </a:solidFill>
                <a:latin typeface="Arial" panose="020B0604020202020204" pitchFamily="34" charset="0"/>
                <a:ea typeface="楷体_GB2312" pitchFamily="49" charset="-122"/>
                <a:cs typeface="Arial" panose="020B0604020202020204" pitchFamily="34" charset="0"/>
              </a:rPr>
              <a:t>Sort before (56,34,</a:t>
            </a:r>
            <a:r>
              <a:rPr lang="en-US" altLang="zh-CN" b="1">
                <a:solidFill>
                  <a:srgbClr val="FF6600"/>
                </a:solidFill>
                <a:latin typeface="Arial" panose="020B0604020202020204" pitchFamily="34" charset="0"/>
                <a:cs typeface="Arial" panose="020B0604020202020204" pitchFamily="34" charset="0"/>
              </a:rPr>
              <a:t>47</a:t>
            </a:r>
            <a:r>
              <a:rPr lang="zh-CN" altLang="en-US">
                <a:solidFill>
                  <a:srgbClr val="003366"/>
                </a:solidFill>
                <a:latin typeface="Arial" panose="020B0604020202020204" pitchFamily="34" charset="0"/>
                <a:ea typeface="楷体_GB2312" pitchFamily="49" charset="-122"/>
                <a:cs typeface="Arial" panose="020B0604020202020204" pitchFamily="34" charset="0"/>
              </a:rPr>
              <a:t>,23,66,18,82,</a:t>
            </a:r>
            <a:r>
              <a:rPr lang="en-US" altLang="zh-CN" b="1">
                <a:solidFill>
                  <a:srgbClr val="0000FF"/>
                </a:solidFill>
                <a:latin typeface="Arial" panose="020B0604020202020204" pitchFamily="34" charset="0"/>
                <a:cs typeface="Arial" panose="020B0604020202020204" pitchFamily="34" charset="0"/>
              </a:rPr>
              <a:t>47</a:t>
            </a:r>
            <a:r>
              <a:rPr lang="zh-CN" altLang="en-US">
                <a:solidFill>
                  <a:srgbClr val="003366"/>
                </a:solidFill>
                <a:latin typeface="Arial" panose="020B0604020202020204" pitchFamily="34" charset="0"/>
                <a:ea typeface="楷体_GB2312" pitchFamily="49" charset="-122"/>
                <a:cs typeface="Arial" panose="020B0604020202020204" pitchFamily="34" charset="0"/>
              </a:rPr>
              <a:t>)</a:t>
            </a:r>
            <a:endParaRPr lang="en-US" altLang="zh-CN">
              <a:latin typeface="Arial" panose="020B0604020202020204" pitchFamily="34" charset="0"/>
              <a:cs typeface="Arial" panose="020B0604020202020204" pitchFamily="34" charset="0"/>
            </a:endParaRPr>
          </a:p>
        </p:txBody>
      </p:sp>
      <p:sp>
        <p:nvSpPr>
          <p:cNvPr id="117764" name="Rectangle 4"/>
          <p:cNvSpPr>
            <a:spLocks noChangeArrowheads="1"/>
          </p:cNvSpPr>
          <p:nvPr/>
        </p:nvSpPr>
        <p:spPr bwMode="auto">
          <a:xfrm>
            <a:off x="958850" y="2217738"/>
            <a:ext cx="5560060" cy="1447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05000"/>
              </a:lnSpc>
            </a:pPr>
            <a:r>
              <a:rPr lang="zh-CN" altLang="en-US">
                <a:solidFill>
                  <a:srgbClr val="003366"/>
                </a:solidFill>
                <a:latin typeface="Arial" panose="020B0604020202020204" pitchFamily="34" charset="0"/>
                <a:ea typeface="楷体_GB2312" pitchFamily="49" charset="-122"/>
                <a:cs typeface="Arial" panose="020B0604020202020204" pitchFamily="34" charset="0"/>
              </a:rPr>
              <a:t>If sorting produces the result</a:t>
            </a:r>
            <a:endParaRPr lang="zh-CN" altLang="en-US">
              <a:latin typeface="Arial" panose="020B0604020202020204" pitchFamily="34" charset="0"/>
              <a:cs typeface="Arial" panose="020B0604020202020204" pitchFamily="34" charset="0"/>
            </a:endParaRPr>
          </a:p>
          <a:p>
            <a:pPr>
              <a:lnSpc>
                <a:spcPct val="105000"/>
              </a:lnSpc>
            </a:pPr>
            <a:r>
              <a:rPr lang="en-US" altLang="zh-CN">
                <a:latin typeface="Arial" panose="020B0604020202020204" pitchFamily="34" charset="0"/>
                <a:cs typeface="Arial" panose="020B0604020202020204" pitchFamily="34" charset="0"/>
              </a:rPr>
              <a:t>( 18, 23, 34,  </a:t>
            </a:r>
            <a:r>
              <a:rPr lang="en-US" altLang="zh-CN" b="1">
                <a:solidFill>
                  <a:srgbClr val="FF6600"/>
                </a:solidFill>
                <a:latin typeface="Arial" panose="020B0604020202020204" pitchFamily="34" charset="0"/>
                <a:cs typeface="Arial" panose="020B0604020202020204" pitchFamily="34" charset="0"/>
              </a:rPr>
              <a:t>47</a:t>
            </a:r>
            <a:r>
              <a:rPr lang="en-US" altLang="zh-CN">
                <a:latin typeface="Arial" panose="020B0604020202020204" pitchFamily="34" charset="0"/>
                <a:cs typeface="Arial" panose="020B0604020202020204" pitchFamily="34" charset="0"/>
              </a:rPr>
              <a:t> ,  </a:t>
            </a:r>
            <a:r>
              <a:rPr lang="en-US" altLang="zh-CN" b="1">
                <a:solidFill>
                  <a:srgbClr val="0000FF"/>
                </a:solidFill>
                <a:latin typeface="Arial" panose="020B0604020202020204" pitchFamily="34" charset="0"/>
                <a:cs typeface="Arial" panose="020B0604020202020204" pitchFamily="34" charset="0"/>
              </a:rPr>
              <a:t>47</a:t>
            </a:r>
            <a:r>
              <a:rPr lang="en-US" altLang="zh-CN">
                <a:latin typeface="Arial" panose="020B0604020202020204" pitchFamily="34" charset="0"/>
                <a:cs typeface="Arial" panose="020B0604020202020204" pitchFamily="34" charset="0"/>
              </a:rPr>
              <a:t> , 56, 66, 82 )</a:t>
            </a:r>
          </a:p>
          <a:p>
            <a:pPr>
              <a:lnSpc>
                <a:spcPct val="105000"/>
              </a:lnSpc>
            </a:pPr>
            <a:r>
              <a:rPr lang="zh-CN" altLang="en-US">
                <a:solidFill>
                  <a:srgbClr val="003366"/>
                </a:solidFill>
                <a:latin typeface="Arial" panose="020B0604020202020204" pitchFamily="34" charset="0"/>
                <a:ea typeface="楷体_GB2312" pitchFamily="49" charset="-122"/>
                <a:cs typeface="Arial" panose="020B0604020202020204" pitchFamily="34" charset="0"/>
              </a:rPr>
              <a:t>then the sorting method is </a:t>
            </a:r>
            <a:r>
              <a:rPr lang="zh-CN" altLang="en-US" b="1">
                <a:solidFill>
                  <a:srgbClr val="990000"/>
                </a:solidFill>
                <a:latin typeface="Arial" panose="020B0604020202020204" pitchFamily="34" charset="0"/>
                <a:ea typeface="楷体_GB2312" pitchFamily="49" charset="-122"/>
                <a:cs typeface="Arial" panose="020B0604020202020204" pitchFamily="34" charset="0"/>
              </a:rPr>
              <a:t>stable</a:t>
            </a:r>
            <a:r>
              <a:rPr lang="zh-CN" altLang="en-US">
                <a:solidFill>
                  <a:srgbClr val="003366"/>
                </a:solidFill>
                <a:latin typeface="Arial" panose="020B0604020202020204" pitchFamily="34" charset="0"/>
                <a:ea typeface="楷体_GB2312" pitchFamily="49" charset="-122"/>
                <a:cs typeface="Arial" panose="020B0604020202020204" pitchFamily="34" charset="0"/>
              </a:rPr>
              <a:t>.</a:t>
            </a:r>
            <a:endParaRPr lang="en-US" altLang="zh-CN">
              <a:latin typeface="Arial" panose="020B0604020202020204" pitchFamily="34" charset="0"/>
              <a:cs typeface="Arial" panose="020B0604020202020204" pitchFamily="34" charset="0"/>
            </a:endParaRPr>
          </a:p>
        </p:txBody>
      </p:sp>
      <p:sp>
        <p:nvSpPr>
          <p:cNvPr id="117765" name="Rectangle 5"/>
          <p:cNvSpPr>
            <a:spLocks noChangeArrowheads="1"/>
          </p:cNvSpPr>
          <p:nvPr/>
        </p:nvSpPr>
        <p:spPr bwMode="auto">
          <a:xfrm>
            <a:off x="935038" y="4257675"/>
            <a:ext cx="6285865" cy="1447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05000"/>
              </a:lnSpc>
            </a:pPr>
            <a:r>
              <a:rPr lang="zh-CN" altLang="en-US">
                <a:solidFill>
                  <a:srgbClr val="003366"/>
                </a:solidFill>
                <a:latin typeface="Arial" panose="020B0604020202020204" pitchFamily="34" charset="0"/>
                <a:ea typeface="楷体_GB2312" pitchFamily="49" charset="-122"/>
                <a:cs typeface="Arial" panose="020B0604020202020204" pitchFamily="34" charset="0"/>
              </a:rPr>
              <a:t>If sorting produces the result</a:t>
            </a:r>
            <a:endParaRPr lang="zh-CN" altLang="en-US">
              <a:latin typeface="Arial" panose="020B0604020202020204" pitchFamily="34" charset="0"/>
              <a:cs typeface="Arial" panose="020B0604020202020204" pitchFamily="34" charset="0"/>
            </a:endParaRPr>
          </a:p>
          <a:p>
            <a:pPr>
              <a:lnSpc>
                <a:spcPct val="105000"/>
              </a:lnSpc>
            </a:pPr>
            <a:r>
              <a:rPr lang="en-US" altLang="zh-CN">
                <a:latin typeface="Arial" panose="020B0604020202020204" pitchFamily="34" charset="0"/>
                <a:cs typeface="Arial" panose="020B0604020202020204" pitchFamily="34" charset="0"/>
              </a:rPr>
              <a:t>( 18, 23, 34,  </a:t>
            </a:r>
            <a:r>
              <a:rPr lang="en-US" altLang="zh-CN" b="1">
                <a:solidFill>
                  <a:srgbClr val="0000FF"/>
                </a:solidFill>
                <a:latin typeface="Arial" panose="020B0604020202020204" pitchFamily="34" charset="0"/>
                <a:cs typeface="Arial" panose="020B0604020202020204" pitchFamily="34" charset="0"/>
              </a:rPr>
              <a:t>47</a:t>
            </a:r>
            <a:r>
              <a:rPr lang="en-US" altLang="zh-CN">
                <a:latin typeface="Arial" panose="020B0604020202020204" pitchFamily="34" charset="0"/>
                <a:cs typeface="Arial" panose="020B0604020202020204" pitchFamily="34" charset="0"/>
              </a:rPr>
              <a:t> ,  </a:t>
            </a:r>
            <a:r>
              <a:rPr lang="en-US" altLang="zh-CN" b="1">
                <a:solidFill>
                  <a:srgbClr val="FF6600"/>
                </a:solidFill>
                <a:latin typeface="Arial" panose="020B0604020202020204" pitchFamily="34" charset="0"/>
                <a:cs typeface="Arial" panose="020B0604020202020204" pitchFamily="34" charset="0"/>
              </a:rPr>
              <a:t>47</a:t>
            </a:r>
            <a:r>
              <a:rPr lang="en-US" altLang="zh-CN">
                <a:latin typeface="Arial" panose="020B0604020202020204" pitchFamily="34" charset="0"/>
                <a:cs typeface="Arial" panose="020B0604020202020204" pitchFamily="34" charset="0"/>
              </a:rPr>
              <a:t> , 56, 66, 82 )</a:t>
            </a:r>
          </a:p>
          <a:p>
            <a:pPr>
              <a:lnSpc>
                <a:spcPct val="105000"/>
              </a:lnSpc>
            </a:pPr>
            <a:r>
              <a:rPr lang="zh-CN" altLang="en-US">
                <a:solidFill>
                  <a:srgbClr val="003366"/>
                </a:solidFill>
                <a:latin typeface="Arial" panose="020B0604020202020204" pitchFamily="34" charset="0"/>
                <a:ea typeface="楷体_GB2312" pitchFamily="49" charset="-122"/>
                <a:cs typeface="Arial" panose="020B0604020202020204" pitchFamily="34" charset="0"/>
              </a:rPr>
              <a:t>The sorting method is called </a:t>
            </a:r>
            <a:r>
              <a:rPr lang="zh-CN" altLang="en-US" b="1">
                <a:solidFill>
                  <a:srgbClr val="990000"/>
                </a:solidFill>
                <a:latin typeface="Arial" panose="020B0604020202020204" pitchFamily="34" charset="0"/>
                <a:ea typeface="楷体_GB2312" pitchFamily="49" charset="-122"/>
                <a:cs typeface="Arial" panose="020B0604020202020204" pitchFamily="34" charset="0"/>
              </a:rPr>
              <a:t>unstable.</a:t>
            </a:r>
            <a:endParaRPr lang="zh-CN" altLang="en-US">
              <a:solidFill>
                <a:srgbClr val="003366"/>
              </a:solidFill>
              <a:latin typeface="Arial" panose="020B0604020202020204" pitchFamily="34" charset="0"/>
              <a:ea typeface="楷体_GB2312" pitchFamily="49" charset="-122"/>
              <a:cs typeface="Arial" panose="020B0604020202020204" pitchFamily="34" charset="0"/>
            </a:endParaRP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125</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7762"/>
                                        </p:tgtEl>
                                        <p:attrNameLst>
                                          <p:attrName>style.visibility</p:attrName>
                                        </p:attrNameLst>
                                      </p:cBhvr>
                                      <p:to>
                                        <p:strVal val="visible"/>
                                      </p:to>
                                    </p:set>
                                    <p:animEffect transition="in" filter="wipe(left)">
                                      <p:cBhvr>
                                        <p:cTn id="7" dur="500"/>
                                        <p:tgtEl>
                                          <p:spTgt spid="11776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7763"/>
                                        </p:tgtEl>
                                        <p:attrNameLst>
                                          <p:attrName>style.visibility</p:attrName>
                                        </p:attrNameLst>
                                      </p:cBhvr>
                                      <p:to>
                                        <p:strVal val="visible"/>
                                      </p:to>
                                    </p:set>
                                    <p:animEffect transition="in" filter="wipe(left)">
                                      <p:cBhvr>
                                        <p:cTn id="12" dur="500"/>
                                        <p:tgtEl>
                                          <p:spTgt spid="11776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7764"/>
                                        </p:tgtEl>
                                        <p:attrNameLst>
                                          <p:attrName>style.visibility</p:attrName>
                                        </p:attrNameLst>
                                      </p:cBhvr>
                                      <p:to>
                                        <p:strVal val="visible"/>
                                      </p:to>
                                    </p:set>
                                    <p:animEffect transition="in" filter="wipe(left)">
                                      <p:cBhvr>
                                        <p:cTn id="17" dur="500"/>
                                        <p:tgtEl>
                                          <p:spTgt spid="11776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7765"/>
                                        </p:tgtEl>
                                        <p:attrNameLst>
                                          <p:attrName>style.visibility</p:attrName>
                                        </p:attrNameLst>
                                      </p:cBhvr>
                                      <p:to>
                                        <p:strVal val="visible"/>
                                      </p:to>
                                    </p:set>
                                    <p:animEffect transition="in" filter="wipe(left)">
                                      <p:cBhvr>
                                        <p:cTn id="22" dur="500"/>
                                        <p:tgtEl>
                                          <p:spTgt spid="1177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2" grpId="0" bldLvl="0" animBg="1" autoUpdateAnimBg="0"/>
      <p:bldP spid="117763" grpId="0" bldLvl="0" animBg="1" autoUpdateAnimBg="0"/>
      <p:bldP spid="117764" grpId="0" bldLvl="0" animBg="1" autoUpdateAnimBg="0"/>
      <p:bldP spid="117765" grpId="0" bldLvl="0" animBg="1" autoUpdateAnimBg="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Text Box 2"/>
          <p:cNvSpPr txBox="1">
            <a:spLocks noChangeArrowheads="1"/>
          </p:cNvSpPr>
          <p:nvPr/>
        </p:nvSpPr>
        <p:spPr bwMode="auto">
          <a:xfrm>
            <a:off x="0" y="657225"/>
            <a:ext cx="8628063" cy="995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05000"/>
              </a:lnSpc>
            </a:pPr>
            <a:r>
              <a:rPr lang="en-US" altLang="zh-CN" b="1">
                <a:latin typeface="Arial" panose="020B0604020202020204" pitchFamily="34" charset="0"/>
                <a:ea typeface="楷体_GB2312" pitchFamily="49" charset="-122"/>
                <a:cs typeface="Arial" panose="020B0604020202020204" pitchFamily="34" charset="0"/>
              </a:rPr>
              <a:t>3.</a:t>
            </a:r>
            <a:r>
              <a:rPr lang="zh-CN" altLang="en-US">
                <a:latin typeface="Arial" panose="020B0604020202020204" pitchFamily="34" charset="0"/>
                <a:ea typeface="楷体_GB2312" pitchFamily="49" charset="-122"/>
                <a:cs typeface="Arial" panose="020B0604020202020204" pitchFamily="34" charset="0"/>
              </a:rPr>
              <a:t>For unstable sorting methods, just provide one example to illustrate.</a:t>
            </a:r>
          </a:p>
        </p:txBody>
      </p:sp>
      <p:sp>
        <p:nvSpPr>
          <p:cNvPr id="118787" name="Text Box 3"/>
          <p:cNvSpPr txBox="1">
            <a:spLocks noChangeArrowheads="1"/>
          </p:cNvSpPr>
          <p:nvPr/>
        </p:nvSpPr>
        <p:spPr bwMode="auto">
          <a:xfrm>
            <a:off x="0" y="4041775"/>
            <a:ext cx="8555038" cy="116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en-US" altLang="zh-CN" dirty="0">
                <a:latin typeface="Arial" panose="020B0604020202020204" pitchFamily="34" charset="0"/>
                <a:ea typeface="楷体_GB2312" pitchFamily="49" charset="-122"/>
                <a:cs typeface="Arial" panose="020B0604020202020204" pitchFamily="34" charset="0"/>
              </a:rPr>
              <a:t>4.</a:t>
            </a:r>
            <a:r>
              <a:rPr lang="zh-CN" altLang="en-US" b="1">
                <a:solidFill>
                  <a:srgbClr val="993300"/>
                </a:solidFill>
                <a:latin typeface="Arial" panose="020B0604020202020204" pitchFamily="34" charset="0"/>
                <a:ea typeface="楷体_GB2312" pitchFamily="49" charset="-122"/>
                <a:cs typeface="Arial" panose="020B0604020202020204" pitchFamily="34" charset="0"/>
                <a:sym typeface="+mn-ea"/>
              </a:rPr>
              <a:t>Quick sort, </a:t>
            </a:r>
            <a:r>
              <a:rPr lang="zh-CN" altLang="en-US">
                <a:latin typeface="Arial" panose="020B0604020202020204" pitchFamily="34" charset="0"/>
                <a:ea typeface="楷体_GB2312" pitchFamily="49" charset="-122"/>
                <a:cs typeface="Arial" panose="020B0604020202020204" pitchFamily="34" charset="0"/>
                <a:sym typeface="+mn-ea"/>
              </a:rPr>
              <a:t>direct selection sort</a:t>
            </a:r>
            <a:r>
              <a:rPr lang="zh-CN" altLang="en-US" b="1">
                <a:solidFill>
                  <a:srgbClr val="993300"/>
                </a:solidFill>
                <a:latin typeface="Arial" panose="020B0604020202020204" pitchFamily="34" charset="0"/>
                <a:ea typeface="楷体_GB2312" pitchFamily="49" charset="-122"/>
                <a:cs typeface="Arial" panose="020B0604020202020204" pitchFamily="34" charset="0"/>
                <a:sym typeface="+mn-ea"/>
              </a:rPr>
              <a:t>, heap sort, </a:t>
            </a:r>
            <a:r>
              <a:rPr lang="zh-CN" altLang="en-US">
                <a:latin typeface="Arial" panose="020B0604020202020204" pitchFamily="34" charset="0"/>
                <a:ea typeface="楷体_GB2312" pitchFamily="49" charset="-122"/>
                <a:cs typeface="Arial" panose="020B0604020202020204" pitchFamily="34" charset="0"/>
                <a:sym typeface="+mn-ea"/>
              </a:rPr>
              <a:t>and</a:t>
            </a:r>
            <a:r>
              <a:rPr lang="zh-CN" altLang="en-US" b="1">
                <a:solidFill>
                  <a:srgbClr val="993300"/>
                </a:solidFill>
                <a:latin typeface="Arial" panose="020B0604020202020204" pitchFamily="34" charset="0"/>
                <a:ea typeface="楷体_GB2312" pitchFamily="49" charset="-122"/>
                <a:cs typeface="Arial" panose="020B0604020202020204" pitchFamily="34" charset="0"/>
                <a:sym typeface="+mn-ea"/>
              </a:rPr>
              <a:t> Shell sort</a:t>
            </a:r>
            <a:r>
              <a:rPr lang="en-US" altLang="zh-CN" b="1">
                <a:solidFill>
                  <a:srgbClr val="993300"/>
                </a:solidFill>
                <a:latin typeface="Arial" panose="020B0604020202020204" pitchFamily="34" charset="0"/>
                <a:ea typeface="楷体_GB2312" pitchFamily="49" charset="-122"/>
                <a:cs typeface="Arial" panose="020B0604020202020204" pitchFamily="34" charset="0"/>
                <a:sym typeface="+mn-ea"/>
              </a:rPr>
              <a:t> </a:t>
            </a:r>
            <a:r>
              <a:rPr lang="en-US" altLang="zh-CN" dirty="0">
                <a:latin typeface="Arial" panose="020B0604020202020204" pitchFamily="34" charset="0"/>
                <a:ea typeface="楷体_GB2312" pitchFamily="49" charset="-122"/>
                <a:cs typeface="Arial" panose="020B0604020202020204" pitchFamily="34" charset="0"/>
              </a:rPr>
              <a:t>are </a:t>
            </a:r>
            <a:r>
              <a:rPr lang="zh-CN" altLang="en-US" b="1" dirty="0">
                <a:solidFill>
                  <a:srgbClr val="008000"/>
                </a:solidFill>
                <a:latin typeface="Arial" panose="020B0604020202020204" pitchFamily="34" charset="0"/>
                <a:ea typeface="楷体_GB2312" pitchFamily="49" charset="-122"/>
                <a:cs typeface="Arial" panose="020B0604020202020204" pitchFamily="34" charset="0"/>
              </a:rPr>
              <a:t>an unstable sorting method</a:t>
            </a:r>
            <a:r>
              <a:rPr lang="zh-CN" altLang="en-US" dirty="0">
                <a:latin typeface="Arial" panose="020B0604020202020204" pitchFamily="34" charset="0"/>
                <a:ea typeface="楷体_GB2312" pitchFamily="49" charset="-122"/>
                <a:cs typeface="Arial" panose="020B0604020202020204" pitchFamily="34" charset="0"/>
              </a:rPr>
              <a:t>.</a:t>
            </a:r>
            <a:endParaRPr lang="zh-CN" altLang="en-US" b="1" dirty="0">
              <a:latin typeface="Arial" panose="020B0604020202020204" pitchFamily="34" charset="0"/>
              <a:ea typeface="楷体_GB2312" pitchFamily="49" charset="-122"/>
              <a:cs typeface="Arial" panose="020B0604020202020204" pitchFamily="34" charset="0"/>
            </a:endParaRPr>
          </a:p>
        </p:txBody>
      </p:sp>
      <p:sp>
        <p:nvSpPr>
          <p:cNvPr id="118788" name="Text Box 4"/>
          <p:cNvSpPr txBox="1">
            <a:spLocks noChangeArrowheads="1"/>
          </p:cNvSpPr>
          <p:nvPr/>
        </p:nvSpPr>
        <p:spPr bwMode="auto">
          <a:xfrm>
            <a:off x="555625" y="2497138"/>
            <a:ext cx="8264525" cy="116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latin typeface="Arial" panose="020B0604020202020204" pitchFamily="34" charset="0"/>
                <a:ea typeface="楷体_GB2312" pitchFamily="49" charset="-122"/>
                <a:cs typeface="Arial" panose="020B0604020202020204" pitchFamily="34" charset="0"/>
              </a:rPr>
              <a:t>For example, sort the array {</a:t>
            </a:r>
            <a:r>
              <a:rPr lang="en-US" altLang="zh-CN" b="1">
                <a:solidFill>
                  <a:srgbClr val="993300"/>
                </a:solidFill>
                <a:latin typeface="Arial" panose="020B0604020202020204" pitchFamily="34" charset="0"/>
                <a:ea typeface="楷体_GB2312" pitchFamily="49" charset="-122"/>
                <a:cs typeface="Arial" panose="020B0604020202020204" pitchFamily="34" charset="0"/>
              </a:rPr>
              <a:t>4</a:t>
            </a:r>
            <a:r>
              <a:rPr lang="zh-CN" altLang="en-US" b="1">
                <a:latin typeface="Arial" panose="020B0604020202020204" pitchFamily="34" charset="0"/>
                <a:ea typeface="楷体_GB2312" pitchFamily="49" charset="-122"/>
                <a:cs typeface="Arial" panose="020B0604020202020204" pitchFamily="34" charset="0"/>
              </a:rPr>
              <a:t>,3,4,2} quickly.</a:t>
            </a:r>
            <a:endParaRPr lang="zh-CN" altLang="en-US">
              <a:latin typeface="Arial" panose="020B0604020202020204" pitchFamily="34" charset="0"/>
              <a:ea typeface="楷体_GB2312" pitchFamily="49" charset="-122"/>
              <a:cs typeface="Arial" panose="020B0604020202020204" pitchFamily="34" charset="0"/>
            </a:endParaRPr>
          </a:p>
          <a:p>
            <a:pPr>
              <a:spcBef>
                <a:spcPct val="50000"/>
              </a:spcBef>
            </a:pPr>
            <a:r>
              <a:rPr lang="zh-CN" altLang="en-US">
                <a:latin typeface="Arial" panose="020B0604020202020204" pitchFamily="34" charset="0"/>
                <a:ea typeface="楷体_GB2312" pitchFamily="49" charset="-122"/>
                <a:cs typeface="Arial" panose="020B0604020202020204" pitchFamily="34" charset="0"/>
              </a:rPr>
              <a:t>Get {2,3,4,</a:t>
            </a:r>
            <a:r>
              <a:rPr lang="en-US" altLang="zh-CN" b="1">
                <a:solidFill>
                  <a:srgbClr val="993300"/>
                </a:solidFill>
                <a:latin typeface="Arial" panose="020B0604020202020204" pitchFamily="34" charset="0"/>
                <a:ea typeface="楷体_GB2312" pitchFamily="49" charset="-122"/>
                <a:cs typeface="Arial" panose="020B0604020202020204" pitchFamily="34" charset="0"/>
              </a:rPr>
              <a:t>4</a:t>
            </a:r>
            <a:r>
              <a:rPr lang="zh-CN" altLang="en-US">
                <a:latin typeface="Arial" panose="020B0604020202020204" pitchFamily="34" charset="0"/>
                <a:ea typeface="楷体_GB2312" pitchFamily="49" charset="-122"/>
                <a:cs typeface="Arial" panose="020B0604020202020204" pitchFamily="34" charset="0"/>
              </a:rPr>
              <a:t>}</a:t>
            </a:r>
            <a:endParaRPr lang="en-US" altLang="zh-CN">
              <a:latin typeface="Arial" panose="020B0604020202020204" pitchFamily="34" charset="0"/>
              <a:ea typeface="楷体_GB2312" pitchFamily="49" charset="-122"/>
              <a:cs typeface="Arial" panose="020B0604020202020204" pitchFamily="34" charset="0"/>
            </a:endParaRP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126</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8786"/>
                                        </p:tgtEl>
                                        <p:attrNameLst>
                                          <p:attrName>style.visibility</p:attrName>
                                        </p:attrNameLst>
                                      </p:cBhvr>
                                      <p:to>
                                        <p:strVal val="visible"/>
                                      </p:to>
                                    </p:set>
                                    <p:animEffect transition="in" filter="wipe(left)">
                                      <p:cBhvr>
                                        <p:cTn id="7" dur="500"/>
                                        <p:tgtEl>
                                          <p:spTgt spid="11878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8788"/>
                                        </p:tgtEl>
                                        <p:attrNameLst>
                                          <p:attrName>style.visibility</p:attrName>
                                        </p:attrNameLst>
                                      </p:cBhvr>
                                      <p:to>
                                        <p:strVal val="visible"/>
                                      </p:to>
                                    </p:set>
                                    <p:animEffect transition="in" filter="wipe(left)">
                                      <p:cBhvr>
                                        <p:cTn id="12" dur="500"/>
                                        <p:tgtEl>
                                          <p:spTgt spid="11878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8787"/>
                                        </p:tgtEl>
                                        <p:attrNameLst>
                                          <p:attrName>style.visibility</p:attrName>
                                        </p:attrNameLst>
                                      </p:cBhvr>
                                      <p:to>
                                        <p:strVal val="visible"/>
                                      </p:to>
                                    </p:set>
                                    <p:animEffect transition="in" filter="wipe(left)">
                                      <p:cBhvr>
                                        <p:cTn id="17" dur="500"/>
                                        <p:tgtEl>
                                          <p:spTgt spid="1187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6" grpId="0" bldLvl="0" animBg="1" autoUpdateAnimBg="0"/>
      <p:bldP spid="118787" grpId="0" bldLvl="0" animBg="1" autoUpdateAnimBg="0"/>
      <p:bldP spid="118788" grpId="0" bldLvl="0" animBg="1" autoUpdateAnimBg="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Text Box 2"/>
          <p:cNvSpPr txBox="1">
            <a:spLocks noChangeArrowheads="1"/>
          </p:cNvSpPr>
          <p:nvPr/>
        </p:nvSpPr>
        <p:spPr bwMode="auto">
          <a:xfrm>
            <a:off x="381000" y="654050"/>
            <a:ext cx="8686800" cy="107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200" b="1">
                <a:latin typeface="Arial" panose="020B0604020202020204" pitchFamily="34" charset="0"/>
                <a:ea typeface="楷体_GB2312" pitchFamily="49" charset="-122"/>
                <a:cs typeface="Arial" panose="020B0604020202020204" pitchFamily="34" charset="0"/>
              </a:rPr>
              <a:t>4. On the Lower Bound of Time Complexity of Sorting Method</a:t>
            </a:r>
          </a:p>
        </p:txBody>
      </p:sp>
      <p:sp>
        <p:nvSpPr>
          <p:cNvPr id="119811" name="Text Box 3"/>
          <p:cNvSpPr txBox="1">
            <a:spLocks noChangeArrowheads="1"/>
          </p:cNvSpPr>
          <p:nvPr/>
        </p:nvSpPr>
        <p:spPr bwMode="auto">
          <a:xfrm>
            <a:off x="381000" y="1512888"/>
            <a:ext cx="8763000" cy="1770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pPr>
            <a:r>
              <a:rPr lang="zh-CN" altLang="en-US" dirty="0">
                <a:latin typeface="Arial" panose="020B0604020202020204" pitchFamily="34" charset="0"/>
                <a:ea typeface="楷体_GB2312" pitchFamily="49" charset="-122"/>
                <a:cs typeface="Arial" panose="020B0604020202020204" pitchFamily="34" charset="0"/>
              </a:rPr>
              <a:t>Except base sort, all the other methods discussed in this chapter are </a:t>
            </a:r>
            <a:r>
              <a:rPr lang="zh-CN" altLang="en-US" b="1" dirty="0">
                <a:solidFill>
                  <a:srgbClr val="008000"/>
                </a:solidFill>
                <a:latin typeface="Arial" panose="020B0604020202020204" pitchFamily="34" charset="0"/>
                <a:ea typeface="楷体_GB2312" pitchFamily="49" charset="-122"/>
                <a:cs typeface="Arial" panose="020B0604020202020204" pitchFamily="34" charset="0"/>
              </a:rPr>
              <a:t>based on the comparison of keywords.</a:t>
            </a:r>
            <a:endParaRPr lang="zh-CN" altLang="en-US" dirty="0">
              <a:solidFill>
                <a:srgbClr val="008000"/>
              </a:solidFill>
              <a:latin typeface="Arial" panose="020B0604020202020204" pitchFamily="34" charset="0"/>
              <a:ea typeface="楷体_GB2312" pitchFamily="49" charset="-122"/>
              <a:cs typeface="Arial" panose="020B0604020202020204" pitchFamily="34" charset="0"/>
            </a:endParaRPr>
          </a:p>
        </p:txBody>
      </p:sp>
      <p:sp>
        <p:nvSpPr>
          <p:cNvPr id="119812" name="Rectangle 4"/>
          <p:cNvSpPr>
            <a:spLocks noChangeArrowheads="1"/>
          </p:cNvSpPr>
          <p:nvPr/>
        </p:nvSpPr>
        <p:spPr bwMode="auto">
          <a:xfrm>
            <a:off x="381000" y="3505200"/>
            <a:ext cx="8534400" cy="2330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pPr>
            <a:r>
              <a:rPr lang="zh-CN" altLang="en-US" dirty="0">
                <a:latin typeface="Arial" panose="020B0604020202020204" pitchFamily="34" charset="0"/>
                <a:ea typeface="楷体_GB2312" pitchFamily="49" charset="-122"/>
                <a:cs typeface="Arial" panose="020B0604020202020204" pitchFamily="34" charset="0"/>
              </a:rPr>
              <a:t>It can be shown that the </a:t>
            </a:r>
            <a:r>
              <a:rPr lang="zh-CN" altLang="en-US" b="1" dirty="0">
                <a:solidFill>
                  <a:srgbClr val="008000"/>
                </a:solidFill>
                <a:latin typeface="Arial" panose="020B0604020202020204" pitchFamily="34" charset="0"/>
                <a:ea typeface="楷体_GB2312" pitchFamily="49" charset="-122"/>
                <a:cs typeface="Arial" panose="020B0604020202020204" pitchFamily="34" charset="0"/>
              </a:rPr>
              <a:t>fastest time complexity achievable by such sorting methods</a:t>
            </a:r>
            <a:r>
              <a:rPr lang="zh-CN" altLang="en-US" dirty="0">
                <a:latin typeface="Arial" panose="020B0604020202020204" pitchFamily="34" charset="0"/>
                <a:ea typeface="楷体_GB2312" pitchFamily="49" charset="-122"/>
                <a:cs typeface="Arial" panose="020B0604020202020204" pitchFamily="34" charset="0"/>
              </a:rPr>
              <a:t> is O(n log n). (Radix sort, which does not rely on comparing key values, is exempt from this constraint.)</a:t>
            </a:r>
            <a:endParaRPr lang="en-US" altLang="zh-CN" dirty="0">
              <a:latin typeface="Arial" panose="020B0604020202020204" pitchFamily="34" charset="0"/>
              <a:ea typeface="楷体_GB2312" pitchFamily="49" charset="-122"/>
              <a:cs typeface="Arial" panose="020B0604020202020204" pitchFamily="34" charset="0"/>
            </a:endParaRP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127</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119810"/>
                                        </p:tgtEl>
                                        <p:attrNameLst>
                                          <p:attrName>style.visibility</p:attrName>
                                        </p:attrNameLst>
                                      </p:cBhvr>
                                      <p:to>
                                        <p:strVal val="visible"/>
                                      </p:to>
                                    </p:set>
                                    <p:anim calcmode="lin" valueType="num">
                                      <p:cBhvr>
                                        <p:cTn id="7" dur="500" fill="hold"/>
                                        <p:tgtEl>
                                          <p:spTgt spid="119810"/>
                                        </p:tgtEl>
                                        <p:attrNameLst>
                                          <p:attrName>ppt_w</p:attrName>
                                        </p:attrNameLst>
                                      </p:cBhvr>
                                      <p:tavLst>
                                        <p:tav tm="0">
                                          <p:val>
                                            <p:fltVal val="0"/>
                                          </p:val>
                                        </p:tav>
                                        <p:tav tm="100000">
                                          <p:val>
                                            <p:strVal val="#ppt_w"/>
                                          </p:val>
                                        </p:tav>
                                      </p:tavLst>
                                    </p:anim>
                                    <p:anim calcmode="lin" valueType="num">
                                      <p:cBhvr>
                                        <p:cTn id="8" dur="500" fill="hold"/>
                                        <p:tgtEl>
                                          <p:spTgt spid="119810"/>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8" presetClass="entr" presetSubtype="12" fill="hold" grpId="0" nodeType="clickEffect">
                                  <p:stCondLst>
                                    <p:cond delay="0"/>
                                  </p:stCondLst>
                                  <p:childTnLst>
                                    <p:set>
                                      <p:cBhvr>
                                        <p:cTn id="12" dur="1" fill="hold">
                                          <p:stCondLst>
                                            <p:cond delay="0"/>
                                          </p:stCondLst>
                                        </p:cTn>
                                        <p:tgtEl>
                                          <p:spTgt spid="119811"/>
                                        </p:tgtEl>
                                        <p:attrNameLst>
                                          <p:attrName>style.visibility</p:attrName>
                                        </p:attrNameLst>
                                      </p:cBhvr>
                                      <p:to>
                                        <p:strVal val="visible"/>
                                      </p:to>
                                    </p:set>
                                    <p:animEffect transition="in" filter="strips(downLeft)">
                                      <p:cBhvr>
                                        <p:cTn id="13" dur="500"/>
                                        <p:tgtEl>
                                          <p:spTgt spid="119811"/>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19812"/>
                                        </p:tgtEl>
                                        <p:attrNameLst>
                                          <p:attrName>style.visibility</p:attrName>
                                        </p:attrNameLst>
                                      </p:cBhvr>
                                      <p:to>
                                        <p:strVal val="visible"/>
                                      </p:to>
                                    </p:set>
                                    <p:anim calcmode="lin" valueType="num">
                                      <p:cBhvr additive="base">
                                        <p:cTn id="18" dur="500" fill="hold"/>
                                        <p:tgtEl>
                                          <p:spTgt spid="119812"/>
                                        </p:tgtEl>
                                        <p:attrNameLst>
                                          <p:attrName>ppt_x</p:attrName>
                                        </p:attrNameLst>
                                      </p:cBhvr>
                                      <p:tavLst>
                                        <p:tav tm="0">
                                          <p:val>
                                            <p:strVal val="0-#ppt_w/2"/>
                                          </p:val>
                                        </p:tav>
                                        <p:tav tm="100000">
                                          <p:val>
                                            <p:strVal val="#ppt_x"/>
                                          </p:val>
                                        </p:tav>
                                      </p:tavLst>
                                    </p:anim>
                                    <p:anim calcmode="lin" valueType="num">
                                      <p:cBhvr additive="base">
                                        <p:cTn id="19" dur="500" fill="hold"/>
                                        <p:tgtEl>
                                          <p:spTgt spid="1198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0" grpId="0" bldLvl="0" animBg="1" autoUpdateAnimBg="0"/>
      <p:bldP spid="119811" grpId="0" bldLvl="0" animBg="1" autoUpdateAnimBg="0"/>
      <p:bldP spid="119812" grpId="0" bldLvl="0" animBg="1" autoUpdateAnimBg="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0" y="116632"/>
            <a:ext cx="7200800" cy="720080"/>
          </a:xfrm>
        </p:spPr>
        <p:txBody>
          <a:bodyPr/>
          <a:lstStyle/>
          <a:p>
            <a:r>
              <a:rPr altLang="zh-CN">
                <a:effectLst/>
                <a:sym typeface="+mn-ea"/>
              </a:rPr>
              <a:t>Chapter Contents</a:t>
            </a:r>
            <a:endParaRPr lang="zh-CN" altLang="en-US" dirty="0">
              <a:ea typeface="宋体" panose="02010600030101010101" pitchFamily="2" charset="-122"/>
              <a:cs typeface="Arial" panose="020B0604020202020204" pitchFamily="34" charset="0"/>
            </a:endParaRPr>
          </a:p>
        </p:txBody>
      </p:sp>
      <p:sp>
        <p:nvSpPr>
          <p:cNvPr id="3" name="内容占位符 2"/>
          <p:cNvSpPr>
            <a:spLocks noGrp="1"/>
          </p:cNvSpPr>
          <p:nvPr>
            <p:ph idx="1"/>
          </p:nvPr>
        </p:nvSpPr>
        <p:spPr>
          <a:xfrm>
            <a:off x="251520" y="836712"/>
            <a:ext cx="8640960" cy="5544616"/>
          </a:xfrm>
        </p:spPr>
        <p:txBody>
          <a:bodyPr/>
          <a:lstStyle/>
          <a:p>
            <a:r>
              <a:rPr lang="en-US" altLang="zh-CN" b="1" dirty="0">
                <a:cs typeface="Arial" panose="020B0604020202020204" pitchFamily="34" charset="0"/>
              </a:rPr>
              <a:t>I</a:t>
            </a:r>
            <a:r>
              <a:rPr lang="zh-CN" altLang="en-US" b="1" dirty="0">
                <a:cs typeface="Arial" panose="020B0604020202020204" pitchFamily="34" charset="0"/>
              </a:rPr>
              <a:t>nsertion </a:t>
            </a:r>
            <a:r>
              <a:rPr lang="en-US" altLang="zh-CN" b="1" dirty="0">
                <a:cs typeface="Arial" panose="020B0604020202020204" pitchFamily="34" charset="0"/>
              </a:rPr>
              <a:t>S</a:t>
            </a:r>
            <a:r>
              <a:rPr lang="zh-CN" altLang="en-US" b="1" dirty="0">
                <a:cs typeface="Arial" panose="020B0604020202020204" pitchFamily="34" charset="0"/>
              </a:rPr>
              <a:t>ort</a:t>
            </a:r>
            <a:endParaRPr lang="en-US" altLang="zh-CN" b="1" dirty="0">
              <a:cs typeface="Arial" panose="020B0604020202020204" pitchFamily="34" charset="0"/>
            </a:endParaRPr>
          </a:p>
          <a:p>
            <a:r>
              <a:rPr lang="zh-CN" altLang="en-US" b="1" dirty="0">
                <a:cs typeface="Arial" panose="020B0604020202020204" pitchFamily="34" charset="0"/>
              </a:rPr>
              <a:t>Exchange </a:t>
            </a:r>
            <a:r>
              <a:rPr lang="en-US" altLang="zh-CN" b="1" dirty="0">
                <a:cs typeface="Arial" panose="020B0604020202020204" pitchFamily="34" charset="0"/>
              </a:rPr>
              <a:t>S</a:t>
            </a:r>
            <a:r>
              <a:rPr lang="zh-CN" altLang="en-US" b="1" dirty="0">
                <a:cs typeface="Arial" panose="020B0604020202020204" pitchFamily="34" charset="0"/>
              </a:rPr>
              <a:t>ort </a:t>
            </a:r>
            <a:r>
              <a:rPr lang="en-US" altLang="zh-CN" b="1" dirty="0">
                <a:cs typeface="Arial" panose="020B0604020202020204" pitchFamily="34" charset="0"/>
              </a:rPr>
              <a:t> </a:t>
            </a:r>
          </a:p>
          <a:p>
            <a:r>
              <a:rPr lang="en-US" altLang="zh-CN" b="1" dirty="0">
                <a:cs typeface="Arial" panose="020B0604020202020204" pitchFamily="34" charset="0"/>
              </a:rPr>
              <a:t>Selection Sort</a:t>
            </a:r>
            <a:r>
              <a:rPr lang="zh-CN" altLang="en-US" b="1" dirty="0">
                <a:cs typeface="Arial" panose="020B0604020202020204" pitchFamily="34" charset="0"/>
              </a:rPr>
              <a:t> </a:t>
            </a:r>
            <a:r>
              <a:rPr lang="en-US" altLang="zh-CN" b="1" dirty="0">
                <a:cs typeface="Arial" panose="020B0604020202020204" pitchFamily="34" charset="0"/>
              </a:rPr>
              <a:t> </a:t>
            </a:r>
          </a:p>
          <a:p>
            <a:r>
              <a:rPr lang="en-US" altLang="zh-CN" b="1" dirty="0">
                <a:cs typeface="Arial" panose="020B0604020202020204" pitchFamily="34" charset="0"/>
              </a:rPr>
              <a:t>M</a:t>
            </a:r>
            <a:r>
              <a:rPr lang="zh-CN" altLang="en-US" b="1" dirty="0">
                <a:cs typeface="Arial" panose="020B0604020202020204" pitchFamily="34" charset="0"/>
              </a:rPr>
              <a:t>erge </a:t>
            </a:r>
            <a:r>
              <a:rPr lang="en-US" altLang="zh-CN" b="1" dirty="0">
                <a:cs typeface="Arial" panose="020B0604020202020204" pitchFamily="34" charset="0"/>
              </a:rPr>
              <a:t>S</a:t>
            </a:r>
            <a:r>
              <a:rPr lang="zh-CN" altLang="en-US" b="1" dirty="0">
                <a:cs typeface="Arial" panose="020B0604020202020204" pitchFamily="34" charset="0"/>
              </a:rPr>
              <a:t>ort</a:t>
            </a:r>
            <a:endParaRPr lang="en-US" altLang="zh-CN" b="1" dirty="0">
              <a:cs typeface="Arial" panose="020B0604020202020204" pitchFamily="34" charset="0"/>
            </a:endParaRPr>
          </a:p>
          <a:p>
            <a:r>
              <a:rPr lang="zh-CN" altLang="en-US" b="1" dirty="0">
                <a:cs typeface="Arial" panose="020B0604020202020204" pitchFamily="34" charset="0"/>
              </a:rPr>
              <a:t>Radix Sorting</a:t>
            </a:r>
          </a:p>
          <a:p>
            <a:pPr algn="l">
              <a:buClrTx/>
              <a:buSzTx/>
              <a:buBlip>
                <a:blip r:embed="rId2"/>
              </a:buBlip>
            </a:pPr>
            <a:r>
              <a:rPr lang="zh-CN" altLang="en-US" b="1" dirty="0">
                <a:cs typeface="Arial" panose="020B0604020202020204" pitchFamily="34" charset="0"/>
              </a:rPr>
              <a:t>A Comprehensive Comparison of Various Sorting Methods</a:t>
            </a:r>
          </a:p>
          <a:p>
            <a:r>
              <a:rPr lang="zh-CN" altLang="en-US" b="1" dirty="0">
                <a:solidFill>
                  <a:srgbClr val="FF0000"/>
                </a:solidFill>
                <a:cs typeface="Arial" panose="020B0604020202020204" pitchFamily="34" charset="0"/>
              </a:rPr>
              <a:t>External Sort</a:t>
            </a:r>
          </a:p>
        </p:txBody>
      </p:sp>
      <p:sp>
        <p:nvSpPr>
          <p:cNvPr id="4" name="页脚占位符 3"/>
          <p:cNvSpPr>
            <a:spLocks noGrp="1"/>
          </p:cNvSpPr>
          <p:nvPr>
            <p:ph type="ftr" sz="quarter" idx="10"/>
          </p:nvPr>
        </p:nvSpPr>
        <p:spPr/>
        <p:txBody>
          <a:bodyPr/>
          <a:lstStyle/>
          <a:p>
            <a:pPr>
              <a:defRPr/>
            </a:pPr>
            <a:r>
              <a:rPr lang="en-US" altLang="zh-CN"/>
              <a:t>@ Zhihai Wang, 2025</a:t>
            </a:r>
            <a:endParaRPr lang="en-US" altLang="zh-CN" dirty="0"/>
          </a:p>
        </p:txBody>
      </p:sp>
      <p:sp>
        <p:nvSpPr>
          <p:cNvPr id="5" name="灯片编号占位符 4"/>
          <p:cNvSpPr>
            <a:spLocks noGrp="1"/>
          </p:cNvSpPr>
          <p:nvPr>
            <p:ph type="sldNum" sz="quarter" idx="11"/>
          </p:nvPr>
        </p:nvSpPr>
        <p:spPr/>
        <p:txBody>
          <a:bodyPr/>
          <a:lstStyle/>
          <a:p>
            <a:pPr>
              <a:defRPr/>
            </a:pPr>
            <a:fld id="{B40C3BFD-24D0-4966-81A9-4BDD3454C069}" type="slidenum">
              <a:rPr lang="en-US" altLang="zh-CN" smtClean="0"/>
              <a:t>128</a:t>
            </a:fld>
            <a:endParaRPr lang="en-US" altLang="zh-CN"/>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Text Box 2"/>
          <p:cNvSpPr txBox="1">
            <a:spLocks noChangeArrowheads="1"/>
          </p:cNvSpPr>
          <p:nvPr/>
        </p:nvSpPr>
        <p:spPr bwMode="auto">
          <a:xfrm>
            <a:off x="381000" y="547688"/>
            <a:ext cx="5770880" cy="75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vl="2" algn="l">
              <a:lnSpc>
                <a:spcPct val="120000"/>
              </a:lnSpc>
            </a:pPr>
            <a:r>
              <a:rPr lang="zh-CN" altLang="en-US" sz="3600" b="1">
                <a:solidFill>
                  <a:srgbClr val="FF00FF"/>
                </a:solidFill>
                <a:latin typeface="Arial" panose="020B0604020202020204" pitchFamily="34" charset="0"/>
                <a:ea typeface="楷体_GB2312" pitchFamily="49" charset="-122"/>
                <a:cs typeface="Arial" panose="020B0604020202020204" pitchFamily="34" charset="0"/>
              </a:rPr>
              <a:t>1 .Problem Statement</a:t>
            </a:r>
          </a:p>
        </p:txBody>
      </p:sp>
      <p:sp>
        <p:nvSpPr>
          <p:cNvPr id="123907" name="Rectangle 3"/>
          <p:cNvSpPr>
            <a:spLocks noChangeArrowheads="1"/>
          </p:cNvSpPr>
          <p:nvPr/>
        </p:nvSpPr>
        <p:spPr bwMode="auto">
          <a:xfrm>
            <a:off x="661988" y="1752600"/>
            <a:ext cx="8253412" cy="250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40000"/>
              </a:lnSpc>
            </a:pPr>
            <a:r>
              <a:rPr lang="zh-CN" altLang="en-US" b="1">
                <a:solidFill>
                  <a:srgbClr val="000080"/>
                </a:solidFill>
                <a:latin typeface="Arial" panose="020B0604020202020204" pitchFamily="34" charset="0"/>
                <a:ea typeface="楷体_GB2312" pitchFamily="49" charset="-122"/>
                <a:cs typeface="Arial" panose="020B0604020202020204" pitchFamily="34" charset="0"/>
              </a:rPr>
              <a:t>1. </a:t>
            </a:r>
            <a:r>
              <a:rPr lang="en-US" altLang="zh-CN">
                <a:solidFill>
                  <a:schemeClr val="tx1">
                    <a:lumMod val="95000"/>
                    <a:lumOff val="5000"/>
                  </a:schemeClr>
                </a:solidFill>
                <a:latin typeface="Arial" panose="020B0604020202020204" pitchFamily="34" charset="0"/>
                <a:ea typeface="楷体_GB2312" pitchFamily="49" charset="-122"/>
                <a:cs typeface="Arial" panose="020B0604020202020204" pitchFamily="34" charset="0"/>
              </a:rPr>
              <a:t>When the number of records to be sorted is extremely large (too large to fit into memory all at once),</a:t>
            </a:r>
            <a:r>
              <a:rPr lang="en-US" altLang="zh-CN">
                <a:solidFill>
                  <a:srgbClr val="000080"/>
                </a:solidFill>
                <a:latin typeface="Arial" panose="020B0604020202020204" pitchFamily="34" charset="0"/>
                <a:ea typeface="楷体_GB2312" pitchFamily="49" charset="-122"/>
                <a:cs typeface="Arial" panose="020B0604020202020204" pitchFamily="34" charset="0"/>
              </a:rPr>
              <a:t> the sorting methods discussed in previous sections cannot be applied.</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129</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23906"/>
                                        </p:tgtEl>
                                        <p:attrNameLst>
                                          <p:attrName>style.visibility</p:attrName>
                                        </p:attrNameLst>
                                      </p:cBhvr>
                                      <p:to>
                                        <p:strVal val="visible"/>
                                      </p:to>
                                    </p:set>
                                    <p:anim calcmode="lin" valueType="num">
                                      <p:cBhvr additive="base">
                                        <p:cTn id="7" dur="500" fill="hold"/>
                                        <p:tgtEl>
                                          <p:spTgt spid="123906"/>
                                        </p:tgtEl>
                                        <p:attrNameLst>
                                          <p:attrName>ppt_x</p:attrName>
                                        </p:attrNameLst>
                                      </p:cBhvr>
                                      <p:tavLst>
                                        <p:tav tm="0">
                                          <p:val>
                                            <p:strVal val="0-#ppt_w/2"/>
                                          </p:val>
                                        </p:tav>
                                        <p:tav tm="100000">
                                          <p:val>
                                            <p:strVal val="#ppt_x"/>
                                          </p:val>
                                        </p:tav>
                                      </p:tavLst>
                                    </p:anim>
                                    <p:anim calcmode="lin" valueType="num">
                                      <p:cBhvr additive="base">
                                        <p:cTn id="8" dur="500" fill="hold"/>
                                        <p:tgtEl>
                                          <p:spTgt spid="12390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8" presetClass="entr" presetSubtype="9" fill="hold" grpId="0" nodeType="clickEffect">
                                  <p:stCondLst>
                                    <p:cond delay="0"/>
                                  </p:stCondLst>
                                  <p:childTnLst>
                                    <p:set>
                                      <p:cBhvr>
                                        <p:cTn id="12" dur="1" fill="hold">
                                          <p:stCondLst>
                                            <p:cond delay="0"/>
                                          </p:stCondLst>
                                        </p:cTn>
                                        <p:tgtEl>
                                          <p:spTgt spid="123907"/>
                                        </p:tgtEl>
                                        <p:attrNameLst>
                                          <p:attrName>style.visibility</p:attrName>
                                        </p:attrNameLst>
                                      </p:cBhvr>
                                      <p:to>
                                        <p:strVal val="visible"/>
                                      </p:to>
                                    </p:set>
                                    <p:animEffect transition="in" filter="strips(upLeft)">
                                      <p:cBhvr>
                                        <p:cTn id="13" dur="500"/>
                                        <p:tgtEl>
                                          <p:spTgt spid="1239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6" grpId="0" bldLvl="0" animBg="1" autoUpdateAnimBg="0"/>
      <p:bldP spid="123907" grpId="0" bldLvl="0" animBg="1" autoUpdateAnimBg="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Text Box 2"/>
          <p:cNvSpPr txBox="1">
            <a:spLocks noChangeArrowheads="1"/>
          </p:cNvSpPr>
          <p:nvPr/>
        </p:nvSpPr>
        <p:spPr bwMode="auto">
          <a:xfrm>
            <a:off x="762000" y="1654175"/>
            <a:ext cx="8077200" cy="17887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pPr>
            <a:r>
              <a:rPr lang="zh-CN" altLang="en-US" sz="2400" b="1">
                <a:latin typeface="Arial" panose="020B0604020202020204" pitchFamily="34" charset="0"/>
                <a:ea typeface="楷体_GB2312" pitchFamily="49" charset="-122"/>
                <a:cs typeface="Arial" panose="020B0604020202020204" pitchFamily="34" charset="0"/>
              </a:rPr>
              <a:t>1. According to the size of available memory, </a:t>
            </a:r>
            <a:r>
              <a:rPr lang="zh-CN" altLang="en-US" sz="2400">
                <a:solidFill>
                  <a:srgbClr val="FF0000"/>
                </a:solidFill>
                <a:latin typeface="Arial" panose="020B0604020202020204" pitchFamily="34" charset="0"/>
                <a:ea typeface="楷体_GB2312" pitchFamily="49" charset="-122"/>
                <a:cs typeface="Arial" panose="020B0604020202020204" pitchFamily="34" charset="0"/>
              </a:rPr>
              <a:t>several ordered sub-sequences of records are constructed</a:t>
            </a:r>
            <a:r>
              <a:rPr lang="zh-CN" altLang="en-US" sz="2400" b="1">
                <a:latin typeface="Arial" panose="020B0604020202020204" pitchFamily="34" charset="0"/>
                <a:ea typeface="楷体_GB2312" pitchFamily="49" charset="-122"/>
                <a:cs typeface="Arial" panose="020B0604020202020204" pitchFamily="34" charset="0"/>
              </a:rPr>
              <a:t> by using the internal sorting method, which are usually called "</a:t>
            </a:r>
            <a:r>
              <a:rPr lang="zh-CN" altLang="en-US" sz="2400" b="1">
                <a:solidFill>
                  <a:schemeClr val="accent2"/>
                </a:solidFill>
                <a:latin typeface="Arial" panose="020B0604020202020204" pitchFamily="34" charset="0"/>
                <a:ea typeface="楷体_GB2312" pitchFamily="49" charset="-122"/>
                <a:cs typeface="Arial" panose="020B0604020202020204" pitchFamily="34" charset="0"/>
              </a:rPr>
              <a:t>merging segments</a:t>
            </a:r>
            <a:r>
              <a:rPr lang="zh-CN" altLang="en-US" sz="2400" b="1">
                <a:latin typeface="Arial" panose="020B0604020202020204" pitchFamily="34" charset="0"/>
                <a:ea typeface="楷体_GB2312" pitchFamily="49" charset="-122"/>
                <a:cs typeface="Arial" panose="020B0604020202020204" pitchFamily="34" charset="0"/>
              </a:rPr>
              <a:t>" in external memory.</a:t>
            </a:r>
            <a:endParaRPr lang="zh-CN" altLang="en-US" sz="2400">
              <a:latin typeface="Arial" panose="020B0604020202020204" pitchFamily="34" charset="0"/>
              <a:ea typeface="楷体_GB2312" pitchFamily="49" charset="-122"/>
              <a:cs typeface="Arial" panose="020B0604020202020204" pitchFamily="34" charset="0"/>
            </a:endParaRPr>
          </a:p>
        </p:txBody>
      </p:sp>
      <p:sp>
        <p:nvSpPr>
          <p:cNvPr id="125955" name="Rectangle 3"/>
          <p:cNvSpPr>
            <a:spLocks noChangeArrowheads="1"/>
          </p:cNvSpPr>
          <p:nvPr/>
        </p:nvSpPr>
        <p:spPr bwMode="auto">
          <a:xfrm>
            <a:off x="304800" y="304800"/>
            <a:ext cx="7980680"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3200" b="1">
                <a:solidFill>
                  <a:srgbClr val="FF00FF"/>
                </a:solidFill>
                <a:latin typeface="Arial" panose="020B0604020202020204" pitchFamily="34" charset="0"/>
                <a:ea typeface="楷体_GB2312" pitchFamily="49" charset="-122"/>
                <a:cs typeface="Arial" panose="020B0604020202020204" pitchFamily="34" charset="0"/>
              </a:rPr>
              <a:t>2. Basic Process of External Sorting</a:t>
            </a:r>
          </a:p>
        </p:txBody>
      </p:sp>
      <p:sp>
        <p:nvSpPr>
          <p:cNvPr id="125956" name="Rectangle 4"/>
          <p:cNvSpPr>
            <a:spLocks noChangeArrowheads="1"/>
          </p:cNvSpPr>
          <p:nvPr/>
        </p:nvSpPr>
        <p:spPr bwMode="auto">
          <a:xfrm>
            <a:off x="304800" y="1042988"/>
            <a:ext cx="638238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a:latin typeface="Arial" panose="020B0604020202020204" pitchFamily="34" charset="0"/>
                <a:ea typeface="楷体_GB2312" pitchFamily="49" charset="-122"/>
                <a:cs typeface="Arial" panose="020B0604020202020204" pitchFamily="34" charset="0"/>
              </a:rPr>
              <a:t>It consists of </a:t>
            </a:r>
            <a:r>
              <a:rPr lang="zh-CN" altLang="en-US" sz="2400">
                <a:solidFill>
                  <a:srgbClr val="0000FF"/>
                </a:solidFill>
                <a:latin typeface="Arial" panose="020B0604020202020204" pitchFamily="34" charset="0"/>
                <a:ea typeface="楷体_GB2312" pitchFamily="49" charset="-122"/>
                <a:cs typeface="Arial" panose="020B0604020202020204" pitchFamily="34" charset="0"/>
              </a:rPr>
              <a:t>two relatively independent steps</a:t>
            </a:r>
            <a:r>
              <a:rPr lang="zh-CN" altLang="en-US" sz="2400">
                <a:latin typeface="Arial" panose="020B0604020202020204" pitchFamily="34" charset="0"/>
                <a:ea typeface="楷体_GB2312" pitchFamily="49" charset="-122"/>
                <a:cs typeface="Arial" panose="020B0604020202020204" pitchFamily="34" charset="0"/>
              </a:rPr>
              <a:t>:</a:t>
            </a:r>
          </a:p>
        </p:txBody>
      </p:sp>
      <p:sp>
        <p:nvSpPr>
          <p:cNvPr id="125957" name="Rectangle 5"/>
          <p:cNvSpPr>
            <a:spLocks noChangeArrowheads="1"/>
          </p:cNvSpPr>
          <p:nvPr/>
        </p:nvSpPr>
        <p:spPr bwMode="auto">
          <a:xfrm>
            <a:off x="755650" y="4257675"/>
            <a:ext cx="8153400" cy="17887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pPr>
            <a:r>
              <a:rPr lang="zh-CN" altLang="en-US" sz="2400" b="1">
                <a:latin typeface="Arial" panose="020B0604020202020204" pitchFamily="34" charset="0"/>
                <a:ea typeface="楷体_GB2312" pitchFamily="49" charset="-122"/>
                <a:cs typeface="Arial" panose="020B0604020202020204" pitchFamily="34" charset="0"/>
              </a:rPr>
              <a:t>2. Through the "</a:t>
            </a:r>
            <a:r>
              <a:rPr lang="zh-CN" altLang="en-US" sz="2400" b="1">
                <a:solidFill>
                  <a:schemeClr val="accent2"/>
                </a:solidFill>
                <a:latin typeface="Arial" panose="020B0604020202020204" pitchFamily="34" charset="0"/>
                <a:ea typeface="楷体_GB2312" pitchFamily="49" charset="-122"/>
                <a:cs typeface="Arial" panose="020B0604020202020204" pitchFamily="34" charset="0"/>
              </a:rPr>
              <a:t>merger</a:t>
            </a:r>
            <a:r>
              <a:rPr lang="zh-CN" altLang="en-US" sz="2400" b="1">
                <a:latin typeface="Arial" panose="020B0604020202020204" pitchFamily="34" charset="0"/>
                <a:ea typeface="楷体_GB2312" pitchFamily="49" charset="-122"/>
                <a:cs typeface="Arial" panose="020B0604020202020204" pitchFamily="34" charset="0"/>
              </a:rPr>
              <a:t>", </a:t>
            </a:r>
            <a:r>
              <a:rPr lang="zh-CN" altLang="en-US" sz="2400">
                <a:solidFill>
                  <a:srgbClr val="FF0000"/>
                </a:solidFill>
                <a:latin typeface="Arial" panose="020B0604020202020204" pitchFamily="34" charset="0"/>
                <a:ea typeface="楷体_GB2312" pitchFamily="49" charset="-122"/>
                <a:cs typeface="Arial" panose="020B0604020202020204" pitchFamily="34" charset="0"/>
              </a:rPr>
              <a:t>the length of the ordered subsequence of the record is gradually expanded until the whole record sequence</a:t>
            </a:r>
            <a:r>
              <a:rPr lang="zh-CN" altLang="en-US" sz="2400" b="1">
                <a:latin typeface="Arial" panose="020B0604020202020204" pitchFamily="34" charset="0"/>
                <a:ea typeface="楷体_GB2312" pitchFamily="49" charset="-122"/>
                <a:cs typeface="Arial" panose="020B0604020202020204" pitchFamily="34" charset="0"/>
              </a:rPr>
              <a:t> in the external storage is ordered by the key word.</a:t>
            </a:r>
            <a:endParaRPr lang="zh-CN" altLang="en-US" sz="2400">
              <a:latin typeface="Arial" panose="020B0604020202020204" pitchFamily="34" charset="0"/>
              <a:cs typeface="Arial" panose="020B0604020202020204" pitchFamily="34" charset="0"/>
            </a:endParaRP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130</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25955"/>
                                        </p:tgtEl>
                                        <p:attrNameLst>
                                          <p:attrName>style.visibility</p:attrName>
                                        </p:attrNameLst>
                                      </p:cBhvr>
                                      <p:to>
                                        <p:strVal val="visible"/>
                                      </p:to>
                                    </p:set>
                                    <p:anim calcmode="lin" valueType="num">
                                      <p:cBhvr additive="base">
                                        <p:cTn id="7" dur="500" fill="hold"/>
                                        <p:tgtEl>
                                          <p:spTgt spid="125955"/>
                                        </p:tgtEl>
                                        <p:attrNameLst>
                                          <p:attrName>ppt_x</p:attrName>
                                        </p:attrNameLst>
                                      </p:cBhvr>
                                      <p:tavLst>
                                        <p:tav tm="0">
                                          <p:val>
                                            <p:strVal val="0-#ppt_w/2"/>
                                          </p:val>
                                        </p:tav>
                                        <p:tav tm="100000">
                                          <p:val>
                                            <p:strVal val="#ppt_x"/>
                                          </p:val>
                                        </p:tav>
                                      </p:tavLst>
                                    </p:anim>
                                    <p:anim calcmode="lin" valueType="num">
                                      <p:cBhvr additive="base">
                                        <p:cTn id="8" dur="500" fill="hold"/>
                                        <p:tgtEl>
                                          <p:spTgt spid="12595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2595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grpId="0" nodeType="clickEffect">
                                  <p:stCondLst>
                                    <p:cond delay="0"/>
                                  </p:stCondLst>
                                  <p:childTnLst>
                                    <p:set>
                                      <p:cBhvr>
                                        <p:cTn id="16" dur="1" fill="hold">
                                          <p:stCondLst>
                                            <p:cond delay="0"/>
                                          </p:stCondLst>
                                        </p:cTn>
                                        <p:tgtEl>
                                          <p:spTgt spid="125954"/>
                                        </p:tgtEl>
                                        <p:attrNameLst>
                                          <p:attrName>style.visibility</p:attrName>
                                        </p:attrNameLst>
                                      </p:cBhvr>
                                      <p:to>
                                        <p:strVal val="visible"/>
                                      </p:to>
                                    </p:set>
                                    <p:animEffect transition="in" filter="barn(outVertical)">
                                      <p:cBhvr>
                                        <p:cTn id="17" dur="500"/>
                                        <p:tgtEl>
                                          <p:spTgt spid="125954"/>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25957"/>
                                        </p:tgtEl>
                                        <p:attrNameLst>
                                          <p:attrName>style.visibility</p:attrName>
                                        </p:attrNameLst>
                                      </p:cBhvr>
                                      <p:to>
                                        <p:strVal val="visible"/>
                                      </p:to>
                                    </p:set>
                                    <p:animEffect transition="in" filter="barn(inVertical)">
                                      <p:cBhvr>
                                        <p:cTn id="22" dur="500"/>
                                        <p:tgtEl>
                                          <p:spTgt spid="1259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4" grpId="0" bldLvl="0" animBg="1" autoUpdateAnimBg="0"/>
      <p:bldP spid="125955" grpId="0" bldLvl="0" animBg="1" autoUpdateAnimBg="0"/>
      <p:bldP spid="125956" grpId="0" bldLvl="0" animBg="1" autoUpdateAnimBg="0"/>
      <p:bldP spid="125957" grpId="0" bldLvl="0" animBg="1" autoUpdateAnimBg="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Text Box 2"/>
          <p:cNvSpPr txBox="1">
            <a:spLocks noChangeArrowheads="1"/>
          </p:cNvSpPr>
          <p:nvPr/>
        </p:nvSpPr>
        <p:spPr bwMode="auto">
          <a:xfrm>
            <a:off x="503238" y="77788"/>
            <a:ext cx="7856855" cy="212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10000"/>
              </a:lnSpc>
            </a:pPr>
            <a:r>
              <a:rPr lang="zh-CN" altLang="en-US" sz="2400" b="1">
                <a:solidFill>
                  <a:srgbClr val="990033"/>
                </a:solidFill>
                <a:latin typeface="Arial" panose="020B0604020202020204" pitchFamily="34" charset="0"/>
                <a:ea typeface="楷体_GB2312" pitchFamily="49" charset="-122"/>
                <a:cs typeface="Arial" panose="020B0604020202020204" pitchFamily="34" charset="0"/>
              </a:rPr>
              <a:t>For example,</a:t>
            </a:r>
            <a:r>
              <a:rPr lang="zh-CN" altLang="en-US" sz="2400">
                <a:solidFill>
                  <a:srgbClr val="9900CC"/>
                </a:solidFill>
                <a:latin typeface="Arial" panose="020B0604020202020204" pitchFamily="34" charset="0"/>
                <a:ea typeface="楷体_GB2312" pitchFamily="49" charset="-122"/>
                <a:cs typeface="Arial" panose="020B0604020202020204" pitchFamily="34" charset="0"/>
              </a:rPr>
              <a:t> consider a disk containing 10,000 records.</a:t>
            </a:r>
          </a:p>
          <a:p>
            <a:pPr>
              <a:lnSpc>
                <a:spcPct val="110000"/>
              </a:lnSpc>
            </a:pPr>
            <a:r>
              <a:rPr lang="zh-CN" altLang="en-US" sz="2400">
                <a:solidFill>
                  <a:srgbClr val="9900CC"/>
                </a:solidFill>
                <a:latin typeface="Arial" panose="020B0604020202020204" pitchFamily="34" charset="0"/>
                <a:ea typeface="楷体_GB2312" pitchFamily="49" charset="-122"/>
                <a:cs typeface="Arial" panose="020B0604020202020204" pitchFamily="34" charset="0"/>
              </a:rPr>
              <a:t>documents, and the current computer can only handle</a:t>
            </a:r>
          </a:p>
          <a:p>
            <a:pPr>
              <a:lnSpc>
                <a:spcPct val="110000"/>
              </a:lnSpc>
            </a:pPr>
            <a:r>
              <a:rPr lang="zh-CN" altLang="en-US" sz="2400">
                <a:solidFill>
                  <a:srgbClr val="9900CC"/>
                </a:solidFill>
                <a:latin typeface="Arial" panose="020B0604020202020204" pitchFamily="34" charset="0"/>
                <a:ea typeface="楷体_GB2312" pitchFamily="49" charset="-122"/>
                <a:cs typeface="Arial" panose="020B0604020202020204" pitchFamily="34" charset="0"/>
              </a:rPr>
              <a:t>If it can sort 1000 records internally, then</a:t>
            </a:r>
          </a:p>
          <a:p>
            <a:pPr>
              <a:lnSpc>
                <a:spcPct val="110000"/>
              </a:lnSpc>
            </a:pPr>
            <a:r>
              <a:rPr lang="zh-CN" altLang="en-US" sz="2400">
                <a:solidFill>
                  <a:srgbClr val="9900CC"/>
                </a:solidFill>
                <a:latin typeface="Arial" panose="020B0604020202020204" pitchFamily="34" charset="0"/>
                <a:ea typeface="楷体_GB2312" pitchFamily="49" charset="-122"/>
                <a:cs typeface="Arial" panose="020B0604020202020204" pitchFamily="34" charset="0"/>
              </a:rPr>
              <a:t>Firstly, the internal sorting method is used to obtain 10</a:t>
            </a:r>
          </a:p>
          <a:p>
            <a:pPr>
              <a:lnSpc>
                <a:spcPct val="110000"/>
              </a:lnSpc>
            </a:pPr>
            <a:r>
              <a:rPr lang="zh-CN" altLang="en-US" sz="2400">
                <a:solidFill>
                  <a:srgbClr val="9900CC"/>
                </a:solidFill>
                <a:latin typeface="Arial" panose="020B0604020202020204" pitchFamily="34" charset="0"/>
                <a:ea typeface="楷体_GB2312" pitchFamily="49" charset="-122"/>
                <a:cs typeface="Arial" panose="020B0604020202020204" pitchFamily="34" charset="0"/>
              </a:rPr>
              <a:t>Merge the initial segment first, then merge step by step.</a:t>
            </a:r>
          </a:p>
        </p:txBody>
      </p:sp>
      <p:sp>
        <p:nvSpPr>
          <p:cNvPr id="126979" name="Rectangle 3"/>
          <p:cNvSpPr>
            <a:spLocks noChangeArrowheads="1"/>
          </p:cNvSpPr>
          <p:nvPr/>
        </p:nvSpPr>
        <p:spPr bwMode="auto">
          <a:xfrm>
            <a:off x="612140" y="2708910"/>
            <a:ext cx="7818755" cy="1308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10000"/>
              </a:lnSpc>
            </a:pPr>
            <a:r>
              <a:rPr lang="zh-CN" altLang="en-US" sz="2400">
                <a:latin typeface="Arial" panose="020B0604020202020204" pitchFamily="34" charset="0"/>
                <a:ea typeface="楷体_GB2312" pitchFamily="49" charset="-122"/>
                <a:cs typeface="Arial" panose="020B0604020202020204" pitchFamily="34" charset="0"/>
              </a:rPr>
              <a:t>Assume that 2</a:t>
            </a:r>
            <a:r>
              <a:rPr lang="en-US" altLang="zh-CN" sz="2400">
                <a:latin typeface="Arial" panose="020B0604020202020204" pitchFamily="34" charset="0"/>
                <a:ea typeface="楷体_GB2312" pitchFamily="49" charset="-122"/>
                <a:cs typeface="Arial" panose="020B0604020202020204" pitchFamily="34" charset="0"/>
              </a:rPr>
              <a:t>-</a:t>
            </a:r>
            <a:r>
              <a:rPr lang="zh-CN" altLang="en-US" sz="2400">
                <a:latin typeface="Arial" panose="020B0604020202020204" pitchFamily="34" charset="0"/>
                <a:ea typeface="楷体_GB2312" pitchFamily="49" charset="-122"/>
                <a:cs typeface="Arial" panose="020B0604020202020204" pitchFamily="34" charset="0"/>
              </a:rPr>
              <a:t>merge (i.e. merge two by two), then</a:t>
            </a:r>
          </a:p>
          <a:p>
            <a:pPr>
              <a:lnSpc>
                <a:spcPct val="110000"/>
              </a:lnSpc>
            </a:pPr>
            <a:r>
              <a:rPr lang="zh-CN" altLang="en-US" sz="2400" b="1">
                <a:solidFill>
                  <a:srgbClr val="FF00FF"/>
                </a:solidFill>
                <a:latin typeface="Arial" panose="020B0604020202020204" pitchFamily="34" charset="0"/>
                <a:ea typeface="楷体_GB2312" pitchFamily="49" charset="-122"/>
                <a:cs typeface="Arial" panose="020B0604020202020204" pitchFamily="34" charset="0"/>
              </a:rPr>
              <a:t>The first merge </a:t>
            </a:r>
            <a:r>
              <a:rPr lang="zh-CN" altLang="en-US" sz="2400">
                <a:latin typeface="Arial" panose="020B0604020202020204" pitchFamily="34" charset="0"/>
                <a:ea typeface="楷体_GB2312" pitchFamily="49" charset="-122"/>
                <a:cs typeface="Arial" panose="020B0604020202020204" pitchFamily="34" charset="0"/>
              </a:rPr>
              <a:t>was from 10 merge segments to 5 merge segments.</a:t>
            </a:r>
          </a:p>
        </p:txBody>
      </p:sp>
      <p:sp>
        <p:nvSpPr>
          <p:cNvPr id="126980" name="Rectangle 4"/>
          <p:cNvSpPr>
            <a:spLocks noChangeArrowheads="1"/>
          </p:cNvSpPr>
          <p:nvPr/>
        </p:nvSpPr>
        <p:spPr bwMode="auto">
          <a:xfrm>
            <a:off x="612140" y="5510530"/>
            <a:ext cx="7227570" cy="1512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10000"/>
              </a:lnSpc>
              <a:buClrTx/>
              <a:buSzTx/>
              <a:buFontTx/>
            </a:pPr>
            <a:r>
              <a:rPr lang="zh-CN" altLang="en-US" sz="2400" b="1">
                <a:solidFill>
                  <a:srgbClr val="FF00FF"/>
                </a:solidFill>
                <a:latin typeface="Arial" panose="020B0604020202020204" pitchFamily="34" charset="0"/>
                <a:ea typeface="楷体_GB2312" pitchFamily="49" charset="-122"/>
                <a:cs typeface="Arial" panose="020B0604020202020204" pitchFamily="34" charset="0"/>
              </a:rPr>
              <a:t>The last merge</a:t>
            </a:r>
            <a:r>
              <a:rPr lang="zh-CN" altLang="en-US" b="1">
                <a:solidFill>
                  <a:srgbClr val="FF00FF"/>
                </a:solidFill>
                <a:ea typeface="楷体_GB2312" pitchFamily="49" charset="-122"/>
              </a:rPr>
              <a:t> </a:t>
            </a:r>
            <a:r>
              <a:rPr lang="zh-CN" altLang="en-US">
                <a:ea typeface="楷体_GB2312" pitchFamily="49" charset="-122"/>
              </a:rPr>
              <a:t>gets the ordered sequence of the whole record.</a:t>
            </a:r>
          </a:p>
          <a:p>
            <a:pPr algn="l">
              <a:lnSpc>
                <a:spcPct val="110000"/>
              </a:lnSpc>
              <a:buClrTx/>
              <a:buSzTx/>
              <a:buFontTx/>
            </a:pPr>
            <a:endParaRPr lang="zh-CN" altLang="en-US">
              <a:ea typeface="楷体_GB2312" pitchFamily="49" charset="-122"/>
            </a:endParaRPr>
          </a:p>
        </p:txBody>
      </p:sp>
      <p:sp>
        <p:nvSpPr>
          <p:cNvPr id="126981" name="Rectangle 5"/>
          <p:cNvSpPr>
            <a:spLocks noChangeArrowheads="1"/>
          </p:cNvSpPr>
          <p:nvPr/>
        </p:nvSpPr>
        <p:spPr bwMode="auto">
          <a:xfrm>
            <a:off x="612140" y="4725035"/>
            <a:ext cx="8655685" cy="902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10000"/>
              </a:lnSpc>
              <a:buClrTx/>
              <a:buSzTx/>
              <a:buFontTx/>
            </a:pPr>
            <a:r>
              <a:rPr lang="zh-CN" altLang="en-US" sz="2400" b="1">
                <a:solidFill>
                  <a:srgbClr val="FF00FF"/>
                </a:solidFill>
                <a:latin typeface="Arial" panose="020B0604020202020204" pitchFamily="34" charset="0"/>
                <a:ea typeface="楷体_GB2312" pitchFamily="49" charset="-122"/>
                <a:cs typeface="Arial" panose="020B0604020202020204" pitchFamily="34" charset="0"/>
              </a:rPr>
              <a:t>The third merge</a:t>
            </a:r>
            <a:r>
              <a:rPr lang="zh-CN" altLang="en-US" sz="2400">
                <a:latin typeface="Arial" panose="020B0604020202020204" pitchFamily="34" charset="0"/>
                <a:ea typeface="楷体_GB2312" pitchFamily="49" charset="-122"/>
                <a:cs typeface="Arial" panose="020B0604020202020204" pitchFamily="34" charset="0"/>
              </a:rPr>
              <a:t> is to get two merge segments from three merge segments.</a:t>
            </a:r>
          </a:p>
        </p:txBody>
      </p:sp>
      <p:sp>
        <p:nvSpPr>
          <p:cNvPr id="126982" name="Rectangle 6"/>
          <p:cNvSpPr>
            <a:spLocks noChangeArrowheads="1"/>
          </p:cNvSpPr>
          <p:nvPr/>
        </p:nvSpPr>
        <p:spPr bwMode="auto">
          <a:xfrm>
            <a:off x="612140" y="3966210"/>
            <a:ext cx="8444865" cy="902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10000"/>
              </a:lnSpc>
              <a:buClrTx/>
              <a:buSzTx/>
              <a:buFontTx/>
            </a:pPr>
            <a:r>
              <a:rPr lang="zh-CN" altLang="en-US" sz="2400" b="1">
                <a:solidFill>
                  <a:srgbClr val="FF00FF"/>
                </a:solidFill>
                <a:latin typeface="Arial" panose="020B0604020202020204" pitchFamily="34" charset="0"/>
                <a:ea typeface="楷体_GB2312" pitchFamily="49" charset="-122"/>
                <a:cs typeface="Arial" panose="020B0604020202020204" pitchFamily="34" charset="0"/>
              </a:rPr>
              <a:t>The second merge </a:t>
            </a:r>
            <a:r>
              <a:rPr lang="zh-CN" altLang="en-US" sz="2400">
                <a:latin typeface="Arial" panose="020B0604020202020204" pitchFamily="34" charset="0"/>
                <a:ea typeface="楷体_GB2312" pitchFamily="49" charset="-122"/>
                <a:cs typeface="Arial" panose="020B0604020202020204" pitchFamily="34" charset="0"/>
              </a:rPr>
              <a:t>resulted in 3 merge segments from 5 merge segments.</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131</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afterEffect">
                                  <p:stCondLst>
                                    <p:cond delay="0"/>
                                  </p:stCondLst>
                                  <p:childTnLst>
                                    <p:set>
                                      <p:cBhvr>
                                        <p:cTn id="6" dur="1" fill="hold">
                                          <p:stCondLst>
                                            <p:cond delay="0"/>
                                          </p:stCondLst>
                                        </p:cTn>
                                        <p:tgtEl>
                                          <p:spTgt spid="126978"/>
                                        </p:tgtEl>
                                        <p:attrNameLst>
                                          <p:attrName>style.visibility</p:attrName>
                                        </p:attrNameLst>
                                      </p:cBhvr>
                                      <p:to>
                                        <p:strVal val="visible"/>
                                      </p:to>
                                    </p:set>
                                    <p:animEffect transition="in" filter="barn(outHorizontal)">
                                      <p:cBhvr>
                                        <p:cTn id="7" dur="500"/>
                                        <p:tgtEl>
                                          <p:spTgt spid="12697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6979"/>
                                        </p:tgtEl>
                                        <p:attrNameLst>
                                          <p:attrName>style.visibility</p:attrName>
                                        </p:attrNameLst>
                                      </p:cBhvr>
                                      <p:to>
                                        <p:strVal val="visible"/>
                                      </p:to>
                                    </p:set>
                                    <p:animEffect transition="in" filter="wipe(left)">
                                      <p:cBhvr>
                                        <p:cTn id="12" dur="500"/>
                                        <p:tgtEl>
                                          <p:spTgt spid="12697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6982"/>
                                        </p:tgtEl>
                                        <p:attrNameLst>
                                          <p:attrName>style.visibility</p:attrName>
                                        </p:attrNameLst>
                                      </p:cBhvr>
                                      <p:to>
                                        <p:strVal val="visible"/>
                                      </p:to>
                                    </p:set>
                                    <p:animEffect transition="in" filter="wipe(left)">
                                      <p:cBhvr>
                                        <p:cTn id="17" dur="500"/>
                                        <p:tgtEl>
                                          <p:spTgt spid="12698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6981"/>
                                        </p:tgtEl>
                                        <p:attrNameLst>
                                          <p:attrName>style.visibility</p:attrName>
                                        </p:attrNameLst>
                                      </p:cBhvr>
                                      <p:to>
                                        <p:strVal val="visible"/>
                                      </p:to>
                                    </p:set>
                                    <p:animEffect transition="in" filter="wipe(left)">
                                      <p:cBhvr>
                                        <p:cTn id="22" dur="500"/>
                                        <p:tgtEl>
                                          <p:spTgt spid="12698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6980"/>
                                        </p:tgtEl>
                                        <p:attrNameLst>
                                          <p:attrName>style.visibility</p:attrName>
                                        </p:attrNameLst>
                                      </p:cBhvr>
                                      <p:to>
                                        <p:strVal val="visible"/>
                                      </p:to>
                                    </p:set>
                                    <p:animEffect transition="in" filter="wipe(left)">
                                      <p:cBhvr>
                                        <p:cTn id="27" dur="500"/>
                                        <p:tgtEl>
                                          <p:spTgt spid="1269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8" grpId="0" bldLvl="0" animBg="1" autoUpdateAnimBg="0"/>
      <p:bldP spid="126979" grpId="0" bldLvl="0" animBg="1" autoUpdateAnimBg="0"/>
      <p:bldP spid="126980" grpId="0" bldLvl="0" animBg="1" autoUpdateAnimBg="0"/>
      <p:bldP spid="126981" grpId="0" bldLvl="0" animBg="1" autoUpdateAnimBg="0"/>
      <p:bldP spid="126982" grpId="0" bldLvl="0" animBg="1" autoUpdateAnimBg="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Text Box 2"/>
          <p:cNvSpPr txBox="1">
            <a:spLocks noChangeArrowheads="1"/>
          </p:cNvSpPr>
          <p:nvPr/>
        </p:nvSpPr>
        <p:spPr bwMode="auto">
          <a:xfrm>
            <a:off x="762000" y="2667000"/>
            <a:ext cx="8382000" cy="2158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40000"/>
              </a:lnSpc>
            </a:pPr>
            <a:r>
              <a:rPr lang="zh-CN" altLang="en-US" sz="2400">
                <a:latin typeface="Arial" panose="020B0604020202020204" pitchFamily="34" charset="0"/>
                <a:ea typeface="楷体_GB2312" pitchFamily="49" charset="-122"/>
                <a:cs typeface="Arial" panose="020B0604020202020204" pitchFamily="34" charset="0"/>
              </a:rPr>
              <a:t>Assume the "data block" size is 200, meaning each external memory access can read/write 200 records.</a:t>
            </a:r>
          </a:p>
          <a:p>
            <a:pPr>
              <a:lnSpc>
                <a:spcPct val="140000"/>
              </a:lnSpc>
            </a:pPr>
            <a:r>
              <a:rPr lang="zh-CN" altLang="en-US" sz="2400">
                <a:latin typeface="Arial" panose="020B0604020202020204" pitchFamily="34" charset="0"/>
                <a:ea typeface="楷体_GB2312" pitchFamily="49" charset="-122"/>
                <a:cs typeface="Arial" panose="020B0604020202020204" pitchFamily="34" charset="0"/>
              </a:rPr>
              <a:t>For 10,000 records, processing one round requires 100 external memory accesses (50 reads and 50 writes).</a:t>
            </a:r>
            <a:endParaRPr lang="zh-CN" altLang="en-US" sz="2400">
              <a:latin typeface="Arial" panose="020B0604020202020204" pitchFamily="34" charset="0"/>
              <a:cs typeface="Arial" panose="020B0604020202020204" pitchFamily="34" charset="0"/>
            </a:endParaRPr>
          </a:p>
        </p:txBody>
      </p:sp>
      <p:sp>
        <p:nvSpPr>
          <p:cNvPr id="128003" name="Rectangle 3"/>
          <p:cNvSpPr>
            <a:spLocks noChangeArrowheads="1"/>
          </p:cNvSpPr>
          <p:nvPr/>
        </p:nvSpPr>
        <p:spPr bwMode="auto">
          <a:xfrm>
            <a:off x="755650" y="692785"/>
            <a:ext cx="7646670" cy="1529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30000"/>
              </a:lnSpc>
            </a:pPr>
            <a:r>
              <a:rPr lang="en-US" altLang="zh-CN" sz="2400">
                <a:solidFill>
                  <a:srgbClr val="9900CC"/>
                </a:solidFill>
                <a:latin typeface="Arial" panose="020B0604020202020204" pitchFamily="34" charset="0"/>
                <a:ea typeface="楷体_GB2312" pitchFamily="49" charset="-122"/>
                <a:cs typeface="Arial" panose="020B0604020202020204" pitchFamily="34" charset="0"/>
              </a:rPr>
              <a:t>Analyzing the number of external storage accesses (read/write operations) during the external sorting process:</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132</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 fill="hold" grpId="0" nodeType="afterEffect">
                                  <p:stCondLst>
                                    <p:cond delay="0"/>
                                  </p:stCondLst>
                                  <p:childTnLst>
                                    <p:set>
                                      <p:cBhvr>
                                        <p:cTn id="6" dur="1" fill="hold">
                                          <p:stCondLst>
                                            <p:cond delay="0"/>
                                          </p:stCondLst>
                                        </p:cTn>
                                        <p:tgtEl>
                                          <p:spTgt spid="128003"/>
                                        </p:tgtEl>
                                        <p:attrNameLst>
                                          <p:attrName>style.visibility</p:attrName>
                                        </p:attrNameLst>
                                      </p:cBhvr>
                                      <p:to>
                                        <p:strVal val="visible"/>
                                      </p:to>
                                    </p:set>
                                    <p:anim calcmode="lin" valueType="num">
                                      <p:cBhvr>
                                        <p:cTn id="7" dur="500" fill="hold"/>
                                        <p:tgtEl>
                                          <p:spTgt spid="128003"/>
                                        </p:tgtEl>
                                        <p:attrNameLst>
                                          <p:attrName>ppt_x</p:attrName>
                                        </p:attrNameLst>
                                      </p:cBhvr>
                                      <p:tavLst>
                                        <p:tav tm="0">
                                          <p:val>
                                            <p:strVal val="#ppt_x"/>
                                          </p:val>
                                        </p:tav>
                                        <p:tav tm="100000">
                                          <p:val>
                                            <p:strVal val="#ppt_x"/>
                                          </p:val>
                                        </p:tav>
                                      </p:tavLst>
                                    </p:anim>
                                    <p:anim calcmode="lin" valueType="num">
                                      <p:cBhvr>
                                        <p:cTn id="8" dur="500" fill="hold"/>
                                        <p:tgtEl>
                                          <p:spTgt spid="128003"/>
                                        </p:tgtEl>
                                        <p:attrNameLst>
                                          <p:attrName>ppt_y</p:attrName>
                                        </p:attrNameLst>
                                      </p:cBhvr>
                                      <p:tavLst>
                                        <p:tav tm="0">
                                          <p:val>
                                            <p:strVal val="#ppt_y-#ppt_h/2"/>
                                          </p:val>
                                        </p:tav>
                                        <p:tav tm="100000">
                                          <p:val>
                                            <p:strVal val="#ppt_y"/>
                                          </p:val>
                                        </p:tav>
                                      </p:tavLst>
                                    </p:anim>
                                    <p:anim calcmode="lin" valueType="num">
                                      <p:cBhvr>
                                        <p:cTn id="9" dur="500" fill="hold"/>
                                        <p:tgtEl>
                                          <p:spTgt spid="128003"/>
                                        </p:tgtEl>
                                        <p:attrNameLst>
                                          <p:attrName>ppt_w</p:attrName>
                                        </p:attrNameLst>
                                      </p:cBhvr>
                                      <p:tavLst>
                                        <p:tav tm="0">
                                          <p:val>
                                            <p:strVal val="#ppt_w"/>
                                          </p:val>
                                        </p:tav>
                                        <p:tav tm="100000">
                                          <p:val>
                                            <p:strVal val="#ppt_w"/>
                                          </p:val>
                                        </p:tav>
                                      </p:tavLst>
                                    </p:anim>
                                    <p:anim calcmode="lin" valueType="num">
                                      <p:cBhvr>
                                        <p:cTn id="10" dur="500" fill="hold"/>
                                        <p:tgtEl>
                                          <p:spTgt spid="128003"/>
                                        </p:tgtEl>
                                        <p:attrNameLst>
                                          <p:attrName>ppt_h</p:attrName>
                                        </p:attrNameLst>
                                      </p:cBhvr>
                                      <p:tavLst>
                                        <p:tav tm="0">
                                          <p:val>
                                            <p:fltVal val="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6" fill="hold" grpId="0" nodeType="clickEffect">
                                  <p:stCondLst>
                                    <p:cond delay="0"/>
                                  </p:stCondLst>
                                  <p:childTnLst>
                                    <p:set>
                                      <p:cBhvr>
                                        <p:cTn id="14" dur="1" fill="hold">
                                          <p:stCondLst>
                                            <p:cond delay="0"/>
                                          </p:stCondLst>
                                        </p:cTn>
                                        <p:tgtEl>
                                          <p:spTgt spid="128002"/>
                                        </p:tgtEl>
                                        <p:attrNameLst>
                                          <p:attrName>style.visibility</p:attrName>
                                        </p:attrNameLst>
                                      </p:cBhvr>
                                      <p:to>
                                        <p:strVal val="visible"/>
                                      </p:to>
                                    </p:set>
                                    <p:anim calcmode="lin" valueType="num">
                                      <p:cBhvr additive="base">
                                        <p:cTn id="15" dur="500" fill="hold"/>
                                        <p:tgtEl>
                                          <p:spTgt spid="128002"/>
                                        </p:tgtEl>
                                        <p:attrNameLst>
                                          <p:attrName>ppt_x</p:attrName>
                                        </p:attrNameLst>
                                      </p:cBhvr>
                                      <p:tavLst>
                                        <p:tav tm="0">
                                          <p:val>
                                            <p:strVal val="1+#ppt_w/2"/>
                                          </p:val>
                                        </p:tav>
                                        <p:tav tm="100000">
                                          <p:val>
                                            <p:strVal val="#ppt_x"/>
                                          </p:val>
                                        </p:tav>
                                      </p:tavLst>
                                    </p:anim>
                                    <p:anim calcmode="lin" valueType="num">
                                      <p:cBhvr additive="base">
                                        <p:cTn id="16" dur="500" fill="hold"/>
                                        <p:tgtEl>
                                          <p:spTgt spid="12800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2" grpId="0" bldLvl="0" animBg="1" autoUpdateAnimBg="0"/>
      <p:bldP spid="128003" grpId="0" bldLvl="0" animBg="1" autoUpdateAnimBg="0"/>
    </p:bldLst>
  </p:timing>
</p:sld>
</file>

<file path=ppt/slides/slide1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9026" name="Rectangle 2"/>
          <p:cNvSpPr>
            <a:spLocks noGrp="1" noChangeArrowheads="1"/>
          </p:cNvSpPr>
          <p:nvPr>
            <p:ph type="title" idx="4294967295"/>
          </p:nvPr>
        </p:nvSpPr>
        <p:spPr>
          <a:xfrm>
            <a:off x="107315" y="228600"/>
            <a:ext cx="7772400" cy="1143000"/>
          </a:xfrm>
        </p:spPr>
        <p:txBody>
          <a:bodyPr/>
          <a:lstStyle/>
          <a:p>
            <a:r>
              <a:rPr lang="zh-CN" altLang="en-US" dirty="0">
                <a:solidFill>
                  <a:schemeClr val="tx1"/>
                </a:solidFill>
                <a:ea typeface="楷体_GB2312" pitchFamily="49" charset="-122"/>
                <a:cs typeface="Arial" panose="020B0604020202020204" pitchFamily="34" charset="0"/>
              </a:rPr>
              <a:t>Thus, </a:t>
            </a:r>
            <a:r>
              <a:rPr lang="en-US" altLang="zh-CN" b="0" dirty="0">
                <a:solidFill>
                  <a:srgbClr val="800000"/>
                </a:solidFill>
                <a:ea typeface="楷体_GB2312" pitchFamily="49" charset="-122"/>
                <a:cs typeface="Arial" panose="020B0604020202020204" pitchFamily="34" charset="0"/>
              </a:rPr>
              <a:t>for the above example</a:t>
            </a:r>
            <a:r>
              <a:rPr lang="zh-CN" altLang="en-US" dirty="0">
                <a:solidFill>
                  <a:schemeClr val="tx1"/>
                </a:solidFill>
                <a:ea typeface="楷体_GB2312" pitchFamily="49" charset="-122"/>
                <a:cs typeface="Arial" panose="020B0604020202020204" pitchFamily="34" charset="0"/>
              </a:rPr>
              <a:t>,</a:t>
            </a:r>
          </a:p>
        </p:txBody>
      </p:sp>
      <p:sp>
        <p:nvSpPr>
          <p:cNvPr id="129027" name="Rectangle 3"/>
          <p:cNvSpPr>
            <a:spLocks noGrp="1" noChangeArrowheads="1"/>
          </p:cNvSpPr>
          <p:nvPr>
            <p:ph type="body" idx="4294967295"/>
          </p:nvPr>
        </p:nvSpPr>
        <p:spPr>
          <a:xfrm>
            <a:off x="0" y="1592263"/>
            <a:ext cx="9144000" cy="4114800"/>
          </a:xfrm>
        </p:spPr>
        <p:txBody>
          <a:bodyPr/>
          <a:lstStyle/>
          <a:p>
            <a:pPr>
              <a:lnSpc>
                <a:spcPct val="120000"/>
              </a:lnSpc>
            </a:pPr>
            <a:r>
              <a:rPr lang="en-US" altLang="zh-CN" sz="2400" dirty="0">
                <a:ea typeface="楷体_GB2312" pitchFamily="49" charset="-122"/>
                <a:cs typeface="Arial" panose="020B0604020202020204" pitchFamily="34" charset="0"/>
              </a:rPr>
              <a:t>1) Accessing external storage 100 times is required to obtain 10 initial merge segments;</a:t>
            </a:r>
            <a:endParaRPr lang="zh-CN" altLang="en-US" sz="2400" dirty="0">
              <a:ea typeface="楷体_GB2312" pitchFamily="49" charset="-122"/>
              <a:cs typeface="Arial" panose="020B0604020202020204" pitchFamily="34" charset="0"/>
            </a:endParaRPr>
          </a:p>
          <a:p>
            <a:pPr>
              <a:lnSpc>
                <a:spcPct val="120000"/>
              </a:lnSpc>
            </a:pPr>
            <a:r>
              <a:rPr lang="en-US" altLang="zh-CN" sz="2400" dirty="0">
                <a:ea typeface="楷体_GB2312" pitchFamily="49" charset="-122"/>
                <a:cs typeface="Arial" panose="020B0604020202020204" pitchFamily="34" charset="0"/>
              </a:rPr>
              <a:t>2) Each merge operation requires 100 external memory accesses;</a:t>
            </a:r>
            <a:endParaRPr lang="zh-CN" altLang="en-US" sz="2400" dirty="0">
              <a:ea typeface="楷体_GB2312" pitchFamily="49" charset="-122"/>
              <a:cs typeface="Arial" panose="020B0604020202020204" pitchFamily="34" charset="0"/>
            </a:endParaRPr>
          </a:p>
          <a:p>
            <a:pPr>
              <a:lnSpc>
                <a:spcPct val="120000"/>
              </a:lnSpc>
            </a:pPr>
            <a:r>
              <a:rPr lang="en-US" altLang="zh-CN" sz="2400" dirty="0">
                <a:ea typeface="楷体_GB2312" pitchFamily="49" charset="-122"/>
                <a:cs typeface="Arial" panose="020B0604020202020204" pitchFamily="34" charset="0"/>
              </a:rPr>
              <a:t>3)</a:t>
            </a:r>
            <a:r>
              <a:rPr lang="en-US" altLang="zh-CN" sz="2400" dirty="0">
                <a:solidFill>
                  <a:srgbClr val="800000"/>
                </a:solidFill>
                <a:ea typeface="楷体_GB2312" pitchFamily="49" charset="-122"/>
                <a:cs typeface="Arial" panose="020B0604020202020204" pitchFamily="34" charset="0"/>
              </a:rPr>
              <a:t> The total number of access to external memory is </a:t>
            </a:r>
            <a:r>
              <a:rPr lang="en-US" altLang="zh-CN" sz="2400" dirty="0">
                <a:solidFill>
                  <a:srgbClr val="800000"/>
                </a:solidFill>
                <a:ea typeface="楷体_GB2312" pitchFamily="49" charset="-122"/>
                <a:cs typeface="Arial" panose="020B0604020202020204" pitchFamily="34" charset="0"/>
                <a:sym typeface="+mn-ea"/>
              </a:rPr>
              <a:t>100 + 4 </a:t>
            </a:r>
            <a:r>
              <a:rPr lang="en-US" altLang="zh-CN" sz="2400" dirty="0">
                <a:solidFill>
                  <a:srgbClr val="800000"/>
                </a:solidFill>
                <a:ea typeface="楷体_GB2312" pitchFamily="49" charset="-122"/>
                <a:cs typeface="Arial" panose="020B0604020202020204" pitchFamily="34" charset="0"/>
                <a:sym typeface="Symbol" panose="05050102010706020507" pitchFamily="18" charset="2"/>
              </a:rPr>
              <a:t></a:t>
            </a:r>
            <a:r>
              <a:rPr lang="en-US" altLang="zh-CN" sz="2400" dirty="0">
                <a:solidFill>
                  <a:srgbClr val="800000"/>
                </a:solidFill>
                <a:ea typeface="楷体_GB2312" pitchFamily="49" charset="-122"/>
                <a:cs typeface="Arial" panose="020B0604020202020204" pitchFamily="34" charset="0"/>
                <a:sym typeface="+mn-ea"/>
              </a:rPr>
              <a:t> 100 = 500</a:t>
            </a:r>
            <a:r>
              <a:rPr lang="en-US" altLang="zh-CN" sz="2400" dirty="0">
                <a:solidFill>
                  <a:srgbClr val="800000"/>
                </a:solidFill>
                <a:ea typeface="楷体_GB2312" pitchFamily="49" charset="-122"/>
                <a:cs typeface="Arial" panose="020B0604020202020204" pitchFamily="34" charset="0"/>
              </a:rPr>
              <a:t> times.</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133</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29026"/>
                                        </p:tgtEl>
                                        <p:attrNameLst>
                                          <p:attrName>style.visibility</p:attrName>
                                        </p:attrNameLst>
                                      </p:cBhvr>
                                      <p:to>
                                        <p:strVal val="visible"/>
                                      </p:to>
                                    </p:set>
                                    <p:animEffect transition="in" filter="wipe(up)">
                                      <p:cBhvr>
                                        <p:cTn id="7" dur="500"/>
                                        <p:tgtEl>
                                          <p:spTgt spid="129026"/>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8" fill="hold" grpId="0" nodeType="clickEffect">
                                  <p:stCondLst>
                                    <p:cond delay="0"/>
                                  </p:stCondLst>
                                  <p:childTnLst>
                                    <p:set>
                                      <p:cBhvr>
                                        <p:cTn id="11" dur="1" fill="hold">
                                          <p:stCondLst>
                                            <p:cond delay="0"/>
                                          </p:stCondLst>
                                        </p:cTn>
                                        <p:tgtEl>
                                          <p:spTgt spid="129027">
                                            <p:txEl>
                                              <p:pRg st="0" end="0"/>
                                            </p:txEl>
                                          </p:spTgt>
                                        </p:tgtEl>
                                        <p:attrNameLst>
                                          <p:attrName>style.visibility</p:attrName>
                                        </p:attrNameLst>
                                      </p:cBhvr>
                                      <p:to>
                                        <p:strVal val="visible"/>
                                      </p:to>
                                    </p:set>
                                    <p:anim calcmode="lin" valueType="num">
                                      <p:cBhvr>
                                        <p:cTn id="12" dur="500" fill="hold"/>
                                        <p:tgtEl>
                                          <p:spTgt spid="129027">
                                            <p:txEl>
                                              <p:pRg st="0" end="0"/>
                                            </p:txEl>
                                          </p:spTgt>
                                        </p:tgtEl>
                                        <p:attrNameLst>
                                          <p:attrName>ppt_x</p:attrName>
                                        </p:attrNameLst>
                                      </p:cBhvr>
                                      <p:tavLst>
                                        <p:tav tm="0">
                                          <p:val>
                                            <p:strVal val="#ppt_x-#ppt_w/2"/>
                                          </p:val>
                                        </p:tav>
                                        <p:tav tm="100000">
                                          <p:val>
                                            <p:strVal val="#ppt_x"/>
                                          </p:val>
                                        </p:tav>
                                      </p:tavLst>
                                    </p:anim>
                                    <p:anim calcmode="lin" valueType="num">
                                      <p:cBhvr>
                                        <p:cTn id="13" dur="500" fill="hold"/>
                                        <p:tgtEl>
                                          <p:spTgt spid="129027">
                                            <p:txEl>
                                              <p:pRg st="0" end="0"/>
                                            </p:txEl>
                                          </p:spTgt>
                                        </p:tgtEl>
                                        <p:attrNameLst>
                                          <p:attrName>ppt_y</p:attrName>
                                        </p:attrNameLst>
                                      </p:cBhvr>
                                      <p:tavLst>
                                        <p:tav tm="0">
                                          <p:val>
                                            <p:strVal val="#ppt_y"/>
                                          </p:val>
                                        </p:tav>
                                        <p:tav tm="100000">
                                          <p:val>
                                            <p:strVal val="#ppt_y"/>
                                          </p:val>
                                        </p:tav>
                                      </p:tavLst>
                                    </p:anim>
                                    <p:anim calcmode="lin" valueType="num">
                                      <p:cBhvr>
                                        <p:cTn id="14" dur="500" fill="hold"/>
                                        <p:tgtEl>
                                          <p:spTgt spid="129027">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12902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17" presetClass="entr" presetSubtype="8" fill="hold" grpId="0" nodeType="clickEffect">
                                  <p:stCondLst>
                                    <p:cond delay="0"/>
                                  </p:stCondLst>
                                  <p:childTnLst>
                                    <p:set>
                                      <p:cBhvr>
                                        <p:cTn id="19" dur="1" fill="hold">
                                          <p:stCondLst>
                                            <p:cond delay="0"/>
                                          </p:stCondLst>
                                        </p:cTn>
                                        <p:tgtEl>
                                          <p:spTgt spid="129027">
                                            <p:txEl>
                                              <p:pRg st="1" end="1"/>
                                            </p:txEl>
                                          </p:spTgt>
                                        </p:tgtEl>
                                        <p:attrNameLst>
                                          <p:attrName>style.visibility</p:attrName>
                                        </p:attrNameLst>
                                      </p:cBhvr>
                                      <p:to>
                                        <p:strVal val="visible"/>
                                      </p:to>
                                    </p:set>
                                    <p:anim calcmode="lin" valueType="num">
                                      <p:cBhvr>
                                        <p:cTn id="20" dur="500" fill="hold"/>
                                        <p:tgtEl>
                                          <p:spTgt spid="129027">
                                            <p:txEl>
                                              <p:pRg st="1" end="1"/>
                                            </p:txEl>
                                          </p:spTgt>
                                        </p:tgtEl>
                                        <p:attrNameLst>
                                          <p:attrName>ppt_x</p:attrName>
                                        </p:attrNameLst>
                                      </p:cBhvr>
                                      <p:tavLst>
                                        <p:tav tm="0">
                                          <p:val>
                                            <p:strVal val="#ppt_x-#ppt_w/2"/>
                                          </p:val>
                                        </p:tav>
                                        <p:tav tm="100000">
                                          <p:val>
                                            <p:strVal val="#ppt_x"/>
                                          </p:val>
                                        </p:tav>
                                      </p:tavLst>
                                    </p:anim>
                                    <p:anim calcmode="lin" valueType="num">
                                      <p:cBhvr>
                                        <p:cTn id="21" dur="500" fill="hold"/>
                                        <p:tgtEl>
                                          <p:spTgt spid="129027">
                                            <p:txEl>
                                              <p:pRg st="1" end="1"/>
                                            </p:txEl>
                                          </p:spTgt>
                                        </p:tgtEl>
                                        <p:attrNameLst>
                                          <p:attrName>ppt_y</p:attrName>
                                        </p:attrNameLst>
                                      </p:cBhvr>
                                      <p:tavLst>
                                        <p:tav tm="0">
                                          <p:val>
                                            <p:strVal val="#ppt_y"/>
                                          </p:val>
                                        </p:tav>
                                        <p:tav tm="100000">
                                          <p:val>
                                            <p:strVal val="#ppt_y"/>
                                          </p:val>
                                        </p:tav>
                                      </p:tavLst>
                                    </p:anim>
                                    <p:anim calcmode="lin" valueType="num">
                                      <p:cBhvr>
                                        <p:cTn id="22" dur="500" fill="hold"/>
                                        <p:tgtEl>
                                          <p:spTgt spid="129027">
                                            <p:txEl>
                                              <p:pRg st="1" end="1"/>
                                            </p:txEl>
                                          </p:spTgt>
                                        </p:tgtEl>
                                        <p:attrNameLst>
                                          <p:attrName>ppt_w</p:attrName>
                                        </p:attrNameLst>
                                      </p:cBhvr>
                                      <p:tavLst>
                                        <p:tav tm="0">
                                          <p:val>
                                            <p:fltVal val="0"/>
                                          </p:val>
                                        </p:tav>
                                        <p:tav tm="100000">
                                          <p:val>
                                            <p:strVal val="#ppt_w"/>
                                          </p:val>
                                        </p:tav>
                                      </p:tavLst>
                                    </p:anim>
                                    <p:anim calcmode="lin" valueType="num">
                                      <p:cBhvr>
                                        <p:cTn id="23" dur="500" fill="hold"/>
                                        <p:tgtEl>
                                          <p:spTgt spid="129027">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17" presetClass="entr" presetSubtype="8" fill="hold" grpId="0" nodeType="clickEffect">
                                  <p:stCondLst>
                                    <p:cond delay="0"/>
                                  </p:stCondLst>
                                  <p:childTnLst>
                                    <p:set>
                                      <p:cBhvr>
                                        <p:cTn id="27" dur="1" fill="hold">
                                          <p:stCondLst>
                                            <p:cond delay="0"/>
                                          </p:stCondLst>
                                        </p:cTn>
                                        <p:tgtEl>
                                          <p:spTgt spid="129027">
                                            <p:txEl>
                                              <p:pRg st="2" end="2"/>
                                            </p:txEl>
                                          </p:spTgt>
                                        </p:tgtEl>
                                        <p:attrNameLst>
                                          <p:attrName>style.visibility</p:attrName>
                                        </p:attrNameLst>
                                      </p:cBhvr>
                                      <p:to>
                                        <p:strVal val="visible"/>
                                      </p:to>
                                    </p:set>
                                    <p:anim calcmode="lin" valueType="num">
                                      <p:cBhvr>
                                        <p:cTn id="28" dur="500" fill="hold"/>
                                        <p:tgtEl>
                                          <p:spTgt spid="129027">
                                            <p:txEl>
                                              <p:pRg st="2" end="2"/>
                                            </p:txEl>
                                          </p:spTgt>
                                        </p:tgtEl>
                                        <p:attrNameLst>
                                          <p:attrName>ppt_x</p:attrName>
                                        </p:attrNameLst>
                                      </p:cBhvr>
                                      <p:tavLst>
                                        <p:tav tm="0">
                                          <p:val>
                                            <p:strVal val="#ppt_x-#ppt_w/2"/>
                                          </p:val>
                                        </p:tav>
                                        <p:tav tm="100000">
                                          <p:val>
                                            <p:strVal val="#ppt_x"/>
                                          </p:val>
                                        </p:tav>
                                      </p:tavLst>
                                    </p:anim>
                                    <p:anim calcmode="lin" valueType="num">
                                      <p:cBhvr>
                                        <p:cTn id="29" dur="500" fill="hold"/>
                                        <p:tgtEl>
                                          <p:spTgt spid="129027">
                                            <p:txEl>
                                              <p:pRg st="2" end="2"/>
                                            </p:txEl>
                                          </p:spTgt>
                                        </p:tgtEl>
                                        <p:attrNameLst>
                                          <p:attrName>ppt_y</p:attrName>
                                        </p:attrNameLst>
                                      </p:cBhvr>
                                      <p:tavLst>
                                        <p:tav tm="0">
                                          <p:val>
                                            <p:strVal val="#ppt_y"/>
                                          </p:val>
                                        </p:tav>
                                        <p:tav tm="100000">
                                          <p:val>
                                            <p:strVal val="#ppt_y"/>
                                          </p:val>
                                        </p:tav>
                                      </p:tavLst>
                                    </p:anim>
                                    <p:anim calcmode="lin" valueType="num">
                                      <p:cBhvr>
                                        <p:cTn id="30" dur="500" fill="hold"/>
                                        <p:tgtEl>
                                          <p:spTgt spid="129027">
                                            <p:txEl>
                                              <p:pRg st="2" end="2"/>
                                            </p:txEl>
                                          </p:spTgt>
                                        </p:tgtEl>
                                        <p:attrNameLst>
                                          <p:attrName>ppt_w</p:attrName>
                                        </p:attrNameLst>
                                      </p:cBhvr>
                                      <p:tavLst>
                                        <p:tav tm="0">
                                          <p:val>
                                            <p:fltVal val="0"/>
                                          </p:val>
                                        </p:tav>
                                        <p:tav tm="100000">
                                          <p:val>
                                            <p:strVal val="#ppt_w"/>
                                          </p:val>
                                        </p:tav>
                                      </p:tavLst>
                                    </p:anim>
                                    <p:anim calcmode="lin" valueType="num">
                                      <p:cBhvr>
                                        <p:cTn id="31" dur="500" fill="hold"/>
                                        <p:tgtEl>
                                          <p:spTgt spid="129027">
                                            <p:txEl>
                                              <p:pRg st="2" end="2"/>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6" grpId="0" bldLvl="0" animBg="1" autoUpdateAnimBg="0"/>
      <p:bldP spid="129027" grpId="0" build="p" autoUpdateAnimBg="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Text Box 2"/>
          <p:cNvSpPr txBox="1">
            <a:spLocks noChangeArrowheads="1"/>
          </p:cNvSpPr>
          <p:nvPr/>
        </p:nvSpPr>
        <p:spPr bwMode="auto">
          <a:xfrm>
            <a:off x="457200" y="358775"/>
            <a:ext cx="7984490" cy="5846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30000"/>
              </a:lnSpc>
            </a:pPr>
            <a:r>
              <a:rPr lang="zh-CN" altLang="en-US" sz="2400">
                <a:solidFill>
                  <a:srgbClr val="0000FF"/>
                </a:solidFill>
                <a:latin typeface="Arial" panose="020B0604020202020204" pitchFamily="34" charset="0"/>
                <a:ea typeface="楷体_GB2312" pitchFamily="49" charset="-122"/>
                <a:cs typeface="Arial" panose="020B0604020202020204" pitchFamily="34" charset="0"/>
              </a:rPr>
              <a:t>The total time of external sorting should also include the time required for internal sorting and the time for internal merging during multi-pass merging.</a:t>
            </a:r>
            <a:r>
              <a:rPr lang="en-US" altLang="zh-CN" sz="2400">
                <a:latin typeface="Arial" panose="020B0604020202020204" pitchFamily="34" charset="0"/>
                <a:ea typeface="楷体_GB2312" pitchFamily="49" charset="-122"/>
                <a:cs typeface="Arial" panose="020B0604020202020204" pitchFamily="34" charset="0"/>
              </a:rPr>
              <a:t> Obviously, apart from the factor of internal sorting, </a:t>
            </a:r>
            <a:r>
              <a:rPr lang="zh-CN" altLang="en-US" sz="2400" b="1">
                <a:solidFill>
                  <a:srgbClr val="993300"/>
                </a:solidFill>
                <a:latin typeface="Arial" panose="020B0604020202020204" pitchFamily="34" charset="0"/>
                <a:ea typeface="楷体_GB2312" pitchFamily="49" charset="-122"/>
                <a:cs typeface="Arial" panose="020B0604020202020204" pitchFamily="34" charset="0"/>
              </a:rPr>
              <a:t>the time of external sorting depends on the number of passes needed for multi-pass merging.</a:t>
            </a:r>
          </a:p>
          <a:p>
            <a:pPr algn="l">
              <a:lnSpc>
                <a:spcPct val="130000"/>
              </a:lnSpc>
            </a:pPr>
            <a:endParaRPr lang="zh-CN" altLang="en-US" sz="2400" b="1">
              <a:solidFill>
                <a:srgbClr val="993300"/>
              </a:solidFill>
              <a:latin typeface="Arial" panose="020B0604020202020204" pitchFamily="34" charset="0"/>
              <a:ea typeface="楷体_GB2312" pitchFamily="49" charset="-122"/>
              <a:cs typeface="Arial" panose="020B0604020202020204" pitchFamily="34" charset="0"/>
            </a:endParaRPr>
          </a:p>
          <a:p>
            <a:pPr algn="l">
              <a:lnSpc>
                <a:spcPct val="130000"/>
              </a:lnSpc>
            </a:pPr>
            <a:endParaRPr lang="en-US" altLang="zh-CN" sz="2400">
              <a:latin typeface="Arial" panose="020B0604020202020204" pitchFamily="34" charset="0"/>
              <a:ea typeface="楷体_GB2312" pitchFamily="49" charset="-122"/>
              <a:cs typeface="Arial" panose="020B0604020202020204" pitchFamily="34" charset="0"/>
            </a:endParaRPr>
          </a:p>
          <a:p>
            <a:pPr algn="l">
              <a:lnSpc>
                <a:spcPct val="130000"/>
              </a:lnSpc>
            </a:pPr>
            <a:r>
              <a:rPr lang="en-US" altLang="zh-CN" sz="2400">
                <a:solidFill>
                  <a:srgbClr val="FF0000"/>
                </a:solidFill>
                <a:latin typeface="Arial" panose="020B0604020202020204" pitchFamily="34" charset="0"/>
                <a:ea typeface="楷体_GB2312" pitchFamily="49" charset="-122"/>
                <a:cs typeface="Arial" panose="020B0604020202020204" pitchFamily="34" charset="0"/>
              </a:rPr>
              <a:t>Example</a:t>
            </a:r>
            <a:r>
              <a:rPr lang="en-US" altLang="zh-CN" sz="2400">
                <a:latin typeface="Arial" panose="020B0604020202020204" pitchFamily="34" charset="0"/>
                <a:ea typeface="楷体_GB2312" pitchFamily="49" charset="-122"/>
                <a:cs typeface="Arial" panose="020B0604020202020204" pitchFamily="34" charset="0"/>
              </a:rPr>
              <a:t>: If 5-way merging is used in the above case, only 2 merging passes are required. The total number of external storage accesses will be reduced to</a:t>
            </a:r>
            <a:r>
              <a:rPr lang="" altLang="en-US" sz="2400">
                <a:latin typeface="Arial" panose="020B0604020202020204" pitchFamily="34" charset="0"/>
                <a:ea typeface="楷体_GB2312" pitchFamily="49" charset="-122"/>
                <a:cs typeface="Arial" panose="020B0604020202020204" pitchFamily="34" charset="0"/>
              </a:rPr>
              <a:t> </a:t>
            </a:r>
            <a:r>
              <a:rPr lang="en-US" altLang="zh-CN" sz="2400">
                <a:ea typeface="楷体_GB2312" pitchFamily="49" charset="-122"/>
                <a:sym typeface="+mn-ea"/>
              </a:rPr>
              <a:t>100 + 2 </a:t>
            </a:r>
            <a:r>
              <a:rPr lang="en-US" altLang="zh-CN" sz="2400">
                <a:ea typeface="楷体_GB2312" pitchFamily="49" charset="-122"/>
                <a:sym typeface="Symbol" panose="05050102010706020507" pitchFamily="18" charset="2"/>
              </a:rPr>
              <a:t></a:t>
            </a:r>
            <a:r>
              <a:rPr lang="en-US" altLang="zh-CN" sz="2400">
                <a:ea typeface="楷体_GB2312" pitchFamily="49" charset="-122"/>
                <a:sym typeface="+mn-ea"/>
              </a:rPr>
              <a:t> 100 = 300</a:t>
            </a:r>
            <a:r>
              <a:rPr lang="en-US" altLang="zh-CN" sz="2400">
                <a:latin typeface="Arial" panose="020B0604020202020204" pitchFamily="34" charset="0"/>
                <a:ea typeface="楷体_GB2312" pitchFamily="49" charset="-122"/>
                <a:cs typeface="Arial" panose="020B0604020202020204" pitchFamily="34" charset="0"/>
              </a:rPr>
              <a:t>.</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134</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 fill="hold" grpId="0" nodeType="afterEffect">
                                  <p:stCondLst>
                                    <p:cond delay="0"/>
                                  </p:stCondLst>
                                  <p:childTnLst>
                                    <p:set>
                                      <p:cBhvr>
                                        <p:cTn id="6" dur="1" fill="hold">
                                          <p:stCondLst>
                                            <p:cond delay="0"/>
                                          </p:stCondLst>
                                        </p:cTn>
                                        <p:tgtEl>
                                          <p:spTgt spid="130050"/>
                                        </p:tgtEl>
                                        <p:attrNameLst>
                                          <p:attrName>style.visibility</p:attrName>
                                        </p:attrNameLst>
                                      </p:cBhvr>
                                      <p:to>
                                        <p:strVal val="visible"/>
                                      </p:to>
                                    </p:set>
                                    <p:anim calcmode="lin" valueType="num">
                                      <p:cBhvr>
                                        <p:cTn id="7" dur="500" fill="hold"/>
                                        <p:tgtEl>
                                          <p:spTgt spid="130050"/>
                                        </p:tgtEl>
                                        <p:attrNameLst>
                                          <p:attrName>ppt_x</p:attrName>
                                        </p:attrNameLst>
                                      </p:cBhvr>
                                      <p:tavLst>
                                        <p:tav tm="0">
                                          <p:val>
                                            <p:strVal val="#ppt_x"/>
                                          </p:val>
                                        </p:tav>
                                        <p:tav tm="100000">
                                          <p:val>
                                            <p:strVal val="#ppt_x"/>
                                          </p:val>
                                        </p:tav>
                                      </p:tavLst>
                                    </p:anim>
                                    <p:anim calcmode="lin" valueType="num">
                                      <p:cBhvr>
                                        <p:cTn id="8" dur="500" fill="hold"/>
                                        <p:tgtEl>
                                          <p:spTgt spid="130050"/>
                                        </p:tgtEl>
                                        <p:attrNameLst>
                                          <p:attrName>ppt_y</p:attrName>
                                        </p:attrNameLst>
                                      </p:cBhvr>
                                      <p:tavLst>
                                        <p:tav tm="0">
                                          <p:val>
                                            <p:strVal val="#ppt_y-#ppt_h/2"/>
                                          </p:val>
                                        </p:tav>
                                        <p:tav tm="100000">
                                          <p:val>
                                            <p:strVal val="#ppt_y"/>
                                          </p:val>
                                        </p:tav>
                                      </p:tavLst>
                                    </p:anim>
                                    <p:anim calcmode="lin" valueType="num">
                                      <p:cBhvr>
                                        <p:cTn id="9" dur="500" fill="hold"/>
                                        <p:tgtEl>
                                          <p:spTgt spid="130050"/>
                                        </p:tgtEl>
                                        <p:attrNameLst>
                                          <p:attrName>ppt_w</p:attrName>
                                        </p:attrNameLst>
                                      </p:cBhvr>
                                      <p:tavLst>
                                        <p:tav tm="0">
                                          <p:val>
                                            <p:strVal val="#ppt_w"/>
                                          </p:val>
                                        </p:tav>
                                        <p:tav tm="100000">
                                          <p:val>
                                            <p:strVal val="#ppt_w"/>
                                          </p:val>
                                        </p:tav>
                                      </p:tavLst>
                                    </p:anim>
                                    <p:anim calcmode="lin" valueType="num">
                                      <p:cBhvr>
                                        <p:cTn id="10" dur="500" fill="hold"/>
                                        <p:tgtEl>
                                          <p:spTgt spid="13005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0" grpId="0" bldLvl="0" animBg="1" autoUpdateAnimBg="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Text Box 2"/>
          <p:cNvSpPr txBox="1">
            <a:spLocks noChangeArrowheads="1"/>
          </p:cNvSpPr>
          <p:nvPr/>
        </p:nvSpPr>
        <p:spPr bwMode="auto">
          <a:xfrm>
            <a:off x="395288" y="225425"/>
            <a:ext cx="8312150" cy="1529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pPr>
            <a:r>
              <a:rPr lang="zh-CN" altLang="en-US" sz="2400">
                <a:latin typeface="Arial" panose="020B0604020202020204" pitchFamily="34" charset="0"/>
                <a:ea typeface="楷体_GB2312" pitchFamily="49" charset="-122"/>
                <a:cs typeface="Arial" panose="020B0604020202020204" pitchFamily="34" charset="0"/>
              </a:rPr>
              <a:t>Except for the internal sort factor, </a:t>
            </a:r>
            <a:r>
              <a:rPr lang="zh-CN" altLang="en-US" sz="2400" b="1">
                <a:solidFill>
                  <a:srgbClr val="993300"/>
                </a:solidFill>
                <a:latin typeface="Arial" panose="020B0604020202020204" pitchFamily="34" charset="0"/>
                <a:ea typeface="楷体_GB2312" pitchFamily="49" charset="-122"/>
                <a:cs typeface="Arial" panose="020B0604020202020204" pitchFamily="34" charset="0"/>
              </a:rPr>
              <a:t>the external sort time depends on the number of passes required for each merge.</a:t>
            </a:r>
          </a:p>
        </p:txBody>
      </p:sp>
      <p:sp>
        <p:nvSpPr>
          <p:cNvPr id="212996" name="Rectangle 4"/>
          <p:cNvSpPr>
            <a:spLocks noChangeArrowheads="1"/>
          </p:cNvSpPr>
          <p:nvPr/>
        </p:nvSpPr>
        <p:spPr bwMode="auto">
          <a:xfrm>
            <a:off x="0" y="1808163"/>
            <a:ext cx="8763000" cy="455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zh-CN" altLang="en-US" sz="2400" b="1">
                <a:latin typeface="Arial" panose="020B0604020202020204" pitchFamily="34" charset="0"/>
                <a:ea typeface="楷体_GB2312" pitchFamily="49" charset="-122"/>
                <a:cs typeface="Arial" panose="020B0604020202020204" pitchFamily="34" charset="0"/>
              </a:rPr>
              <a:t>In general, assuming that the sequence of pending records contains </a:t>
            </a:r>
            <a:r>
              <a:rPr lang="en-US" altLang="zh-CN" sz="2400" b="1" i="1">
                <a:solidFill>
                  <a:schemeClr val="accent2"/>
                </a:solidFill>
                <a:latin typeface="Arial" panose="020B0604020202020204" pitchFamily="34" charset="0"/>
                <a:ea typeface="楷体_GB2312" pitchFamily="49" charset="-122"/>
                <a:cs typeface="Arial" panose="020B0604020202020204" pitchFamily="34" charset="0"/>
              </a:rPr>
              <a:t>m initial merge segments</a:t>
            </a:r>
            <a:r>
              <a:rPr lang="zh-CN" altLang="en-US" sz="2400" b="1">
                <a:latin typeface="Arial" panose="020B0604020202020204" pitchFamily="34" charset="0"/>
                <a:ea typeface="楷体_GB2312" pitchFamily="49" charset="-122"/>
                <a:cs typeface="Arial" panose="020B0604020202020204" pitchFamily="34" charset="0"/>
              </a:rPr>
              <a:t>, and </a:t>
            </a:r>
            <a:r>
              <a:rPr lang="en-US" altLang="zh-CN" sz="2400" b="1" i="1">
                <a:solidFill>
                  <a:schemeClr val="accent2"/>
                </a:solidFill>
                <a:latin typeface="Arial" panose="020B0604020202020204" pitchFamily="34" charset="0"/>
                <a:ea typeface="楷体_GB2312" pitchFamily="49" charset="-122"/>
                <a:cs typeface="Arial" panose="020B0604020202020204" pitchFamily="34" charset="0"/>
              </a:rPr>
              <a:t>k-way merge </a:t>
            </a:r>
            <a:r>
              <a:rPr lang="zh-CN" altLang="en-US" sz="2400" b="1">
                <a:latin typeface="Arial" panose="020B0604020202020204" pitchFamily="34" charset="0"/>
                <a:ea typeface="楷体_GB2312" pitchFamily="49" charset="-122"/>
                <a:cs typeface="Arial" panose="020B0604020202020204" pitchFamily="34" charset="0"/>
              </a:rPr>
              <a:t>is used in the outer merge, the </a:t>
            </a:r>
            <a:r>
              <a:rPr lang="zh-CN" altLang="en-US" sz="2400" b="1">
                <a:solidFill>
                  <a:srgbClr val="800000"/>
                </a:solidFill>
                <a:latin typeface="Arial" panose="020B0604020202020204" pitchFamily="34" charset="0"/>
                <a:ea typeface="楷体_GB2312" pitchFamily="49" charset="-122"/>
                <a:cs typeface="Arial" panose="020B0604020202020204" pitchFamily="34" charset="0"/>
              </a:rPr>
              <a:t>number of merge passes</a:t>
            </a:r>
            <a:r>
              <a:rPr lang="zh-CN" altLang="en-US" sz="2400" b="1">
                <a:latin typeface="Arial" panose="020B0604020202020204" pitchFamily="34" charset="0"/>
                <a:ea typeface="楷体_GB2312" pitchFamily="49" charset="-122"/>
                <a:cs typeface="Arial" panose="020B0604020202020204" pitchFamily="34" charset="0"/>
              </a:rPr>
              <a:t> is </a:t>
            </a:r>
            <a:r>
              <a:rPr lang="zh-CN" altLang="en-US" sz="2400" b="1">
                <a:solidFill>
                  <a:srgbClr val="FF0000"/>
                </a:solidFill>
                <a:latin typeface="Arial" panose="020B0604020202020204" pitchFamily="34" charset="0"/>
                <a:ea typeface="楷体_GB2312" pitchFamily="49" charset="-122"/>
                <a:cs typeface="Arial" panose="020B0604020202020204" pitchFamily="34" charset="0"/>
                <a:sym typeface="+mn-ea"/>
              </a:rPr>
              <a:t> </a:t>
            </a:r>
            <a:r>
              <a:rPr lang="zh-CN" altLang="en-US" sz="2400" b="1">
                <a:solidFill>
                  <a:schemeClr val="accent2"/>
                </a:solidFill>
                <a:latin typeface="Arial" panose="020B0604020202020204" pitchFamily="34" charset="0"/>
                <a:ea typeface="楷体_GB2312" pitchFamily="49" charset="-122"/>
                <a:cs typeface="Arial" panose="020B0604020202020204" pitchFamily="34" charset="0"/>
                <a:sym typeface="Symbol" panose="05050102010706020507" pitchFamily="18" charset="2"/>
              </a:rPr>
              <a:t></a:t>
            </a:r>
            <a:r>
              <a:rPr lang="en-US" altLang="zh-CN" sz="2400" b="1">
                <a:solidFill>
                  <a:schemeClr val="accent2"/>
                </a:solidFill>
                <a:latin typeface="Arial" panose="020B0604020202020204" pitchFamily="34" charset="0"/>
                <a:ea typeface="楷体_GB2312" pitchFamily="49" charset="-122"/>
                <a:cs typeface="Arial" panose="020B0604020202020204" pitchFamily="34" charset="0"/>
                <a:sym typeface="+mn-ea"/>
              </a:rPr>
              <a:t>log</a:t>
            </a:r>
            <a:r>
              <a:rPr lang="en-US" altLang="zh-CN" sz="2400" b="1" baseline="-25000">
                <a:solidFill>
                  <a:schemeClr val="accent2"/>
                </a:solidFill>
                <a:latin typeface="Arial" panose="020B0604020202020204" pitchFamily="34" charset="0"/>
                <a:ea typeface="楷体_GB2312" pitchFamily="49" charset="-122"/>
                <a:cs typeface="Arial" panose="020B0604020202020204" pitchFamily="34" charset="0"/>
                <a:sym typeface="+mn-ea"/>
              </a:rPr>
              <a:t>k</a:t>
            </a:r>
            <a:r>
              <a:rPr lang="en-US" altLang="zh-CN" sz="2400" b="1" i="1">
                <a:solidFill>
                  <a:schemeClr val="accent2"/>
                </a:solidFill>
                <a:latin typeface="Arial" panose="020B0604020202020204" pitchFamily="34" charset="0"/>
                <a:ea typeface="楷体_GB2312" pitchFamily="49" charset="-122"/>
                <a:cs typeface="Arial" panose="020B0604020202020204" pitchFamily="34" charset="0"/>
                <a:sym typeface="+mn-ea"/>
              </a:rPr>
              <a:t>m</a:t>
            </a:r>
            <a:r>
              <a:rPr lang="en-US" altLang="zh-CN" sz="2400" b="1">
                <a:solidFill>
                  <a:schemeClr val="accent2"/>
                </a:solidFill>
                <a:latin typeface="Arial" panose="020B0604020202020204" pitchFamily="34" charset="0"/>
                <a:ea typeface="楷体_GB2312" pitchFamily="49" charset="-122"/>
                <a:cs typeface="Arial" panose="020B0604020202020204" pitchFamily="34" charset="0"/>
                <a:sym typeface="Symbol" panose="05050102010706020507" pitchFamily="18" charset="2"/>
              </a:rPr>
              <a:t></a:t>
            </a:r>
            <a:r>
              <a:rPr lang="zh-CN" altLang="en-US" sz="2400" b="1">
                <a:latin typeface="Arial" panose="020B0604020202020204" pitchFamily="34" charset="0"/>
                <a:ea typeface="楷体_GB2312" pitchFamily="49" charset="-122"/>
                <a:cs typeface="Arial" panose="020B0604020202020204" pitchFamily="34" charset="0"/>
              </a:rPr>
              <a:t>.</a:t>
            </a:r>
          </a:p>
          <a:p>
            <a:pPr>
              <a:lnSpc>
                <a:spcPct val="110000"/>
              </a:lnSpc>
            </a:pPr>
            <a:r>
              <a:rPr lang="zh-CN" altLang="en-US" sz="2400" b="1">
                <a:latin typeface="Arial" panose="020B0604020202020204" pitchFamily="34" charset="0"/>
                <a:ea typeface="楷体_GB2312" pitchFamily="49" charset="-122"/>
                <a:cs typeface="Arial" panose="020B0604020202020204" pitchFamily="34" charset="0"/>
              </a:rPr>
              <a:t>Obviously, the number of merge passes will decrease as k increases, and the number of external memory read/write operations will also decrease. Therefore, for external sorting, </a:t>
            </a:r>
            <a:r>
              <a:rPr lang="zh-CN" altLang="en-US" sz="2400" b="1">
                <a:solidFill>
                  <a:srgbClr val="0000FF"/>
                </a:solidFill>
                <a:latin typeface="Arial" panose="020B0604020202020204" pitchFamily="34" charset="0"/>
                <a:ea typeface="楷体_GB2312" pitchFamily="49" charset="-122"/>
                <a:cs typeface="Arial" panose="020B0604020202020204" pitchFamily="34" charset="0"/>
              </a:rPr>
              <a:t>multi-pass merge</a:t>
            </a:r>
            <a:r>
              <a:rPr lang="zh-CN" altLang="en-US" sz="2400" b="1">
                <a:latin typeface="Arial" panose="020B0604020202020204" pitchFamily="34" charset="0"/>
                <a:ea typeface="楷体_GB2312" pitchFamily="49" charset="-122"/>
                <a:cs typeface="Arial" panose="020B0604020202020204" pitchFamily="34" charset="0"/>
              </a:rPr>
              <a:t> is typically adopted. Additionally, </a:t>
            </a:r>
            <a:r>
              <a:rPr lang="en-US" altLang="zh-CN" sz="2400" b="1" i="1">
                <a:solidFill>
                  <a:schemeClr val="accent2"/>
                </a:solidFill>
                <a:latin typeface="Arial" panose="020B0604020202020204" pitchFamily="34" charset="0"/>
                <a:ea typeface="楷体_GB2312" pitchFamily="49" charset="-122"/>
                <a:cs typeface="Arial" panose="020B0604020202020204" pitchFamily="34" charset="0"/>
              </a:rPr>
              <a:t>reducing m can also shorten the sorting time</a:t>
            </a:r>
            <a:r>
              <a:rPr lang="zh-CN" altLang="en-US" sz="2400" b="1">
                <a:latin typeface="Arial" panose="020B0604020202020204" pitchFamily="34" charset="0"/>
                <a:ea typeface="楷体_GB2312" pitchFamily="49" charset="-122"/>
                <a:cs typeface="Arial" panose="020B0604020202020204" pitchFamily="34" charset="0"/>
              </a:rPr>
              <a:t>.</a:t>
            </a:r>
            <a:endParaRPr lang="zh-CN" altLang="en-US" sz="2400" b="1">
              <a:solidFill>
                <a:schemeClr val="accent2"/>
              </a:solidFill>
              <a:latin typeface="Arial" panose="020B0604020202020204" pitchFamily="34" charset="0"/>
              <a:cs typeface="Arial" panose="020B0604020202020204" pitchFamily="34" charset="0"/>
              <a:sym typeface="Symbol" panose="05050102010706020507" pitchFamily="18" charset="2"/>
            </a:endParaRPr>
          </a:p>
          <a:p>
            <a:pPr>
              <a:lnSpc>
                <a:spcPct val="110000"/>
              </a:lnSpc>
            </a:pPr>
            <a:r>
              <a:rPr lang="zh-CN" altLang="en-US" sz="2400" b="1">
                <a:latin typeface="Arial" panose="020B0604020202020204" pitchFamily="34" charset="0"/>
                <a:ea typeface="楷体_GB2312" pitchFamily="49" charset="-122"/>
                <a:cs typeface="Arial" panose="020B0604020202020204" pitchFamily="34" charset="0"/>
              </a:rPr>
              <a:t>Common methods of external sort: </a:t>
            </a:r>
            <a:r>
              <a:rPr lang="zh-CN" altLang="en-US" sz="2400" b="1">
                <a:solidFill>
                  <a:srgbClr val="800000"/>
                </a:solidFill>
                <a:latin typeface="Arial" panose="020B0604020202020204" pitchFamily="34" charset="0"/>
                <a:ea typeface="楷体_GB2312" pitchFamily="49" charset="-122"/>
                <a:cs typeface="Arial" panose="020B0604020202020204" pitchFamily="34" charset="0"/>
              </a:rPr>
              <a:t>loser tree, replacement selection sort, optimal merge tree</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135</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 fill="hold" grpId="0" nodeType="afterEffect">
                                  <p:stCondLst>
                                    <p:cond delay="0"/>
                                  </p:stCondLst>
                                  <p:childTnLst>
                                    <p:set>
                                      <p:cBhvr>
                                        <p:cTn id="6" dur="1" fill="hold">
                                          <p:stCondLst>
                                            <p:cond delay="0"/>
                                          </p:stCondLst>
                                        </p:cTn>
                                        <p:tgtEl>
                                          <p:spTgt spid="212994"/>
                                        </p:tgtEl>
                                        <p:attrNameLst>
                                          <p:attrName>style.visibility</p:attrName>
                                        </p:attrNameLst>
                                      </p:cBhvr>
                                      <p:to>
                                        <p:strVal val="visible"/>
                                      </p:to>
                                    </p:set>
                                    <p:anim calcmode="lin" valueType="num">
                                      <p:cBhvr>
                                        <p:cTn id="7" dur="500" fill="hold"/>
                                        <p:tgtEl>
                                          <p:spTgt spid="212994"/>
                                        </p:tgtEl>
                                        <p:attrNameLst>
                                          <p:attrName>ppt_x</p:attrName>
                                        </p:attrNameLst>
                                      </p:cBhvr>
                                      <p:tavLst>
                                        <p:tav tm="0">
                                          <p:val>
                                            <p:strVal val="#ppt_x"/>
                                          </p:val>
                                        </p:tav>
                                        <p:tav tm="100000">
                                          <p:val>
                                            <p:strVal val="#ppt_x"/>
                                          </p:val>
                                        </p:tav>
                                      </p:tavLst>
                                    </p:anim>
                                    <p:anim calcmode="lin" valueType="num">
                                      <p:cBhvr>
                                        <p:cTn id="8" dur="500" fill="hold"/>
                                        <p:tgtEl>
                                          <p:spTgt spid="212994"/>
                                        </p:tgtEl>
                                        <p:attrNameLst>
                                          <p:attrName>ppt_y</p:attrName>
                                        </p:attrNameLst>
                                      </p:cBhvr>
                                      <p:tavLst>
                                        <p:tav tm="0">
                                          <p:val>
                                            <p:strVal val="#ppt_y-#ppt_h/2"/>
                                          </p:val>
                                        </p:tav>
                                        <p:tav tm="100000">
                                          <p:val>
                                            <p:strVal val="#ppt_y"/>
                                          </p:val>
                                        </p:tav>
                                      </p:tavLst>
                                    </p:anim>
                                    <p:anim calcmode="lin" valueType="num">
                                      <p:cBhvr>
                                        <p:cTn id="9" dur="500" fill="hold"/>
                                        <p:tgtEl>
                                          <p:spTgt spid="212994"/>
                                        </p:tgtEl>
                                        <p:attrNameLst>
                                          <p:attrName>ppt_w</p:attrName>
                                        </p:attrNameLst>
                                      </p:cBhvr>
                                      <p:tavLst>
                                        <p:tav tm="0">
                                          <p:val>
                                            <p:strVal val="#ppt_w"/>
                                          </p:val>
                                        </p:tav>
                                        <p:tav tm="100000">
                                          <p:val>
                                            <p:strVal val="#ppt_w"/>
                                          </p:val>
                                        </p:tav>
                                      </p:tavLst>
                                    </p:anim>
                                    <p:anim calcmode="lin" valueType="num">
                                      <p:cBhvr>
                                        <p:cTn id="10" dur="500" fill="hold"/>
                                        <p:tgtEl>
                                          <p:spTgt spid="212994"/>
                                        </p:tgtEl>
                                        <p:attrNameLst>
                                          <p:attrName>ppt_h</p:attrName>
                                        </p:attrNameLst>
                                      </p:cBhvr>
                                      <p:tavLst>
                                        <p:tav tm="0">
                                          <p:val>
                                            <p:fltVal val="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9" fill="hold" grpId="0" nodeType="clickEffect">
                                  <p:stCondLst>
                                    <p:cond delay="0"/>
                                  </p:stCondLst>
                                  <p:childTnLst>
                                    <p:set>
                                      <p:cBhvr>
                                        <p:cTn id="14" dur="1" fill="hold">
                                          <p:stCondLst>
                                            <p:cond delay="0"/>
                                          </p:stCondLst>
                                        </p:cTn>
                                        <p:tgtEl>
                                          <p:spTgt spid="212996">
                                            <p:txEl>
                                              <p:pRg st="0" end="0"/>
                                            </p:txEl>
                                          </p:spTgt>
                                        </p:tgtEl>
                                        <p:attrNameLst>
                                          <p:attrName>style.visibility</p:attrName>
                                        </p:attrNameLst>
                                      </p:cBhvr>
                                      <p:to>
                                        <p:strVal val="visible"/>
                                      </p:to>
                                    </p:set>
                                    <p:anim calcmode="lin" valueType="num">
                                      <p:cBhvr additive="base">
                                        <p:cTn id="15" dur="500" fill="hold"/>
                                        <p:tgtEl>
                                          <p:spTgt spid="212996">
                                            <p:txEl>
                                              <p:pRg st="0" end="0"/>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212996">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9" fill="hold" grpId="0" nodeType="clickEffect">
                                  <p:stCondLst>
                                    <p:cond delay="0"/>
                                  </p:stCondLst>
                                  <p:childTnLst>
                                    <p:set>
                                      <p:cBhvr>
                                        <p:cTn id="20" dur="1" fill="hold">
                                          <p:stCondLst>
                                            <p:cond delay="0"/>
                                          </p:stCondLst>
                                        </p:cTn>
                                        <p:tgtEl>
                                          <p:spTgt spid="212996">
                                            <p:txEl>
                                              <p:pRg st="1" end="1"/>
                                            </p:txEl>
                                          </p:spTgt>
                                        </p:tgtEl>
                                        <p:attrNameLst>
                                          <p:attrName>style.visibility</p:attrName>
                                        </p:attrNameLst>
                                      </p:cBhvr>
                                      <p:to>
                                        <p:strVal val="visible"/>
                                      </p:to>
                                    </p:set>
                                    <p:anim calcmode="lin" valueType="num">
                                      <p:cBhvr additive="base">
                                        <p:cTn id="21" dur="500" fill="hold"/>
                                        <p:tgtEl>
                                          <p:spTgt spid="212996">
                                            <p:txEl>
                                              <p:pRg st="1" end="1"/>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212996">
                                            <p:txEl>
                                              <p:pRg st="1" end="1"/>
                                            </p:txEl>
                                          </p:spTgt>
                                        </p:tgtEl>
                                        <p:attrNameLst>
                                          <p:attrName>ppt_y</p:attrName>
                                        </p:attrNameLst>
                                      </p:cBhvr>
                                      <p:tavLst>
                                        <p:tav tm="0">
                                          <p:val>
                                            <p:strVal val="0-#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9" fill="hold" grpId="0" nodeType="clickEffect">
                                  <p:stCondLst>
                                    <p:cond delay="0"/>
                                  </p:stCondLst>
                                  <p:childTnLst>
                                    <p:set>
                                      <p:cBhvr>
                                        <p:cTn id="26" dur="1" fill="hold">
                                          <p:stCondLst>
                                            <p:cond delay="0"/>
                                          </p:stCondLst>
                                        </p:cTn>
                                        <p:tgtEl>
                                          <p:spTgt spid="212996">
                                            <p:txEl>
                                              <p:pRg st="2" end="2"/>
                                            </p:txEl>
                                          </p:spTgt>
                                        </p:tgtEl>
                                        <p:attrNameLst>
                                          <p:attrName>style.visibility</p:attrName>
                                        </p:attrNameLst>
                                      </p:cBhvr>
                                      <p:to>
                                        <p:strVal val="visible"/>
                                      </p:to>
                                    </p:set>
                                    <p:anim calcmode="lin" valueType="num">
                                      <p:cBhvr additive="base">
                                        <p:cTn id="27" dur="500" fill="hold"/>
                                        <p:tgtEl>
                                          <p:spTgt spid="212996">
                                            <p:txEl>
                                              <p:pRg st="2" end="2"/>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212996">
                                            <p:txEl>
                                              <p:pRg st="2" end="2"/>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994" grpId="0" bldLvl="0" animBg="1" autoUpdateAnimBg="0"/>
      <p:bldP spid="212996" grpId="0" build="p" autoUpdateAnimBg="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ChangeArrowheads="1"/>
          </p:cNvSpPr>
          <p:nvPr/>
        </p:nvSpPr>
        <p:spPr bwMode="auto">
          <a:xfrm>
            <a:off x="395605" y="260350"/>
            <a:ext cx="8763000" cy="4742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40000"/>
              </a:lnSpc>
            </a:pPr>
            <a:r>
              <a:rPr lang="zh-CN" altLang="en-US" sz="2400" b="1">
                <a:solidFill>
                  <a:srgbClr val="800000"/>
                </a:solidFill>
                <a:latin typeface="Arial" panose="020B0604020202020204" pitchFamily="34" charset="0"/>
                <a:ea typeface="楷体_GB2312" pitchFamily="49" charset="-122"/>
                <a:cs typeface="Arial" panose="020B0604020202020204" pitchFamily="34" charset="0"/>
              </a:rPr>
              <a:t>In general, assuming the sequence of records to be sorted contains </a:t>
            </a:r>
            <a:r>
              <a:rPr lang="zh-CN" altLang="en-US" sz="2400" b="1">
                <a:solidFill>
                  <a:schemeClr val="accent2"/>
                </a:solidFill>
                <a:latin typeface="Arial" panose="020B0604020202020204" pitchFamily="34" charset="0"/>
                <a:ea typeface="楷体_GB2312" pitchFamily="49" charset="-122"/>
                <a:cs typeface="Arial" panose="020B0604020202020204" pitchFamily="34" charset="0"/>
              </a:rPr>
              <a:t>m initial merge segments</a:t>
            </a:r>
            <a:r>
              <a:rPr lang="zh-CN" altLang="en-US" sz="2400" b="1">
                <a:solidFill>
                  <a:srgbClr val="800000"/>
                </a:solidFill>
                <a:latin typeface="Arial" panose="020B0604020202020204" pitchFamily="34" charset="0"/>
                <a:ea typeface="楷体_GB2312" pitchFamily="49" charset="-122"/>
                <a:cs typeface="Arial" panose="020B0604020202020204" pitchFamily="34" charset="0"/>
              </a:rPr>
              <a:t>, and </a:t>
            </a:r>
            <a:r>
              <a:rPr lang="zh-CN" altLang="en-US" sz="2400" b="1">
                <a:solidFill>
                  <a:schemeClr val="accent2"/>
                </a:solidFill>
                <a:latin typeface="Arial" panose="020B0604020202020204" pitchFamily="34" charset="0"/>
                <a:ea typeface="楷体_GB2312" pitchFamily="49" charset="-122"/>
                <a:cs typeface="Arial" panose="020B0604020202020204" pitchFamily="34" charset="0"/>
              </a:rPr>
              <a:t>k-way merging</a:t>
            </a:r>
            <a:r>
              <a:rPr lang="zh-CN" altLang="en-US" sz="2400" b="1">
                <a:solidFill>
                  <a:srgbClr val="800000"/>
                </a:solidFill>
                <a:latin typeface="Arial" panose="020B0604020202020204" pitchFamily="34" charset="0"/>
                <a:ea typeface="楷体_GB2312" pitchFamily="49" charset="-122"/>
                <a:cs typeface="Arial" panose="020B0604020202020204" pitchFamily="34" charset="0"/>
              </a:rPr>
              <a:t> is used for external sorting, the number of </a:t>
            </a:r>
            <a:r>
              <a:rPr lang="zh-CN" altLang="en-US" sz="2400" b="1">
                <a:solidFill>
                  <a:schemeClr val="accent2"/>
                </a:solidFill>
                <a:latin typeface="Arial" panose="020B0604020202020204" pitchFamily="34" charset="0"/>
                <a:ea typeface="楷体_GB2312" pitchFamily="49" charset="-122"/>
                <a:cs typeface="Arial" panose="020B0604020202020204" pitchFamily="34" charset="0"/>
              </a:rPr>
              <a:t>merge passes</a:t>
            </a:r>
            <a:r>
              <a:rPr lang="zh-CN" altLang="en-US" sz="2400" b="1">
                <a:solidFill>
                  <a:srgbClr val="800000"/>
                </a:solidFill>
                <a:latin typeface="Arial" panose="020B0604020202020204" pitchFamily="34" charset="0"/>
                <a:ea typeface="楷体_GB2312" pitchFamily="49" charset="-122"/>
                <a:cs typeface="Arial" panose="020B0604020202020204" pitchFamily="34" charset="0"/>
              </a:rPr>
              <a:t> is </a:t>
            </a:r>
            <a:r>
              <a:rPr lang="zh-CN" altLang="en-US" sz="2400" b="1">
                <a:solidFill>
                  <a:schemeClr val="accent2"/>
                </a:solidFill>
                <a:latin typeface="Arial" panose="020B0604020202020204" pitchFamily="34" charset="0"/>
                <a:ea typeface="楷体_GB2312" pitchFamily="49" charset="-122"/>
                <a:cs typeface="Arial" panose="020B0604020202020204" pitchFamily="34" charset="0"/>
                <a:sym typeface="Symbol" panose="05050102010706020507" pitchFamily="18" charset="2"/>
              </a:rPr>
              <a:t></a:t>
            </a:r>
            <a:r>
              <a:rPr lang="en-US" altLang="zh-CN" sz="2400" b="1">
                <a:solidFill>
                  <a:schemeClr val="accent2"/>
                </a:solidFill>
                <a:latin typeface="Arial" panose="020B0604020202020204" pitchFamily="34" charset="0"/>
                <a:ea typeface="楷体_GB2312" pitchFamily="49" charset="-122"/>
                <a:cs typeface="Arial" panose="020B0604020202020204" pitchFamily="34" charset="0"/>
                <a:sym typeface="+mn-ea"/>
              </a:rPr>
              <a:t>log</a:t>
            </a:r>
            <a:r>
              <a:rPr lang="en-US" altLang="zh-CN" sz="2400" b="1" baseline="-25000">
                <a:solidFill>
                  <a:schemeClr val="accent2"/>
                </a:solidFill>
                <a:latin typeface="Arial" panose="020B0604020202020204" pitchFamily="34" charset="0"/>
                <a:ea typeface="楷体_GB2312" pitchFamily="49" charset="-122"/>
                <a:cs typeface="Arial" panose="020B0604020202020204" pitchFamily="34" charset="0"/>
                <a:sym typeface="+mn-ea"/>
              </a:rPr>
              <a:t>k</a:t>
            </a:r>
            <a:r>
              <a:rPr lang="en-US" altLang="zh-CN" sz="2400" b="1" i="1">
                <a:solidFill>
                  <a:schemeClr val="accent2"/>
                </a:solidFill>
                <a:latin typeface="Arial" panose="020B0604020202020204" pitchFamily="34" charset="0"/>
                <a:ea typeface="楷体_GB2312" pitchFamily="49" charset="-122"/>
                <a:cs typeface="Arial" panose="020B0604020202020204" pitchFamily="34" charset="0"/>
                <a:sym typeface="+mn-ea"/>
              </a:rPr>
              <a:t>m</a:t>
            </a:r>
            <a:r>
              <a:rPr lang="en-US" altLang="zh-CN" sz="2400" b="1">
                <a:solidFill>
                  <a:schemeClr val="accent2"/>
                </a:solidFill>
                <a:latin typeface="Arial" panose="020B0604020202020204" pitchFamily="34" charset="0"/>
                <a:ea typeface="楷体_GB2312" pitchFamily="49" charset="-122"/>
                <a:cs typeface="Arial" panose="020B0604020202020204" pitchFamily="34" charset="0"/>
                <a:sym typeface="Symbol" panose="05050102010706020507" pitchFamily="18" charset="2"/>
              </a:rPr>
              <a:t></a:t>
            </a:r>
            <a:r>
              <a:rPr lang="zh-CN" altLang="en-US" sz="2400" b="1">
                <a:solidFill>
                  <a:srgbClr val="800000"/>
                </a:solidFill>
                <a:latin typeface="Arial" panose="020B0604020202020204" pitchFamily="34" charset="0"/>
                <a:ea typeface="楷体_GB2312" pitchFamily="49" charset="-122"/>
                <a:cs typeface="Arial" panose="020B0604020202020204" pitchFamily="34" charset="0"/>
              </a:rPr>
              <a:t>. Clearly, as k increases, the number of merge passes decreases, and the number of external read/write operations also decreases. Therefore, for </a:t>
            </a:r>
            <a:r>
              <a:rPr lang="zh-CN" altLang="en-US" sz="2400" b="1">
                <a:solidFill>
                  <a:srgbClr val="0000FF"/>
                </a:solidFill>
                <a:latin typeface="Arial" panose="020B0604020202020204" pitchFamily="34" charset="0"/>
                <a:ea typeface="楷体_GB2312" pitchFamily="49" charset="-122"/>
                <a:cs typeface="Arial" panose="020B0604020202020204" pitchFamily="34" charset="0"/>
              </a:rPr>
              <a:t>external sorting</a:t>
            </a:r>
            <a:r>
              <a:rPr lang="zh-CN" altLang="en-US" sz="2400" b="1">
                <a:solidFill>
                  <a:srgbClr val="800000"/>
                </a:solidFill>
                <a:latin typeface="Arial" panose="020B0604020202020204" pitchFamily="34" charset="0"/>
                <a:ea typeface="楷体_GB2312" pitchFamily="49" charset="-122"/>
                <a:cs typeface="Arial" panose="020B0604020202020204" pitchFamily="34" charset="0"/>
              </a:rPr>
              <a:t>, </a:t>
            </a:r>
            <a:r>
              <a:rPr lang="zh-CN" altLang="en-US" sz="2400" b="1">
                <a:solidFill>
                  <a:srgbClr val="0000FF"/>
                </a:solidFill>
                <a:latin typeface="Arial" panose="020B0604020202020204" pitchFamily="34" charset="0"/>
                <a:ea typeface="楷体_GB2312" pitchFamily="49" charset="-122"/>
                <a:cs typeface="Arial" panose="020B0604020202020204" pitchFamily="34" charset="0"/>
              </a:rPr>
              <a:t>multi-way merging</a:t>
            </a:r>
            <a:r>
              <a:rPr lang="zh-CN" altLang="en-US" sz="2400" b="1">
                <a:solidFill>
                  <a:srgbClr val="800000"/>
                </a:solidFill>
                <a:latin typeface="Arial" panose="020B0604020202020204" pitchFamily="34" charset="0"/>
                <a:ea typeface="楷体_GB2312" pitchFamily="49" charset="-122"/>
                <a:cs typeface="Arial" panose="020B0604020202020204" pitchFamily="34" charset="0"/>
              </a:rPr>
              <a:t> is typically adopted. The value of </a:t>
            </a:r>
            <a:r>
              <a:rPr lang="zh-CN" altLang="en-US" sz="2400" b="1">
                <a:solidFill>
                  <a:srgbClr val="0000FF"/>
                </a:solidFill>
                <a:latin typeface="Arial" panose="020B0604020202020204" pitchFamily="34" charset="0"/>
                <a:ea typeface="楷体_GB2312" pitchFamily="49" charset="-122"/>
                <a:cs typeface="Arial" panose="020B0604020202020204" pitchFamily="34" charset="0"/>
              </a:rPr>
              <a:t>k</a:t>
            </a:r>
            <a:r>
              <a:rPr lang="zh-CN" altLang="en-US" sz="2400" b="1">
                <a:solidFill>
                  <a:srgbClr val="800000"/>
                </a:solidFill>
                <a:latin typeface="Arial" panose="020B0604020202020204" pitchFamily="34" charset="0"/>
                <a:ea typeface="楷体_GB2312" pitchFamily="49" charset="-122"/>
                <a:cs typeface="Arial" panose="020B0604020202020204" pitchFamily="34" charset="0"/>
              </a:rPr>
              <a:t> can be chosen, but various factors must be considered comprehensively.</a:t>
            </a:r>
            <a:endParaRPr lang="zh-CN" altLang="en-US" sz="2400" b="1">
              <a:latin typeface="Arial" panose="020B0604020202020204" pitchFamily="34" charset="0"/>
              <a:cs typeface="Arial" panose="020B0604020202020204" pitchFamily="34" charset="0"/>
            </a:endParaRP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136</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afterEffect">
                                  <p:stCondLst>
                                    <p:cond delay="0"/>
                                  </p:stCondLst>
                                  <p:childTnLst>
                                    <p:set>
                                      <p:cBhvr>
                                        <p:cTn id="6" dur="1" fill="hold">
                                          <p:stCondLst>
                                            <p:cond delay="0"/>
                                          </p:stCondLst>
                                        </p:cTn>
                                        <p:tgtEl>
                                          <p:spTgt spid="131074"/>
                                        </p:tgtEl>
                                        <p:attrNameLst>
                                          <p:attrName>style.visibility</p:attrName>
                                        </p:attrNameLst>
                                      </p:cBhvr>
                                      <p:to>
                                        <p:strVal val="visible"/>
                                      </p:to>
                                    </p:set>
                                    <p:anim calcmode="lin" valueType="num">
                                      <p:cBhvr additive="base">
                                        <p:cTn id="7" dur="500" fill="hold"/>
                                        <p:tgtEl>
                                          <p:spTgt spid="131074"/>
                                        </p:tgtEl>
                                        <p:attrNameLst>
                                          <p:attrName>ppt_x</p:attrName>
                                        </p:attrNameLst>
                                      </p:cBhvr>
                                      <p:tavLst>
                                        <p:tav tm="0">
                                          <p:val>
                                            <p:strVal val="0-#ppt_w/2"/>
                                          </p:val>
                                        </p:tav>
                                        <p:tav tm="100000">
                                          <p:val>
                                            <p:strVal val="#ppt_x"/>
                                          </p:val>
                                        </p:tav>
                                      </p:tavLst>
                                    </p:anim>
                                    <p:anim calcmode="lin" valueType="num">
                                      <p:cBhvr additive="base">
                                        <p:cTn id="8" dur="500" fill="hold"/>
                                        <p:tgtEl>
                                          <p:spTgt spid="13107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4" grpId="0" bldLvl="0" animBg="1" autoUpdateAnimBg="0"/>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ChangeArrowheads="1"/>
          </p:cNvSpPr>
          <p:nvPr/>
        </p:nvSpPr>
        <p:spPr bwMode="auto">
          <a:xfrm>
            <a:off x="609600" y="152400"/>
            <a:ext cx="7848600" cy="422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40000"/>
              </a:lnSpc>
            </a:pPr>
            <a:r>
              <a:rPr lang="zh-CN" altLang="en-US" sz="2400" b="1">
                <a:latin typeface="Arial" panose="020B0604020202020204" pitchFamily="34" charset="0"/>
                <a:ea typeface="楷体_GB2312" pitchFamily="49" charset="-122"/>
                <a:cs typeface="Arial" panose="020B0604020202020204" pitchFamily="34" charset="0"/>
              </a:rPr>
              <a:t>As k increases, the number of merges can be reduced, but the internal merge time will also increase, which will offset the benefit of reducing external memory read/write operations with increasing k. Using a loser tree, only</a:t>
            </a:r>
            <a:r>
              <a:rPr lang="en-US" altLang="zh-CN" sz="2400" b="1">
                <a:latin typeface="Arial" panose="020B0604020202020204" pitchFamily="34" charset="0"/>
                <a:ea typeface="楷体_GB2312" pitchFamily="49" charset="-122"/>
                <a:cs typeface="Arial" panose="020B0604020202020204" pitchFamily="34" charset="0"/>
              </a:rPr>
              <a:t> </a:t>
            </a:r>
            <a:r>
              <a:rPr lang="en-US" altLang="zh-CN" sz="2400" b="1">
                <a:ea typeface="楷体_GB2312" pitchFamily="49" charset="-122"/>
                <a:sym typeface="+mn-ea"/>
              </a:rPr>
              <a:t>log</a:t>
            </a:r>
            <a:r>
              <a:rPr lang="en-US" altLang="zh-CN" sz="2400" b="1" baseline="-25000">
                <a:ea typeface="楷体_GB2312" pitchFamily="49" charset="-122"/>
                <a:sym typeface="+mn-ea"/>
              </a:rPr>
              <a:t>2</a:t>
            </a:r>
            <a:r>
              <a:rPr lang="en-US" altLang="zh-CN" sz="2400" b="1">
                <a:ea typeface="楷体_GB2312" pitchFamily="49" charset="-122"/>
                <a:sym typeface="+mn-ea"/>
              </a:rPr>
              <a:t>k </a:t>
            </a:r>
            <a:r>
              <a:rPr lang="zh-CN" altLang="en-US" sz="2400" b="1">
                <a:latin typeface="Arial" panose="020B0604020202020204" pitchFamily="34" charset="0"/>
                <a:ea typeface="楷体_GB2312" pitchFamily="49" charset="-122"/>
                <a:cs typeface="Arial" panose="020B0604020202020204" pitchFamily="34" charset="0"/>
              </a:rPr>
              <a:t> comparisons are required to select the smallest key among k records, ensuring that the merge time does not increase with k.</a:t>
            </a:r>
          </a:p>
        </p:txBody>
      </p:sp>
      <p:sp>
        <p:nvSpPr>
          <p:cNvPr id="174083" name="Line 3"/>
          <p:cNvSpPr>
            <a:spLocks noChangeShapeType="1"/>
          </p:cNvSpPr>
          <p:nvPr/>
        </p:nvSpPr>
        <p:spPr bwMode="auto">
          <a:xfrm>
            <a:off x="6061710" y="2414905"/>
            <a:ext cx="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084" name="Line 4"/>
          <p:cNvSpPr>
            <a:spLocks noChangeShapeType="1"/>
          </p:cNvSpPr>
          <p:nvPr/>
        </p:nvSpPr>
        <p:spPr bwMode="auto">
          <a:xfrm>
            <a:off x="6061710" y="2795905"/>
            <a:ext cx="152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085" name="Line 5"/>
          <p:cNvSpPr>
            <a:spLocks noChangeShapeType="1"/>
          </p:cNvSpPr>
          <p:nvPr/>
        </p:nvSpPr>
        <p:spPr bwMode="auto">
          <a:xfrm>
            <a:off x="6854825" y="2414905"/>
            <a:ext cx="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086" name="Line 6"/>
          <p:cNvSpPr>
            <a:spLocks noChangeShapeType="1"/>
          </p:cNvSpPr>
          <p:nvPr/>
        </p:nvSpPr>
        <p:spPr bwMode="auto">
          <a:xfrm>
            <a:off x="6702425" y="2795905"/>
            <a:ext cx="152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137</a:t>
            </a:fld>
            <a:endParaRPr lang="en-US" altLang="zh-CN"/>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a:xfrm>
            <a:off x="0" y="0"/>
            <a:ext cx="3268345" cy="533400"/>
          </a:xfrm>
        </p:spPr>
        <p:txBody>
          <a:bodyPr/>
          <a:lstStyle/>
          <a:p>
            <a:r>
              <a:rPr lang="en-US" altLang="zh-CN" dirty="0"/>
              <a:t>Loser Tree</a:t>
            </a:r>
          </a:p>
        </p:txBody>
      </p:sp>
      <p:sp>
        <p:nvSpPr>
          <p:cNvPr id="157699" name="Text Box 3"/>
          <p:cNvSpPr txBox="1">
            <a:spLocks noChangeArrowheads="1"/>
          </p:cNvSpPr>
          <p:nvPr/>
        </p:nvSpPr>
        <p:spPr bwMode="auto">
          <a:xfrm>
            <a:off x="2236788" y="522288"/>
            <a:ext cx="936625" cy="458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Ls[0]</a:t>
            </a:r>
          </a:p>
        </p:txBody>
      </p:sp>
      <p:sp>
        <p:nvSpPr>
          <p:cNvPr id="157700" name="Text Box 4"/>
          <p:cNvSpPr txBox="1">
            <a:spLocks noChangeArrowheads="1"/>
          </p:cNvSpPr>
          <p:nvPr/>
        </p:nvSpPr>
        <p:spPr bwMode="auto">
          <a:xfrm>
            <a:off x="4067175" y="3597275"/>
            <a:ext cx="720725"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b2</a:t>
            </a:r>
          </a:p>
        </p:txBody>
      </p:sp>
      <p:grpSp>
        <p:nvGrpSpPr>
          <p:cNvPr id="157701" name="Group 5"/>
          <p:cNvGrpSpPr/>
          <p:nvPr/>
        </p:nvGrpSpPr>
        <p:grpSpPr bwMode="auto">
          <a:xfrm>
            <a:off x="100013" y="838200"/>
            <a:ext cx="4467225" cy="5994400"/>
            <a:chOff x="63" y="631"/>
            <a:chExt cx="2814" cy="3776"/>
          </a:xfrm>
        </p:grpSpPr>
        <p:sp>
          <p:nvSpPr>
            <p:cNvPr id="157702" name="Text Box 6"/>
            <p:cNvSpPr txBox="1">
              <a:spLocks noChangeArrowheads="1"/>
            </p:cNvSpPr>
            <p:nvPr/>
          </p:nvSpPr>
          <p:spPr bwMode="auto">
            <a:xfrm>
              <a:off x="203" y="3015"/>
              <a:ext cx="280"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6</a:t>
              </a:r>
            </a:p>
          </p:txBody>
        </p:sp>
        <p:sp>
          <p:nvSpPr>
            <p:cNvPr id="157703" name="Text Box 7"/>
            <p:cNvSpPr txBox="1">
              <a:spLocks noChangeArrowheads="1"/>
            </p:cNvSpPr>
            <p:nvPr/>
          </p:nvSpPr>
          <p:spPr bwMode="auto">
            <a:xfrm>
              <a:off x="920" y="3015"/>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12</a:t>
              </a:r>
            </a:p>
          </p:txBody>
        </p:sp>
        <p:sp>
          <p:nvSpPr>
            <p:cNvPr id="157704" name="Text Box 8"/>
            <p:cNvSpPr txBox="1">
              <a:spLocks noChangeArrowheads="1"/>
            </p:cNvSpPr>
            <p:nvPr/>
          </p:nvSpPr>
          <p:spPr bwMode="auto">
            <a:xfrm>
              <a:off x="1352" y="2544"/>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10</a:t>
              </a:r>
            </a:p>
          </p:txBody>
        </p:sp>
        <p:sp>
          <p:nvSpPr>
            <p:cNvPr id="157705" name="Text Box 9"/>
            <p:cNvSpPr txBox="1">
              <a:spLocks noChangeArrowheads="1"/>
            </p:cNvSpPr>
            <p:nvPr/>
          </p:nvSpPr>
          <p:spPr bwMode="auto">
            <a:xfrm>
              <a:off x="1955" y="2535"/>
              <a:ext cx="280"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9</a:t>
              </a:r>
            </a:p>
          </p:txBody>
        </p:sp>
        <p:sp>
          <p:nvSpPr>
            <p:cNvPr id="157706" name="Text Box 10"/>
            <p:cNvSpPr txBox="1">
              <a:spLocks noChangeArrowheads="1"/>
            </p:cNvSpPr>
            <p:nvPr/>
          </p:nvSpPr>
          <p:spPr bwMode="auto">
            <a:xfrm>
              <a:off x="2504" y="2535"/>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20</a:t>
              </a:r>
            </a:p>
          </p:txBody>
        </p:sp>
        <p:grpSp>
          <p:nvGrpSpPr>
            <p:cNvPr id="157707" name="Group 11"/>
            <p:cNvGrpSpPr/>
            <p:nvPr/>
          </p:nvGrpSpPr>
          <p:grpSpPr bwMode="auto">
            <a:xfrm>
              <a:off x="581" y="2546"/>
              <a:ext cx="280" cy="297"/>
              <a:chOff x="912" y="3552"/>
              <a:chExt cx="288" cy="299"/>
            </a:xfrm>
          </p:grpSpPr>
          <p:sp>
            <p:nvSpPr>
              <p:cNvPr id="157708" name="Oval 12"/>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09" name="Text Box 13"/>
              <p:cNvSpPr txBox="1">
                <a:spLocks noChangeArrowheads="1"/>
              </p:cNvSpPr>
              <p:nvPr/>
            </p:nvSpPr>
            <p:spPr bwMode="auto">
              <a:xfrm>
                <a:off x="942" y="3561"/>
                <a:ext cx="192"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4</a:t>
                </a:r>
              </a:p>
            </p:txBody>
          </p:sp>
        </p:grpSp>
        <p:sp>
          <p:nvSpPr>
            <p:cNvPr id="157710" name="Line 14"/>
            <p:cNvSpPr>
              <a:spLocks noChangeShapeType="1"/>
            </p:cNvSpPr>
            <p:nvPr/>
          </p:nvSpPr>
          <p:spPr bwMode="auto">
            <a:xfrm flipH="1">
              <a:off x="340" y="2787"/>
              <a:ext cx="233" cy="2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7711" name="Line 15"/>
            <p:cNvSpPr>
              <a:spLocks noChangeShapeType="1"/>
            </p:cNvSpPr>
            <p:nvPr/>
          </p:nvSpPr>
          <p:spPr bwMode="auto">
            <a:xfrm>
              <a:off x="868" y="2787"/>
              <a:ext cx="233" cy="2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57712" name="Group 16"/>
            <p:cNvGrpSpPr/>
            <p:nvPr/>
          </p:nvGrpSpPr>
          <p:grpSpPr bwMode="auto">
            <a:xfrm>
              <a:off x="983" y="1937"/>
              <a:ext cx="280" cy="297"/>
              <a:chOff x="912" y="3552"/>
              <a:chExt cx="288" cy="299"/>
            </a:xfrm>
          </p:grpSpPr>
          <p:sp>
            <p:nvSpPr>
              <p:cNvPr id="157713" name="Oval 17"/>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14" name="Text Box 18"/>
              <p:cNvSpPr txBox="1">
                <a:spLocks noChangeArrowheads="1"/>
              </p:cNvSpPr>
              <p:nvPr/>
            </p:nvSpPr>
            <p:spPr bwMode="auto">
              <a:xfrm>
                <a:off x="942" y="3561"/>
                <a:ext cx="192"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0</a:t>
                </a:r>
              </a:p>
            </p:txBody>
          </p:sp>
        </p:grpSp>
        <p:sp>
          <p:nvSpPr>
            <p:cNvPr id="157715" name="Line 19"/>
            <p:cNvSpPr>
              <a:spLocks noChangeShapeType="1"/>
            </p:cNvSpPr>
            <p:nvPr/>
          </p:nvSpPr>
          <p:spPr bwMode="auto">
            <a:xfrm flipH="1">
              <a:off x="772" y="2164"/>
              <a:ext cx="233" cy="38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7716" name="Line 20"/>
            <p:cNvSpPr>
              <a:spLocks noChangeShapeType="1"/>
            </p:cNvSpPr>
            <p:nvPr/>
          </p:nvSpPr>
          <p:spPr bwMode="auto">
            <a:xfrm>
              <a:off x="1253" y="2162"/>
              <a:ext cx="266" cy="36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57717" name="Group 21"/>
            <p:cNvGrpSpPr/>
            <p:nvPr/>
          </p:nvGrpSpPr>
          <p:grpSpPr bwMode="auto">
            <a:xfrm>
              <a:off x="2258" y="1922"/>
              <a:ext cx="280" cy="297"/>
              <a:chOff x="912" y="3552"/>
              <a:chExt cx="288" cy="299"/>
            </a:xfrm>
          </p:grpSpPr>
          <p:sp>
            <p:nvSpPr>
              <p:cNvPr id="157718" name="Oval 22"/>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19" name="Text Box 23"/>
              <p:cNvSpPr txBox="1">
                <a:spLocks noChangeArrowheads="1"/>
              </p:cNvSpPr>
              <p:nvPr/>
            </p:nvSpPr>
            <p:spPr bwMode="auto">
              <a:xfrm>
                <a:off x="942" y="3561"/>
                <a:ext cx="192"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a:t>
                </a:r>
              </a:p>
            </p:txBody>
          </p:sp>
        </p:grpSp>
        <p:sp>
          <p:nvSpPr>
            <p:cNvPr id="157720" name="Line 24"/>
            <p:cNvSpPr>
              <a:spLocks noChangeShapeType="1"/>
            </p:cNvSpPr>
            <p:nvPr/>
          </p:nvSpPr>
          <p:spPr bwMode="auto">
            <a:xfrm flipH="1">
              <a:off x="2114" y="2157"/>
              <a:ext cx="138" cy="32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7721" name="Line 25"/>
            <p:cNvSpPr>
              <a:spLocks noChangeShapeType="1"/>
            </p:cNvSpPr>
            <p:nvPr/>
          </p:nvSpPr>
          <p:spPr bwMode="auto">
            <a:xfrm>
              <a:off x="2516" y="2117"/>
              <a:ext cx="186" cy="42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57722" name="Group 26"/>
            <p:cNvGrpSpPr/>
            <p:nvPr/>
          </p:nvGrpSpPr>
          <p:grpSpPr bwMode="auto">
            <a:xfrm>
              <a:off x="1607" y="1298"/>
              <a:ext cx="280" cy="297"/>
              <a:chOff x="912" y="3552"/>
              <a:chExt cx="288" cy="299"/>
            </a:xfrm>
          </p:grpSpPr>
          <p:sp>
            <p:nvSpPr>
              <p:cNvPr id="157723" name="Oval 27"/>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24" name="Text Box 28"/>
              <p:cNvSpPr txBox="1">
                <a:spLocks noChangeArrowheads="1"/>
              </p:cNvSpPr>
              <p:nvPr/>
            </p:nvSpPr>
            <p:spPr bwMode="auto">
              <a:xfrm>
                <a:off x="942" y="3561"/>
                <a:ext cx="192"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a:t>
                </a:r>
              </a:p>
            </p:txBody>
          </p:sp>
        </p:grpSp>
        <p:sp>
          <p:nvSpPr>
            <p:cNvPr id="157725" name="Line 29"/>
            <p:cNvSpPr>
              <a:spLocks noChangeShapeType="1"/>
            </p:cNvSpPr>
            <p:nvPr/>
          </p:nvSpPr>
          <p:spPr bwMode="auto">
            <a:xfrm flipH="1">
              <a:off x="1163" y="1493"/>
              <a:ext cx="466" cy="42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7726" name="Line 30"/>
            <p:cNvSpPr>
              <a:spLocks noChangeShapeType="1"/>
            </p:cNvSpPr>
            <p:nvPr/>
          </p:nvSpPr>
          <p:spPr bwMode="auto">
            <a:xfrm>
              <a:off x="1883" y="1493"/>
              <a:ext cx="466" cy="42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57727" name="Group 31"/>
            <p:cNvGrpSpPr/>
            <p:nvPr/>
          </p:nvGrpSpPr>
          <p:grpSpPr bwMode="auto">
            <a:xfrm>
              <a:off x="1586" y="652"/>
              <a:ext cx="280" cy="297"/>
              <a:chOff x="912" y="3552"/>
              <a:chExt cx="288" cy="299"/>
            </a:xfrm>
          </p:grpSpPr>
          <p:sp>
            <p:nvSpPr>
              <p:cNvPr id="157728" name="Oval 32"/>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29" name="Text Box 33"/>
              <p:cNvSpPr txBox="1">
                <a:spLocks noChangeArrowheads="1"/>
              </p:cNvSpPr>
              <p:nvPr/>
            </p:nvSpPr>
            <p:spPr bwMode="auto">
              <a:xfrm>
                <a:off x="942" y="3561"/>
                <a:ext cx="192"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3</a:t>
                </a:r>
              </a:p>
            </p:txBody>
          </p:sp>
        </p:grpSp>
        <p:sp>
          <p:nvSpPr>
            <p:cNvPr id="157730" name="Line 34"/>
            <p:cNvSpPr>
              <a:spLocks noChangeShapeType="1"/>
            </p:cNvSpPr>
            <p:nvPr/>
          </p:nvSpPr>
          <p:spPr bwMode="auto">
            <a:xfrm>
              <a:off x="1733" y="939"/>
              <a:ext cx="1" cy="36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7731" name="Text Box 35"/>
            <p:cNvSpPr txBox="1">
              <a:spLocks noChangeArrowheads="1"/>
            </p:cNvSpPr>
            <p:nvPr/>
          </p:nvSpPr>
          <p:spPr bwMode="auto">
            <a:xfrm>
              <a:off x="1202" y="1071"/>
              <a:ext cx="57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Ls[1]</a:t>
              </a:r>
            </a:p>
          </p:txBody>
        </p:sp>
        <p:sp>
          <p:nvSpPr>
            <p:cNvPr id="157732" name="Text Box 36"/>
            <p:cNvSpPr txBox="1">
              <a:spLocks noChangeArrowheads="1"/>
            </p:cNvSpPr>
            <p:nvPr/>
          </p:nvSpPr>
          <p:spPr bwMode="auto">
            <a:xfrm>
              <a:off x="475" y="1888"/>
              <a:ext cx="57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Ls[2]</a:t>
              </a:r>
            </a:p>
          </p:txBody>
        </p:sp>
        <p:sp>
          <p:nvSpPr>
            <p:cNvPr id="157733" name="Text Box 37"/>
            <p:cNvSpPr txBox="1">
              <a:spLocks noChangeArrowheads="1"/>
            </p:cNvSpPr>
            <p:nvPr/>
          </p:nvSpPr>
          <p:spPr bwMode="auto">
            <a:xfrm>
              <a:off x="2264" y="1646"/>
              <a:ext cx="57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Ls[3]</a:t>
              </a:r>
            </a:p>
          </p:txBody>
        </p:sp>
        <p:sp>
          <p:nvSpPr>
            <p:cNvPr id="157734" name="Text Box 38"/>
            <p:cNvSpPr txBox="1">
              <a:spLocks noChangeArrowheads="1"/>
            </p:cNvSpPr>
            <p:nvPr/>
          </p:nvSpPr>
          <p:spPr bwMode="auto">
            <a:xfrm>
              <a:off x="67" y="2526"/>
              <a:ext cx="57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Ls[4]</a:t>
              </a:r>
            </a:p>
          </p:txBody>
        </p:sp>
        <p:sp>
          <p:nvSpPr>
            <p:cNvPr id="157735" name="Text Box 39"/>
            <p:cNvSpPr txBox="1">
              <a:spLocks noChangeArrowheads="1"/>
            </p:cNvSpPr>
            <p:nvPr/>
          </p:nvSpPr>
          <p:spPr bwMode="auto">
            <a:xfrm>
              <a:off x="1411" y="2287"/>
              <a:ext cx="43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b0</a:t>
              </a:r>
            </a:p>
          </p:txBody>
        </p:sp>
        <p:sp>
          <p:nvSpPr>
            <p:cNvPr id="157736" name="Text Box 40"/>
            <p:cNvSpPr txBox="1">
              <a:spLocks noChangeArrowheads="1"/>
            </p:cNvSpPr>
            <p:nvPr/>
          </p:nvSpPr>
          <p:spPr bwMode="auto">
            <a:xfrm>
              <a:off x="2091" y="2293"/>
              <a:ext cx="43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b1</a:t>
              </a:r>
            </a:p>
          </p:txBody>
        </p:sp>
        <p:sp>
          <p:nvSpPr>
            <p:cNvPr id="157737" name="Text Box 41"/>
            <p:cNvSpPr txBox="1">
              <a:spLocks noChangeArrowheads="1"/>
            </p:cNvSpPr>
            <p:nvPr/>
          </p:nvSpPr>
          <p:spPr bwMode="auto">
            <a:xfrm>
              <a:off x="989" y="2779"/>
              <a:ext cx="43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b4</a:t>
              </a:r>
            </a:p>
          </p:txBody>
        </p:sp>
        <p:sp>
          <p:nvSpPr>
            <p:cNvPr id="157738" name="Text Box 42"/>
            <p:cNvSpPr txBox="1">
              <a:spLocks noChangeArrowheads="1"/>
            </p:cNvSpPr>
            <p:nvPr/>
          </p:nvSpPr>
          <p:spPr bwMode="auto">
            <a:xfrm>
              <a:off x="63" y="2741"/>
              <a:ext cx="43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b3</a:t>
              </a:r>
            </a:p>
          </p:txBody>
        </p:sp>
        <p:sp>
          <p:nvSpPr>
            <p:cNvPr id="157739" name="Text Box 43"/>
            <p:cNvSpPr txBox="1">
              <a:spLocks noChangeArrowheads="1"/>
            </p:cNvSpPr>
            <p:nvPr/>
          </p:nvSpPr>
          <p:spPr bwMode="auto">
            <a:xfrm>
              <a:off x="195" y="3423"/>
              <a:ext cx="352" cy="984"/>
            </a:xfrm>
            <a:prstGeom prst="rect">
              <a:avLst/>
            </a:prstGeom>
            <a:solidFill>
              <a:srgbClr val="CC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6</a:t>
              </a:r>
            </a:p>
            <a:p>
              <a:pPr algn="ctr">
                <a:spcBef>
                  <a:spcPct val="50000"/>
                </a:spcBef>
              </a:pPr>
              <a:r>
                <a:rPr lang="en-US" altLang="zh-CN" sz="2400"/>
                <a:t>15</a:t>
              </a:r>
            </a:p>
            <a:p>
              <a:pPr algn="ctr">
                <a:spcBef>
                  <a:spcPct val="50000"/>
                </a:spcBef>
              </a:pPr>
              <a:r>
                <a:rPr lang="en-US" altLang="zh-CN" sz="2400"/>
                <a:t>25</a:t>
              </a:r>
            </a:p>
          </p:txBody>
        </p:sp>
        <p:sp>
          <p:nvSpPr>
            <p:cNvPr id="157740" name="Text Box 44"/>
            <p:cNvSpPr txBox="1">
              <a:spLocks noChangeArrowheads="1"/>
            </p:cNvSpPr>
            <p:nvPr/>
          </p:nvSpPr>
          <p:spPr bwMode="auto">
            <a:xfrm>
              <a:off x="928" y="3416"/>
              <a:ext cx="352" cy="984"/>
            </a:xfrm>
            <a:prstGeom prst="rect">
              <a:avLst/>
            </a:prstGeom>
            <a:solidFill>
              <a:srgbClr val="CC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12</a:t>
              </a:r>
            </a:p>
            <a:p>
              <a:pPr algn="ctr">
                <a:spcBef>
                  <a:spcPct val="50000"/>
                </a:spcBef>
              </a:pPr>
              <a:r>
                <a:rPr lang="en-US" altLang="zh-CN" sz="2400"/>
                <a:t>37</a:t>
              </a:r>
            </a:p>
            <a:p>
              <a:pPr algn="ctr">
                <a:spcBef>
                  <a:spcPct val="50000"/>
                </a:spcBef>
              </a:pPr>
              <a:r>
                <a:rPr lang="en-US" altLang="zh-CN" sz="2400"/>
                <a:t>48</a:t>
              </a:r>
            </a:p>
          </p:txBody>
        </p:sp>
        <p:sp>
          <p:nvSpPr>
            <p:cNvPr id="157741" name="Text Box 45"/>
            <p:cNvSpPr txBox="1">
              <a:spLocks noChangeArrowheads="1"/>
            </p:cNvSpPr>
            <p:nvPr/>
          </p:nvSpPr>
          <p:spPr bwMode="auto">
            <a:xfrm>
              <a:off x="1485" y="2930"/>
              <a:ext cx="352" cy="984"/>
            </a:xfrm>
            <a:prstGeom prst="rect">
              <a:avLst/>
            </a:prstGeom>
            <a:solidFill>
              <a:srgbClr val="CC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10</a:t>
              </a:r>
            </a:p>
            <a:p>
              <a:pPr algn="ctr">
                <a:spcBef>
                  <a:spcPct val="50000"/>
                </a:spcBef>
              </a:pPr>
              <a:r>
                <a:rPr lang="en-US" altLang="zh-CN" sz="2400"/>
                <a:t>15</a:t>
              </a:r>
            </a:p>
            <a:p>
              <a:pPr algn="ctr">
                <a:spcBef>
                  <a:spcPct val="50000"/>
                </a:spcBef>
              </a:pPr>
              <a:r>
                <a:rPr lang="en-US" altLang="zh-CN" sz="2400"/>
                <a:t>16</a:t>
              </a:r>
            </a:p>
          </p:txBody>
        </p:sp>
        <p:sp>
          <p:nvSpPr>
            <p:cNvPr id="157742" name="Text Box 46"/>
            <p:cNvSpPr txBox="1">
              <a:spLocks noChangeArrowheads="1"/>
            </p:cNvSpPr>
            <p:nvPr/>
          </p:nvSpPr>
          <p:spPr bwMode="auto">
            <a:xfrm>
              <a:off x="1965" y="2930"/>
              <a:ext cx="352" cy="984"/>
            </a:xfrm>
            <a:prstGeom prst="rect">
              <a:avLst/>
            </a:prstGeom>
            <a:solidFill>
              <a:srgbClr val="CC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9</a:t>
              </a:r>
            </a:p>
            <a:p>
              <a:pPr algn="ctr">
                <a:spcBef>
                  <a:spcPct val="50000"/>
                </a:spcBef>
              </a:pPr>
              <a:r>
                <a:rPr lang="en-US" altLang="zh-CN" sz="2400"/>
                <a:t>18</a:t>
              </a:r>
            </a:p>
            <a:p>
              <a:pPr algn="ctr">
                <a:spcBef>
                  <a:spcPct val="50000"/>
                </a:spcBef>
              </a:pPr>
              <a:r>
                <a:rPr lang="en-US" altLang="zh-CN" sz="2400"/>
                <a:t>20</a:t>
              </a:r>
            </a:p>
          </p:txBody>
        </p:sp>
        <p:sp>
          <p:nvSpPr>
            <p:cNvPr id="157743" name="Text Box 47"/>
            <p:cNvSpPr txBox="1">
              <a:spLocks noChangeArrowheads="1"/>
            </p:cNvSpPr>
            <p:nvPr/>
          </p:nvSpPr>
          <p:spPr bwMode="auto">
            <a:xfrm>
              <a:off x="2503" y="2944"/>
              <a:ext cx="352" cy="984"/>
            </a:xfrm>
            <a:prstGeom prst="rect">
              <a:avLst/>
            </a:prstGeom>
            <a:solidFill>
              <a:srgbClr val="CC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20</a:t>
              </a:r>
            </a:p>
            <a:p>
              <a:pPr algn="ctr">
                <a:spcBef>
                  <a:spcPct val="50000"/>
                </a:spcBef>
              </a:pPr>
              <a:r>
                <a:rPr lang="en-US" altLang="zh-CN" sz="2400"/>
                <a:t>22</a:t>
              </a:r>
            </a:p>
            <a:p>
              <a:pPr algn="ctr">
                <a:spcBef>
                  <a:spcPct val="50000"/>
                </a:spcBef>
              </a:pPr>
              <a:r>
                <a:rPr lang="en-US" altLang="zh-CN" sz="2400"/>
                <a:t>40</a:t>
              </a:r>
            </a:p>
          </p:txBody>
        </p:sp>
        <p:sp>
          <p:nvSpPr>
            <p:cNvPr id="157744" name="Text Box 48"/>
            <p:cNvSpPr txBox="1">
              <a:spLocks noChangeArrowheads="1"/>
            </p:cNvSpPr>
            <p:nvPr/>
          </p:nvSpPr>
          <p:spPr bwMode="auto">
            <a:xfrm>
              <a:off x="545" y="631"/>
              <a:ext cx="1104"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sz="2400">
                  <a:sym typeface="+mn-ea"/>
                </a:rPr>
                <a:t>champion</a:t>
              </a:r>
              <a:endParaRPr lang="zh-CN" altLang="en-US" sz="2400"/>
            </a:p>
          </p:txBody>
        </p:sp>
      </p:grpSp>
      <p:sp>
        <p:nvSpPr>
          <p:cNvPr id="157745" name="Text Box 49"/>
          <p:cNvSpPr txBox="1">
            <a:spLocks noChangeArrowheads="1"/>
          </p:cNvSpPr>
          <p:nvPr/>
        </p:nvSpPr>
        <p:spPr bwMode="auto">
          <a:xfrm>
            <a:off x="4643438" y="3989388"/>
            <a:ext cx="936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Ls[4]</a:t>
            </a:r>
          </a:p>
        </p:txBody>
      </p:sp>
      <p:sp>
        <p:nvSpPr>
          <p:cNvPr id="157746" name="Text Box 50"/>
          <p:cNvSpPr txBox="1">
            <a:spLocks noChangeArrowheads="1"/>
          </p:cNvSpPr>
          <p:nvPr/>
        </p:nvSpPr>
        <p:spPr bwMode="auto">
          <a:xfrm>
            <a:off x="4643438" y="4395788"/>
            <a:ext cx="7207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b3</a:t>
            </a:r>
          </a:p>
        </p:txBody>
      </p:sp>
      <p:grpSp>
        <p:nvGrpSpPr>
          <p:cNvPr id="157747" name="Group 51"/>
          <p:cNvGrpSpPr/>
          <p:nvPr/>
        </p:nvGrpSpPr>
        <p:grpSpPr bwMode="auto">
          <a:xfrm>
            <a:off x="4857750" y="569913"/>
            <a:ext cx="4518025" cy="6350000"/>
            <a:chOff x="3060" y="359"/>
            <a:chExt cx="2846" cy="4000"/>
          </a:xfrm>
        </p:grpSpPr>
        <p:sp>
          <p:nvSpPr>
            <p:cNvPr id="157748" name="Text Box 52"/>
            <p:cNvSpPr txBox="1">
              <a:spLocks noChangeArrowheads="1"/>
            </p:cNvSpPr>
            <p:nvPr/>
          </p:nvSpPr>
          <p:spPr bwMode="auto">
            <a:xfrm>
              <a:off x="3071" y="3014"/>
              <a:ext cx="289" cy="25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000"/>
                <a:t>15</a:t>
              </a:r>
            </a:p>
          </p:txBody>
        </p:sp>
        <p:sp>
          <p:nvSpPr>
            <p:cNvPr id="157749" name="Text Box 53"/>
            <p:cNvSpPr txBox="1">
              <a:spLocks noChangeArrowheads="1"/>
            </p:cNvSpPr>
            <p:nvPr/>
          </p:nvSpPr>
          <p:spPr bwMode="auto">
            <a:xfrm>
              <a:off x="3785" y="3014"/>
              <a:ext cx="385"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12</a:t>
              </a:r>
            </a:p>
          </p:txBody>
        </p:sp>
        <p:sp>
          <p:nvSpPr>
            <p:cNvPr id="157750" name="Text Box 54"/>
            <p:cNvSpPr txBox="1">
              <a:spLocks noChangeArrowheads="1"/>
            </p:cNvSpPr>
            <p:nvPr/>
          </p:nvSpPr>
          <p:spPr bwMode="auto">
            <a:xfrm>
              <a:off x="4217" y="2543"/>
              <a:ext cx="385"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10</a:t>
              </a:r>
            </a:p>
          </p:txBody>
        </p:sp>
        <p:sp>
          <p:nvSpPr>
            <p:cNvPr id="157751" name="Text Box 55"/>
            <p:cNvSpPr txBox="1">
              <a:spLocks noChangeArrowheads="1"/>
            </p:cNvSpPr>
            <p:nvPr/>
          </p:nvSpPr>
          <p:spPr bwMode="auto">
            <a:xfrm>
              <a:off x="4823" y="2534"/>
              <a:ext cx="289"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9</a:t>
              </a:r>
            </a:p>
          </p:txBody>
        </p:sp>
        <p:sp>
          <p:nvSpPr>
            <p:cNvPr id="157752" name="Text Box 56"/>
            <p:cNvSpPr txBox="1">
              <a:spLocks noChangeArrowheads="1"/>
            </p:cNvSpPr>
            <p:nvPr/>
          </p:nvSpPr>
          <p:spPr bwMode="auto">
            <a:xfrm>
              <a:off x="5369" y="2534"/>
              <a:ext cx="385"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20</a:t>
              </a:r>
            </a:p>
          </p:txBody>
        </p:sp>
        <p:grpSp>
          <p:nvGrpSpPr>
            <p:cNvPr id="157753" name="Group 57"/>
            <p:cNvGrpSpPr/>
            <p:nvPr/>
          </p:nvGrpSpPr>
          <p:grpSpPr bwMode="auto">
            <a:xfrm>
              <a:off x="3449" y="2544"/>
              <a:ext cx="289" cy="304"/>
              <a:chOff x="912" y="3552"/>
              <a:chExt cx="288" cy="288"/>
            </a:xfrm>
          </p:grpSpPr>
          <p:sp>
            <p:nvSpPr>
              <p:cNvPr id="157754" name="Oval 58"/>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55" name="Text Box 59"/>
              <p:cNvSpPr txBox="1">
                <a:spLocks noChangeArrowheads="1"/>
              </p:cNvSpPr>
              <p:nvPr/>
            </p:nvSpPr>
            <p:spPr bwMode="auto">
              <a:xfrm>
                <a:off x="942" y="3561"/>
                <a:ext cx="192" cy="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3</a:t>
                </a:r>
              </a:p>
            </p:txBody>
          </p:sp>
        </p:grpSp>
        <p:sp>
          <p:nvSpPr>
            <p:cNvPr id="157756" name="Line 60"/>
            <p:cNvSpPr>
              <a:spLocks noChangeShapeType="1"/>
            </p:cNvSpPr>
            <p:nvPr/>
          </p:nvSpPr>
          <p:spPr bwMode="auto">
            <a:xfrm flipH="1">
              <a:off x="3209" y="2788"/>
              <a:ext cx="241" cy="25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7757" name="Line 61"/>
            <p:cNvSpPr>
              <a:spLocks noChangeShapeType="1"/>
            </p:cNvSpPr>
            <p:nvPr/>
          </p:nvSpPr>
          <p:spPr bwMode="auto">
            <a:xfrm>
              <a:off x="3737" y="2788"/>
              <a:ext cx="241" cy="25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57758" name="Group 62"/>
            <p:cNvGrpSpPr/>
            <p:nvPr/>
          </p:nvGrpSpPr>
          <p:grpSpPr bwMode="auto">
            <a:xfrm>
              <a:off x="3851" y="1935"/>
              <a:ext cx="289" cy="304"/>
              <a:chOff x="912" y="3552"/>
              <a:chExt cx="288" cy="288"/>
            </a:xfrm>
          </p:grpSpPr>
          <p:sp>
            <p:nvSpPr>
              <p:cNvPr id="157759" name="Oval 63"/>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60" name="Text Box 64"/>
              <p:cNvSpPr txBox="1">
                <a:spLocks noChangeArrowheads="1"/>
              </p:cNvSpPr>
              <p:nvPr/>
            </p:nvSpPr>
            <p:spPr bwMode="auto">
              <a:xfrm>
                <a:off x="942" y="3561"/>
                <a:ext cx="192" cy="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4</a:t>
                </a:r>
              </a:p>
            </p:txBody>
          </p:sp>
        </p:grpSp>
        <p:sp>
          <p:nvSpPr>
            <p:cNvPr id="157761" name="Line 65"/>
            <p:cNvSpPr>
              <a:spLocks noChangeShapeType="1"/>
            </p:cNvSpPr>
            <p:nvPr/>
          </p:nvSpPr>
          <p:spPr bwMode="auto">
            <a:xfrm flipH="1">
              <a:off x="3641" y="2156"/>
              <a:ext cx="241" cy="40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7762" name="Line 66"/>
            <p:cNvSpPr>
              <a:spLocks noChangeShapeType="1"/>
            </p:cNvSpPr>
            <p:nvPr/>
          </p:nvSpPr>
          <p:spPr bwMode="auto">
            <a:xfrm>
              <a:off x="4121" y="2156"/>
              <a:ext cx="289" cy="40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57763" name="Group 67"/>
            <p:cNvGrpSpPr/>
            <p:nvPr/>
          </p:nvGrpSpPr>
          <p:grpSpPr bwMode="auto">
            <a:xfrm>
              <a:off x="5126" y="1920"/>
              <a:ext cx="289" cy="304"/>
              <a:chOff x="912" y="3552"/>
              <a:chExt cx="288" cy="288"/>
            </a:xfrm>
          </p:grpSpPr>
          <p:sp>
            <p:nvSpPr>
              <p:cNvPr id="157764" name="Oval 68"/>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65" name="Text Box 69"/>
              <p:cNvSpPr txBox="1">
                <a:spLocks noChangeArrowheads="1"/>
              </p:cNvSpPr>
              <p:nvPr/>
            </p:nvSpPr>
            <p:spPr bwMode="auto">
              <a:xfrm>
                <a:off x="942" y="3561"/>
                <a:ext cx="192" cy="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a:t>
                </a:r>
              </a:p>
            </p:txBody>
          </p:sp>
        </p:grpSp>
        <p:sp>
          <p:nvSpPr>
            <p:cNvPr id="157766" name="Line 70"/>
            <p:cNvSpPr>
              <a:spLocks noChangeShapeType="1"/>
            </p:cNvSpPr>
            <p:nvPr/>
          </p:nvSpPr>
          <p:spPr bwMode="auto">
            <a:xfrm flipH="1">
              <a:off x="4985" y="2156"/>
              <a:ext cx="144" cy="40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7767" name="Line 71"/>
            <p:cNvSpPr>
              <a:spLocks noChangeShapeType="1"/>
            </p:cNvSpPr>
            <p:nvPr/>
          </p:nvSpPr>
          <p:spPr bwMode="auto">
            <a:xfrm>
              <a:off x="5387" y="2106"/>
              <a:ext cx="192" cy="4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57768" name="Group 72"/>
            <p:cNvGrpSpPr/>
            <p:nvPr/>
          </p:nvGrpSpPr>
          <p:grpSpPr bwMode="auto">
            <a:xfrm>
              <a:off x="4475" y="1296"/>
              <a:ext cx="289" cy="304"/>
              <a:chOff x="912" y="3552"/>
              <a:chExt cx="288" cy="288"/>
            </a:xfrm>
          </p:grpSpPr>
          <p:sp>
            <p:nvSpPr>
              <p:cNvPr id="157769" name="Oval 73"/>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70" name="Text Box 74"/>
              <p:cNvSpPr txBox="1">
                <a:spLocks noChangeArrowheads="1"/>
              </p:cNvSpPr>
              <p:nvPr/>
            </p:nvSpPr>
            <p:spPr bwMode="auto">
              <a:xfrm>
                <a:off x="942" y="3561"/>
                <a:ext cx="192" cy="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0</a:t>
                </a:r>
              </a:p>
            </p:txBody>
          </p:sp>
        </p:grpSp>
        <p:sp>
          <p:nvSpPr>
            <p:cNvPr id="157771" name="Line 75"/>
            <p:cNvSpPr>
              <a:spLocks noChangeShapeType="1"/>
            </p:cNvSpPr>
            <p:nvPr/>
          </p:nvSpPr>
          <p:spPr bwMode="auto">
            <a:xfrm flipH="1">
              <a:off x="4025" y="1482"/>
              <a:ext cx="481" cy="4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7772" name="Line 76"/>
            <p:cNvSpPr>
              <a:spLocks noChangeShapeType="1"/>
            </p:cNvSpPr>
            <p:nvPr/>
          </p:nvSpPr>
          <p:spPr bwMode="auto">
            <a:xfrm>
              <a:off x="4745" y="1482"/>
              <a:ext cx="481" cy="4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57773" name="Group 77"/>
            <p:cNvGrpSpPr/>
            <p:nvPr/>
          </p:nvGrpSpPr>
          <p:grpSpPr bwMode="auto">
            <a:xfrm>
              <a:off x="4454" y="650"/>
              <a:ext cx="289" cy="304"/>
              <a:chOff x="912" y="3552"/>
              <a:chExt cx="288" cy="288"/>
            </a:xfrm>
          </p:grpSpPr>
          <p:sp>
            <p:nvSpPr>
              <p:cNvPr id="157774" name="Oval 78"/>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775" name="Text Box 79"/>
              <p:cNvSpPr txBox="1">
                <a:spLocks noChangeArrowheads="1"/>
              </p:cNvSpPr>
              <p:nvPr/>
            </p:nvSpPr>
            <p:spPr bwMode="auto">
              <a:xfrm>
                <a:off x="942" y="3561"/>
                <a:ext cx="192" cy="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a:t>
                </a:r>
              </a:p>
            </p:txBody>
          </p:sp>
        </p:grpSp>
        <p:sp>
          <p:nvSpPr>
            <p:cNvPr id="157776" name="Line 80"/>
            <p:cNvSpPr>
              <a:spLocks noChangeShapeType="1"/>
            </p:cNvSpPr>
            <p:nvPr/>
          </p:nvSpPr>
          <p:spPr bwMode="auto">
            <a:xfrm>
              <a:off x="4610" y="932"/>
              <a:ext cx="1" cy="38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7777" name="Text Box 81"/>
            <p:cNvSpPr txBox="1">
              <a:spLocks noChangeArrowheads="1"/>
            </p:cNvSpPr>
            <p:nvPr/>
          </p:nvSpPr>
          <p:spPr bwMode="auto">
            <a:xfrm>
              <a:off x="4060" y="1071"/>
              <a:ext cx="59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Ls[1]</a:t>
              </a:r>
            </a:p>
          </p:txBody>
        </p:sp>
        <p:sp>
          <p:nvSpPr>
            <p:cNvPr id="157778" name="Text Box 82"/>
            <p:cNvSpPr txBox="1">
              <a:spLocks noChangeArrowheads="1"/>
            </p:cNvSpPr>
            <p:nvPr/>
          </p:nvSpPr>
          <p:spPr bwMode="auto">
            <a:xfrm>
              <a:off x="4286" y="359"/>
              <a:ext cx="59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Ls[0]</a:t>
              </a:r>
            </a:p>
          </p:txBody>
        </p:sp>
        <p:sp>
          <p:nvSpPr>
            <p:cNvPr id="157779" name="Text Box 83"/>
            <p:cNvSpPr txBox="1">
              <a:spLocks noChangeArrowheads="1"/>
            </p:cNvSpPr>
            <p:nvPr/>
          </p:nvSpPr>
          <p:spPr bwMode="auto">
            <a:xfrm>
              <a:off x="3333" y="1888"/>
              <a:ext cx="59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Ls[2]</a:t>
              </a:r>
            </a:p>
          </p:txBody>
        </p:sp>
        <p:sp>
          <p:nvSpPr>
            <p:cNvPr id="157780" name="Text Box 84"/>
            <p:cNvSpPr txBox="1">
              <a:spLocks noChangeArrowheads="1"/>
            </p:cNvSpPr>
            <p:nvPr/>
          </p:nvSpPr>
          <p:spPr bwMode="auto">
            <a:xfrm>
              <a:off x="5103" y="1642"/>
              <a:ext cx="59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Ls[3]</a:t>
              </a:r>
            </a:p>
          </p:txBody>
        </p:sp>
        <p:sp>
          <p:nvSpPr>
            <p:cNvPr id="157781" name="Text Box 85"/>
            <p:cNvSpPr txBox="1">
              <a:spLocks noChangeArrowheads="1"/>
            </p:cNvSpPr>
            <p:nvPr/>
          </p:nvSpPr>
          <p:spPr bwMode="auto">
            <a:xfrm>
              <a:off x="4286" y="2326"/>
              <a:ext cx="45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b0</a:t>
              </a:r>
            </a:p>
          </p:txBody>
        </p:sp>
        <p:sp>
          <p:nvSpPr>
            <p:cNvPr id="157782" name="Text Box 86"/>
            <p:cNvSpPr txBox="1">
              <a:spLocks noChangeArrowheads="1"/>
            </p:cNvSpPr>
            <p:nvPr/>
          </p:nvSpPr>
          <p:spPr bwMode="auto">
            <a:xfrm>
              <a:off x="4953" y="2293"/>
              <a:ext cx="45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b1</a:t>
              </a:r>
            </a:p>
          </p:txBody>
        </p:sp>
        <p:sp>
          <p:nvSpPr>
            <p:cNvPr id="157783" name="Text Box 87"/>
            <p:cNvSpPr txBox="1">
              <a:spLocks noChangeArrowheads="1"/>
            </p:cNvSpPr>
            <p:nvPr/>
          </p:nvSpPr>
          <p:spPr bwMode="auto">
            <a:xfrm>
              <a:off x="5452" y="2264"/>
              <a:ext cx="45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b2</a:t>
              </a:r>
            </a:p>
          </p:txBody>
        </p:sp>
        <p:sp>
          <p:nvSpPr>
            <p:cNvPr id="157784" name="Text Box 88"/>
            <p:cNvSpPr txBox="1">
              <a:spLocks noChangeArrowheads="1"/>
            </p:cNvSpPr>
            <p:nvPr/>
          </p:nvSpPr>
          <p:spPr bwMode="auto">
            <a:xfrm>
              <a:off x="3851" y="2779"/>
              <a:ext cx="45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b4</a:t>
              </a:r>
            </a:p>
          </p:txBody>
        </p:sp>
        <p:sp>
          <p:nvSpPr>
            <p:cNvPr id="157785" name="Text Box 89"/>
            <p:cNvSpPr txBox="1">
              <a:spLocks noChangeArrowheads="1"/>
            </p:cNvSpPr>
            <p:nvPr/>
          </p:nvSpPr>
          <p:spPr bwMode="auto">
            <a:xfrm>
              <a:off x="3060" y="3356"/>
              <a:ext cx="364" cy="984"/>
            </a:xfrm>
            <a:prstGeom prst="rect">
              <a:avLst/>
            </a:prstGeom>
            <a:solidFill>
              <a:srgbClr val="CC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endParaRPr lang="en-US" altLang="zh-CN" sz="2400"/>
            </a:p>
            <a:p>
              <a:pPr algn="ctr">
                <a:spcBef>
                  <a:spcPct val="50000"/>
                </a:spcBef>
              </a:pPr>
              <a:r>
                <a:rPr lang="en-US" altLang="zh-CN" sz="2400"/>
                <a:t>15</a:t>
              </a:r>
            </a:p>
            <a:p>
              <a:pPr algn="ctr">
                <a:spcBef>
                  <a:spcPct val="50000"/>
                </a:spcBef>
              </a:pPr>
              <a:r>
                <a:rPr lang="en-US" altLang="zh-CN" sz="2400"/>
                <a:t>25</a:t>
              </a:r>
            </a:p>
          </p:txBody>
        </p:sp>
        <p:sp>
          <p:nvSpPr>
            <p:cNvPr id="157786" name="Text Box 90"/>
            <p:cNvSpPr txBox="1">
              <a:spLocks noChangeArrowheads="1"/>
            </p:cNvSpPr>
            <p:nvPr/>
          </p:nvSpPr>
          <p:spPr bwMode="auto">
            <a:xfrm>
              <a:off x="3793" y="3375"/>
              <a:ext cx="364" cy="984"/>
            </a:xfrm>
            <a:prstGeom prst="rect">
              <a:avLst/>
            </a:prstGeom>
            <a:solidFill>
              <a:srgbClr val="CC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12</a:t>
              </a:r>
            </a:p>
            <a:p>
              <a:pPr algn="ctr">
                <a:spcBef>
                  <a:spcPct val="50000"/>
                </a:spcBef>
              </a:pPr>
              <a:r>
                <a:rPr lang="en-US" altLang="zh-CN" sz="2400"/>
                <a:t>37</a:t>
              </a:r>
            </a:p>
            <a:p>
              <a:pPr algn="ctr">
                <a:spcBef>
                  <a:spcPct val="50000"/>
                </a:spcBef>
              </a:pPr>
              <a:r>
                <a:rPr lang="en-US" altLang="zh-CN" sz="2400"/>
                <a:t>48</a:t>
              </a:r>
            </a:p>
          </p:txBody>
        </p:sp>
        <p:sp>
          <p:nvSpPr>
            <p:cNvPr id="157787" name="Text Box 91"/>
            <p:cNvSpPr txBox="1">
              <a:spLocks noChangeArrowheads="1"/>
            </p:cNvSpPr>
            <p:nvPr/>
          </p:nvSpPr>
          <p:spPr bwMode="auto">
            <a:xfrm>
              <a:off x="4350" y="2889"/>
              <a:ext cx="364" cy="984"/>
            </a:xfrm>
            <a:prstGeom prst="rect">
              <a:avLst/>
            </a:prstGeom>
            <a:solidFill>
              <a:srgbClr val="CC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10</a:t>
              </a:r>
            </a:p>
            <a:p>
              <a:pPr algn="ctr">
                <a:spcBef>
                  <a:spcPct val="50000"/>
                </a:spcBef>
              </a:pPr>
              <a:r>
                <a:rPr lang="en-US" altLang="zh-CN" sz="2400"/>
                <a:t>15</a:t>
              </a:r>
            </a:p>
            <a:p>
              <a:pPr algn="ctr">
                <a:spcBef>
                  <a:spcPct val="50000"/>
                </a:spcBef>
              </a:pPr>
              <a:r>
                <a:rPr lang="en-US" altLang="zh-CN" sz="2400"/>
                <a:t>16</a:t>
              </a:r>
            </a:p>
          </p:txBody>
        </p:sp>
        <p:sp>
          <p:nvSpPr>
            <p:cNvPr id="157788" name="Text Box 92"/>
            <p:cNvSpPr txBox="1">
              <a:spLocks noChangeArrowheads="1"/>
            </p:cNvSpPr>
            <p:nvPr/>
          </p:nvSpPr>
          <p:spPr bwMode="auto">
            <a:xfrm>
              <a:off x="4830" y="2889"/>
              <a:ext cx="364" cy="984"/>
            </a:xfrm>
            <a:prstGeom prst="rect">
              <a:avLst/>
            </a:prstGeom>
            <a:solidFill>
              <a:srgbClr val="CC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9</a:t>
              </a:r>
            </a:p>
            <a:p>
              <a:pPr algn="ctr">
                <a:spcBef>
                  <a:spcPct val="50000"/>
                </a:spcBef>
              </a:pPr>
              <a:r>
                <a:rPr lang="en-US" altLang="zh-CN" sz="2400"/>
                <a:t>18</a:t>
              </a:r>
            </a:p>
            <a:p>
              <a:pPr algn="ctr">
                <a:spcBef>
                  <a:spcPct val="50000"/>
                </a:spcBef>
              </a:pPr>
              <a:r>
                <a:rPr lang="en-US" altLang="zh-CN" sz="2400"/>
                <a:t>20</a:t>
              </a:r>
            </a:p>
          </p:txBody>
        </p:sp>
        <p:sp>
          <p:nvSpPr>
            <p:cNvPr id="157789" name="Text Box 93"/>
            <p:cNvSpPr txBox="1">
              <a:spLocks noChangeArrowheads="1"/>
            </p:cNvSpPr>
            <p:nvPr/>
          </p:nvSpPr>
          <p:spPr bwMode="auto">
            <a:xfrm>
              <a:off x="5381" y="2903"/>
              <a:ext cx="364" cy="984"/>
            </a:xfrm>
            <a:prstGeom prst="rect">
              <a:avLst/>
            </a:prstGeom>
            <a:solidFill>
              <a:srgbClr val="CC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20</a:t>
              </a:r>
            </a:p>
            <a:p>
              <a:pPr algn="ctr">
                <a:spcBef>
                  <a:spcPct val="50000"/>
                </a:spcBef>
              </a:pPr>
              <a:r>
                <a:rPr lang="en-US" altLang="zh-CN" sz="2400"/>
                <a:t>22</a:t>
              </a:r>
            </a:p>
            <a:p>
              <a:pPr algn="ctr">
                <a:spcBef>
                  <a:spcPct val="50000"/>
                </a:spcBef>
              </a:pPr>
              <a:r>
                <a:rPr lang="en-US" altLang="zh-CN" sz="2400"/>
                <a:t>40</a:t>
              </a:r>
            </a:p>
          </p:txBody>
        </p:sp>
        <p:sp>
          <p:nvSpPr>
            <p:cNvPr id="157790" name="Text Box 94"/>
            <p:cNvSpPr txBox="1">
              <a:spLocks noChangeArrowheads="1"/>
            </p:cNvSpPr>
            <p:nvPr/>
          </p:nvSpPr>
          <p:spPr bwMode="auto">
            <a:xfrm>
              <a:off x="3239" y="631"/>
              <a:ext cx="1287"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sz="2400">
                  <a:sym typeface="+mn-ea"/>
                </a:rPr>
                <a:t>champion</a:t>
              </a:r>
              <a:endParaRPr lang="zh-CN" altLang="en-US" sz="2400"/>
            </a:p>
          </p:txBody>
        </p:sp>
      </p:grpSp>
      <p:sp>
        <p:nvSpPr>
          <p:cNvPr id="157791" name="Line 95"/>
          <p:cNvSpPr>
            <a:spLocks noChangeShapeType="1"/>
          </p:cNvSpPr>
          <p:nvPr/>
        </p:nvSpPr>
        <p:spPr bwMode="auto">
          <a:xfrm>
            <a:off x="4767263" y="0"/>
            <a:ext cx="0" cy="6858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B510424F-96B9-4C00-88E0-F120333DC6C5}" type="slidenum">
              <a:rPr lang="en-US" altLang="zh-CN" smtClean="0"/>
              <a:t>138</a:t>
            </a:fld>
            <a:endParaRPr lang="en-US" altLang="zh-CN"/>
          </a:p>
        </p:txBody>
      </p:sp>
    </p:spTree>
  </p:cSld>
  <p:clrMapOvr>
    <a:masterClrMapping/>
  </p:clrMapOvr>
  <p:transition>
    <p:pull dir="rd"/>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ChangeArrowheads="1"/>
          </p:cNvSpPr>
          <p:nvPr>
            <p:ph type="title"/>
          </p:nvPr>
        </p:nvSpPr>
        <p:spPr>
          <a:xfrm>
            <a:off x="457200" y="908685"/>
            <a:ext cx="8458200" cy="6248400"/>
          </a:xfrm>
        </p:spPr>
        <p:txBody>
          <a:bodyPr/>
          <a:lstStyle/>
          <a:p>
            <a:pPr algn="l">
              <a:lnSpc>
                <a:spcPct val="120000"/>
              </a:lnSpc>
            </a:pPr>
            <a:r>
              <a:rPr lang="en-US" altLang="zh-CN" sz="2400">
                <a:solidFill>
                  <a:schemeClr val="accent2"/>
                </a:solidFill>
                <a:ea typeface="楷体_GB2312" pitchFamily="49" charset="-122"/>
                <a:cs typeface="Arial" panose="020B0604020202020204" pitchFamily="34" charset="0"/>
                <a:sym typeface="Symbol" panose="05050102010706020507" pitchFamily="18" charset="2"/>
              </a:rPr>
              <a:t></a:t>
            </a:r>
            <a:r>
              <a:rPr lang="en-US" altLang="zh-CN" sz="2400" dirty="0" err="1">
                <a:solidFill>
                  <a:schemeClr val="accent2"/>
                </a:solidFill>
                <a:ea typeface="楷体_GB2312" pitchFamily="49" charset="-122"/>
                <a:cs typeface="Arial" panose="020B0604020202020204" pitchFamily="34" charset="0"/>
                <a:sym typeface="+mn-ea"/>
              </a:rPr>
              <a:t>log</a:t>
            </a:r>
            <a:r>
              <a:rPr lang="en-US" altLang="zh-CN" sz="2400" baseline="-25000" dirty="0" err="1">
                <a:solidFill>
                  <a:schemeClr val="accent2"/>
                </a:solidFill>
                <a:ea typeface="楷体_GB2312" pitchFamily="49" charset="-122"/>
                <a:cs typeface="Arial" panose="020B0604020202020204" pitchFamily="34" charset="0"/>
                <a:sym typeface="+mn-ea"/>
              </a:rPr>
              <a:t>k</a:t>
            </a:r>
            <a:r>
              <a:rPr lang="en-US" altLang="zh-CN" sz="2400" i="1" dirty="0" err="1">
                <a:solidFill>
                  <a:schemeClr val="accent2"/>
                </a:solidFill>
                <a:ea typeface="楷体_GB2312" pitchFamily="49" charset="-122"/>
                <a:cs typeface="Arial" panose="020B0604020202020204" pitchFamily="34" charset="0"/>
                <a:sym typeface="+mn-ea"/>
              </a:rPr>
              <a:t>m</a:t>
            </a:r>
            <a:r>
              <a:rPr lang="en-US" altLang="zh-CN" sz="2400">
                <a:solidFill>
                  <a:schemeClr val="accent2"/>
                </a:solidFill>
                <a:ea typeface="楷体_GB2312" pitchFamily="49" charset="-122"/>
                <a:cs typeface="Arial" panose="020B0604020202020204" pitchFamily="34" charset="0"/>
                <a:sym typeface="Symbol" panose="05050102010706020507" pitchFamily="18" charset="2"/>
              </a:rPr>
              <a:t>  </a:t>
            </a:r>
            <a:r>
              <a:rPr lang="en-US" altLang="zh-CN" sz="2400" b="1" dirty="0">
                <a:solidFill>
                  <a:schemeClr val="accent2"/>
                </a:solidFill>
                <a:ea typeface="楷体_GB2312" pitchFamily="49" charset="-122"/>
                <a:cs typeface="Arial" panose="020B0604020202020204" pitchFamily="34" charset="0"/>
                <a:sym typeface="Symbol" panose="05050102010706020507" pitchFamily="18" charset="2"/>
              </a:rPr>
              <a:t>It can be seen that the sorting time is not only inversely proportional to k but also directly proportional to m. Therefore, reducing m can also reduce the sorting time. </a:t>
            </a:r>
            <a:br>
              <a:rPr lang="en-US" altLang="zh-CN" sz="2400" b="1" dirty="0">
                <a:solidFill>
                  <a:schemeClr val="accent2"/>
                </a:solidFill>
                <a:ea typeface="楷体_GB2312" pitchFamily="49" charset="-122"/>
                <a:cs typeface="Arial" panose="020B0604020202020204" pitchFamily="34" charset="0"/>
                <a:sym typeface="Symbol" panose="05050102010706020507" pitchFamily="18" charset="2"/>
              </a:rPr>
            </a:br>
            <a:r>
              <a:rPr lang="en-US" altLang="zh-CN" sz="2400" b="1" dirty="0">
                <a:solidFill>
                  <a:schemeClr val="accent2"/>
                </a:solidFill>
                <a:ea typeface="楷体_GB2312" pitchFamily="49" charset="-122"/>
                <a:cs typeface="Arial" panose="020B0604020202020204" pitchFamily="34" charset="0"/>
                <a:sym typeface="Symbol" panose="05050102010706020507" pitchFamily="18" charset="2"/>
              </a:rPr>
              <a:t>K is the number of merge paths</a:t>
            </a:r>
            <a:br>
              <a:rPr lang="en-US" altLang="zh-CN" sz="2400" b="1" dirty="0">
                <a:solidFill>
                  <a:schemeClr val="accent2"/>
                </a:solidFill>
                <a:ea typeface="楷体_GB2312" pitchFamily="49" charset="-122"/>
                <a:cs typeface="Arial" panose="020B0604020202020204" pitchFamily="34" charset="0"/>
                <a:sym typeface="Symbol" panose="05050102010706020507" pitchFamily="18" charset="2"/>
              </a:rPr>
            </a:br>
            <a:r>
              <a:rPr lang="en-US" altLang="zh-CN" sz="2400" b="1" dirty="0">
                <a:solidFill>
                  <a:schemeClr val="accent2"/>
                </a:solidFill>
                <a:ea typeface="楷体_GB2312" pitchFamily="49" charset="-122"/>
                <a:cs typeface="Arial" panose="020B0604020202020204" pitchFamily="34" charset="0"/>
                <a:sym typeface="Symbol" panose="05050102010706020507" pitchFamily="18" charset="2"/>
              </a:rPr>
              <a:t>m is the initial number of merge segments. </a:t>
            </a:r>
            <a:br>
              <a:rPr lang="en-US" altLang="zh-CN" sz="2400" b="1" dirty="0">
                <a:solidFill>
                  <a:schemeClr val="accent2"/>
                </a:solidFill>
                <a:ea typeface="楷体_GB2312" pitchFamily="49" charset="-122"/>
                <a:cs typeface="Arial" panose="020B0604020202020204" pitchFamily="34" charset="0"/>
                <a:sym typeface="Symbol" panose="05050102010706020507" pitchFamily="18" charset="2"/>
              </a:rPr>
            </a:br>
            <a:r>
              <a:rPr sz="2400" b="1" dirty="0">
                <a:ea typeface="楷体_GB2312" pitchFamily="49" charset="-122"/>
                <a:cs typeface="Arial" panose="020B0604020202020204" pitchFamily="34" charset="0"/>
                <a:sym typeface="Symbol" panose="05050102010706020507" pitchFamily="18" charset="2"/>
              </a:rPr>
              <a:t>The sort-swap algorithm is derived from the tree sort algorithm.</a:t>
            </a:r>
            <a:r>
              <a:rPr lang="en-US" altLang="zh-CN" sz="2400" b="1" dirty="0">
                <a:solidFill>
                  <a:schemeClr val="accent2"/>
                </a:solidFill>
                <a:ea typeface="楷体_GB2312" pitchFamily="49" charset="-122"/>
                <a:cs typeface="Arial" panose="020B0604020202020204" pitchFamily="34" charset="0"/>
                <a:sym typeface="Symbol" panose="05050102010706020507" pitchFamily="18" charset="2"/>
              </a:rPr>
              <a:t> </a:t>
            </a:r>
            <a:r>
              <a:rPr lang="en-US" altLang="zh-CN" sz="2400" b="1" dirty="0">
                <a:solidFill>
                  <a:schemeClr val="tx1">
                    <a:lumMod val="95000"/>
                    <a:lumOff val="5000"/>
                  </a:schemeClr>
                </a:solidFill>
                <a:ea typeface="楷体_GB2312" pitchFamily="49" charset="-122"/>
                <a:cs typeface="Arial" panose="020B0604020202020204" pitchFamily="34" charset="0"/>
                <a:sym typeface="Symbol" panose="05050102010706020507" pitchFamily="18" charset="2"/>
              </a:rPr>
              <a:t>Its characteristics include: throughout the sorting procedure, the selection of the minimum (maximum) key and input/output operations can be performed either crosswise or parallelly.</a:t>
            </a:r>
            <a:br>
              <a:rPr lang="zh-CN" altLang="en-US" sz="2400" b="1" dirty="0">
                <a:solidFill>
                  <a:schemeClr val="accent2"/>
                </a:solidFill>
                <a:ea typeface="楷体_GB2312" pitchFamily="49" charset="-122"/>
                <a:cs typeface="Arial" panose="020B0604020202020204" pitchFamily="34" charset="0"/>
                <a:sym typeface="Symbol" panose="05050102010706020507" pitchFamily="18" charset="2"/>
              </a:rPr>
            </a:br>
            <a:br>
              <a:rPr lang="zh-CN" altLang="en-US" sz="2400" b="1" dirty="0">
                <a:solidFill>
                  <a:schemeClr val="accent2"/>
                </a:solidFill>
                <a:ea typeface="楷体_GB2312" pitchFamily="49" charset="-122"/>
                <a:cs typeface="Arial" panose="020B0604020202020204" pitchFamily="34" charset="0"/>
                <a:sym typeface="Symbol" panose="05050102010706020507" pitchFamily="18" charset="2"/>
              </a:rPr>
            </a:br>
            <a:br>
              <a:rPr lang="zh-CN" altLang="en-US" sz="2400" b="1" dirty="0">
                <a:solidFill>
                  <a:schemeClr val="accent2"/>
                </a:solidFill>
                <a:ea typeface="楷体_GB2312" pitchFamily="49" charset="-122"/>
                <a:cs typeface="Arial" panose="020B0604020202020204" pitchFamily="34" charset="0"/>
                <a:sym typeface="Symbol" panose="05050102010706020507" pitchFamily="18" charset="2"/>
              </a:rPr>
            </a:br>
            <a:endParaRPr lang="zh-CN" altLang="en-US" sz="2400" b="1" dirty="0">
              <a:solidFill>
                <a:schemeClr val="tx1"/>
              </a:solidFill>
              <a:ea typeface="楷体_GB2312" pitchFamily="49" charset="-122"/>
              <a:cs typeface="Arial" panose="020B0604020202020204" pitchFamily="34" charset="0"/>
              <a:sym typeface="Symbol" panose="05050102010706020507" pitchFamily="18" charset="2"/>
            </a:endParaRPr>
          </a:p>
        </p:txBody>
      </p:sp>
      <p:sp>
        <p:nvSpPr>
          <p:cNvPr id="175108" name="Text Box 4"/>
          <p:cNvSpPr txBox="1">
            <a:spLocks noChangeArrowheads="1"/>
          </p:cNvSpPr>
          <p:nvPr/>
        </p:nvSpPr>
        <p:spPr bwMode="auto">
          <a:xfrm>
            <a:off x="539750" y="189230"/>
            <a:ext cx="6976745" cy="706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4000" b="1">
                <a:latin typeface="Arial" panose="020B0604020202020204" pitchFamily="34" charset="0"/>
                <a:ea typeface="楷体_GB2312" pitchFamily="49" charset="-122"/>
                <a:cs typeface="Arial" panose="020B0604020202020204" pitchFamily="34" charset="0"/>
              </a:rPr>
              <a:t>From the formula</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B510424F-96B9-4C00-88E0-F120333DC6C5}" type="slidenum">
              <a:rPr lang="en-US" altLang="zh-CN" smtClean="0"/>
              <a:t>139</a:t>
            </a:fld>
            <a:endParaRPr lang="en-US" altLang="zh-CN"/>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ChangeArrowheads="1"/>
          </p:cNvSpPr>
          <p:nvPr>
            <p:ph type="title"/>
          </p:nvPr>
        </p:nvSpPr>
        <p:spPr>
          <a:xfrm>
            <a:off x="304800" y="404495"/>
            <a:ext cx="8458200" cy="6248400"/>
          </a:xfrm>
        </p:spPr>
        <p:txBody>
          <a:bodyPr/>
          <a:lstStyle/>
          <a:p>
            <a:pPr algn="l">
              <a:lnSpc>
                <a:spcPct val="120000"/>
              </a:lnSpc>
            </a:pPr>
            <a:r>
              <a:rPr lang="zh-CN" altLang="en-US" sz="2400" b="1" dirty="0">
                <a:ea typeface="楷体_GB2312" pitchFamily="49" charset="-122"/>
                <a:cs typeface="Arial" panose="020B0604020202020204" pitchFamily="34" charset="0"/>
              </a:rPr>
              <a:t>Set: </a:t>
            </a:r>
            <a:br>
              <a:rPr lang="zh-CN" altLang="en-US" sz="2400" b="1" dirty="0">
                <a:ea typeface="楷体_GB2312" pitchFamily="49" charset="-122"/>
                <a:cs typeface="Arial" panose="020B0604020202020204" pitchFamily="34" charset="0"/>
              </a:rPr>
            </a:br>
            <a:r>
              <a:rPr lang="zh-CN" altLang="en-US" sz="2400" b="1" dirty="0">
                <a:ea typeface="楷体_GB2312" pitchFamily="49" charset="-122"/>
                <a:cs typeface="Arial" panose="020B0604020202020204" pitchFamily="34" charset="0"/>
              </a:rPr>
              <a:t>The input file FI is the file to be sorted </a:t>
            </a:r>
            <a:br>
              <a:rPr lang="zh-CN" altLang="en-US" sz="2400" b="1" dirty="0">
                <a:ea typeface="楷体_GB2312" pitchFamily="49" charset="-122"/>
                <a:cs typeface="Arial" panose="020B0604020202020204" pitchFamily="34" charset="0"/>
              </a:rPr>
            </a:br>
            <a:r>
              <a:rPr lang="en-US" altLang="zh-CN" sz="2400" b="1" dirty="0">
                <a:ea typeface="楷体_GB2312" pitchFamily="49" charset="-122"/>
                <a:cs typeface="Arial" panose="020B0604020202020204" pitchFamily="34" charset="0"/>
              </a:rPr>
              <a:t>T</a:t>
            </a:r>
            <a:r>
              <a:rPr lang="zh-CN" altLang="en-US" sz="2400" b="1" dirty="0">
                <a:ea typeface="楷体_GB2312" pitchFamily="49" charset="-122"/>
                <a:cs typeface="Arial" panose="020B0604020202020204" pitchFamily="34" charset="0"/>
              </a:rPr>
              <a:t>he output file FO is the initial merge segment file</a:t>
            </a:r>
            <a:br>
              <a:rPr lang="zh-CN" altLang="en-US" sz="2400" b="1" dirty="0">
                <a:ea typeface="楷体_GB2312" pitchFamily="49" charset="-122"/>
                <a:cs typeface="Arial" panose="020B0604020202020204" pitchFamily="34" charset="0"/>
              </a:rPr>
            </a:br>
            <a:r>
              <a:rPr lang="en-US" altLang="zh-CN" sz="2400" b="1" dirty="0">
                <a:ea typeface="楷体_GB2312" pitchFamily="49" charset="-122"/>
                <a:cs typeface="Arial" panose="020B0604020202020204" pitchFamily="34" charset="0"/>
              </a:rPr>
              <a:t>T</a:t>
            </a:r>
            <a:r>
              <a:rPr lang="zh-CN" altLang="en-US" sz="2400" b="1" dirty="0">
                <a:ea typeface="楷体_GB2312" pitchFamily="49" charset="-122"/>
                <a:cs typeface="Arial" panose="020B0604020202020204" pitchFamily="34" charset="0"/>
              </a:rPr>
              <a:t>he working area WA in memory can hold W records. Both WA and FO are initially empty. </a:t>
            </a:r>
            <a:br>
              <a:rPr lang="en-US" altLang="zh-CN" sz="2400" b="1" dirty="0">
                <a:ea typeface="楷体_GB2312" pitchFamily="49" charset="-122"/>
                <a:cs typeface="Arial" panose="020B0604020202020204" pitchFamily="34" charset="0"/>
              </a:rPr>
            </a:br>
            <a:br>
              <a:rPr lang="en-US" altLang="zh-CN" sz="2400" b="1" dirty="0">
                <a:ea typeface="楷体_GB2312" pitchFamily="49" charset="-122"/>
                <a:cs typeface="Arial" panose="020B0604020202020204" pitchFamily="34" charset="0"/>
              </a:rPr>
            </a:br>
            <a:br>
              <a:rPr lang="zh-CN" altLang="en-US" sz="2400" b="1" dirty="0">
                <a:ea typeface="楷体_GB2312" pitchFamily="49" charset="-122"/>
                <a:cs typeface="Arial" panose="020B0604020202020204" pitchFamily="34" charset="0"/>
              </a:rPr>
            </a:br>
            <a:r>
              <a:rPr lang="en-US" altLang="zh-CN" sz="2400" b="1" dirty="0">
                <a:ea typeface="楷体_GB2312" pitchFamily="49" charset="-122"/>
                <a:cs typeface="Arial" panose="020B0604020202020204" pitchFamily="34" charset="0"/>
              </a:rPr>
              <a:t>Steps:</a:t>
            </a:r>
            <a:br>
              <a:rPr lang="zh-CN" altLang="en-US" sz="2400" b="1" dirty="0">
                <a:ea typeface="楷体_GB2312" pitchFamily="49" charset="-122"/>
                <a:cs typeface="Arial" panose="020B0604020202020204" pitchFamily="34" charset="0"/>
              </a:rPr>
            </a:br>
            <a:r>
              <a:rPr lang="zh-CN" altLang="en-US" sz="2400" b="1" dirty="0">
                <a:ea typeface="楷体_GB2312" pitchFamily="49" charset="-122"/>
                <a:cs typeface="Arial" panose="020B0604020202020204" pitchFamily="34" charset="0"/>
                <a:sym typeface="Wingdings" panose="05000000000000000000" pitchFamily="2" charset="2"/>
              </a:rPr>
              <a:t>（</a:t>
            </a:r>
            <a:r>
              <a:rPr lang="en-US" altLang="zh-CN" sz="2400" b="1" dirty="0">
                <a:ea typeface="楷体_GB2312" pitchFamily="49" charset="-122"/>
                <a:cs typeface="Arial" panose="020B0604020202020204" pitchFamily="34" charset="0"/>
                <a:sym typeface="Wingdings" panose="05000000000000000000" pitchFamily="2" charset="2"/>
              </a:rPr>
              <a:t>1</a:t>
            </a:r>
            <a:r>
              <a:rPr lang="zh-CN" altLang="en-US" sz="2400" b="1" dirty="0">
                <a:ea typeface="楷体_GB2312" pitchFamily="49" charset="-122"/>
                <a:cs typeface="Arial" panose="020B0604020202020204" pitchFamily="34" charset="0"/>
                <a:sym typeface="Wingdings" panose="05000000000000000000" pitchFamily="2" charset="2"/>
              </a:rPr>
              <a:t>) from</a:t>
            </a:r>
            <a:r>
              <a:rPr lang="en-US" altLang="zh-CN" sz="2400" b="1" dirty="0">
                <a:ea typeface="楷体_GB2312" pitchFamily="49" charset="-122"/>
                <a:cs typeface="Arial" panose="020B0604020202020204" pitchFamily="34" charset="0"/>
                <a:sym typeface="Wingdings" panose="05000000000000000000" pitchFamily="2" charset="2"/>
              </a:rPr>
              <a:t>FI</a:t>
            </a:r>
            <a:r>
              <a:rPr lang="zh-CN" altLang="en-US" sz="2400" b="1" dirty="0">
                <a:ea typeface="楷体_GB2312" pitchFamily="49" charset="-122"/>
                <a:cs typeface="Arial" panose="020B0604020202020204" pitchFamily="34" charset="0"/>
                <a:sym typeface="Wingdings" panose="05000000000000000000" pitchFamily="2" charset="2"/>
              </a:rPr>
              <a:t>import</a:t>
            </a:r>
            <a:r>
              <a:rPr lang="en-US" altLang="zh-CN" sz="2400" b="1" dirty="0">
                <a:ea typeface="楷体_GB2312" pitchFamily="49" charset="-122"/>
                <a:cs typeface="Arial" panose="020B0604020202020204" pitchFamily="34" charset="0"/>
                <a:sym typeface="Wingdings" panose="05000000000000000000" pitchFamily="2" charset="2"/>
              </a:rPr>
              <a:t>W</a:t>
            </a:r>
            <a:r>
              <a:rPr lang="zh-CN" altLang="en-US" sz="2400" b="1" dirty="0">
                <a:ea typeface="楷体_GB2312" pitchFamily="49" charset="-122"/>
                <a:cs typeface="Arial" panose="020B0604020202020204" pitchFamily="34" charset="0"/>
                <a:sym typeface="Wingdings" panose="05000000000000000000" pitchFamily="2" charset="2"/>
              </a:rPr>
              <a:t>Record to workspace</a:t>
            </a:r>
            <a:r>
              <a:rPr lang="en-US" altLang="zh-CN" sz="2400" b="1" dirty="0">
                <a:ea typeface="楷体_GB2312" pitchFamily="49" charset="-122"/>
                <a:cs typeface="Arial" panose="020B0604020202020204" pitchFamily="34" charset="0"/>
                <a:sym typeface="Wingdings" panose="05000000000000000000" pitchFamily="2" charset="2"/>
              </a:rPr>
              <a:t>WA</a:t>
            </a:r>
            <a:br>
              <a:rPr lang="en-US" altLang="zh-CN" sz="2400" b="1" dirty="0">
                <a:ea typeface="楷体_GB2312" pitchFamily="49" charset="-122"/>
                <a:cs typeface="Arial" panose="020B0604020202020204" pitchFamily="34" charset="0"/>
                <a:sym typeface="Wingdings" panose="05000000000000000000" pitchFamily="2" charset="2"/>
              </a:rPr>
            </a:br>
            <a:r>
              <a:rPr lang="zh-CN" altLang="en-US" sz="2400" b="1" dirty="0">
                <a:ea typeface="楷体_GB2312" pitchFamily="49" charset="-122"/>
                <a:cs typeface="Arial" panose="020B0604020202020204" pitchFamily="34" charset="0"/>
                <a:sym typeface="Wingdings" panose="05000000000000000000" pitchFamily="2" charset="2"/>
              </a:rPr>
              <a:t>（</a:t>
            </a:r>
            <a:r>
              <a:rPr lang="en-US" altLang="zh-CN" sz="2400" b="1" dirty="0">
                <a:ea typeface="楷体_GB2312" pitchFamily="49" charset="-122"/>
                <a:cs typeface="Arial" panose="020B0604020202020204" pitchFamily="34" charset="0"/>
                <a:sym typeface="Wingdings" panose="05000000000000000000" pitchFamily="2" charset="2"/>
              </a:rPr>
              <a:t>2</a:t>
            </a:r>
            <a:r>
              <a:rPr lang="zh-CN" altLang="en-US" sz="2400" b="1" dirty="0">
                <a:ea typeface="楷体_GB2312" pitchFamily="49" charset="-122"/>
                <a:cs typeface="Arial" panose="020B0604020202020204" pitchFamily="34" charset="0"/>
                <a:sym typeface="Wingdings" panose="05000000000000000000" pitchFamily="2" charset="2"/>
              </a:rPr>
              <a:t>) from</a:t>
            </a:r>
            <a:r>
              <a:rPr lang="en-US" altLang="zh-CN" sz="2400" b="1" dirty="0">
                <a:ea typeface="楷体_GB2312" pitchFamily="49" charset="-122"/>
                <a:cs typeface="Arial" panose="020B0604020202020204" pitchFamily="34" charset="0"/>
                <a:sym typeface="Wingdings" panose="05000000000000000000" pitchFamily="2" charset="2"/>
              </a:rPr>
              <a:t>WA</a:t>
            </a:r>
            <a:r>
              <a:rPr lang="zh-CN" altLang="en-US" sz="2400" b="1" dirty="0">
                <a:ea typeface="楷体_GB2312" pitchFamily="49" charset="-122"/>
                <a:cs typeface="Arial" panose="020B0604020202020204" pitchFamily="34" charset="0"/>
                <a:sym typeface="Wingdings" panose="05000000000000000000" pitchFamily="2" charset="2"/>
              </a:rPr>
              <a:t>Select the record with the smallest keyword value.</a:t>
            </a:r>
            <a:br>
              <a:rPr lang="zh-CN" altLang="en-US" sz="2400" b="1" dirty="0">
                <a:ea typeface="楷体_GB2312" pitchFamily="49" charset="-122"/>
                <a:cs typeface="Arial" panose="020B0604020202020204" pitchFamily="34" charset="0"/>
                <a:sym typeface="Wingdings" panose="05000000000000000000" pitchFamily="2" charset="2"/>
              </a:rPr>
            </a:br>
            <a:r>
              <a:rPr lang="zh-CN" altLang="en-US" sz="2400" b="1" dirty="0">
                <a:ea typeface="楷体_GB2312" pitchFamily="49" charset="-122"/>
                <a:cs typeface="Arial" panose="020B0604020202020204" pitchFamily="34" charset="0"/>
                <a:sym typeface="Wingdings" panose="05000000000000000000" pitchFamily="2" charset="2"/>
              </a:rPr>
              <a:t>Record, denoted as</a:t>
            </a:r>
            <a:r>
              <a:rPr lang="en-US" altLang="zh-CN" sz="2400" b="1" dirty="0">
                <a:ea typeface="楷体_GB2312" pitchFamily="49" charset="-122"/>
                <a:cs typeface="Arial" panose="020B0604020202020204" pitchFamily="34" charset="0"/>
                <a:sym typeface="Wingdings" panose="05000000000000000000" pitchFamily="2" charset="2"/>
              </a:rPr>
              <a:t>MINIMAX</a:t>
            </a:r>
            <a:r>
              <a:rPr lang="zh-CN" altLang="en-US" sz="2400" b="1" dirty="0">
                <a:ea typeface="楷体_GB2312" pitchFamily="49" charset="-122"/>
                <a:cs typeface="Arial" panose="020B0604020202020204" pitchFamily="34" charset="0"/>
                <a:sym typeface="Wingdings" panose="05000000000000000000" pitchFamily="2" charset="2"/>
              </a:rPr>
              <a:t>take notes</a:t>
            </a:r>
            <a:br>
              <a:rPr lang="zh-CN" altLang="en-US" sz="2400" b="1" dirty="0">
                <a:ea typeface="楷体_GB2312" pitchFamily="49" charset="-122"/>
                <a:cs typeface="Arial" panose="020B0604020202020204" pitchFamily="34" charset="0"/>
                <a:sym typeface="Wingdings" panose="05000000000000000000" pitchFamily="2" charset="2"/>
              </a:rPr>
            </a:br>
            <a:endParaRPr lang="zh-CN" altLang="en-US" sz="2400" b="1" dirty="0">
              <a:ea typeface="楷体_GB2312" pitchFamily="49" charset="-122"/>
              <a:cs typeface="Arial" panose="020B0604020202020204" pitchFamily="34" charset="0"/>
              <a:sym typeface="Wingdings" panose="05000000000000000000" pitchFamily="2" charset="2"/>
            </a:endParaRPr>
          </a:p>
        </p:txBody>
      </p:sp>
      <p:sp>
        <p:nvSpPr>
          <p:cNvPr id="177155" name="Text Box 3"/>
          <p:cNvSpPr txBox="1">
            <a:spLocks noChangeArrowheads="1"/>
          </p:cNvSpPr>
          <p:nvPr/>
        </p:nvSpPr>
        <p:spPr bwMode="auto">
          <a:xfrm>
            <a:off x="457200" y="0"/>
            <a:ext cx="7576820" cy="706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4000" b="1">
                <a:solidFill>
                  <a:schemeClr val="accent2"/>
                </a:solidFill>
                <a:latin typeface="Arial" panose="020B0604020202020204" pitchFamily="34" charset="0"/>
                <a:ea typeface="楷体_GB2312" pitchFamily="49" charset="-122"/>
                <a:cs typeface="Arial" panose="020B0604020202020204" pitchFamily="34" charset="0"/>
                <a:sym typeface="+mn-ea"/>
              </a:rPr>
              <a:t>Replacement-Selection Sort</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B510424F-96B9-4C00-88E0-F120333DC6C5}" type="slidenum">
              <a:rPr lang="en-US" altLang="zh-CN" smtClean="0"/>
              <a:t>140</a:t>
            </a:fld>
            <a:endParaRPr lang="en-US" altLang="zh-CN"/>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a:xfrm>
            <a:off x="323850" y="0"/>
            <a:ext cx="8610600" cy="6781800"/>
          </a:xfrm>
        </p:spPr>
        <p:txBody>
          <a:bodyPr/>
          <a:lstStyle/>
          <a:p>
            <a:pPr algn="l">
              <a:lnSpc>
                <a:spcPct val="120000"/>
              </a:lnSpc>
            </a:pPr>
            <a:r>
              <a:rPr lang="zh-CN" altLang="en-US" sz="2400" b="1" dirty="0">
                <a:ea typeface="楷体_GB2312" pitchFamily="49" charset="-122"/>
                <a:cs typeface="Arial" panose="020B0604020202020204" pitchFamily="34" charset="0"/>
                <a:sym typeface="Wingdings" panose="05000000000000000000" pitchFamily="2" charset="2"/>
              </a:rPr>
              <a:t>（</a:t>
            </a:r>
            <a:r>
              <a:rPr lang="en-US" altLang="zh-CN" sz="2400" b="1" dirty="0">
                <a:ea typeface="楷体_GB2312" pitchFamily="49" charset="-122"/>
                <a:cs typeface="Arial" panose="020B0604020202020204" pitchFamily="34" charset="0"/>
                <a:sym typeface="Wingdings" panose="05000000000000000000" pitchFamily="2" charset="2"/>
              </a:rPr>
              <a:t>3</a:t>
            </a:r>
            <a:r>
              <a:rPr lang="zh-CN" altLang="en-US" sz="2400" b="1" dirty="0">
                <a:ea typeface="楷体_GB2312" pitchFamily="49" charset="-122"/>
                <a:cs typeface="Arial" panose="020B0604020202020204" pitchFamily="34" charset="0"/>
                <a:sym typeface="Wingdings" panose="05000000000000000000" pitchFamily="2" charset="2"/>
              </a:rPr>
              <a:t>） support</a:t>
            </a:r>
            <a:r>
              <a:rPr lang="en-US" altLang="zh-CN" sz="2400" b="1" dirty="0">
                <a:ea typeface="楷体_GB2312" pitchFamily="49" charset="-122"/>
                <a:cs typeface="Arial" panose="020B0604020202020204" pitchFamily="34" charset="0"/>
                <a:sym typeface="Wingdings" panose="05000000000000000000" pitchFamily="2" charset="2"/>
              </a:rPr>
              <a:t>MINIMAX</a:t>
            </a:r>
            <a:r>
              <a:rPr lang="zh-CN" altLang="en-US" sz="2400" b="1" dirty="0">
                <a:ea typeface="楷体_GB2312" pitchFamily="49" charset="-122"/>
                <a:cs typeface="Arial" panose="020B0604020202020204" pitchFamily="34" charset="0"/>
                <a:sym typeface="Wingdings" panose="05000000000000000000" pitchFamily="2" charset="2"/>
              </a:rPr>
              <a:t>Record output to</a:t>
            </a:r>
            <a:r>
              <a:rPr lang="en-US" altLang="zh-CN" sz="2400" b="1" dirty="0">
                <a:ea typeface="楷体_GB2312" pitchFamily="49" charset="-122"/>
                <a:cs typeface="Arial" panose="020B0604020202020204" pitchFamily="34" charset="0"/>
                <a:sym typeface="Wingdings" panose="05000000000000000000" pitchFamily="2" charset="2"/>
              </a:rPr>
              <a:t>FO</a:t>
            </a:r>
            <a:r>
              <a:rPr lang="zh-CN" altLang="en-US" sz="2400" b="1" dirty="0">
                <a:ea typeface="楷体_GB2312" pitchFamily="49" charset="-122"/>
                <a:cs typeface="Arial" panose="020B0604020202020204" pitchFamily="34" charset="0"/>
                <a:sym typeface="Wingdings" panose="05000000000000000000" pitchFamily="2" charset="2"/>
              </a:rPr>
              <a:t>Middle Way</a:t>
            </a:r>
            <a:br>
              <a:rPr lang="zh-CN" altLang="en-US" sz="2400" b="1" dirty="0">
                <a:ea typeface="楷体_GB2312" pitchFamily="49" charset="-122"/>
                <a:cs typeface="Arial" panose="020B0604020202020204" pitchFamily="34" charset="0"/>
                <a:sym typeface="Wingdings" panose="05000000000000000000" pitchFamily="2" charset="2"/>
              </a:rPr>
            </a:br>
            <a:r>
              <a:rPr lang="zh-CN" altLang="en-US" sz="2400" b="1" dirty="0">
                <a:ea typeface="楷体_GB2312" pitchFamily="49" charset="-122"/>
                <a:cs typeface="Arial" panose="020B0604020202020204" pitchFamily="34" charset="0"/>
                <a:sym typeface="Wingdings" panose="05000000000000000000" pitchFamily="2" charset="2"/>
              </a:rPr>
              <a:t>（</a:t>
            </a:r>
            <a:r>
              <a:rPr lang="en-US" altLang="zh-CN" sz="2400" b="1" dirty="0">
                <a:ea typeface="楷体_GB2312" pitchFamily="49" charset="-122"/>
                <a:cs typeface="Arial" panose="020B0604020202020204" pitchFamily="34" charset="0"/>
                <a:sym typeface="Wingdings" panose="05000000000000000000" pitchFamily="2" charset="2"/>
              </a:rPr>
              <a:t>4</a:t>
            </a:r>
            <a:r>
              <a:rPr lang="zh-CN" altLang="en-US" sz="2400" b="1" dirty="0">
                <a:ea typeface="楷体_GB2312" pitchFamily="49" charset="-122"/>
                <a:cs typeface="Arial" panose="020B0604020202020204" pitchFamily="34" charset="0"/>
                <a:sym typeface="Wingdings" panose="05000000000000000000" pitchFamily="2" charset="2"/>
              </a:rPr>
              <a:t>） like</a:t>
            </a:r>
            <a:r>
              <a:rPr lang="en-US" altLang="zh-CN" sz="2400" b="1" dirty="0">
                <a:ea typeface="楷体_GB2312" pitchFamily="49" charset="-122"/>
                <a:cs typeface="Arial" panose="020B0604020202020204" pitchFamily="34" charset="0"/>
                <a:sym typeface="Wingdings" panose="05000000000000000000" pitchFamily="2" charset="2"/>
              </a:rPr>
              <a:t>FI</a:t>
            </a:r>
            <a:r>
              <a:rPr lang="zh-CN" altLang="en-US" sz="2400" b="1" dirty="0">
                <a:ea typeface="楷体_GB2312" pitchFamily="49" charset="-122"/>
                <a:cs typeface="Arial" panose="020B0604020202020204" pitchFamily="34" charset="0"/>
                <a:sym typeface="Wingdings" panose="05000000000000000000" pitchFamily="2" charset="2"/>
              </a:rPr>
              <a:t>If not empty, follow</a:t>
            </a:r>
            <a:r>
              <a:rPr lang="en-US" altLang="zh-CN" sz="2400" b="1" dirty="0">
                <a:ea typeface="楷体_GB2312" pitchFamily="49" charset="-122"/>
                <a:cs typeface="Arial" panose="020B0604020202020204" pitchFamily="34" charset="0"/>
                <a:sym typeface="Wingdings" panose="05000000000000000000" pitchFamily="2" charset="2"/>
              </a:rPr>
              <a:t>FI</a:t>
            </a:r>
            <a:r>
              <a:rPr lang="zh-CN" altLang="en-US" sz="2400" b="1" dirty="0">
                <a:ea typeface="楷体_GB2312" pitchFamily="49" charset="-122"/>
                <a:cs typeface="Arial" panose="020B0604020202020204" pitchFamily="34" charset="0"/>
                <a:sym typeface="Wingdings" panose="05000000000000000000" pitchFamily="2" charset="2"/>
              </a:rPr>
              <a:t>Enter the next record</a:t>
            </a:r>
            <a:br>
              <a:rPr lang="zh-CN" altLang="en-US" sz="2400" b="1" dirty="0">
                <a:ea typeface="楷体_GB2312" pitchFamily="49" charset="-122"/>
                <a:cs typeface="Arial" panose="020B0604020202020204" pitchFamily="34" charset="0"/>
                <a:sym typeface="Wingdings" panose="05000000000000000000" pitchFamily="2" charset="2"/>
              </a:rPr>
            </a:br>
            <a:r>
              <a:rPr lang="zh-CN" altLang="en-US" sz="2400" b="1" dirty="0">
                <a:ea typeface="楷体_GB2312" pitchFamily="49" charset="-122"/>
                <a:cs typeface="Arial" panose="020B0604020202020204" pitchFamily="34" charset="0"/>
                <a:sym typeface="Wingdings" panose="05000000000000000000" pitchFamily="2" charset="2"/>
              </a:rPr>
              <a:t>arrive</a:t>
            </a:r>
            <a:r>
              <a:rPr lang="en-US" altLang="zh-CN" sz="2400" b="1" dirty="0">
                <a:ea typeface="楷体_GB2312" pitchFamily="49" charset="-122"/>
                <a:cs typeface="Arial" panose="020B0604020202020204" pitchFamily="34" charset="0"/>
                <a:sym typeface="Wingdings" panose="05000000000000000000" pitchFamily="2" charset="2"/>
              </a:rPr>
              <a:t>WA</a:t>
            </a:r>
            <a:r>
              <a:rPr lang="zh-CN" altLang="en-US" sz="2400" b="1" dirty="0">
                <a:ea typeface="楷体_GB2312" pitchFamily="49" charset="-122"/>
                <a:cs typeface="Arial" panose="020B0604020202020204" pitchFamily="34" charset="0"/>
                <a:sym typeface="Wingdings" panose="05000000000000000000" pitchFamily="2" charset="2"/>
              </a:rPr>
              <a:t>centre</a:t>
            </a:r>
            <a:br>
              <a:rPr lang="zh-CN" altLang="en-US" sz="2400" b="1" dirty="0">
                <a:ea typeface="楷体_GB2312" pitchFamily="49" charset="-122"/>
                <a:cs typeface="Arial" panose="020B0604020202020204" pitchFamily="34" charset="0"/>
                <a:sym typeface="Wingdings" panose="05000000000000000000" pitchFamily="2" charset="2"/>
              </a:rPr>
            </a:br>
            <a:r>
              <a:rPr lang="zh-CN" altLang="en-US" sz="2400" b="1" dirty="0">
                <a:ea typeface="楷体_GB2312" pitchFamily="49" charset="-122"/>
                <a:cs typeface="Arial" panose="020B0604020202020204" pitchFamily="34" charset="0"/>
                <a:sym typeface="Wingdings" panose="05000000000000000000" pitchFamily="2" charset="2"/>
              </a:rPr>
              <a:t>（</a:t>
            </a:r>
            <a:r>
              <a:rPr lang="en-US" altLang="zh-CN" sz="2400" b="1" dirty="0">
                <a:ea typeface="楷体_GB2312" pitchFamily="49" charset="-122"/>
                <a:cs typeface="Arial" panose="020B0604020202020204" pitchFamily="34" charset="0"/>
                <a:sym typeface="Wingdings" panose="05000000000000000000" pitchFamily="2" charset="2"/>
              </a:rPr>
              <a:t>5</a:t>
            </a:r>
            <a:r>
              <a:rPr lang="zh-CN" altLang="en-US" sz="2400" b="1" dirty="0">
                <a:ea typeface="楷体_GB2312" pitchFamily="49" charset="-122"/>
                <a:cs typeface="Arial" panose="020B0604020202020204" pitchFamily="34" charset="0"/>
                <a:sym typeface="Wingdings" panose="05000000000000000000" pitchFamily="2" charset="2"/>
              </a:rPr>
              <a:t>) from</a:t>
            </a:r>
            <a:r>
              <a:rPr lang="en-US" altLang="zh-CN" sz="2400" b="1" dirty="0">
                <a:ea typeface="楷体_GB2312" pitchFamily="49" charset="-122"/>
                <a:cs typeface="Arial" panose="020B0604020202020204" pitchFamily="34" charset="0"/>
                <a:sym typeface="Wingdings" panose="05000000000000000000" pitchFamily="2" charset="2"/>
              </a:rPr>
              <a:t>WA</a:t>
            </a:r>
            <a:r>
              <a:rPr lang="zh-CN" altLang="en-US" sz="2400" b="1" dirty="0">
                <a:ea typeface="楷体_GB2312" pitchFamily="49" charset="-122"/>
                <a:cs typeface="Arial" panose="020B0604020202020204" pitchFamily="34" charset="0"/>
                <a:sym typeface="Wingdings" panose="05000000000000000000" pitchFamily="2" charset="2"/>
              </a:rPr>
              <a:t>selection ratio</a:t>
            </a:r>
            <a:r>
              <a:rPr lang="en-US" altLang="zh-CN" sz="2400" b="1" dirty="0">
                <a:ea typeface="楷体_GB2312" pitchFamily="49" charset="-122"/>
                <a:cs typeface="Arial" panose="020B0604020202020204" pitchFamily="34" charset="0"/>
                <a:sym typeface="Wingdings" panose="05000000000000000000" pitchFamily="2" charset="2"/>
              </a:rPr>
              <a:t>MINIMAX</a:t>
            </a:r>
            <a:r>
              <a:rPr lang="zh-CN" altLang="en-US" sz="2400" b="1" dirty="0">
                <a:ea typeface="楷体_GB2312" pitchFamily="49" charset="-122"/>
                <a:cs typeface="Arial" panose="020B0604020202020204" pitchFamily="34" charset="0"/>
                <a:sym typeface="Wingdings" panose="05000000000000000000" pitchFamily="2" charset="2"/>
              </a:rPr>
              <a:t>largest minimum</a:t>
            </a:r>
            <a:br>
              <a:rPr lang="zh-CN" altLang="en-US" sz="2400" b="1" dirty="0">
                <a:ea typeface="楷体_GB2312" pitchFamily="49" charset="-122"/>
                <a:cs typeface="Arial" panose="020B0604020202020204" pitchFamily="34" charset="0"/>
                <a:sym typeface="Wingdings" panose="05000000000000000000" pitchFamily="2" charset="2"/>
              </a:rPr>
            </a:br>
            <a:r>
              <a:rPr lang="zh-CN" altLang="en-US" sz="2400" b="1" dirty="0">
                <a:ea typeface="楷体_GB2312" pitchFamily="49" charset="-122"/>
                <a:cs typeface="Arial" panose="020B0604020202020204" pitchFamily="34" charset="0"/>
                <a:sym typeface="Wingdings" panose="05000000000000000000" pitchFamily="2" charset="2"/>
              </a:rPr>
              <a:t>Keyword records as new</a:t>
            </a:r>
            <a:r>
              <a:rPr lang="en-US" altLang="zh-CN" sz="2400" b="1" dirty="0">
                <a:ea typeface="楷体_GB2312" pitchFamily="49" charset="-122"/>
                <a:cs typeface="Arial" panose="020B0604020202020204" pitchFamily="34" charset="0"/>
                <a:sym typeface="Wingdings" panose="05000000000000000000" pitchFamily="2" charset="2"/>
              </a:rPr>
              <a:t>MINIMAX</a:t>
            </a:r>
            <a:r>
              <a:rPr lang="zh-CN" altLang="en-US" sz="2400" b="1" dirty="0">
                <a:ea typeface="楷体_GB2312" pitchFamily="49" charset="-122"/>
                <a:cs typeface="Arial" panose="020B0604020202020204" pitchFamily="34" charset="0"/>
                <a:sym typeface="Wingdings" panose="05000000000000000000" pitchFamily="2" charset="2"/>
              </a:rPr>
              <a:t>price 。</a:t>
            </a:r>
            <a:br>
              <a:rPr lang="zh-CN" altLang="en-US" sz="2400" b="1" dirty="0">
                <a:ea typeface="楷体_GB2312" pitchFamily="49" charset="-122"/>
                <a:cs typeface="Arial" panose="020B0604020202020204" pitchFamily="34" charset="0"/>
                <a:sym typeface="Wingdings" panose="05000000000000000000" pitchFamily="2" charset="2"/>
              </a:rPr>
            </a:br>
            <a:r>
              <a:rPr lang="zh-CN" altLang="en-US" sz="2400" b="1" dirty="0">
                <a:ea typeface="楷体_GB2312" pitchFamily="49" charset="-122"/>
                <a:cs typeface="Arial" panose="020B0604020202020204" pitchFamily="34" charset="0"/>
                <a:sym typeface="Wingdings" panose="05000000000000000000" pitchFamily="2" charset="2"/>
              </a:rPr>
              <a:t>（</a:t>
            </a:r>
            <a:r>
              <a:rPr lang="en-US" altLang="zh-CN" sz="2400" b="1" dirty="0">
                <a:ea typeface="楷体_GB2312" pitchFamily="49" charset="-122"/>
                <a:cs typeface="Arial" panose="020B0604020202020204" pitchFamily="34" charset="0"/>
                <a:sym typeface="Wingdings" panose="05000000000000000000" pitchFamily="2" charset="2"/>
              </a:rPr>
              <a:t>6</a:t>
            </a:r>
            <a:r>
              <a:rPr lang="zh-CN" altLang="en-US" sz="2400" b="1" dirty="0">
                <a:ea typeface="楷体_GB2312" pitchFamily="49" charset="-122"/>
                <a:cs typeface="Arial" panose="020B0604020202020204" pitchFamily="34" charset="0"/>
                <a:sym typeface="Wingdings" panose="05000000000000000000" pitchFamily="2" charset="2"/>
              </a:rPr>
              <a:t>） repeat</a:t>
            </a:r>
            <a:r>
              <a:rPr lang="en-US" altLang="zh-CN" sz="2400" b="1" dirty="0">
                <a:ea typeface="楷体_GB2312" pitchFamily="49" charset="-122"/>
                <a:cs typeface="Arial" panose="020B0604020202020204" pitchFamily="34" charset="0"/>
                <a:sym typeface="Wingdings" panose="05000000000000000000" pitchFamily="2" charset="2"/>
              </a:rPr>
              <a:t>(3)—(5)</a:t>
            </a:r>
            <a:r>
              <a:rPr lang="zh-CN" altLang="en-US" sz="2400" b="1" dirty="0">
                <a:ea typeface="楷体_GB2312" pitchFamily="49" charset="-122"/>
                <a:cs typeface="Arial" panose="020B0604020202020204" pitchFamily="34" charset="0"/>
                <a:sym typeface="Wingdings" panose="05000000000000000000" pitchFamily="2" charset="2"/>
              </a:rPr>
              <a:t>until in</a:t>
            </a:r>
            <a:r>
              <a:rPr lang="en-US" altLang="zh-CN" sz="2400" b="1" dirty="0">
                <a:ea typeface="楷体_GB2312" pitchFamily="49" charset="-122"/>
                <a:cs typeface="Arial" panose="020B0604020202020204" pitchFamily="34" charset="0"/>
                <a:sym typeface="Wingdings" panose="05000000000000000000" pitchFamily="2" charset="2"/>
              </a:rPr>
              <a:t>WA</a:t>
            </a:r>
            <a:r>
              <a:rPr lang="zh-CN" altLang="en-US" sz="2400" b="1" dirty="0">
                <a:ea typeface="楷体_GB2312" pitchFamily="49" charset="-122"/>
                <a:cs typeface="Arial" panose="020B0604020202020204" pitchFamily="34" charset="0"/>
                <a:sym typeface="Wingdings" panose="05000000000000000000" pitchFamily="2" charset="2"/>
              </a:rPr>
              <a:t>Not selected</a:t>
            </a:r>
            <a:br>
              <a:rPr lang="zh-CN" altLang="en-US" sz="2400" b="1" dirty="0">
                <a:ea typeface="楷体_GB2312" pitchFamily="49" charset="-122"/>
                <a:cs typeface="Arial" panose="020B0604020202020204" pitchFamily="34" charset="0"/>
                <a:sym typeface="Wingdings" panose="05000000000000000000" pitchFamily="2" charset="2"/>
              </a:rPr>
            </a:br>
            <a:r>
              <a:rPr lang="zh-CN" altLang="en-US" sz="2400" b="1" dirty="0">
                <a:ea typeface="楷体_GB2312" pitchFamily="49" charset="-122"/>
                <a:cs typeface="Arial" panose="020B0604020202020204" pitchFamily="34" charset="0"/>
                <a:sym typeface="Wingdings" panose="05000000000000000000" pitchFamily="2" charset="2"/>
              </a:rPr>
              <a:t>Create a new record to get an initial merge segment.</a:t>
            </a:r>
            <a:br>
              <a:rPr lang="zh-CN" altLang="en-US" sz="2400" b="1" dirty="0">
                <a:ea typeface="楷体_GB2312" pitchFamily="49" charset="-122"/>
                <a:cs typeface="Arial" panose="020B0604020202020204" pitchFamily="34" charset="0"/>
                <a:sym typeface="Wingdings" panose="05000000000000000000" pitchFamily="2" charset="2"/>
              </a:rPr>
            </a:br>
            <a:r>
              <a:rPr lang="zh-CN" altLang="en-US" sz="2400" b="1" dirty="0">
                <a:ea typeface="楷体_GB2312" pitchFamily="49" charset="-122"/>
                <a:cs typeface="Arial" panose="020B0604020202020204" pitchFamily="34" charset="0"/>
                <a:sym typeface="Wingdings" panose="05000000000000000000" pitchFamily="2" charset="2"/>
              </a:rPr>
              <a:t>Generate a merge section end marker to</a:t>
            </a:r>
            <a:r>
              <a:rPr lang="en-US" altLang="zh-CN" sz="2400" b="1" dirty="0">
                <a:ea typeface="楷体_GB2312" pitchFamily="49" charset="-122"/>
                <a:cs typeface="Arial" panose="020B0604020202020204" pitchFamily="34" charset="0"/>
                <a:sym typeface="Wingdings" panose="05000000000000000000" pitchFamily="2" charset="2"/>
              </a:rPr>
              <a:t>FO</a:t>
            </a:r>
            <a:br>
              <a:rPr lang="en-US" altLang="zh-CN" sz="2400" b="1" dirty="0">
                <a:ea typeface="楷体_GB2312" pitchFamily="49" charset="-122"/>
                <a:cs typeface="Arial" panose="020B0604020202020204" pitchFamily="34" charset="0"/>
                <a:sym typeface="Wingdings" panose="05000000000000000000" pitchFamily="2" charset="2"/>
              </a:rPr>
            </a:br>
            <a:r>
              <a:rPr lang="zh-CN" altLang="en-US" sz="2400" b="1" dirty="0">
                <a:ea typeface="楷体_GB2312" pitchFamily="49" charset="-122"/>
                <a:cs typeface="Arial" panose="020B0604020202020204" pitchFamily="34" charset="0"/>
                <a:sym typeface="Wingdings" panose="05000000000000000000" pitchFamily="2" charset="2"/>
              </a:rPr>
              <a:t>（</a:t>
            </a:r>
            <a:r>
              <a:rPr lang="en-US" altLang="zh-CN" sz="2400" b="1" dirty="0">
                <a:ea typeface="楷体_GB2312" pitchFamily="49" charset="-122"/>
                <a:cs typeface="Arial" panose="020B0604020202020204" pitchFamily="34" charset="0"/>
                <a:sym typeface="Wingdings" panose="05000000000000000000" pitchFamily="2" charset="2"/>
              </a:rPr>
              <a:t>7</a:t>
            </a:r>
            <a:r>
              <a:rPr lang="zh-CN" altLang="en-US" sz="2400" b="1" dirty="0">
                <a:ea typeface="楷体_GB2312" pitchFamily="49" charset="-122"/>
                <a:cs typeface="Arial" panose="020B0604020202020204" pitchFamily="34" charset="0"/>
                <a:sym typeface="Wingdings" panose="05000000000000000000" pitchFamily="2" charset="2"/>
              </a:rPr>
              <a:t>） repeat</a:t>
            </a:r>
            <a:r>
              <a:rPr lang="en-US" altLang="zh-CN" sz="2400" b="1" dirty="0">
                <a:ea typeface="楷体_GB2312" pitchFamily="49" charset="-122"/>
                <a:cs typeface="Arial" panose="020B0604020202020204" pitchFamily="34" charset="0"/>
                <a:sym typeface="Wingdings" panose="05000000000000000000" pitchFamily="2" charset="2"/>
              </a:rPr>
              <a:t>(2)—(6)</a:t>
            </a:r>
            <a:r>
              <a:rPr lang="zh-CN" altLang="en-US" sz="2400" b="1" dirty="0">
                <a:ea typeface="楷体_GB2312" pitchFamily="49" charset="-122"/>
                <a:cs typeface="Arial" panose="020B0604020202020204" pitchFamily="34" charset="0"/>
                <a:sym typeface="Wingdings" panose="05000000000000000000" pitchFamily="2" charset="2"/>
              </a:rPr>
              <a:t>， until</a:t>
            </a:r>
            <a:r>
              <a:rPr lang="en-US" altLang="zh-CN" sz="2400" b="1" dirty="0">
                <a:ea typeface="楷体_GB2312" pitchFamily="49" charset="-122"/>
                <a:cs typeface="Arial" panose="020B0604020202020204" pitchFamily="34" charset="0"/>
                <a:sym typeface="Wingdings" panose="05000000000000000000" pitchFamily="2" charset="2"/>
              </a:rPr>
              <a:t>WA</a:t>
            </a:r>
            <a:r>
              <a:rPr lang="zh-CN" altLang="en-US" sz="2400" b="1" dirty="0">
                <a:ea typeface="楷体_GB2312" pitchFamily="49" charset="-122"/>
                <a:cs typeface="Arial" panose="020B0604020202020204" pitchFamily="34" charset="0"/>
                <a:sym typeface="Wingdings" panose="05000000000000000000" pitchFamily="2" charset="2"/>
              </a:rPr>
              <a:t>Empty, get</a:t>
            </a:r>
            <a:br>
              <a:rPr lang="zh-CN" altLang="en-US" sz="2400" b="1" dirty="0">
                <a:ea typeface="楷体_GB2312" pitchFamily="49" charset="-122"/>
                <a:cs typeface="Arial" panose="020B0604020202020204" pitchFamily="34" charset="0"/>
                <a:sym typeface="Wingdings" panose="05000000000000000000" pitchFamily="2" charset="2"/>
              </a:rPr>
            </a:br>
            <a:r>
              <a:rPr lang="zh-CN" altLang="en-US" sz="2400" b="1" dirty="0">
                <a:ea typeface="楷体_GB2312" pitchFamily="49" charset="-122"/>
                <a:cs typeface="Arial" panose="020B0604020202020204" pitchFamily="34" charset="0"/>
                <a:sym typeface="Wingdings" panose="05000000000000000000" pitchFamily="2" charset="2"/>
              </a:rPr>
              <a:t>All initial merge segments.</a:t>
            </a:r>
            <a:br>
              <a:rPr lang="zh-CN" altLang="en-US" sz="2400" b="1" dirty="0">
                <a:ea typeface="楷体_GB2312" pitchFamily="49" charset="-122"/>
                <a:cs typeface="Arial" panose="020B0604020202020204" pitchFamily="34" charset="0"/>
                <a:sym typeface="Wingdings" panose="05000000000000000000" pitchFamily="2" charset="2"/>
              </a:rPr>
            </a:br>
            <a:r>
              <a:rPr lang="zh-CN" altLang="en-US" sz="2400" b="1" dirty="0">
                <a:solidFill>
                  <a:schemeClr val="accent2"/>
                </a:solidFill>
                <a:ea typeface="楷体_GB2312" pitchFamily="49" charset="-122"/>
                <a:cs typeface="Arial" panose="020B0604020202020204" pitchFamily="34" charset="0"/>
                <a:sym typeface="Wingdings" panose="05000000000000000000" pitchFamily="2" charset="2"/>
              </a:rPr>
              <a:t>Thus, the lengths of the initial merge segments are unequal.</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B510424F-96B9-4C00-88E0-F120333DC6C5}" type="slidenum">
              <a:rPr lang="en-US" altLang="zh-CN" smtClean="0"/>
              <a:t>141</a:t>
            </a:fld>
            <a:endParaRPr lang="en-US" altLang="zh-CN"/>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ChangeArrowheads="1"/>
          </p:cNvSpPr>
          <p:nvPr>
            <p:ph type="title"/>
          </p:nvPr>
        </p:nvSpPr>
        <p:spPr>
          <a:xfrm>
            <a:off x="-36195" y="-99695"/>
            <a:ext cx="2602865" cy="533400"/>
          </a:xfrm>
        </p:spPr>
        <p:txBody>
          <a:bodyPr/>
          <a:lstStyle/>
          <a:p>
            <a:pPr algn="l"/>
            <a:r>
              <a:rPr lang="en-US" altLang="zh-CN" sz="1800">
                <a:solidFill>
                  <a:srgbClr val="FF0000"/>
                </a:solidFill>
                <a:ea typeface="楷体_GB2312" pitchFamily="49" charset="-122"/>
                <a:cs typeface="Arial" panose="020B0604020202020204" pitchFamily="34" charset="0"/>
                <a:sym typeface="+mn-ea"/>
              </a:rPr>
              <a:t>Replacement-Selection Sort</a:t>
            </a:r>
            <a:endParaRPr lang="en-US" altLang="zh-CN" sz="1800" b="1" dirty="0">
              <a:solidFill>
                <a:srgbClr val="FF0000"/>
              </a:solidFill>
              <a:ea typeface="楷体_GB2312" pitchFamily="49" charset="-122"/>
              <a:cs typeface="Arial" panose="020B0604020202020204" pitchFamily="34" charset="0"/>
              <a:sym typeface="+mn-ea"/>
            </a:endParaRPr>
          </a:p>
        </p:txBody>
      </p:sp>
      <p:graphicFrame>
        <p:nvGraphicFramePr>
          <p:cNvPr id="158723" name="Group 3"/>
          <p:cNvGraphicFramePr>
            <a:graphicFrameLocks noGrp="1"/>
          </p:cNvGraphicFramePr>
          <p:nvPr/>
        </p:nvGraphicFramePr>
        <p:xfrm>
          <a:off x="0" y="0"/>
          <a:ext cx="9144000" cy="6969760"/>
        </p:xfrm>
        <a:graphic>
          <a:graphicData uri="http://schemas.openxmlformats.org/drawingml/2006/table">
            <a:tbl>
              <a:tblPr/>
              <a:tblGrid>
                <a:gridCol w="2590800">
                  <a:extLst>
                    <a:ext uri="{9D8B030D-6E8A-4147-A177-3AD203B41FA5}">
                      <a16:colId xmlns:a16="http://schemas.microsoft.com/office/drawing/2014/main" val="20000"/>
                    </a:ext>
                  </a:extLst>
                </a:gridCol>
                <a:gridCol w="220980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tblGrid>
              <a:tr h="3556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WA  (6)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FI</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54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FO</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51,49,39,46,38,29,14,61,15,30,1,48,52,3,63,27,4,…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2701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51,49,39,46,38,29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14,61,15,30,1,48,52,3,63,27,4,…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254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51,49,39,46,38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14,61,15,30,1,48,52,3,63,27,4,…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254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51,49,39,46,38,14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61,15,30,1,48,52,3,63,27,4,…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254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29,38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51,49,39,46,  ,14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61,15,30,1,48,52,3,63,27,4,…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2701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29,38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51,49,39,46,61,14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15,30,1,48,52,3,63,27,4,…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254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29,38,39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51,49,    ,46,61,14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15,30,1,48,52,3,63,27,4,…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254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29,38,39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51,49,15,46,61,14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30,1,48,52,3,63,27,4,…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254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29,38,39,46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51,49,15,    ,61,14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30,1,48,52,3,63,27,4,…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254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29,38,39,46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51,49,15,30,61,14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1,48,52,3,63,27,4,…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254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29,38,39,46,49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51,  ,15,30,61,14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1,48,52,3,63,27,4,…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254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29,38,39,46,49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51,1,15,30,61,14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48,52,3,63,27,4,…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254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29,38,39,46,49,51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1,15,30,61,14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48,52,3,63,27,4,…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254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29,38,39,46,49,51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48,1,15,30,61,14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52,3,63,27,4,…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2254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29,38,39,46,49,51,61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48,1,15,30,    ,14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52,3,63,27,4,…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2254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29,38,39,46,49,51,61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48,1,15,30,52,14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3,63,27,4,…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2254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29,38,39,46,49,51,61,*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48,1,15,30,52,14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3,63,27,4,…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r h="2254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29,38,39,46,49,51,61,*,1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48,  ,15,30,52,14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3,63,27,4,…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8"/>
                  </a:ext>
                </a:extLst>
              </a:tr>
              <a:tr h="2254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29,38,39,46,49,51,61,*,1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48,3,15,30,52,14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63,27,4,…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9"/>
                  </a:ext>
                </a:extLst>
              </a:tr>
            </a:tbl>
          </a:graphicData>
        </a:graphic>
      </p:graphicFrame>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B510424F-96B9-4C00-88E0-F120333DC6C5}" type="slidenum">
              <a:rPr lang="en-US" altLang="zh-CN" smtClean="0"/>
              <a:t>142</a:t>
            </a:fld>
            <a:endParaRPr lang="en-US" altLang="zh-CN"/>
          </a:p>
        </p:txBody>
      </p:sp>
    </p:spTree>
  </p:cSld>
  <p:clrMapOvr>
    <a:masterClrMapping/>
  </p:clrMapOvr>
  <p:transition>
    <p:pull dir="rd"/>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a:xfrm>
            <a:off x="0" y="189230"/>
            <a:ext cx="8382000" cy="533400"/>
          </a:xfrm>
        </p:spPr>
        <p:txBody>
          <a:bodyPr/>
          <a:lstStyle/>
          <a:p>
            <a:pPr algn="l"/>
            <a:r>
              <a:rPr lang="en-US" altLang="zh-CN" sz="3600" b="1" dirty="0">
                <a:solidFill>
                  <a:schemeClr val="accent2"/>
                </a:solidFill>
                <a:ea typeface="楷体_GB2312" pitchFamily="49" charset="-122"/>
              </a:rPr>
              <a:t>Replacement-Selection Sort Using a Loser Tree</a:t>
            </a:r>
          </a:p>
        </p:txBody>
      </p:sp>
      <p:grpSp>
        <p:nvGrpSpPr>
          <p:cNvPr id="159747" name="Group 3"/>
          <p:cNvGrpSpPr/>
          <p:nvPr/>
        </p:nvGrpSpPr>
        <p:grpSpPr bwMode="auto">
          <a:xfrm>
            <a:off x="757238" y="3783013"/>
            <a:ext cx="444500" cy="471487"/>
            <a:chOff x="912" y="3552"/>
            <a:chExt cx="288" cy="299"/>
          </a:xfrm>
        </p:grpSpPr>
        <p:sp>
          <p:nvSpPr>
            <p:cNvPr id="159748" name="Oval 4"/>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9749" name="Text Box 5"/>
            <p:cNvSpPr txBox="1">
              <a:spLocks noChangeArrowheads="1"/>
            </p:cNvSpPr>
            <p:nvPr/>
          </p:nvSpPr>
          <p:spPr bwMode="auto">
            <a:xfrm>
              <a:off x="942" y="3561"/>
              <a:ext cx="192"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0</a:t>
              </a:r>
            </a:p>
          </p:txBody>
        </p:sp>
      </p:grpSp>
      <p:grpSp>
        <p:nvGrpSpPr>
          <p:cNvPr id="159750" name="Group 6"/>
          <p:cNvGrpSpPr/>
          <p:nvPr/>
        </p:nvGrpSpPr>
        <p:grpSpPr bwMode="auto">
          <a:xfrm>
            <a:off x="1631950" y="2911475"/>
            <a:ext cx="444500" cy="471488"/>
            <a:chOff x="912" y="3552"/>
            <a:chExt cx="288" cy="299"/>
          </a:xfrm>
        </p:grpSpPr>
        <p:sp>
          <p:nvSpPr>
            <p:cNvPr id="159751" name="Oval 7"/>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9752" name="Text Box 8"/>
            <p:cNvSpPr txBox="1">
              <a:spLocks noChangeArrowheads="1"/>
            </p:cNvSpPr>
            <p:nvPr/>
          </p:nvSpPr>
          <p:spPr bwMode="auto">
            <a:xfrm>
              <a:off x="942" y="3561"/>
              <a:ext cx="192"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0</a:t>
              </a:r>
            </a:p>
          </p:txBody>
        </p:sp>
      </p:grpSp>
      <p:grpSp>
        <p:nvGrpSpPr>
          <p:cNvPr id="159753" name="Group 9"/>
          <p:cNvGrpSpPr/>
          <p:nvPr/>
        </p:nvGrpSpPr>
        <p:grpSpPr bwMode="auto">
          <a:xfrm>
            <a:off x="4038600" y="2887663"/>
            <a:ext cx="444500" cy="471487"/>
            <a:chOff x="912" y="3552"/>
            <a:chExt cx="288" cy="299"/>
          </a:xfrm>
        </p:grpSpPr>
        <p:sp>
          <p:nvSpPr>
            <p:cNvPr id="159754" name="Oval 10"/>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9755" name="Text Box 11"/>
            <p:cNvSpPr txBox="1">
              <a:spLocks noChangeArrowheads="1"/>
            </p:cNvSpPr>
            <p:nvPr/>
          </p:nvSpPr>
          <p:spPr bwMode="auto">
            <a:xfrm>
              <a:off x="942" y="3561"/>
              <a:ext cx="192"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0</a:t>
              </a:r>
            </a:p>
          </p:txBody>
        </p:sp>
      </p:grpSp>
      <p:grpSp>
        <p:nvGrpSpPr>
          <p:cNvPr id="159756" name="Group 12"/>
          <p:cNvGrpSpPr/>
          <p:nvPr/>
        </p:nvGrpSpPr>
        <p:grpSpPr bwMode="auto">
          <a:xfrm>
            <a:off x="2808288" y="1897063"/>
            <a:ext cx="444500" cy="471487"/>
            <a:chOff x="912" y="3552"/>
            <a:chExt cx="288" cy="299"/>
          </a:xfrm>
        </p:grpSpPr>
        <p:sp>
          <p:nvSpPr>
            <p:cNvPr id="159757" name="Oval 13"/>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9758" name="Text Box 14"/>
            <p:cNvSpPr txBox="1">
              <a:spLocks noChangeArrowheads="1"/>
            </p:cNvSpPr>
            <p:nvPr/>
          </p:nvSpPr>
          <p:spPr bwMode="auto">
            <a:xfrm>
              <a:off x="942" y="3561"/>
              <a:ext cx="192"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0</a:t>
              </a:r>
            </a:p>
          </p:txBody>
        </p:sp>
      </p:grpSp>
      <p:grpSp>
        <p:nvGrpSpPr>
          <p:cNvPr id="159759" name="Group 15"/>
          <p:cNvGrpSpPr/>
          <p:nvPr/>
        </p:nvGrpSpPr>
        <p:grpSpPr bwMode="auto">
          <a:xfrm>
            <a:off x="2771775" y="909638"/>
            <a:ext cx="533400" cy="457200"/>
            <a:chOff x="1776" y="558"/>
            <a:chExt cx="336" cy="288"/>
          </a:xfrm>
        </p:grpSpPr>
        <p:sp useBgFill="1">
          <p:nvSpPr>
            <p:cNvPr id="159760" name="Rectangle 16"/>
            <p:cNvSpPr>
              <a:spLocks noChangeArrowheads="1"/>
            </p:cNvSpPr>
            <p:nvPr/>
          </p:nvSpPr>
          <p:spPr bwMode="auto">
            <a:xfrm>
              <a:off x="1776" y="576"/>
              <a:ext cx="336" cy="240"/>
            </a:xfrm>
            <a:prstGeom prst="rect">
              <a:avLst/>
            </a:prstGeom>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9761" name="Text Box 17"/>
            <p:cNvSpPr txBox="1">
              <a:spLocks noChangeArrowheads="1"/>
            </p:cNvSpPr>
            <p:nvPr/>
          </p:nvSpPr>
          <p:spPr bwMode="auto">
            <a:xfrm>
              <a:off x="1795" y="558"/>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0</a:t>
              </a:r>
            </a:p>
          </p:txBody>
        </p:sp>
      </p:grpSp>
      <p:sp>
        <p:nvSpPr>
          <p:cNvPr id="159762" name="Text Box 18"/>
          <p:cNvSpPr txBox="1">
            <a:spLocks noChangeArrowheads="1"/>
          </p:cNvSpPr>
          <p:nvPr/>
        </p:nvSpPr>
        <p:spPr bwMode="auto">
          <a:xfrm>
            <a:off x="3505200" y="33528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solidFill>
                  <a:srgbClr val="990000"/>
                </a:solidFill>
              </a:rPr>
              <a:t>0</a:t>
            </a:r>
          </a:p>
        </p:txBody>
      </p:sp>
      <p:grpSp>
        <p:nvGrpSpPr>
          <p:cNvPr id="159763" name="Group 19"/>
          <p:cNvGrpSpPr/>
          <p:nvPr/>
        </p:nvGrpSpPr>
        <p:grpSpPr bwMode="auto">
          <a:xfrm>
            <a:off x="1981200" y="4565650"/>
            <a:ext cx="595313" cy="925513"/>
            <a:chOff x="1350" y="2906"/>
            <a:chExt cx="375" cy="583"/>
          </a:xfrm>
        </p:grpSpPr>
        <p:sp>
          <p:nvSpPr>
            <p:cNvPr id="159764" name="Text Box 20"/>
            <p:cNvSpPr txBox="1">
              <a:spLocks noChangeArrowheads="1"/>
            </p:cNvSpPr>
            <p:nvPr/>
          </p:nvSpPr>
          <p:spPr bwMode="auto">
            <a:xfrm>
              <a:off x="1352" y="2906"/>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endParaRPr lang="zh-CN" altLang="zh-CN" sz="2400"/>
            </a:p>
          </p:txBody>
        </p:sp>
        <p:sp>
          <p:nvSpPr>
            <p:cNvPr id="159765" name="Text Box 21"/>
            <p:cNvSpPr txBox="1">
              <a:spLocks noChangeArrowheads="1"/>
            </p:cNvSpPr>
            <p:nvPr/>
          </p:nvSpPr>
          <p:spPr bwMode="auto">
            <a:xfrm>
              <a:off x="1350" y="3195"/>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0</a:t>
              </a:r>
            </a:p>
          </p:txBody>
        </p:sp>
      </p:grpSp>
      <p:grpSp>
        <p:nvGrpSpPr>
          <p:cNvPr id="159766" name="Group 22"/>
          <p:cNvGrpSpPr/>
          <p:nvPr/>
        </p:nvGrpSpPr>
        <p:grpSpPr bwMode="auto">
          <a:xfrm>
            <a:off x="2428875" y="3810000"/>
            <a:ext cx="444500" cy="471488"/>
            <a:chOff x="912" y="3552"/>
            <a:chExt cx="288" cy="299"/>
          </a:xfrm>
        </p:grpSpPr>
        <p:sp>
          <p:nvSpPr>
            <p:cNvPr id="159767" name="Oval 23"/>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9768" name="Text Box 24"/>
            <p:cNvSpPr txBox="1">
              <a:spLocks noChangeArrowheads="1"/>
            </p:cNvSpPr>
            <p:nvPr/>
          </p:nvSpPr>
          <p:spPr bwMode="auto">
            <a:xfrm>
              <a:off x="942" y="3561"/>
              <a:ext cx="192"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0</a:t>
              </a:r>
            </a:p>
          </p:txBody>
        </p:sp>
      </p:grpSp>
      <p:grpSp>
        <p:nvGrpSpPr>
          <p:cNvPr id="159769" name="Group 25"/>
          <p:cNvGrpSpPr/>
          <p:nvPr/>
        </p:nvGrpSpPr>
        <p:grpSpPr bwMode="auto">
          <a:xfrm>
            <a:off x="2747963" y="4572000"/>
            <a:ext cx="595312" cy="925513"/>
            <a:chOff x="1350" y="2906"/>
            <a:chExt cx="375" cy="583"/>
          </a:xfrm>
        </p:grpSpPr>
        <p:sp>
          <p:nvSpPr>
            <p:cNvPr id="159770" name="Text Box 26"/>
            <p:cNvSpPr txBox="1">
              <a:spLocks noChangeArrowheads="1"/>
            </p:cNvSpPr>
            <p:nvPr/>
          </p:nvSpPr>
          <p:spPr bwMode="auto">
            <a:xfrm>
              <a:off x="1352" y="2906"/>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endParaRPr lang="zh-CN" altLang="zh-CN" sz="2400"/>
            </a:p>
          </p:txBody>
        </p:sp>
        <p:sp>
          <p:nvSpPr>
            <p:cNvPr id="159771" name="Text Box 27"/>
            <p:cNvSpPr txBox="1">
              <a:spLocks noChangeArrowheads="1"/>
            </p:cNvSpPr>
            <p:nvPr/>
          </p:nvSpPr>
          <p:spPr bwMode="auto">
            <a:xfrm>
              <a:off x="1350" y="3195"/>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0</a:t>
              </a:r>
            </a:p>
          </p:txBody>
        </p:sp>
      </p:grpSp>
      <p:sp>
        <p:nvSpPr>
          <p:cNvPr id="159772" name="Line 28"/>
          <p:cNvSpPr>
            <a:spLocks noChangeShapeType="1"/>
          </p:cNvSpPr>
          <p:nvPr/>
        </p:nvSpPr>
        <p:spPr bwMode="auto">
          <a:xfrm flipH="1">
            <a:off x="2276475" y="4114800"/>
            <a:ext cx="15240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59773" name="Group 29"/>
          <p:cNvGrpSpPr/>
          <p:nvPr/>
        </p:nvGrpSpPr>
        <p:grpSpPr bwMode="auto">
          <a:xfrm>
            <a:off x="1143000" y="4600575"/>
            <a:ext cx="595313" cy="925513"/>
            <a:chOff x="1350" y="2906"/>
            <a:chExt cx="375" cy="583"/>
          </a:xfrm>
        </p:grpSpPr>
        <p:sp>
          <p:nvSpPr>
            <p:cNvPr id="159774" name="Text Box 30"/>
            <p:cNvSpPr txBox="1">
              <a:spLocks noChangeArrowheads="1"/>
            </p:cNvSpPr>
            <p:nvPr/>
          </p:nvSpPr>
          <p:spPr bwMode="auto">
            <a:xfrm>
              <a:off x="1352" y="2906"/>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endParaRPr lang="zh-CN" altLang="zh-CN" sz="2400"/>
            </a:p>
          </p:txBody>
        </p:sp>
        <p:sp>
          <p:nvSpPr>
            <p:cNvPr id="159775" name="Text Box 31"/>
            <p:cNvSpPr txBox="1">
              <a:spLocks noChangeArrowheads="1"/>
            </p:cNvSpPr>
            <p:nvPr/>
          </p:nvSpPr>
          <p:spPr bwMode="auto">
            <a:xfrm>
              <a:off x="1350" y="3195"/>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0</a:t>
              </a:r>
            </a:p>
          </p:txBody>
        </p:sp>
      </p:grpSp>
      <p:grpSp>
        <p:nvGrpSpPr>
          <p:cNvPr id="159776" name="Group 32"/>
          <p:cNvGrpSpPr/>
          <p:nvPr/>
        </p:nvGrpSpPr>
        <p:grpSpPr bwMode="auto">
          <a:xfrm>
            <a:off x="228600" y="4622800"/>
            <a:ext cx="595313" cy="925513"/>
            <a:chOff x="1350" y="2906"/>
            <a:chExt cx="375" cy="583"/>
          </a:xfrm>
        </p:grpSpPr>
        <p:sp>
          <p:nvSpPr>
            <p:cNvPr id="159777" name="Text Box 33"/>
            <p:cNvSpPr txBox="1">
              <a:spLocks noChangeArrowheads="1"/>
            </p:cNvSpPr>
            <p:nvPr/>
          </p:nvSpPr>
          <p:spPr bwMode="auto">
            <a:xfrm>
              <a:off x="1352" y="2906"/>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endParaRPr lang="zh-CN" altLang="zh-CN" sz="2400"/>
            </a:p>
          </p:txBody>
        </p:sp>
        <p:sp>
          <p:nvSpPr>
            <p:cNvPr id="159778" name="Text Box 34"/>
            <p:cNvSpPr txBox="1">
              <a:spLocks noChangeArrowheads="1"/>
            </p:cNvSpPr>
            <p:nvPr/>
          </p:nvSpPr>
          <p:spPr bwMode="auto">
            <a:xfrm>
              <a:off x="1350" y="3195"/>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0</a:t>
              </a:r>
            </a:p>
          </p:txBody>
        </p:sp>
      </p:grpSp>
      <p:grpSp>
        <p:nvGrpSpPr>
          <p:cNvPr id="159779" name="Group 35"/>
          <p:cNvGrpSpPr/>
          <p:nvPr/>
        </p:nvGrpSpPr>
        <p:grpSpPr bwMode="auto">
          <a:xfrm>
            <a:off x="3590925" y="3727450"/>
            <a:ext cx="595313" cy="925513"/>
            <a:chOff x="1350" y="2906"/>
            <a:chExt cx="375" cy="583"/>
          </a:xfrm>
        </p:grpSpPr>
        <p:sp>
          <p:nvSpPr>
            <p:cNvPr id="159780" name="Text Box 36"/>
            <p:cNvSpPr txBox="1">
              <a:spLocks noChangeArrowheads="1"/>
            </p:cNvSpPr>
            <p:nvPr/>
          </p:nvSpPr>
          <p:spPr bwMode="auto">
            <a:xfrm>
              <a:off x="1352" y="2906"/>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endParaRPr lang="zh-CN" altLang="zh-CN" sz="2400"/>
            </a:p>
          </p:txBody>
        </p:sp>
        <p:sp>
          <p:nvSpPr>
            <p:cNvPr id="159781" name="Text Box 37"/>
            <p:cNvSpPr txBox="1">
              <a:spLocks noChangeArrowheads="1"/>
            </p:cNvSpPr>
            <p:nvPr/>
          </p:nvSpPr>
          <p:spPr bwMode="auto">
            <a:xfrm>
              <a:off x="1350" y="3195"/>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0</a:t>
              </a:r>
            </a:p>
          </p:txBody>
        </p:sp>
      </p:grpSp>
      <p:grpSp>
        <p:nvGrpSpPr>
          <p:cNvPr id="159782" name="Group 38"/>
          <p:cNvGrpSpPr/>
          <p:nvPr/>
        </p:nvGrpSpPr>
        <p:grpSpPr bwMode="auto">
          <a:xfrm>
            <a:off x="4357688" y="3733800"/>
            <a:ext cx="595312" cy="925513"/>
            <a:chOff x="1350" y="2906"/>
            <a:chExt cx="375" cy="583"/>
          </a:xfrm>
        </p:grpSpPr>
        <p:sp>
          <p:nvSpPr>
            <p:cNvPr id="159783" name="Text Box 39"/>
            <p:cNvSpPr txBox="1">
              <a:spLocks noChangeArrowheads="1"/>
            </p:cNvSpPr>
            <p:nvPr/>
          </p:nvSpPr>
          <p:spPr bwMode="auto">
            <a:xfrm>
              <a:off x="1352" y="2906"/>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endParaRPr lang="zh-CN" altLang="zh-CN" sz="2400"/>
            </a:p>
          </p:txBody>
        </p:sp>
        <p:sp>
          <p:nvSpPr>
            <p:cNvPr id="159784" name="Text Box 40"/>
            <p:cNvSpPr txBox="1">
              <a:spLocks noChangeArrowheads="1"/>
            </p:cNvSpPr>
            <p:nvPr/>
          </p:nvSpPr>
          <p:spPr bwMode="auto">
            <a:xfrm>
              <a:off x="1350" y="3195"/>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0</a:t>
              </a:r>
            </a:p>
          </p:txBody>
        </p:sp>
      </p:grpSp>
      <p:sp>
        <p:nvSpPr>
          <p:cNvPr id="159785" name="Text Box 41"/>
          <p:cNvSpPr txBox="1">
            <a:spLocks noChangeArrowheads="1"/>
          </p:cNvSpPr>
          <p:nvPr/>
        </p:nvSpPr>
        <p:spPr bwMode="auto">
          <a:xfrm>
            <a:off x="4648200" y="33528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solidFill>
                  <a:srgbClr val="990000"/>
                </a:solidFill>
              </a:rPr>
              <a:t>1</a:t>
            </a:r>
          </a:p>
        </p:txBody>
      </p:sp>
      <p:sp>
        <p:nvSpPr>
          <p:cNvPr id="159786" name="Text Box 42"/>
          <p:cNvSpPr txBox="1">
            <a:spLocks noChangeArrowheads="1"/>
          </p:cNvSpPr>
          <p:nvPr/>
        </p:nvSpPr>
        <p:spPr bwMode="auto">
          <a:xfrm>
            <a:off x="1952625" y="4162425"/>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solidFill>
                  <a:srgbClr val="990000"/>
                </a:solidFill>
              </a:rPr>
              <a:t>4</a:t>
            </a:r>
          </a:p>
        </p:txBody>
      </p:sp>
      <p:sp>
        <p:nvSpPr>
          <p:cNvPr id="159787" name="Text Box 43"/>
          <p:cNvSpPr txBox="1">
            <a:spLocks noChangeArrowheads="1"/>
          </p:cNvSpPr>
          <p:nvPr/>
        </p:nvSpPr>
        <p:spPr bwMode="auto">
          <a:xfrm>
            <a:off x="2952750" y="4167188"/>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solidFill>
                  <a:srgbClr val="990000"/>
                </a:solidFill>
              </a:rPr>
              <a:t>5</a:t>
            </a:r>
          </a:p>
        </p:txBody>
      </p:sp>
      <p:sp>
        <p:nvSpPr>
          <p:cNvPr id="159788" name="Text Box 44"/>
          <p:cNvSpPr txBox="1">
            <a:spLocks noChangeArrowheads="1"/>
          </p:cNvSpPr>
          <p:nvPr/>
        </p:nvSpPr>
        <p:spPr bwMode="auto">
          <a:xfrm>
            <a:off x="1314450" y="4214813"/>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solidFill>
                  <a:srgbClr val="990000"/>
                </a:solidFill>
              </a:rPr>
              <a:t>3</a:t>
            </a:r>
          </a:p>
        </p:txBody>
      </p:sp>
      <p:sp>
        <p:nvSpPr>
          <p:cNvPr id="159789" name="Text Box 45"/>
          <p:cNvSpPr txBox="1">
            <a:spLocks noChangeArrowheads="1"/>
          </p:cNvSpPr>
          <p:nvPr/>
        </p:nvSpPr>
        <p:spPr bwMode="auto">
          <a:xfrm>
            <a:off x="252413" y="4214813"/>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solidFill>
                  <a:srgbClr val="990000"/>
                </a:solidFill>
              </a:rPr>
              <a:t>2</a:t>
            </a:r>
          </a:p>
        </p:txBody>
      </p:sp>
      <p:sp>
        <p:nvSpPr>
          <p:cNvPr id="159790" name="Text Box 46"/>
          <p:cNvSpPr txBox="1">
            <a:spLocks noChangeArrowheads="1"/>
          </p:cNvSpPr>
          <p:nvPr/>
        </p:nvSpPr>
        <p:spPr bwMode="auto">
          <a:xfrm>
            <a:off x="2790825" y="45720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51</a:t>
            </a:r>
          </a:p>
        </p:txBody>
      </p:sp>
      <p:sp>
        <p:nvSpPr>
          <p:cNvPr id="159791" name="Text Box 47"/>
          <p:cNvSpPr txBox="1">
            <a:spLocks noChangeArrowheads="1"/>
          </p:cNvSpPr>
          <p:nvPr/>
        </p:nvSpPr>
        <p:spPr bwMode="auto">
          <a:xfrm>
            <a:off x="2028825" y="4567238"/>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49</a:t>
            </a:r>
          </a:p>
        </p:txBody>
      </p:sp>
      <p:sp>
        <p:nvSpPr>
          <p:cNvPr id="159792" name="Text Box 48"/>
          <p:cNvSpPr txBox="1">
            <a:spLocks noChangeArrowheads="1"/>
          </p:cNvSpPr>
          <p:nvPr/>
        </p:nvSpPr>
        <p:spPr bwMode="auto">
          <a:xfrm>
            <a:off x="257175" y="46482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46</a:t>
            </a:r>
          </a:p>
        </p:txBody>
      </p:sp>
      <p:sp>
        <p:nvSpPr>
          <p:cNvPr id="159793" name="Text Box 49"/>
          <p:cNvSpPr txBox="1">
            <a:spLocks noChangeArrowheads="1"/>
          </p:cNvSpPr>
          <p:nvPr/>
        </p:nvSpPr>
        <p:spPr bwMode="auto">
          <a:xfrm>
            <a:off x="1214438" y="4619625"/>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39</a:t>
            </a:r>
          </a:p>
        </p:txBody>
      </p:sp>
      <p:sp>
        <p:nvSpPr>
          <p:cNvPr id="159794" name="Text Box 50"/>
          <p:cNvSpPr txBox="1">
            <a:spLocks noChangeArrowheads="1"/>
          </p:cNvSpPr>
          <p:nvPr/>
        </p:nvSpPr>
        <p:spPr bwMode="auto">
          <a:xfrm>
            <a:off x="4443413" y="3762375"/>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38</a:t>
            </a:r>
          </a:p>
        </p:txBody>
      </p:sp>
      <p:sp>
        <p:nvSpPr>
          <p:cNvPr id="159795" name="Text Box 51"/>
          <p:cNvSpPr txBox="1">
            <a:spLocks noChangeArrowheads="1"/>
          </p:cNvSpPr>
          <p:nvPr/>
        </p:nvSpPr>
        <p:spPr bwMode="auto">
          <a:xfrm>
            <a:off x="3657600" y="3786188"/>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29</a:t>
            </a:r>
          </a:p>
        </p:txBody>
      </p:sp>
      <p:grpSp>
        <p:nvGrpSpPr>
          <p:cNvPr id="159796" name="Group 52"/>
          <p:cNvGrpSpPr/>
          <p:nvPr/>
        </p:nvGrpSpPr>
        <p:grpSpPr bwMode="auto">
          <a:xfrm>
            <a:off x="2438400" y="3757613"/>
            <a:ext cx="533400" cy="546100"/>
            <a:chOff x="2640" y="3600"/>
            <a:chExt cx="336" cy="344"/>
          </a:xfrm>
        </p:grpSpPr>
        <p:sp useBgFill="1">
          <p:nvSpPr>
            <p:cNvPr id="159797" name="Rectangle 53"/>
            <p:cNvSpPr>
              <a:spLocks noChangeArrowheads="1"/>
            </p:cNvSpPr>
            <p:nvPr/>
          </p:nvSpPr>
          <p:spPr bwMode="auto">
            <a:xfrm>
              <a:off x="2640" y="3600"/>
              <a:ext cx="336" cy="336"/>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59798" name="Group 54"/>
            <p:cNvGrpSpPr/>
            <p:nvPr/>
          </p:nvGrpSpPr>
          <p:grpSpPr bwMode="auto">
            <a:xfrm>
              <a:off x="2640" y="3648"/>
              <a:ext cx="288" cy="296"/>
              <a:chOff x="912" y="3552"/>
              <a:chExt cx="288" cy="321"/>
            </a:xfrm>
          </p:grpSpPr>
          <p:sp>
            <p:nvSpPr>
              <p:cNvPr id="159799" name="Oval 55"/>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9800" name="Text Box 56"/>
              <p:cNvSpPr txBox="1">
                <a:spLocks noChangeArrowheads="1"/>
              </p:cNvSpPr>
              <p:nvPr/>
            </p:nvSpPr>
            <p:spPr bwMode="auto">
              <a:xfrm>
                <a:off x="942" y="3561"/>
                <a:ext cx="192" cy="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5</a:t>
                </a:r>
              </a:p>
            </p:txBody>
          </p:sp>
        </p:grpSp>
      </p:grpSp>
      <p:sp>
        <p:nvSpPr>
          <p:cNvPr id="159801" name="Line 57"/>
          <p:cNvSpPr>
            <a:spLocks noChangeShapeType="1"/>
          </p:cNvSpPr>
          <p:nvPr/>
        </p:nvSpPr>
        <p:spPr bwMode="auto">
          <a:xfrm>
            <a:off x="2897188" y="4114800"/>
            <a:ext cx="141287"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59802" name="Group 58"/>
          <p:cNvGrpSpPr/>
          <p:nvPr/>
        </p:nvGrpSpPr>
        <p:grpSpPr bwMode="auto">
          <a:xfrm>
            <a:off x="2795588" y="5000625"/>
            <a:ext cx="533400" cy="457200"/>
            <a:chOff x="2352" y="3150"/>
            <a:chExt cx="336" cy="288"/>
          </a:xfrm>
        </p:grpSpPr>
        <p:sp useBgFill="1">
          <p:nvSpPr>
            <p:cNvPr id="159803" name="Rectangle 59"/>
            <p:cNvSpPr>
              <a:spLocks noChangeArrowheads="1"/>
            </p:cNvSpPr>
            <p:nvPr/>
          </p:nvSpPr>
          <p:spPr bwMode="auto">
            <a:xfrm>
              <a:off x="2400" y="3216"/>
              <a:ext cx="288" cy="192"/>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9804" name="Text Box 60"/>
            <p:cNvSpPr txBox="1">
              <a:spLocks noChangeArrowheads="1"/>
            </p:cNvSpPr>
            <p:nvPr/>
          </p:nvSpPr>
          <p:spPr bwMode="auto">
            <a:xfrm>
              <a:off x="2352" y="3150"/>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a:t>
              </a:r>
            </a:p>
          </p:txBody>
        </p:sp>
      </p:grpSp>
      <p:grpSp>
        <p:nvGrpSpPr>
          <p:cNvPr id="159805" name="Group 61"/>
          <p:cNvGrpSpPr/>
          <p:nvPr/>
        </p:nvGrpSpPr>
        <p:grpSpPr bwMode="auto">
          <a:xfrm>
            <a:off x="2005013" y="5000625"/>
            <a:ext cx="533400" cy="457200"/>
            <a:chOff x="2352" y="3150"/>
            <a:chExt cx="336" cy="288"/>
          </a:xfrm>
        </p:grpSpPr>
        <p:sp useBgFill="1">
          <p:nvSpPr>
            <p:cNvPr id="159806" name="Rectangle 62"/>
            <p:cNvSpPr>
              <a:spLocks noChangeArrowheads="1"/>
            </p:cNvSpPr>
            <p:nvPr/>
          </p:nvSpPr>
          <p:spPr bwMode="auto">
            <a:xfrm>
              <a:off x="2400" y="3216"/>
              <a:ext cx="288" cy="192"/>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9807" name="Text Box 63"/>
            <p:cNvSpPr txBox="1">
              <a:spLocks noChangeArrowheads="1"/>
            </p:cNvSpPr>
            <p:nvPr/>
          </p:nvSpPr>
          <p:spPr bwMode="auto">
            <a:xfrm>
              <a:off x="2352" y="3150"/>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a:t>
              </a:r>
            </a:p>
          </p:txBody>
        </p:sp>
      </p:grpSp>
      <p:grpSp>
        <p:nvGrpSpPr>
          <p:cNvPr id="159808" name="Group 64"/>
          <p:cNvGrpSpPr/>
          <p:nvPr/>
        </p:nvGrpSpPr>
        <p:grpSpPr bwMode="auto">
          <a:xfrm>
            <a:off x="1195388" y="5081588"/>
            <a:ext cx="533400" cy="457200"/>
            <a:chOff x="2352" y="3150"/>
            <a:chExt cx="336" cy="288"/>
          </a:xfrm>
        </p:grpSpPr>
        <p:sp useBgFill="1">
          <p:nvSpPr>
            <p:cNvPr id="159809" name="Rectangle 65"/>
            <p:cNvSpPr>
              <a:spLocks noChangeArrowheads="1"/>
            </p:cNvSpPr>
            <p:nvPr/>
          </p:nvSpPr>
          <p:spPr bwMode="auto">
            <a:xfrm>
              <a:off x="2400" y="3216"/>
              <a:ext cx="288" cy="192"/>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9810" name="Text Box 66"/>
            <p:cNvSpPr txBox="1">
              <a:spLocks noChangeArrowheads="1"/>
            </p:cNvSpPr>
            <p:nvPr/>
          </p:nvSpPr>
          <p:spPr bwMode="auto">
            <a:xfrm>
              <a:off x="2352" y="3150"/>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a:t>
              </a:r>
            </a:p>
          </p:txBody>
        </p:sp>
      </p:grpSp>
      <p:grpSp>
        <p:nvGrpSpPr>
          <p:cNvPr id="159811" name="Group 67"/>
          <p:cNvGrpSpPr/>
          <p:nvPr/>
        </p:nvGrpSpPr>
        <p:grpSpPr bwMode="auto">
          <a:xfrm>
            <a:off x="280988" y="5081588"/>
            <a:ext cx="533400" cy="457200"/>
            <a:chOff x="2352" y="3150"/>
            <a:chExt cx="336" cy="288"/>
          </a:xfrm>
        </p:grpSpPr>
        <p:sp useBgFill="1">
          <p:nvSpPr>
            <p:cNvPr id="159812" name="Rectangle 68"/>
            <p:cNvSpPr>
              <a:spLocks noChangeArrowheads="1"/>
            </p:cNvSpPr>
            <p:nvPr/>
          </p:nvSpPr>
          <p:spPr bwMode="auto">
            <a:xfrm>
              <a:off x="2400" y="3216"/>
              <a:ext cx="288" cy="192"/>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9813" name="Text Box 69"/>
            <p:cNvSpPr txBox="1">
              <a:spLocks noChangeArrowheads="1"/>
            </p:cNvSpPr>
            <p:nvPr/>
          </p:nvSpPr>
          <p:spPr bwMode="auto">
            <a:xfrm>
              <a:off x="2352" y="3150"/>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a:t>
              </a:r>
            </a:p>
          </p:txBody>
        </p:sp>
      </p:grpSp>
      <p:grpSp>
        <p:nvGrpSpPr>
          <p:cNvPr id="159814" name="Group 70"/>
          <p:cNvGrpSpPr/>
          <p:nvPr/>
        </p:nvGrpSpPr>
        <p:grpSpPr bwMode="auto">
          <a:xfrm>
            <a:off x="738188" y="3738563"/>
            <a:ext cx="533400" cy="546100"/>
            <a:chOff x="2640" y="3600"/>
            <a:chExt cx="336" cy="344"/>
          </a:xfrm>
        </p:grpSpPr>
        <p:sp useBgFill="1">
          <p:nvSpPr>
            <p:cNvPr id="159815" name="Rectangle 71"/>
            <p:cNvSpPr>
              <a:spLocks noChangeArrowheads="1"/>
            </p:cNvSpPr>
            <p:nvPr/>
          </p:nvSpPr>
          <p:spPr bwMode="auto">
            <a:xfrm>
              <a:off x="2640" y="3600"/>
              <a:ext cx="336" cy="336"/>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59816" name="Group 72"/>
            <p:cNvGrpSpPr/>
            <p:nvPr/>
          </p:nvGrpSpPr>
          <p:grpSpPr bwMode="auto">
            <a:xfrm>
              <a:off x="2640" y="3648"/>
              <a:ext cx="288" cy="296"/>
              <a:chOff x="912" y="3552"/>
              <a:chExt cx="288" cy="321"/>
            </a:xfrm>
          </p:grpSpPr>
          <p:sp>
            <p:nvSpPr>
              <p:cNvPr id="159817" name="Oval 73"/>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9818" name="Text Box 74"/>
              <p:cNvSpPr txBox="1">
                <a:spLocks noChangeArrowheads="1"/>
              </p:cNvSpPr>
              <p:nvPr/>
            </p:nvSpPr>
            <p:spPr bwMode="auto">
              <a:xfrm>
                <a:off x="942" y="3561"/>
                <a:ext cx="192" cy="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3</a:t>
                </a:r>
              </a:p>
            </p:txBody>
          </p:sp>
        </p:grpSp>
      </p:grpSp>
      <p:grpSp>
        <p:nvGrpSpPr>
          <p:cNvPr id="159819" name="Group 75"/>
          <p:cNvGrpSpPr/>
          <p:nvPr/>
        </p:nvGrpSpPr>
        <p:grpSpPr bwMode="auto">
          <a:xfrm>
            <a:off x="733425" y="3762375"/>
            <a:ext cx="533400" cy="546100"/>
            <a:chOff x="2640" y="3600"/>
            <a:chExt cx="336" cy="344"/>
          </a:xfrm>
        </p:grpSpPr>
        <p:sp useBgFill="1">
          <p:nvSpPr>
            <p:cNvPr id="159820" name="Rectangle 76"/>
            <p:cNvSpPr>
              <a:spLocks noChangeArrowheads="1"/>
            </p:cNvSpPr>
            <p:nvPr/>
          </p:nvSpPr>
          <p:spPr bwMode="auto">
            <a:xfrm>
              <a:off x="2640" y="3600"/>
              <a:ext cx="336" cy="336"/>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59821" name="Group 77"/>
            <p:cNvGrpSpPr/>
            <p:nvPr/>
          </p:nvGrpSpPr>
          <p:grpSpPr bwMode="auto">
            <a:xfrm>
              <a:off x="2640" y="3648"/>
              <a:ext cx="288" cy="296"/>
              <a:chOff x="912" y="3552"/>
              <a:chExt cx="288" cy="321"/>
            </a:xfrm>
          </p:grpSpPr>
          <p:sp>
            <p:nvSpPr>
              <p:cNvPr id="159822" name="Oval 78"/>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9823" name="Text Box 79"/>
              <p:cNvSpPr txBox="1">
                <a:spLocks noChangeArrowheads="1"/>
              </p:cNvSpPr>
              <p:nvPr/>
            </p:nvSpPr>
            <p:spPr bwMode="auto">
              <a:xfrm>
                <a:off x="942" y="3561"/>
                <a:ext cx="192" cy="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a:t>
                </a:r>
              </a:p>
            </p:txBody>
          </p:sp>
        </p:grpSp>
      </p:grpSp>
      <p:sp>
        <p:nvSpPr>
          <p:cNvPr id="159824" name="Line 80"/>
          <p:cNvSpPr>
            <a:spLocks noChangeShapeType="1"/>
          </p:cNvSpPr>
          <p:nvPr/>
        </p:nvSpPr>
        <p:spPr bwMode="auto">
          <a:xfrm flipH="1">
            <a:off x="585788" y="4162425"/>
            <a:ext cx="15240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9825" name="Line 81"/>
          <p:cNvSpPr>
            <a:spLocks noChangeShapeType="1"/>
          </p:cNvSpPr>
          <p:nvPr/>
        </p:nvSpPr>
        <p:spPr bwMode="auto">
          <a:xfrm>
            <a:off x="1206500" y="4162425"/>
            <a:ext cx="141288"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59826" name="Group 82"/>
          <p:cNvGrpSpPr/>
          <p:nvPr/>
        </p:nvGrpSpPr>
        <p:grpSpPr bwMode="auto">
          <a:xfrm>
            <a:off x="4391025" y="4191000"/>
            <a:ext cx="533400" cy="457200"/>
            <a:chOff x="2352" y="3150"/>
            <a:chExt cx="336" cy="288"/>
          </a:xfrm>
        </p:grpSpPr>
        <p:sp useBgFill="1">
          <p:nvSpPr>
            <p:cNvPr id="159827" name="Rectangle 83"/>
            <p:cNvSpPr>
              <a:spLocks noChangeArrowheads="1"/>
            </p:cNvSpPr>
            <p:nvPr/>
          </p:nvSpPr>
          <p:spPr bwMode="auto">
            <a:xfrm>
              <a:off x="2400" y="3216"/>
              <a:ext cx="288" cy="192"/>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9828" name="Text Box 84"/>
            <p:cNvSpPr txBox="1">
              <a:spLocks noChangeArrowheads="1"/>
            </p:cNvSpPr>
            <p:nvPr/>
          </p:nvSpPr>
          <p:spPr bwMode="auto">
            <a:xfrm>
              <a:off x="2352" y="3150"/>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a:t>
              </a:r>
            </a:p>
          </p:txBody>
        </p:sp>
      </p:grpSp>
      <p:grpSp>
        <p:nvGrpSpPr>
          <p:cNvPr id="159829" name="Group 85"/>
          <p:cNvGrpSpPr/>
          <p:nvPr/>
        </p:nvGrpSpPr>
        <p:grpSpPr bwMode="auto">
          <a:xfrm>
            <a:off x="3629025" y="4191000"/>
            <a:ext cx="533400" cy="457200"/>
            <a:chOff x="2352" y="3150"/>
            <a:chExt cx="336" cy="288"/>
          </a:xfrm>
        </p:grpSpPr>
        <p:sp useBgFill="1">
          <p:nvSpPr>
            <p:cNvPr id="159830" name="Rectangle 86"/>
            <p:cNvSpPr>
              <a:spLocks noChangeArrowheads="1"/>
            </p:cNvSpPr>
            <p:nvPr/>
          </p:nvSpPr>
          <p:spPr bwMode="auto">
            <a:xfrm>
              <a:off x="2400" y="3216"/>
              <a:ext cx="288" cy="192"/>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9831" name="Text Box 87"/>
            <p:cNvSpPr txBox="1">
              <a:spLocks noChangeArrowheads="1"/>
            </p:cNvSpPr>
            <p:nvPr/>
          </p:nvSpPr>
          <p:spPr bwMode="auto">
            <a:xfrm>
              <a:off x="2352" y="3150"/>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a:t>
              </a:r>
            </a:p>
          </p:txBody>
        </p:sp>
      </p:grpSp>
      <p:grpSp>
        <p:nvGrpSpPr>
          <p:cNvPr id="159832" name="Group 88"/>
          <p:cNvGrpSpPr/>
          <p:nvPr/>
        </p:nvGrpSpPr>
        <p:grpSpPr bwMode="auto">
          <a:xfrm>
            <a:off x="4038600" y="2867025"/>
            <a:ext cx="533400" cy="546100"/>
            <a:chOff x="2640" y="3600"/>
            <a:chExt cx="336" cy="344"/>
          </a:xfrm>
        </p:grpSpPr>
        <p:sp useBgFill="1">
          <p:nvSpPr>
            <p:cNvPr id="159833" name="Rectangle 89"/>
            <p:cNvSpPr>
              <a:spLocks noChangeArrowheads="1"/>
            </p:cNvSpPr>
            <p:nvPr/>
          </p:nvSpPr>
          <p:spPr bwMode="auto">
            <a:xfrm>
              <a:off x="2640" y="3600"/>
              <a:ext cx="336" cy="336"/>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59834" name="Group 90"/>
            <p:cNvGrpSpPr/>
            <p:nvPr/>
          </p:nvGrpSpPr>
          <p:grpSpPr bwMode="auto">
            <a:xfrm>
              <a:off x="2640" y="3648"/>
              <a:ext cx="288" cy="296"/>
              <a:chOff x="912" y="3552"/>
              <a:chExt cx="288" cy="321"/>
            </a:xfrm>
          </p:grpSpPr>
          <p:sp>
            <p:nvSpPr>
              <p:cNvPr id="159835" name="Oval 91"/>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9836" name="Text Box 92"/>
              <p:cNvSpPr txBox="1">
                <a:spLocks noChangeArrowheads="1"/>
              </p:cNvSpPr>
              <p:nvPr/>
            </p:nvSpPr>
            <p:spPr bwMode="auto">
              <a:xfrm>
                <a:off x="942" y="3561"/>
                <a:ext cx="192" cy="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a:t>
                </a:r>
              </a:p>
            </p:txBody>
          </p:sp>
        </p:grpSp>
      </p:grpSp>
      <p:sp>
        <p:nvSpPr>
          <p:cNvPr id="159837" name="Line 93"/>
          <p:cNvSpPr>
            <a:spLocks noChangeShapeType="1"/>
          </p:cNvSpPr>
          <p:nvPr/>
        </p:nvSpPr>
        <p:spPr bwMode="auto">
          <a:xfrm flipH="1">
            <a:off x="3886200" y="3276600"/>
            <a:ext cx="15240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9838" name="Line 94"/>
          <p:cNvSpPr>
            <a:spLocks noChangeShapeType="1"/>
          </p:cNvSpPr>
          <p:nvPr/>
        </p:nvSpPr>
        <p:spPr bwMode="auto">
          <a:xfrm>
            <a:off x="4506913" y="3276600"/>
            <a:ext cx="141287"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59839" name="Group 95"/>
          <p:cNvGrpSpPr/>
          <p:nvPr/>
        </p:nvGrpSpPr>
        <p:grpSpPr bwMode="auto">
          <a:xfrm>
            <a:off x="1600200" y="2867025"/>
            <a:ext cx="533400" cy="546100"/>
            <a:chOff x="2640" y="3600"/>
            <a:chExt cx="336" cy="344"/>
          </a:xfrm>
        </p:grpSpPr>
        <p:sp useBgFill="1">
          <p:nvSpPr>
            <p:cNvPr id="159840" name="Rectangle 96"/>
            <p:cNvSpPr>
              <a:spLocks noChangeArrowheads="1"/>
            </p:cNvSpPr>
            <p:nvPr/>
          </p:nvSpPr>
          <p:spPr bwMode="auto">
            <a:xfrm>
              <a:off x="2640" y="3600"/>
              <a:ext cx="336" cy="336"/>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59841" name="Group 97"/>
            <p:cNvGrpSpPr/>
            <p:nvPr/>
          </p:nvGrpSpPr>
          <p:grpSpPr bwMode="auto">
            <a:xfrm>
              <a:off x="2640" y="3648"/>
              <a:ext cx="288" cy="296"/>
              <a:chOff x="912" y="3552"/>
              <a:chExt cx="288" cy="321"/>
            </a:xfrm>
          </p:grpSpPr>
          <p:sp>
            <p:nvSpPr>
              <p:cNvPr id="159842" name="Oval 98"/>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9843" name="Text Box 99"/>
              <p:cNvSpPr txBox="1">
                <a:spLocks noChangeArrowheads="1"/>
              </p:cNvSpPr>
              <p:nvPr/>
            </p:nvSpPr>
            <p:spPr bwMode="auto">
              <a:xfrm>
                <a:off x="942" y="3561"/>
                <a:ext cx="192" cy="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4</a:t>
                </a:r>
              </a:p>
            </p:txBody>
          </p:sp>
        </p:grpSp>
      </p:grpSp>
      <p:sp>
        <p:nvSpPr>
          <p:cNvPr id="159844" name="Line 100"/>
          <p:cNvSpPr>
            <a:spLocks noChangeShapeType="1"/>
          </p:cNvSpPr>
          <p:nvPr/>
        </p:nvSpPr>
        <p:spPr bwMode="auto">
          <a:xfrm>
            <a:off x="2097088" y="3197225"/>
            <a:ext cx="493712" cy="61277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9845" name="Line 101"/>
          <p:cNvSpPr>
            <a:spLocks noChangeShapeType="1"/>
          </p:cNvSpPr>
          <p:nvPr/>
        </p:nvSpPr>
        <p:spPr bwMode="auto">
          <a:xfrm flipH="1">
            <a:off x="1846263" y="2209800"/>
            <a:ext cx="973137" cy="67786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9846" name="Line 102"/>
          <p:cNvSpPr>
            <a:spLocks noChangeShapeType="1"/>
          </p:cNvSpPr>
          <p:nvPr/>
        </p:nvSpPr>
        <p:spPr bwMode="auto">
          <a:xfrm flipH="1">
            <a:off x="990600" y="3200400"/>
            <a:ext cx="604838"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59847" name="Group 103"/>
          <p:cNvGrpSpPr/>
          <p:nvPr/>
        </p:nvGrpSpPr>
        <p:grpSpPr bwMode="auto">
          <a:xfrm>
            <a:off x="2814638" y="1844675"/>
            <a:ext cx="533400" cy="546100"/>
            <a:chOff x="2640" y="3600"/>
            <a:chExt cx="336" cy="344"/>
          </a:xfrm>
        </p:grpSpPr>
        <p:sp useBgFill="1">
          <p:nvSpPr>
            <p:cNvPr id="159848" name="Rectangle 104"/>
            <p:cNvSpPr>
              <a:spLocks noChangeArrowheads="1"/>
            </p:cNvSpPr>
            <p:nvPr/>
          </p:nvSpPr>
          <p:spPr bwMode="auto">
            <a:xfrm>
              <a:off x="2640" y="3600"/>
              <a:ext cx="336" cy="336"/>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59849" name="Group 105"/>
            <p:cNvGrpSpPr/>
            <p:nvPr/>
          </p:nvGrpSpPr>
          <p:grpSpPr bwMode="auto">
            <a:xfrm>
              <a:off x="2640" y="3648"/>
              <a:ext cx="288" cy="296"/>
              <a:chOff x="912" y="3552"/>
              <a:chExt cx="288" cy="321"/>
            </a:xfrm>
          </p:grpSpPr>
          <p:sp>
            <p:nvSpPr>
              <p:cNvPr id="159850" name="Oval 106"/>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9851" name="Text Box 107"/>
              <p:cNvSpPr txBox="1">
                <a:spLocks noChangeArrowheads="1"/>
              </p:cNvSpPr>
              <p:nvPr/>
            </p:nvSpPr>
            <p:spPr bwMode="auto">
              <a:xfrm>
                <a:off x="942" y="3561"/>
                <a:ext cx="192" cy="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3</a:t>
                </a:r>
              </a:p>
            </p:txBody>
          </p:sp>
        </p:grpSp>
      </p:grpSp>
      <p:sp>
        <p:nvSpPr>
          <p:cNvPr id="159852" name="Line 108"/>
          <p:cNvSpPr>
            <a:spLocks noChangeShapeType="1"/>
          </p:cNvSpPr>
          <p:nvPr/>
        </p:nvSpPr>
        <p:spPr bwMode="auto">
          <a:xfrm>
            <a:off x="3036888" y="1327150"/>
            <a:ext cx="1587" cy="5715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9853" name="Line 109"/>
          <p:cNvSpPr>
            <a:spLocks noChangeShapeType="1"/>
          </p:cNvSpPr>
          <p:nvPr/>
        </p:nvSpPr>
        <p:spPr bwMode="auto">
          <a:xfrm>
            <a:off x="3276600" y="2209800"/>
            <a:ext cx="990600" cy="762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9854" name="Text Box 110"/>
          <p:cNvSpPr txBox="1">
            <a:spLocks noChangeArrowheads="1"/>
          </p:cNvSpPr>
          <p:nvPr/>
        </p:nvSpPr>
        <p:spPr bwMode="auto">
          <a:xfrm>
            <a:off x="2133600" y="890588"/>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q=</a:t>
            </a:r>
          </a:p>
        </p:txBody>
      </p:sp>
      <p:sp>
        <p:nvSpPr>
          <p:cNvPr id="159855" name="Text Box 111"/>
          <p:cNvSpPr txBox="1">
            <a:spLocks noChangeArrowheads="1"/>
          </p:cNvSpPr>
          <p:nvPr/>
        </p:nvSpPr>
        <p:spPr bwMode="auto">
          <a:xfrm>
            <a:off x="3657600" y="914400"/>
            <a:ext cx="17526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Output</a:t>
            </a:r>
            <a:r>
              <a:rPr lang="zh-CN" altLang="en-US" sz="2400"/>
              <a:t>：</a:t>
            </a:r>
            <a:r>
              <a:rPr lang="en-US" altLang="zh-CN" sz="2400"/>
              <a:t>29</a:t>
            </a:r>
          </a:p>
        </p:txBody>
      </p:sp>
      <p:sp>
        <p:nvSpPr>
          <p:cNvPr id="159856" name="Text Box 112"/>
          <p:cNvSpPr txBox="1">
            <a:spLocks noChangeArrowheads="1"/>
          </p:cNvSpPr>
          <p:nvPr/>
        </p:nvSpPr>
        <p:spPr bwMode="auto">
          <a:xfrm>
            <a:off x="5836920" y="3581400"/>
            <a:ext cx="2849880" cy="156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400">
                <a:latin typeface="Arial" panose="020B0604020202020204" pitchFamily="34" charset="0"/>
                <a:cs typeface="Arial" panose="020B0604020202020204" pitchFamily="34" charset="0"/>
              </a:rPr>
              <a:t>The "1" below each record represents the merge segment number.</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B510424F-96B9-4C00-88E0-F120333DC6C5}" type="slidenum">
              <a:rPr lang="en-US" altLang="zh-CN" smtClean="0"/>
              <a:t>143</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9790">
                                            <p:txEl>
                                              <p:pRg st="0" end="0"/>
                                            </p:txEl>
                                          </p:spTgt>
                                        </p:tgtEl>
                                        <p:attrNameLst>
                                          <p:attrName>style.visibility</p:attrName>
                                        </p:attrNameLst>
                                      </p:cBhvr>
                                      <p:to>
                                        <p:strVal val="visible"/>
                                      </p:to>
                                    </p:set>
                                    <p:animEffect transition="in" filter="dissolve">
                                      <p:cBhvr>
                                        <p:cTn id="7" dur="500"/>
                                        <p:tgtEl>
                                          <p:spTgt spid="15979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59802"/>
                                        </p:tgtEl>
                                        <p:attrNameLst>
                                          <p:attrName>style.visibility</p:attrName>
                                        </p:attrNameLst>
                                      </p:cBhvr>
                                      <p:to>
                                        <p:strVal val="visible"/>
                                      </p:to>
                                    </p:set>
                                    <p:animEffect transition="in" filter="dissolve">
                                      <p:cBhvr>
                                        <p:cTn id="12" dur="500"/>
                                        <p:tgtEl>
                                          <p:spTgt spid="15980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59796"/>
                                        </p:tgtEl>
                                        <p:attrNameLst>
                                          <p:attrName>style.visibility</p:attrName>
                                        </p:attrNameLst>
                                      </p:cBhvr>
                                      <p:to>
                                        <p:strVal val="visible"/>
                                      </p:to>
                                    </p:set>
                                    <p:animEffect transition="in" filter="dissolve">
                                      <p:cBhvr>
                                        <p:cTn id="17" dur="500"/>
                                        <p:tgtEl>
                                          <p:spTgt spid="15979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59791">
                                            <p:txEl>
                                              <p:pRg st="0" end="0"/>
                                            </p:txEl>
                                          </p:spTgt>
                                        </p:tgtEl>
                                        <p:attrNameLst>
                                          <p:attrName>style.visibility</p:attrName>
                                        </p:attrNameLst>
                                      </p:cBhvr>
                                      <p:to>
                                        <p:strVal val="visible"/>
                                      </p:to>
                                    </p:set>
                                    <p:animEffect transition="in" filter="dissolve">
                                      <p:cBhvr>
                                        <p:cTn id="22" dur="500"/>
                                        <p:tgtEl>
                                          <p:spTgt spid="159791">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59805"/>
                                        </p:tgtEl>
                                        <p:attrNameLst>
                                          <p:attrName>style.visibility</p:attrName>
                                        </p:attrNameLst>
                                      </p:cBhvr>
                                      <p:to>
                                        <p:strVal val="visible"/>
                                      </p:to>
                                    </p:set>
                                    <p:animEffect transition="in" filter="dissolve">
                                      <p:cBhvr>
                                        <p:cTn id="27" dur="500"/>
                                        <p:tgtEl>
                                          <p:spTgt spid="159805"/>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59839"/>
                                        </p:tgtEl>
                                        <p:attrNameLst>
                                          <p:attrName>style.visibility</p:attrName>
                                        </p:attrNameLst>
                                      </p:cBhvr>
                                      <p:to>
                                        <p:strVal val="visible"/>
                                      </p:to>
                                    </p:set>
                                    <p:animEffect transition="in" filter="dissolve">
                                      <p:cBhvr>
                                        <p:cTn id="32" dur="500"/>
                                        <p:tgtEl>
                                          <p:spTgt spid="159839"/>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59793">
                                            <p:txEl>
                                              <p:pRg st="0" end="0"/>
                                            </p:txEl>
                                          </p:spTgt>
                                        </p:tgtEl>
                                        <p:attrNameLst>
                                          <p:attrName>style.visibility</p:attrName>
                                        </p:attrNameLst>
                                      </p:cBhvr>
                                      <p:to>
                                        <p:strVal val="visible"/>
                                      </p:to>
                                    </p:set>
                                    <p:animEffect transition="in" filter="dissolve">
                                      <p:cBhvr>
                                        <p:cTn id="37" dur="500"/>
                                        <p:tgtEl>
                                          <p:spTgt spid="159793">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159808"/>
                                        </p:tgtEl>
                                        <p:attrNameLst>
                                          <p:attrName>style.visibility</p:attrName>
                                        </p:attrNameLst>
                                      </p:cBhvr>
                                      <p:to>
                                        <p:strVal val="visible"/>
                                      </p:to>
                                    </p:set>
                                    <p:animEffect transition="in" filter="dissolve">
                                      <p:cBhvr>
                                        <p:cTn id="42" dur="500"/>
                                        <p:tgtEl>
                                          <p:spTgt spid="159808"/>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159814"/>
                                        </p:tgtEl>
                                        <p:attrNameLst>
                                          <p:attrName>style.visibility</p:attrName>
                                        </p:attrNameLst>
                                      </p:cBhvr>
                                      <p:to>
                                        <p:strVal val="visible"/>
                                      </p:to>
                                    </p:set>
                                    <p:animEffect transition="in" filter="dissolve">
                                      <p:cBhvr>
                                        <p:cTn id="47" dur="500"/>
                                        <p:tgtEl>
                                          <p:spTgt spid="159814"/>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159792">
                                            <p:txEl>
                                              <p:pRg st="0" end="0"/>
                                            </p:txEl>
                                          </p:spTgt>
                                        </p:tgtEl>
                                        <p:attrNameLst>
                                          <p:attrName>style.visibility</p:attrName>
                                        </p:attrNameLst>
                                      </p:cBhvr>
                                      <p:to>
                                        <p:strVal val="visible"/>
                                      </p:to>
                                    </p:set>
                                    <p:animEffect transition="in" filter="dissolve">
                                      <p:cBhvr>
                                        <p:cTn id="52" dur="500"/>
                                        <p:tgtEl>
                                          <p:spTgt spid="159792">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159811"/>
                                        </p:tgtEl>
                                        <p:attrNameLst>
                                          <p:attrName>style.visibility</p:attrName>
                                        </p:attrNameLst>
                                      </p:cBhvr>
                                      <p:to>
                                        <p:strVal val="visible"/>
                                      </p:to>
                                    </p:set>
                                    <p:animEffect transition="in" filter="dissolve">
                                      <p:cBhvr>
                                        <p:cTn id="57" dur="500"/>
                                        <p:tgtEl>
                                          <p:spTgt spid="159811"/>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nodeType="clickEffect">
                                  <p:stCondLst>
                                    <p:cond delay="0"/>
                                  </p:stCondLst>
                                  <p:childTnLst>
                                    <p:set>
                                      <p:cBhvr>
                                        <p:cTn id="61" dur="1" fill="hold">
                                          <p:stCondLst>
                                            <p:cond delay="0"/>
                                          </p:stCondLst>
                                        </p:cTn>
                                        <p:tgtEl>
                                          <p:spTgt spid="159819"/>
                                        </p:tgtEl>
                                        <p:attrNameLst>
                                          <p:attrName>style.visibility</p:attrName>
                                        </p:attrNameLst>
                                      </p:cBhvr>
                                      <p:to>
                                        <p:strVal val="visible"/>
                                      </p:to>
                                    </p:set>
                                    <p:animEffect transition="in" filter="dissolve">
                                      <p:cBhvr>
                                        <p:cTn id="62" dur="500"/>
                                        <p:tgtEl>
                                          <p:spTgt spid="159819"/>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nodeType="clickEffect">
                                  <p:stCondLst>
                                    <p:cond delay="0"/>
                                  </p:stCondLst>
                                  <p:childTnLst>
                                    <p:set>
                                      <p:cBhvr>
                                        <p:cTn id="66" dur="1" fill="hold">
                                          <p:stCondLst>
                                            <p:cond delay="0"/>
                                          </p:stCondLst>
                                        </p:cTn>
                                        <p:tgtEl>
                                          <p:spTgt spid="159847"/>
                                        </p:tgtEl>
                                        <p:attrNameLst>
                                          <p:attrName>style.visibility</p:attrName>
                                        </p:attrNameLst>
                                      </p:cBhvr>
                                      <p:to>
                                        <p:strVal val="visible"/>
                                      </p:to>
                                    </p:set>
                                    <p:animEffect transition="in" filter="dissolve">
                                      <p:cBhvr>
                                        <p:cTn id="67" dur="500"/>
                                        <p:tgtEl>
                                          <p:spTgt spid="159847"/>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159794">
                                            <p:txEl>
                                              <p:pRg st="0" end="0"/>
                                            </p:txEl>
                                          </p:spTgt>
                                        </p:tgtEl>
                                        <p:attrNameLst>
                                          <p:attrName>style.visibility</p:attrName>
                                        </p:attrNameLst>
                                      </p:cBhvr>
                                      <p:to>
                                        <p:strVal val="visible"/>
                                      </p:to>
                                    </p:set>
                                    <p:animEffect transition="in" filter="dissolve">
                                      <p:cBhvr>
                                        <p:cTn id="72" dur="500"/>
                                        <p:tgtEl>
                                          <p:spTgt spid="159794">
                                            <p:txEl>
                                              <p:pRg st="0" end="0"/>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9" presetClass="entr" presetSubtype="0" fill="hold" nodeType="clickEffect">
                                  <p:stCondLst>
                                    <p:cond delay="0"/>
                                  </p:stCondLst>
                                  <p:childTnLst>
                                    <p:set>
                                      <p:cBhvr>
                                        <p:cTn id="76" dur="1" fill="hold">
                                          <p:stCondLst>
                                            <p:cond delay="0"/>
                                          </p:stCondLst>
                                        </p:cTn>
                                        <p:tgtEl>
                                          <p:spTgt spid="159826"/>
                                        </p:tgtEl>
                                        <p:attrNameLst>
                                          <p:attrName>style.visibility</p:attrName>
                                        </p:attrNameLst>
                                      </p:cBhvr>
                                      <p:to>
                                        <p:strVal val="visible"/>
                                      </p:to>
                                    </p:set>
                                    <p:animEffect transition="in" filter="dissolve">
                                      <p:cBhvr>
                                        <p:cTn id="77" dur="500"/>
                                        <p:tgtEl>
                                          <p:spTgt spid="159826"/>
                                        </p:tgtEl>
                                      </p:cBhvr>
                                    </p:animEffect>
                                  </p:childTnLst>
                                </p:cTn>
                              </p:par>
                            </p:childTnLst>
                          </p:cTn>
                        </p:par>
                      </p:childTnLst>
                    </p:cTn>
                  </p:par>
                  <p:par>
                    <p:cTn id="78" fill="hold">
                      <p:stCondLst>
                        <p:cond delay="indefinite"/>
                      </p:stCondLst>
                      <p:childTnLst>
                        <p:par>
                          <p:cTn id="79" fill="hold">
                            <p:stCondLst>
                              <p:cond delay="0"/>
                            </p:stCondLst>
                            <p:childTnLst>
                              <p:par>
                                <p:cTn id="80" presetID="9" presetClass="entr" presetSubtype="0" fill="hold" nodeType="clickEffect">
                                  <p:stCondLst>
                                    <p:cond delay="0"/>
                                  </p:stCondLst>
                                  <p:childTnLst>
                                    <p:set>
                                      <p:cBhvr>
                                        <p:cTn id="81" dur="1" fill="hold">
                                          <p:stCondLst>
                                            <p:cond delay="0"/>
                                          </p:stCondLst>
                                        </p:cTn>
                                        <p:tgtEl>
                                          <p:spTgt spid="159832"/>
                                        </p:tgtEl>
                                        <p:attrNameLst>
                                          <p:attrName>style.visibility</p:attrName>
                                        </p:attrNameLst>
                                      </p:cBhvr>
                                      <p:to>
                                        <p:strVal val="visible"/>
                                      </p:to>
                                    </p:set>
                                    <p:animEffect transition="in" filter="dissolve">
                                      <p:cBhvr>
                                        <p:cTn id="82" dur="500"/>
                                        <p:tgtEl>
                                          <p:spTgt spid="159832"/>
                                        </p:tgtEl>
                                      </p:cBhvr>
                                    </p:animEffect>
                                  </p:childTnLst>
                                </p:cTn>
                              </p:par>
                            </p:childTnLst>
                          </p:cTn>
                        </p:par>
                      </p:childTnLst>
                    </p:cTn>
                  </p:par>
                  <p:par>
                    <p:cTn id="83" fill="hold">
                      <p:stCondLst>
                        <p:cond delay="indefinite"/>
                      </p:stCondLst>
                      <p:childTnLst>
                        <p:par>
                          <p:cTn id="84" fill="hold">
                            <p:stCondLst>
                              <p:cond delay="0"/>
                            </p:stCondLst>
                            <p:childTnLst>
                              <p:par>
                                <p:cTn id="85" presetID="9" presetClass="entr" presetSubtype="0" fill="hold" grpId="0" nodeType="clickEffect">
                                  <p:stCondLst>
                                    <p:cond delay="0"/>
                                  </p:stCondLst>
                                  <p:childTnLst>
                                    <p:set>
                                      <p:cBhvr>
                                        <p:cTn id="86" dur="1" fill="hold">
                                          <p:stCondLst>
                                            <p:cond delay="0"/>
                                          </p:stCondLst>
                                        </p:cTn>
                                        <p:tgtEl>
                                          <p:spTgt spid="159795">
                                            <p:txEl>
                                              <p:pRg st="0" end="0"/>
                                            </p:txEl>
                                          </p:spTgt>
                                        </p:tgtEl>
                                        <p:attrNameLst>
                                          <p:attrName>style.visibility</p:attrName>
                                        </p:attrNameLst>
                                      </p:cBhvr>
                                      <p:to>
                                        <p:strVal val="visible"/>
                                      </p:to>
                                    </p:set>
                                    <p:animEffect transition="in" filter="dissolve">
                                      <p:cBhvr>
                                        <p:cTn id="87" dur="500"/>
                                        <p:tgtEl>
                                          <p:spTgt spid="159795">
                                            <p:txEl>
                                              <p:pRg st="0" end="0"/>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9" presetClass="entr" presetSubtype="0" fill="hold" nodeType="clickEffect">
                                  <p:stCondLst>
                                    <p:cond delay="0"/>
                                  </p:stCondLst>
                                  <p:childTnLst>
                                    <p:set>
                                      <p:cBhvr>
                                        <p:cTn id="91" dur="1" fill="hold">
                                          <p:stCondLst>
                                            <p:cond delay="0"/>
                                          </p:stCondLst>
                                        </p:cTn>
                                        <p:tgtEl>
                                          <p:spTgt spid="159829"/>
                                        </p:tgtEl>
                                        <p:attrNameLst>
                                          <p:attrName>style.visibility</p:attrName>
                                        </p:attrNameLst>
                                      </p:cBhvr>
                                      <p:to>
                                        <p:strVal val="visible"/>
                                      </p:to>
                                    </p:set>
                                    <p:animEffect transition="in" filter="dissolve">
                                      <p:cBhvr>
                                        <p:cTn id="92" dur="500"/>
                                        <p:tgtEl>
                                          <p:spTgt spid="159829"/>
                                        </p:tgtEl>
                                      </p:cBhvr>
                                    </p:animEffec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499"/>
                                          </p:stCondLst>
                                        </p:cTn>
                                        <p:tgtEl>
                                          <p:spTgt spid="159854">
                                            <p:txEl>
                                              <p:pRg st="0" end="0"/>
                                            </p:txEl>
                                          </p:spTgt>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9" presetClass="entr" presetSubtype="0" fill="hold" grpId="0" nodeType="clickEffect">
                                  <p:stCondLst>
                                    <p:cond delay="0"/>
                                  </p:stCondLst>
                                  <p:childTnLst>
                                    <p:set>
                                      <p:cBhvr>
                                        <p:cTn id="100" dur="1" fill="hold">
                                          <p:stCondLst>
                                            <p:cond delay="0"/>
                                          </p:stCondLst>
                                        </p:cTn>
                                        <p:tgtEl>
                                          <p:spTgt spid="159855">
                                            <p:txEl>
                                              <p:pRg st="0" end="0"/>
                                            </p:txEl>
                                          </p:spTgt>
                                        </p:tgtEl>
                                        <p:attrNameLst>
                                          <p:attrName>style.visibility</p:attrName>
                                        </p:attrNameLst>
                                      </p:cBhvr>
                                      <p:to>
                                        <p:strVal val="visible"/>
                                      </p:to>
                                    </p:set>
                                    <p:animEffect transition="in" filter="dissolve">
                                      <p:cBhvr>
                                        <p:cTn id="101" dur="500"/>
                                        <p:tgtEl>
                                          <p:spTgt spid="15985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90" grpId="0" build="p" autoUpdateAnimBg="0"/>
      <p:bldP spid="159791" grpId="0" build="p" autoUpdateAnimBg="0"/>
      <p:bldP spid="159792" grpId="0" build="p" autoUpdateAnimBg="0"/>
      <p:bldP spid="159793" grpId="0" build="p" autoUpdateAnimBg="0"/>
      <p:bldP spid="159794" grpId="0" build="p" autoUpdateAnimBg="0"/>
      <p:bldP spid="159795" grpId="0" build="p" autoUpdateAnimBg="0"/>
      <p:bldP spid="159854" grpId="0" build="p" autoUpdateAnimBg="0"/>
      <p:bldP spid="159855" grpId="0" build="p" autoUpdateAnimBg="0"/>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0770" name="Group 2"/>
          <p:cNvGrpSpPr/>
          <p:nvPr/>
        </p:nvGrpSpPr>
        <p:grpSpPr bwMode="auto">
          <a:xfrm>
            <a:off x="228600" y="890588"/>
            <a:ext cx="4876800" cy="4657725"/>
            <a:chOff x="144" y="561"/>
            <a:chExt cx="3072" cy="2934"/>
          </a:xfrm>
        </p:grpSpPr>
        <p:grpSp>
          <p:nvGrpSpPr>
            <p:cNvPr id="160771" name="Group 3"/>
            <p:cNvGrpSpPr/>
            <p:nvPr/>
          </p:nvGrpSpPr>
          <p:grpSpPr bwMode="auto">
            <a:xfrm>
              <a:off x="477" y="2383"/>
              <a:ext cx="280" cy="297"/>
              <a:chOff x="912" y="3552"/>
              <a:chExt cx="288" cy="299"/>
            </a:xfrm>
          </p:grpSpPr>
          <p:sp>
            <p:nvSpPr>
              <p:cNvPr id="160772" name="Oval 4"/>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773" name="Text Box 5"/>
              <p:cNvSpPr txBox="1">
                <a:spLocks noChangeArrowheads="1"/>
              </p:cNvSpPr>
              <p:nvPr/>
            </p:nvSpPr>
            <p:spPr bwMode="auto">
              <a:xfrm>
                <a:off x="942" y="3561"/>
                <a:ext cx="192"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a:t>
                </a:r>
              </a:p>
            </p:txBody>
          </p:sp>
        </p:grpSp>
        <p:grpSp>
          <p:nvGrpSpPr>
            <p:cNvPr id="160774" name="Group 6"/>
            <p:cNvGrpSpPr/>
            <p:nvPr/>
          </p:nvGrpSpPr>
          <p:grpSpPr bwMode="auto">
            <a:xfrm>
              <a:off x="1028" y="1834"/>
              <a:ext cx="280" cy="297"/>
              <a:chOff x="912" y="3552"/>
              <a:chExt cx="288" cy="299"/>
            </a:xfrm>
          </p:grpSpPr>
          <p:sp>
            <p:nvSpPr>
              <p:cNvPr id="160775" name="Oval 7"/>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776" name="Text Box 8"/>
              <p:cNvSpPr txBox="1">
                <a:spLocks noChangeArrowheads="1"/>
              </p:cNvSpPr>
              <p:nvPr/>
            </p:nvSpPr>
            <p:spPr bwMode="auto">
              <a:xfrm>
                <a:off x="942" y="3561"/>
                <a:ext cx="192"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4</a:t>
                </a:r>
              </a:p>
            </p:txBody>
          </p:sp>
        </p:grpSp>
        <p:grpSp>
          <p:nvGrpSpPr>
            <p:cNvPr id="160777" name="Group 9"/>
            <p:cNvGrpSpPr/>
            <p:nvPr/>
          </p:nvGrpSpPr>
          <p:grpSpPr bwMode="auto">
            <a:xfrm>
              <a:off x="2544" y="1819"/>
              <a:ext cx="280" cy="297"/>
              <a:chOff x="912" y="3552"/>
              <a:chExt cx="288" cy="299"/>
            </a:xfrm>
          </p:grpSpPr>
          <p:sp>
            <p:nvSpPr>
              <p:cNvPr id="160778" name="Oval 10"/>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779" name="Text Box 11"/>
              <p:cNvSpPr txBox="1">
                <a:spLocks noChangeArrowheads="1"/>
              </p:cNvSpPr>
              <p:nvPr/>
            </p:nvSpPr>
            <p:spPr bwMode="auto">
              <a:xfrm>
                <a:off x="942" y="3561"/>
                <a:ext cx="192"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a:t>
                </a:r>
              </a:p>
            </p:txBody>
          </p:sp>
        </p:grpSp>
        <p:grpSp>
          <p:nvGrpSpPr>
            <p:cNvPr id="160780" name="Group 12"/>
            <p:cNvGrpSpPr/>
            <p:nvPr/>
          </p:nvGrpSpPr>
          <p:grpSpPr bwMode="auto">
            <a:xfrm>
              <a:off x="1769" y="1195"/>
              <a:ext cx="280" cy="297"/>
              <a:chOff x="912" y="3552"/>
              <a:chExt cx="288" cy="299"/>
            </a:xfrm>
          </p:grpSpPr>
          <p:sp>
            <p:nvSpPr>
              <p:cNvPr id="160781" name="Oval 13"/>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782" name="Text Box 14"/>
              <p:cNvSpPr txBox="1">
                <a:spLocks noChangeArrowheads="1"/>
              </p:cNvSpPr>
              <p:nvPr/>
            </p:nvSpPr>
            <p:spPr bwMode="auto">
              <a:xfrm>
                <a:off x="942" y="3561"/>
                <a:ext cx="192"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3</a:t>
                </a:r>
              </a:p>
            </p:txBody>
          </p:sp>
        </p:grpSp>
        <p:sp>
          <p:nvSpPr>
            <p:cNvPr id="160783" name="Text Box 15"/>
            <p:cNvSpPr txBox="1">
              <a:spLocks noChangeArrowheads="1"/>
            </p:cNvSpPr>
            <p:nvPr/>
          </p:nvSpPr>
          <p:spPr bwMode="auto">
            <a:xfrm>
              <a:off x="2208" y="2112"/>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solidFill>
                    <a:srgbClr val="990000"/>
                  </a:solidFill>
                </a:rPr>
                <a:t>0</a:t>
              </a:r>
            </a:p>
          </p:txBody>
        </p:sp>
        <p:grpSp>
          <p:nvGrpSpPr>
            <p:cNvPr id="160784" name="Group 16"/>
            <p:cNvGrpSpPr/>
            <p:nvPr/>
          </p:nvGrpSpPr>
          <p:grpSpPr bwMode="auto">
            <a:xfrm>
              <a:off x="1248" y="2876"/>
              <a:ext cx="375" cy="583"/>
              <a:chOff x="1350" y="2906"/>
              <a:chExt cx="375" cy="583"/>
            </a:xfrm>
          </p:grpSpPr>
          <p:sp>
            <p:nvSpPr>
              <p:cNvPr id="160785" name="Text Box 17"/>
              <p:cNvSpPr txBox="1">
                <a:spLocks noChangeArrowheads="1"/>
              </p:cNvSpPr>
              <p:nvPr/>
            </p:nvSpPr>
            <p:spPr bwMode="auto">
              <a:xfrm>
                <a:off x="1352" y="2906"/>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49</a:t>
                </a:r>
              </a:p>
            </p:txBody>
          </p:sp>
          <p:sp>
            <p:nvSpPr>
              <p:cNvPr id="160786" name="Text Box 18"/>
              <p:cNvSpPr txBox="1">
                <a:spLocks noChangeArrowheads="1"/>
              </p:cNvSpPr>
              <p:nvPr/>
            </p:nvSpPr>
            <p:spPr bwMode="auto">
              <a:xfrm>
                <a:off x="1350" y="3195"/>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a:t>
                </a:r>
              </a:p>
            </p:txBody>
          </p:sp>
        </p:grpSp>
        <p:grpSp>
          <p:nvGrpSpPr>
            <p:cNvPr id="160787" name="Group 19"/>
            <p:cNvGrpSpPr/>
            <p:nvPr/>
          </p:nvGrpSpPr>
          <p:grpSpPr bwMode="auto">
            <a:xfrm>
              <a:off x="1530" y="2400"/>
              <a:ext cx="280" cy="297"/>
              <a:chOff x="912" y="3552"/>
              <a:chExt cx="288" cy="299"/>
            </a:xfrm>
          </p:grpSpPr>
          <p:sp>
            <p:nvSpPr>
              <p:cNvPr id="160788" name="Oval 20"/>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789" name="Text Box 21"/>
              <p:cNvSpPr txBox="1">
                <a:spLocks noChangeArrowheads="1"/>
              </p:cNvSpPr>
              <p:nvPr/>
            </p:nvSpPr>
            <p:spPr bwMode="auto">
              <a:xfrm>
                <a:off x="942" y="3561"/>
                <a:ext cx="192"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5</a:t>
                </a:r>
              </a:p>
            </p:txBody>
          </p:sp>
        </p:grpSp>
        <p:grpSp>
          <p:nvGrpSpPr>
            <p:cNvPr id="160790" name="Group 22"/>
            <p:cNvGrpSpPr/>
            <p:nvPr/>
          </p:nvGrpSpPr>
          <p:grpSpPr bwMode="auto">
            <a:xfrm>
              <a:off x="1731" y="2880"/>
              <a:ext cx="375" cy="583"/>
              <a:chOff x="1350" y="2906"/>
              <a:chExt cx="375" cy="583"/>
            </a:xfrm>
          </p:grpSpPr>
          <p:sp>
            <p:nvSpPr>
              <p:cNvPr id="160791" name="Text Box 23"/>
              <p:cNvSpPr txBox="1">
                <a:spLocks noChangeArrowheads="1"/>
              </p:cNvSpPr>
              <p:nvPr/>
            </p:nvSpPr>
            <p:spPr bwMode="auto">
              <a:xfrm>
                <a:off x="1352" y="2906"/>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51</a:t>
                </a:r>
              </a:p>
            </p:txBody>
          </p:sp>
          <p:sp>
            <p:nvSpPr>
              <p:cNvPr id="160792" name="Text Box 24"/>
              <p:cNvSpPr txBox="1">
                <a:spLocks noChangeArrowheads="1"/>
              </p:cNvSpPr>
              <p:nvPr/>
            </p:nvSpPr>
            <p:spPr bwMode="auto">
              <a:xfrm>
                <a:off x="1350" y="3195"/>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a:t>
                </a:r>
              </a:p>
            </p:txBody>
          </p:sp>
        </p:grpSp>
        <p:sp>
          <p:nvSpPr>
            <p:cNvPr id="160793" name="Line 25"/>
            <p:cNvSpPr>
              <a:spLocks noChangeShapeType="1"/>
            </p:cNvSpPr>
            <p:nvPr/>
          </p:nvSpPr>
          <p:spPr bwMode="auto">
            <a:xfrm flipH="1">
              <a:off x="1434" y="2592"/>
              <a:ext cx="96"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60794" name="Group 26"/>
            <p:cNvGrpSpPr/>
            <p:nvPr/>
          </p:nvGrpSpPr>
          <p:grpSpPr bwMode="auto">
            <a:xfrm>
              <a:off x="720" y="2898"/>
              <a:ext cx="375" cy="583"/>
              <a:chOff x="1350" y="2906"/>
              <a:chExt cx="375" cy="583"/>
            </a:xfrm>
          </p:grpSpPr>
          <p:sp>
            <p:nvSpPr>
              <p:cNvPr id="160795" name="Text Box 27"/>
              <p:cNvSpPr txBox="1">
                <a:spLocks noChangeArrowheads="1"/>
              </p:cNvSpPr>
              <p:nvPr/>
            </p:nvSpPr>
            <p:spPr bwMode="auto">
              <a:xfrm>
                <a:off x="1352" y="2906"/>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39</a:t>
                </a:r>
              </a:p>
            </p:txBody>
          </p:sp>
          <p:sp>
            <p:nvSpPr>
              <p:cNvPr id="160796" name="Text Box 28"/>
              <p:cNvSpPr txBox="1">
                <a:spLocks noChangeArrowheads="1"/>
              </p:cNvSpPr>
              <p:nvPr/>
            </p:nvSpPr>
            <p:spPr bwMode="auto">
              <a:xfrm>
                <a:off x="1350" y="3195"/>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a:t>
                </a:r>
              </a:p>
            </p:txBody>
          </p:sp>
        </p:grpSp>
        <p:grpSp>
          <p:nvGrpSpPr>
            <p:cNvPr id="160797" name="Group 29"/>
            <p:cNvGrpSpPr/>
            <p:nvPr/>
          </p:nvGrpSpPr>
          <p:grpSpPr bwMode="auto">
            <a:xfrm>
              <a:off x="144" y="2912"/>
              <a:ext cx="375" cy="583"/>
              <a:chOff x="1350" y="2906"/>
              <a:chExt cx="375" cy="583"/>
            </a:xfrm>
          </p:grpSpPr>
          <p:sp>
            <p:nvSpPr>
              <p:cNvPr id="160798" name="Text Box 30"/>
              <p:cNvSpPr txBox="1">
                <a:spLocks noChangeArrowheads="1"/>
              </p:cNvSpPr>
              <p:nvPr/>
            </p:nvSpPr>
            <p:spPr bwMode="auto">
              <a:xfrm>
                <a:off x="1352" y="2906"/>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46</a:t>
                </a:r>
              </a:p>
            </p:txBody>
          </p:sp>
          <p:sp>
            <p:nvSpPr>
              <p:cNvPr id="160799" name="Text Box 31"/>
              <p:cNvSpPr txBox="1">
                <a:spLocks noChangeArrowheads="1"/>
              </p:cNvSpPr>
              <p:nvPr/>
            </p:nvSpPr>
            <p:spPr bwMode="auto">
              <a:xfrm>
                <a:off x="1350" y="3195"/>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a:t>
                </a:r>
              </a:p>
            </p:txBody>
          </p:sp>
        </p:grpSp>
        <p:grpSp>
          <p:nvGrpSpPr>
            <p:cNvPr id="160800" name="Group 32"/>
            <p:cNvGrpSpPr/>
            <p:nvPr/>
          </p:nvGrpSpPr>
          <p:grpSpPr bwMode="auto">
            <a:xfrm>
              <a:off x="2262" y="2348"/>
              <a:ext cx="375" cy="583"/>
              <a:chOff x="1350" y="2906"/>
              <a:chExt cx="375" cy="583"/>
            </a:xfrm>
          </p:grpSpPr>
          <p:sp>
            <p:nvSpPr>
              <p:cNvPr id="160801" name="Text Box 33"/>
              <p:cNvSpPr txBox="1">
                <a:spLocks noChangeArrowheads="1"/>
              </p:cNvSpPr>
              <p:nvPr/>
            </p:nvSpPr>
            <p:spPr bwMode="auto">
              <a:xfrm>
                <a:off x="1352" y="2906"/>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29</a:t>
                </a:r>
              </a:p>
            </p:txBody>
          </p:sp>
          <p:sp>
            <p:nvSpPr>
              <p:cNvPr id="160802" name="Text Box 34"/>
              <p:cNvSpPr txBox="1">
                <a:spLocks noChangeArrowheads="1"/>
              </p:cNvSpPr>
              <p:nvPr/>
            </p:nvSpPr>
            <p:spPr bwMode="auto">
              <a:xfrm>
                <a:off x="1350" y="3195"/>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a:t>
                </a:r>
              </a:p>
            </p:txBody>
          </p:sp>
        </p:grpSp>
        <p:grpSp>
          <p:nvGrpSpPr>
            <p:cNvPr id="160803" name="Group 35"/>
            <p:cNvGrpSpPr/>
            <p:nvPr/>
          </p:nvGrpSpPr>
          <p:grpSpPr bwMode="auto">
            <a:xfrm>
              <a:off x="2745" y="2352"/>
              <a:ext cx="375" cy="583"/>
              <a:chOff x="1350" y="2906"/>
              <a:chExt cx="375" cy="583"/>
            </a:xfrm>
          </p:grpSpPr>
          <p:sp>
            <p:nvSpPr>
              <p:cNvPr id="160804" name="Text Box 36"/>
              <p:cNvSpPr txBox="1">
                <a:spLocks noChangeArrowheads="1"/>
              </p:cNvSpPr>
              <p:nvPr/>
            </p:nvSpPr>
            <p:spPr bwMode="auto">
              <a:xfrm>
                <a:off x="1352" y="2906"/>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38</a:t>
                </a:r>
              </a:p>
            </p:txBody>
          </p:sp>
          <p:sp>
            <p:nvSpPr>
              <p:cNvPr id="160805" name="Text Box 37"/>
              <p:cNvSpPr txBox="1">
                <a:spLocks noChangeArrowheads="1"/>
              </p:cNvSpPr>
              <p:nvPr/>
            </p:nvSpPr>
            <p:spPr bwMode="auto">
              <a:xfrm>
                <a:off x="1350" y="3195"/>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a:t>
                </a:r>
              </a:p>
            </p:txBody>
          </p:sp>
        </p:grpSp>
        <p:sp>
          <p:nvSpPr>
            <p:cNvPr id="160806" name="Text Box 38"/>
            <p:cNvSpPr txBox="1">
              <a:spLocks noChangeArrowheads="1"/>
            </p:cNvSpPr>
            <p:nvPr/>
          </p:nvSpPr>
          <p:spPr bwMode="auto">
            <a:xfrm>
              <a:off x="2928" y="2112"/>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solidFill>
                    <a:srgbClr val="990000"/>
                  </a:solidFill>
                </a:rPr>
                <a:t>1</a:t>
              </a:r>
            </a:p>
          </p:txBody>
        </p:sp>
        <p:sp>
          <p:nvSpPr>
            <p:cNvPr id="160807" name="Text Box 39"/>
            <p:cNvSpPr txBox="1">
              <a:spLocks noChangeArrowheads="1"/>
            </p:cNvSpPr>
            <p:nvPr/>
          </p:nvSpPr>
          <p:spPr bwMode="auto">
            <a:xfrm>
              <a:off x="1230" y="2622"/>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solidFill>
                    <a:srgbClr val="990000"/>
                  </a:solidFill>
                </a:rPr>
                <a:t>4</a:t>
              </a:r>
            </a:p>
          </p:txBody>
        </p:sp>
        <p:sp>
          <p:nvSpPr>
            <p:cNvPr id="160808" name="Text Box 40"/>
            <p:cNvSpPr txBox="1">
              <a:spLocks noChangeArrowheads="1"/>
            </p:cNvSpPr>
            <p:nvPr/>
          </p:nvSpPr>
          <p:spPr bwMode="auto">
            <a:xfrm>
              <a:off x="1860" y="2625"/>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solidFill>
                    <a:srgbClr val="990000"/>
                  </a:solidFill>
                </a:rPr>
                <a:t>5</a:t>
              </a:r>
            </a:p>
          </p:txBody>
        </p:sp>
        <p:sp>
          <p:nvSpPr>
            <p:cNvPr id="160809" name="Text Box 41"/>
            <p:cNvSpPr txBox="1">
              <a:spLocks noChangeArrowheads="1"/>
            </p:cNvSpPr>
            <p:nvPr/>
          </p:nvSpPr>
          <p:spPr bwMode="auto">
            <a:xfrm>
              <a:off x="828" y="2655"/>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solidFill>
                    <a:srgbClr val="990000"/>
                  </a:solidFill>
                </a:rPr>
                <a:t>3</a:t>
              </a:r>
            </a:p>
          </p:txBody>
        </p:sp>
        <p:sp>
          <p:nvSpPr>
            <p:cNvPr id="160810" name="Text Box 42"/>
            <p:cNvSpPr txBox="1">
              <a:spLocks noChangeArrowheads="1"/>
            </p:cNvSpPr>
            <p:nvPr/>
          </p:nvSpPr>
          <p:spPr bwMode="auto">
            <a:xfrm>
              <a:off x="159" y="2655"/>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solidFill>
                    <a:srgbClr val="990000"/>
                  </a:solidFill>
                </a:rPr>
                <a:t>2</a:t>
              </a:r>
            </a:p>
          </p:txBody>
        </p:sp>
        <p:sp>
          <p:nvSpPr>
            <p:cNvPr id="160811" name="Line 43"/>
            <p:cNvSpPr>
              <a:spLocks noChangeShapeType="1"/>
            </p:cNvSpPr>
            <p:nvPr/>
          </p:nvSpPr>
          <p:spPr bwMode="auto">
            <a:xfrm>
              <a:off x="1825" y="2592"/>
              <a:ext cx="89"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0812" name="Line 44"/>
            <p:cNvSpPr>
              <a:spLocks noChangeShapeType="1"/>
            </p:cNvSpPr>
            <p:nvPr/>
          </p:nvSpPr>
          <p:spPr bwMode="auto">
            <a:xfrm flipH="1">
              <a:off x="369" y="2622"/>
              <a:ext cx="96"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0813" name="Line 45"/>
            <p:cNvSpPr>
              <a:spLocks noChangeShapeType="1"/>
            </p:cNvSpPr>
            <p:nvPr/>
          </p:nvSpPr>
          <p:spPr bwMode="auto">
            <a:xfrm>
              <a:off x="760" y="2622"/>
              <a:ext cx="89"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0814" name="Line 46"/>
            <p:cNvSpPr>
              <a:spLocks noChangeShapeType="1"/>
            </p:cNvSpPr>
            <p:nvPr/>
          </p:nvSpPr>
          <p:spPr bwMode="auto">
            <a:xfrm flipH="1">
              <a:off x="2448" y="2064"/>
              <a:ext cx="96"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0815" name="Line 47"/>
            <p:cNvSpPr>
              <a:spLocks noChangeShapeType="1"/>
            </p:cNvSpPr>
            <p:nvPr/>
          </p:nvSpPr>
          <p:spPr bwMode="auto">
            <a:xfrm>
              <a:off x="2839" y="2064"/>
              <a:ext cx="89"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0816" name="Line 48"/>
            <p:cNvSpPr>
              <a:spLocks noChangeShapeType="1"/>
            </p:cNvSpPr>
            <p:nvPr/>
          </p:nvSpPr>
          <p:spPr bwMode="auto">
            <a:xfrm>
              <a:off x="1321" y="2014"/>
              <a:ext cx="311" cy="38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0817" name="Line 49"/>
            <p:cNvSpPr>
              <a:spLocks noChangeShapeType="1"/>
            </p:cNvSpPr>
            <p:nvPr/>
          </p:nvSpPr>
          <p:spPr bwMode="auto">
            <a:xfrm flipH="1">
              <a:off x="1163" y="1392"/>
              <a:ext cx="613" cy="42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0818" name="Line 50"/>
            <p:cNvSpPr>
              <a:spLocks noChangeShapeType="1"/>
            </p:cNvSpPr>
            <p:nvPr/>
          </p:nvSpPr>
          <p:spPr bwMode="auto">
            <a:xfrm flipH="1">
              <a:off x="624" y="2016"/>
              <a:ext cx="381" cy="3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0819" name="Line 51"/>
            <p:cNvSpPr>
              <a:spLocks noChangeShapeType="1"/>
            </p:cNvSpPr>
            <p:nvPr/>
          </p:nvSpPr>
          <p:spPr bwMode="auto">
            <a:xfrm>
              <a:off x="1913" y="836"/>
              <a:ext cx="1" cy="36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0820" name="Line 52"/>
            <p:cNvSpPr>
              <a:spLocks noChangeShapeType="1"/>
            </p:cNvSpPr>
            <p:nvPr/>
          </p:nvSpPr>
          <p:spPr bwMode="auto">
            <a:xfrm>
              <a:off x="2064" y="1392"/>
              <a:ext cx="624" cy="43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0821" name="Text Box 53"/>
            <p:cNvSpPr txBox="1">
              <a:spLocks noChangeArrowheads="1"/>
            </p:cNvSpPr>
            <p:nvPr/>
          </p:nvSpPr>
          <p:spPr bwMode="auto">
            <a:xfrm>
              <a:off x="1344" y="561"/>
              <a:ext cx="5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q=</a:t>
              </a:r>
            </a:p>
          </p:txBody>
        </p:sp>
        <p:grpSp>
          <p:nvGrpSpPr>
            <p:cNvPr id="160822" name="Group 54"/>
            <p:cNvGrpSpPr/>
            <p:nvPr/>
          </p:nvGrpSpPr>
          <p:grpSpPr bwMode="auto">
            <a:xfrm>
              <a:off x="1743" y="576"/>
              <a:ext cx="336" cy="288"/>
              <a:chOff x="1776" y="558"/>
              <a:chExt cx="336" cy="288"/>
            </a:xfrm>
          </p:grpSpPr>
          <p:sp useBgFill="1">
            <p:nvSpPr>
              <p:cNvPr id="160823" name="Rectangle 55"/>
              <p:cNvSpPr>
                <a:spLocks noChangeArrowheads="1"/>
              </p:cNvSpPr>
              <p:nvPr/>
            </p:nvSpPr>
            <p:spPr bwMode="auto">
              <a:xfrm>
                <a:off x="1776" y="576"/>
                <a:ext cx="336" cy="240"/>
              </a:xfrm>
              <a:prstGeom prst="rect">
                <a:avLst/>
              </a:prstGeom>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824" name="Text Box 56"/>
              <p:cNvSpPr txBox="1">
                <a:spLocks noChangeArrowheads="1"/>
              </p:cNvSpPr>
              <p:nvPr/>
            </p:nvSpPr>
            <p:spPr bwMode="auto">
              <a:xfrm>
                <a:off x="1795" y="558"/>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0</a:t>
                </a:r>
              </a:p>
            </p:txBody>
          </p:sp>
        </p:grpSp>
      </p:grpSp>
      <p:grpSp>
        <p:nvGrpSpPr>
          <p:cNvPr id="160825" name="Group 57"/>
          <p:cNvGrpSpPr/>
          <p:nvPr/>
        </p:nvGrpSpPr>
        <p:grpSpPr bwMode="auto">
          <a:xfrm>
            <a:off x="3586163" y="4191000"/>
            <a:ext cx="533400" cy="457200"/>
            <a:chOff x="2352" y="3150"/>
            <a:chExt cx="336" cy="288"/>
          </a:xfrm>
        </p:grpSpPr>
        <p:sp useBgFill="1">
          <p:nvSpPr>
            <p:cNvPr id="160826" name="Rectangle 58"/>
            <p:cNvSpPr>
              <a:spLocks noChangeArrowheads="1"/>
            </p:cNvSpPr>
            <p:nvPr/>
          </p:nvSpPr>
          <p:spPr bwMode="auto">
            <a:xfrm>
              <a:off x="2400" y="3216"/>
              <a:ext cx="288" cy="192"/>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827" name="Text Box 59"/>
            <p:cNvSpPr txBox="1">
              <a:spLocks noChangeArrowheads="1"/>
            </p:cNvSpPr>
            <p:nvPr/>
          </p:nvSpPr>
          <p:spPr bwMode="auto">
            <a:xfrm>
              <a:off x="2352" y="3150"/>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a:t>
              </a:r>
            </a:p>
          </p:txBody>
        </p:sp>
      </p:grpSp>
      <p:grpSp>
        <p:nvGrpSpPr>
          <p:cNvPr id="160828" name="Group 60"/>
          <p:cNvGrpSpPr/>
          <p:nvPr/>
        </p:nvGrpSpPr>
        <p:grpSpPr bwMode="auto">
          <a:xfrm>
            <a:off x="3581400" y="3733800"/>
            <a:ext cx="533400" cy="457200"/>
            <a:chOff x="4560" y="2688"/>
            <a:chExt cx="336" cy="288"/>
          </a:xfrm>
        </p:grpSpPr>
        <p:sp useBgFill="1">
          <p:nvSpPr>
            <p:cNvPr id="160829" name="Rectangle 61"/>
            <p:cNvSpPr>
              <a:spLocks noChangeArrowheads="1"/>
            </p:cNvSpPr>
            <p:nvPr/>
          </p:nvSpPr>
          <p:spPr bwMode="auto">
            <a:xfrm>
              <a:off x="4593" y="2706"/>
              <a:ext cx="288" cy="24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830" name="Text Box 62"/>
            <p:cNvSpPr txBox="1">
              <a:spLocks noChangeArrowheads="1"/>
            </p:cNvSpPr>
            <p:nvPr/>
          </p:nvSpPr>
          <p:spPr bwMode="auto">
            <a:xfrm>
              <a:off x="4560" y="2688"/>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14</a:t>
              </a:r>
            </a:p>
          </p:txBody>
        </p:sp>
      </p:grpSp>
      <p:grpSp>
        <p:nvGrpSpPr>
          <p:cNvPr id="160831" name="Group 63"/>
          <p:cNvGrpSpPr/>
          <p:nvPr/>
        </p:nvGrpSpPr>
        <p:grpSpPr bwMode="auto">
          <a:xfrm>
            <a:off x="4043363" y="2843213"/>
            <a:ext cx="533400" cy="546100"/>
            <a:chOff x="2640" y="3600"/>
            <a:chExt cx="336" cy="344"/>
          </a:xfrm>
        </p:grpSpPr>
        <p:sp useBgFill="1">
          <p:nvSpPr>
            <p:cNvPr id="160832" name="Rectangle 64"/>
            <p:cNvSpPr>
              <a:spLocks noChangeArrowheads="1"/>
            </p:cNvSpPr>
            <p:nvPr/>
          </p:nvSpPr>
          <p:spPr bwMode="auto">
            <a:xfrm>
              <a:off x="2640" y="3600"/>
              <a:ext cx="336" cy="336"/>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60833" name="Group 65"/>
            <p:cNvGrpSpPr/>
            <p:nvPr/>
          </p:nvGrpSpPr>
          <p:grpSpPr bwMode="auto">
            <a:xfrm>
              <a:off x="2640" y="3648"/>
              <a:ext cx="288" cy="296"/>
              <a:chOff x="912" y="3552"/>
              <a:chExt cx="288" cy="321"/>
            </a:xfrm>
          </p:grpSpPr>
          <p:sp>
            <p:nvSpPr>
              <p:cNvPr id="160834" name="Oval 66"/>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835" name="Text Box 67"/>
              <p:cNvSpPr txBox="1">
                <a:spLocks noChangeArrowheads="1"/>
              </p:cNvSpPr>
              <p:nvPr/>
            </p:nvSpPr>
            <p:spPr bwMode="auto">
              <a:xfrm>
                <a:off x="942" y="3561"/>
                <a:ext cx="192" cy="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0</a:t>
                </a:r>
              </a:p>
            </p:txBody>
          </p:sp>
        </p:grpSp>
      </p:grpSp>
      <p:grpSp>
        <p:nvGrpSpPr>
          <p:cNvPr id="160836" name="Group 68"/>
          <p:cNvGrpSpPr/>
          <p:nvPr/>
        </p:nvGrpSpPr>
        <p:grpSpPr bwMode="auto">
          <a:xfrm>
            <a:off x="2771775" y="909638"/>
            <a:ext cx="533400" cy="457200"/>
            <a:chOff x="1776" y="558"/>
            <a:chExt cx="336" cy="288"/>
          </a:xfrm>
        </p:grpSpPr>
        <p:sp useBgFill="1">
          <p:nvSpPr>
            <p:cNvPr id="160837" name="Rectangle 69"/>
            <p:cNvSpPr>
              <a:spLocks noChangeArrowheads="1"/>
            </p:cNvSpPr>
            <p:nvPr/>
          </p:nvSpPr>
          <p:spPr bwMode="auto">
            <a:xfrm>
              <a:off x="1776" y="576"/>
              <a:ext cx="336" cy="240"/>
            </a:xfrm>
            <a:prstGeom prst="rect">
              <a:avLst/>
            </a:prstGeom>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838" name="Text Box 70"/>
            <p:cNvSpPr txBox="1">
              <a:spLocks noChangeArrowheads="1"/>
            </p:cNvSpPr>
            <p:nvPr/>
          </p:nvSpPr>
          <p:spPr bwMode="auto">
            <a:xfrm>
              <a:off x="1795" y="558"/>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a:t>
              </a:r>
            </a:p>
          </p:txBody>
        </p:sp>
      </p:grpSp>
      <p:sp>
        <p:nvSpPr>
          <p:cNvPr id="160839" name="Text Box 71"/>
          <p:cNvSpPr txBox="1">
            <a:spLocks noChangeArrowheads="1"/>
          </p:cNvSpPr>
          <p:nvPr/>
        </p:nvSpPr>
        <p:spPr bwMode="auto">
          <a:xfrm>
            <a:off x="3657600" y="914400"/>
            <a:ext cx="15240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400">
                <a:sym typeface="+mn-ea"/>
              </a:rPr>
              <a:t>output</a:t>
            </a:r>
            <a:r>
              <a:rPr lang="en-US" altLang="zh-CN" sz="2400">
                <a:sym typeface="+mn-ea"/>
              </a:rPr>
              <a:t>: </a:t>
            </a:r>
            <a:r>
              <a:rPr lang="en-US" altLang="zh-CN" sz="2400"/>
              <a:t>29</a:t>
            </a:r>
          </a:p>
        </p:txBody>
      </p:sp>
      <p:sp>
        <p:nvSpPr>
          <p:cNvPr id="160840" name="Text Box 72"/>
          <p:cNvSpPr txBox="1">
            <a:spLocks noChangeArrowheads="1"/>
          </p:cNvSpPr>
          <p:nvPr/>
        </p:nvSpPr>
        <p:spPr bwMode="auto">
          <a:xfrm>
            <a:off x="5029200" y="914400"/>
            <a:ext cx="68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38</a:t>
            </a:r>
          </a:p>
        </p:txBody>
      </p:sp>
      <p:sp>
        <p:nvSpPr>
          <p:cNvPr id="160841" name="Text Box 73"/>
          <p:cNvSpPr txBox="1">
            <a:spLocks noChangeArrowheads="1"/>
          </p:cNvSpPr>
          <p:nvPr/>
        </p:nvSpPr>
        <p:spPr bwMode="auto">
          <a:xfrm>
            <a:off x="6324600" y="3733800"/>
            <a:ext cx="2133600" cy="21228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sym typeface="+mn-ea"/>
              </a:rPr>
              <a:t>The 2 below represents the merge section number</a:t>
            </a:r>
            <a:endParaRPr lang="zh-CN" altLang="en-US" sz="2400"/>
          </a:p>
          <a:p>
            <a:pPr>
              <a:spcBef>
                <a:spcPct val="50000"/>
              </a:spcBef>
            </a:pPr>
            <a:endParaRPr lang="en-US" altLang="zh-CN" sz="2400"/>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B510424F-96B9-4C00-88E0-F120333DC6C5}" type="slidenum">
              <a:rPr lang="en-US" altLang="zh-CN" smtClean="0"/>
              <a:t>144</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608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nodeType="clickEffect">
                                  <p:stCondLst>
                                    <p:cond delay="0"/>
                                  </p:stCondLst>
                                  <p:childTnLst>
                                    <p:set>
                                      <p:cBhvr>
                                        <p:cTn id="10" dur="1" fill="hold">
                                          <p:stCondLst>
                                            <p:cond delay="0"/>
                                          </p:stCondLst>
                                        </p:cTn>
                                        <p:tgtEl>
                                          <p:spTgt spid="160825"/>
                                        </p:tgtEl>
                                        <p:attrNameLst>
                                          <p:attrName>style.visibility</p:attrName>
                                        </p:attrNameLst>
                                      </p:cBhvr>
                                      <p:to>
                                        <p:strVal val="visible"/>
                                      </p:to>
                                    </p:set>
                                    <p:animEffect transition="in" filter="dissolve">
                                      <p:cBhvr>
                                        <p:cTn id="11" dur="500"/>
                                        <p:tgtEl>
                                          <p:spTgt spid="160825"/>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160831"/>
                                        </p:tgtEl>
                                        <p:attrNameLst>
                                          <p:attrName>style.visibility</p:attrName>
                                        </p:attrNameLst>
                                      </p:cBhvr>
                                      <p:to>
                                        <p:strVal val="visible"/>
                                      </p:to>
                                    </p:set>
                                    <p:animEffect transition="in" filter="dissolve">
                                      <p:cBhvr>
                                        <p:cTn id="16" dur="500"/>
                                        <p:tgtEl>
                                          <p:spTgt spid="160831"/>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160836"/>
                                        </p:tgtEl>
                                        <p:attrNameLst>
                                          <p:attrName>style.visibility</p:attrName>
                                        </p:attrNameLst>
                                      </p:cBhvr>
                                      <p:to>
                                        <p:strVal val="visible"/>
                                      </p:to>
                                    </p:set>
                                    <p:animEffect transition="in" filter="dissolve">
                                      <p:cBhvr>
                                        <p:cTn id="21" dur="500"/>
                                        <p:tgtEl>
                                          <p:spTgt spid="160836"/>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60840">
                                            <p:txEl>
                                              <p:pRg st="0" end="0"/>
                                            </p:txEl>
                                          </p:spTgt>
                                        </p:tgtEl>
                                        <p:attrNameLst>
                                          <p:attrName>style.visibility</p:attrName>
                                        </p:attrNameLst>
                                      </p:cBhvr>
                                      <p:to>
                                        <p:strVal val="visible"/>
                                      </p:to>
                                    </p:set>
                                    <p:animEffect transition="in" filter="dissolve">
                                      <p:cBhvr>
                                        <p:cTn id="26" dur="500"/>
                                        <p:tgtEl>
                                          <p:spTgt spid="16084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840" grpId="0" build="p" autoUpdateAnimBg="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1794" name="Group 2"/>
          <p:cNvGrpSpPr/>
          <p:nvPr/>
        </p:nvGrpSpPr>
        <p:grpSpPr bwMode="auto">
          <a:xfrm>
            <a:off x="228600" y="890588"/>
            <a:ext cx="4876800" cy="4657725"/>
            <a:chOff x="144" y="561"/>
            <a:chExt cx="3072" cy="2934"/>
          </a:xfrm>
        </p:grpSpPr>
        <p:grpSp>
          <p:nvGrpSpPr>
            <p:cNvPr id="161795" name="Group 3"/>
            <p:cNvGrpSpPr/>
            <p:nvPr/>
          </p:nvGrpSpPr>
          <p:grpSpPr bwMode="auto">
            <a:xfrm>
              <a:off x="477" y="2383"/>
              <a:ext cx="280" cy="297"/>
              <a:chOff x="912" y="3552"/>
              <a:chExt cx="288" cy="299"/>
            </a:xfrm>
          </p:grpSpPr>
          <p:sp>
            <p:nvSpPr>
              <p:cNvPr id="161796" name="Oval 4"/>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1797" name="Text Box 5"/>
              <p:cNvSpPr txBox="1">
                <a:spLocks noChangeArrowheads="1"/>
              </p:cNvSpPr>
              <p:nvPr/>
            </p:nvSpPr>
            <p:spPr bwMode="auto">
              <a:xfrm>
                <a:off x="942" y="3561"/>
                <a:ext cx="192"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a:t>
                </a:r>
              </a:p>
            </p:txBody>
          </p:sp>
        </p:grpSp>
        <p:grpSp>
          <p:nvGrpSpPr>
            <p:cNvPr id="161798" name="Group 6"/>
            <p:cNvGrpSpPr/>
            <p:nvPr/>
          </p:nvGrpSpPr>
          <p:grpSpPr bwMode="auto">
            <a:xfrm>
              <a:off x="1028" y="1834"/>
              <a:ext cx="280" cy="297"/>
              <a:chOff x="912" y="3552"/>
              <a:chExt cx="288" cy="299"/>
            </a:xfrm>
          </p:grpSpPr>
          <p:sp>
            <p:nvSpPr>
              <p:cNvPr id="161799" name="Oval 7"/>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1800" name="Text Box 8"/>
              <p:cNvSpPr txBox="1">
                <a:spLocks noChangeArrowheads="1"/>
              </p:cNvSpPr>
              <p:nvPr/>
            </p:nvSpPr>
            <p:spPr bwMode="auto">
              <a:xfrm>
                <a:off x="942" y="3561"/>
                <a:ext cx="192"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4</a:t>
                </a:r>
              </a:p>
            </p:txBody>
          </p:sp>
        </p:grpSp>
        <p:grpSp>
          <p:nvGrpSpPr>
            <p:cNvPr id="161801" name="Group 9"/>
            <p:cNvGrpSpPr/>
            <p:nvPr/>
          </p:nvGrpSpPr>
          <p:grpSpPr bwMode="auto">
            <a:xfrm>
              <a:off x="2544" y="1819"/>
              <a:ext cx="280" cy="297"/>
              <a:chOff x="912" y="3552"/>
              <a:chExt cx="288" cy="299"/>
            </a:xfrm>
          </p:grpSpPr>
          <p:sp>
            <p:nvSpPr>
              <p:cNvPr id="161802" name="Oval 10"/>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1803" name="Text Box 11"/>
              <p:cNvSpPr txBox="1">
                <a:spLocks noChangeArrowheads="1"/>
              </p:cNvSpPr>
              <p:nvPr/>
            </p:nvSpPr>
            <p:spPr bwMode="auto">
              <a:xfrm>
                <a:off x="942" y="3561"/>
                <a:ext cx="192"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0</a:t>
                </a:r>
              </a:p>
            </p:txBody>
          </p:sp>
        </p:grpSp>
        <p:grpSp>
          <p:nvGrpSpPr>
            <p:cNvPr id="161804" name="Group 12"/>
            <p:cNvGrpSpPr/>
            <p:nvPr/>
          </p:nvGrpSpPr>
          <p:grpSpPr bwMode="auto">
            <a:xfrm>
              <a:off x="1769" y="1195"/>
              <a:ext cx="280" cy="297"/>
              <a:chOff x="912" y="3552"/>
              <a:chExt cx="288" cy="299"/>
            </a:xfrm>
          </p:grpSpPr>
          <p:sp>
            <p:nvSpPr>
              <p:cNvPr id="161805" name="Oval 13"/>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1806" name="Text Box 14"/>
              <p:cNvSpPr txBox="1">
                <a:spLocks noChangeArrowheads="1"/>
              </p:cNvSpPr>
              <p:nvPr/>
            </p:nvSpPr>
            <p:spPr bwMode="auto">
              <a:xfrm>
                <a:off x="942" y="3561"/>
                <a:ext cx="192"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3</a:t>
                </a:r>
              </a:p>
            </p:txBody>
          </p:sp>
        </p:grpSp>
        <p:sp>
          <p:nvSpPr>
            <p:cNvPr id="161807" name="Text Box 15"/>
            <p:cNvSpPr txBox="1">
              <a:spLocks noChangeArrowheads="1"/>
            </p:cNvSpPr>
            <p:nvPr/>
          </p:nvSpPr>
          <p:spPr bwMode="auto">
            <a:xfrm>
              <a:off x="2208" y="2112"/>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solidFill>
                    <a:srgbClr val="990000"/>
                  </a:solidFill>
                </a:rPr>
                <a:t>0</a:t>
              </a:r>
            </a:p>
          </p:txBody>
        </p:sp>
        <p:grpSp>
          <p:nvGrpSpPr>
            <p:cNvPr id="161808" name="Group 16"/>
            <p:cNvGrpSpPr/>
            <p:nvPr/>
          </p:nvGrpSpPr>
          <p:grpSpPr bwMode="auto">
            <a:xfrm>
              <a:off x="1248" y="2876"/>
              <a:ext cx="375" cy="583"/>
              <a:chOff x="1350" y="2906"/>
              <a:chExt cx="375" cy="583"/>
            </a:xfrm>
          </p:grpSpPr>
          <p:sp>
            <p:nvSpPr>
              <p:cNvPr id="161809" name="Text Box 17"/>
              <p:cNvSpPr txBox="1">
                <a:spLocks noChangeArrowheads="1"/>
              </p:cNvSpPr>
              <p:nvPr/>
            </p:nvSpPr>
            <p:spPr bwMode="auto">
              <a:xfrm>
                <a:off x="1352" y="2906"/>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49</a:t>
                </a:r>
              </a:p>
            </p:txBody>
          </p:sp>
          <p:sp>
            <p:nvSpPr>
              <p:cNvPr id="161810" name="Text Box 18"/>
              <p:cNvSpPr txBox="1">
                <a:spLocks noChangeArrowheads="1"/>
              </p:cNvSpPr>
              <p:nvPr/>
            </p:nvSpPr>
            <p:spPr bwMode="auto">
              <a:xfrm>
                <a:off x="1350" y="3195"/>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a:t>
                </a:r>
              </a:p>
            </p:txBody>
          </p:sp>
        </p:grpSp>
        <p:grpSp>
          <p:nvGrpSpPr>
            <p:cNvPr id="161811" name="Group 19"/>
            <p:cNvGrpSpPr/>
            <p:nvPr/>
          </p:nvGrpSpPr>
          <p:grpSpPr bwMode="auto">
            <a:xfrm>
              <a:off x="1530" y="2400"/>
              <a:ext cx="280" cy="297"/>
              <a:chOff x="912" y="3552"/>
              <a:chExt cx="288" cy="299"/>
            </a:xfrm>
          </p:grpSpPr>
          <p:sp>
            <p:nvSpPr>
              <p:cNvPr id="161812" name="Oval 20"/>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1813" name="Text Box 21"/>
              <p:cNvSpPr txBox="1">
                <a:spLocks noChangeArrowheads="1"/>
              </p:cNvSpPr>
              <p:nvPr/>
            </p:nvSpPr>
            <p:spPr bwMode="auto">
              <a:xfrm>
                <a:off x="942" y="3561"/>
                <a:ext cx="192"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5</a:t>
                </a:r>
              </a:p>
            </p:txBody>
          </p:sp>
        </p:grpSp>
        <p:grpSp>
          <p:nvGrpSpPr>
            <p:cNvPr id="161814" name="Group 22"/>
            <p:cNvGrpSpPr/>
            <p:nvPr/>
          </p:nvGrpSpPr>
          <p:grpSpPr bwMode="auto">
            <a:xfrm>
              <a:off x="1731" y="2880"/>
              <a:ext cx="375" cy="583"/>
              <a:chOff x="1350" y="2906"/>
              <a:chExt cx="375" cy="583"/>
            </a:xfrm>
          </p:grpSpPr>
          <p:sp>
            <p:nvSpPr>
              <p:cNvPr id="161815" name="Text Box 23"/>
              <p:cNvSpPr txBox="1">
                <a:spLocks noChangeArrowheads="1"/>
              </p:cNvSpPr>
              <p:nvPr/>
            </p:nvSpPr>
            <p:spPr bwMode="auto">
              <a:xfrm>
                <a:off x="1352" y="2906"/>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51</a:t>
                </a:r>
              </a:p>
            </p:txBody>
          </p:sp>
          <p:sp>
            <p:nvSpPr>
              <p:cNvPr id="161816" name="Text Box 24"/>
              <p:cNvSpPr txBox="1">
                <a:spLocks noChangeArrowheads="1"/>
              </p:cNvSpPr>
              <p:nvPr/>
            </p:nvSpPr>
            <p:spPr bwMode="auto">
              <a:xfrm>
                <a:off x="1350" y="3195"/>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a:t>
                </a:r>
              </a:p>
            </p:txBody>
          </p:sp>
        </p:grpSp>
        <p:sp>
          <p:nvSpPr>
            <p:cNvPr id="161817" name="Line 25"/>
            <p:cNvSpPr>
              <a:spLocks noChangeShapeType="1"/>
            </p:cNvSpPr>
            <p:nvPr/>
          </p:nvSpPr>
          <p:spPr bwMode="auto">
            <a:xfrm flipH="1">
              <a:off x="1434" y="2592"/>
              <a:ext cx="96"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61818" name="Group 26"/>
            <p:cNvGrpSpPr/>
            <p:nvPr/>
          </p:nvGrpSpPr>
          <p:grpSpPr bwMode="auto">
            <a:xfrm>
              <a:off x="720" y="2898"/>
              <a:ext cx="375" cy="583"/>
              <a:chOff x="1350" y="2906"/>
              <a:chExt cx="375" cy="583"/>
            </a:xfrm>
          </p:grpSpPr>
          <p:sp>
            <p:nvSpPr>
              <p:cNvPr id="161819" name="Text Box 27"/>
              <p:cNvSpPr txBox="1">
                <a:spLocks noChangeArrowheads="1"/>
              </p:cNvSpPr>
              <p:nvPr/>
            </p:nvSpPr>
            <p:spPr bwMode="auto">
              <a:xfrm>
                <a:off x="1352" y="2906"/>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39</a:t>
                </a:r>
              </a:p>
            </p:txBody>
          </p:sp>
          <p:sp>
            <p:nvSpPr>
              <p:cNvPr id="161820" name="Text Box 28"/>
              <p:cNvSpPr txBox="1">
                <a:spLocks noChangeArrowheads="1"/>
              </p:cNvSpPr>
              <p:nvPr/>
            </p:nvSpPr>
            <p:spPr bwMode="auto">
              <a:xfrm>
                <a:off x="1350" y="3195"/>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a:t>
                </a:r>
              </a:p>
            </p:txBody>
          </p:sp>
        </p:grpSp>
        <p:grpSp>
          <p:nvGrpSpPr>
            <p:cNvPr id="161821" name="Group 29"/>
            <p:cNvGrpSpPr/>
            <p:nvPr/>
          </p:nvGrpSpPr>
          <p:grpSpPr bwMode="auto">
            <a:xfrm>
              <a:off x="144" y="2912"/>
              <a:ext cx="375" cy="583"/>
              <a:chOff x="1350" y="2906"/>
              <a:chExt cx="375" cy="583"/>
            </a:xfrm>
          </p:grpSpPr>
          <p:sp>
            <p:nvSpPr>
              <p:cNvPr id="161822" name="Text Box 30"/>
              <p:cNvSpPr txBox="1">
                <a:spLocks noChangeArrowheads="1"/>
              </p:cNvSpPr>
              <p:nvPr/>
            </p:nvSpPr>
            <p:spPr bwMode="auto">
              <a:xfrm>
                <a:off x="1352" y="2906"/>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46</a:t>
                </a:r>
              </a:p>
            </p:txBody>
          </p:sp>
          <p:sp>
            <p:nvSpPr>
              <p:cNvPr id="161823" name="Text Box 31"/>
              <p:cNvSpPr txBox="1">
                <a:spLocks noChangeArrowheads="1"/>
              </p:cNvSpPr>
              <p:nvPr/>
            </p:nvSpPr>
            <p:spPr bwMode="auto">
              <a:xfrm>
                <a:off x="1350" y="3195"/>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a:t>
                </a:r>
              </a:p>
            </p:txBody>
          </p:sp>
        </p:grpSp>
        <p:grpSp>
          <p:nvGrpSpPr>
            <p:cNvPr id="161824" name="Group 32"/>
            <p:cNvGrpSpPr/>
            <p:nvPr/>
          </p:nvGrpSpPr>
          <p:grpSpPr bwMode="auto">
            <a:xfrm>
              <a:off x="2262" y="2348"/>
              <a:ext cx="375" cy="583"/>
              <a:chOff x="1350" y="2906"/>
              <a:chExt cx="375" cy="583"/>
            </a:xfrm>
          </p:grpSpPr>
          <p:sp>
            <p:nvSpPr>
              <p:cNvPr id="161825" name="Text Box 33"/>
              <p:cNvSpPr txBox="1">
                <a:spLocks noChangeArrowheads="1"/>
              </p:cNvSpPr>
              <p:nvPr/>
            </p:nvSpPr>
            <p:spPr bwMode="auto">
              <a:xfrm>
                <a:off x="1352" y="2906"/>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14</a:t>
                </a:r>
              </a:p>
            </p:txBody>
          </p:sp>
          <p:sp>
            <p:nvSpPr>
              <p:cNvPr id="161826" name="Text Box 34"/>
              <p:cNvSpPr txBox="1">
                <a:spLocks noChangeArrowheads="1"/>
              </p:cNvSpPr>
              <p:nvPr/>
            </p:nvSpPr>
            <p:spPr bwMode="auto">
              <a:xfrm>
                <a:off x="1350" y="3195"/>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a:t>
                </a:r>
              </a:p>
            </p:txBody>
          </p:sp>
        </p:grpSp>
        <p:grpSp>
          <p:nvGrpSpPr>
            <p:cNvPr id="161827" name="Group 35"/>
            <p:cNvGrpSpPr/>
            <p:nvPr/>
          </p:nvGrpSpPr>
          <p:grpSpPr bwMode="auto">
            <a:xfrm>
              <a:off x="2745" y="2352"/>
              <a:ext cx="375" cy="583"/>
              <a:chOff x="1350" y="2906"/>
              <a:chExt cx="375" cy="583"/>
            </a:xfrm>
          </p:grpSpPr>
          <p:sp>
            <p:nvSpPr>
              <p:cNvPr id="161828" name="Text Box 36"/>
              <p:cNvSpPr txBox="1">
                <a:spLocks noChangeArrowheads="1"/>
              </p:cNvSpPr>
              <p:nvPr/>
            </p:nvSpPr>
            <p:spPr bwMode="auto">
              <a:xfrm>
                <a:off x="1352" y="2906"/>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38</a:t>
                </a:r>
              </a:p>
            </p:txBody>
          </p:sp>
          <p:sp>
            <p:nvSpPr>
              <p:cNvPr id="161829" name="Text Box 37"/>
              <p:cNvSpPr txBox="1">
                <a:spLocks noChangeArrowheads="1"/>
              </p:cNvSpPr>
              <p:nvPr/>
            </p:nvSpPr>
            <p:spPr bwMode="auto">
              <a:xfrm>
                <a:off x="1350" y="3195"/>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a:t>
                </a:r>
              </a:p>
            </p:txBody>
          </p:sp>
        </p:grpSp>
        <p:sp>
          <p:nvSpPr>
            <p:cNvPr id="161830" name="Text Box 38"/>
            <p:cNvSpPr txBox="1">
              <a:spLocks noChangeArrowheads="1"/>
            </p:cNvSpPr>
            <p:nvPr/>
          </p:nvSpPr>
          <p:spPr bwMode="auto">
            <a:xfrm>
              <a:off x="2928" y="2112"/>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solidFill>
                    <a:srgbClr val="990000"/>
                  </a:solidFill>
                </a:rPr>
                <a:t>1</a:t>
              </a:r>
            </a:p>
          </p:txBody>
        </p:sp>
        <p:sp>
          <p:nvSpPr>
            <p:cNvPr id="161831" name="Text Box 39"/>
            <p:cNvSpPr txBox="1">
              <a:spLocks noChangeArrowheads="1"/>
            </p:cNvSpPr>
            <p:nvPr/>
          </p:nvSpPr>
          <p:spPr bwMode="auto">
            <a:xfrm>
              <a:off x="1230" y="2622"/>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solidFill>
                    <a:srgbClr val="990000"/>
                  </a:solidFill>
                </a:rPr>
                <a:t>4</a:t>
              </a:r>
            </a:p>
          </p:txBody>
        </p:sp>
        <p:sp>
          <p:nvSpPr>
            <p:cNvPr id="161832" name="Text Box 40"/>
            <p:cNvSpPr txBox="1">
              <a:spLocks noChangeArrowheads="1"/>
            </p:cNvSpPr>
            <p:nvPr/>
          </p:nvSpPr>
          <p:spPr bwMode="auto">
            <a:xfrm>
              <a:off x="1860" y="2625"/>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solidFill>
                    <a:srgbClr val="990000"/>
                  </a:solidFill>
                </a:rPr>
                <a:t>5</a:t>
              </a:r>
            </a:p>
          </p:txBody>
        </p:sp>
        <p:sp>
          <p:nvSpPr>
            <p:cNvPr id="161833" name="Text Box 41"/>
            <p:cNvSpPr txBox="1">
              <a:spLocks noChangeArrowheads="1"/>
            </p:cNvSpPr>
            <p:nvPr/>
          </p:nvSpPr>
          <p:spPr bwMode="auto">
            <a:xfrm>
              <a:off x="828" y="2655"/>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solidFill>
                    <a:srgbClr val="990000"/>
                  </a:solidFill>
                </a:rPr>
                <a:t>3</a:t>
              </a:r>
            </a:p>
          </p:txBody>
        </p:sp>
        <p:sp>
          <p:nvSpPr>
            <p:cNvPr id="161834" name="Text Box 42"/>
            <p:cNvSpPr txBox="1">
              <a:spLocks noChangeArrowheads="1"/>
            </p:cNvSpPr>
            <p:nvPr/>
          </p:nvSpPr>
          <p:spPr bwMode="auto">
            <a:xfrm>
              <a:off x="159" y="2655"/>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solidFill>
                    <a:srgbClr val="990000"/>
                  </a:solidFill>
                </a:rPr>
                <a:t>2</a:t>
              </a:r>
            </a:p>
          </p:txBody>
        </p:sp>
        <p:sp>
          <p:nvSpPr>
            <p:cNvPr id="161835" name="Line 43"/>
            <p:cNvSpPr>
              <a:spLocks noChangeShapeType="1"/>
            </p:cNvSpPr>
            <p:nvPr/>
          </p:nvSpPr>
          <p:spPr bwMode="auto">
            <a:xfrm>
              <a:off x="1825" y="2592"/>
              <a:ext cx="89"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1836" name="Line 44"/>
            <p:cNvSpPr>
              <a:spLocks noChangeShapeType="1"/>
            </p:cNvSpPr>
            <p:nvPr/>
          </p:nvSpPr>
          <p:spPr bwMode="auto">
            <a:xfrm flipH="1">
              <a:off x="369" y="2622"/>
              <a:ext cx="96"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1837" name="Line 45"/>
            <p:cNvSpPr>
              <a:spLocks noChangeShapeType="1"/>
            </p:cNvSpPr>
            <p:nvPr/>
          </p:nvSpPr>
          <p:spPr bwMode="auto">
            <a:xfrm>
              <a:off x="760" y="2622"/>
              <a:ext cx="89"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1838" name="Line 46"/>
            <p:cNvSpPr>
              <a:spLocks noChangeShapeType="1"/>
            </p:cNvSpPr>
            <p:nvPr/>
          </p:nvSpPr>
          <p:spPr bwMode="auto">
            <a:xfrm flipH="1">
              <a:off x="2448" y="2064"/>
              <a:ext cx="96"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1839" name="Line 47"/>
            <p:cNvSpPr>
              <a:spLocks noChangeShapeType="1"/>
            </p:cNvSpPr>
            <p:nvPr/>
          </p:nvSpPr>
          <p:spPr bwMode="auto">
            <a:xfrm>
              <a:off x="2839" y="2064"/>
              <a:ext cx="89"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1840" name="Line 48"/>
            <p:cNvSpPr>
              <a:spLocks noChangeShapeType="1"/>
            </p:cNvSpPr>
            <p:nvPr/>
          </p:nvSpPr>
          <p:spPr bwMode="auto">
            <a:xfrm>
              <a:off x="1321" y="2014"/>
              <a:ext cx="311" cy="38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1841" name="Line 49"/>
            <p:cNvSpPr>
              <a:spLocks noChangeShapeType="1"/>
            </p:cNvSpPr>
            <p:nvPr/>
          </p:nvSpPr>
          <p:spPr bwMode="auto">
            <a:xfrm flipH="1">
              <a:off x="1163" y="1392"/>
              <a:ext cx="613" cy="42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1842" name="Line 50"/>
            <p:cNvSpPr>
              <a:spLocks noChangeShapeType="1"/>
            </p:cNvSpPr>
            <p:nvPr/>
          </p:nvSpPr>
          <p:spPr bwMode="auto">
            <a:xfrm flipH="1">
              <a:off x="624" y="2016"/>
              <a:ext cx="381" cy="3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1843" name="Line 51"/>
            <p:cNvSpPr>
              <a:spLocks noChangeShapeType="1"/>
            </p:cNvSpPr>
            <p:nvPr/>
          </p:nvSpPr>
          <p:spPr bwMode="auto">
            <a:xfrm>
              <a:off x="1913" y="836"/>
              <a:ext cx="1" cy="36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1844" name="Line 52"/>
            <p:cNvSpPr>
              <a:spLocks noChangeShapeType="1"/>
            </p:cNvSpPr>
            <p:nvPr/>
          </p:nvSpPr>
          <p:spPr bwMode="auto">
            <a:xfrm>
              <a:off x="2064" y="1392"/>
              <a:ext cx="624" cy="43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1845" name="Text Box 53"/>
            <p:cNvSpPr txBox="1">
              <a:spLocks noChangeArrowheads="1"/>
            </p:cNvSpPr>
            <p:nvPr/>
          </p:nvSpPr>
          <p:spPr bwMode="auto">
            <a:xfrm>
              <a:off x="1344" y="561"/>
              <a:ext cx="5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q=</a:t>
              </a:r>
            </a:p>
          </p:txBody>
        </p:sp>
        <p:grpSp>
          <p:nvGrpSpPr>
            <p:cNvPr id="161846" name="Group 54"/>
            <p:cNvGrpSpPr/>
            <p:nvPr/>
          </p:nvGrpSpPr>
          <p:grpSpPr bwMode="auto">
            <a:xfrm>
              <a:off x="1743" y="576"/>
              <a:ext cx="336" cy="288"/>
              <a:chOff x="1776" y="558"/>
              <a:chExt cx="336" cy="288"/>
            </a:xfrm>
          </p:grpSpPr>
          <p:sp useBgFill="1">
            <p:nvSpPr>
              <p:cNvPr id="161847" name="Rectangle 55"/>
              <p:cNvSpPr>
                <a:spLocks noChangeArrowheads="1"/>
              </p:cNvSpPr>
              <p:nvPr/>
            </p:nvSpPr>
            <p:spPr bwMode="auto">
              <a:xfrm>
                <a:off x="1776" y="576"/>
                <a:ext cx="336" cy="240"/>
              </a:xfrm>
              <a:prstGeom prst="rect">
                <a:avLst/>
              </a:prstGeom>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1848" name="Text Box 56"/>
              <p:cNvSpPr txBox="1">
                <a:spLocks noChangeArrowheads="1"/>
              </p:cNvSpPr>
              <p:nvPr/>
            </p:nvSpPr>
            <p:spPr bwMode="auto">
              <a:xfrm>
                <a:off x="1795" y="558"/>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a:t>
                </a:r>
              </a:p>
            </p:txBody>
          </p:sp>
        </p:grpSp>
      </p:grpSp>
      <p:grpSp>
        <p:nvGrpSpPr>
          <p:cNvPr id="161849" name="Group 57"/>
          <p:cNvGrpSpPr/>
          <p:nvPr/>
        </p:nvGrpSpPr>
        <p:grpSpPr bwMode="auto">
          <a:xfrm>
            <a:off x="7848600" y="5029200"/>
            <a:ext cx="533400" cy="457200"/>
            <a:chOff x="2352" y="3150"/>
            <a:chExt cx="336" cy="288"/>
          </a:xfrm>
        </p:grpSpPr>
        <p:sp useBgFill="1">
          <p:nvSpPr>
            <p:cNvPr id="161850" name="Rectangle 58"/>
            <p:cNvSpPr>
              <a:spLocks noChangeArrowheads="1"/>
            </p:cNvSpPr>
            <p:nvPr/>
          </p:nvSpPr>
          <p:spPr bwMode="auto">
            <a:xfrm>
              <a:off x="2400" y="3216"/>
              <a:ext cx="288" cy="192"/>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1851" name="Text Box 59"/>
            <p:cNvSpPr txBox="1">
              <a:spLocks noChangeArrowheads="1"/>
            </p:cNvSpPr>
            <p:nvPr/>
          </p:nvSpPr>
          <p:spPr bwMode="auto">
            <a:xfrm>
              <a:off x="2352" y="3150"/>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a:t>
              </a:r>
            </a:p>
          </p:txBody>
        </p:sp>
      </p:grpSp>
      <p:grpSp>
        <p:nvGrpSpPr>
          <p:cNvPr id="161852" name="Group 60"/>
          <p:cNvGrpSpPr/>
          <p:nvPr/>
        </p:nvGrpSpPr>
        <p:grpSpPr bwMode="auto">
          <a:xfrm>
            <a:off x="2814638" y="1852613"/>
            <a:ext cx="533400" cy="546100"/>
            <a:chOff x="2640" y="3600"/>
            <a:chExt cx="336" cy="344"/>
          </a:xfrm>
        </p:grpSpPr>
        <p:sp useBgFill="1">
          <p:nvSpPr>
            <p:cNvPr id="161853" name="Rectangle 61"/>
            <p:cNvSpPr>
              <a:spLocks noChangeArrowheads="1"/>
            </p:cNvSpPr>
            <p:nvPr/>
          </p:nvSpPr>
          <p:spPr bwMode="auto">
            <a:xfrm>
              <a:off x="2640" y="3600"/>
              <a:ext cx="336" cy="336"/>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61854" name="Group 62"/>
            <p:cNvGrpSpPr/>
            <p:nvPr/>
          </p:nvGrpSpPr>
          <p:grpSpPr bwMode="auto">
            <a:xfrm>
              <a:off x="2640" y="3648"/>
              <a:ext cx="288" cy="296"/>
              <a:chOff x="912" y="3552"/>
              <a:chExt cx="288" cy="321"/>
            </a:xfrm>
          </p:grpSpPr>
          <p:sp>
            <p:nvSpPr>
              <p:cNvPr id="161855" name="Oval 63"/>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1856" name="Text Box 64"/>
              <p:cNvSpPr txBox="1">
                <a:spLocks noChangeArrowheads="1"/>
              </p:cNvSpPr>
              <p:nvPr/>
            </p:nvSpPr>
            <p:spPr bwMode="auto">
              <a:xfrm>
                <a:off x="942" y="3561"/>
                <a:ext cx="192" cy="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a:t>
                </a:r>
              </a:p>
            </p:txBody>
          </p:sp>
        </p:grpSp>
      </p:grpSp>
      <p:grpSp>
        <p:nvGrpSpPr>
          <p:cNvPr id="161857" name="Group 65"/>
          <p:cNvGrpSpPr/>
          <p:nvPr/>
        </p:nvGrpSpPr>
        <p:grpSpPr bwMode="auto">
          <a:xfrm>
            <a:off x="2767013" y="914400"/>
            <a:ext cx="533400" cy="457200"/>
            <a:chOff x="1776" y="558"/>
            <a:chExt cx="336" cy="288"/>
          </a:xfrm>
        </p:grpSpPr>
        <p:sp useBgFill="1">
          <p:nvSpPr>
            <p:cNvPr id="161858" name="Rectangle 66"/>
            <p:cNvSpPr>
              <a:spLocks noChangeArrowheads="1"/>
            </p:cNvSpPr>
            <p:nvPr/>
          </p:nvSpPr>
          <p:spPr bwMode="auto">
            <a:xfrm>
              <a:off x="1776" y="576"/>
              <a:ext cx="336" cy="240"/>
            </a:xfrm>
            <a:prstGeom prst="rect">
              <a:avLst/>
            </a:prstGeom>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1859" name="Text Box 67"/>
            <p:cNvSpPr txBox="1">
              <a:spLocks noChangeArrowheads="1"/>
            </p:cNvSpPr>
            <p:nvPr/>
          </p:nvSpPr>
          <p:spPr bwMode="auto">
            <a:xfrm>
              <a:off x="1795" y="558"/>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3</a:t>
              </a:r>
            </a:p>
          </p:txBody>
        </p:sp>
      </p:grpSp>
      <p:grpSp>
        <p:nvGrpSpPr>
          <p:cNvPr id="161860" name="Group 68"/>
          <p:cNvGrpSpPr/>
          <p:nvPr/>
        </p:nvGrpSpPr>
        <p:grpSpPr bwMode="auto">
          <a:xfrm>
            <a:off x="4391025" y="3786188"/>
            <a:ext cx="533400" cy="457200"/>
            <a:chOff x="4560" y="2688"/>
            <a:chExt cx="336" cy="288"/>
          </a:xfrm>
        </p:grpSpPr>
        <p:sp useBgFill="1">
          <p:nvSpPr>
            <p:cNvPr id="161861" name="Rectangle 69"/>
            <p:cNvSpPr>
              <a:spLocks noChangeArrowheads="1"/>
            </p:cNvSpPr>
            <p:nvPr/>
          </p:nvSpPr>
          <p:spPr bwMode="auto">
            <a:xfrm>
              <a:off x="4593" y="2706"/>
              <a:ext cx="288" cy="24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1862" name="Text Box 70"/>
            <p:cNvSpPr txBox="1">
              <a:spLocks noChangeArrowheads="1"/>
            </p:cNvSpPr>
            <p:nvPr/>
          </p:nvSpPr>
          <p:spPr bwMode="auto">
            <a:xfrm>
              <a:off x="4560" y="2688"/>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61</a:t>
              </a:r>
            </a:p>
          </p:txBody>
        </p:sp>
      </p:grpSp>
      <p:sp>
        <p:nvSpPr>
          <p:cNvPr id="161863" name="Text Box 71"/>
          <p:cNvSpPr txBox="1">
            <a:spLocks noChangeArrowheads="1"/>
          </p:cNvSpPr>
          <p:nvPr/>
        </p:nvSpPr>
        <p:spPr bwMode="auto">
          <a:xfrm>
            <a:off x="3657600" y="914400"/>
            <a:ext cx="22098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400">
                <a:sym typeface="+mn-ea"/>
              </a:rPr>
              <a:t>output</a:t>
            </a:r>
            <a:r>
              <a:rPr lang="zh-CN" altLang="en-US" sz="2400"/>
              <a:t>：</a:t>
            </a:r>
            <a:r>
              <a:rPr lang="en-US" altLang="zh-CN" sz="2400"/>
              <a:t>29</a:t>
            </a:r>
            <a:r>
              <a:rPr lang="zh-CN" altLang="en-US" sz="2400"/>
              <a:t>，</a:t>
            </a:r>
            <a:r>
              <a:rPr lang="en-US" altLang="zh-CN" sz="2400"/>
              <a:t>38</a:t>
            </a:r>
          </a:p>
        </p:txBody>
      </p:sp>
      <p:sp>
        <p:nvSpPr>
          <p:cNvPr id="161864" name="Text Box 72"/>
          <p:cNvSpPr txBox="1">
            <a:spLocks noChangeArrowheads="1"/>
          </p:cNvSpPr>
          <p:nvPr/>
        </p:nvSpPr>
        <p:spPr bwMode="auto">
          <a:xfrm>
            <a:off x="5586413" y="91440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400"/>
              <a:t>，</a:t>
            </a:r>
            <a:r>
              <a:rPr lang="en-US" altLang="zh-CN" sz="2400"/>
              <a:t>39</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B510424F-96B9-4C00-88E0-F120333DC6C5}" type="slidenum">
              <a:rPr lang="en-US" altLang="zh-CN" smtClean="0"/>
              <a:t>145</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618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nodeType="clickEffect">
                                  <p:stCondLst>
                                    <p:cond delay="0"/>
                                  </p:stCondLst>
                                  <p:childTnLst>
                                    <p:set>
                                      <p:cBhvr>
                                        <p:cTn id="10" dur="1" fill="hold">
                                          <p:stCondLst>
                                            <p:cond delay="0"/>
                                          </p:stCondLst>
                                        </p:cTn>
                                        <p:tgtEl>
                                          <p:spTgt spid="161852"/>
                                        </p:tgtEl>
                                        <p:attrNameLst>
                                          <p:attrName>style.visibility</p:attrName>
                                        </p:attrNameLst>
                                      </p:cBhvr>
                                      <p:to>
                                        <p:strVal val="visible"/>
                                      </p:to>
                                    </p:set>
                                    <p:animEffect transition="in" filter="dissolve">
                                      <p:cBhvr>
                                        <p:cTn id="11" dur="500"/>
                                        <p:tgtEl>
                                          <p:spTgt spid="161852"/>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161857"/>
                                        </p:tgtEl>
                                        <p:attrNameLst>
                                          <p:attrName>style.visibility</p:attrName>
                                        </p:attrNameLst>
                                      </p:cBhvr>
                                      <p:to>
                                        <p:strVal val="visible"/>
                                      </p:to>
                                    </p:set>
                                    <p:animEffect transition="in" filter="dissolve">
                                      <p:cBhvr>
                                        <p:cTn id="16" dur="500"/>
                                        <p:tgtEl>
                                          <p:spTgt spid="161857"/>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161849"/>
                                        </p:tgtEl>
                                        <p:attrNameLst>
                                          <p:attrName>style.visibility</p:attrName>
                                        </p:attrNameLst>
                                      </p:cBhvr>
                                      <p:to>
                                        <p:strVal val="visible"/>
                                      </p:to>
                                    </p:set>
                                    <p:animEffect transition="in" filter="dissolve">
                                      <p:cBhvr>
                                        <p:cTn id="21" dur="500"/>
                                        <p:tgtEl>
                                          <p:spTgt spid="161849"/>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61864">
                                            <p:txEl>
                                              <p:pRg st="0" end="0"/>
                                            </p:txEl>
                                          </p:spTgt>
                                        </p:tgtEl>
                                        <p:attrNameLst>
                                          <p:attrName>style.visibility</p:attrName>
                                        </p:attrNameLst>
                                      </p:cBhvr>
                                      <p:to>
                                        <p:strVal val="visible"/>
                                      </p:to>
                                    </p:set>
                                    <p:animEffect transition="in" filter="dissolve">
                                      <p:cBhvr>
                                        <p:cTn id="26" dur="500"/>
                                        <p:tgtEl>
                                          <p:spTgt spid="16186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864" grpId="0" build="p" autoUpdateAnimBg="0"/>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2818" name="Group 2"/>
          <p:cNvGrpSpPr/>
          <p:nvPr/>
        </p:nvGrpSpPr>
        <p:grpSpPr bwMode="auto">
          <a:xfrm>
            <a:off x="228600" y="890588"/>
            <a:ext cx="4876800" cy="4657725"/>
            <a:chOff x="144" y="561"/>
            <a:chExt cx="3072" cy="2934"/>
          </a:xfrm>
        </p:grpSpPr>
        <p:grpSp>
          <p:nvGrpSpPr>
            <p:cNvPr id="162819" name="Group 3"/>
            <p:cNvGrpSpPr/>
            <p:nvPr/>
          </p:nvGrpSpPr>
          <p:grpSpPr bwMode="auto">
            <a:xfrm>
              <a:off x="477" y="2383"/>
              <a:ext cx="280" cy="297"/>
              <a:chOff x="912" y="3552"/>
              <a:chExt cx="288" cy="299"/>
            </a:xfrm>
          </p:grpSpPr>
          <p:sp>
            <p:nvSpPr>
              <p:cNvPr id="162820" name="Oval 4"/>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21" name="Text Box 5"/>
              <p:cNvSpPr txBox="1">
                <a:spLocks noChangeArrowheads="1"/>
              </p:cNvSpPr>
              <p:nvPr/>
            </p:nvSpPr>
            <p:spPr bwMode="auto">
              <a:xfrm>
                <a:off x="942" y="3561"/>
                <a:ext cx="192"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a:t>
                </a:r>
              </a:p>
            </p:txBody>
          </p:sp>
        </p:grpSp>
        <p:grpSp>
          <p:nvGrpSpPr>
            <p:cNvPr id="162822" name="Group 6"/>
            <p:cNvGrpSpPr/>
            <p:nvPr/>
          </p:nvGrpSpPr>
          <p:grpSpPr bwMode="auto">
            <a:xfrm>
              <a:off x="1028" y="1834"/>
              <a:ext cx="280" cy="297"/>
              <a:chOff x="912" y="3552"/>
              <a:chExt cx="288" cy="299"/>
            </a:xfrm>
          </p:grpSpPr>
          <p:sp>
            <p:nvSpPr>
              <p:cNvPr id="162823" name="Oval 7"/>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24" name="Text Box 8"/>
              <p:cNvSpPr txBox="1">
                <a:spLocks noChangeArrowheads="1"/>
              </p:cNvSpPr>
              <p:nvPr/>
            </p:nvSpPr>
            <p:spPr bwMode="auto">
              <a:xfrm>
                <a:off x="942" y="3561"/>
                <a:ext cx="192"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4</a:t>
                </a:r>
              </a:p>
            </p:txBody>
          </p:sp>
        </p:grpSp>
        <p:grpSp>
          <p:nvGrpSpPr>
            <p:cNvPr id="162825" name="Group 9"/>
            <p:cNvGrpSpPr/>
            <p:nvPr/>
          </p:nvGrpSpPr>
          <p:grpSpPr bwMode="auto">
            <a:xfrm>
              <a:off x="2544" y="1819"/>
              <a:ext cx="280" cy="297"/>
              <a:chOff x="912" y="3552"/>
              <a:chExt cx="288" cy="299"/>
            </a:xfrm>
          </p:grpSpPr>
          <p:sp>
            <p:nvSpPr>
              <p:cNvPr id="162826" name="Oval 10"/>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27" name="Text Box 11"/>
              <p:cNvSpPr txBox="1">
                <a:spLocks noChangeArrowheads="1"/>
              </p:cNvSpPr>
              <p:nvPr/>
            </p:nvSpPr>
            <p:spPr bwMode="auto">
              <a:xfrm>
                <a:off x="942" y="3561"/>
                <a:ext cx="192"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0</a:t>
                </a:r>
              </a:p>
            </p:txBody>
          </p:sp>
        </p:grpSp>
        <p:grpSp>
          <p:nvGrpSpPr>
            <p:cNvPr id="162828" name="Group 12"/>
            <p:cNvGrpSpPr/>
            <p:nvPr/>
          </p:nvGrpSpPr>
          <p:grpSpPr bwMode="auto">
            <a:xfrm>
              <a:off x="1769" y="1195"/>
              <a:ext cx="280" cy="297"/>
              <a:chOff x="912" y="3552"/>
              <a:chExt cx="288" cy="299"/>
            </a:xfrm>
          </p:grpSpPr>
          <p:sp>
            <p:nvSpPr>
              <p:cNvPr id="162829" name="Oval 13"/>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30" name="Text Box 14"/>
              <p:cNvSpPr txBox="1">
                <a:spLocks noChangeArrowheads="1"/>
              </p:cNvSpPr>
              <p:nvPr/>
            </p:nvSpPr>
            <p:spPr bwMode="auto">
              <a:xfrm>
                <a:off x="942" y="3561"/>
                <a:ext cx="192"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3</a:t>
                </a:r>
              </a:p>
            </p:txBody>
          </p:sp>
        </p:grpSp>
        <p:sp>
          <p:nvSpPr>
            <p:cNvPr id="162831" name="Text Box 15"/>
            <p:cNvSpPr txBox="1">
              <a:spLocks noChangeArrowheads="1"/>
            </p:cNvSpPr>
            <p:nvPr/>
          </p:nvSpPr>
          <p:spPr bwMode="auto">
            <a:xfrm>
              <a:off x="2208" y="2112"/>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solidFill>
                    <a:srgbClr val="990000"/>
                  </a:solidFill>
                </a:rPr>
                <a:t>0</a:t>
              </a:r>
            </a:p>
          </p:txBody>
        </p:sp>
        <p:grpSp>
          <p:nvGrpSpPr>
            <p:cNvPr id="162832" name="Group 16"/>
            <p:cNvGrpSpPr/>
            <p:nvPr/>
          </p:nvGrpSpPr>
          <p:grpSpPr bwMode="auto">
            <a:xfrm>
              <a:off x="1248" y="2876"/>
              <a:ext cx="375" cy="583"/>
              <a:chOff x="1350" y="2906"/>
              <a:chExt cx="375" cy="583"/>
            </a:xfrm>
          </p:grpSpPr>
          <p:sp>
            <p:nvSpPr>
              <p:cNvPr id="162833" name="Text Box 17"/>
              <p:cNvSpPr txBox="1">
                <a:spLocks noChangeArrowheads="1"/>
              </p:cNvSpPr>
              <p:nvPr/>
            </p:nvSpPr>
            <p:spPr bwMode="auto">
              <a:xfrm>
                <a:off x="1352" y="2906"/>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49</a:t>
                </a:r>
              </a:p>
            </p:txBody>
          </p:sp>
          <p:sp>
            <p:nvSpPr>
              <p:cNvPr id="162834" name="Text Box 18"/>
              <p:cNvSpPr txBox="1">
                <a:spLocks noChangeArrowheads="1"/>
              </p:cNvSpPr>
              <p:nvPr/>
            </p:nvSpPr>
            <p:spPr bwMode="auto">
              <a:xfrm>
                <a:off x="1350" y="3195"/>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a:t>
                </a:r>
              </a:p>
            </p:txBody>
          </p:sp>
        </p:grpSp>
        <p:grpSp>
          <p:nvGrpSpPr>
            <p:cNvPr id="162835" name="Group 19"/>
            <p:cNvGrpSpPr/>
            <p:nvPr/>
          </p:nvGrpSpPr>
          <p:grpSpPr bwMode="auto">
            <a:xfrm>
              <a:off x="1530" y="2400"/>
              <a:ext cx="280" cy="297"/>
              <a:chOff x="912" y="3552"/>
              <a:chExt cx="288" cy="299"/>
            </a:xfrm>
          </p:grpSpPr>
          <p:sp>
            <p:nvSpPr>
              <p:cNvPr id="162836" name="Oval 20"/>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37" name="Text Box 21"/>
              <p:cNvSpPr txBox="1">
                <a:spLocks noChangeArrowheads="1"/>
              </p:cNvSpPr>
              <p:nvPr/>
            </p:nvSpPr>
            <p:spPr bwMode="auto">
              <a:xfrm>
                <a:off x="942" y="3561"/>
                <a:ext cx="192"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5</a:t>
                </a:r>
              </a:p>
            </p:txBody>
          </p:sp>
        </p:grpSp>
        <p:grpSp>
          <p:nvGrpSpPr>
            <p:cNvPr id="162838" name="Group 22"/>
            <p:cNvGrpSpPr/>
            <p:nvPr/>
          </p:nvGrpSpPr>
          <p:grpSpPr bwMode="auto">
            <a:xfrm>
              <a:off x="1731" y="2880"/>
              <a:ext cx="375" cy="583"/>
              <a:chOff x="1350" y="2906"/>
              <a:chExt cx="375" cy="583"/>
            </a:xfrm>
          </p:grpSpPr>
          <p:sp>
            <p:nvSpPr>
              <p:cNvPr id="162839" name="Text Box 23"/>
              <p:cNvSpPr txBox="1">
                <a:spLocks noChangeArrowheads="1"/>
              </p:cNvSpPr>
              <p:nvPr/>
            </p:nvSpPr>
            <p:spPr bwMode="auto">
              <a:xfrm>
                <a:off x="1352" y="2906"/>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51</a:t>
                </a:r>
              </a:p>
            </p:txBody>
          </p:sp>
          <p:sp>
            <p:nvSpPr>
              <p:cNvPr id="162840" name="Text Box 24"/>
              <p:cNvSpPr txBox="1">
                <a:spLocks noChangeArrowheads="1"/>
              </p:cNvSpPr>
              <p:nvPr/>
            </p:nvSpPr>
            <p:spPr bwMode="auto">
              <a:xfrm>
                <a:off x="1350" y="3195"/>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a:t>
                </a:r>
              </a:p>
            </p:txBody>
          </p:sp>
        </p:grpSp>
        <p:sp>
          <p:nvSpPr>
            <p:cNvPr id="162841" name="Line 25"/>
            <p:cNvSpPr>
              <a:spLocks noChangeShapeType="1"/>
            </p:cNvSpPr>
            <p:nvPr/>
          </p:nvSpPr>
          <p:spPr bwMode="auto">
            <a:xfrm flipH="1">
              <a:off x="1434" y="2592"/>
              <a:ext cx="96"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62842" name="Group 26"/>
            <p:cNvGrpSpPr/>
            <p:nvPr/>
          </p:nvGrpSpPr>
          <p:grpSpPr bwMode="auto">
            <a:xfrm>
              <a:off x="720" y="2898"/>
              <a:ext cx="375" cy="583"/>
              <a:chOff x="1350" y="2906"/>
              <a:chExt cx="375" cy="583"/>
            </a:xfrm>
          </p:grpSpPr>
          <p:sp>
            <p:nvSpPr>
              <p:cNvPr id="162843" name="Text Box 27"/>
              <p:cNvSpPr txBox="1">
                <a:spLocks noChangeArrowheads="1"/>
              </p:cNvSpPr>
              <p:nvPr/>
            </p:nvSpPr>
            <p:spPr bwMode="auto">
              <a:xfrm>
                <a:off x="1352" y="2906"/>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39</a:t>
                </a:r>
              </a:p>
            </p:txBody>
          </p:sp>
          <p:sp>
            <p:nvSpPr>
              <p:cNvPr id="162844" name="Text Box 28"/>
              <p:cNvSpPr txBox="1">
                <a:spLocks noChangeArrowheads="1"/>
              </p:cNvSpPr>
              <p:nvPr/>
            </p:nvSpPr>
            <p:spPr bwMode="auto">
              <a:xfrm>
                <a:off x="1350" y="3195"/>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a:t>
                </a:r>
              </a:p>
            </p:txBody>
          </p:sp>
        </p:grpSp>
        <p:grpSp>
          <p:nvGrpSpPr>
            <p:cNvPr id="162845" name="Group 29"/>
            <p:cNvGrpSpPr/>
            <p:nvPr/>
          </p:nvGrpSpPr>
          <p:grpSpPr bwMode="auto">
            <a:xfrm>
              <a:off x="144" y="2912"/>
              <a:ext cx="375" cy="583"/>
              <a:chOff x="1350" y="2906"/>
              <a:chExt cx="375" cy="583"/>
            </a:xfrm>
          </p:grpSpPr>
          <p:sp>
            <p:nvSpPr>
              <p:cNvPr id="162846" name="Text Box 30"/>
              <p:cNvSpPr txBox="1">
                <a:spLocks noChangeArrowheads="1"/>
              </p:cNvSpPr>
              <p:nvPr/>
            </p:nvSpPr>
            <p:spPr bwMode="auto">
              <a:xfrm>
                <a:off x="1352" y="2906"/>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46</a:t>
                </a:r>
              </a:p>
            </p:txBody>
          </p:sp>
          <p:sp>
            <p:nvSpPr>
              <p:cNvPr id="162847" name="Text Box 31"/>
              <p:cNvSpPr txBox="1">
                <a:spLocks noChangeArrowheads="1"/>
              </p:cNvSpPr>
              <p:nvPr/>
            </p:nvSpPr>
            <p:spPr bwMode="auto">
              <a:xfrm>
                <a:off x="1350" y="3195"/>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a:t>
                </a:r>
              </a:p>
            </p:txBody>
          </p:sp>
        </p:grpSp>
        <p:grpSp>
          <p:nvGrpSpPr>
            <p:cNvPr id="162848" name="Group 32"/>
            <p:cNvGrpSpPr/>
            <p:nvPr/>
          </p:nvGrpSpPr>
          <p:grpSpPr bwMode="auto">
            <a:xfrm>
              <a:off x="2262" y="2348"/>
              <a:ext cx="375" cy="583"/>
              <a:chOff x="1350" y="2906"/>
              <a:chExt cx="375" cy="583"/>
            </a:xfrm>
          </p:grpSpPr>
          <p:sp>
            <p:nvSpPr>
              <p:cNvPr id="162849" name="Text Box 33"/>
              <p:cNvSpPr txBox="1">
                <a:spLocks noChangeArrowheads="1"/>
              </p:cNvSpPr>
              <p:nvPr/>
            </p:nvSpPr>
            <p:spPr bwMode="auto">
              <a:xfrm>
                <a:off x="1352" y="2906"/>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14</a:t>
                </a:r>
              </a:p>
            </p:txBody>
          </p:sp>
          <p:sp>
            <p:nvSpPr>
              <p:cNvPr id="162850" name="Text Box 34"/>
              <p:cNvSpPr txBox="1">
                <a:spLocks noChangeArrowheads="1"/>
              </p:cNvSpPr>
              <p:nvPr/>
            </p:nvSpPr>
            <p:spPr bwMode="auto">
              <a:xfrm>
                <a:off x="1350" y="3195"/>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a:t>
                </a:r>
              </a:p>
            </p:txBody>
          </p:sp>
        </p:grpSp>
        <p:grpSp>
          <p:nvGrpSpPr>
            <p:cNvPr id="162851" name="Group 35"/>
            <p:cNvGrpSpPr/>
            <p:nvPr/>
          </p:nvGrpSpPr>
          <p:grpSpPr bwMode="auto">
            <a:xfrm>
              <a:off x="2745" y="2352"/>
              <a:ext cx="375" cy="583"/>
              <a:chOff x="1350" y="2906"/>
              <a:chExt cx="375" cy="583"/>
            </a:xfrm>
          </p:grpSpPr>
          <p:sp>
            <p:nvSpPr>
              <p:cNvPr id="162852" name="Text Box 36"/>
              <p:cNvSpPr txBox="1">
                <a:spLocks noChangeArrowheads="1"/>
              </p:cNvSpPr>
              <p:nvPr/>
            </p:nvSpPr>
            <p:spPr bwMode="auto">
              <a:xfrm>
                <a:off x="1352" y="2906"/>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61</a:t>
                </a:r>
              </a:p>
            </p:txBody>
          </p:sp>
          <p:sp>
            <p:nvSpPr>
              <p:cNvPr id="162853" name="Text Box 37"/>
              <p:cNvSpPr txBox="1">
                <a:spLocks noChangeArrowheads="1"/>
              </p:cNvSpPr>
              <p:nvPr/>
            </p:nvSpPr>
            <p:spPr bwMode="auto">
              <a:xfrm>
                <a:off x="1350" y="3195"/>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a:t>
                </a:r>
              </a:p>
            </p:txBody>
          </p:sp>
        </p:grpSp>
        <p:sp>
          <p:nvSpPr>
            <p:cNvPr id="162854" name="Text Box 38"/>
            <p:cNvSpPr txBox="1">
              <a:spLocks noChangeArrowheads="1"/>
            </p:cNvSpPr>
            <p:nvPr/>
          </p:nvSpPr>
          <p:spPr bwMode="auto">
            <a:xfrm>
              <a:off x="2928" y="2112"/>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solidFill>
                    <a:srgbClr val="990000"/>
                  </a:solidFill>
                </a:rPr>
                <a:t>1</a:t>
              </a:r>
            </a:p>
          </p:txBody>
        </p:sp>
        <p:sp>
          <p:nvSpPr>
            <p:cNvPr id="162855" name="Text Box 39"/>
            <p:cNvSpPr txBox="1">
              <a:spLocks noChangeArrowheads="1"/>
            </p:cNvSpPr>
            <p:nvPr/>
          </p:nvSpPr>
          <p:spPr bwMode="auto">
            <a:xfrm>
              <a:off x="1230" y="2622"/>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solidFill>
                    <a:srgbClr val="990000"/>
                  </a:solidFill>
                </a:rPr>
                <a:t>4</a:t>
              </a:r>
            </a:p>
          </p:txBody>
        </p:sp>
        <p:sp>
          <p:nvSpPr>
            <p:cNvPr id="162856" name="Text Box 40"/>
            <p:cNvSpPr txBox="1">
              <a:spLocks noChangeArrowheads="1"/>
            </p:cNvSpPr>
            <p:nvPr/>
          </p:nvSpPr>
          <p:spPr bwMode="auto">
            <a:xfrm>
              <a:off x="1860" y="2625"/>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solidFill>
                    <a:srgbClr val="990000"/>
                  </a:solidFill>
                </a:rPr>
                <a:t>5</a:t>
              </a:r>
            </a:p>
          </p:txBody>
        </p:sp>
        <p:sp>
          <p:nvSpPr>
            <p:cNvPr id="162857" name="Text Box 41"/>
            <p:cNvSpPr txBox="1">
              <a:spLocks noChangeArrowheads="1"/>
            </p:cNvSpPr>
            <p:nvPr/>
          </p:nvSpPr>
          <p:spPr bwMode="auto">
            <a:xfrm>
              <a:off x="828" y="2655"/>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solidFill>
                    <a:srgbClr val="990000"/>
                  </a:solidFill>
                </a:rPr>
                <a:t>3</a:t>
              </a:r>
            </a:p>
          </p:txBody>
        </p:sp>
        <p:sp>
          <p:nvSpPr>
            <p:cNvPr id="162858" name="Text Box 42"/>
            <p:cNvSpPr txBox="1">
              <a:spLocks noChangeArrowheads="1"/>
            </p:cNvSpPr>
            <p:nvPr/>
          </p:nvSpPr>
          <p:spPr bwMode="auto">
            <a:xfrm>
              <a:off x="159" y="2655"/>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solidFill>
                    <a:srgbClr val="990000"/>
                  </a:solidFill>
                </a:rPr>
                <a:t>2</a:t>
              </a:r>
            </a:p>
          </p:txBody>
        </p:sp>
        <p:sp>
          <p:nvSpPr>
            <p:cNvPr id="162859" name="Line 43"/>
            <p:cNvSpPr>
              <a:spLocks noChangeShapeType="1"/>
            </p:cNvSpPr>
            <p:nvPr/>
          </p:nvSpPr>
          <p:spPr bwMode="auto">
            <a:xfrm>
              <a:off x="1825" y="2592"/>
              <a:ext cx="89"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2860" name="Line 44"/>
            <p:cNvSpPr>
              <a:spLocks noChangeShapeType="1"/>
            </p:cNvSpPr>
            <p:nvPr/>
          </p:nvSpPr>
          <p:spPr bwMode="auto">
            <a:xfrm flipH="1">
              <a:off x="369" y="2622"/>
              <a:ext cx="96"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2861" name="Line 45"/>
            <p:cNvSpPr>
              <a:spLocks noChangeShapeType="1"/>
            </p:cNvSpPr>
            <p:nvPr/>
          </p:nvSpPr>
          <p:spPr bwMode="auto">
            <a:xfrm>
              <a:off x="760" y="2622"/>
              <a:ext cx="89"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2862" name="Line 46"/>
            <p:cNvSpPr>
              <a:spLocks noChangeShapeType="1"/>
            </p:cNvSpPr>
            <p:nvPr/>
          </p:nvSpPr>
          <p:spPr bwMode="auto">
            <a:xfrm flipH="1">
              <a:off x="2448" y="2064"/>
              <a:ext cx="96"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2863" name="Line 47"/>
            <p:cNvSpPr>
              <a:spLocks noChangeShapeType="1"/>
            </p:cNvSpPr>
            <p:nvPr/>
          </p:nvSpPr>
          <p:spPr bwMode="auto">
            <a:xfrm>
              <a:off x="2839" y="2064"/>
              <a:ext cx="89"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2864" name="Line 48"/>
            <p:cNvSpPr>
              <a:spLocks noChangeShapeType="1"/>
            </p:cNvSpPr>
            <p:nvPr/>
          </p:nvSpPr>
          <p:spPr bwMode="auto">
            <a:xfrm>
              <a:off x="1321" y="2014"/>
              <a:ext cx="311" cy="38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2865" name="Line 49"/>
            <p:cNvSpPr>
              <a:spLocks noChangeShapeType="1"/>
            </p:cNvSpPr>
            <p:nvPr/>
          </p:nvSpPr>
          <p:spPr bwMode="auto">
            <a:xfrm flipH="1">
              <a:off x="1163" y="1392"/>
              <a:ext cx="613" cy="42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2866" name="Line 50"/>
            <p:cNvSpPr>
              <a:spLocks noChangeShapeType="1"/>
            </p:cNvSpPr>
            <p:nvPr/>
          </p:nvSpPr>
          <p:spPr bwMode="auto">
            <a:xfrm flipH="1">
              <a:off x="624" y="2016"/>
              <a:ext cx="381" cy="3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2867" name="Line 51"/>
            <p:cNvSpPr>
              <a:spLocks noChangeShapeType="1"/>
            </p:cNvSpPr>
            <p:nvPr/>
          </p:nvSpPr>
          <p:spPr bwMode="auto">
            <a:xfrm>
              <a:off x="1913" y="836"/>
              <a:ext cx="1" cy="36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2868" name="Line 52"/>
            <p:cNvSpPr>
              <a:spLocks noChangeShapeType="1"/>
            </p:cNvSpPr>
            <p:nvPr/>
          </p:nvSpPr>
          <p:spPr bwMode="auto">
            <a:xfrm>
              <a:off x="2064" y="1392"/>
              <a:ext cx="624" cy="43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2869" name="Text Box 53"/>
            <p:cNvSpPr txBox="1">
              <a:spLocks noChangeArrowheads="1"/>
            </p:cNvSpPr>
            <p:nvPr/>
          </p:nvSpPr>
          <p:spPr bwMode="auto">
            <a:xfrm>
              <a:off x="1344" y="561"/>
              <a:ext cx="5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q=</a:t>
              </a:r>
            </a:p>
          </p:txBody>
        </p:sp>
        <p:grpSp>
          <p:nvGrpSpPr>
            <p:cNvPr id="162870" name="Group 54"/>
            <p:cNvGrpSpPr/>
            <p:nvPr/>
          </p:nvGrpSpPr>
          <p:grpSpPr bwMode="auto">
            <a:xfrm>
              <a:off x="1743" y="576"/>
              <a:ext cx="336" cy="288"/>
              <a:chOff x="1776" y="558"/>
              <a:chExt cx="336" cy="288"/>
            </a:xfrm>
          </p:grpSpPr>
          <p:sp useBgFill="1">
            <p:nvSpPr>
              <p:cNvPr id="162871" name="Rectangle 55"/>
              <p:cNvSpPr>
                <a:spLocks noChangeArrowheads="1"/>
              </p:cNvSpPr>
              <p:nvPr/>
            </p:nvSpPr>
            <p:spPr bwMode="auto">
              <a:xfrm>
                <a:off x="1776" y="576"/>
                <a:ext cx="336" cy="240"/>
              </a:xfrm>
              <a:prstGeom prst="rect">
                <a:avLst/>
              </a:prstGeom>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72" name="Text Box 56"/>
              <p:cNvSpPr txBox="1">
                <a:spLocks noChangeArrowheads="1"/>
              </p:cNvSpPr>
              <p:nvPr/>
            </p:nvSpPr>
            <p:spPr bwMode="auto">
              <a:xfrm>
                <a:off x="1795" y="558"/>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a:t>
                </a:r>
              </a:p>
            </p:txBody>
          </p:sp>
        </p:grpSp>
      </p:grpSp>
      <p:grpSp>
        <p:nvGrpSpPr>
          <p:cNvPr id="162873" name="Group 57"/>
          <p:cNvGrpSpPr/>
          <p:nvPr/>
        </p:nvGrpSpPr>
        <p:grpSpPr bwMode="auto">
          <a:xfrm>
            <a:off x="1195388" y="5048250"/>
            <a:ext cx="533400" cy="457200"/>
            <a:chOff x="2352" y="3150"/>
            <a:chExt cx="336" cy="288"/>
          </a:xfrm>
        </p:grpSpPr>
        <p:sp useBgFill="1">
          <p:nvSpPr>
            <p:cNvPr id="162874" name="Rectangle 58"/>
            <p:cNvSpPr>
              <a:spLocks noChangeArrowheads="1"/>
            </p:cNvSpPr>
            <p:nvPr/>
          </p:nvSpPr>
          <p:spPr bwMode="auto">
            <a:xfrm>
              <a:off x="2400" y="3216"/>
              <a:ext cx="288" cy="192"/>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75" name="Text Box 59"/>
            <p:cNvSpPr txBox="1">
              <a:spLocks noChangeArrowheads="1"/>
            </p:cNvSpPr>
            <p:nvPr/>
          </p:nvSpPr>
          <p:spPr bwMode="auto">
            <a:xfrm>
              <a:off x="2352" y="3150"/>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a:t>
              </a:r>
            </a:p>
          </p:txBody>
        </p:sp>
      </p:grpSp>
      <p:grpSp>
        <p:nvGrpSpPr>
          <p:cNvPr id="162876" name="Group 60"/>
          <p:cNvGrpSpPr/>
          <p:nvPr/>
        </p:nvGrpSpPr>
        <p:grpSpPr bwMode="auto">
          <a:xfrm>
            <a:off x="2814638" y="1852613"/>
            <a:ext cx="533400" cy="546100"/>
            <a:chOff x="2640" y="3600"/>
            <a:chExt cx="336" cy="344"/>
          </a:xfrm>
        </p:grpSpPr>
        <p:sp useBgFill="1">
          <p:nvSpPr>
            <p:cNvPr id="162877" name="Rectangle 61"/>
            <p:cNvSpPr>
              <a:spLocks noChangeArrowheads="1"/>
            </p:cNvSpPr>
            <p:nvPr/>
          </p:nvSpPr>
          <p:spPr bwMode="auto">
            <a:xfrm>
              <a:off x="2640" y="3600"/>
              <a:ext cx="336" cy="336"/>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62878" name="Group 62"/>
            <p:cNvGrpSpPr/>
            <p:nvPr/>
          </p:nvGrpSpPr>
          <p:grpSpPr bwMode="auto">
            <a:xfrm>
              <a:off x="2640" y="3648"/>
              <a:ext cx="288" cy="296"/>
              <a:chOff x="912" y="3552"/>
              <a:chExt cx="288" cy="321"/>
            </a:xfrm>
          </p:grpSpPr>
          <p:sp>
            <p:nvSpPr>
              <p:cNvPr id="162879" name="Oval 63"/>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80" name="Text Box 64"/>
              <p:cNvSpPr txBox="1">
                <a:spLocks noChangeArrowheads="1"/>
              </p:cNvSpPr>
              <p:nvPr/>
            </p:nvSpPr>
            <p:spPr bwMode="auto">
              <a:xfrm>
                <a:off x="942" y="3561"/>
                <a:ext cx="192" cy="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a:t>
                </a:r>
              </a:p>
            </p:txBody>
          </p:sp>
        </p:grpSp>
      </p:grpSp>
      <p:grpSp>
        <p:nvGrpSpPr>
          <p:cNvPr id="162881" name="Group 65"/>
          <p:cNvGrpSpPr/>
          <p:nvPr/>
        </p:nvGrpSpPr>
        <p:grpSpPr bwMode="auto">
          <a:xfrm>
            <a:off x="2767013" y="914400"/>
            <a:ext cx="533400" cy="457200"/>
            <a:chOff x="1776" y="558"/>
            <a:chExt cx="336" cy="288"/>
          </a:xfrm>
        </p:grpSpPr>
        <p:sp useBgFill="1">
          <p:nvSpPr>
            <p:cNvPr id="162882" name="Rectangle 66"/>
            <p:cNvSpPr>
              <a:spLocks noChangeArrowheads="1"/>
            </p:cNvSpPr>
            <p:nvPr/>
          </p:nvSpPr>
          <p:spPr bwMode="auto">
            <a:xfrm>
              <a:off x="1776" y="576"/>
              <a:ext cx="336" cy="240"/>
            </a:xfrm>
            <a:prstGeom prst="rect">
              <a:avLst/>
            </a:prstGeom>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83" name="Text Box 67"/>
            <p:cNvSpPr txBox="1">
              <a:spLocks noChangeArrowheads="1"/>
            </p:cNvSpPr>
            <p:nvPr/>
          </p:nvSpPr>
          <p:spPr bwMode="auto">
            <a:xfrm>
              <a:off x="1795" y="558"/>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a:t>
              </a:r>
            </a:p>
          </p:txBody>
        </p:sp>
      </p:grpSp>
      <p:grpSp>
        <p:nvGrpSpPr>
          <p:cNvPr id="162884" name="Group 68"/>
          <p:cNvGrpSpPr/>
          <p:nvPr/>
        </p:nvGrpSpPr>
        <p:grpSpPr bwMode="auto">
          <a:xfrm>
            <a:off x="1219200" y="4595813"/>
            <a:ext cx="533400" cy="457200"/>
            <a:chOff x="4560" y="2688"/>
            <a:chExt cx="336" cy="288"/>
          </a:xfrm>
        </p:grpSpPr>
        <p:sp useBgFill="1">
          <p:nvSpPr>
            <p:cNvPr id="162885" name="Rectangle 69"/>
            <p:cNvSpPr>
              <a:spLocks noChangeArrowheads="1"/>
            </p:cNvSpPr>
            <p:nvPr/>
          </p:nvSpPr>
          <p:spPr bwMode="auto">
            <a:xfrm>
              <a:off x="4593" y="2706"/>
              <a:ext cx="288" cy="24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86" name="Text Box 70"/>
            <p:cNvSpPr txBox="1">
              <a:spLocks noChangeArrowheads="1"/>
            </p:cNvSpPr>
            <p:nvPr/>
          </p:nvSpPr>
          <p:spPr bwMode="auto">
            <a:xfrm>
              <a:off x="4560" y="2688"/>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15</a:t>
              </a:r>
            </a:p>
          </p:txBody>
        </p:sp>
      </p:grpSp>
      <p:sp>
        <p:nvSpPr>
          <p:cNvPr id="162887" name="Text Box 71"/>
          <p:cNvSpPr txBox="1">
            <a:spLocks noChangeArrowheads="1"/>
          </p:cNvSpPr>
          <p:nvPr/>
        </p:nvSpPr>
        <p:spPr bwMode="auto">
          <a:xfrm>
            <a:off x="3657600" y="914400"/>
            <a:ext cx="28956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sym typeface="+mn-ea"/>
              </a:rPr>
              <a:t>output</a:t>
            </a:r>
            <a:r>
              <a:rPr lang="zh-CN" altLang="en-US" sz="2400"/>
              <a:t>：</a:t>
            </a:r>
            <a:r>
              <a:rPr lang="en-US" altLang="zh-CN" sz="2400"/>
              <a:t>29</a:t>
            </a:r>
            <a:r>
              <a:rPr lang="zh-CN" altLang="en-US" sz="2400"/>
              <a:t>，</a:t>
            </a:r>
            <a:r>
              <a:rPr lang="en-US" altLang="zh-CN" sz="2400"/>
              <a:t>38</a:t>
            </a:r>
            <a:r>
              <a:rPr lang="zh-CN" altLang="en-US" sz="2400"/>
              <a:t>，</a:t>
            </a:r>
            <a:r>
              <a:rPr lang="en-US" altLang="zh-CN" sz="2400"/>
              <a:t>39</a:t>
            </a:r>
          </a:p>
        </p:txBody>
      </p:sp>
      <p:sp>
        <p:nvSpPr>
          <p:cNvPr id="162888" name="Text Box 72"/>
          <p:cNvSpPr txBox="1">
            <a:spLocks noChangeArrowheads="1"/>
          </p:cNvSpPr>
          <p:nvPr/>
        </p:nvSpPr>
        <p:spPr bwMode="auto">
          <a:xfrm>
            <a:off x="6096000" y="91440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400"/>
              <a:t>，</a:t>
            </a:r>
            <a:r>
              <a:rPr lang="en-US" altLang="zh-CN" sz="2400"/>
              <a:t>46</a:t>
            </a:r>
          </a:p>
        </p:txBody>
      </p:sp>
      <p:grpSp>
        <p:nvGrpSpPr>
          <p:cNvPr id="162889" name="Group 73"/>
          <p:cNvGrpSpPr/>
          <p:nvPr/>
        </p:nvGrpSpPr>
        <p:grpSpPr bwMode="auto">
          <a:xfrm>
            <a:off x="757238" y="3721100"/>
            <a:ext cx="533400" cy="546100"/>
            <a:chOff x="2640" y="3600"/>
            <a:chExt cx="336" cy="344"/>
          </a:xfrm>
        </p:grpSpPr>
        <p:sp useBgFill="1">
          <p:nvSpPr>
            <p:cNvPr id="162890" name="Rectangle 74"/>
            <p:cNvSpPr>
              <a:spLocks noChangeArrowheads="1"/>
            </p:cNvSpPr>
            <p:nvPr/>
          </p:nvSpPr>
          <p:spPr bwMode="auto">
            <a:xfrm>
              <a:off x="2640" y="3600"/>
              <a:ext cx="336" cy="336"/>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62891" name="Group 75"/>
            <p:cNvGrpSpPr/>
            <p:nvPr/>
          </p:nvGrpSpPr>
          <p:grpSpPr bwMode="auto">
            <a:xfrm>
              <a:off x="2640" y="3648"/>
              <a:ext cx="288" cy="296"/>
              <a:chOff x="912" y="3552"/>
              <a:chExt cx="288" cy="321"/>
            </a:xfrm>
          </p:grpSpPr>
          <p:sp>
            <p:nvSpPr>
              <p:cNvPr id="162892" name="Oval 76"/>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93" name="Text Box 77"/>
              <p:cNvSpPr txBox="1">
                <a:spLocks noChangeArrowheads="1"/>
              </p:cNvSpPr>
              <p:nvPr/>
            </p:nvSpPr>
            <p:spPr bwMode="auto">
              <a:xfrm>
                <a:off x="942" y="3561"/>
                <a:ext cx="192" cy="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3</a:t>
                </a:r>
              </a:p>
            </p:txBody>
          </p:sp>
        </p:grpSp>
      </p:grpSp>
      <p:sp>
        <p:nvSpPr>
          <p:cNvPr id="162894" name="Text Box 78"/>
          <p:cNvSpPr txBox="1">
            <a:spLocks noChangeArrowheads="1"/>
          </p:cNvSpPr>
          <p:nvPr/>
        </p:nvSpPr>
        <p:spPr bwMode="auto">
          <a:xfrm>
            <a:off x="762000" y="5920740"/>
            <a:ext cx="546608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400"/>
              <a:t>After outputting 49 and 51 in sequence:</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B510424F-96B9-4C00-88E0-F120333DC6C5}" type="slidenum">
              <a:rPr lang="en-US" altLang="zh-CN" smtClean="0"/>
              <a:t>146</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6288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nodeType="clickEffect">
                                  <p:stCondLst>
                                    <p:cond delay="0"/>
                                  </p:stCondLst>
                                  <p:childTnLst>
                                    <p:set>
                                      <p:cBhvr>
                                        <p:cTn id="10" dur="1" fill="hold">
                                          <p:stCondLst>
                                            <p:cond delay="0"/>
                                          </p:stCondLst>
                                        </p:cTn>
                                        <p:tgtEl>
                                          <p:spTgt spid="162873"/>
                                        </p:tgtEl>
                                        <p:attrNameLst>
                                          <p:attrName>style.visibility</p:attrName>
                                        </p:attrNameLst>
                                      </p:cBhvr>
                                      <p:to>
                                        <p:strVal val="visible"/>
                                      </p:to>
                                    </p:set>
                                    <p:animEffect transition="in" filter="dissolve">
                                      <p:cBhvr>
                                        <p:cTn id="11" dur="500"/>
                                        <p:tgtEl>
                                          <p:spTgt spid="162873"/>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162889"/>
                                        </p:tgtEl>
                                        <p:attrNameLst>
                                          <p:attrName>style.visibility</p:attrName>
                                        </p:attrNameLst>
                                      </p:cBhvr>
                                      <p:to>
                                        <p:strVal val="visible"/>
                                      </p:to>
                                    </p:set>
                                    <p:animEffect transition="in" filter="dissolve">
                                      <p:cBhvr>
                                        <p:cTn id="16" dur="500"/>
                                        <p:tgtEl>
                                          <p:spTgt spid="162889"/>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162876"/>
                                        </p:tgtEl>
                                        <p:attrNameLst>
                                          <p:attrName>style.visibility</p:attrName>
                                        </p:attrNameLst>
                                      </p:cBhvr>
                                      <p:to>
                                        <p:strVal val="visible"/>
                                      </p:to>
                                    </p:set>
                                    <p:animEffect transition="in" filter="dissolve">
                                      <p:cBhvr>
                                        <p:cTn id="21" dur="500"/>
                                        <p:tgtEl>
                                          <p:spTgt spid="162876"/>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162881"/>
                                        </p:tgtEl>
                                        <p:attrNameLst>
                                          <p:attrName>style.visibility</p:attrName>
                                        </p:attrNameLst>
                                      </p:cBhvr>
                                      <p:to>
                                        <p:strVal val="visible"/>
                                      </p:to>
                                    </p:set>
                                    <p:animEffect transition="in" filter="dissolve">
                                      <p:cBhvr>
                                        <p:cTn id="26" dur="500"/>
                                        <p:tgtEl>
                                          <p:spTgt spid="162881"/>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162888">
                                            <p:txEl>
                                              <p:pRg st="0" end="0"/>
                                            </p:txEl>
                                          </p:spTgt>
                                        </p:tgtEl>
                                        <p:attrNameLst>
                                          <p:attrName>style.visibility</p:attrName>
                                        </p:attrNameLst>
                                      </p:cBhvr>
                                      <p:to>
                                        <p:strVal val="visible"/>
                                      </p:to>
                                    </p:set>
                                    <p:animEffect transition="in" filter="dissolve">
                                      <p:cBhvr>
                                        <p:cTn id="31" dur="500"/>
                                        <p:tgtEl>
                                          <p:spTgt spid="162888">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162894">
                                            <p:txEl>
                                              <p:pRg st="0" end="0"/>
                                            </p:txEl>
                                          </p:spTgt>
                                        </p:tgtEl>
                                        <p:attrNameLst>
                                          <p:attrName>style.visibility</p:attrName>
                                        </p:attrNameLst>
                                      </p:cBhvr>
                                      <p:to>
                                        <p:strVal val="visible"/>
                                      </p:to>
                                    </p:set>
                                    <p:animEffect transition="in" filter="dissolve">
                                      <p:cBhvr>
                                        <p:cTn id="36" dur="500"/>
                                        <p:tgtEl>
                                          <p:spTgt spid="16289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88" grpId="0" build="p" autoUpdateAnimBg="0"/>
      <p:bldP spid="162894" grpId="0" build="p" autoUpdateAnimBg="0"/>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3842" name="Group 2"/>
          <p:cNvGrpSpPr/>
          <p:nvPr/>
        </p:nvGrpSpPr>
        <p:grpSpPr bwMode="auto">
          <a:xfrm>
            <a:off x="228600" y="890588"/>
            <a:ext cx="4876800" cy="4657725"/>
            <a:chOff x="144" y="561"/>
            <a:chExt cx="3072" cy="2934"/>
          </a:xfrm>
        </p:grpSpPr>
        <p:grpSp>
          <p:nvGrpSpPr>
            <p:cNvPr id="163843" name="Group 3"/>
            <p:cNvGrpSpPr/>
            <p:nvPr/>
          </p:nvGrpSpPr>
          <p:grpSpPr bwMode="auto">
            <a:xfrm>
              <a:off x="477" y="2383"/>
              <a:ext cx="280" cy="297"/>
              <a:chOff x="912" y="3552"/>
              <a:chExt cx="288" cy="299"/>
            </a:xfrm>
          </p:grpSpPr>
          <p:sp>
            <p:nvSpPr>
              <p:cNvPr id="163844" name="Oval 4"/>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845" name="Text Box 5"/>
              <p:cNvSpPr txBox="1">
                <a:spLocks noChangeArrowheads="1"/>
              </p:cNvSpPr>
              <p:nvPr/>
            </p:nvSpPr>
            <p:spPr bwMode="auto">
              <a:xfrm>
                <a:off x="942" y="3561"/>
                <a:ext cx="192"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a:t>
                </a:r>
              </a:p>
            </p:txBody>
          </p:sp>
        </p:grpSp>
        <p:grpSp>
          <p:nvGrpSpPr>
            <p:cNvPr id="163846" name="Group 6"/>
            <p:cNvGrpSpPr/>
            <p:nvPr/>
          </p:nvGrpSpPr>
          <p:grpSpPr bwMode="auto">
            <a:xfrm>
              <a:off x="1028" y="1834"/>
              <a:ext cx="280" cy="297"/>
              <a:chOff x="912" y="3552"/>
              <a:chExt cx="288" cy="299"/>
            </a:xfrm>
          </p:grpSpPr>
          <p:sp>
            <p:nvSpPr>
              <p:cNvPr id="163847" name="Oval 7"/>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848" name="Text Box 8"/>
              <p:cNvSpPr txBox="1">
                <a:spLocks noChangeArrowheads="1"/>
              </p:cNvSpPr>
              <p:nvPr/>
            </p:nvSpPr>
            <p:spPr bwMode="auto">
              <a:xfrm>
                <a:off x="942" y="3561"/>
                <a:ext cx="192"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3</a:t>
                </a:r>
              </a:p>
            </p:txBody>
          </p:sp>
        </p:grpSp>
        <p:grpSp>
          <p:nvGrpSpPr>
            <p:cNvPr id="163849" name="Group 9"/>
            <p:cNvGrpSpPr/>
            <p:nvPr/>
          </p:nvGrpSpPr>
          <p:grpSpPr bwMode="auto">
            <a:xfrm>
              <a:off x="2544" y="1819"/>
              <a:ext cx="280" cy="297"/>
              <a:chOff x="912" y="3552"/>
              <a:chExt cx="288" cy="299"/>
            </a:xfrm>
          </p:grpSpPr>
          <p:sp>
            <p:nvSpPr>
              <p:cNvPr id="163850" name="Oval 10"/>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851" name="Text Box 11"/>
              <p:cNvSpPr txBox="1">
                <a:spLocks noChangeArrowheads="1"/>
              </p:cNvSpPr>
              <p:nvPr/>
            </p:nvSpPr>
            <p:spPr bwMode="auto">
              <a:xfrm>
                <a:off x="942" y="3561"/>
                <a:ext cx="192"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0</a:t>
                </a:r>
              </a:p>
            </p:txBody>
          </p:sp>
        </p:grpSp>
        <p:grpSp>
          <p:nvGrpSpPr>
            <p:cNvPr id="163852" name="Group 12"/>
            <p:cNvGrpSpPr/>
            <p:nvPr/>
          </p:nvGrpSpPr>
          <p:grpSpPr bwMode="auto">
            <a:xfrm>
              <a:off x="1769" y="1195"/>
              <a:ext cx="280" cy="297"/>
              <a:chOff x="912" y="3552"/>
              <a:chExt cx="288" cy="299"/>
            </a:xfrm>
          </p:grpSpPr>
          <p:sp>
            <p:nvSpPr>
              <p:cNvPr id="163853" name="Oval 13"/>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854" name="Text Box 14"/>
              <p:cNvSpPr txBox="1">
                <a:spLocks noChangeArrowheads="1"/>
              </p:cNvSpPr>
              <p:nvPr/>
            </p:nvSpPr>
            <p:spPr bwMode="auto">
              <a:xfrm>
                <a:off x="942" y="3561"/>
                <a:ext cx="192"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4</a:t>
                </a:r>
              </a:p>
            </p:txBody>
          </p:sp>
        </p:grpSp>
        <p:sp>
          <p:nvSpPr>
            <p:cNvPr id="163855" name="Text Box 15"/>
            <p:cNvSpPr txBox="1">
              <a:spLocks noChangeArrowheads="1"/>
            </p:cNvSpPr>
            <p:nvPr/>
          </p:nvSpPr>
          <p:spPr bwMode="auto">
            <a:xfrm>
              <a:off x="2208" y="2112"/>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solidFill>
                    <a:srgbClr val="990000"/>
                  </a:solidFill>
                </a:rPr>
                <a:t>0</a:t>
              </a:r>
            </a:p>
          </p:txBody>
        </p:sp>
        <p:grpSp>
          <p:nvGrpSpPr>
            <p:cNvPr id="163856" name="Group 16"/>
            <p:cNvGrpSpPr/>
            <p:nvPr/>
          </p:nvGrpSpPr>
          <p:grpSpPr bwMode="auto">
            <a:xfrm>
              <a:off x="1248" y="2876"/>
              <a:ext cx="375" cy="583"/>
              <a:chOff x="1350" y="2906"/>
              <a:chExt cx="375" cy="583"/>
            </a:xfrm>
          </p:grpSpPr>
          <p:sp>
            <p:nvSpPr>
              <p:cNvPr id="163857" name="Text Box 17"/>
              <p:cNvSpPr txBox="1">
                <a:spLocks noChangeArrowheads="1"/>
              </p:cNvSpPr>
              <p:nvPr/>
            </p:nvSpPr>
            <p:spPr bwMode="auto">
              <a:xfrm>
                <a:off x="1352" y="2906"/>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a:t>
                </a:r>
              </a:p>
            </p:txBody>
          </p:sp>
          <p:sp>
            <p:nvSpPr>
              <p:cNvPr id="163858" name="Text Box 18"/>
              <p:cNvSpPr txBox="1">
                <a:spLocks noChangeArrowheads="1"/>
              </p:cNvSpPr>
              <p:nvPr/>
            </p:nvSpPr>
            <p:spPr bwMode="auto">
              <a:xfrm>
                <a:off x="1350" y="3195"/>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a:t>
                </a:r>
              </a:p>
            </p:txBody>
          </p:sp>
        </p:grpSp>
        <p:grpSp>
          <p:nvGrpSpPr>
            <p:cNvPr id="163859" name="Group 19"/>
            <p:cNvGrpSpPr/>
            <p:nvPr/>
          </p:nvGrpSpPr>
          <p:grpSpPr bwMode="auto">
            <a:xfrm>
              <a:off x="1530" y="2400"/>
              <a:ext cx="280" cy="297"/>
              <a:chOff x="912" y="3552"/>
              <a:chExt cx="288" cy="299"/>
            </a:xfrm>
          </p:grpSpPr>
          <p:sp>
            <p:nvSpPr>
              <p:cNvPr id="163860" name="Oval 20"/>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861" name="Text Box 21"/>
              <p:cNvSpPr txBox="1">
                <a:spLocks noChangeArrowheads="1"/>
              </p:cNvSpPr>
              <p:nvPr/>
            </p:nvSpPr>
            <p:spPr bwMode="auto">
              <a:xfrm>
                <a:off x="942" y="3561"/>
                <a:ext cx="192"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5</a:t>
                </a:r>
              </a:p>
            </p:txBody>
          </p:sp>
        </p:grpSp>
        <p:grpSp>
          <p:nvGrpSpPr>
            <p:cNvPr id="163862" name="Group 22"/>
            <p:cNvGrpSpPr/>
            <p:nvPr/>
          </p:nvGrpSpPr>
          <p:grpSpPr bwMode="auto">
            <a:xfrm>
              <a:off x="1731" y="2880"/>
              <a:ext cx="375" cy="583"/>
              <a:chOff x="1350" y="2906"/>
              <a:chExt cx="375" cy="583"/>
            </a:xfrm>
          </p:grpSpPr>
          <p:sp>
            <p:nvSpPr>
              <p:cNvPr id="163863" name="Text Box 23"/>
              <p:cNvSpPr txBox="1">
                <a:spLocks noChangeArrowheads="1"/>
              </p:cNvSpPr>
              <p:nvPr/>
            </p:nvSpPr>
            <p:spPr bwMode="auto">
              <a:xfrm>
                <a:off x="1352" y="2906"/>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48</a:t>
                </a:r>
              </a:p>
            </p:txBody>
          </p:sp>
          <p:sp>
            <p:nvSpPr>
              <p:cNvPr id="163864" name="Text Box 24"/>
              <p:cNvSpPr txBox="1">
                <a:spLocks noChangeArrowheads="1"/>
              </p:cNvSpPr>
              <p:nvPr/>
            </p:nvSpPr>
            <p:spPr bwMode="auto">
              <a:xfrm>
                <a:off x="1350" y="3195"/>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a:t>
                </a:r>
              </a:p>
            </p:txBody>
          </p:sp>
        </p:grpSp>
        <p:sp>
          <p:nvSpPr>
            <p:cNvPr id="163865" name="Line 25"/>
            <p:cNvSpPr>
              <a:spLocks noChangeShapeType="1"/>
            </p:cNvSpPr>
            <p:nvPr/>
          </p:nvSpPr>
          <p:spPr bwMode="auto">
            <a:xfrm flipH="1">
              <a:off x="1434" y="2592"/>
              <a:ext cx="96"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63866" name="Group 26"/>
            <p:cNvGrpSpPr/>
            <p:nvPr/>
          </p:nvGrpSpPr>
          <p:grpSpPr bwMode="auto">
            <a:xfrm>
              <a:off x="720" y="2898"/>
              <a:ext cx="375" cy="583"/>
              <a:chOff x="1350" y="2906"/>
              <a:chExt cx="375" cy="583"/>
            </a:xfrm>
          </p:grpSpPr>
          <p:sp>
            <p:nvSpPr>
              <p:cNvPr id="163867" name="Text Box 27"/>
              <p:cNvSpPr txBox="1">
                <a:spLocks noChangeArrowheads="1"/>
              </p:cNvSpPr>
              <p:nvPr/>
            </p:nvSpPr>
            <p:spPr bwMode="auto">
              <a:xfrm>
                <a:off x="1352" y="2906"/>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15</a:t>
                </a:r>
              </a:p>
            </p:txBody>
          </p:sp>
          <p:sp>
            <p:nvSpPr>
              <p:cNvPr id="163868" name="Text Box 28"/>
              <p:cNvSpPr txBox="1">
                <a:spLocks noChangeArrowheads="1"/>
              </p:cNvSpPr>
              <p:nvPr/>
            </p:nvSpPr>
            <p:spPr bwMode="auto">
              <a:xfrm>
                <a:off x="1350" y="3195"/>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a:t>
                </a:r>
              </a:p>
            </p:txBody>
          </p:sp>
        </p:grpSp>
        <p:grpSp>
          <p:nvGrpSpPr>
            <p:cNvPr id="163869" name="Group 29"/>
            <p:cNvGrpSpPr/>
            <p:nvPr/>
          </p:nvGrpSpPr>
          <p:grpSpPr bwMode="auto">
            <a:xfrm>
              <a:off x="144" y="2912"/>
              <a:ext cx="375" cy="583"/>
              <a:chOff x="1350" y="2906"/>
              <a:chExt cx="375" cy="583"/>
            </a:xfrm>
          </p:grpSpPr>
          <p:sp>
            <p:nvSpPr>
              <p:cNvPr id="163870" name="Text Box 30"/>
              <p:cNvSpPr txBox="1">
                <a:spLocks noChangeArrowheads="1"/>
              </p:cNvSpPr>
              <p:nvPr/>
            </p:nvSpPr>
            <p:spPr bwMode="auto">
              <a:xfrm>
                <a:off x="1352" y="2906"/>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30</a:t>
                </a:r>
              </a:p>
            </p:txBody>
          </p:sp>
          <p:sp>
            <p:nvSpPr>
              <p:cNvPr id="163871" name="Text Box 31"/>
              <p:cNvSpPr txBox="1">
                <a:spLocks noChangeArrowheads="1"/>
              </p:cNvSpPr>
              <p:nvPr/>
            </p:nvSpPr>
            <p:spPr bwMode="auto">
              <a:xfrm>
                <a:off x="1350" y="3195"/>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a:t>
                </a:r>
              </a:p>
            </p:txBody>
          </p:sp>
        </p:grpSp>
        <p:grpSp>
          <p:nvGrpSpPr>
            <p:cNvPr id="163872" name="Group 32"/>
            <p:cNvGrpSpPr/>
            <p:nvPr/>
          </p:nvGrpSpPr>
          <p:grpSpPr bwMode="auto">
            <a:xfrm>
              <a:off x="2262" y="2348"/>
              <a:ext cx="375" cy="583"/>
              <a:chOff x="1350" y="2906"/>
              <a:chExt cx="375" cy="583"/>
            </a:xfrm>
          </p:grpSpPr>
          <p:sp>
            <p:nvSpPr>
              <p:cNvPr id="163873" name="Text Box 33"/>
              <p:cNvSpPr txBox="1">
                <a:spLocks noChangeArrowheads="1"/>
              </p:cNvSpPr>
              <p:nvPr/>
            </p:nvSpPr>
            <p:spPr bwMode="auto">
              <a:xfrm>
                <a:off x="1352" y="2906"/>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14</a:t>
                </a:r>
              </a:p>
            </p:txBody>
          </p:sp>
          <p:sp>
            <p:nvSpPr>
              <p:cNvPr id="163874" name="Text Box 34"/>
              <p:cNvSpPr txBox="1">
                <a:spLocks noChangeArrowheads="1"/>
              </p:cNvSpPr>
              <p:nvPr/>
            </p:nvSpPr>
            <p:spPr bwMode="auto">
              <a:xfrm>
                <a:off x="1350" y="3195"/>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a:t>
                </a:r>
              </a:p>
            </p:txBody>
          </p:sp>
        </p:grpSp>
        <p:grpSp>
          <p:nvGrpSpPr>
            <p:cNvPr id="163875" name="Group 35"/>
            <p:cNvGrpSpPr/>
            <p:nvPr/>
          </p:nvGrpSpPr>
          <p:grpSpPr bwMode="auto">
            <a:xfrm>
              <a:off x="2745" y="2352"/>
              <a:ext cx="375" cy="583"/>
              <a:chOff x="1350" y="2906"/>
              <a:chExt cx="375" cy="583"/>
            </a:xfrm>
          </p:grpSpPr>
          <p:sp>
            <p:nvSpPr>
              <p:cNvPr id="163876" name="Text Box 36"/>
              <p:cNvSpPr txBox="1">
                <a:spLocks noChangeArrowheads="1"/>
              </p:cNvSpPr>
              <p:nvPr/>
            </p:nvSpPr>
            <p:spPr bwMode="auto">
              <a:xfrm>
                <a:off x="1352" y="2906"/>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61</a:t>
                </a:r>
              </a:p>
            </p:txBody>
          </p:sp>
          <p:sp>
            <p:nvSpPr>
              <p:cNvPr id="163877" name="Text Box 37"/>
              <p:cNvSpPr txBox="1">
                <a:spLocks noChangeArrowheads="1"/>
              </p:cNvSpPr>
              <p:nvPr/>
            </p:nvSpPr>
            <p:spPr bwMode="auto">
              <a:xfrm>
                <a:off x="1350" y="3195"/>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a:t>
                </a:r>
              </a:p>
            </p:txBody>
          </p:sp>
        </p:grpSp>
        <p:sp>
          <p:nvSpPr>
            <p:cNvPr id="163878" name="Text Box 38"/>
            <p:cNvSpPr txBox="1">
              <a:spLocks noChangeArrowheads="1"/>
            </p:cNvSpPr>
            <p:nvPr/>
          </p:nvSpPr>
          <p:spPr bwMode="auto">
            <a:xfrm>
              <a:off x="2928" y="2112"/>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solidFill>
                    <a:srgbClr val="990000"/>
                  </a:solidFill>
                </a:rPr>
                <a:t>1</a:t>
              </a:r>
            </a:p>
          </p:txBody>
        </p:sp>
        <p:sp>
          <p:nvSpPr>
            <p:cNvPr id="163879" name="Text Box 39"/>
            <p:cNvSpPr txBox="1">
              <a:spLocks noChangeArrowheads="1"/>
            </p:cNvSpPr>
            <p:nvPr/>
          </p:nvSpPr>
          <p:spPr bwMode="auto">
            <a:xfrm>
              <a:off x="1230" y="2622"/>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solidFill>
                    <a:srgbClr val="990000"/>
                  </a:solidFill>
                </a:rPr>
                <a:t>4</a:t>
              </a:r>
            </a:p>
          </p:txBody>
        </p:sp>
        <p:sp>
          <p:nvSpPr>
            <p:cNvPr id="163880" name="Text Box 40"/>
            <p:cNvSpPr txBox="1">
              <a:spLocks noChangeArrowheads="1"/>
            </p:cNvSpPr>
            <p:nvPr/>
          </p:nvSpPr>
          <p:spPr bwMode="auto">
            <a:xfrm>
              <a:off x="1860" y="2625"/>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solidFill>
                    <a:srgbClr val="990000"/>
                  </a:solidFill>
                </a:rPr>
                <a:t>5</a:t>
              </a:r>
            </a:p>
          </p:txBody>
        </p:sp>
        <p:sp>
          <p:nvSpPr>
            <p:cNvPr id="163881" name="Text Box 41"/>
            <p:cNvSpPr txBox="1">
              <a:spLocks noChangeArrowheads="1"/>
            </p:cNvSpPr>
            <p:nvPr/>
          </p:nvSpPr>
          <p:spPr bwMode="auto">
            <a:xfrm>
              <a:off x="828" y="2655"/>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solidFill>
                    <a:srgbClr val="990000"/>
                  </a:solidFill>
                </a:rPr>
                <a:t>3</a:t>
              </a:r>
            </a:p>
          </p:txBody>
        </p:sp>
        <p:sp>
          <p:nvSpPr>
            <p:cNvPr id="163882" name="Text Box 42"/>
            <p:cNvSpPr txBox="1">
              <a:spLocks noChangeArrowheads="1"/>
            </p:cNvSpPr>
            <p:nvPr/>
          </p:nvSpPr>
          <p:spPr bwMode="auto">
            <a:xfrm>
              <a:off x="159" y="2655"/>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solidFill>
                    <a:srgbClr val="990000"/>
                  </a:solidFill>
                </a:rPr>
                <a:t>2</a:t>
              </a:r>
            </a:p>
          </p:txBody>
        </p:sp>
        <p:sp>
          <p:nvSpPr>
            <p:cNvPr id="163883" name="Line 43"/>
            <p:cNvSpPr>
              <a:spLocks noChangeShapeType="1"/>
            </p:cNvSpPr>
            <p:nvPr/>
          </p:nvSpPr>
          <p:spPr bwMode="auto">
            <a:xfrm>
              <a:off x="1825" y="2592"/>
              <a:ext cx="89"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84" name="Line 44"/>
            <p:cNvSpPr>
              <a:spLocks noChangeShapeType="1"/>
            </p:cNvSpPr>
            <p:nvPr/>
          </p:nvSpPr>
          <p:spPr bwMode="auto">
            <a:xfrm flipH="1">
              <a:off x="369" y="2622"/>
              <a:ext cx="96"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85" name="Line 45"/>
            <p:cNvSpPr>
              <a:spLocks noChangeShapeType="1"/>
            </p:cNvSpPr>
            <p:nvPr/>
          </p:nvSpPr>
          <p:spPr bwMode="auto">
            <a:xfrm>
              <a:off x="760" y="2622"/>
              <a:ext cx="89"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86" name="Line 46"/>
            <p:cNvSpPr>
              <a:spLocks noChangeShapeType="1"/>
            </p:cNvSpPr>
            <p:nvPr/>
          </p:nvSpPr>
          <p:spPr bwMode="auto">
            <a:xfrm flipH="1">
              <a:off x="2448" y="2064"/>
              <a:ext cx="96"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87" name="Line 47"/>
            <p:cNvSpPr>
              <a:spLocks noChangeShapeType="1"/>
            </p:cNvSpPr>
            <p:nvPr/>
          </p:nvSpPr>
          <p:spPr bwMode="auto">
            <a:xfrm>
              <a:off x="2839" y="2064"/>
              <a:ext cx="89"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88" name="Line 48"/>
            <p:cNvSpPr>
              <a:spLocks noChangeShapeType="1"/>
            </p:cNvSpPr>
            <p:nvPr/>
          </p:nvSpPr>
          <p:spPr bwMode="auto">
            <a:xfrm>
              <a:off x="1321" y="2014"/>
              <a:ext cx="311" cy="38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89" name="Line 49"/>
            <p:cNvSpPr>
              <a:spLocks noChangeShapeType="1"/>
            </p:cNvSpPr>
            <p:nvPr/>
          </p:nvSpPr>
          <p:spPr bwMode="auto">
            <a:xfrm flipH="1">
              <a:off x="1163" y="1392"/>
              <a:ext cx="613" cy="42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90" name="Line 50"/>
            <p:cNvSpPr>
              <a:spLocks noChangeShapeType="1"/>
            </p:cNvSpPr>
            <p:nvPr/>
          </p:nvSpPr>
          <p:spPr bwMode="auto">
            <a:xfrm flipH="1">
              <a:off x="624" y="2016"/>
              <a:ext cx="381" cy="3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91" name="Line 51"/>
            <p:cNvSpPr>
              <a:spLocks noChangeShapeType="1"/>
            </p:cNvSpPr>
            <p:nvPr/>
          </p:nvSpPr>
          <p:spPr bwMode="auto">
            <a:xfrm>
              <a:off x="1913" y="836"/>
              <a:ext cx="1" cy="36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92" name="Line 52"/>
            <p:cNvSpPr>
              <a:spLocks noChangeShapeType="1"/>
            </p:cNvSpPr>
            <p:nvPr/>
          </p:nvSpPr>
          <p:spPr bwMode="auto">
            <a:xfrm>
              <a:off x="2064" y="1392"/>
              <a:ext cx="624" cy="43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93" name="Text Box 53"/>
            <p:cNvSpPr txBox="1">
              <a:spLocks noChangeArrowheads="1"/>
            </p:cNvSpPr>
            <p:nvPr/>
          </p:nvSpPr>
          <p:spPr bwMode="auto">
            <a:xfrm>
              <a:off x="1344" y="561"/>
              <a:ext cx="5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q=</a:t>
              </a:r>
            </a:p>
          </p:txBody>
        </p:sp>
        <p:grpSp>
          <p:nvGrpSpPr>
            <p:cNvPr id="163894" name="Group 54"/>
            <p:cNvGrpSpPr/>
            <p:nvPr/>
          </p:nvGrpSpPr>
          <p:grpSpPr bwMode="auto">
            <a:xfrm>
              <a:off x="1743" y="576"/>
              <a:ext cx="336" cy="288"/>
              <a:chOff x="1776" y="558"/>
              <a:chExt cx="336" cy="288"/>
            </a:xfrm>
          </p:grpSpPr>
          <p:sp useBgFill="1">
            <p:nvSpPr>
              <p:cNvPr id="163895" name="Rectangle 55"/>
              <p:cNvSpPr>
                <a:spLocks noChangeArrowheads="1"/>
              </p:cNvSpPr>
              <p:nvPr/>
            </p:nvSpPr>
            <p:spPr bwMode="auto">
              <a:xfrm>
                <a:off x="1776" y="576"/>
                <a:ext cx="336" cy="240"/>
              </a:xfrm>
              <a:prstGeom prst="rect">
                <a:avLst/>
              </a:prstGeom>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896" name="Text Box 56"/>
              <p:cNvSpPr txBox="1">
                <a:spLocks noChangeArrowheads="1"/>
              </p:cNvSpPr>
              <p:nvPr/>
            </p:nvSpPr>
            <p:spPr bwMode="auto">
              <a:xfrm>
                <a:off x="1795" y="558"/>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a:t>
                </a:r>
              </a:p>
            </p:txBody>
          </p:sp>
        </p:grpSp>
      </p:grpSp>
      <p:sp>
        <p:nvSpPr>
          <p:cNvPr id="163897" name="Text Box 57"/>
          <p:cNvSpPr txBox="1">
            <a:spLocks noChangeArrowheads="1"/>
          </p:cNvSpPr>
          <p:nvPr/>
        </p:nvSpPr>
        <p:spPr bwMode="auto">
          <a:xfrm>
            <a:off x="0" y="152400"/>
            <a:ext cx="671957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400"/>
              <a:t>After outputting 49 and 51 in sequence:</a:t>
            </a:r>
          </a:p>
        </p:txBody>
      </p:sp>
      <p:sp>
        <p:nvSpPr>
          <p:cNvPr id="163898" name="Text Box 58"/>
          <p:cNvSpPr txBox="1">
            <a:spLocks noChangeArrowheads="1"/>
          </p:cNvSpPr>
          <p:nvPr/>
        </p:nvSpPr>
        <p:spPr bwMode="auto">
          <a:xfrm>
            <a:off x="3657600" y="838200"/>
            <a:ext cx="16764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sym typeface="+mn-ea"/>
              </a:rPr>
              <a:t>output</a:t>
            </a:r>
            <a:r>
              <a:rPr lang="zh-CN" altLang="en-US" sz="2400"/>
              <a:t>：</a:t>
            </a:r>
            <a:r>
              <a:rPr lang="en-US" altLang="zh-CN" sz="2400"/>
              <a:t>61</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B510424F-96B9-4C00-88E0-F120333DC6C5}" type="slidenum">
              <a:rPr lang="en-US" altLang="zh-CN" smtClean="0"/>
              <a:t>147</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3897">
                                            <p:txEl>
                                              <p:pRg st="0" end="0"/>
                                            </p:txEl>
                                          </p:spTgt>
                                        </p:tgtEl>
                                        <p:attrNameLst>
                                          <p:attrName>style.visibility</p:attrName>
                                        </p:attrNameLst>
                                      </p:cBhvr>
                                      <p:to>
                                        <p:strVal val="visible"/>
                                      </p:to>
                                    </p:set>
                                    <p:animEffect transition="in" filter="dissolve">
                                      <p:cBhvr>
                                        <p:cTn id="7" dur="500"/>
                                        <p:tgtEl>
                                          <p:spTgt spid="16389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3898">
                                            <p:txEl>
                                              <p:pRg st="0" end="0"/>
                                            </p:txEl>
                                          </p:spTgt>
                                        </p:tgtEl>
                                        <p:attrNameLst>
                                          <p:attrName>style.visibility</p:attrName>
                                        </p:attrNameLst>
                                      </p:cBhvr>
                                      <p:to>
                                        <p:strVal val="visible"/>
                                      </p:to>
                                    </p:set>
                                    <p:animEffect transition="in" filter="dissolve">
                                      <p:cBhvr>
                                        <p:cTn id="12" dur="500"/>
                                        <p:tgtEl>
                                          <p:spTgt spid="16389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97" grpId="0" build="p" autoUpdateAnimBg="0"/>
      <p:bldP spid="163898" grpId="0" build="p" autoUpdateAnimBg="0"/>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4866" name="Group 2"/>
          <p:cNvGrpSpPr/>
          <p:nvPr/>
        </p:nvGrpSpPr>
        <p:grpSpPr bwMode="auto">
          <a:xfrm>
            <a:off x="228600" y="890588"/>
            <a:ext cx="4876800" cy="4657725"/>
            <a:chOff x="144" y="561"/>
            <a:chExt cx="3072" cy="2934"/>
          </a:xfrm>
        </p:grpSpPr>
        <p:grpSp>
          <p:nvGrpSpPr>
            <p:cNvPr id="164867" name="Group 3"/>
            <p:cNvGrpSpPr/>
            <p:nvPr/>
          </p:nvGrpSpPr>
          <p:grpSpPr bwMode="auto">
            <a:xfrm>
              <a:off x="477" y="2383"/>
              <a:ext cx="280" cy="297"/>
              <a:chOff x="912" y="3552"/>
              <a:chExt cx="288" cy="299"/>
            </a:xfrm>
          </p:grpSpPr>
          <p:sp>
            <p:nvSpPr>
              <p:cNvPr id="164868" name="Oval 4"/>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869" name="Text Box 5"/>
              <p:cNvSpPr txBox="1">
                <a:spLocks noChangeArrowheads="1"/>
              </p:cNvSpPr>
              <p:nvPr/>
            </p:nvSpPr>
            <p:spPr bwMode="auto">
              <a:xfrm>
                <a:off x="942" y="3561"/>
                <a:ext cx="192"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a:t>
                </a:r>
              </a:p>
            </p:txBody>
          </p:sp>
        </p:grpSp>
        <p:grpSp>
          <p:nvGrpSpPr>
            <p:cNvPr id="164870" name="Group 6"/>
            <p:cNvGrpSpPr/>
            <p:nvPr/>
          </p:nvGrpSpPr>
          <p:grpSpPr bwMode="auto">
            <a:xfrm>
              <a:off x="1028" y="1834"/>
              <a:ext cx="280" cy="297"/>
              <a:chOff x="912" y="3552"/>
              <a:chExt cx="288" cy="299"/>
            </a:xfrm>
          </p:grpSpPr>
          <p:sp>
            <p:nvSpPr>
              <p:cNvPr id="164871" name="Oval 7"/>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872" name="Text Box 8"/>
              <p:cNvSpPr txBox="1">
                <a:spLocks noChangeArrowheads="1"/>
              </p:cNvSpPr>
              <p:nvPr/>
            </p:nvSpPr>
            <p:spPr bwMode="auto">
              <a:xfrm>
                <a:off x="942" y="3561"/>
                <a:ext cx="192"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3</a:t>
                </a:r>
              </a:p>
            </p:txBody>
          </p:sp>
        </p:grpSp>
        <p:grpSp>
          <p:nvGrpSpPr>
            <p:cNvPr id="164873" name="Group 9"/>
            <p:cNvGrpSpPr/>
            <p:nvPr/>
          </p:nvGrpSpPr>
          <p:grpSpPr bwMode="auto">
            <a:xfrm>
              <a:off x="2544" y="1819"/>
              <a:ext cx="280" cy="297"/>
              <a:chOff x="912" y="3552"/>
              <a:chExt cx="288" cy="299"/>
            </a:xfrm>
          </p:grpSpPr>
          <p:sp>
            <p:nvSpPr>
              <p:cNvPr id="164874" name="Oval 10"/>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875" name="Text Box 11"/>
              <p:cNvSpPr txBox="1">
                <a:spLocks noChangeArrowheads="1"/>
              </p:cNvSpPr>
              <p:nvPr/>
            </p:nvSpPr>
            <p:spPr bwMode="auto">
              <a:xfrm>
                <a:off x="942" y="3561"/>
                <a:ext cx="192"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0</a:t>
                </a:r>
              </a:p>
            </p:txBody>
          </p:sp>
        </p:grpSp>
        <p:grpSp>
          <p:nvGrpSpPr>
            <p:cNvPr id="164876" name="Group 12"/>
            <p:cNvGrpSpPr/>
            <p:nvPr/>
          </p:nvGrpSpPr>
          <p:grpSpPr bwMode="auto">
            <a:xfrm>
              <a:off x="1769" y="1195"/>
              <a:ext cx="280" cy="297"/>
              <a:chOff x="912" y="3552"/>
              <a:chExt cx="288" cy="299"/>
            </a:xfrm>
          </p:grpSpPr>
          <p:sp>
            <p:nvSpPr>
              <p:cNvPr id="164877" name="Oval 13"/>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878" name="Text Box 14"/>
              <p:cNvSpPr txBox="1">
                <a:spLocks noChangeArrowheads="1"/>
              </p:cNvSpPr>
              <p:nvPr/>
            </p:nvSpPr>
            <p:spPr bwMode="auto">
              <a:xfrm>
                <a:off x="942" y="3561"/>
                <a:ext cx="192"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4</a:t>
                </a:r>
              </a:p>
            </p:txBody>
          </p:sp>
        </p:grpSp>
        <p:sp>
          <p:nvSpPr>
            <p:cNvPr id="164879" name="Text Box 15"/>
            <p:cNvSpPr txBox="1">
              <a:spLocks noChangeArrowheads="1"/>
            </p:cNvSpPr>
            <p:nvPr/>
          </p:nvSpPr>
          <p:spPr bwMode="auto">
            <a:xfrm>
              <a:off x="2208" y="2112"/>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solidFill>
                    <a:srgbClr val="990000"/>
                  </a:solidFill>
                </a:rPr>
                <a:t>0</a:t>
              </a:r>
            </a:p>
          </p:txBody>
        </p:sp>
        <p:grpSp>
          <p:nvGrpSpPr>
            <p:cNvPr id="164880" name="Group 16"/>
            <p:cNvGrpSpPr/>
            <p:nvPr/>
          </p:nvGrpSpPr>
          <p:grpSpPr bwMode="auto">
            <a:xfrm>
              <a:off x="1248" y="2876"/>
              <a:ext cx="375" cy="583"/>
              <a:chOff x="1350" y="2906"/>
              <a:chExt cx="375" cy="583"/>
            </a:xfrm>
          </p:grpSpPr>
          <p:sp>
            <p:nvSpPr>
              <p:cNvPr id="164881" name="Text Box 17"/>
              <p:cNvSpPr txBox="1">
                <a:spLocks noChangeArrowheads="1"/>
              </p:cNvSpPr>
              <p:nvPr/>
            </p:nvSpPr>
            <p:spPr bwMode="auto">
              <a:xfrm>
                <a:off x="1352" y="2906"/>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a:t>
                </a:r>
              </a:p>
            </p:txBody>
          </p:sp>
          <p:sp>
            <p:nvSpPr>
              <p:cNvPr id="164882" name="Text Box 18"/>
              <p:cNvSpPr txBox="1">
                <a:spLocks noChangeArrowheads="1"/>
              </p:cNvSpPr>
              <p:nvPr/>
            </p:nvSpPr>
            <p:spPr bwMode="auto">
              <a:xfrm>
                <a:off x="1350" y="3195"/>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a:t>
                </a:r>
              </a:p>
            </p:txBody>
          </p:sp>
        </p:grpSp>
        <p:grpSp>
          <p:nvGrpSpPr>
            <p:cNvPr id="164883" name="Group 19"/>
            <p:cNvGrpSpPr/>
            <p:nvPr/>
          </p:nvGrpSpPr>
          <p:grpSpPr bwMode="auto">
            <a:xfrm>
              <a:off x="1530" y="2400"/>
              <a:ext cx="280" cy="297"/>
              <a:chOff x="912" y="3552"/>
              <a:chExt cx="288" cy="299"/>
            </a:xfrm>
          </p:grpSpPr>
          <p:sp>
            <p:nvSpPr>
              <p:cNvPr id="164884" name="Oval 20"/>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885" name="Text Box 21"/>
              <p:cNvSpPr txBox="1">
                <a:spLocks noChangeArrowheads="1"/>
              </p:cNvSpPr>
              <p:nvPr/>
            </p:nvSpPr>
            <p:spPr bwMode="auto">
              <a:xfrm>
                <a:off x="942" y="3561"/>
                <a:ext cx="192"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5</a:t>
                </a:r>
              </a:p>
            </p:txBody>
          </p:sp>
        </p:grpSp>
        <p:grpSp>
          <p:nvGrpSpPr>
            <p:cNvPr id="164886" name="Group 22"/>
            <p:cNvGrpSpPr/>
            <p:nvPr/>
          </p:nvGrpSpPr>
          <p:grpSpPr bwMode="auto">
            <a:xfrm>
              <a:off x="1731" y="2880"/>
              <a:ext cx="375" cy="583"/>
              <a:chOff x="1350" y="2906"/>
              <a:chExt cx="375" cy="583"/>
            </a:xfrm>
          </p:grpSpPr>
          <p:sp>
            <p:nvSpPr>
              <p:cNvPr id="164887" name="Text Box 23"/>
              <p:cNvSpPr txBox="1">
                <a:spLocks noChangeArrowheads="1"/>
              </p:cNvSpPr>
              <p:nvPr/>
            </p:nvSpPr>
            <p:spPr bwMode="auto">
              <a:xfrm>
                <a:off x="1352" y="2906"/>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48</a:t>
                </a:r>
              </a:p>
            </p:txBody>
          </p:sp>
          <p:sp>
            <p:nvSpPr>
              <p:cNvPr id="164888" name="Text Box 24"/>
              <p:cNvSpPr txBox="1">
                <a:spLocks noChangeArrowheads="1"/>
              </p:cNvSpPr>
              <p:nvPr/>
            </p:nvSpPr>
            <p:spPr bwMode="auto">
              <a:xfrm>
                <a:off x="1350" y="3195"/>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a:t>
                </a:r>
              </a:p>
            </p:txBody>
          </p:sp>
        </p:grpSp>
        <p:sp>
          <p:nvSpPr>
            <p:cNvPr id="164889" name="Line 25"/>
            <p:cNvSpPr>
              <a:spLocks noChangeShapeType="1"/>
            </p:cNvSpPr>
            <p:nvPr/>
          </p:nvSpPr>
          <p:spPr bwMode="auto">
            <a:xfrm flipH="1">
              <a:off x="1434" y="2592"/>
              <a:ext cx="96"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64890" name="Group 26"/>
            <p:cNvGrpSpPr/>
            <p:nvPr/>
          </p:nvGrpSpPr>
          <p:grpSpPr bwMode="auto">
            <a:xfrm>
              <a:off x="720" y="2898"/>
              <a:ext cx="375" cy="583"/>
              <a:chOff x="1350" y="2906"/>
              <a:chExt cx="375" cy="583"/>
            </a:xfrm>
          </p:grpSpPr>
          <p:sp>
            <p:nvSpPr>
              <p:cNvPr id="164891" name="Text Box 27"/>
              <p:cNvSpPr txBox="1">
                <a:spLocks noChangeArrowheads="1"/>
              </p:cNvSpPr>
              <p:nvPr/>
            </p:nvSpPr>
            <p:spPr bwMode="auto">
              <a:xfrm>
                <a:off x="1352" y="2906"/>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15</a:t>
                </a:r>
              </a:p>
            </p:txBody>
          </p:sp>
          <p:sp>
            <p:nvSpPr>
              <p:cNvPr id="164892" name="Text Box 28"/>
              <p:cNvSpPr txBox="1">
                <a:spLocks noChangeArrowheads="1"/>
              </p:cNvSpPr>
              <p:nvPr/>
            </p:nvSpPr>
            <p:spPr bwMode="auto">
              <a:xfrm>
                <a:off x="1350" y="3195"/>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a:t>
                </a:r>
              </a:p>
            </p:txBody>
          </p:sp>
        </p:grpSp>
        <p:grpSp>
          <p:nvGrpSpPr>
            <p:cNvPr id="164893" name="Group 29"/>
            <p:cNvGrpSpPr/>
            <p:nvPr/>
          </p:nvGrpSpPr>
          <p:grpSpPr bwMode="auto">
            <a:xfrm>
              <a:off x="144" y="2912"/>
              <a:ext cx="375" cy="583"/>
              <a:chOff x="1350" y="2906"/>
              <a:chExt cx="375" cy="583"/>
            </a:xfrm>
          </p:grpSpPr>
          <p:sp>
            <p:nvSpPr>
              <p:cNvPr id="164894" name="Text Box 30"/>
              <p:cNvSpPr txBox="1">
                <a:spLocks noChangeArrowheads="1"/>
              </p:cNvSpPr>
              <p:nvPr/>
            </p:nvSpPr>
            <p:spPr bwMode="auto">
              <a:xfrm>
                <a:off x="1352" y="2906"/>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30</a:t>
                </a:r>
              </a:p>
            </p:txBody>
          </p:sp>
          <p:sp>
            <p:nvSpPr>
              <p:cNvPr id="164895" name="Text Box 31"/>
              <p:cNvSpPr txBox="1">
                <a:spLocks noChangeArrowheads="1"/>
              </p:cNvSpPr>
              <p:nvPr/>
            </p:nvSpPr>
            <p:spPr bwMode="auto">
              <a:xfrm>
                <a:off x="1350" y="3195"/>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a:t>
                </a:r>
              </a:p>
            </p:txBody>
          </p:sp>
        </p:grpSp>
        <p:grpSp>
          <p:nvGrpSpPr>
            <p:cNvPr id="164896" name="Group 32"/>
            <p:cNvGrpSpPr/>
            <p:nvPr/>
          </p:nvGrpSpPr>
          <p:grpSpPr bwMode="auto">
            <a:xfrm>
              <a:off x="2262" y="2348"/>
              <a:ext cx="375" cy="583"/>
              <a:chOff x="1350" y="2906"/>
              <a:chExt cx="375" cy="583"/>
            </a:xfrm>
          </p:grpSpPr>
          <p:sp>
            <p:nvSpPr>
              <p:cNvPr id="164897" name="Text Box 33"/>
              <p:cNvSpPr txBox="1">
                <a:spLocks noChangeArrowheads="1"/>
              </p:cNvSpPr>
              <p:nvPr/>
            </p:nvSpPr>
            <p:spPr bwMode="auto">
              <a:xfrm>
                <a:off x="1352" y="2906"/>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14</a:t>
                </a:r>
              </a:p>
            </p:txBody>
          </p:sp>
          <p:sp>
            <p:nvSpPr>
              <p:cNvPr id="164898" name="Text Box 34"/>
              <p:cNvSpPr txBox="1">
                <a:spLocks noChangeArrowheads="1"/>
              </p:cNvSpPr>
              <p:nvPr/>
            </p:nvSpPr>
            <p:spPr bwMode="auto">
              <a:xfrm>
                <a:off x="1350" y="3195"/>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a:t>
                </a:r>
              </a:p>
            </p:txBody>
          </p:sp>
        </p:grpSp>
        <p:grpSp>
          <p:nvGrpSpPr>
            <p:cNvPr id="164899" name="Group 35"/>
            <p:cNvGrpSpPr/>
            <p:nvPr/>
          </p:nvGrpSpPr>
          <p:grpSpPr bwMode="auto">
            <a:xfrm>
              <a:off x="2745" y="2352"/>
              <a:ext cx="375" cy="583"/>
              <a:chOff x="1350" y="2906"/>
              <a:chExt cx="375" cy="583"/>
            </a:xfrm>
          </p:grpSpPr>
          <p:sp>
            <p:nvSpPr>
              <p:cNvPr id="164900" name="Text Box 36"/>
              <p:cNvSpPr txBox="1">
                <a:spLocks noChangeArrowheads="1"/>
              </p:cNvSpPr>
              <p:nvPr/>
            </p:nvSpPr>
            <p:spPr bwMode="auto">
              <a:xfrm>
                <a:off x="1352" y="2906"/>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61</a:t>
                </a:r>
              </a:p>
            </p:txBody>
          </p:sp>
          <p:sp>
            <p:nvSpPr>
              <p:cNvPr id="164901" name="Text Box 37"/>
              <p:cNvSpPr txBox="1">
                <a:spLocks noChangeArrowheads="1"/>
              </p:cNvSpPr>
              <p:nvPr/>
            </p:nvSpPr>
            <p:spPr bwMode="auto">
              <a:xfrm>
                <a:off x="1350" y="3195"/>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a:t>
                </a:r>
              </a:p>
            </p:txBody>
          </p:sp>
        </p:grpSp>
        <p:sp>
          <p:nvSpPr>
            <p:cNvPr id="164902" name="Text Box 38"/>
            <p:cNvSpPr txBox="1">
              <a:spLocks noChangeArrowheads="1"/>
            </p:cNvSpPr>
            <p:nvPr/>
          </p:nvSpPr>
          <p:spPr bwMode="auto">
            <a:xfrm>
              <a:off x="2928" y="2112"/>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solidFill>
                    <a:srgbClr val="990000"/>
                  </a:solidFill>
                </a:rPr>
                <a:t>1</a:t>
              </a:r>
            </a:p>
          </p:txBody>
        </p:sp>
        <p:sp>
          <p:nvSpPr>
            <p:cNvPr id="164903" name="Text Box 39"/>
            <p:cNvSpPr txBox="1">
              <a:spLocks noChangeArrowheads="1"/>
            </p:cNvSpPr>
            <p:nvPr/>
          </p:nvSpPr>
          <p:spPr bwMode="auto">
            <a:xfrm>
              <a:off x="1230" y="2622"/>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solidFill>
                    <a:srgbClr val="990000"/>
                  </a:solidFill>
                </a:rPr>
                <a:t>4</a:t>
              </a:r>
            </a:p>
          </p:txBody>
        </p:sp>
        <p:sp>
          <p:nvSpPr>
            <p:cNvPr id="164904" name="Text Box 40"/>
            <p:cNvSpPr txBox="1">
              <a:spLocks noChangeArrowheads="1"/>
            </p:cNvSpPr>
            <p:nvPr/>
          </p:nvSpPr>
          <p:spPr bwMode="auto">
            <a:xfrm>
              <a:off x="1860" y="2625"/>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solidFill>
                    <a:srgbClr val="990000"/>
                  </a:solidFill>
                </a:rPr>
                <a:t>5</a:t>
              </a:r>
            </a:p>
          </p:txBody>
        </p:sp>
        <p:sp>
          <p:nvSpPr>
            <p:cNvPr id="164905" name="Text Box 41"/>
            <p:cNvSpPr txBox="1">
              <a:spLocks noChangeArrowheads="1"/>
            </p:cNvSpPr>
            <p:nvPr/>
          </p:nvSpPr>
          <p:spPr bwMode="auto">
            <a:xfrm>
              <a:off x="828" y="2655"/>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solidFill>
                    <a:srgbClr val="990000"/>
                  </a:solidFill>
                </a:rPr>
                <a:t>3</a:t>
              </a:r>
            </a:p>
          </p:txBody>
        </p:sp>
        <p:sp>
          <p:nvSpPr>
            <p:cNvPr id="164906" name="Text Box 42"/>
            <p:cNvSpPr txBox="1">
              <a:spLocks noChangeArrowheads="1"/>
            </p:cNvSpPr>
            <p:nvPr/>
          </p:nvSpPr>
          <p:spPr bwMode="auto">
            <a:xfrm>
              <a:off x="159" y="2655"/>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solidFill>
                    <a:srgbClr val="990000"/>
                  </a:solidFill>
                </a:rPr>
                <a:t>2</a:t>
              </a:r>
            </a:p>
          </p:txBody>
        </p:sp>
        <p:sp>
          <p:nvSpPr>
            <p:cNvPr id="164907" name="Line 43"/>
            <p:cNvSpPr>
              <a:spLocks noChangeShapeType="1"/>
            </p:cNvSpPr>
            <p:nvPr/>
          </p:nvSpPr>
          <p:spPr bwMode="auto">
            <a:xfrm>
              <a:off x="1825" y="2592"/>
              <a:ext cx="89"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908" name="Line 44"/>
            <p:cNvSpPr>
              <a:spLocks noChangeShapeType="1"/>
            </p:cNvSpPr>
            <p:nvPr/>
          </p:nvSpPr>
          <p:spPr bwMode="auto">
            <a:xfrm flipH="1">
              <a:off x="369" y="2622"/>
              <a:ext cx="96"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909" name="Line 45"/>
            <p:cNvSpPr>
              <a:spLocks noChangeShapeType="1"/>
            </p:cNvSpPr>
            <p:nvPr/>
          </p:nvSpPr>
          <p:spPr bwMode="auto">
            <a:xfrm>
              <a:off x="760" y="2622"/>
              <a:ext cx="89"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910" name="Line 46"/>
            <p:cNvSpPr>
              <a:spLocks noChangeShapeType="1"/>
            </p:cNvSpPr>
            <p:nvPr/>
          </p:nvSpPr>
          <p:spPr bwMode="auto">
            <a:xfrm flipH="1">
              <a:off x="2448" y="2064"/>
              <a:ext cx="96"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911" name="Line 47"/>
            <p:cNvSpPr>
              <a:spLocks noChangeShapeType="1"/>
            </p:cNvSpPr>
            <p:nvPr/>
          </p:nvSpPr>
          <p:spPr bwMode="auto">
            <a:xfrm>
              <a:off x="2839" y="2064"/>
              <a:ext cx="89"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912" name="Line 48"/>
            <p:cNvSpPr>
              <a:spLocks noChangeShapeType="1"/>
            </p:cNvSpPr>
            <p:nvPr/>
          </p:nvSpPr>
          <p:spPr bwMode="auto">
            <a:xfrm>
              <a:off x="1321" y="2014"/>
              <a:ext cx="311" cy="38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913" name="Line 49"/>
            <p:cNvSpPr>
              <a:spLocks noChangeShapeType="1"/>
            </p:cNvSpPr>
            <p:nvPr/>
          </p:nvSpPr>
          <p:spPr bwMode="auto">
            <a:xfrm flipH="1">
              <a:off x="1163" y="1392"/>
              <a:ext cx="613" cy="42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914" name="Line 50"/>
            <p:cNvSpPr>
              <a:spLocks noChangeShapeType="1"/>
            </p:cNvSpPr>
            <p:nvPr/>
          </p:nvSpPr>
          <p:spPr bwMode="auto">
            <a:xfrm flipH="1">
              <a:off x="624" y="2016"/>
              <a:ext cx="381" cy="3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915" name="Line 51"/>
            <p:cNvSpPr>
              <a:spLocks noChangeShapeType="1"/>
            </p:cNvSpPr>
            <p:nvPr/>
          </p:nvSpPr>
          <p:spPr bwMode="auto">
            <a:xfrm>
              <a:off x="1913" y="836"/>
              <a:ext cx="1" cy="36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916" name="Line 52"/>
            <p:cNvSpPr>
              <a:spLocks noChangeShapeType="1"/>
            </p:cNvSpPr>
            <p:nvPr/>
          </p:nvSpPr>
          <p:spPr bwMode="auto">
            <a:xfrm>
              <a:off x="2064" y="1392"/>
              <a:ext cx="624" cy="43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917" name="Text Box 53"/>
            <p:cNvSpPr txBox="1">
              <a:spLocks noChangeArrowheads="1"/>
            </p:cNvSpPr>
            <p:nvPr/>
          </p:nvSpPr>
          <p:spPr bwMode="auto">
            <a:xfrm>
              <a:off x="1344" y="561"/>
              <a:ext cx="5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q=</a:t>
              </a:r>
            </a:p>
          </p:txBody>
        </p:sp>
        <p:grpSp>
          <p:nvGrpSpPr>
            <p:cNvPr id="164918" name="Group 54"/>
            <p:cNvGrpSpPr/>
            <p:nvPr/>
          </p:nvGrpSpPr>
          <p:grpSpPr bwMode="auto">
            <a:xfrm>
              <a:off x="1743" y="576"/>
              <a:ext cx="336" cy="288"/>
              <a:chOff x="1776" y="558"/>
              <a:chExt cx="336" cy="288"/>
            </a:xfrm>
          </p:grpSpPr>
          <p:sp useBgFill="1">
            <p:nvSpPr>
              <p:cNvPr id="164919" name="Rectangle 55"/>
              <p:cNvSpPr>
                <a:spLocks noChangeArrowheads="1"/>
              </p:cNvSpPr>
              <p:nvPr/>
            </p:nvSpPr>
            <p:spPr bwMode="auto">
              <a:xfrm>
                <a:off x="1776" y="576"/>
                <a:ext cx="336" cy="240"/>
              </a:xfrm>
              <a:prstGeom prst="rect">
                <a:avLst/>
              </a:prstGeom>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920" name="Text Box 56"/>
              <p:cNvSpPr txBox="1">
                <a:spLocks noChangeArrowheads="1"/>
              </p:cNvSpPr>
              <p:nvPr/>
            </p:nvSpPr>
            <p:spPr bwMode="auto">
              <a:xfrm>
                <a:off x="1795" y="558"/>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a:t>
                </a:r>
              </a:p>
            </p:txBody>
          </p:sp>
        </p:grpSp>
      </p:grpSp>
      <p:grpSp>
        <p:nvGrpSpPr>
          <p:cNvPr id="164921" name="Group 57"/>
          <p:cNvGrpSpPr/>
          <p:nvPr/>
        </p:nvGrpSpPr>
        <p:grpSpPr bwMode="auto">
          <a:xfrm>
            <a:off x="2767013" y="914400"/>
            <a:ext cx="533400" cy="457200"/>
            <a:chOff x="1776" y="558"/>
            <a:chExt cx="336" cy="288"/>
          </a:xfrm>
        </p:grpSpPr>
        <p:sp useBgFill="1">
          <p:nvSpPr>
            <p:cNvPr id="164922" name="Rectangle 58"/>
            <p:cNvSpPr>
              <a:spLocks noChangeArrowheads="1"/>
            </p:cNvSpPr>
            <p:nvPr/>
          </p:nvSpPr>
          <p:spPr bwMode="auto">
            <a:xfrm>
              <a:off x="1776" y="576"/>
              <a:ext cx="336" cy="240"/>
            </a:xfrm>
            <a:prstGeom prst="rect">
              <a:avLst/>
            </a:prstGeom>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923" name="Text Box 59"/>
            <p:cNvSpPr txBox="1">
              <a:spLocks noChangeArrowheads="1"/>
            </p:cNvSpPr>
            <p:nvPr/>
          </p:nvSpPr>
          <p:spPr bwMode="auto">
            <a:xfrm>
              <a:off x="1795" y="558"/>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4</a:t>
              </a:r>
            </a:p>
          </p:txBody>
        </p:sp>
      </p:grpSp>
      <p:sp>
        <p:nvSpPr>
          <p:cNvPr id="164924" name="Text Box 60"/>
          <p:cNvSpPr txBox="1">
            <a:spLocks noChangeArrowheads="1"/>
          </p:cNvSpPr>
          <p:nvPr/>
        </p:nvSpPr>
        <p:spPr bwMode="auto">
          <a:xfrm>
            <a:off x="3505200" y="914400"/>
            <a:ext cx="16764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sym typeface="+mn-ea"/>
              </a:rPr>
              <a:t>output</a:t>
            </a:r>
            <a:r>
              <a:rPr lang="zh-CN" altLang="en-US" sz="2400"/>
              <a:t>：</a:t>
            </a:r>
            <a:r>
              <a:rPr lang="en-US" altLang="zh-CN" sz="2400"/>
              <a:t>1</a:t>
            </a:r>
          </a:p>
        </p:txBody>
      </p:sp>
      <p:grpSp>
        <p:nvGrpSpPr>
          <p:cNvPr id="164925" name="Group 61"/>
          <p:cNvGrpSpPr/>
          <p:nvPr/>
        </p:nvGrpSpPr>
        <p:grpSpPr bwMode="auto">
          <a:xfrm>
            <a:off x="4419600" y="4186238"/>
            <a:ext cx="533400" cy="457200"/>
            <a:chOff x="2352" y="3150"/>
            <a:chExt cx="336" cy="288"/>
          </a:xfrm>
        </p:grpSpPr>
        <p:sp useBgFill="1">
          <p:nvSpPr>
            <p:cNvPr id="164926" name="Rectangle 62"/>
            <p:cNvSpPr>
              <a:spLocks noChangeArrowheads="1"/>
            </p:cNvSpPr>
            <p:nvPr/>
          </p:nvSpPr>
          <p:spPr bwMode="auto">
            <a:xfrm>
              <a:off x="2400" y="3216"/>
              <a:ext cx="288" cy="192"/>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927" name="Text Box 63"/>
            <p:cNvSpPr txBox="1">
              <a:spLocks noChangeArrowheads="1"/>
            </p:cNvSpPr>
            <p:nvPr/>
          </p:nvSpPr>
          <p:spPr bwMode="auto">
            <a:xfrm>
              <a:off x="2352" y="3150"/>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a:t>
              </a:r>
            </a:p>
          </p:txBody>
        </p:sp>
      </p:grpSp>
      <p:grpSp>
        <p:nvGrpSpPr>
          <p:cNvPr id="164928" name="Group 64"/>
          <p:cNvGrpSpPr/>
          <p:nvPr/>
        </p:nvGrpSpPr>
        <p:grpSpPr bwMode="auto">
          <a:xfrm>
            <a:off x="4443413" y="3733800"/>
            <a:ext cx="533400" cy="457200"/>
            <a:chOff x="4560" y="2688"/>
            <a:chExt cx="336" cy="288"/>
          </a:xfrm>
        </p:grpSpPr>
        <p:sp useBgFill="1">
          <p:nvSpPr>
            <p:cNvPr id="164929" name="Rectangle 65"/>
            <p:cNvSpPr>
              <a:spLocks noChangeArrowheads="1"/>
            </p:cNvSpPr>
            <p:nvPr/>
          </p:nvSpPr>
          <p:spPr bwMode="auto">
            <a:xfrm>
              <a:off x="4593" y="2706"/>
              <a:ext cx="288" cy="24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930" name="Text Box 66"/>
            <p:cNvSpPr txBox="1">
              <a:spLocks noChangeArrowheads="1"/>
            </p:cNvSpPr>
            <p:nvPr/>
          </p:nvSpPr>
          <p:spPr bwMode="auto">
            <a:xfrm>
              <a:off x="4560" y="2688"/>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52</a:t>
              </a:r>
            </a:p>
          </p:txBody>
        </p:sp>
      </p:grpSp>
      <p:grpSp>
        <p:nvGrpSpPr>
          <p:cNvPr id="164931" name="Group 67"/>
          <p:cNvGrpSpPr/>
          <p:nvPr/>
        </p:nvGrpSpPr>
        <p:grpSpPr bwMode="auto">
          <a:xfrm>
            <a:off x="4014788" y="2819400"/>
            <a:ext cx="533400" cy="546100"/>
            <a:chOff x="2640" y="3600"/>
            <a:chExt cx="336" cy="344"/>
          </a:xfrm>
        </p:grpSpPr>
        <p:sp useBgFill="1">
          <p:nvSpPr>
            <p:cNvPr id="164932" name="Rectangle 68"/>
            <p:cNvSpPr>
              <a:spLocks noChangeArrowheads="1"/>
            </p:cNvSpPr>
            <p:nvPr/>
          </p:nvSpPr>
          <p:spPr bwMode="auto">
            <a:xfrm>
              <a:off x="2640" y="3600"/>
              <a:ext cx="336" cy="336"/>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64933" name="Group 69"/>
            <p:cNvGrpSpPr/>
            <p:nvPr/>
          </p:nvGrpSpPr>
          <p:grpSpPr bwMode="auto">
            <a:xfrm>
              <a:off x="2640" y="3648"/>
              <a:ext cx="288" cy="296"/>
              <a:chOff x="912" y="3552"/>
              <a:chExt cx="288" cy="321"/>
            </a:xfrm>
          </p:grpSpPr>
          <p:sp>
            <p:nvSpPr>
              <p:cNvPr id="164934" name="Oval 70"/>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935" name="Text Box 71"/>
              <p:cNvSpPr txBox="1">
                <a:spLocks noChangeArrowheads="1"/>
              </p:cNvSpPr>
              <p:nvPr/>
            </p:nvSpPr>
            <p:spPr bwMode="auto">
              <a:xfrm>
                <a:off x="942" y="3561"/>
                <a:ext cx="192" cy="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a:t>
                </a:r>
              </a:p>
            </p:txBody>
          </p:sp>
        </p:grpSp>
      </p:grpSp>
      <p:grpSp>
        <p:nvGrpSpPr>
          <p:cNvPr id="164936" name="Group 72"/>
          <p:cNvGrpSpPr/>
          <p:nvPr/>
        </p:nvGrpSpPr>
        <p:grpSpPr bwMode="auto">
          <a:xfrm>
            <a:off x="2819400" y="1816100"/>
            <a:ext cx="533400" cy="546100"/>
            <a:chOff x="2640" y="3600"/>
            <a:chExt cx="336" cy="344"/>
          </a:xfrm>
        </p:grpSpPr>
        <p:sp useBgFill="1">
          <p:nvSpPr>
            <p:cNvPr id="164937" name="Rectangle 73"/>
            <p:cNvSpPr>
              <a:spLocks noChangeArrowheads="1"/>
            </p:cNvSpPr>
            <p:nvPr/>
          </p:nvSpPr>
          <p:spPr bwMode="auto">
            <a:xfrm>
              <a:off x="2640" y="3600"/>
              <a:ext cx="336" cy="336"/>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64938" name="Group 74"/>
            <p:cNvGrpSpPr/>
            <p:nvPr/>
          </p:nvGrpSpPr>
          <p:grpSpPr bwMode="auto">
            <a:xfrm>
              <a:off x="2640" y="3648"/>
              <a:ext cx="288" cy="296"/>
              <a:chOff x="912" y="3552"/>
              <a:chExt cx="288" cy="321"/>
            </a:xfrm>
          </p:grpSpPr>
          <p:sp>
            <p:nvSpPr>
              <p:cNvPr id="164939" name="Oval 75"/>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940" name="Text Box 76"/>
              <p:cNvSpPr txBox="1">
                <a:spLocks noChangeArrowheads="1"/>
              </p:cNvSpPr>
              <p:nvPr/>
            </p:nvSpPr>
            <p:spPr bwMode="auto">
              <a:xfrm>
                <a:off x="942" y="3561"/>
                <a:ext cx="192" cy="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0</a:t>
                </a:r>
              </a:p>
            </p:txBody>
          </p:sp>
        </p:grpSp>
      </p:grpSp>
      <p:sp>
        <p:nvSpPr>
          <p:cNvPr id="164941" name="Text Box 77"/>
          <p:cNvSpPr txBox="1">
            <a:spLocks noChangeArrowheads="1"/>
          </p:cNvSpPr>
          <p:nvPr/>
        </p:nvSpPr>
        <p:spPr bwMode="auto">
          <a:xfrm>
            <a:off x="0" y="0"/>
            <a:ext cx="55626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t>After outputting: 29, 38, 39, 49, 51, 61</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B510424F-96B9-4C00-88E0-F120333DC6C5}" type="slidenum">
              <a:rPr lang="en-US" altLang="zh-CN" smtClean="0"/>
              <a:t>148</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649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nodeType="clickEffect">
                                  <p:stCondLst>
                                    <p:cond delay="0"/>
                                  </p:stCondLst>
                                  <p:childTnLst>
                                    <p:set>
                                      <p:cBhvr>
                                        <p:cTn id="10" dur="1" fill="hold">
                                          <p:stCondLst>
                                            <p:cond delay="0"/>
                                          </p:stCondLst>
                                        </p:cTn>
                                        <p:tgtEl>
                                          <p:spTgt spid="164925"/>
                                        </p:tgtEl>
                                        <p:attrNameLst>
                                          <p:attrName>style.visibility</p:attrName>
                                        </p:attrNameLst>
                                      </p:cBhvr>
                                      <p:to>
                                        <p:strVal val="visible"/>
                                      </p:to>
                                    </p:set>
                                    <p:animEffect transition="in" filter="dissolve">
                                      <p:cBhvr>
                                        <p:cTn id="11" dur="500"/>
                                        <p:tgtEl>
                                          <p:spTgt spid="164925"/>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164931"/>
                                        </p:tgtEl>
                                        <p:attrNameLst>
                                          <p:attrName>style.visibility</p:attrName>
                                        </p:attrNameLst>
                                      </p:cBhvr>
                                      <p:to>
                                        <p:strVal val="visible"/>
                                      </p:to>
                                    </p:set>
                                    <p:animEffect transition="in" filter="dissolve">
                                      <p:cBhvr>
                                        <p:cTn id="16" dur="500"/>
                                        <p:tgtEl>
                                          <p:spTgt spid="164931"/>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164936"/>
                                        </p:tgtEl>
                                        <p:attrNameLst>
                                          <p:attrName>style.visibility</p:attrName>
                                        </p:attrNameLst>
                                      </p:cBhvr>
                                      <p:to>
                                        <p:strVal val="visible"/>
                                      </p:to>
                                    </p:set>
                                    <p:animEffect transition="in" filter="dissolve">
                                      <p:cBhvr>
                                        <p:cTn id="21" dur="500"/>
                                        <p:tgtEl>
                                          <p:spTgt spid="164936"/>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164921"/>
                                        </p:tgtEl>
                                        <p:attrNameLst>
                                          <p:attrName>style.visibility</p:attrName>
                                        </p:attrNameLst>
                                      </p:cBhvr>
                                      <p:to>
                                        <p:strVal val="visible"/>
                                      </p:to>
                                    </p:set>
                                    <p:animEffect transition="in" filter="dissolve">
                                      <p:cBhvr>
                                        <p:cTn id="26" dur="500"/>
                                        <p:tgtEl>
                                          <p:spTgt spid="164921"/>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164924">
                                            <p:txEl>
                                              <p:pRg st="0" end="0"/>
                                            </p:txEl>
                                          </p:spTgt>
                                        </p:tgtEl>
                                        <p:attrNameLst>
                                          <p:attrName>style.visibility</p:attrName>
                                        </p:attrNameLst>
                                      </p:cBhvr>
                                      <p:to>
                                        <p:strVal val="visible"/>
                                      </p:to>
                                    </p:set>
                                    <p:animEffect transition="in" filter="dissolve">
                                      <p:cBhvr>
                                        <p:cTn id="31" dur="500"/>
                                        <p:tgtEl>
                                          <p:spTgt spid="16492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924" grpId="0" build="p" autoUpdateAnimBg="0"/>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5890" name="Group 2"/>
          <p:cNvGrpSpPr/>
          <p:nvPr/>
        </p:nvGrpSpPr>
        <p:grpSpPr bwMode="auto">
          <a:xfrm>
            <a:off x="228600" y="890588"/>
            <a:ext cx="4876800" cy="4657725"/>
            <a:chOff x="144" y="561"/>
            <a:chExt cx="3072" cy="2934"/>
          </a:xfrm>
        </p:grpSpPr>
        <p:grpSp>
          <p:nvGrpSpPr>
            <p:cNvPr id="165891" name="Group 3"/>
            <p:cNvGrpSpPr/>
            <p:nvPr/>
          </p:nvGrpSpPr>
          <p:grpSpPr bwMode="auto">
            <a:xfrm>
              <a:off x="477" y="2383"/>
              <a:ext cx="280" cy="297"/>
              <a:chOff x="912" y="3552"/>
              <a:chExt cx="288" cy="299"/>
            </a:xfrm>
          </p:grpSpPr>
          <p:sp>
            <p:nvSpPr>
              <p:cNvPr id="165892" name="Oval 4"/>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5893" name="Text Box 5"/>
              <p:cNvSpPr txBox="1">
                <a:spLocks noChangeArrowheads="1"/>
              </p:cNvSpPr>
              <p:nvPr/>
            </p:nvSpPr>
            <p:spPr bwMode="auto">
              <a:xfrm>
                <a:off x="942" y="3561"/>
                <a:ext cx="192"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a:t>
                </a:r>
              </a:p>
            </p:txBody>
          </p:sp>
        </p:grpSp>
        <p:grpSp>
          <p:nvGrpSpPr>
            <p:cNvPr id="165894" name="Group 6"/>
            <p:cNvGrpSpPr/>
            <p:nvPr/>
          </p:nvGrpSpPr>
          <p:grpSpPr bwMode="auto">
            <a:xfrm>
              <a:off x="1028" y="1834"/>
              <a:ext cx="280" cy="297"/>
              <a:chOff x="912" y="3552"/>
              <a:chExt cx="288" cy="299"/>
            </a:xfrm>
          </p:grpSpPr>
          <p:sp>
            <p:nvSpPr>
              <p:cNvPr id="165895" name="Oval 7"/>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5896" name="Text Box 8"/>
              <p:cNvSpPr txBox="1">
                <a:spLocks noChangeArrowheads="1"/>
              </p:cNvSpPr>
              <p:nvPr/>
            </p:nvSpPr>
            <p:spPr bwMode="auto">
              <a:xfrm>
                <a:off x="942" y="3561"/>
                <a:ext cx="192"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3</a:t>
                </a:r>
              </a:p>
            </p:txBody>
          </p:sp>
        </p:grpSp>
        <p:grpSp>
          <p:nvGrpSpPr>
            <p:cNvPr id="165897" name="Group 9"/>
            <p:cNvGrpSpPr/>
            <p:nvPr/>
          </p:nvGrpSpPr>
          <p:grpSpPr bwMode="auto">
            <a:xfrm>
              <a:off x="2544" y="1819"/>
              <a:ext cx="280" cy="297"/>
              <a:chOff x="912" y="3552"/>
              <a:chExt cx="288" cy="299"/>
            </a:xfrm>
          </p:grpSpPr>
          <p:sp>
            <p:nvSpPr>
              <p:cNvPr id="165898" name="Oval 10"/>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5899" name="Text Box 11"/>
              <p:cNvSpPr txBox="1">
                <a:spLocks noChangeArrowheads="1"/>
              </p:cNvSpPr>
              <p:nvPr/>
            </p:nvSpPr>
            <p:spPr bwMode="auto">
              <a:xfrm>
                <a:off x="942" y="3561"/>
                <a:ext cx="192"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a:t>
                </a:r>
              </a:p>
            </p:txBody>
          </p:sp>
        </p:grpSp>
        <p:grpSp>
          <p:nvGrpSpPr>
            <p:cNvPr id="165900" name="Group 12"/>
            <p:cNvGrpSpPr/>
            <p:nvPr/>
          </p:nvGrpSpPr>
          <p:grpSpPr bwMode="auto">
            <a:xfrm>
              <a:off x="1769" y="1195"/>
              <a:ext cx="280" cy="297"/>
              <a:chOff x="912" y="3552"/>
              <a:chExt cx="288" cy="299"/>
            </a:xfrm>
          </p:grpSpPr>
          <p:sp>
            <p:nvSpPr>
              <p:cNvPr id="165901" name="Oval 13"/>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5902" name="Text Box 14"/>
              <p:cNvSpPr txBox="1">
                <a:spLocks noChangeArrowheads="1"/>
              </p:cNvSpPr>
              <p:nvPr/>
            </p:nvSpPr>
            <p:spPr bwMode="auto">
              <a:xfrm>
                <a:off x="942" y="3561"/>
                <a:ext cx="192"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4</a:t>
                </a:r>
              </a:p>
            </p:txBody>
          </p:sp>
        </p:grpSp>
        <p:sp>
          <p:nvSpPr>
            <p:cNvPr id="165903" name="Text Box 15"/>
            <p:cNvSpPr txBox="1">
              <a:spLocks noChangeArrowheads="1"/>
            </p:cNvSpPr>
            <p:nvPr/>
          </p:nvSpPr>
          <p:spPr bwMode="auto">
            <a:xfrm>
              <a:off x="2208" y="2112"/>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solidFill>
                    <a:srgbClr val="990000"/>
                  </a:solidFill>
                </a:rPr>
                <a:t>0</a:t>
              </a:r>
            </a:p>
          </p:txBody>
        </p:sp>
        <p:grpSp>
          <p:nvGrpSpPr>
            <p:cNvPr id="165904" name="Group 16"/>
            <p:cNvGrpSpPr/>
            <p:nvPr/>
          </p:nvGrpSpPr>
          <p:grpSpPr bwMode="auto">
            <a:xfrm>
              <a:off x="1248" y="2876"/>
              <a:ext cx="375" cy="583"/>
              <a:chOff x="1350" y="2906"/>
              <a:chExt cx="375" cy="583"/>
            </a:xfrm>
          </p:grpSpPr>
          <p:sp>
            <p:nvSpPr>
              <p:cNvPr id="165905" name="Text Box 17"/>
              <p:cNvSpPr txBox="1">
                <a:spLocks noChangeArrowheads="1"/>
              </p:cNvSpPr>
              <p:nvPr/>
            </p:nvSpPr>
            <p:spPr bwMode="auto">
              <a:xfrm>
                <a:off x="1352" y="2906"/>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a:t>
                </a:r>
              </a:p>
            </p:txBody>
          </p:sp>
          <p:sp>
            <p:nvSpPr>
              <p:cNvPr id="165906" name="Text Box 18"/>
              <p:cNvSpPr txBox="1">
                <a:spLocks noChangeArrowheads="1"/>
              </p:cNvSpPr>
              <p:nvPr/>
            </p:nvSpPr>
            <p:spPr bwMode="auto">
              <a:xfrm>
                <a:off x="1350" y="3195"/>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a:t>
                </a:r>
              </a:p>
            </p:txBody>
          </p:sp>
        </p:grpSp>
        <p:grpSp>
          <p:nvGrpSpPr>
            <p:cNvPr id="165907" name="Group 19"/>
            <p:cNvGrpSpPr/>
            <p:nvPr/>
          </p:nvGrpSpPr>
          <p:grpSpPr bwMode="auto">
            <a:xfrm>
              <a:off x="1530" y="2400"/>
              <a:ext cx="280" cy="297"/>
              <a:chOff x="912" y="3552"/>
              <a:chExt cx="288" cy="299"/>
            </a:xfrm>
          </p:grpSpPr>
          <p:sp>
            <p:nvSpPr>
              <p:cNvPr id="165908" name="Oval 20"/>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5909" name="Text Box 21"/>
              <p:cNvSpPr txBox="1">
                <a:spLocks noChangeArrowheads="1"/>
              </p:cNvSpPr>
              <p:nvPr/>
            </p:nvSpPr>
            <p:spPr bwMode="auto">
              <a:xfrm>
                <a:off x="942" y="3561"/>
                <a:ext cx="192"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5</a:t>
                </a:r>
              </a:p>
            </p:txBody>
          </p:sp>
        </p:grpSp>
        <p:grpSp>
          <p:nvGrpSpPr>
            <p:cNvPr id="165910" name="Group 22"/>
            <p:cNvGrpSpPr/>
            <p:nvPr/>
          </p:nvGrpSpPr>
          <p:grpSpPr bwMode="auto">
            <a:xfrm>
              <a:off x="1731" y="2880"/>
              <a:ext cx="375" cy="583"/>
              <a:chOff x="1350" y="2906"/>
              <a:chExt cx="375" cy="583"/>
            </a:xfrm>
          </p:grpSpPr>
          <p:sp>
            <p:nvSpPr>
              <p:cNvPr id="165911" name="Text Box 23"/>
              <p:cNvSpPr txBox="1">
                <a:spLocks noChangeArrowheads="1"/>
              </p:cNvSpPr>
              <p:nvPr/>
            </p:nvSpPr>
            <p:spPr bwMode="auto">
              <a:xfrm>
                <a:off x="1352" y="2906"/>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48</a:t>
                </a:r>
              </a:p>
            </p:txBody>
          </p:sp>
          <p:sp>
            <p:nvSpPr>
              <p:cNvPr id="165912" name="Text Box 24"/>
              <p:cNvSpPr txBox="1">
                <a:spLocks noChangeArrowheads="1"/>
              </p:cNvSpPr>
              <p:nvPr/>
            </p:nvSpPr>
            <p:spPr bwMode="auto">
              <a:xfrm>
                <a:off x="1350" y="3195"/>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a:t>
                </a:r>
              </a:p>
            </p:txBody>
          </p:sp>
        </p:grpSp>
        <p:sp>
          <p:nvSpPr>
            <p:cNvPr id="165913" name="Line 25"/>
            <p:cNvSpPr>
              <a:spLocks noChangeShapeType="1"/>
            </p:cNvSpPr>
            <p:nvPr/>
          </p:nvSpPr>
          <p:spPr bwMode="auto">
            <a:xfrm flipH="1">
              <a:off x="1434" y="2592"/>
              <a:ext cx="96"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65914" name="Group 26"/>
            <p:cNvGrpSpPr/>
            <p:nvPr/>
          </p:nvGrpSpPr>
          <p:grpSpPr bwMode="auto">
            <a:xfrm>
              <a:off x="720" y="2898"/>
              <a:ext cx="375" cy="583"/>
              <a:chOff x="1350" y="2906"/>
              <a:chExt cx="375" cy="583"/>
            </a:xfrm>
          </p:grpSpPr>
          <p:sp>
            <p:nvSpPr>
              <p:cNvPr id="165915" name="Text Box 27"/>
              <p:cNvSpPr txBox="1">
                <a:spLocks noChangeArrowheads="1"/>
              </p:cNvSpPr>
              <p:nvPr/>
            </p:nvSpPr>
            <p:spPr bwMode="auto">
              <a:xfrm>
                <a:off x="1352" y="2906"/>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15</a:t>
                </a:r>
              </a:p>
            </p:txBody>
          </p:sp>
          <p:sp>
            <p:nvSpPr>
              <p:cNvPr id="165916" name="Text Box 28"/>
              <p:cNvSpPr txBox="1">
                <a:spLocks noChangeArrowheads="1"/>
              </p:cNvSpPr>
              <p:nvPr/>
            </p:nvSpPr>
            <p:spPr bwMode="auto">
              <a:xfrm>
                <a:off x="1350" y="3195"/>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a:t>
                </a:r>
              </a:p>
            </p:txBody>
          </p:sp>
        </p:grpSp>
        <p:grpSp>
          <p:nvGrpSpPr>
            <p:cNvPr id="165917" name="Group 29"/>
            <p:cNvGrpSpPr/>
            <p:nvPr/>
          </p:nvGrpSpPr>
          <p:grpSpPr bwMode="auto">
            <a:xfrm>
              <a:off x="144" y="2912"/>
              <a:ext cx="375" cy="583"/>
              <a:chOff x="1350" y="2906"/>
              <a:chExt cx="375" cy="583"/>
            </a:xfrm>
          </p:grpSpPr>
          <p:sp>
            <p:nvSpPr>
              <p:cNvPr id="165918" name="Text Box 30"/>
              <p:cNvSpPr txBox="1">
                <a:spLocks noChangeArrowheads="1"/>
              </p:cNvSpPr>
              <p:nvPr/>
            </p:nvSpPr>
            <p:spPr bwMode="auto">
              <a:xfrm>
                <a:off x="1352" y="2906"/>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30</a:t>
                </a:r>
              </a:p>
            </p:txBody>
          </p:sp>
          <p:sp>
            <p:nvSpPr>
              <p:cNvPr id="165919" name="Text Box 31"/>
              <p:cNvSpPr txBox="1">
                <a:spLocks noChangeArrowheads="1"/>
              </p:cNvSpPr>
              <p:nvPr/>
            </p:nvSpPr>
            <p:spPr bwMode="auto">
              <a:xfrm>
                <a:off x="1350" y="3195"/>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a:t>
                </a:r>
              </a:p>
            </p:txBody>
          </p:sp>
        </p:grpSp>
        <p:grpSp>
          <p:nvGrpSpPr>
            <p:cNvPr id="165920" name="Group 32"/>
            <p:cNvGrpSpPr/>
            <p:nvPr/>
          </p:nvGrpSpPr>
          <p:grpSpPr bwMode="auto">
            <a:xfrm>
              <a:off x="2262" y="2348"/>
              <a:ext cx="375" cy="583"/>
              <a:chOff x="1350" y="2906"/>
              <a:chExt cx="375" cy="583"/>
            </a:xfrm>
          </p:grpSpPr>
          <p:sp>
            <p:nvSpPr>
              <p:cNvPr id="165921" name="Text Box 33"/>
              <p:cNvSpPr txBox="1">
                <a:spLocks noChangeArrowheads="1"/>
              </p:cNvSpPr>
              <p:nvPr/>
            </p:nvSpPr>
            <p:spPr bwMode="auto">
              <a:xfrm>
                <a:off x="1352" y="2906"/>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14</a:t>
                </a:r>
              </a:p>
            </p:txBody>
          </p:sp>
          <p:sp>
            <p:nvSpPr>
              <p:cNvPr id="165922" name="Text Box 34"/>
              <p:cNvSpPr txBox="1">
                <a:spLocks noChangeArrowheads="1"/>
              </p:cNvSpPr>
              <p:nvPr/>
            </p:nvSpPr>
            <p:spPr bwMode="auto">
              <a:xfrm>
                <a:off x="1350" y="3195"/>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a:t>
                </a:r>
              </a:p>
            </p:txBody>
          </p:sp>
        </p:grpSp>
        <p:grpSp>
          <p:nvGrpSpPr>
            <p:cNvPr id="165923" name="Group 35"/>
            <p:cNvGrpSpPr/>
            <p:nvPr/>
          </p:nvGrpSpPr>
          <p:grpSpPr bwMode="auto">
            <a:xfrm>
              <a:off x="2745" y="2352"/>
              <a:ext cx="375" cy="583"/>
              <a:chOff x="1350" y="2906"/>
              <a:chExt cx="375" cy="583"/>
            </a:xfrm>
          </p:grpSpPr>
          <p:sp>
            <p:nvSpPr>
              <p:cNvPr id="165924" name="Text Box 36"/>
              <p:cNvSpPr txBox="1">
                <a:spLocks noChangeArrowheads="1"/>
              </p:cNvSpPr>
              <p:nvPr/>
            </p:nvSpPr>
            <p:spPr bwMode="auto">
              <a:xfrm>
                <a:off x="1352" y="2906"/>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52</a:t>
                </a:r>
              </a:p>
            </p:txBody>
          </p:sp>
          <p:sp>
            <p:nvSpPr>
              <p:cNvPr id="165925" name="Text Box 37"/>
              <p:cNvSpPr txBox="1">
                <a:spLocks noChangeArrowheads="1"/>
              </p:cNvSpPr>
              <p:nvPr/>
            </p:nvSpPr>
            <p:spPr bwMode="auto">
              <a:xfrm>
                <a:off x="1350" y="3195"/>
                <a:ext cx="373"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a:t>
                </a:r>
              </a:p>
            </p:txBody>
          </p:sp>
        </p:grpSp>
        <p:sp>
          <p:nvSpPr>
            <p:cNvPr id="165926" name="Text Box 38"/>
            <p:cNvSpPr txBox="1">
              <a:spLocks noChangeArrowheads="1"/>
            </p:cNvSpPr>
            <p:nvPr/>
          </p:nvSpPr>
          <p:spPr bwMode="auto">
            <a:xfrm>
              <a:off x="2928" y="2112"/>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solidFill>
                    <a:srgbClr val="990000"/>
                  </a:solidFill>
                </a:rPr>
                <a:t>1</a:t>
              </a:r>
            </a:p>
          </p:txBody>
        </p:sp>
        <p:sp>
          <p:nvSpPr>
            <p:cNvPr id="165927" name="Text Box 39"/>
            <p:cNvSpPr txBox="1">
              <a:spLocks noChangeArrowheads="1"/>
            </p:cNvSpPr>
            <p:nvPr/>
          </p:nvSpPr>
          <p:spPr bwMode="auto">
            <a:xfrm>
              <a:off x="1230" y="2622"/>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solidFill>
                    <a:srgbClr val="990000"/>
                  </a:solidFill>
                </a:rPr>
                <a:t>4</a:t>
              </a:r>
            </a:p>
          </p:txBody>
        </p:sp>
        <p:sp>
          <p:nvSpPr>
            <p:cNvPr id="165928" name="Text Box 40"/>
            <p:cNvSpPr txBox="1">
              <a:spLocks noChangeArrowheads="1"/>
            </p:cNvSpPr>
            <p:nvPr/>
          </p:nvSpPr>
          <p:spPr bwMode="auto">
            <a:xfrm>
              <a:off x="1860" y="2625"/>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solidFill>
                    <a:srgbClr val="990000"/>
                  </a:solidFill>
                </a:rPr>
                <a:t>5</a:t>
              </a:r>
            </a:p>
          </p:txBody>
        </p:sp>
        <p:sp>
          <p:nvSpPr>
            <p:cNvPr id="165929" name="Text Box 41"/>
            <p:cNvSpPr txBox="1">
              <a:spLocks noChangeArrowheads="1"/>
            </p:cNvSpPr>
            <p:nvPr/>
          </p:nvSpPr>
          <p:spPr bwMode="auto">
            <a:xfrm>
              <a:off x="828" y="2655"/>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solidFill>
                    <a:srgbClr val="990000"/>
                  </a:solidFill>
                </a:rPr>
                <a:t>3</a:t>
              </a:r>
            </a:p>
          </p:txBody>
        </p:sp>
        <p:sp>
          <p:nvSpPr>
            <p:cNvPr id="165930" name="Text Box 42"/>
            <p:cNvSpPr txBox="1">
              <a:spLocks noChangeArrowheads="1"/>
            </p:cNvSpPr>
            <p:nvPr/>
          </p:nvSpPr>
          <p:spPr bwMode="auto">
            <a:xfrm>
              <a:off x="159" y="2655"/>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solidFill>
                    <a:srgbClr val="990000"/>
                  </a:solidFill>
                </a:rPr>
                <a:t>2</a:t>
              </a:r>
            </a:p>
          </p:txBody>
        </p:sp>
        <p:sp>
          <p:nvSpPr>
            <p:cNvPr id="165931" name="Line 43"/>
            <p:cNvSpPr>
              <a:spLocks noChangeShapeType="1"/>
            </p:cNvSpPr>
            <p:nvPr/>
          </p:nvSpPr>
          <p:spPr bwMode="auto">
            <a:xfrm>
              <a:off x="1825" y="2592"/>
              <a:ext cx="89"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5932" name="Line 44"/>
            <p:cNvSpPr>
              <a:spLocks noChangeShapeType="1"/>
            </p:cNvSpPr>
            <p:nvPr/>
          </p:nvSpPr>
          <p:spPr bwMode="auto">
            <a:xfrm flipH="1">
              <a:off x="369" y="2622"/>
              <a:ext cx="96"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5933" name="Line 45"/>
            <p:cNvSpPr>
              <a:spLocks noChangeShapeType="1"/>
            </p:cNvSpPr>
            <p:nvPr/>
          </p:nvSpPr>
          <p:spPr bwMode="auto">
            <a:xfrm>
              <a:off x="760" y="2622"/>
              <a:ext cx="89"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5934" name="Line 46"/>
            <p:cNvSpPr>
              <a:spLocks noChangeShapeType="1"/>
            </p:cNvSpPr>
            <p:nvPr/>
          </p:nvSpPr>
          <p:spPr bwMode="auto">
            <a:xfrm flipH="1">
              <a:off x="2448" y="2064"/>
              <a:ext cx="96"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5935" name="Line 47"/>
            <p:cNvSpPr>
              <a:spLocks noChangeShapeType="1"/>
            </p:cNvSpPr>
            <p:nvPr/>
          </p:nvSpPr>
          <p:spPr bwMode="auto">
            <a:xfrm>
              <a:off x="2839" y="2064"/>
              <a:ext cx="89"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5936" name="Line 48"/>
            <p:cNvSpPr>
              <a:spLocks noChangeShapeType="1"/>
            </p:cNvSpPr>
            <p:nvPr/>
          </p:nvSpPr>
          <p:spPr bwMode="auto">
            <a:xfrm>
              <a:off x="1321" y="2014"/>
              <a:ext cx="311" cy="38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5937" name="Line 49"/>
            <p:cNvSpPr>
              <a:spLocks noChangeShapeType="1"/>
            </p:cNvSpPr>
            <p:nvPr/>
          </p:nvSpPr>
          <p:spPr bwMode="auto">
            <a:xfrm flipH="1">
              <a:off x="1163" y="1392"/>
              <a:ext cx="613" cy="42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5938" name="Line 50"/>
            <p:cNvSpPr>
              <a:spLocks noChangeShapeType="1"/>
            </p:cNvSpPr>
            <p:nvPr/>
          </p:nvSpPr>
          <p:spPr bwMode="auto">
            <a:xfrm flipH="1">
              <a:off x="624" y="2016"/>
              <a:ext cx="381" cy="3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5939" name="Line 51"/>
            <p:cNvSpPr>
              <a:spLocks noChangeShapeType="1"/>
            </p:cNvSpPr>
            <p:nvPr/>
          </p:nvSpPr>
          <p:spPr bwMode="auto">
            <a:xfrm>
              <a:off x="1913" y="836"/>
              <a:ext cx="1" cy="36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5940" name="Line 52"/>
            <p:cNvSpPr>
              <a:spLocks noChangeShapeType="1"/>
            </p:cNvSpPr>
            <p:nvPr/>
          </p:nvSpPr>
          <p:spPr bwMode="auto">
            <a:xfrm>
              <a:off x="2064" y="1392"/>
              <a:ext cx="624" cy="43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5941" name="Text Box 53"/>
            <p:cNvSpPr txBox="1">
              <a:spLocks noChangeArrowheads="1"/>
            </p:cNvSpPr>
            <p:nvPr/>
          </p:nvSpPr>
          <p:spPr bwMode="auto">
            <a:xfrm>
              <a:off x="1344" y="561"/>
              <a:ext cx="5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q=</a:t>
              </a:r>
            </a:p>
          </p:txBody>
        </p:sp>
        <p:grpSp>
          <p:nvGrpSpPr>
            <p:cNvPr id="165942" name="Group 54"/>
            <p:cNvGrpSpPr/>
            <p:nvPr/>
          </p:nvGrpSpPr>
          <p:grpSpPr bwMode="auto">
            <a:xfrm>
              <a:off x="1743" y="576"/>
              <a:ext cx="336" cy="288"/>
              <a:chOff x="1776" y="558"/>
              <a:chExt cx="336" cy="288"/>
            </a:xfrm>
          </p:grpSpPr>
          <p:sp useBgFill="1">
            <p:nvSpPr>
              <p:cNvPr id="165943" name="Rectangle 55"/>
              <p:cNvSpPr>
                <a:spLocks noChangeArrowheads="1"/>
              </p:cNvSpPr>
              <p:nvPr/>
            </p:nvSpPr>
            <p:spPr bwMode="auto">
              <a:xfrm>
                <a:off x="1776" y="576"/>
                <a:ext cx="336" cy="240"/>
              </a:xfrm>
              <a:prstGeom prst="rect">
                <a:avLst/>
              </a:prstGeom>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5944" name="Text Box 56"/>
              <p:cNvSpPr txBox="1">
                <a:spLocks noChangeArrowheads="1"/>
              </p:cNvSpPr>
              <p:nvPr/>
            </p:nvSpPr>
            <p:spPr bwMode="auto">
              <a:xfrm>
                <a:off x="1795" y="558"/>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a:t>
                </a:r>
              </a:p>
            </p:txBody>
          </p:sp>
        </p:grpSp>
      </p:grpSp>
      <p:grpSp>
        <p:nvGrpSpPr>
          <p:cNvPr id="165945" name="Group 57"/>
          <p:cNvGrpSpPr/>
          <p:nvPr/>
        </p:nvGrpSpPr>
        <p:grpSpPr bwMode="auto">
          <a:xfrm>
            <a:off x="2767013" y="914400"/>
            <a:ext cx="533400" cy="457200"/>
            <a:chOff x="1776" y="558"/>
            <a:chExt cx="336" cy="288"/>
          </a:xfrm>
        </p:grpSpPr>
        <p:sp useBgFill="1">
          <p:nvSpPr>
            <p:cNvPr id="165946" name="Rectangle 58"/>
            <p:cNvSpPr>
              <a:spLocks noChangeArrowheads="1"/>
            </p:cNvSpPr>
            <p:nvPr/>
          </p:nvSpPr>
          <p:spPr bwMode="auto">
            <a:xfrm>
              <a:off x="1776" y="576"/>
              <a:ext cx="336" cy="240"/>
            </a:xfrm>
            <a:prstGeom prst="rect">
              <a:avLst/>
            </a:prstGeom>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5947" name="Text Box 59"/>
            <p:cNvSpPr txBox="1">
              <a:spLocks noChangeArrowheads="1"/>
            </p:cNvSpPr>
            <p:nvPr/>
          </p:nvSpPr>
          <p:spPr bwMode="auto">
            <a:xfrm>
              <a:off x="1795" y="558"/>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4</a:t>
              </a:r>
            </a:p>
          </p:txBody>
        </p:sp>
      </p:grpSp>
      <p:sp>
        <p:nvSpPr>
          <p:cNvPr id="165948" name="Text Box 60"/>
          <p:cNvSpPr txBox="1">
            <a:spLocks noChangeArrowheads="1"/>
          </p:cNvSpPr>
          <p:nvPr/>
        </p:nvSpPr>
        <p:spPr bwMode="auto">
          <a:xfrm>
            <a:off x="3505200" y="914400"/>
            <a:ext cx="16764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sym typeface="+mn-ea"/>
              </a:rPr>
              <a:t>output</a:t>
            </a:r>
            <a:r>
              <a:rPr lang="zh-CN" altLang="en-US" sz="2400"/>
              <a:t>：</a:t>
            </a:r>
            <a:r>
              <a:rPr lang="en-US" altLang="zh-CN" sz="2400"/>
              <a:t>1</a:t>
            </a:r>
          </a:p>
        </p:txBody>
      </p:sp>
      <p:grpSp>
        <p:nvGrpSpPr>
          <p:cNvPr id="165949" name="Group 61"/>
          <p:cNvGrpSpPr/>
          <p:nvPr/>
        </p:nvGrpSpPr>
        <p:grpSpPr bwMode="auto">
          <a:xfrm>
            <a:off x="2005013" y="4572000"/>
            <a:ext cx="533400" cy="457200"/>
            <a:chOff x="4560" y="2688"/>
            <a:chExt cx="336" cy="288"/>
          </a:xfrm>
        </p:grpSpPr>
        <p:sp useBgFill="1">
          <p:nvSpPr>
            <p:cNvPr id="165950" name="Rectangle 62"/>
            <p:cNvSpPr>
              <a:spLocks noChangeArrowheads="1"/>
            </p:cNvSpPr>
            <p:nvPr/>
          </p:nvSpPr>
          <p:spPr bwMode="auto">
            <a:xfrm>
              <a:off x="4593" y="2706"/>
              <a:ext cx="288" cy="24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5951" name="Text Box 63"/>
            <p:cNvSpPr txBox="1">
              <a:spLocks noChangeArrowheads="1"/>
            </p:cNvSpPr>
            <p:nvPr/>
          </p:nvSpPr>
          <p:spPr bwMode="auto">
            <a:xfrm>
              <a:off x="4560" y="2688"/>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3</a:t>
              </a:r>
            </a:p>
          </p:txBody>
        </p:sp>
      </p:grpSp>
      <p:grpSp>
        <p:nvGrpSpPr>
          <p:cNvPr id="165952" name="Group 64"/>
          <p:cNvGrpSpPr/>
          <p:nvPr/>
        </p:nvGrpSpPr>
        <p:grpSpPr bwMode="auto">
          <a:xfrm>
            <a:off x="2819400" y="1816100"/>
            <a:ext cx="533400" cy="546100"/>
            <a:chOff x="2640" y="3600"/>
            <a:chExt cx="336" cy="344"/>
          </a:xfrm>
        </p:grpSpPr>
        <p:sp useBgFill="1">
          <p:nvSpPr>
            <p:cNvPr id="165953" name="Rectangle 65"/>
            <p:cNvSpPr>
              <a:spLocks noChangeArrowheads="1"/>
            </p:cNvSpPr>
            <p:nvPr/>
          </p:nvSpPr>
          <p:spPr bwMode="auto">
            <a:xfrm>
              <a:off x="2640" y="3600"/>
              <a:ext cx="336" cy="336"/>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65954" name="Group 66"/>
            <p:cNvGrpSpPr/>
            <p:nvPr/>
          </p:nvGrpSpPr>
          <p:grpSpPr bwMode="auto">
            <a:xfrm>
              <a:off x="2640" y="3648"/>
              <a:ext cx="288" cy="296"/>
              <a:chOff x="912" y="3552"/>
              <a:chExt cx="288" cy="321"/>
            </a:xfrm>
          </p:grpSpPr>
          <p:sp>
            <p:nvSpPr>
              <p:cNvPr id="165955" name="Oval 67"/>
              <p:cNvSpPr>
                <a:spLocks noChangeArrowheads="1"/>
              </p:cNvSpPr>
              <p:nvPr/>
            </p:nvSpPr>
            <p:spPr bwMode="auto">
              <a:xfrm>
                <a:off x="912" y="3552"/>
                <a:ext cx="28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5956" name="Text Box 68"/>
              <p:cNvSpPr txBox="1">
                <a:spLocks noChangeArrowheads="1"/>
              </p:cNvSpPr>
              <p:nvPr/>
            </p:nvSpPr>
            <p:spPr bwMode="auto">
              <a:xfrm>
                <a:off x="942" y="3561"/>
                <a:ext cx="192" cy="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0</a:t>
                </a:r>
              </a:p>
            </p:txBody>
          </p:sp>
        </p:grpSp>
      </p:grpSp>
      <p:sp>
        <p:nvSpPr>
          <p:cNvPr id="165957" name="Text Box 69"/>
          <p:cNvSpPr txBox="1">
            <a:spLocks noChangeArrowheads="1"/>
          </p:cNvSpPr>
          <p:nvPr/>
        </p:nvSpPr>
        <p:spPr bwMode="auto">
          <a:xfrm>
            <a:off x="0" y="0"/>
            <a:ext cx="70104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t>After outputting: 29, 38, 39, 49, 51, 61</a:t>
            </a:r>
          </a:p>
        </p:txBody>
      </p:sp>
      <p:sp>
        <p:nvSpPr>
          <p:cNvPr id="165958" name="Text Box 70"/>
          <p:cNvSpPr txBox="1">
            <a:spLocks noChangeArrowheads="1"/>
          </p:cNvSpPr>
          <p:nvPr/>
        </p:nvSpPr>
        <p:spPr bwMode="auto">
          <a:xfrm>
            <a:off x="4932045" y="942975"/>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t>，</a:t>
            </a:r>
            <a:r>
              <a:rPr lang="en-US" altLang="zh-CN" sz="2400"/>
              <a:t>3</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B510424F-96B9-4C00-88E0-F120333DC6C5}" type="slidenum">
              <a:rPr lang="en-US" altLang="zh-CN" smtClean="0"/>
              <a:t>149</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659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nodeType="clickEffect">
                                  <p:stCondLst>
                                    <p:cond delay="0"/>
                                  </p:stCondLst>
                                  <p:childTnLst>
                                    <p:set>
                                      <p:cBhvr>
                                        <p:cTn id="10" dur="1" fill="hold">
                                          <p:stCondLst>
                                            <p:cond delay="0"/>
                                          </p:stCondLst>
                                        </p:cTn>
                                        <p:tgtEl>
                                          <p:spTgt spid="165952"/>
                                        </p:tgtEl>
                                        <p:attrNameLst>
                                          <p:attrName>style.visibility</p:attrName>
                                        </p:attrNameLst>
                                      </p:cBhvr>
                                      <p:to>
                                        <p:strVal val="visible"/>
                                      </p:to>
                                    </p:set>
                                    <p:animEffect transition="in" filter="dissolve">
                                      <p:cBhvr>
                                        <p:cTn id="11" dur="500"/>
                                        <p:tgtEl>
                                          <p:spTgt spid="165952"/>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165945"/>
                                        </p:tgtEl>
                                        <p:attrNameLst>
                                          <p:attrName>style.visibility</p:attrName>
                                        </p:attrNameLst>
                                      </p:cBhvr>
                                      <p:to>
                                        <p:strVal val="visible"/>
                                      </p:to>
                                    </p:set>
                                    <p:animEffect transition="in" filter="dissolve">
                                      <p:cBhvr>
                                        <p:cTn id="16" dur="500"/>
                                        <p:tgtEl>
                                          <p:spTgt spid="165945"/>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165958">
                                            <p:txEl>
                                              <p:pRg st="0" end="0"/>
                                            </p:txEl>
                                          </p:spTgt>
                                        </p:tgtEl>
                                        <p:attrNameLst>
                                          <p:attrName>style.visibility</p:attrName>
                                        </p:attrNameLst>
                                      </p:cBhvr>
                                      <p:to>
                                        <p:strVal val="visible"/>
                                      </p:to>
                                    </p:set>
                                    <p:animEffect transition="in" filter="dissolve">
                                      <p:cBhvr>
                                        <p:cTn id="21" dur="500"/>
                                        <p:tgtEl>
                                          <p:spTgt spid="16595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958" grpId="0" build="p" autoUpdateAnimBg="0"/>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ChangeArrowheads="1"/>
          </p:cNvSpPr>
          <p:nvPr>
            <p:ph type="title"/>
          </p:nvPr>
        </p:nvSpPr>
        <p:spPr>
          <a:xfrm>
            <a:off x="304800" y="-152400"/>
            <a:ext cx="5841365" cy="1143000"/>
          </a:xfrm>
        </p:spPr>
        <p:txBody>
          <a:bodyPr/>
          <a:lstStyle/>
          <a:p>
            <a:pPr algn="l"/>
            <a:r>
              <a:rPr lang="en-US" altLang="zh-CN" b="1" dirty="0">
                <a:ea typeface="楷体_GB2312" pitchFamily="49" charset="-122"/>
              </a:rPr>
              <a:t>Optimal Merge Tree</a:t>
            </a:r>
          </a:p>
        </p:txBody>
      </p:sp>
      <p:sp>
        <p:nvSpPr>
          <p:cNvPr id="166915" name="Text Box 3"/>
          <p:cNvSpPr txBox="1">
            <a:spLocks noChangeArrowheads="1"/>
          </p:cNvSpPr>
          <p:nvPr/>
        </p:nvSpPr>
        <p:spPr bwMode="auto">
          <a:xfrm>
            <a:off x="381000" y="1676400"/>
            <a:ext cx="86106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latin typeface="Arial" panose="020B0604020202020204" pitchFamily="34" charset="0"/>
                <a:cs typeface="Arial" panose="020B0604020202020204" pitchFamily="34" charset="0"/>
              </a:rPr>
              <a:t>Segment lengths:9, 30, 12, 18, 3, 17, 2, 6, 24</a:t>
            </a:r>
          </a:p>
        </p:txBody>
      </p:sp>
      <p:grpSp>
        <p:nvGrpSpPr>
          <p:cNvPr id="166916" name="Group 4"/>
          <p:cNvGrpSpPr/>
          <p:nvPr/>
        </p:nvGrpSpPr>
        <p:grpSpPr bwMode="auto">
          <a:xfrm>
            <a:off x="990600" y="2614613"/>
            <a:ext cx="2286000" cy="1804987"/>
            <a:chOff x="816" y="1152"/>
            <a:chExt cx="1440" cy="1137"/>
          </a:xfrm>
        </p:grpSpPr>
        <p:sp useBgFill="1">
          <p:nvSpPr>
            <p:cNvPr id="166917" name="Rectangle 5"/>
            <p:cNvSpPr>
              <a:spLocks noChangeArrowheads="1"/>
            </p:cNvSpPr>
            <p:nvPr/>
          </p:nvSpPr>
          <p:spPr bwMode="auto">
            <a:xfrm>
              <a:off x="1773" y="1167"/>
              <a:ext cx="336" cy="336"/>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66918" name="Group 6"/>
            <p:cNvGrpSpPr/>
            <p:nvPr/>
          </p:nvGrpSpPr>
          <p:grpSpPr bwMode="auto">
            <a:xfrm>
              <a:off x="1344" y="1152"/>
              <a:ext cx="384" cy="369"/>
              <a:chOff x="2496" y="1152"/>
              <a:chExt cx="384" cy="369"/>
            </a:xfrm>
          </p:grpSpPr>
          <p:sp>
            <p:nvSpPr>
              <p:cNvPr id="166919" name="Oval 7"/>
              <p:cNvSpPr>
                <a:spLocks noChangeArrowheads="1"/>
              </p:cNvSpPr>
              <p:nvPr/>
            </p:nvSpPr>
            <p:spPr bwMode="auto">
              <a:xfrm>
                <a:off x="2508" y="1152"/>
                <a:ext cx="339" cy="369"/>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6920" name="Text Box 8"/>
              <p:cNvSpPr txBox="1">
                <a:spLocks noChangeArrowheads="1"/>
              </p:cNvSpPr>
              <p:nvPr/>
            </p:nvSpPr>
            <p:spPr bwMode="auto">
              <a:xfrm>
                <a:off x="2496" y="120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30</a:t>
                </a:r>
              </a:p>
            </p:txBody>
          </p:sp>
        </p:grpSp>
        <p:grpSp>
          <p:nvGrpSpPr>
            <p:cNvPr id="166921" name="Group 9"/>
            <p:cNvGrpSpPr/>
            <p:nvPr/>
          </p:nvGrpSpPr>
          <p:grpSpPr bwMode="auto">
            <a:xfrm>
              <a:off x="1359" y="2001"/>
              <a:ext cx="336" cy="288"/>
              <a:chOff x="1776" y="558"/>
              <a:chExt cx="336" cy="288"/>
            </a:xfrm>
          </p:grpSpPr>
          <p:sp useBgFill="1">
            <p:nvSpPr>
              <p:cNvPr id="166922" name="Rectangle 10"/>
              <p:cNvSpPr>
                <a:spLocks noChangeArrowheads="1"/>
              </p:cNvSpPr>
              <p:nvPr/>
            </p:nvSpPr>
            <p:spPr bwMode="auto">
              <a:xfrm>
                <a:off x="1776" y="576"/>
                <a:ext cx="336" cy="240"/>
              </a:xfrm>
              <a:prstGeom prst="rect">
                <a:avLst/>
              </a:prstGeom>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6923" name="Text Box 11"/>
              <p:cNvSpPr txBox="1">
                <a:spLocks noChangeArrowheads="1"/>
              </p:cNvSpPr>
              <p:nvPr/>
            </p:nvSpPr>
            <p:spPr bwMode="auto">
              <a:xfrm>
                <a:off x="1795" y="558"/>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51</a:t>
                </a:r>
              </a:p>
            </p:txBody>
          </p:sp>
        </p:grpSp>
        <p:grpSp>
          <p:nvGrpSpPr>
            <p:cNvPr id="166924" name="Group 12"/>
            <p:cNvGrpSpPr/>
            <p:nvPr/>
          </p:nvGrpSpPr>
          <p:grpSpPr bwMode="auto">
            <a:xfrm>
              <a:off x="816" y="1152"/>
              <a:ext cx="384" cy="369"/>
              <a:chOff x="2496" y="1152"/>
              <a:chExt cx="384" cy="369"/>
            </a:xfrm>
          </p:grpSpPr>
          <p:sp>
            <p:nvSpPr>
              <p:cNvPr id="166925" name="Oval 13"/>
              <p:cNvSpPr>
                <a:spLocks noChangeArrowheads="1"/>
              </p:cNvSpPr>
              <p:nvPr/>
            </p:nvSpPr>
            <p:spPr bwMode="auto">
              <a:xfrm>
                <a:off x="2508" y="1152"/>
                <a:ext cx="339" cy="369"/>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6926" name="Text Box 14"/>
              <p:cNvSpPr txBox="1">
                <a:spLocks noChangeArrowheads="1"/>
              </p:cNvSpPr>
              <p:nvPr/>
            </p:nvSpPr>
            <p:spPr bwMode="auto">
              <a:xfrm>
                <a:off x="2496" y="120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9</a:t>
                </a:r>
              </a:p>
            </p:txBody>
          </p:sp>
        </p:grpSp>
        <p:grpSp>
          <p:nvGrpSpPr>
            <p:cNvPr id="166927" name="Group 15"/>
            <p:cNvGrpSpPr/>
            <p:nvPr/>
          </p:nvGrpSpPr>
          <p:grpSpPr bwMode="auto">
            <a:xfrm>
              <a:off x="1872" y="1152"/>
              <a:ext cx="384" cy="369"/>
              <a:chOff x="2496" y="1152"/>
              <a:chExt cx="384" cy="369"/>
            </a:xfrm>
          </p:grpSpPr>
          <p:sp>
            <p:nvSpPr>
              <p:cNvPr id="166928" name="Oval 16"/>
              <p:cNvSpPr>
                <a:spLocks noChangeArrowheads="1"/>
              </p:cNvSpPr>
              <p:nvPr/>
            </p:nvSpPr>
            <p:spPr bwMode="auto">
              <a:xfrm>
                <a:off x="2508" y="1152"/>
                <a:ext cx="339" cy="369"/>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6929" name="Text Box 17"/>
              <p:cNvSpPr txBox="1">
                <a:spLocks noChangeArrowheads="1"/>
              </p:cNvSpPr>
              <p:nvPr/>
            </p:nvSpPr>
            <p:spPr bwMode="auto">
              <a:xfrm>
                <a:off x="2496" y="120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12</a:t>
                </a:r>
              </a:p>
            </p:txBody>
          </p:sp>
        </p:grpSp>
        <p:sp>
          <p:nvSpPr>
            <p:cNvPr id="166930" name="Line 18"/>
            <p:cNvSpPr>
              <a:spLocks noChangeShapeType="1"/>
            </p:cNvSpPr>
            <p:nvPr/>
          </p:nvSpPr>
          <p:spPr bwMode="auto">
            <a:xfrm>
              <a:off x="1056" y="1488"/>
              <a:ext cx="336" cy="52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6931" name="Line 19"/>
            <p:cNvSpPr>
              <a:spLocks noChangeShapeType="1"/>
            </p:cNvSpPr>
            <p:nvPr/>
          </p:nvSpPr>
          <p:spPr bwMode="auto">
            <a:xfrm>
              <a:off x="1536" y="1536"/>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6932" name="Line 20"/>
            <p:cNvSpPr>
              <a:spLocks noChangeShapeType="1"/>
            </p:cNvSpPr>
            <p:nvPr/>
          </p:nvSpPr>
          <p:spPr bwMode="auto">
            <a:xfrm flipH="1">
              <a:off x="1680" y="1536"/>
              <a:ext cx="336"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66933" name="Group 21"/>
          <p:cNvGrpSpPr/>
          <p:nvPr/>
        </p:nvGrpSpPr>
        <p:grpSpPr bwMode="auto">
          <a:xfrm>
            <a:off x="3505200" y="2538413"/>
            <a:ext cx="2286000" cy="1804987"/>
            <a:chOff x="816" y="1152"/>
            <a:chExt cx="1440" cy="1137"/>
          </a:xfrm>
        </p:grpSpPr>
        <p:sp useBgFill="1">
          <p:nvSpPr>
            <p:cNvPr id="166934" name="Rectangle 22"/>
            <p:cNvSpPr>
              <a:spLocks noChangeArrowheads="1"/>
            </p:cNvSpPr>
            <p:nvPr/>
          </p:nvSpPr>
          <p:spPr bwMode="auto">
            <a:xfrm>
              <a:off x="1773" y="1167"/>
              <a:ext cx="336" cy="336"/>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66935" name="Group 23"/>
            <p:cNvGrpSpPr/>
            <p:nvPr/>
          </p:nvGrpSpPr>
          <p:grpSpPr bwMode="auto">
            <a:xfrm>
              <a:off x="1344" y="1152"/>
              <a:ext cx="384" cy="369"/>
              <a:chOff x="2496" y="1152"/>
              <a:chExt cx="384" cy="369"/>
            </a:xfrm>
          </p:grpSpPr>
          <p:sp>
            <p:nvSpPr>
              <p:cNvPr id="166936" name="Oval 24"/>
              <p:cNvSpPr>
                <a:spLocks noChangeArrowheads="1"/>
              </p:cNvSpPr>
              <p:nvPr/>
            </p:nvSpPr>
            <p:spPr bwMode="auto">
              <a:xfrm>
                <a:off x="2508" y="1152"/>
                <a:ext cx="339" cy="369"/>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6937" name="Text Box 25"/>
              <p:cNvSpPr txBox="1">
                <a:spLocks noChangeArrowheads="1"/>
              </p:cNvSpPr>
              <p:nvPr/>
            </p:nvSpPr>
            <p:spPr bwMode="auto">
              <a:xfrm>
                <a:off x="2496" y="120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3</a:t>
                </a:r>
              </a:p>
            </p:txBody>
          </p:sp>
        </p:grpSp>
        <p:grpSp>
          <p:nvGrpSpPr>
            <p:cNvPr id="166938" name="Group 26"/>
            <p:cNvGrpSpPr/>
            <p:nvPr/>
          </p:nvGrpSpPr>
          <p:grpSpPr bwMode="auto">
            <a:xfrm>
              <a:off x="1359" y="2001"/>
              <a:ext cx="336" cy="288"/>
              <a:chOff x="1776" y="558"/>
              <a:chExt cx="336" cy="288"/>
            </a:xfrm>
          </p:grpSpPr>
          <p:sp useBgFill="1">
            <p:nvSpPr>
              <p:cNvPr id="166939" name="Rectangle 27"/>
              <p:cNvSpPr>
                <a:spLocks noChangeArrowheads="1"/>
              </p:cNvSpPr>
              <p:nvPr/>
            </p:nvSpPr>
            <p:spPr bwMode="auto">
              <a:xfrm>
                <a:off x="1776" y="576"/>
                <a:ext cx="336" cy="240"/>
              </a:xfrm>
              <a:prstGeom prst="rect">
                <a:avLst/>
              </a:prstGeom>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6940" name="Text Box 28"/>
              <p:cNvSpPr txBox="1">
                <a:spLocks noChangeArrowheads="1"/>
              </p:cNvSpPr>
              <p:nvPr/>
            </p:nvSpPr>
            <p:spPr bwMode="auto">
              <a:xfrm>
                <a:off x="1795" y="558"/>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38</a:t>
                </a:r>
              </a:p>
            </p:txBody>
          </p:sp>
        </p:grpSp>
        <p:grpSp>
          <p:nvGrpSpPr>
            <p:cNvPr id="166941" name="Group 29"/>
            <p:cNvGrpSpPr/>
            <p:nvPr/>
          </p:nvGrpSpPr>
          <p:grpSpPr bwMode="auto">
            <a:xfrm>
              <a:off x="816" y="1152"/>
              <a:ext cx="384" cy="369"/>
              <a:chOff x="2496" y="1152"/>
              <a:chExt cx="384" cy="369"/>
            </a:xfrm>
          </p:grpSpPr>
          <p:sp>
            <p:nvSpPr>
              <p:cNvPr id="166942" name="Oval 30"/>
              <p:cNvSpPr>
                <a:spLocks noChangeArrowheads="1"/>
              </p:cNvSpPr>
              <p:nvPr/>
            </p:nvSpPr>
            <p:spPr bwMode="auto">
              <a:xfrm>
                <a:off x="2508" y="1152"/>
                <a:ext cx="339" cy="369"/>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6943" name="Text Box 31"/>
              <p:cNvSpPr txBox="1">
                <a:spLocks noChangeArrowheads="1"/>
              </p:cNvSpPr>
              <p:nvPr/>
            </p:nvSpPr>
            <p:spPr bwMode="auto">
              <a:xfrm>
                <a:off x="2496" y="120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18</a:t>
                </a:r>
              </a:p>
            </p:txBody>
          </p:sp>
        </p:grpSp>
        <p:grpSp>
          <p:nvGrpSpPr>
            <p:cNvPr id="166944" name="Group 32"/>
            <p:cNvGrpSpPr/>
            <p:nvPr/>
          </p:nvGrpSpPr>
          <p:grpSpPr bwMode="auto">
            <a:xfrm>
              <a:off x="1872" y="1152"/>
              <a:ext cx="384" cy="369"/>
              <a:chOff x="2496" y="1152"/>
              <a:chExt cx="384" cy="369"/>
            </a:xfrm>
          </p:grpSpPr>
          <p:sp>
            <p:nvSpPr>
              <p:cNvPr id="166945" name="Oval 33"/>
              <p:cNvSpPr>
                <a:spLocks noChangeArrowheads="1"/>
              </p:cNvSpPr>
              <p:nvPr/>
            </p:nvSpPr>
            <p:spPr bwMode="auto">
              <a:xfrm>
                <a:off x="2508" y="1152"/>
                <a:ext cx="339" cy="369"/>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6946" name="Text Box 34"/>
              <p:cNvSpPr txBox="1">
                <a:spLocks noChangeArrowheads="1"/>
              </p:cNvSpPr>
              <p:nvPr/>
            </p:nvSpPr>
            <p:spPr bwMode="auto">
              <a:xfrm>
                <a:off x="2496" y="120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17</a:t>
                </a:r>
              </a:p>
            </p:txBody>
          </p:sp>
        </p:grpSp>
        <p:sp>
          <p:nvSpPr>
            <p:cNvPr id="166947" name="Line 35"/>
            <p:cNvSpPr>
              <a:spLocks noChangeShapeType="1"/>
            </p:cNvSpPr>
            <p:nvPr/>
          </p:nvSpPr>
          <p:spPr bwMode="auto">
            <a:xfrm>
              <a:off x="1056" y="1488"/>
              <a:ext cx="336" cy="52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6948" name="Line 36"/>
            <p:cNvSpPr>
              <a:spLocks noChangeShapeType="1"/>
            </p:cNvSpPr>
            <p:nvPr/>
          </p:nvSpPr>
          <p:spPr bwMode="auto">
            <a:xfrm>
              <a:off x="1536" y="1536"/>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6949" name="Line 37"/>
            <p:cNvSpPr>
              <a:spLocks noChangeShapeType="1"/>
            </p:cNvSpPr>
            <p:nvPr/>
          </p:nvSpPr>
          <p:spPr bwMode="auto">
            <a:xfrm flipH="1">
              <a:off x="1680" y="1536"/>
              <a:ext cx="336"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66950" name="Group 38"/>
          <p:cNvGrpSpPr/>
          <p:nvPr/>
        </p:nvGrpSpPr>
        <p:grpSpPr bwMode="auto">
          <a:xfrm>
            <a:off x="6019800" y="2590800"/>
            <a:ext cx="2286000" cy="1804988"/>
            <a:chOff x="816" y="1152"/>
            <a:chExt cx="1440" cy="1137"/>
          </a:xfrm>
        </p:grpSpPr>
        <p:sp useBgFill="1">
          <p:nvSpPr>
            <p:cNvPr id="166951" name="Rectangle 39"/>
            <p:cNvSpPr>
              <a:spLocks noChangeArrowheads="1"/>
            </p:cNvSpPr>
            <p:nvPr/>
          </p:nvSpPr>
          <p:spPr bwMode="auto">
            <a:xfrm>
              <a:off x="1773" y="1167"/>
              <a:ext cx="336" cy="336"/>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66952" name="Group 40"/>
            <p:cNvGrpSpPr/>
            <p:nvPr/>
          </p:nvGrpSpPr>
          <p:grpSpPr bwMode="auto">
            <a:xfrm>
              <a:off x="1344" y="1152"/>
              <a:ext cx="384" cy="369"/>
              <a:chOff x="2496" y="1152"/>
              <a:chExt cx="384" cy="369"/>
            </a:xfrm>
          </p:grpSpPr>
          <p:sp>
            <p:nvSpPr>
              <p:cNvPr id="166953" name="Oval 41"/>
              <p:cNvSpPr>
                <a:spLocks noChangeArrowheads="1"/>
              </p:cNvSpPr>
              <p:nvPr/>
            </p:nvSpPr>
            <p:spPr bwMode="auto">
              <a:xfrm>
                <a:off x="2508" y="1152"/>
                <a:ext cx="339" cy="369"/>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6954" name="Text Box 42"/>
              <p:cNvSpPr txBox="1">
                <a:spLocks noChangeArrowheads="1"/>
              </p:cNvSpPr>
              <p:nvPr/>
            </p:nvSpPr>
            <p:spPr bwMode="auto">
              <a:xfrm>
                <a:off x="2496" y="120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6</a:t>
                </a:r>
              </a:p>
            </p:txBody>
          </p:sp>
        </p:grpSp>
        <p:grpSp>
          <p:nvGrpSpPr>
            <p:cNvPr id="166955" name="Group 43"/>
            <p:cNvGrpSpPr/>
            <p:nvPr/>
          </p:nvGrpSpPr>
          <p:grpSpPr bwMode="auto">
            <a:xfrm>
              <a:off x="1359" y="2001"/>
              <a:ext cx="336" cy="288"/>
              <a:chOff x="1776" y="558"/>
              <a:chExt cx="336" cy="288"/>
            </a:xfrm>
          </p:grpSpPr>
          <p:sp useBgFill="1">
            <p:nvSpPr>
              <p:cNvPr id="166956" name="Rectangle 44"/>
              <p:cNvSpPr>
                <a:spLocks noChangeArrowheads="1"/>
              </p:cNvSpPr>
              <p:nvPr/>
            </p:nvSpPr>
            <p:spPr bwMode="auto">
              <a:xfrm>
                <a:off x="1776" y="576"/>
                <a:ext cx="336" cy="240"/>
              </a:xfrm>
              <a:prstGeom prst="rect">
                <a:avLst/>
              </a:prstGeom>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6957" name="Text Box 45"/>
              <p:cNvSpPr txBox="1">
                <a:spLocks noChangeArrowheads="1"/>
              </p:cNvSpPr>
              <p:nvPr/>
            </p:nvSpPr>
            <p:spPr bwMode="auto">
              <a:xfrm>
                <a:off x="1795" y="558"/>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32</a:t>
                </a:r>
              </a:p>
            </p:txBody>
          </p:sp>
        </p:grpSp>
        <p:grpSp>
          <p:nvGrpSpPr>
            <p:cNvPr id="166958" name="Group 46"/>
            <p:cNvGrpSpPr/>
            <p:nvPr/>
          </p:nvGrpSpPr>
          <p:grpSpPr bwMode="auto">
            <a:xfrm>
              <a:off x="816" y="1152"/>
              <a:ext cx="384" cy="369"/>
              <a:chOff x="2496" y="1152"/>
              <a:chExt cx="384" cy="369"/>
            </a:xfrm>
          </p:grpSpPr>
          <p:sp>
            <p:nvSpPr>
              <p:cNvPr id="166959" name="Oval 47"/>
              <p:cNvSpPr>
                <a:spLocks noChangeArrowheads="1"/>
              </p:cNvSpPr>
              <p:nvPr/>
            </p:nvSpPr>
            <p:spPr bwMode="auto">
              <a:xfrm>
                <a:off x="2508" y="1152"/>
                <a:ext cx="339" cy="369"/>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6960" name="Text Box 48"/>
              <p:cNvSpPr txBox="1">
                <a:spLocks noChangeArrowheads="1"/>
              </p:cNvSpPr>
              <p:nvPr/>
            </p:nvSpPr>
            <p:spPr bwMode="auto">
              <a:xfrm>
                <a:off x="2496" y="120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a:t>
                </a:r>
              </a:p>
            </p:txBody>
          </p:sp>
        </p:grpSp>
        <p:grpSp>
          <p:nvGrpSpPr>
            <p:cNvPr id="166961" name="Group 49"/>
            <p:cNvGrpSpPr/>
            <p:nvPr/>
          </p:nvGrpSpPr>
          <p:grpSpPr bwMode="auto">
            <a:xfrm>
              <a:off x="1872" y="1152"/>
              <a:ext cx="384" cy="369"/>
              <a:chOff x="2496" y="1152"/>
              <a:chExt cx="384" cy="369"/>
            </a:xfrm>
          </p:grpSpPr>
          <p:sp>
            <p:nvSpPr>
              <p:cNvPr id="166962" name="Oval 50"/>
              <p:cNvSpPr>
                <a:spLocks noChangeArrowheads="1"/>
              </p:cNvSpPr>
              <p:nvPr/>
            </p:nvSpPr>
            <p:spPr bwMode="auto">
              <a:xfrm>
                <a:off x="2508" y="1152"/>
                <a:ext cx="339" cy="369"/>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6963" name="Text Box 51"/>
              <p:cNvSpPr txBox="1">
                <a:spLocks noChangeArrowheads="1"/>
              </p:cNvSpPr>
              <p:nvPr/>
            </p:nvSpPr>
            <p:spPr bwMode="auto">
              <a:xfrm>
                <a:off x="2496" y="120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24</a:t>
                </a:r>
              </a:p>
            </p:txBody>
          </p:sp>
        </p:grpSp>
        <p:sp>
          <p:nvSpPr>
            <p:cNvPr id="166964" name="Line 52"/>
            <p:cNvSpPr>
              <a:spLocks noChangeShapeType="1"/>
            </p:cNvSpPr>
            <p:nvPr/>
          </p:nvSpPr>
          <p:spPr bwMode="auto">
            <a:xfrm>
              <a:off x="1056" y="1488"/>
              <a:ext cx="336" cy="52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6965" name="Line 53"/>
            <p:cNvSpPr>
              <a:spLocks noChangeShapeType="1"/>
            </p:cNvSpPr>
            <p:nvPr/>
          </p:nvSpPr>
          <p:spPr bwMode="auto">
            <a:xfrm>
              <a:off x="1536" y="1536"/>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6966" name="Line 54"/>
            <p:cNvSpPr>
              <a:spLocks noChangeShapeType="1"/>
            </p:cNvSpPr>
            <p:nvPr/>
          </p:nvSpPr>
          <p:spPr bwMode="auto">
            <a:xfrm flipH="1">
              <a:off x="1680" y="1536"/>
              <a:ext cx="336"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66967" name="Group 55"/>
          <p:cNvGrpSpPr/>
          <p:nvPr/>
        </p:nvGrpSpPr>
        <p:grpSpPr bwMode="auto">
          <a:xfrm>
            <a:off x="4224338" y="5257800"/>
            <a:ext cx="762000" cy="457200"/>
            <a:chOff x="1776" y="558"/>
            <a:chExt cx="336" cy="288"/>
          </a:xfrm>
        </p:grpSpPr>
        <p:sp useBgFill="1">
          <p:nvSpPr>
            <p:cNvPr id="166968" name="Rectangle 56"/>
            <p:cNvSpPr>
              <a:spLocks noChangeArrowheads="1"/>
            </p:cNvSpPr>
            <p:nvPr/>
          </p:nvSpPr>
          <p:spPr bwMode="auto">
            <a:xfrm>
              <a:off x="1776" y="576"/>
              <a:ext cx="336" cy="240"/>
            </a:xfrm>
            <a:prstGeom prst="rect">
              <a:avLst/>
            </a:prstGeom>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6969" name="Text Box 57"/>
            <p:cNvSpPr txBox="1">
              <a:spLocks noChangeArrowheads="1"/>
            </p:cNvSpPr>
            <p:nvPr/>
          </p:nvSpPr>
          <p:spPr bwMode="auto">
            <a:xfrm>
              <a:off x="1795" y="558"/>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121</a:t>
              </a:r>
            </a:p>
          </p:txBody>
        </p:sp>
      </p:grpSp>
      <p:sp>
        <p:nvSpPr>
          <p:cNvPr id="166970" name="Line 58"/>
          <p:cNvSpPr>
            <a:spLocks noChangeShapeType="1"/>
          </p:cNvSpPr>
          <p:nvPr/>
        </p:nvSpPr>
        <p:spPr bwMode="auto">
          <a:xfrm>
            <a:off x="2362200" y="4114800"/>
            <a:ext cx="2057400" cy="1143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6971" name="Line 59"/>
          <p:cNvSpPr>
            <a:spLocks noChangeShapeType="1"/>
          </p:cNvSpPr>
          <p:nvPr/>
        </p:nvSpPr>
        <p:spPr bwMode="auto">
          <a:xfrm>
            <a:off x="4648200" y="4267200"/>
            <a:ext cx="4763"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6972" name="Line 60"/>
          <p:cNvSpPr>
            <a:spLocks noChangeShapeType="1"/>
          </p:cNvSpPr>
          <p:nvPr/>
        </p:nvSpPr>
        <p:spPr bwMode="auto">
          <a:xfrm flipH="1">
            <a:off x="4953000" y="4038600"/>
            <a:ext cx="1905000" cy="1371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6973" name="Text Box 61"/>
          <p:cNvSpPr txBox="1">
            <a:spLocks noChangeArrowheads="1"/>
          </p:cNvSpPr>
          <p:nvPr/>
        </p:nvSpPr>
        <p:spPr bwMode="auto">
          <a:xfrm>
            <a:off x="152400" y="6019800"/>
            <a:ext cx="8991600"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latin typeface="Arial" panose="020B0604020202020204" pitchFamily="34" charset="0"/>
                <a:ea typeface="楷体_GB2312" pitchFamily="49" charset="-122"/>
                <a:cs typeface="Arial" panose="020B0604020202020204" pitchFamily="34" charset="0"/>
              </a:rPr>
              <a:t>Number of read/write operations:</a:t>
            </a:r>
            <a:r>
              <a:rPr lang="zh-CN" altLang="en-US" sz="2000" b="1">
                <a:latin typeface="Arial" panose="020B0604020202020204" pitchFamily="34" charset="0"/>
                <a:ea typeface="楷体_GB2312" pitchFamily="49" charset="-122"/>
                <a:cs typeface="Arial" panose="020B0604020202020204" pitchFamily="34" charset="0"/>
                <a:sym typeface="Wingdings" panose="05000000000000000000" pitchFamily="2" charset="2"/>
              </a:rPr>
              <a:t>（</a:t>
            </a:r>
            <a:r>
              <a:rPr lang="en-US" altLang="zh-CN" sz="2000" b="1">
                <a:latin typeface="Arial" panose="020B0604020202020204" pitchFamily="34" charset="0"/>
                <a:ea typeface="楷体_GB2312" pitchFamily="49" charset="-122"/>
                <a:cs typeface="Arial" panose="020B0604020202020204" pitchFamily="34" charset="0"/>
              </a:rPr>
              <a:t>9+30+12+18+3+17+2+6+24</a:t>
            </a:r>
            <a:r>
              <a:rPr lang="zh-CN" altLang="en-US" sz="2000" b="1">
                <a:latin typeface="Arial" panose="020B0604020202020204" pitchFamily="34" charset="0"/>
                <a:ea typeface="楷体_GB2312" pitchFamily="49" charset="-122"/>
                <a:cs typeface="Arial" panose="020B0604020202020204" pitchFamily="34" charset="0"/>
              </a:rPr>
              <a:t>）*</a:t>
            </a:r>
            <a:r>
              <a:rPr lang="en-US" altLang="zh-CN" sz="2000" b="1">
                <a:latin typeface="Arial" panose="020B0604020202020204" pitchFamily="34" charset="0"/>
                <a:ea typeface="楷体_GB2312" pitchFamily="49" charset="-122"/>
                <a:cs typeface="Arial" panose="020B0604020202020204" pitchFamily="34" charset="0"/>
              </a:rPr>
              <a:t>2*2=484</a:t>
            </a:r>
          </a:p>
        </p:txBody>
      </p:sp>
      <p:sp>
        <p:nvSpPr>
          <p:cNvPr id="166974" name="Text Box 62"/>
          <p:cNvSpPr txBox="1">
            <a:spLocks noChangeArrowheads="1"/>
          </p:cNvSpPr>
          <p:nvPr/>
        </p:nvSpPr>
        <p:spPr bwMode="auto">
          <a:xfrm>
            <a:off x="0" y="838200"/>
            <a:ext cx="9504363" cy="953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latin typeface="Arial" panose="020B0604020202020204" pitchFamily="34" charset="0"/>
                <a:ea typeface="楷体_GB2312" pitchFamily="49" charset="-122"/>
                <a:cs typeface="Arial" panose="020B0604020202020204" pitchFamily="34" charset="0"/>
              </a:rPr>
              <a:t>The lengths of the initial merge segments obtained by replacement-selection are unequal.</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B510424F-96B9-4C00-88E0-F120333DC6C5}" type="slidenum">
              <a:rPr lang="en-US" altLang="zh-CN" smtClean="0"/>
              <a:t>150</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66916"/>
                                        </p:tgtEl>
                                        <p:attrNameLst>
                                          <p:attrName>style.visibility</p:attrName>
                                        </p:attrNameLst>
                                      </p:cBhvr>
                                      <p:to>
                                        <p:strVal val="visible"/>
                                      </p:to>
                                    </p:set>
                                    <p:animEffect transition="in" filter="dissolve">
                                      <p:cBhvr>
                                        <p:cTn id="7" dur="500"/>
                                        <p:tgtEl>
                                          <p:spTgt spid="16691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66933"/>
                                        </p:tgtEl>
                                        <p:attrNameLst>
                                          <p:attrName>style.visibility</p:attrName>
                                        </p:attrNameLst>
                                      </p:cBhvr>
                                      <p:to>
                                        <p:strVal val="visible"/>
                                      </p:to>
                                    </p:set>
                                    <p:animEffect transition="in" filter="dissolve">
                                      <p:cBhvr>
                                        <p:cTn id="12" dur="500"/>
                                        <p:tgtEl>
                                          <p:spTgt spid="16693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66950"/>
                                        </p:tgtEl>
                                        <p:attrNameLst>
                                          <p:attrName>style.visibility</p:attrName>
                                        </p:attrNameLst>
                                      </p:cBhvr>
                                      <p:to>
                                        <p:strVal val="visible"/>
                                      </p:to>
                                    </p:set>
                                    <p:animEffect transition="in" filter="dissolve">
                                      <p:cBhvr>
                                        <p:cTn id="17" dur="500"/>
                                        <p:tgtEl>
                                          <p:spTgt spid="166950"/>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66970"/>
                                        </p:tgtEl>
                                        <p:attrNameLst>
                                          <p:attrName>style.visibility</p:attrName>
                                        </p:attrNameLst>
                                      </p:cBhvr>
                                      <p:to>
                                        <p:strVal val="visible"/>
                                      </p:to>
                                    </p:set>
                                    <p:animEffect transition="in" filter="dissolve">
                                      <p:cBhvr>
                                        <p:cTn id="22" dur="500"/>
                                        <p:tgtEl>
                                          <p:spTgt spid="166970"/>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66971"/>
                                        </p:tgtEl>
                                        <p:attrNameLst>
                                          <p:attrName>style.visibility</p:attrName>
                                        </p:attrNameLst>
                                      </p:cBhvr>
                                      <p:to>
                                        <p:strVal val="visible"/>
                                      </p:to>
                                    </p:set>
                                    <p:animEffect transition="in" filter="dissolve">
                                      <p:cBhvr>
                                        <p:cTn id="27" dur="500"/>
                                        <p:tgtEl>
                                          <p:spTgt spid="166971"/>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66972"/>
                                        </p:tgtEl>
                                        <p:attrNameLst>
                                          <p:attrName>style.visibility</p:attrName>
                                        </p:attrNameLst>
                                      </p:cBhvr>
                                      <p:to>
                                        <p:strVal val="visible"/>
                                      </p:to>
                                    </p:set>
                                    <p:animEffect transition="in" filter="dissolve">
                                      <p:cBhvr>
                                        <p:cTn id="32" dur="500"/>
                                        <p:tgtEl>
                                          <p:spTgt spid="166972"/>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166967"/>
                                        </p:tgtEl>
                                        <p:attrNameLst>
                                          <p:attrName>style.visibility</p:attrName>
                                        </p:attrNameLst>
                                      </p:cBhvr>
                                      <p:to>
                                        <p:strVal val="visible"/>
                                      </p:to>
                                    </p:set>
                                    <p:animEffect transition="in" filter="dissolve">
                                      <p:cBhvr>
                                        <p:cTn id="37" dur="500"/>
                                        <p:tgtEl>
                                          <p:spTgt spid="16696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66973">
                                            <p:txEl>
                                              <p:pRg st="0" end="0"/>
                                            </p:txEl>
                                          </p:spTgt>
                                        </p:tgtEl>
                                        <p:attrNameLst>
                                          <p:attrName>style.visibility</p:attrName>
                                        </p:attrNameLst>
                                      </p:cBhvr>
                                      <p:to>
                                        <p:strVal val="visible"/>
                                      </p:to>
                                    </p:set>
                                    <p:animEffect transition="in" filter="wipe(left)">
                                      <p:cBhvr>
                                        <p:cTn id="42" dur="500"/>
                                        <p:tgtEl>
                                          <p:spTgt spid="16697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70" grpId="0" animBg="1"/>
      <p:bldP spid="166971" grpId="0" animBg="1"/>
      <p:bldP spid="166972" grpId="0" animBg="1"/>
      <p:bldP spid="166973" grpId="0" build="p" autoUpdateAnimBg="0"/>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9" name="Text Box 3"/>
          <p:cNvSpPr txBox="1">
            <a:spLocks noChangeArrowheads="1"/>
          </p:cNvSpPr>
          <p:nvPr/>
        </p:nvSpPr>
        <p:spPr bwMode="auto">
          <a:xfrm>
            <a:off x="228600" y="244475"/>
            <a:ext cx="8699500" cy="632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spcBef>
                <a:spcPct val="50000"/>
              </a:spcBef>
            </a:pPr>
            <a:r>
              <a:rPr lang="zh-CN" altLang="en-US" sz="2400" b="1">
                <a:latin typeface="Arial" panose="020B0604020202020204" pitchFamily="34" charset="0"/>
                <a:ea typeface="楷体_GB2312" pitchFamily="49" charset="-122"/>
                <a:cs typeface="Arial" panose="020B0604020202020204" pitchFamily="34" charset="0"/>
              </a:rPr>
              <a:t>The nine segments mentioned above are merged into three groups, requiring two merging operations, resulting in a total read/write count of 484.</a:t>
            </a:r>
          </a:p>
          <a:p>
            <a:pPr>
              <a:lnSpc>
                <a:spcPct val="110000"/>
              </a:lnSpc>
              <a:spcBef>
                <a:spcPct val="50000"/>
              </a:spcBef>
            </a:pPr>
            <a:r>
              <a:rPr lang="zh-CN" altLang="en-US" sz="2400" b="1">
                <a:latin typeface="Arial" panose="020B0604020202020204" pitchFamily="34" charset="0"/>
                <a:ea typeface="楷体_GB2312" pitchFamily="49" charset="-122"/>
                <a:cs typeface="Arial" panose="020B0604020202020204" pitchFamily="34" charset="0"/>
              </a:rPr>
              <a:t>If the length of the initial merge segment is regarded as the weight of the leaf nodes in the merge tree, then the double of the weighted path length of this binary tree is 484.</a:t>
            </a:r>
          </a:p>
          <a:p>
            <a:pPr>
              <a:lnSpc>
                <a:spcPct val="110000"/>
              </a:lnSpc>
              <a:spcBef>
                <a:spcPct val="50000"/>
              </a:spcBef>
            </a:pPr>
            <a:r>
              <a:rPr lang="zh-CN" altLang="en-US" sz="2400" b="1">
                <a:latin typeface="Arial" panose="020B0604020202020204" pitchFamily="34" charset="0"/>
                <a:ea typeface="楷体_GB2312" pitchFamily="49" charset="-122"/>
                <a:cs typeface="Arial" panose="020B0604020202020204" pitchFamily="34" charset="0"/>
              </a:rPr>
              <a:t>If the merging scheme is different, the merging tree is different, and the weighted path length of the tree is different.</a:t>
            </a:r>
          </a:p>
          <a:p>
            <a:pPr>
              <a:lnSpc>
                <a:spcPct val="110000"/>
              </a:lnSpc>
              <a:spcBef>
                <a:spcPct val="50000"/>
              </a:spcBef>
            </a:pPr>
            <a:r>
              <a:rPr lang="zh-CN" altLang="en-US" sz="2400" b="1">
                <a:latin typeface="Arial" panose="020B0604020202020204" pitchFamily="34" charset="0"/>
                <a:ea typeface="楷体_GB2312" pitchFamily="49" charset="-122"/>
                <a:cs typeface="Arial" panose="020B0604020202020204" pitchFamily="34" charset="0"/>
              </a:rPr>
              <a:t>If we construct a Huffman tree as the merge tree for m initial merge segments of different lengths, the number of read and write operations of external memory can be minimized.</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B510424F-96B9-4C00-88E0-F120333DC6C5}" type="slidenum">
              <a:rPr lang="en-US" altLang="zh-CN" smtClean="0"/>
              <a:t>151</a:t>
            </a:fld>
            <a:endParaRPr lang="en-US" altLang="zh-CN"/>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67938" name="Rectangle 2"/>
          <p:cNvSpPr>
            <a:spLocks noChangeArrowheads="1"/>
          </p:cNvSpPr>
          <p:nvPr/>
        </p:nvSpPr>
        <p:spPr bwMode="auto">
          <a:xfrm>
            <a:off x="3195638" y="1014413"/>
            <a:ext cx="533400" cy="5334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67939" name="Group 3"/>
          <p:cNvGrpSpPr/>
          <p:nvPr/>
        </p:nvGrpSpPr>
        <p:grpSpPr bwMode="auto">
          <a:xfrm>
            <a:off x="2514600" y="990600"/>
            <a:ext cx="609600" cy="585788"/>
            <a:chOff x="2496" y="1152"/>
            <a:chExt cx="384" cy="369"/>
          </a:xfrm>
        </p:grpSpPr>
        <p:sp>
          <p:nvSpPr>
            <p:cNvPr id="167940" name="Oval 4"/>
            <p:cNvSpPr>
              <a:spLocks noChangeArrowheads="1"/>
            </p:cNvSpPr>
            <p:nvPr/>
          </p:nvSpPr>
          <p:spPr bwMode="auto">
            <a:xfrm>
              <a:off x="2508" y="1152"/>
              <a:ext cx="339" cy="369"/>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7941" name="Text Box 5"/>
            <p:cNvSpPr txBox="1">
              <a:spLocks noChangeArrowheads="1"/>
            </p:cNvSpPr>
            <p:nvPr/>
          </p:nvSpPr>
          <p:spPr bwMode="auto">
            <a:xfrm>
              <a:off x="2496" y="120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3</a:t>
              </a:r>
            </a:p>
          </p:txBody>
        </p:sp>
      </p:grpSp>
      <p:grpSp>
        <p:nvGrpSpPr>
          <p:cNvPr id="167942" name="Group 6"/>
          <p:cNvGrpSpPr/>
          <p:nvPr/>
        </p:nvGrpSpPr>
        <p:grpSpPr bwMode="auto">
          <a:xfrm>
            <a:off x="2538413" y="2338388"/>
            <a:ext cx="533400" cy="457200"/>
            <a:chOff x="1776" y="558"/>
            <a:chExt cx="336" cy="288"/>
          </a:xfrm>
        </p:grpSpPr>
        <p:sp useBgFill="1">
          <p:nvSpPr>
            <p:cNvPr id="167943" name="Rectangle 7"/>
            <p:cNvSpPr>
              <a:spLocks noChangeArrowheads="1"/>
            </p:cNvSpPr>
            <p:nvPr/>
          </p:nvSpPr>
          <p:spPr bwMode="auto">
            <a:xfrm>
              <a:off x="1776" y="576"/>
              <a:ext cx="336" cy="240"/>
            </a:xfrm>
            <a:prstGeom prst="rect">
              <a:avLst/>
            </a:prstGeom>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7944" name="Text Box 8"/>
            <p:cNvSpPr txBox="1">
              <a:spLocks noChangeArrowheads="1"/>
            </p:cNvSpPr>
            <p:nvPr/>
          </p:nvSpPr>
          <p:spPr bwMode="auto">
            <a:xfrm>
              <a:off x="1795" y="558"/>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11</a:t>
              </a:r>
            </a:p>
          </p:txBody>
        </p:sp>
      </p:grpSp>
      <p:grpSp>
        <p:nvGrpSpPr>
          <p:cNvPr id="167945" name="Group 9"/>
          <p:cNvGrpSpPr/>
          <p:nvPr/>
        </p:nvGrpSpPr>
        <p:grpSpPr bwMode="auto">
          <a:xfrm>
            <a:off x="1676400" y="990600"/>
            <a:ext cx="609600" cy="585788"/>
            <a:chOff x="2496" y="1152"/>
            <a:chExt cx="384" cy="369"/>
          </a:xfrm>
        </p:grpSpPr>
        <p:sp>
          <p:nvSpPr>
            <p:cNvPr id="167946" name="Oval 10"/>
            <p:cNvSpPr>
              <a:spLocks noChangeArrowheads="1"/>
            </p:cNvSpPr>
            <p:nvPr/>
          </p:nvSpPr>
          <p:spPr bwMode="auto">
            <a:xfrm>
              <a:off x="2508" y="1152"/>
              <a:ext cx="339" cy="369"/>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7947" name="Text Box 11"/>
            <p:cNvSpPr txBox="1">
              <a:spLocks noChangeArrowheads="1"/>
            </p:cNvSpPr>
            <p:nvPr/>
          </p:nvSpPr>
          <p:spPr bwMode="auto">
            <a:xfrm>
              <a:off x="2496" y="120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a:t>
              </a:r>
            </a:p>
          </p:txBody>
        </p:sp>
      </p:grpSp>
      <p:grpSp>
        <p:nvGrpSpPr>
          <p:cNvPr id="167948" name="Group 12"/>
          <p:cNvGrpSpPr/>
          <p:nvPr/>
        </p:nvGrpSpPr>
        <p:grpSpPr bwMode="auto">
          <a:xfrm>
            <a:off x="3352800" y="990600"/>
            <a:ext cx="609600" cy="585788"/>
            <a:chOff x="2496" y="1152"/>
            <a:chExt cx="384" cy="369"/>
          </a:xfrm>
        </p:grpSpPr>
        <p:sp>
          <p:nvSpPr>
            <p:cNvPr id="167949" name="Oval 13"/>
            <p:cNvSpPr>
              <a:spLocks noChangeArrowheads="1"/>
            </p:cNvSpPr>
            <p:nvPr/>
          </p:nvSpPr>
          <p:spPr bwMode="auto">
            <a:xfrm>
              <a:off x="2508" y="1152"/>
              <a:ext cx="339" cy="369"/>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7950" name="Text Box 14"/>
            <p:cNvSpPr txBox="1">
              <a:spLocks noChangeArrowheads="1"/>
            </p:cNvSpPr>
            <p:nvPr/>
          </p:nvSpPr>
          <p:spPr bwMode="auto">
            <a:xfrm>
              <a:off x="2496" y="120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6</a:t>
              </a:r>
            </a:p>
          </p:txBody>
        </p:sp>
      </p:grpSp>
      <p:sp>
        <p:nvSpPr>
          <p:cNvPr id="167951" name="Line 15"/>
          <p:cNvSpPr>
            <a:spLocks noChangeShapeType="1"/>
          </p:cNvSpPr>
          <p:nvPr/>
        </p:nvSpPr>
        <p:spPr bwMode="auto">
          <a:xfrm>
            <a:off x="2057400" y="1524000"/>
            <a:ext cx="533400" cy="838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7952" name="Line 16"/>
          <p:cNvSpPr>
            <a:spLocks noChangeShapeType="1"/>
          </p:cNvSpPr>
          <p:nvPr/>
        </p:nvSpPr>
        <p:spPr bwMode="auto">
          <a:xfrm>
            <a:off x="2819400" y="1600200"/>
            <a:ext cx="0" cy="762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7953" name="Line 17"/>
          <p:cNvSpPr>
            <a:spLocks noChangeShapeType="1"/>
          </p:cNvSpPr>
          <p:nvPr/>
        </p:nvSpPr>
        <p:spPr bwMode="auto">
          <a:xfrm flipH="1">
            <a:off x="3048000" y="1600200"/>
            <a:ext cx="533400" cy="762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67954" name="Group 18"/>
          <p:cNvGrpSpPr/>
          <p:nvPr/>
        </p:nvGrpSpPr>
        <p:grpSpPr bwMode="auto">
          <a:xfrm>
            <a:off x="1600200" y="2233613"/>
            <a:ext cx="609600" cy="585787"/>
            <a:chOff x="2496" y="1152"/>
            <a:chExt cx="384" cy="369"/>
          </a:xfrm>
        </p:grpSpPr>
        <p:sp>
          <p:nvSpPr>
            <p:cNvPr id="167955" name="Oval 19"/>
            <p:cNvSpPr>
              <a:spLocks noChangeArrowheads="1"/>
            </p:cNvSpPr>
            <p:nvPr/>
          </p:nvSpPr>
          <p:spPr bwMode="auto">
            <a:xfrm>
              <a:off x="2508" y="1152"/>
              <a:ext cx="339" cy="369"/>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7956" name="Text Box 20"/>
            <p:cNvSpPr txBox="1">
              <a:spLocks noChangeArrowheads="1"/>
            </p:cNvSpPr>
            <p:nvPr/>
          </p:nvSpPr>
          <p:spPr bwMode="auto">
            <a:xfrm>
              <a:off x="2496" y="120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9</a:t>
              </a:r>
            </a:p>
          </p:txBody>
        </p:sp>
      </p:grpSp>
      <p:grpSp>
        <p:nvGrpSpPr>
          <p:cNvPr id="167957" name="Group 21"/>
          <p:cNvGrpSpPr/>
          <p:nvPr/>
        </p:nvGrpSpPr>
        <p:grpSpPr bwMode="auto">
          <a:xfrm>
            <a:off x="3429000" y="2233613"/>
            <a:ext cx="609600" cy="585787"/>
            <a:chOff x="2496" y="1152"/>
            <a:chExt cx="384" cy="369"/>
          </a:xfrm>
        </p:grpSpPr>
        <p:sp>
          <p:nvSpPr>
            <p:cNvPr id="167958" name="Oval 22"/>
            <p:cNvSpPr>
              <a:spLocks noChangeArrowheads="1"/>
            </p:cNvSpPr>
            <p:nvPr/>
          </p:nvSpPr>
          <p:spPr bwMode="auto">
            <a:xfrm>
              <a:off x="2508" y="1152"/>
              <a:ext cx="339" cy="369"/>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7959" name="Text Box 23"/>
            <p:cNvSpPr txBox="1">
              <a:spLocks noChangeArrowheads="1"/>
            </p:cNvSpPr>
            <p:nvPr/>
          </p:nvSpPr>
          <p:spPr bwMode="auto">
            <a:xfrm>
              <a:off x="2496" y="120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12</a:t>
              </a:r>
            </a:p>
          </p:txBody>
        </p:sp>
      </p:grpSp>
      <p:grpSp>
        <p:nvGrpSpPr>
          <p:cNvPr id="167960" name="Group 24"/>
          <p:cNvGrpSpPr/>
          <p:nvPr/>
        </p:nvGrpSpPr>
        <p:grpSpPr bwMode="auto">
          <a:xfrm>
            <a:off x="2538413" y="3557588"/>
            <a:ext cx="533400" cy="457200"/>
            <a:chOff x="1776" y="558"/>
            <a:chExt cx="336" cy="288"/>
          </a:xfrm>
        </p:grpSpPr>
        <p:sp useBgFill="1">
          <p:nvSpPr>
            <p:cNvPr id="167961" name="Rectangle 25"/>
            <p:cNvSpPr>
              <a:spLocks noChangeArrowheads="1"/>
            </p:cNvSpPr>
            <p:nvPr/>
          </p:nvSpPr>
          <p:spPr bwMode="auto">
            <a:xfrm>
              <a:off x="1776" y="576"/>
              <a:ext cx="336" cy="240"/>
            </a:xfrm>
            <a:prstGeom prst="rect">
              <a:avLst/>
            </a:prstGeom>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7962" name="Text Box 26"/>
            <p:cNvSpPr txBox="1">
              <a:spLocks noChangeArrowheads="1"/>
            </p:cNvSpPr>
            <p:nvPr/>
          </p:nvSpPr>
          <p:spPr bwMode="auto">
            <a:xfrm>
              <a:off x="1795" y="558"/>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32</a:t>
              </a:r>
            </a:p>
          </p:txBody>
        </p:sp>
      </p:grpSp>
      <p:sp>
        <p:nvSpPr>
          <p:cNvPr id="167963" name="Line 27"/>
          <p:cNvSpPr>
            <a:spLocks noChangeShapeType="1"/>
          </p:cNvSpPr>
          <p:nvPr/>
        </p:nvSpPr>
        <p:spPr bwMode="auto">
          <a:xfrm>
            <a:off x="2033588" y="2743200"/>
            <a:ext cx="533400" cy="838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7964" name="Line 28"/>
          <p:cNvSpPr>
            <a:spLocks noChangeShapeType="1"/>
          </p:cNvSpPr>
          <p:nvPr/>
        </p:nvSpPr>
        <p:spPr bwMode="auto">
          <a:xfrm>
            <a:off x="2795588" y="2819400"/>
            <a:ext cx="0" cy="762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7965" name="Line 29"/>
          <p:cNvSpPr>
            <a:spLocks noChangeShapeType="1"/>
          </p:cNvSpPr>
          <p:nvPr/>
        </p:nvSpPr>
        <p:spPr bwMode="auto">
          <a:xfrm flipH="1">
            <a:off x="3024188" y="2819400"/>
            <a:ext cx="533400" cy="762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useBgFill="1">
        <p:nvSpPr>
          <p:cNvPr id="167966" name="Rectangle 30"/>
          <p:cNvSpPr>
            <a:spLocks noChangeArrowheads="1"/>
          </p:cNvSpPr>
          <p:nvPr/>
        </p:nvSpPr>
        <p:spPr bwMode="auto">
          <a:xfrm>
            <a:off x="5786438" y="2233613"/>
            <a:ext cx="533400" cy="5334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67967" name="Group 31"/>
          <p:cNvGrpSpPr/>
          <p:nvPr/>
        </p:nvGrpSpPr>
        <p:grpSpPr bwMode="auto">
          <a:xfrm>
            <a:off x="5105400" y="2209800"/>
            <a:ext cx="609600" cy="585788"/>
            <a:chOff x="2496" y="1152"/>
            <a:chExt cx="384" cy="369"/>
          </a:xfrm>
        </p:grpSpPr>
        <p:sp>
          <p:nvSpPr>
            <p:cNvPr id="167968" name="Oval 32"/>
            <p:cNvSpPr>
              <a:spLocks noChangeArrowheads="1"/>
            </p:cNvSpPr>
            <p:nvPr/>
          </p:nvSpPr>
          <p:spPr bwMode="auto">
            <a:xfrm>
              <a:off x="2508" y="1152"/>
              <a:ext cx="339" cy="369"/>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7969" name="Text Box 33"/>
            <p:cNvSpPr txBox="1">
              <a:spLocks noChangeArrowheads="1"/>
            </p:cNvSpPr>
            <p:nvPr/>
          </p:nvSpPr>
          <p:spPr bwMode="auto">
            <a:xfrm>
              <a:off x="2496" y="120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18</a:t>
              </a:r>
            </a:p>
          </p:txBody>
        </p:sp>
      </p:grpSp>
      <p:grpSp>
        <p:nvGrpSpPr>
          <p:cNvPr id="167970" name="Group 34"/>
          <p:cNvGrpSpPr/>
          <p:nvPr/>
        </p:nvGrpSpPr>
        <p:grpSpPr bwMode="auto">
          <a:xfrm>
            <a:off x="5129213" y="3557588"/>
            <a:ext cx="533400" cy="457200"/>
            <a:chOff x="1776" y="558"/>
            <a:chExt cx="336" cy="288"/>
          </a:xfrm>
        </p:grpSpPr>
        <p:sp useBgFill="1">
          <p:nvSpPr>
            <p:cNvPr id="167971" name="Rectangle 35"/>
            <p:cNvSpPr>
              <a:spLocks noChangeArrowheads="1"/>
            </p:cNvSpPr>
            <p:nvPr/>
          </p:nvSpPr>
          <p:spPr bwMode="auto">
            <a:xfrm>
              <a:off x="1776" y="576"/>
              <a:ext cx="336" cy="240"/>
            </a:xfrm>
            <a:prstGeom prst="rect">
              <a:avLst/>
            </a:prstGeom>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7972" name="Text Box 36"/>
            <p:cNvSpPr txBox="1">
              <a:spLocks noChangeArrowheads="1"/>
            </p:cNvSpPr>
            <p:nvPr/>
          </p:nvSpPr>
          <p:spPr bwMode="auto">
            <a:xfrm>
              <a:off x="1795" y="558"/>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59</a:t>
              </a:r>
            </a:p>
          </p:txBody>
        </p:sp>
      </p:grpSp>
      <p:grpSp>
        <p:nvGrpSpPr>
          <p:cNvPr id="167973" name="Group 37"/>
          <p:cNvGrpSpPr/>
          <p:nvPr/>
        </p:nvGrpSpPr>
        <p:grpSpPr bwMode="auto">
          <a:xfrm>
            <a:off x="4267200" y="2209800"/>
            <a:ext cx="609600" cy="585788"/>
            <a:chOff x="2496" y="1152"/>
            <a:chExt cx="384" cy="369"/>
          </a:xfrm>
        </p:grpSpPr>
        <p:sp>
          <p:nvSpPr>
            <p:cNvPr id="167974" name="Oval 38"/>
            <p:cNvSpPr>
              <a:spLocks noChangeArrowheads="1"/>
            </p:cNvSpPr>
            <p:nvPr/>
          </p:nvSpPr>
          <p:spPr bwMode="auto">
            <a:xfrm>
              <a:off x="2508" y="1152"/>
              <a:ext cx="339" cy="369"/>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7975" name="Text Box 39"/>
            <p:cNvSpPr txBox="1">
              <a:spLocks noChangeArrowheads="1"/>
            </p:cNvSpPr>
            <p:nvPr/>
          </p:nvSpPr>
          <p:spPr bwMode="auto">
            <a:xfrm>
              <a:off x="2496" y="120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17</a:t>
              </a:r>
            </a:p>
          </p:txBody>
        </p:sp>
      </p:grpSp>
      <p:grpSp>
        <p:nvGrpSpPr>
          <p:cNvPr id="167976" name="Group 40"/>
          <p:cNvGrpSpPr/>
          <p:nvPr/>
        </p:nvGrpSpPr>
        <p:grpSpPr bwMode="auto">
          <a:xfrm>
            <a:off x="5943600" y="2209800"/>
            <a:ext cx="609600" cy="585788"/>
            <a:chOff x="2496" y="1152"/>
            <a:chExt cx="384" cy="369"/>
          </a:xfrm>
        </p:grpSpPr>
        <p:sp>
          <p:nvSpPr>
            <p:cNvPr id="167977" name="Oval 41"/>
            <p:cNvSpPr>
              <a:spLocks noChangeArrowheads="1"/>
            </p:cNvSpPr>
            <p:nvPr/>
          </p:nvSpPr>
          <p:spPr bwMode="auto">
            <a:xfrm>
              <a:off x="2508" y="1152"/>
              <a:ext cx="339" cy="369"/>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7978" name="Text Box 42"/>
            <p:cNvSpPr txBox="1">
              <a:spLocks noChangeArrowheads="1"/>
            </p:cNvSpPr>
            <p:nvPr/>
          </p:nvSpPr>
          <p:spPr bwMode="auto">
            <a:xfrm>
              <a:off x="2496" y="120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24</a:t>
              </a:r>
            </a:p>
          </p:txBody>
        </p:sp>
      </p:grpSp>
      <p:sp>
        <p:nvSpPr>
          <p:cNvPr id="167979" name="Line 43"/>
          <p:cNvSpPr>
            <a:spLocks noChangeShapeType="1"/>
          </p:cNvSpPr>
          <p:nvPr/>
        </p:nvSpPr>
        <p:spPr bwMode="auto">
          <a:xfrm>
            <a:off x="4648200" y="2743200"/>
            <a:ext cx="533400" cy="838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7980" name="Line 44"/>
          <p:cNvSpPr>
            <a:spLocks noChangeShapeType="1"/>
          </p:cNvSpPr>
          <p:nvPr/>
        </p:nvSpPr>
        <p:spPr bwMode="auto">
          <a:xfrm>
            <a:off x="5410200" y="2819400"/>
            <a:ext cx="0" cy="762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7981" name="Line 45"/>
          <p:cNvSpPr>
            <a:spLocks noChangeShapeType="1"/>
          </p:cNvSpPr>
          <p:nvPr/>
        </p:nvSpPr>
        <p:spPr bwMode="auto">
          <a:xfrm flipH="1">
            <a:off x="5638800" y="2819400"/>
            <a:ext cx="533400" cy="762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67982" name="Group 46"/>
          <p:cNvGrpSpPr/>
          <p:nvPr/>
        </p:nvGrpSpPr>
        <p:grpSpPr bwMode="auto">
          <a:xfrm>
            <a:off x="1143000" y="3429000"/>
            <a:ext cx="609600" cy="585788"/>
            <a:chOff x="2496" y="1152"/>
            <a:chExt cx="384" cy="369"/>
          </a:xfrm>
        </p:grpSpPr>
        <p:sp>
          <p:nvSpPr>
            <p:cNvPr id="167983" name="Oval 47"/>
            <p:cNvSpPr>
              <a:spLocks noChangeArrowheads="1"/>
            </p:cNvSpPr>
            <p:nvPr/>
          </p:nvSpPr>
          <p:spPr bwMode="auto">
            <a:xfrm>
              <a:off x="2508" y="1152"/>
              <a:ext cx="339" cy="369"/>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7984" name="Text Box 48"/>
            <p:cNvSpPr txBox="1">
              <a:spLocks noChangeArrowheads="1"/>
            </p:cNvSpPr>
            <p:nvPr/>
          </p:nvSpPr>
          <p:spPr bwMode="auto">
            <a:xfrm>
              <a:off x="2496" y="120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30</a:t>
              </a:r>
            </a:p>
          </p:txBody>
        </p:sp>
      </p:grpSp>
      <p:grpSp>
        <p:nvGrpSpPr>
          <p:cNvPr id="167985" name="Group 49"/>
          <p:cNvGrpSpPr/>
          <p:nvPr/>
        </p:nvGrpSpPr>
        <p:grpSpPr bwMode="auto">
          <a:xfrm>
            <a:off x="2543175" y="4981575"/>
            <a:ext cx="685800" cy="457200"/>
            <a:chOff x="1776" y="558"/>
            <a:chExt cx="336" cy="288"/>
          </a:xfrm>
        </p:grpSpPr>
        <p:sp useBgFill="1">
          <p:nvSpPr>
            <p:cNvPr id="167986" name="Rectangle 50"/>
            <p:cNvSpPr>
              <a:spLocks noChangeArrowheads="1"/>
            </p:cNvSpPr>
            <p:nvPr/>
          </p:nvSpPr>
          <p:spPr bwMode="auto">
            <a:xfrm>
              <a:off x="1776" y="576"/>
              <a:ext cx="336" cy="240"/>
            </a:xfrm>
            <a:prstGeom prst="rect">
              <a:avLst/>
            </a:prstGeom>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7987" name="Text Box 51"/>
            <p:cNvSpPr txBox="1">
              <a:spLocks noChangeArrowheads="1"/>
            </p:cNvSpPr>
            <p:nvPr/>
          </p:nvSpPr>
          <p:spPr bwMode="auto">
            <a:xfrm>
              <a:off x="1795" y="558"/>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121</a:t>
              </a:r>
            </a:p>
          </p:txBody>
        </p:sp>
      </p:grpSp>
      <p:sp>
        <p:nvSpPr>
          <p:cNvPr id="167988" name="Line 52"/>
          <p:cNvSpPr>
            <a:spLocks noChangeShapeType="1"/>
          </p:cNvSpPr>
          <p:nvPr/>
        </p:nvSpPr>
        <p:spPr bwMode="auto">
          <a:xfrm>
            <a:off x="1524000" y="4038600"/>
            <a:ext cx="10668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7989" name="Line 53"/>
          <p:cNvSpPr>
            <a:spLocks noChangeShapeType="1"/>
          </p:cNvSpPr>
          <p:nvPr/>
        </p:nvSpPr>
        <p:spPr bwMode="auto">
          <a:xfrm>
            <a:off x="2819400" y="4010025"/>
            <a:ext cx="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7990" name="Line 54"/>
          <p:cNvSpPr>
            <a:spLocks noChangeShapeType="1"/>
          </p:cNvSpPr>
          <p:nvPr/>
        </p:nvSpPr>
        <p:spPr bwMode="auto">
          <a:xfrm flipH="1">
            <a:off x="3124200" y="3962400"/>
            <a:ext cx="2057400" cy="1066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7991" name="Text Box 55"/>
          <p:cNvSpPr txBox="1">
            <a:spLocks noChangeArrowheads="1"/>
          </p:cNvSpPr>
          <p:nvPr/>
        </p:nvSpPr>
        <p:spPr bwMode="auto">
          <a:xfrm>
            <a:off x="457200" y="5486400"/>
            <a:ext cx="8458200" cy="116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latin typeface="Arial" panose="020B0604020202020204" pitchFamily="34" charset="0"/>
                <a:ea typeface="楷体_GB2312" pitchFamily="49" charset="-122"/>
                <a:cs typeface="Arial" panose="020B0604020202020204" pitchFamily="34" charset="0"/>
              </a:rPr>
              <a:t>Number of read/write operations:</a:t>
            </a:r>
          </a:p>
          <a:p>
            <a:pPr>
              <a:spcBef>
                <a:spcPct val="50000"/>
              </a:spcBef>
            </a:pPr>
            <a:r>
              <a:rPr lang="en-US" altLang="zh-CN" b="1">
                <a:latin typeface="Arial" panose="020B0604020202020204" pitchFamily="34" charset="0"/>
                <a:ea typeface="楷体_GB2312" pitchFamily="49" charset="-122"/>
                <a:cs typeface="Arial" panose="020B0604020202020204" pitchFamily="34" charset="0"/>
              </a:rPr>
              <a:t>[(3+2+6</a:t>
            </a:r>
            <a:r>
              <a:rPr lang="zh-CN" altLang="en-US" b="1">
                <a:latin typeface="Arial" panose="020B0604020202020204" pitchFamily="34" charset="0"/>
                <a:ea typeface="楷体_GB2312" pitchFamily="49" charset="-122"/>
                <a:cs typeface="Arial" panose="020B0604020202020204" pitchFamily="34" charset="0"/>
              </a:rPr>
              <a:t>）*</a:t>
            </a:r>
            <a:r>
              <a:rPr lang="en-US" altLang="zh-CN" b="1">
                <a:latin typeface="Arial" panose="020B0604020202020204" pitchFamily="34" charset="0"/>
                <a:ea typeface="楷体_GB2312" pitchFamily="49" charset="-122"/>
                <a:cs typeface="Arial" panose="020B0604020202020204" pitchFamily="34" charset="0"/>
              </a:rPr>
              <a:t>3+(9+12+17+18+24)*2+30*1]*2 =446</a:t>
            </a:r>
          </a:p>
        </p:txBody>
      </p:sp>
      <p:sp>
        <p:nvSpPr>
          <p:cNvPr id="167992" name="Rectangle 56"/>
          <p:cNvSpPr>
            <a:spLocks noChangeArrowheads="1"/>
          </p:cNvSpPr>
          <p:nvPr/>
        </p:nvSpPr>
        <p:spPr bwMode="auto">
          <a:xfrm>
            <a:off x="266700" y="0"/>
            <a:ext cx="8025765"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3200" b="1">
                <a:solidFill>
                  <a:schemeClr val="tx2"/>
                </a:solidFill>
                <a:latin typeface="Arial" panose="020B0604020202020204" pitchFamily="34" charset="0"/>
                <a:ea typeface="楷体_GB2312" pitchFamily="49" charset="-122"/>
                <a:cs typeface="Arial" panose="020B0604020202020204" pitchFamily="34" charset="0"/>
              </a:rPr>
              <a:t>Optimal Merge Tree for 3-Way Merging (9 Segments)</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152</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7991">
                                            <p:txEl>
                                              <p:pRg st="0" end="0"/>
                                            </p:txEl>
                                          </p:spTgt>
                                        </p:tgtEl>
                                        <p:attrNameLst>
                                          <p:attrName>style.visibility</p:attrName>
                                        </p:attrNameLst>
                                      </p:cBhvr>
                                      <p:to>
                                        <p:strVal val="visible"/>
                                      </p:to>
                                    </p:set>
                                    <p:animEffect transition="in" filter="wipe(left)">
                                      <p:cBhvr>
                                        <p:cTn id="7" dur="500"/>
                                        <p:tgtEl>
                                          <p:spTgt spid="1679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7991">
                                            <p:txEl>
                                              <p:pRg st="1" end="1"/>
                                            </p:txEl>
                                          </p:spTgt>
                                        </p:tgtEl>
                                        <p:attrNameLst>
                                          <p:attrName>style.visibility</p:attrName>
                                        </p:attrNameLst>
                                      </p:cBhvr>
                                      <p:to>
                                        <p:strVal val="visible"/>
                                      </p:to>
                                    </p:set>
                                    <p:animEffect transition="in" filter="wipe(left)">
                                      <p:cBhvr>
                                        <p:cTn id="12" dur="500"/>
                                        <p:tgtEl>
                                          <p:spTgt spid="16799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91" grpId="0" build="p" autoUpdateAnimBg="0"/>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68962" name="Rectangle 2"/>
          <p:cNvSpPr>
            <a:spLocks noChangeArrowheads="1"/>
          </p:cNvSpPr>
          <p:nvPr/>
        </p:nvSpPr>
        <p:spPr bwMode="auto">
          <a:xfrm>
            <a:off x="3195638" y="1014413"/>
            <a:ext cx="533400" cy="5334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68963" name="Group 3"/>
          <p:cNvGrpSpPr/>
          <p:nvPr/>
        </p:nvGrpSpPr>
        <p:grpSpPr bwMode="auto">
          <a:xfrm>
            <a:off x="2514600" y="990600"/>
            <a:ext cx="609600" cy="585788"/>
            <a:chOff x="2496" y="1152"/>
            <a:chExt cx="384" cy="369"/>
          </a:xfrm>
        </p:grpSpPr>
        <p:sp>
          <p:nvSpPr>
            <p:cNvPr id="168964" name="Oval 4"/>
            <p:cNvSpPr>
              <a:spLocks noChangeArrowheads="1"/>
            </p:cNvSpPr>
            <p:nvPr/>
          </p:nvSpPr>
          <p:spPr bwMode="auto">
            <a:xfrm>
              <a:off x="2508" y="1152"/>
              <a:ext cx="339" cy="369"/>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8965" name="Text Box 5"/>
            <p:cNvSpPr txBox="1">
              <a:spLocks noChangeArrowheads="1"/>
            </p:cNvSpPr>
            <p:nvPr/>
          </p:nvSpPr>
          <p:spPr bwMode="auto">
            <a:xfrm>
              <a:off x="2496" y="120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3</a:t>
              </a:r>
            </a:p>
          </p:txBody>
        </p:sp>
      </p:grpSp>
      <p:grpSp>
        <p:nvGrpSpPr>
          <p:cNvPr id="168966" name="Group 6"/>
          <p:cNvGrpSpPr/>
          <p:nvPr/>
        </p:nvGrpSpPr>
        <p:grpSpPr bwMode="auto">
          <a:xfrm>
            <a:off x="2538413" y="2338388"/>
            <a:ext cx="533400" cy="457200"/>
            <a:chOff x="1776" y="558"/>
            <a:chExt cx="336" cy="288"/>
          </a:xfrm>
        </p:grpSpPr>
        <p:sp useBgFill="1">
          <p:nvSpPr>
            <p:cNvPr id="168967" name="Rectangle 7"/>
            <p:cNvSpPr>
              <a:spLocks noChangeArrowheads="1"/>
            </p:cNvSpPr>
            <p:nvPr/>
          </p:nvSpPr>
          <p:spPr bwMode="auto">
            <a:xfrm>
              <a:off x="1776" y="576"/>
              <a:ext cx="336" cy="240"/>
            </a:xfrm>
            <a:prstGeom prst="rect">
              <a:avLst/>
            </a:prstGeom>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8968" name="Text Box 8"/>
            <p:cNvSpPr txBox="1">
              <a:spLocks noChangeArrowheads="1"/>
            </p:cNvSpPr>
            <p:nvPr/>
          </p:nvSpPr>
          <p:spPr bwMode="auto">
            <a:xfrm>
              <a:off x="1795" y="558"/>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11</a:t>
              </a:r>
            </a:p>
          </p:txBody>
        </p:sp>
      </p:grpSp>
      <p:grpSp>
        <p:nvGrpSpPr>
          <p:cNvPr id="168969" name="Group 9"/>
          <p:cNvGrpSpPr/>
          <p:nvPr/>
        </p:nvGrpSpPr>
        <p:grpSpPr bwMode="auto">
          <a:xfrm>
            <a:off x="1676400" y="990600"/>
            <a:ext cx="609600" cy="585788"/>
            <a:chOff x="2496" y="1152"/>
            <a:chExt cx="384" cy="369"/>
          </a:xfrm>
        </p:grpSpPr>
        <p:sp>
          <p:nvSpPr>
            <p:cNvPr id="168970" name="Oval 10"/>
            <p:cNvSpPr>
              <a:spLocks noChangeArrowheads="1"/>
            </p:cNvSpPr>
            <p:nvPr/>
          </p:nvSpPr>
          <p:spPr bwMode="auto">
            <a:xfrm>
              <a:off x="2508" y="1152"/>
              <a:ext cx="339" cy="369"/>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8971" name="Text Box 11"/>
            <p:cNvSpPr txBox="1">
              <a:spLocks noChangeArrowheads="1"/>
            </p:cNvSpPr>
            <p:nvPr/>
          </p:nvSpPr>
          <p:spPr bwMode="auto">
            <a:xfrm>
              <a:off x="2496" y="120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a:t>
              </a:r>
            </a:p>
          </p:txBody>
        </p:sp>
      </p:grpSp>
      <p:grpSp>
        <p:nvGrpSpPr>
          <p:cNvPr id="168972" name="Group 12"/>
          <p:cNvGrpSpPr/>
          <p:nvPr/>
        </p:nvGrpSpPr>
        <p:grpSpPr bwMode="auto">
          <a:xfrm>
            <a:off x="3352800" y="990600"/>
            <a:ext cx="609600" cy="585788"/>
            <a:chOff x="2496" y="1152"/>
            <a:chExt cx="384" cy="369"/>
          </a:xfrm>
        </p:grpSpPr>
        <p:sp>
          <p:nvSpPr>
            <p:cNvPr id="168973" name="Oval 13"/>
            <p:cNvSpPr>
              <a:spLocks noChangeArrowheads="1"/>
            </p:cNvSpPr>
            <p:nvPr/>
          </p:nvSpPr>
          <p:spPr bwMode="auto">
            <a:xfrm>
              <a:off x="2508" y="1152"/>
              <a:ext cx="339" cy="369"/>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8974" name="Text Box 14"/>
            <p:cNvSpPr txBox="1">
              <a:spLocks noChangeArrowheads="1"/>
            </p:cNvSpPr>
            <p:nvPr/>
          </p:nvSpPr>
          <p:spPr bwMode="auto">
            <a:xfrm>
              <a:off x="2496" y="120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6</a:t>
              </a:r>
            </a:p>
          </p:txBody>
        </p:sp>
      </p:grpSp>
      <p:sp>
        <p:nvSpPr>
          <p:cNvPr id="168975" name="Line 15"/>
          <p:cNvSpPr>
            <a:spLocks noChangeShapeType="1"/>
          </p:cNvSpPr>
          <p:nvPr/>
        </p:nvSpPr>
        <p:spPr bwMode="auto">
          <a:xfrm>
            <a:off x="2057400" y="1524000"/>
            <a:ext cx="533400" cy="838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8976" name="Line 16"/>
          <p:cNvSpPr>
            <a:spLocks noChangeShapeType="1"/>
          </p:cNvSpPr>
          <p:nvPr/>
        </p:nvSpPr>
        <p:spPr bwMode="auto">
          <a:xfrm>
            <a:off x="2819400" y="1600200"/>
            <a:ext cx="0" cy="762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8977" name="Line 17"/>
          <p:cNvSpPr>
            <a:spLocks noChangeShapeType="1"/>
          </p:cNvSpPr>
          <p:nvPr/>
        </p:nvSpPr>
        <p:spPr bwMode="auto">
          <a:xfrm flipH="1">
            <a:off x="3048000" y="1600200"/>
            <a:ext cx="533400" cy="762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68978" name="Group 18"/>
          <p:cNvGrpSpPr/>
          <p:nvPr/>
        </p:nvGrpSpPr>
        <p:grpSpPr bwMode="auto">
          <a:xfrm>
            <a:off x="1600200" y="2233613"/>
            <a:ext cx="609600" cy="585787"/>
            <a:chOff x="2496" y="1152"/>
            <a:chExt cx="384" cy="369"/>
          </a:xfrm>
        </p:grpSpPr>
        <p:sp>
          <p:nvSpPr>
            <p:cNvPr id="168979" name="Oval 19"/>
            <p:cNvSpPr>
              <a:spLocks noChangeArrowheads="1"/>
            </p:cNvSpPr>
            <p:nvPr/>
          </p:nvSpPr>
          <p:spPr bwMode="auto">
            <a:xfrm>
              <a:off x="2508" y="1152"/>
              <a:ext cx="339" cy="369"/>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8980" name="Text Box 20"/>
            <p:cNvSpPr txBox="1">
              <a:spLocks noChangeArrowheads="1"/>
            </p:cNvSpPr>
            <p:nvPr/>
          </p:nvSpPr>
          <p:spPr bwMode="auto">
            <a:xfrm>
              <a:off x="2496" y="120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9</a:t>
              </a:r>
            </a:p>
          </p:txBody>
        </p:sp>
      </p:grpSp>
      <p:grpSp>
        <p:nvGrpSpPr>
          <p:cNvPr id="168981" name="Group 21"/>
          <p:cNvGrpSpPr/>
          <p:nvPr/>
        </p:nvGrpSpPr>
        <p:grpSpPr bwMode="auto">
          <a:xfrm>
            <a:off x="3429000" y="2233613"/>
            <a:ext cx="609600" cy="585787"/>
            <a:chOff x="2496" y="1152"/>
            <a:chExt cx="384" cy="369"/>
          </a:xfrm>
        </p:grpSpPr>
        <p:sp>
          <p:nvSpPr>
            <p:cNvPr id="168982" name="Oval 22"/>
            <p:cNvSpPr>
              <a:spLocks noChangeArrowheads="1"/>
            </p:cNvSpPr>
            <p:nvPr/>
          </p:nvSpPr>
          <p:spPr bwMode="auto">
            <a:xfrm>
              <a:off x="2508" y="1152"/>
              <a:ext cx="339" cy="369"/>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8983" name="Text Box 23"/>
            <p:cNvSpPr txBox="1">
              <a:spLocks noChangeArrowheads="1"/>
            </p:cNvSpPr>
            <p:nvPr/>
          </p:nvSpPr>
          <p:spPr bwMode="auto">
            <a:xfrm>
              <a:off x="2496" y="120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12</a:t>
              </a:r>
            </a:p>
          </p:txBody>
        </p:sp>
      </p:grpSp>
      <p:grpSp>
        <p:nvGrpSpPr>
          <p:cNvPr id="168984" name="Group 24"/>
          <p:cNvGrpSpPr/>
          <p:nvPr/>
        </p:nvGrpSpPr>
        <p:grpSpPr bwMode="auto">
          <a:xfrm>
            <a:off x="2538413" y="3557588"/>
            <a:ext cx="533400" cy="457200"/>
            <a:chOff x="1776" y="558"/>
            <a:chExt cx="336" cy="288"/>
          </a:xfrm>
        </p:grpSpPr>
        <p:sp useBgFill="1">
          <p:nvSpPr>
            <p:cNvPr id="168985" name="Rectangle 25"/>
            <p:cNvSpPr>
              <a:spLocks noChangeArrowheads="1"/>
            </p:cNvSpPr>
            <p:nvPr/>
          </p:nvSpPr>
          <p:spPr bwMode="auto">
            <a:xfrm>
              <a:off x="1776" y="576"/>
              <a:ext cx="336" cy="240"/>
            </a:xfrm>
            <a:prstGeom prst="rect">
              <a:avLst/>
            </a:prstGeom>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8986" name="Text Box 26"/>
            <p:cNvSpPr txBox="1">
              <a:spLocks noChangeArrowheads="1"/>
            </p:cNvSpPr>
            <p:nvPr/>
          </p:nvSpPr>
          <p:spPr bwMode="auto">
            <a:xfrm>
              <a:off x="1795" y="558"/>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32</a:t>
              </a:r>
            </a:p>
          </p:txBody>
        </p:sp>
      </p:grpSp>
      <p:sp>
        <p:nvSpPr>
          <p:cNvPr id="168987" name="Line 27"/>
          <p:cNvSpPr>
            <a:spLocks noChangeShapeType="1"/>
          </p:cNvSpPr>
          <p:nvPr/>
        </p:nvSpPr>
        <p:spPr bwMode="auto">
          <a:xfrm>
            <a:off x="2795588" y="2819400"/>
            <a:ext cx="0" cy="762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8988" name="Line 28"/>
          <p:cNvSpPr>
            <a:spLocks noChangeShapeType="1"/>
          </p:cNvSpPr>
          <p:nvPr/>
        </p:nvSpPr>
        <p:spPr bwMode="auto">
          <a:xfrm flipH="1">
            <a:off x="3024188" y="2819400"/>
            <a:ext cx="533400" cy="762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useBgFill="1">
        <p:nvSpPr>
          <p:cNvPr id="168989" name="Rectangle 29"/>
          <p:cNvSpPr>
            <a:spLocks noChangeArrowheads="1"/>
          </p:cNvSpPr>
          <p:nvPr/>
        </p:nvSpPr>
        <p:spPr bwMode="auto">
          <a:xfrm>
            <a:off x="5786438" y="2233613"/>
            <a:ext cx="533400" cy="5334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68990" name="Group 30"/>
          <p:cNvGrpSpPr/>
          <p:nvPr/>
        </p:nvGrpSpPr>
        <p:grpSpPr bwMode="auto">
          <a:xfrm>
            <a:off x="5105400" y="2209800"/>
            <a:ext cx="609600" cy="585788"/>
            <a:chOff x="2496" y="1152"/>
            <a:chExt cx="384" cy="369"/>
          </a:xfrm>
        </p:grpSpPr>
        <p:sp>
          <p:nvSpPr>
            <p:cNvPr id="168991" name="Oval 31"/>
            <p:cNvSpPr>
              <a:spLocks noChangeArrowheads="1"/>
            </p:cNvSpPr>
            <p:nvPr/>
          </p:nvSpPr>
          <p:spPr bwMode="auto">
            <a:xfrm>
              <a:off x="2508" y="1152"/>
              <a:ext cx="339" cy="369"/>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8992" name="Text Box 32"/>
            <p:cNvSpPr txBox="1">
              <a:spLocks noChangeArrowheads="1"/>
            </p:cNvSpPr>
            <p:nvPr/>
          </p:nvSpPr>
          <p:spPr bwMode="auto">
            <a:xfrm>
              <a:off x="2496" y="120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18</a:t>
              </a:r>
            </a:p>
          </p:txBody>
        </p:sp>
      </p:grpSp>
      <p:grpSp>
        <p:nvGrpSpPr>
          <p:cNvPr id="168993" name="Group 33"/>
          <p:cNvGrpSpPr/>
          <p:nvPr/>
        </p:nvGrpSpPr>
        <p:grpSpPr bwMode="auto">
          <a:xfrm>
            <a:off x="5129213" y="3557588"/>
            <a:ext cx="533400" cy="457200"/>
            <a:chOff x="1776" y="558"/>
            <a:chExt cx="336" cy="288"/>
          </a:xfrm>
        </p:grpSpPr>
        <p:sp useBgFill="1">
          <p:nvSpPr>
            <p:cNvPr id="168994" name="Rectangle 34"/>
            <p:cNvSpPr>
              <a:spLocks noChangeArrowheads="1"/>
            </p:cNvSpPr>
            <p:nvPr/>
          </p:nvSpPr>
          <p:spPr bwMode="auto">
            <a:xfrm>
              <a:off x="1776" y="576"/>
              <a:ext cx="336" cy="240"/>
            </a:xfrm>
            <a:prstGeom prst="rect">
              <a:avLst/>
            </a:prstGeom>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8995" name="Text Box 35"/>
            <p:cNvSpPr txBox="1">
              <a:spLocks noChangeArrowheads="1"/>
            </p:cNvSpPr>
            <p:nvPr/>
          </p:nvSpPr>
          <p:spPr bwMode="auto">
            <a:xfrm>
              <a:off x="1795" y="558"/>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59</a:t>
              </a:r>
            </a:p>
          </p:txBody>
        </p:sp>
      </p:grpSp>
      <p:grpSp>
        <p:nvGrpSpPr>
          <p:cNvPr id="168996" name="Group 36"/>
          <p:cNvGrpSpPr/>
          <p:nvPr/>
        </p:nvGrpSpPr>
        <p:grpSpPr bwMode="auto">
          <a:xfrm>
            <a:off x="4267200" y="2209800"/>
            <a:ext cx="609600" cy="585788"/>
            <a:chOff x="2496" y="1152"/>
            <a:chExt cx="384" cy="369"/>
          </a:xfrm>
        </p:grpSpPr>
        <p:sp>
          <p:nvSpPr>
            <p:cNvPr id="168997" name="Oval 37"/>
            <p:cNvSpPr>
              <a:spLocks noChangeArrowheads="1"/>
            </p:cNvSpPr>
            <p:nvPr/>
          </p:nvSpPr>
          <p:spPr bwMode="auto">
            <a:xfrm>
              <a:off x="2508" y="1152"/>
              <a:ext cx="339" cy="369"/>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8998" name="Text Box 38"/>
            <p:cNvSpPr txBox="1">
              <a:spLocks noChangeArrowheads="1"/>
            </p:cNvSpPr>
            <p:nvPr/>
          </p:nvSpPr>
          <p:spPr bwMode="auto">
            <a:xfrm>
              <a:off x="2496" y="120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17</a:t>
              </a:r>
            </a:p>
          </p:txBody>
        </p:sp>
      </p:grpSp>
      <p:grpSp>
        <p:nvGrpSpPr>
          <p:cNvPr id="168999" name="Group 39"/>
          <p:cNvGrpSpPr/>
          <p:nvPr/>
        </p:nvGrpSpPr>
        <p:grpSpPr bwMode="auto">
          <a:xfrm>
            <a:off x="5943600" y="2209800"/>
            <a:ext cx="609600" cy="585788"/>
            <a:chOff x="2496" y="1152"/>
            <a:chExt cx="384" cy="369"/>
          </a:xfrm>
        </p:grpSpPr>
        <p:sp>
          <p:nvSpPr>
            <p:cNvPr id="169000" name="Oval 40"/>
            <p:cNvSpPr>
              <a:spLocks noChangeArrowheads="1"/>
            </p:cNvSpPr>
            <p:nvPr/>
          </p:nvSpPr>
          <p:spPr bwMode="auto">
            <a:xfrm>
              <a:off x="2508" y="1152"/>
              <a:ext cx="339" cy="369"/>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9001" name="Text Box 41"/>
            <p:cNvSpPr txBox="1">
              <a:spLocks noChangeArrowheads="1"/>
            </p:cNvSpPr>
            <p:nvPr/>
          </p:nvSpPr>
          <p:spPr bwMode="auto">
            <a:xfrm>
              <a:off x="2496" y="120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24</a:t>
              </a:r>
            </a:p>
          </p:txBody>
        </p:sp>
      </p:grpSp>
      <p:sp>
        <p:nvSpPr>
          <p:cNvPr id="169002" name="Line 42"/>
          <p:cNvSpPr>
            <a:spLocks noChangeShapeType="1"/>
          </p:cNvSpPr>
          <p:nvPr/>
        </p:nvSpPr>
        <p:spPr bwMode="auto">
          <a:xfrm>
            <a:off x="4648200" y="2743200"/>
            <a:ext cx="533400" cy="838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9003" name="Line 43"/>
          <p:cNvSpPr>
            <a:spLocks noChangeShapeType="1"/>
          </p:cNvSpPr>
          <p:nvPr/>
        </p:nvSpPr>
        <p:spPr bwMode="auto">
          <a:xfrm>
            <a:off x="5410200" y="2819400"/>
            <a:ext cx="0" cy="762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9004" name="Line 44"/>
          <p:cNvSpPr>
            <a:spLocks noChangeShapeType="1"/>
          </p:cNvSpPr>
          <p:nvPr/>
        </p:nvSpPr>
        <p:spPr bwMode="auto">
          <a:xfrm flipH="1">
            <a:off x="5638800" y="2819400"/>
            <a:ext cx="533400" cy="762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69005" name="Group 45"/>
          <p:cNvGrpSpPr/>
          <p:nvPr/>
        </p:nvGrpSpPr>
        <p:grpSpPr bwMode="auto">
          <a:xfrm>
            <a:off x="1143000" y="3429000"/>
            <a:ext cx="609600" cy="585788"/>
            <a:chOff x="2496" y="1152"/>
            <a:chExt cx="384" cy="369"/>
          </a:xfrm>
        </p:grpSpPr>
        <p:sp>
          <p:nvSpPr>
            <p:cNvPr id="169006" name="Oval 46"/>
            <p:cNvSpPr>
              <a:spLocks noChangeArrowheads="1"/>
            </p:cNvSpPr>
            <p:nvPr/>
          </p:nvSpPr>
          <p:spPr bwMode="auto">
            <a:xfrm>
              <a:off x="2508" y="1152"/>
              <a:ext cx="339" cy="369"/>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9007" name="Text Box 47"/>
            <p:cNvSpPr txBox="1">
              <a:spLocks noChangeArrowheads="1"/>
            </p:cNvSpPr>
            <p:nvPr/>
          </p:nvSpPr>
          <p:spPr bwMode="auto">
            <a:xfrm>
              <a:off x="2496" y="120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30</a:t>
              </a:r>
            </a:p>
          </p:txBody>
        </p:sp>
      </p:grpSp>
      <p:grpSp>
        <p:nvGrpSpPr>
          <p:cNvPr id="169008" name="Group 48"/>
          <p:cNvGrpSpPr/>
          <p:nvPr/>
        </p:nvGrpSpPr>
        <p:grpSpPr bwMode="auto">
          <a:xfrm>
            <a:off x="2543175" y="4981575"/>
            <a:ext cx="685800" cy="457200"/>
            <a:chOff x="1776" y="558"/>
            <a:chExt cx="336" cy="288"/>
          </a:xfrm>
        </p:grpSpPr>
        <p:sp useBgFill="1">
          <p:nvSpPr>
            <p:cNvPr id="169009" name="Rectangle 49"/>
            <p:cNvSpPr>
              <a:spLocks noChangeArrowheads="1"/>
            </p:cNvSpPr>
            <p:nvPr/>
          </p:nvSpPr>
          <p:spPr bwMode="auto">
            <a:xfrm>
              <a:off x="1776" y="576"/>
              <a:ext cx="336" cy="240"/>
            </a:xfrm>
            <a:prstGeom prst="rect">
              <a:avLst/>
            </a:prstGeom>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9010" name="Text Box 50"/>
            <p:cNvSpPr txBox="1">
              <a:spLocks noChangeArrowheads="1"/>
            </p:cNvSpPr>
            <p:nvPr/>
          </p:nvSpPr>
          <p:spPr bwMode="auto">
            <a:xfrm>
              <a:off x="1795" y="558"/>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121</a:t>
              </a:r>
            </a:p>
          </p:txBody>
        </p:sp>
      </p:grpSp>
      <p:sp>
        <p:nvSpPr>
          <p:cNvPr id="169011" name="Line 51"/>
          <p:cNvSpPr>
            <a:spLocks noChangeShapeType="1"/>
          </p:cNvSpPr>
          <p:nvPr/>
        </p:nvSpPr>
        <p:spPr bwMode="auto">
          <a:xfrm>
            <a:off x="1524000" y="4038600"/>
            <a:ext cx="10668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9012" name="Line 52"/>
          <p:cNvSpPr>
            <a:spLocks noChangeShapeType="1"/>
          </p:cNvSpPr>
          <p:nvPr/>
        </p:nvSpPr>
        <p:spPr bwMode="auto">
          <a:xfrm>
            <a:off x="2819400" y="4010025"/>
            <a:ext cx="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9013" name="Line 53"/>
          <p:cNvSpPr>
            <a:spLocks noChangeShapeType="1"/>
          </p:cNvSpPr>
          <p:nvPr/>
        </p:nvSpPr>
        <p:spPr bwMode="auto">
          <a:xfrm flipH="1">
            <a:off x="3124200" y="3962400"/>
            <a:ext cx="2057400" cy="1066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9014" name="Text Box 54"/>
          <p:cNvSpPr txBox="1">
            <a:spLocks noChangeArrowheads="1"/>
          </p:cNvSpPr>
          <p:nvPr/>
        </p:nvSpPr>
        <p:spPr bwMode="auto">
          <a:xfrm>
            <a:off x="457200" y="5486400"/>
            <a:ext cx="8458200" cy="1245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000" b="1">
                <a:latin typeface="Arial" panose="020B0604020202020204" pitchFamily="34" charset="0"/>
                <a:ea typeface="楷体_GB2312" pitchFamily="49" charset="-122"/>
                <a:cs typeface="Arial" panose="020B0604020202020204" pitchFamily="34" charset="0"/>
                <a:sym typeface="+mn-ea"/>
              </a:rPr>
              <a:t>Number of read/write operations:</a:t>
            </a:r>
            <a:endParaRPr lang="en-US" altLang="zh-CN" sz="3000" b="1">
              <a:latin typeface="Arial" panose="020B0604020202020204" pitchFamily="34" charset="0"/>
              <a:ea typeface="楷体_GB2312" pitchFamily="49" charset="-122"/>
              <a:cs typeface="Arial" panose="020B0604020202020204" pitchFamily="34" charset="0"/>
            </a:endParaRPr>
          </a:p>
          <a:p>
            <a:pPr>
              <a:spcBef>
                <a:spcPct val="50000"/>
              </a:spcBef>
            </a:pPr>
            <a:r>
              <a:rPr lang="en-US" altLang="zh-CN" sz="3000" b="1">
                <a:latin typeface="楷体_GB2312" pitchFamily="49" charset="-122"/>
                <a:ea typeface="楷体_GB2312" pitchFamily="49" charset="-122"/>
              </a:rPr>
              <a:t>[(3+2+6</a:t>
            </a:r>
            <a:r>
              <a:rPr lang="zh-CN" altLang="en-US" sz="3000" b="1">
                <a:latin typeface="楷体_GB2312" pitchFamily="49" charset="-122"/>
                <a:ea typeface="楷体_GB2312" pitchFamily="49" charset="-122"/>
              </a:rPr>
              <a:t>）*</a:t>
            </a:r>
            <a:r>
              <a:rPr lang="en-US" altLang="zh-CN" sz="3000" b="1">
                <a:latin typeface="楷体_GB2312" pitchFamily="49" charset="-122"/>
                <a:ea typeface="楷体_GB2312" pitchFamily="49" charset="-122"/>
              </a:rPr>
              <a:t>3+(9+12+17+18+24)*2]*2 =386</a:t>
            </a:r>
          </a:p>
        </p:txBody>
      </p:sp>
      <p:sp>
        <p:nvSpPr>
          <p:cNvPr id="169015" name="Rectangle 55"/>
          <p:cNvSpPr>
            <a:spLocks noChangeArrowheads="1"/>
          </p:cNvSpPr>
          <p:nvPr/>
        </p:nvSpPr>
        <p:spPr bwMode="auto">
          <a:xfrm>
            <a:off x="-108585" y="-76200"/>
            <a:ext cx="88392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3200" b="1">
                <a:solidFill>
                  <a:schemeClr val="tx2"/>
                </a:solidFill>
                <a:latin typeface="Arial" panose="020B0604020202020204" pitchFamily="34" charset="0"/>
                <a:ea typeface="楷体_GB2312" pitchFamily="49" charset="-122"/>
                <a:cs typeface="Arial" panose="020B0604020202020204" pitchFamily="34" charset="0"/>
                <a:sym typeface="+mn-ea"/>
              </a:rPr>
              <a:t> Merge Tree for 3-Way Merging (8 Segments)</a:t>
            </a:r>
          </a:p>
        </p:txBody>
      </p:sp>
      <p:sp useBgFill="1">
        <p:nvSpPr>
          <p:cNvPr id="169016" name="Rectangle 56"/>
          <p:cNvSpPr>
            <a:spLocks noChangeArrowheads="1"/>
          </p:cNvSpPr>
          <p:nvPr/>
        </p:nvSpPr>
        <p:spPr bwMode="auto">
          <a:xfrm>
            <a:off x="909638" y="3400425"/>
            <a:ext cx="1600200" cy="16764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9017" name="Line 57"/>
          <p:cNvSpPr>
            <a:spLocks noChangeShapeType="1"/>
          </p:cNvSpPr>
          <p:nvPr/>
        </p:nvSpPr>
        <p:spPr bwMode="auto">
          <a:xfrm>
            <a:off x="2033588" y="2743200"/>
            <a:ext cx="533400" cy="838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9018" name="Text Box 58"/>
          <p:cNvSpPr txBox="1">
            <a:spLocks noChangeArrowheads="1"/>
          </p:cNvSpPr>
          <p:nvPr/>
        </p:nvSpPr>
        <p:spPr bwMode="auto">
          <a:xfrm>
            <a:off x="6122670" y="4648200"/>
            <a:ext cx="3021330" cy="52197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b="1">
                <a:solidFill>
                  <a:schemeClr val="accent2"/>
                </a:solidFill>
                <a:ea typeface="楷体_GB2312" pitchFamily="49" charset="-122"/>
              </a:rPr>
              <a:t>This is not optimal!</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153</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9016"/>
                                        </p:tgtEl>
                                        <p:attrNameLst>
                                          <p:attrName>style.visibility</p:attrName>
                                        </p:attrNameLst>
                                      </p:cBhvr>
                                      <p:to>
                                        <p:strVal val="visible"/>
                                      </p:to>
                                    </p:set>
                                    <p:animEffect transition="in" filter="dissolve">
                                      <p:cBhvr>
                                        <p:cTn id="7" dur="500"/>
                                        <p:tgtEl>
                                          <p:spTgt spid="1690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9014">
                                            <p:txEl>
                                              <p:pRg st="0" end="0"/>
                                            </p:txEl>
                                          </p:spTgt>
                                        </p:tgtEl>
                                        <p:attrNameLst>
                                          <p:attrName>style.visibility</p:attrName>
                                        </p:attrNameLst>
                                      </p:cBhvr>
                                      <p:to>
                                        <p:strVal val="visible"/>
                                      </p:to>
                                    </p:set>
                                    <p:animEffect transition="in" filter="wipe(left)">
                                      <p:cBhvr>
                                        <p:cTn id="12" dur="500"/>
                                        <p:tgtEl>
                                          <p:spTgt spid="16901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9014">
                                            <p:txEl>
                                              <p:pRg st="1" end="1"/>
                                            </p:txEl>
                                          </p:spTgt>
                                        </p:tgtEl>
                                        <p:attrNameLst>
                                          <p:attrName>style.visibility</p:attrName>
                                        </p:attrNameLst>
                                      </p:cBhvr>
                                      <p:to>
                                        <p:strVal val="visible"/>
                                      </p:to>
                                    </p:set>
                                    <p:animEffect transition="in" filter="wipe(left)">
                                      <p:cBhvr>
                                        <p:cTn id="17" dur="500"/>
                                        <p:tgtEl>
                                          <p:spTgt spid="16901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69018"/>
                                        </p:tgtEl>
                                        <p:attrNameLst>
                                          <p:attrName>style.visibility</p:attrName>
                                        </p:attrNameLst>
                                      </p:cBhvr>
                                      <p:to>
                                        <p:strVal val="visible"/>
                                      </p:to>
                                    </p:set>
                                    <p:animEffect transition="in" filter="dissolve">
                                      <p:cBhvr>
                                        <p:cTn id="22" dur="500"/>
                                        <p:tgtEl>
                                          <p:spTgt spid="1690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014" grpId="0" build="p" autoUpdateAnimBg="0"/>
      <p:bldP spid="169016" grpId="0" animBg="1"/>
      <p:bldP spid="169018" grpId="0" bldLvl="0" animBg="1"/>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9986" name="Group 2"/>
          <p:cNvGrpSpPr/>
          <p:nvPr/>
        </p:nvGrpSpPr>
        <p:grpSpPr bwMode="auto">
          <a:xfrm>
            <a:off x="2509838" y="1905000"/>
            <a:ext cx="609600" cy="585788"/>
            <a:chOff x="2496" y="1152"/>
            <a:chExt cx="384" cy="369"/>
          </a:xfrm>
        </p:grpSpPr>
        <p:sp>
          <p:nvSpPr>
            <p:cNvPr id="169987" name="Oval 3"/>
            <p:cNvSpPr>
              <a:spLocks noChangeArrowheads="1"/>
            </p:cNvSpPr>
            <p:nvPr/>
          </p:nvSpPr>
          <p:spPr bwMode="auto">
            <a:xfrm>
              <a:off x="2508" y="1152"/>
              <a:ext cx="339" cy="369"/>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9988" name="Text Box 4"/>
            <p:cNvSpPr txBox="1">
              <a:spLocks noChangeArrowheads="1"/>
            </p:cNvSpPr>
            <p:nvPr/>
          </p:nvSpPr>
          <p:spPr bwMode="auto">
            <a:xfrm>
              <a:off x="2496" y="120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6</a:t>
              </a:r>
            </a:p>
          </p:txBody>
        </p:sp>
      </p:grpSp>
      <p:grpSp>
        <p:nvGrpSpPr>
          <p:cNvPr id="169989" name="Group 5"/>
          <p:cNvGrpSpPr/>
          <p:nvPr/>
        </p:nvGrpSpPr>
        <p:grpSpPr bwMode="auto">
          <a:xfrm>
            <a:off x="1733550" y="2009775"/>
            <a:ext cx="533400" cy="457200"/>
            <a:chOff x="1776" y="558"/>
            <a:chExt cx="336" cy="288"/>
          </a:xfrm>
        </p:grpSpPr>
        <p:sp useBgFill="1">
          <p:nvSpPr>
            <p:cNvPr id="169990" name="Rectangle 6"/>
            <p:cNvSpPr>
              <a:spLocks noChangeArrowheads="1"/>
            </p:cNvSpPr>
            <p:nvPr/>
          </p:nvSpPr>
          <p:spPr bwMode="auto">
            <a:xfrm>
              <a:off x="1776" y="576"/>
              <a:ext cx="336" cy="240"/>
            </a:xfrm>
            <a:prstGeom prst="rect">
              <a:avLst/>
            </a:prstGeom>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9991" name="Text Box 7"/>
            <p:cNvSpPr txBox="1">
              <a:spLocks noChangeArrowheads="1"/>
            </p:cNvSpPr>
            <p:nvPr/>
          </p:nvSpPr>
          <p:spPr bwMode="auto">
            <a:xfrm>
              <a:off x="1795" y="558"/>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5</a:t>
              </a:r>
            </a:p>
          </p:txBody>
        </p:sp>
      </p:grpSp>
      <p:grpSp>
        <p:nvGrpSpPr>
          <p:cNvPr id="169992" name="Group 8"/>
          <p:cNvGrpSpPr/>
          <p:nvPr/>
        </p:nvGrpSpPr>
        <p:grpSpPr bwMode="auto">
          <a:xfrm>
            <a:off x="1347788" y="862013"/>
            <a:ext cx="609600" cy="585787"/>
            <a:chOff x="2496" y="1152"/>
            <a:chExt cx="384" cy="369"/>
          </a:xfrm>
        </p:grpSpPr>
        <p:sp>
          <p:nvSpPr>
            <p:cNvPr id="169993" name="Oval 9"/>
            <p:cNvSpPr>
              <a:spLocks noChangeArrowheads="1"/>
            </p:cNvSpPr>
            <p:nvPr/>
          </p:nvSpPr>
          <p:spPr bwMode="auto">
            <a:xfrm>
              <a:off x="2508" y="1152"/>
              <a:ext cx="339" cy="369"/>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9994" name="Text Box 10"/>
            <p:cNvSpPr txBox="1">
              <a:spLocks noChangeArrowheads="1"/>
            </p:cNvSpPr>
            <p:nvPr/>
          </p:nvSpPr>
          <p:spPr bwMode="auto">
            <a:xfrm>
              <a:off x="2496" y="120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a:t>
              </a:r>
            </a:p>
          </p:txBody>
        </p:sp>
      </p:grpSp>
      <p:grpSp>
        <p:nvGrpSpPr>
          <p:cNvPr id="169995" name="Group 11"/>
          <p:cNvGrpSpPr/>
          <p:nvPr/>
        </p:nvGrpSpPr>
        <p:grpSpPr bwMode="auto">
          <a:xfrm>
            <a:off x="2057400" y="838200"/>
            <a:ext cx="609600" cy="585788"/>
            <a:chOff x="2496" y="1152"/>
            <a:chExt cx="384" cy="369"/>
          </a:xfrm>
        </p:grpSpPr>
        <p:sp>
          <p:nvSpPr>
            <p:cNvPr id="169996" name="Oval 12"/>
            <p:cNvSpPr>
              <a:spLocks noChangeArrowheads="1"/>
            </p:cNvSpPr>
            <p:nvPr/>
          </p:nvSpPr>
          <p:spPr bwMode="auto">
            <a:xfrm>
              <a:off x="2508" y="1152"/>
              <a:ext cx="339" cy="369"/>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9997" name="Text Box 13"/>
            <p:cNvSpPr txBox="1">
              <a:spLocks noChangeArrowheads="1"/>
            </p:cNvSpPr>
            <p:nvPr/>
          </p:nvSpPr>
          <p:spPr bwMode="auto">
            <a:xfrm>
              <a:off x="2496" y="120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3</a:t>
              </a:r>
            </a:p>
          </p:txBody>
        </p:sp>
      </p:grpSp>
      <p:sp>
        <p:nvSpPr>
          <p:cNvPr id="169998" name="Line 14"/>
          <p:cNvSpPr>
            <a:spLocks noChangeShapeType="1"/>
          </p:cNvSpPr>
          <p:nvPr/>
        </p:nvSpPr>
        <p:spPr bwMode="auto">
          <a:xfrm>
            <a:off x="1724025" y="1500188"/>
            <a:ext cx="185738" cy="533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9999" name="Line 15"/>
          <p:cNvSpPr>
            <a:spLocks noChangeShapeType="1"/>
          </p:cNvSpPr>
          <p:nvPr/>
        </p:nvSpPr>
        <p:spPr bwMode="auto">
          <a:xfrm flipH="1">
            <a:off x="2090738" y="1423988"/>
            <a:ext cx="195262"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70000" name="Group 16"/>
          <p:cNvGrpSpPr/>
          <p:nvPr/>
        </p:nvGrpSpPr>
        <p:grpSpPr bwMode="auto">
          <a:xfrm>
            <a:off x="3352800" y="1881188"/>
            <a:ext cx="609600" cy="585787"/>
            <a:chOff x="2496" y="1152"/>
            <a:chExt cx="384" cy="369"/>
          </a:xfrm>
        </p:grpSpPr>
        <p:sp>
          <p:nvSpPr>
            <p:cNvPr id="170001" name="Oval 17"/>
            <p:cNvSpPr>
              <a:spLocks noChangeArrowheads="1"/>
            </p:cNvSpPr>
            <p:nvPr/>
          </p:nvSpPr>
          <p:spPr bwMode="auto">
            <a:xfrm>
              <a:off x="2508" y="1152"/>
              <a:ext cx="339" cy="369"/>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0002" name="Text Box 18"/>
            <p:cNvSpPr txBox="1">
              <a:spLocks noChangeArrowheads="1"/>
            </p:cNvSpPr>
            <p:nvPr/>
          </p:nvSpPr>
          <p:spPr bwMode="auto">
            <a:xfrm>
              <a:off x="2496" y="120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9</a:t>
              </a:r>
            </a:p>
          </p:txBody>
        </p:sp>
      </p:grpSp>
      <p:grpSp>
        <p:nvGrpSpPr>
          <p:cNvPr id="170003" name="Group 19"/>
          <p:cNvGrpSpPr/>
          <p:nvPr/>
        </p:nvGrpSpPr>
        <p:grpSpPr bwMode="auto">
          <a:xfrm>
            <a:off x="4267200" y="1905000"/>
            <a:ext cx="609600" cy="585788"/>
            <a:chOff x="2496" y="1152"/>
            <a:chExt cx="384" cy="369"/>
          </a:xfrm>
        </p:grpSpPr>
        <p:sp>
          <p:nvSpPr>
            <p:cNvPr id="170004" name="Oval 20"/>
            <p:cNvSpPr>
              <a:spLocks noChangeArrowheads="1"/>
            </p:cNvSpPr>
            <p:nvPr/>
          </p:nvSpPr>
          <p:spPr bwMode="auto">
            <a:xfrm>
              <a:off x="2508" y="1152"/>
              <a:ext cx="339" cy="369"/>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0005" name="Text Box 21"/>
            <p:cNvSpPr txBox="1">
              <a:spLocks noChangeArrowheads="1"/>
            </p:cNvSpPr>
            <p:nvPr/>
          </p:nvSpPr>
          <p:spPr bwMode="auto">
            <a:xfrm>
              <a:off x="2496" y="120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12</a:t>
              </a:r>
            </a:p>
          </p:txBody>
        </p:sp>
      </p:grpSp>
      <p:grpSp>
        <p:nvGrpSpPr>
          <p:cNvPr id="170006" name="Group 22"/>
          <p:cNvGrpSpPr/>
          <p:nvPr/>
        </p:nvGrpSpPr>
        <p:grpSpPr bwMode="auto">
          <a:xfrm>
            <a:off x="2514600" y="3228975"/>
            <a:ext cx="533400" cy="457200"/>
            <a:chOff x="1776" y="558"/>
            <a:chExt cx="336" cy="288"/>
          </a:xfrm>
        </p:grpSpPr>
        <p:sp useBgFill="1">
          <p:nvSpPr>
            <p:cNvPr id="170007" name="Rectangle 23"/>
            <p:cNvSpPr>
              <a:spLocks noChangeArrowheads="1"/>
            </p:cNvSpPr>
            <p:nvPr/>
          </p:nvSpPr>
          <p:spPr bwMode="auto">
            <a:xfrm>
              <a:off x="1776" y="576"/>
              <a:ext cx="336" cy="240"/>
            </a:xfrm>
            <a:prstGeom prst="rect">
              <a:avLst/>
            </a:prstGeom>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0008" name="Text Box 24"/>
            <p:cNvSpPr txBox="1">
              <a:spLocks noChangeArrowheads="1"/>
            </p:cNvSpPr>
            <p:nvPr/>
          </p:nvSpPr>
          <p:spPr bwMode="auto">
            <a:xfrm>
              <a:off x="1795" y="558"/>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20</a:t>
              </a:r>
            </a:p>
          </p:txBody>
        </p:sp>
      </p:grpSp>
      <p:sp>
        <p:nvSpPr>
          <p:cNvPr id="170009" name="Line 25"/>
          <p:cNvSpPr>
            <a:spLocks noChangeShapeType="1"/>
          </p:cNvSpPr>
          <p:nvPr/>
        </p:nvSpPr>
        <p:spPr bwMode="auto">
          <a:xfrm>
            <a:off x="2795588" y="2490788"/>
            <a:ext cx="0" cy="762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10" name="Line 26"/>
          <p:cNvSpPr>
            <a:spLocks noChangeShapeType="1"/>
          </p:cNvSpPr>
          <p:nvPr/>
        </p:nvSpPr>
        <p:spPr bwMode="auto">
          <a:xfrm flipH="1">
            <a:off x="3024188" y="2490788"/>
            <a:ext cx="533400" cy="762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useBgFill="1">
        <p:nvSpPr>
          <p:cNvPr id="170011" name="Rectangle 27"/>
          <p:cNvSpPr>
            <a:spLocks noChangeArrowheads="1"/>
          </p:cNvSpPr>
          <p:nvPr/>
        </p:nvSpPr>
        <p:spPr bwMode="auto">
          <a:xfrm>
            <a:off x="5786438" y="1905000"/>
            <a:ext cx="533400" cy="5334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70012" name="Group 28"/>
          <p:cNvGrpSpPr/>
          <p:nvPr/>
        </p:nvGrpSpPr>
        <p:grpSpPr bwMode="auto">
          <a:xfrm>
            <a:off x="5943600" y="1881188"/>
            <a:ext cx="609600" cy="585787"/>
            <a:chOff x="2496" y="1152"/>
            <a:chExt cx="384" cy="369"/>
          </a:xfrm>
        </p:grpSpPr>
        <p:sp>
          <p:nvSpPr>
            <p:cNvPr id="170013" name="Oval 29"/>
            <p:cNvSpPr>
              <a:spLocks noChangeArrowheads="1"/>
            </p:cNvSpPr>
            <p:nvPr/>
          </p:nvSpPr>
          <p:spPr bwMode="auto">
            <a:xfrm>
              <a:off x="2508" y="1152"/>
              <a:ext cx="339" cy="369"/>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0014" name="Text Box 30"/>
            <p:cNvSpPr txBox="1">
              <a:spLocks noChangeArrowheads="1"/>
            </p:cNvSpPr>
            <p:nvPr/>
          </p:nvSpPr>
          <p:spPr bwMode="auto">
            <a:xfrm>
              <a:off x="2496" y="120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18</a:t>
              </a:r>
            </a:p>
          </p:txBody>
        </p:sp>
      </p:grpSp>
      <p:grpSp>
        <p:nvGrpSpPr>
          <p:cNvPr id="170015" name="Group 31"/>
          <p:cNvGrpSpPr/>
          <p:nvPr/>
        </p:nvGrpSpPr>
        <p:grpSpPr bwMode="auto">
          <a:xfrm>
            <a:off x="5129213" y="3228975"/>
            <a:ext cx="533400" cy="457200"/>
            <a:chOff x="1776" y="558"/>
            <a:chExt cx="336" cy="288"/>
          </a:xfrm>
        </p:grpSpPr>
        <p:sp useBgFill="1">
          <p:nvSpPr>
            <p:cNvPr id="170016" name="Rectangle 32"/>
            <p:cNvSpPr>
              <a:spLocks noChangeArrowheads="1"/>
            </p:cNvSpPr>
            <p:nvPr/>
          </p:nvSpPr>
          <p:spPr bwMode="auto">
            <a:xfrm>
              <a:off x="1776" y="576"/>
              <a:ext cx="336" cy="240"/>
            </a:xfrm>
            <a:prstGeom prst="rect">
              <a:avLst/>
            </a:prstGeom>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0017" name="Text Box 33"/>
            <p:cNvSpPr txBox="1">
              <a:spLocks noChangeArrowheads="1"/>
            </p:cNvSpPr>
            <p:nvPr/>
          </p:nvSpPr>
          <p:spPr bwMode="auto">
            <a:xfrm>
              <a:off x="1795" y="558"/>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47</a:t>
              </a:r>
            </a:p>
          </p:txBody>
        </p:sp>
      </p:grpSp>
      <p:grpSp>
        <p:nvGrpSpPr>
          <p:cNvPr id="170018" name="Group 34"/>
          <p:cNvGrpSpPr/>
          <p:nvPr/>
        </p:nvGrpSpPr>
        <p:grpSpPr bwMode="auto">
          <a:xfrm>
            <a:off x="5105400" y="1881188"/>
            <a:ext cx="609600" cy="585787"/>
            <a:chOff x="2496" y="1152"/>
            <a:chExt cx="384" cy="369"/>
          </a:xfrm>
        </p:grpSpPr>
        <p:sp>
          <p:nvSpPr>
            <p:cNvPr id="170019" name="Oval 35"/>
            <p:cNvSpPr>
              <a:spLocks noChangeArrowheads="1"/>
            </p:cNvSpPr>
            <p:nvPr/>
          </p:nvSpPr>
          <p:spPr bwMode="auto">
            <a:xfrm>
              <a:off x="2508" y="1152"/>
              <a:ext cx="339" cy="369"/>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0020" name="Text Box 36"/>
            <p:cNvSpPr txBox="1">
              <a:spLocks noChangeArrowheads="1"/>
            </p:cNvSpPr>
            <p:nvPr/>
          </p:nvSpPr>
          <p:spPr bwMode="auto">
            <a:xfrm>
              <a:off x="2496" y="120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17</a:t>
              </a:r>
            </a:p>
          </p:txBody>
        </p:sp>
      </p:grpSp>
      <p:grpSp>
        <p:nvGrpSpPr>
          <p:cNvPr id="170021" name="Group 37"/>
          <p:cNvGrpSpPr/>
          <p:nvPr/>
        </p:nvGrpSpPr>
        <p:grpSpPr bwMode="auto">
          <a:xfrm>
            <a:off x="3733800" y="3124200"/>
            <a:ext cx="609600" cy="585788"/>
            <a:chOff x="2496" y="1152"/>
            <a:chExt cx="384" cy="369"/>
          </a:xfrm>
        </p:grpSpPr>
        <p:sp>
          <p:nvSpPr>
            <p:cNvPr id="170022" name="Oval 38"/>
            <p:cNvSpPr>
              <a:spLocks noChangeArrowheads="1"/>
            </p:cNvSpPr>
            <p:nvPr/>
          </p:nvSpPr>
          <p:spPr bwMode="auto">
            <a:xfrm>
              <a:off x="2508" y="1152"/>
              <a:ext cx="339" cy="369"/>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0023" name="Text Box 39"/>
            <p:cNvSpPr txBox="1">
              <a:spLocks noChangeArrowheads="1"/>
            </p:cNvSpPr>
            <p:nvPr/>
          </p:nvSpPr>
          <p:spPr bwMode="auto">
            <a:xfrm>
              <a:off x="2496" y="120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24</a:t>
              </a:r>
            </a:p>
          </p:txBody>
        </p:sp>
      </p:grpSp>
      <p:sp>
        <p:nvSpPr>
          <p:cNvPr id="170024" name="Line 40"/>
          <p:cNvSpPr>
            <a:spLocks noChangeShapeType="1"/>
          </p:cNvSpPr>
          <p:nvPr/>
        </p:nvSpPr>
        <p:spPr bwMode="auto">
          <a:xfrm>
            <a:off x="4648200" y="2414588"/>
            <a:ext cx="533400" cy="838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25" name="Line 41"/>
          <p:cNvSpPr>
            <a:spLocks noChangeShapeType="1"/>
          </p:cNvSpPr>
          <p:nvPr/>
        </p:nvSpPr>
        <p:spPr bwMode="auto">
          <a:xfrm>
            <a:off x="5410200" y="2490788"/>
            <a:ext cx="0" cy="762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26" name="Line 42"/>
          <p:cNvSpPr>
            <a:spLocks noChangeShapeType="1"/>
          </p:cNvSpPr>
          <p:nvPr/>
        </p:nvSpPr>
        <p:spPr bwMode="auto">
          <a:xfrm flipH="1">
            <a:off x="5638800" y="2490788"/>
            <a:ext cx="533400" cy="762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70027" name="Group 43"/>
          <p:cNvGrpSpPr/>
          <p:nvPr/>
        </p:nvGrpSpPr>
        <p:grpSpPr bwMode="auto">
          <a:xfrm>
            <a:off x="3657600" y="4624388"/>
            <a:ext cx="685800" cy="457200"/>
            <a:chOff x="1776" y="558"/>
            <a:chExt cx="336" cy="288"/>
          </a:xfrm>
        </p:grpSpPr>
        <p:sp useBgFill="1">
          <p:nvSpPr>
            <p:cNvPr id="170028" name="Rectangle 44"/>
            <p:cNvSpPr>
              <a:spLocks noChangeArrowheads="1"/>
            </p:cNvSpPr>
            <p:nvPr/>
          </p:nvSpPr>
          <p:spPr bwMode="auto">
            <a:xfrm>
              <a:off x="1776" y="576"/>
              <a:ext cx="336" cy="240"/>
            </a:xfrm>
            <a:prstGeom prst="rect">
              <a:avLst/>
            </a:prstGeom>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0029" name="Text Box 45"/>
            <p:cNvSpPr txBox="1">
              <a:spLocks noChangeArrowheads="1"/>
            </p:cNvSpPr>
            <p:nvPr/>
          </p:nvSpPr>
          <p:spPr bwMode="auto">
            <a:xfrm>
              <a:off x="1795" y="558"/>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a:t>91</a:t>
              </a:r>
            </a:p>
          </p:txBody>
        </p:sp>
      </p:grpSp>
      <p:sp>
        <p:nvSpPr>
          <p:cNvPr id="170030" name="Line 46"/>
          <p:cNvSpPr>
            <a:spLocks noChangeShapeType="1"/>
          </p:cNvSpPr>
          <p:nvPr/>
        </p:nvSpPr>
        <p:spPr bwMode="auto">
          <a:xfrm>
            <a:off x="2743200" y="3633788"/>
            <a:ext cx="10668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31" name="Line 47"/>
          <p:cNvSpPr>
            <a:spLocks noChangeShapeType="1"/>
          </p:cNvSpPr>
          <p:nvPr/>
        </p:nvSpPr>
        <p:spPr bwMode="auto">
          <a:xfrm>
            <a:off x="4038600" y="3709988"/>
            <a:ext cx="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32" name="Line 48"/>
          <p:cNvSpPr>
            <a:spLocks noChangeShapeType="1"/>
          </p:cNvSpPr>
          <p:nvPr/>
        </p:nvSpPr>
        <p:spPr bwMode="auto">
          <a:xfrm flipH="1">
            <a:off x="4267200" y="3633788"/>
            <a:ext cx="9144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33" name="Text Box 49"/>
          <p:cNvSpPr txBox="1">
            <a:spLocks noChangeArrowheads="1"/>
          </p:cNvSpPr>
          <p:nvPr/>
        </p:nvSpPr>
        <p:spPr bwMode="auto">
          <a:xfrm>
            <a:off x="457200" y="5029200"/>
            <a:ext cx="8458200" cy="1060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10000"/>
              </a:spcBef>
            </a:pPr>
            <a:r>
              <a:rPr lang="en-US" altLang="zh-CN" sz="3000" b="1">
                <a:latin typeface="Arial" panose="020B0604020202020204" pitchFamily="34" charset="0"/>
                <a:ea typeface="楷体_GB2312" pitchFamily="49" charset="-122"/>
                <a:cs typeface="Arial" panose="020B0604020202020204" pitchFamily="34" charset="0"/>
                <a:sym typeface="+mn-ea"/>
              </a:rPr>
              <a:t>Number of read/write operations:</a:t>
            </a:r>
            <a:endParaRPr lang="en-US" altLang="zh-CN" sz="3000" b="1">
              <a:latin typeface="Arial" panose="020B0604020202020204" pitchFamily="34" charset="0"/>
              <a:ea typeface="楷体_GB2312" pitchFamily="49" charset="-122"/>
              <a:cs typeface="Arial" panose="020B0604020202020204" pitchFamily="34" charset="0"/>
            </a:endParaRPr>
          </a:p>
          <a:p>
            <a:pPr>
              <a:spcBef>
                <a:spcPct val="10000"/>
              </a:spcBef>
            </a:pPr>
            <a:r>
              <a:rPr lang="en-US" altLang="zh-CN" sz="3000" b="1">
                <a:latin typeface="楷体_GB2312" pitchFamily="49" charset="-122"/>
                <a:ea typeface="楷体_GB2312" pitchFamily="49" charset="-122"/>
              </a:rPr>
              <a:t>[(3+2</a:t>
            </a:r>
            <a:r>
              <a:rPr lang="zh-CN" altLang="en-US" sz="3000" b="1">
                <a:latin typeface="楷体_GB2312" pitchFamily="49" charset="-122"/>
                <a:ea typeface="楷体_GB2312" pitchFamily="49" charset="-122"/>
              </a:rPr>
              <a:t>）*</a:t>
            </a:r>
            <a:r>
              <a:rPr lang="en-US" altLang="zh-CN" sz="3000" b="1">
                <a:latin typeface="楷体_GB2312" pitchFamily="49" charset="-122"/>
                <a:ea typeface="楷体_GB2312" pitchFamily="49" charset="-122"/>
              </a:rPr>
              <a:t>3+(6+9+12+17+18)*2+24]*2 =326</a:t>
            </a:r>
          </a:p>
        </p:txBody>
      </p:sp>
      <p:sp>
        <p:nvSpPr>
          <p:cNvPr id="170034" name="Rectangle 50"/>
          <p:cNvSpPr>
            <a:spLocks noChangeArrowheads="1"/>
          </p:cNvSpPr>
          <p:nvPr/>
        </p:nvSpPr>
        <p:spPr bwMode="auto">
          <a:xfrm>
            <a:off x="107315" y="116840"/>
            <a:ext cx="88392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a:solidFill>
                  <a:schemeClr val="tx2"/>
                </a:solidFill>
                <a:latin typeface="Arial" panose="020B0604020202020204" pitchFamily="34" charset="0"/>
                <a:ea typeface="楷体_GB2312" pitchFamily="49" charset="-122"/>
                <a:cs typeface="Arial" panose="020B0604020202020204" pitchFamily="34" charset="0"/>
                <a:sym typeface="+mn-ea"/>
              </a:rPr>
              <a:t>Optimal Merge Tree for 3-Way Merging (8 Segments)</a:t>
            </a:r>
          </a:p>
        </p:txBody>
      </p:sp>
      <p:sp>
        <p:nvSpPr>
          <p:cNvPr id="170035" name="Line 51"/>
          <p:cNvSpPr>
            <a:spLocks noChangeShapeType="1"/>
          </p:cNvSpPr>
          <p:nvPr/>
        </p:nvSpPr>
        <p:spPr bwMode="auto">
          <a:xfrm>
            <a:off x="2033588" y="2414588"/>
            <a:ext cx="533400" cy="838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0036" name="Text Box 52"/>
          <p:cNvSpPr txBox="1">
            <a:spLocks noChangeArrowheads="1"/>
          </p:cNvSpPr>
          <p:nvPr/>
        </p:nvSpPr>
        <p:spPr bwMode="auto">
          <a:xfrm>
            <a:off x="6934200" y="2895600"/>
            <a:ext cx="2057400" cy="203009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b="1">
                <a:solidFill>
                  <a:schemeClr val="accent2"/>
                </a:solidFill>
                <a:latin typeface="Arial" panose="020B0604020202020204" pitchFamily="34" charset="0"/>
                <a:ea typeface="楷体_GB2312" pitchFamily="49" charset="-122"/>
                <a:cs typeface="Arial" panose="020B0604020202020204" pitchFamily="34" charset="0"/>
              </a:rPr>
              <a:t>Solution: When the number of initial segments is insufficient, add a "virtual segment" with length 0.</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154</a:t>
            </a:fld>
            <a:endParaRPr lang="en-US" altLang="zh-CN"/>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0033">
                                            <p:txEl>
                                              <p:pRg st="0" end="0"/>
                                            </p:txEl>
                                          </p:spTgt>
                                        </p:tgtEl>
                                        <p:attrNameLst>
                                          <p:attrName>style.visibility</p:attrName>
                                        </p:attrNameLst>
                                      </p:cBhvr>
                                      <p:to>
                                        <p:strVal val="visible"/>
                                      </p:to>
                                    </p:set>
                                    <p:animEffect transition="in" filter="wipe(left)">
                                      <p:cBhvr>
                                        <p:cTn id="7" dur="500"/>
                                        <p:tgtEl>
                                          <p:spTgt spid="17003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0033">
                                            <p:txEl>
                                              <p:pRg st="1" end="1"/>
                                            </p:txEl>
                                          </p:spTgt>
                                        </p:tgtEl>
                                        <p:attrNameLst>
                                          <p:attrName>style.visibility</p:attrName>
                                        </p:attrNameLst>
                                      </p:cBhvr>
                                      <p:to>
                                        <p:strVal val="visible"/>
                                      </p:to>
                                    </p:set>
                                    <p:animEffect transition="in" filter="wipe(left)">
                                      <p:cBhvr>
                                        <p:cTn id="12" dur="500"/>
                                        <p:tgtEl>
                                          <p:spTgt spid="17003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033" grpId="0" build="p" autoUpdateAnimBg="0"/>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Text Box 2"/>
          <p:cNvSpPr txBox="1">
            <a:spLocks noChangeArrowheads="1"/>
          </p:cNvSpPr>
          <p:nvPr/>
        </p:nvSpPr>
        <p:spPr bwMode="auto">
          <a:xfrm>
            <a:off x="457200" y="304800"/>
            <a:ext cx="8077200" cy="4831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latin typeface="Arial" panose="020B0604020202020204" pitchFamily="34" charset="0"/>
                <a:ea typeface="楷体_GB2312" pitchFamily="49" charset="-122"/>
                <a:cs typeface="Arial" panose="020B0604020202020204" pitchFamily="34" charset="0"/>
              </a:rPr>
              <a:t>How many dummy segments should be added?</a:t>
            </a:r>
          </a:p>
          <a:p>
            <a:pPr>
              <a:spcBef>
                <a:spcPct val="50000"/>
              </a:spcBef>
            </a:pPr>
            <a:r>
              <a:rPr lang="zh-CN" altLang="en-US" b="1">
                <a:latin typeface="Arial" panose="020B0604020202020204" pitchFamily="34" charset="0"/>
                <a:ea typeface="楷体_GB2312" pitchFamily="49" charset="-122"/>
                <a:cs typeface="Arial" panose="020B0604020202020204" pitchFamily="34" charset="0"/>
              </a:rPr>
              <a:t>For a three-way tree, the condition n3=(n0-1)/2 holds only when the degree of the node is 3 or 0.</a:t>
            </a:r>
          </a:p>
          <a:p>
            <a:pPr>
              <a:spcBef>
                <a:spcPct val="50000"/>
              </a:spcBef>
            </a:pPr>
            <a:r>
              <a:rPr lang="zh-CN" altLang="en-US" b="1">
                <a:latin typeface="Arial" panose="020B0604020202020204" pitchFamily="34" charset="0"/>
                <a:ea typeface="楷体_GB2312" pitchFamily="49" charset="-122"/>
                <a:cs typeface="Arial" panose="020B0604020202020204" pitchFamily="34" charset="0"/>
              </a:rPr>
              <a:t>Since n3 must be an integer, then</a:t>
            </a:r>
          </a:p>
          <a:p>
            <a:pPr>
              <a:spcBef>
                <a:spcPct val="50000"/>
              </a:spcBef>
            </a:pPr>
            <a:r>
              <a:rPr lang="en-US" altLang="zh-CN" b="1">
                <a:latin typeface="Arial" panose="020B0604020202020204" pitchFamily="34" charset="0"/>
                <a:ea typeface="楷体_GB2312" pitchFamily="49" charset="-122"/>
                <a:cs typeface="Arial" panose="020B0604020202020204" pitchFamily="34" charset="0"/>
              </a:rPr>
              <a:t>(n0-1) MOD 2 =0。</a:t>
            </a:r>
            <a:endParaRPr lang="zh-CN" altLang="en-US" b="1">
              <a:latin typeface="Arial" panose="020B0604020202020204" pitchFamily="34" charset="0"/>
              <a:ea typeface="楷体_GB2312" pitchFamily="49" charset="-122"/>
              <a:cs typeface="Arial" panose="020B0604020202020204" pitchFamily="34" charset="0"/>
            </a:endParaRPr>
          </a:p>
          <a:p>
            <a:pPr>
              <a:spcBef>
                <a:spcPct val="50000"/>
              </a:spcBef>
            </a:pPr>
            <a:r>
              <a:rPr lang="zh-CN" altLang="en-US" b="1">
                <a:latin typeface="Arial" panose="020B0604020202020204" pitchFamily="34" charset="0"/>
                <a:ea typeface="楷体_GB2312" pitchFamily="49" charset="-122"/>
                <a:cs typeface="Arial" panose="020B0604020202020204" pitchFamily="34" charset="0"/>
              </a:rPr>
              <a:t>That is, </a:t>
            </a:r>
            <a:r>
              <a:rPr lang="zh-CN" altLang="en-US" b="1">
                <a:solidFill>
                  <a:schemeClr val="accent2"/>
                </a:solidFill>
                <a:latin typeface="Arial" panose="020B0604020202020204" pitchFamily="34" charset="0"/>
                <a:ea typeface="楷体_GB2312" pitchFamily="49" charset="-122"/>
                <a:cs typeface="Arial" panose="020B0604020202020204" pitchFamily="34" charset="0"/>
              </a:rPr>
              <a:t>for the 3-way merge, only when the initial merge segment number is even, a dummy segment is added.</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B510424F-96B9-4C00-88E0-F120333DC6C5}" type="slidenum">
              <a:rPr lang="en-US" altLang="zh-CN" smtClean="0"/>
              <a:t>155</a:t>
            </a:fld>
            <a:endParaRPr lang="en-US" altLang="zh-CN"/>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Text Box 2"/>
          <p:cNvSpPr txBox="1">
            <a:spLocks noChangeArrowheads="1"/>
          </p:cNvSpPr>
          <p:nvPr/>
        </p:nvSpPr>
        <p:spPr bwMode="auto">
          <a:xfrm>
            <a:off x="609600" y="1165225"/>
            <a:ext cx="8153400" cy="5128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pPr>
            <a:r>
              <a:rPr lang="en-US" altLang="zh-CN" b="1" dirty="0">
                <a:solidFill>
                  <a:srgbClr val="990000"/>
                </a:solidFill>
                <a:latin typeface="Arial" panose="020B0604020202020204" pitchFamily="34" charset="0"/>
                <a:ea typeface="楷体_GB2312" pitchFamily="49" charset="-122"/>
                <a:cs typeface="Arial" panose="020B0604020202020204" pitchFamily="34" charset="0"/>
              </a:rPr>
              <a:t>1.</a:t>
            </a:r>
            <a:r>
              <a:rPr lang="zh-CN" altLang="en-US" dirty="0">
                <a:solidFill>
                  <a:srgbClr val="990000"/>
                </a:solidFill>
                <a:latin typeface="Arial" panose="020B0604020202020204" pitchFamily="34" charset="0"/>
                <a:ea typeface="楷体_GB2312" pitchFamily="49" charset="-122"/>
                <a:cs typeface="Arial" panose="020B0604020202020204" pitchFamily="34" charset="0"/>
              </a:rPr>
              <a:t>Understand the definition of sorting and the characteristics of various sorting methods. Be familiar with the </a:t>
            </a:r>
            <a:r>
              <a:rPr lang="zh-CN" altLang="en-US" b="1" dirty="0">
                <a:solidFill>
                  <a:srgbClr val="008000"/>
                </a:solidFill>
                <a:latin typeface="Arial" panose="020B0604020202020204" pitchFamily="34" charset="0"/>
                <a:ea typeface="楷体_GB2312" pitchFamily="49" charset="-122"/>
                <a:cs typeface="Arial" panose="020B0604020202020204" pitchFamily="34" charset="0"/>
              </a:rPr>
              <a:t>sorting process of various methods and the principles on which they are based</a:t>
            </a:r>
            <a:r>
              <a:rPr lang="zh-CN" altLang="en-US" dirty="0">
                <a:solidFill>
                  <a:srgbClr val="990000"/>
                </a:solidFill>
                <a:latin typeface="Arial" panose="020B0604020202020204" pitchFamily="34" charset="0"/>
                <a:ea typeface="楷体_GB2312" pitchFamily="49" charset="-122"/>
                <a:cs typeface="Arial" panose="020B0604020202020204" pitchFamily="34" charset="0"/>
              </a:rPr>
              <a:t>. The sorting methods can be divided into five categories according to the different principles on which the sorting process is based, such as </a:t>
            </a:r>
            <a:r>
              <a:rPr lang="zh-CN" altLang="en-US" b="1" dirty="0">
                <a:solidFill>
                  <a:srgbClr val="008000"/>
                </a:solidFill>
                <a:latin typeface="Arial" panose="020B0604020202020204" pitchFamily="34" charset="0"/>
                <a:ea typeface="楷体_GB2312" pitchFamily="49" charset="-122"/>
                <a:cs typeface="Arial" panose="020B0604020202020204" pitchFamily="34" charset="0"/>
              </a:rPr>
              <a:t>insertion sort, exchange sort, selection sort, merge sort and radix sort</a:t>
            </a:r>
            <a:r>
              <a:rPr lang="zh-CN" altLang="en-US" dirty="0">
                <a:solidFill>
                  <a:srgbClr val="990000"/>
                </a:solidFill>
                <a:latin typeface="Arial" panose="020B0604020202020204" pitchFamily="34" charset="0"/>
                <a:ea typeface="楷体_GB2312" pitchFamily="49" charset="-122"/>
                <a:cs typeface="Arial" panose="020B0604020202020204" pitchFamily="34" charset="0"/>
              </a:rPr>
              <a:t>.</a:t>
            </a:r>
            <a:endParaRPr lang="zh-CN" altLang="en-US" dirty="0">
              <a:solidFill>
                <a:srgbClr val="990000"/>
              </a:solidFill>
              <a:latin typeface="Arial" panose="020B0604020202020204" pitchFamily="34" charset="0"/>
              <a:cs typeface="Arial" panose="020B0604020202020204" pitchFamily="34" charset="0"/>
            </a:endParaRPr>
          </a:p>
        </p:txBody>
      </p:sp>
      <p:sp>
        <p:nvSpPr>
          <p:cNvPr id="149507" name="Text Box 3"/>
          <p:cNvSpPr txBox="1">
            <a:spLocks noChangeArrowheads="1"/>
          </p:cNvSpPr>
          <p:nvPr/>
        </p:nvSpPr>
        <p:spPr bwMode="auto">
          <a:xfrm>
            <a:off x="1676400" y="166688"/>
            <a:ext cx="5410200" cy="76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4400" b="1" dirty="0">
                <a:solidFill>
                  <a:srgbClr val="FF3300"/>
                </a:solidFill>
                <a:latin typeface="Arial" panose="020B0604020202020204" pitchFamily="34" charset="0"/>
                <a:ea typeface="楷体_GB2312" pitchFamily="49" charset="-122"/>
                <a:cs typeface="Arial" panose="020B0604020202020204" pitchFamily="34" charset="0"/>
              </a:rPr>
              <a:t>chapter summary</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156</a:t>
            </a:fld>
            <a:endParaRPr lang="en-US" altLang="zh-CN"/>
          </a:p>
        </p:txBody>
      </p:sp>
    </p:spTree>
  </p:cSld>
  <p:clrMapOvr>
    <a:masterClrMapping/>
  </p:clrMapOvr>
  <p:transition>
    <p:pull dir="rd"/>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ChangeArrowheads="1"/>
          </p:cNvSpPr>
          <p:nvPr/>
        </p:nvSpPr>
        <p:spPr bwMode="auto">
          <a:xfrm>
            <a:off x="539750" y="0"/>
            <a:ext cx="7924800" cy="2889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pPr>
            <a:r>
              <a:rPr lang="en-US" altLang="zh-CN" b="1">
                <a:solidFill>
                  <a:srgbClr val="990000"/>
                </a:solidFill>
                <a:latin typeface="Arial" panose="020B0604020202020204" pitchFamily="34" charset="0"/>
                <a:ea typeface="楷体_GB2312" pitchFamily="49" charset="-122"/>
                <a:cs typeface="Arial" panose="020B0604020202020204" pitchFamily="34" charset="0"/>
              </a:rPr>
              <a:t>2.</a:t>
            </a:r>
            <a:r>
              <a:rPr lang="en-US" altLang="zh-CN">
                <a:solidFill>
                  <a:srgbClr val="990000"/>
                </a:solidFill>
                <a:latin typeface="Arial" panose="020B0604020202020204" pitchFamily="34" charset="0"/>
                <a:ea typeface="楷体_GB2312" pitchFamily="49" charset="-122"/>
                <a:cs typeface="Arial" panose="020B0604020202020204" pitchFamily="34" charset="0"/>
              </a:rPr>
              <a:t>Master the analysis method for the</a:t>
            </a:r>
            <a:r>
              <a:rPr lang="zh-CN" altLang="en-US" b="1">
                <a:solidFill>
                  <a:schemeClr val="accent2"/>
                </a:solidFill>
                <a:latin typeface="Arial" panose="020B0604020202020204" pitchFamily="34" charset="0"/>
                <a:ea typeface="楷体_GB2312" pitchFamily="49" charset="-122"/>
                <a:cs typeface="Arial" panose="020B0604020202020204" pitchFamily="34" charset="0"/>
              </a:rPr>
              <a:t> time complexity</a:t>
            </a:r>
            <a:r>
              <a:rPr lang="en-US" altLang="zh-CN">
                <a:solidFill>
                  <a:srgbClr val="990000"/>
                </a:solidFill>
                <a:latin typeface="Arial" panose="020B0604020202020204" pitchFamily="34" charset="0"/>
                <a:ea typeface="楷体_GB2312" pitchFamily="49" charset="-122"/>
                <a:cs typeface="Arial" panose="020B0604020202020204" pitchFamily="34" charset="0"/>
              </a:rPr>
              <a:t> of various sorting methods. Be able to analyze the </a:t>
            </a:r>
            <a:r>
              <a:rPr lang="zh-CN" altLang="en-US" b="1">
                <a:solidFill>
                  <a:schemeClr val="accent2"/>
                </a:solidFill>
                <a:latin typeface="Arial" panose="020B0604020202020204" pitchFamily="34" charset="0"/>
                <a:ea typeface="楷体_GB2312" pitchFamily="49" charset="-122"/>
                <a:cs typeface="Arial" panose="020B0604020202020204" pitchFamily="34" charset="0"/>
              </a:rPr>
              <a:t>average-case</a:t>
            </a:r>
            <a:r>
              <a:rPr lang="en-US" altLang="zh-CN">
                <a:solidFill>
                  <a:srgbClr val="990000"/>
                </a:solidFill>
                <a:latin typeface="Arial" panose="020B0604020202020204" pitchFamily="34" charset="0"/>
                <a:ea typeface="楷体_GB2312" pitchFamily="49" charset="-122"/>
                <a:cs typeface="Arial" panose="020B0604020202020204" pitchFamily="34" charset="0"/>
              </a:rPr>
              <a:t> and </a:t>
            </a:r>
            <a:r>
              <a:rPr lang="zh-CN" altLang="en-US" b="1">
                <a:solidFill>
                  <a:schemeClr val="accent2"/>
                </a:solidFill>
                <a:latin typeface="Arial" panose="020B0604020202020204" pitchFamily="34" charset="0"/>
                <a:ea typeface="楷体_GB2312" pitchFamily="49" charset="-122"/>
                <a:cs typeface="Arial" panose="020B0604020202020204" pitchFamily="34" charset="0"/>
              </a:rPr>
              <a:t>worst-case</a:t>
            </a:r>
            <a:r>
              <a:rPr lang="en-US" altLang="zh-CN">
                <a:solidFill>
                  <a:srgbClr val="990000"/>
                </a:solidFill>
                <a:latin typeface="Arial" panose="020B0604020202020204" pitchFamily="34" charset="0"/>
                <a:ea typeface="楷体_GB2312" pitchFamily="49" charset="-122"/>
                <a:cs typeface="Arial" panose="020B0604020202020204" pitchFamily="34" charset="0"/>
              </a:rPr>
              <a:t> time performance of sorting algorithms based on the "</a:t>
            </a:r>
            <a:r>
              <a:rPr lang="zh-CN" altLang="en-US" b="1">
                <a:solidFill>
                  <a:schemeClr val="accent2"/>
                </a:solidFill>
                <a:latin typeface="Arial" panose="020B0604020202020204" pitchFamily="34" charset="0"/>
                <a:ea typeface="楷体_GB2312" pitchFamily="49" charset="-122"/>
                <a:cs typeface="Arial" panose="020B0604020202020204" pitchFamily="34" charset="0"/>
              </a:rPr>
              <a:t>number of key comparisons</a:t>
            </a:r>
            <a:r>
              <a:rPr lang="en-US" altLang="zh-CN">
                <a:solidFill>
                  <a:srgbClr val="990000"/>
                </a:solidFill>
                <a:latin typeface="Arial" panose="020B0604020202020204" pitchFamily="34" charset="0"/>
                <a:ea typeface="楷体_GB2312" pitchFamily="49" charset="-122"/>
                <a:cs typeface="Arial" panose="020B0604020202020204" pitchFamily="34" charset="0"/>
              </a:rPr>
              <a:t>".</a:t>
            </a:r>
          </a:p>
        </p:txBody>
      </p:sp>
      <p:sp>
        <p:nvSpPr>
          <p:cNvPr id="150531" name="Rectangle 3"/>
          <p:cNvSpPr>
            <a:spLocks noChangeArrowheads="1"/>
          </p:cNvSpPr>
          <p:nvPr/>
        </p:nvSpPr>
        <p:spPr bwMode="auto">
          <a:xfrm>
            <a:off x="647700" y="3141663"/>
            <a:ext cx="8077200" cy="2330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pPr>
            <a:r>
              <a:rPr lang="zh-CN" altLang="en-US">
                <a:solidFill>
                  <a:srgbClr val="990000"/>
                </a:solidFill>
                <a:latin typeface="Arial" panose="020B0604020202020204" pitchFamily="34" charset="0"/>
                <a:ea typeface="楷体_GB2312" pitchFamily="49" charset="-122"/>
                <a:cs typeface="Arial" panose="020B0604020202020204" pitchFamily="34" charset="0"/>
              </a:rPr>
              <a:t>According to the average time complexity, the internal sorting can be divided into three categories: simple sorting with </a:t>
            </a:r>
            <a:r>
              <a:rPr lang="en-US" altLang="zh-CN" b="1">
                <a:solidFill>
                  <a:srgbClr val="990000"/>
                </a:solidFill>
                <a:latin typeface="Arial" panose="020B0604020202020204" pitchFamily="34" charset="0"/>
                <a:ea typeface="楷体_GB2312" pitchFamily="49" charset="-122"/>
                <a:cs typeface="Arial" panose="020B0604020202020204" pitchFamily="34" charset="0"/>
                <a:sym typeface="+mn-ea"/>
              </a:rPr>
              <a:t>O(n</a:t>
            </a:r>
            <a:r>
              <a:rPr lang="en-US" altLang="zh-CN" b="1" baseline="30000">
                <a:solidFill>
                  <a:srgbClr val="990000"/>
                </a:solidFill>
                <a:latin typeface="Arial" panose="020B0604020202020204" pitchFamily="34" charset="0"/>
                <a:ea typeface="楷体_GB2312" pitchFamily="49" charset="-122"/>
                <a:cs typeface="Arial" panose="020B0604020202020204" pitchFamily="34" charset="0"/>
                <a:sym typeface="+mn-ea"/>
              </a:rPr>
              <a:t>2</a:t>
            </a:r>
            <a:r>
              <a:rPr lang="en-US" altLang="zh-CN" b="1">
                <a:solidFill>
                  <a:srgbClr val="990000"/>
                </a:solidFill>
                <a:latin typeface="Arial" panose="020B0604020202020204" pitchFamily="34" charset="0"/>
                <a:ea typeface="楷体_GB2312" pitchFamily="49" charset="-122"/>
                <a:cs typeface="Arial" panose="020B0604020202020204" pitchFamily="34" charset="0"/>
                <a:sym typeface="+mn-ea"/>
              </a:rPr>
              <a:t>)</a:t>
            </a:r>
            <a:r>
              <a:rPr lang="zh-CN" altLang="en-US">
                <a:solidFill>
                  <a:srgbClr val="990000"/>
                </a:solidFill>
                <a:latin typeface="Arial" panose="020B0604020202020204" pitchFamily="34" charset="0"/>
                <a:ea typeface="楷体_GB2312" pitchFamily="49" charset="-122"/>
                <a:cs typeface="Arial" panose="020B0604020202020204" pitchFamily="34" charset="0"/>
              </a:rPr>
              <a:t>, efficient sorting with </a:t>
            </a:r>
            <a:r>
              <a:rPr lang="en-US" altLang="zh-CN" b="1">
                <a:solidFill>
                  <a:srgbClr val="990000"/>
                </a:solidFill>
                <a:latin typeface="Arial" panose="020B0604020202020204" pitchFamily="34" charset="0"/>
                <a:ea typeface="楷体_GB2312" pitchFamily="49" charset="-122"/>
                <a:cs typeface="Arial" panose="020B0604020202020204" pitchFamily="34" charset="0"/>
                <a:sym typeface="+mn-ea"/>
              </a:rPr>
              <a:t>O(nlogn)</a:t>
            </a:r>
            <a:r>
              <a:rPr lang="zh-CN" altLang="en-US">
                <a:solidFill>
                  <a:srgbClr val="990000"/>
                </a:solidFill>
                <a:latin typeface="Arial" panose="020B0604020202020204" pitchFamily="34" charset="0"/>
                <a:ea typeface="楷体_GB2312" pitchFamily="49" charset="-122"/>
                <a:cs typeface="Arial" panose="020B0604020202020204" pitchFamily="34" charset="0"/>
              </a:rPr>
              <a:t>, and radix sort with </a:t>
            </a:r>
            <a:r>
              <a:rPr lang="en-US" altLang="zh-CN" b="1">
                <a:solidFill>
                  <a:srgbClr val="990000"/>
                </a:solidFill>
                <a:latin typeface="Arial" panose="020B0604020202020204" pitchFamily="34" charset="0"/>
                <a:ea typeface="楷体_GB2312" pitchFamily="49" charset="-122"/>
                <a:cs typeface="Arial" panose="020B0604020202020204" pitchFamily="34" charset="0"/>
                <a:sym typeface="+mn-ea"/>
              </a:rPr>
              <a:t>O(dn)</a:t>
            </a:r>
            <a:r>
              <a:rPr lang="zh-CN" altLang="en-US">
                <a:solidFill>
                  <a:srgbClr val="990000"/>
                </a:solidFill>
                <a:latin typeface="Arial" panose="020B0604020202020204" pitchFamily="34" charset="0"/>
                <a:ea typeface="楷体_GB2312" pitchFamily="49" charset="-122"/>
                <a:cs typeface="Arial" panose="020B0604020202020204" pitchFamily="34" charset="0"/>
              </a:rPr>
              <a:t>.</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157</a:t>
            </a:fld>
            <a:endParaRPr lang="en-US" altLang="zh-CN"/>
          </a:p>
        </p:txBody>
      </p:sp>
    </p:spTree>
  </p:cSld>
  <p:clrMapOvr>
    <a:masterClrMapping/>
  </p:clrMapOvr>
  <p:transition>
    <p:pull dir="rd"/>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Text Box 2"/>
          <p:cNvSpPr txBox="1">
            <a:spLocks noChangeArrowheads="1"/>
          </p:cNvSpPr>
          <p:nvPr/>
        </p:nvSpPr>
        <p:spPr bwMode="auto">
          <a:xfrm>
            <a:off x="457200" y="990600"/>
            <a:ext cx="8229600" cy="250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40000"/>
              </a:lnSpc>
            </a:pPr>
            <a:r>
              <a:rPr lang="en-US" altLang="zh-CN" b="1">
                <a:solidFill>
                  <a:srgbClr val="990000"/>
                </a:solidFill>
                <a:latin typeface="Arial" panose="020B0604020202020204" pitchFamily="34" charset="0"/>
                <a:ea typeface="楷体_GB2312" pitchFamily="49" charset="-122"/>
                <a:cs typeface="Arial" panose="020B0604020202020204" pitchFamily="34" charset="0"/>
              </a:rPr>
              <a:t>3. Understand the meaning of "</a:t>
            </a:r>
            <a:r>
              <a:rPr lang="zh-CN" altLang="en-US" b="1">
                <a:solidFill>
                  <a:schemeClr val="accent2"/>
                </a:solidFill>
                <a:latin typeface="Arial" panose="020B0604020202020204" pitchFamily="34" charset="0"/>
                <a:ea typeface="楷体_GB2312" pitchFamily="49" charset="-122"/>
                <a:cs typeface="Arial" panose="020B0604020202020204" pitchFamily="34" charset="0"/>
              </a:rPr>
              <a:t>stable</a:t>
            </a:r>
            <a:r>
              <a:rPr lang="en-US" altLang="zh-CN" b="1">
                <a:solidFill>
                  <a:srgbClr val="990000"/>
                </a:solidFill>
                <a:latin typeface="Arial" panose="020B0604020202020204" pitchFamily="34" charset="0"/>
                <a:ea typeface="楷体_GB2312" pitchFamily="49" charset="-122"/>
                <a:cs typeface="Arial" panose="020B0604020202020204" pitchFamily="34" charset="0"/>
              </a:rPr>
              <a:t>" or "</a:t>
            </a:r>
            <a:r>
              <a:rPr lang="zh-CN" altLang="en-US" b="1">
                <a:solidFill>
                  <a:schemeClr val="accent2"/>
                </a:solidFill>
                <a:latin typeface="Arial" panose="020B0604020202020204" pitchFamily="34" charset="0"/>
                <a:ea typeface="楷体_GB2312" pitchFamily="49" charset="-122"/>
                <a:cs typeface="Arial" panose="020B0604020202020204" pitchFamily="34" charset="0"/>
              </a:rPr>
              <a:t>unstable</a:t>
            </a:r>
            <a:r>
              <a:rPr lang="en-US" altLang="zh-CN" b="1">
                <a:solidFill>
                  <a:srgbClr val="990000"/>
                </a:solidFill>
                <a:latin typeface="Arial" panose="020B0604020202020204" pitchFamily="34" charset="0"/>
                <a:ea typeface="楷体_GB2312" pitchFamily="49" charset="-122"/>
                <a:cs typeface="Arial" panose="020B0604020202020204" pitchFamily="34" charset="0"/>
              </a:rPr>
              <a:t>" in sorting methods, and identify the </a:t>
            </a:r>
            <a:r>
              <a:rPr lang="zh-CN" altLang="en-US" b="1">
                <a:solidFill>
                  <a:schemeClr val="accent2"/>
                </a:solidFill>
                <a:latin typeface="Arial" panose="020B0604020202020204" pitchFamily="34" charset="0"/>
                <a:ea typeface="楷体_GB2312" pitchFamily="49" charset="-122"/>
                <a:cs typeface="Arial" panose="020B0604020202020204" pitchFamily="34" charset="0"/>
              </a:rPr>
              <a:t>scenarios</a:t>
            </a:r>
            <a:r>
              <a:rPr lang="en-US" altLang="zh-CN" b="1">
                <a:solidFill>
                  <a:srgbClr val="990000"/>
                </a:solidFill>
                <a:latin typeface="Arial" panose="020B0604020202020204" pitchFamily="34" charset="0"/>
                <a:ea typeface="楷体_GB2312" pitchFamily="49" charset="-122"/>
                <a:cs typeface="Arial" panose="020B0604020202020204" pitchFamily="34" charset="0"/>
              </a:rPr>
              <a:t> where a stable sorting method is required.</a:t>
            </a:r>
            <a:endParaRPr lang="zh-CN" altLang="en-US">
              <a:solidFill>
                <a:srgbClr val="990000"/>
              </a:solidFill>
              <a:latin typeface="Arial" panose="020B0604020202020204" pitchFamily="34" charset="0"/>
              <a:cs typeface="Arial" panose="020B0604020202020204" pitchFamily="34" charset="0"/>
            </a:endParaRPr>
          </a:p>
        </p:txBody>
      </p:sp>
      <p:sp>
        <p:nvSpPr>
          <p:cNvPr id="151555" name="Text Box 3"/>
          <p:cNvSpPr txBox="1">
            <a:spLocks noChangeArrowheads="1"/>
          </p:cNvSpPr>
          <p:nvPr/>
        </p:nvSpPr>
        <p:spPr bwMode="auto">
          <a:xfrm>
            <a:off x="381000" y="3962400"/>
            <a:ext cx="8305800" cy="1296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40000"/>
              </a:lnSpc>
            </a:pPr>
            <a:r>
              <a:rPr lang="en-US" altLang="zh-CN" b="1">
                <a:solidFill>
                  <a:srgbClr val="0000FF"/>
                </a:solidFill>
                <a:latin typeface="Arial" panose="020B0604020202020204" pitchFamily="34" charset="0"/>
                <a:cs typeface="Arial" panose="020B0604020202020204" pitchFamily="34" charset="0"/>
              </a:rPr>
              <a:t>4.</a:t>
            </a:r>
            <a:r>
              <a:rPr lang="zh-CN" altLang="en-US">
                <a:solidFill>
                  <a:srgbClr val="0000FF"/>
                </a:solidFill>
                <a:latin typeface="Arial" panose="020B0604020202020204" pitchFamily="34" charset="0"/>
                <a:ea typeface="楷体_GB2312" pitchFamily="49" charset="-122"/>
                <a:cs typeface="Arial" panose="020B0604020202020204" pitchFamily="34" charset="0"/>
              </a:rPr>
              <a:t>The basic process of external sorting and its time analysis are introduced.</a:t>
            </a:r>
            <a:endParaRPr lang="zh-CN" altLang="en-US">
              <a:solidFill>
                <a:schemeClr val="hlink"/>
              </a:solidFill>
              <a:latin typeface="Arial" panose="020B0604020202020204" pitchFamily="34" charset="0"/>
              <a:cs typeface="Arial" panose="020B0604020202020204" pitchFamily="34" charset="0"/>
            </a:endParaRP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158</a:t>
            </a:fld>
            <a:endParaRPr lang="en-US" altLang="zh-CN"/>
          </a:p>
        </p:txBody>
      </p:sp>
    </p:spTree>
  </p:cSld>
  <p:clrMapOvr>
    <a:masterClrMapping/>
  </p:clrMapOvr>
  <p:transition>
    <p:pull dir="rd"/>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Text Box 2"/>
          <p:cNvSpPr txBox="1">
            <a:spLocks noChangeArrowheads="1"/>
          </p:cNvSpPr>
          <p:nvPr/>
        </p:nvSpPr>
        <p:spPr bwMode="auto">
          <a:xfrm>
            <a:off x="457200" y="282575"/>
            <a:ext cx="8305800" cy="54463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latin typeface="Arial" panose="020B0604020202020204" pitchFamily="34" charset="0"/>
                <a:cs typeface="Arial" panose="020B0604020202020204" pitchFamily="34" charset="0"/>
              </a:rPr>
              <a:t>Homework: 10.1, 10.3, 10.6, 10.12,10.33</a:t>
            </a:r>
            <a:endParaRPr lang="en-US" altLang="zh-CN" sz="2400" b="1">
              <a:latin typeface="Arial" panose="020B0604020202020204" pitchFamily="34" charset="0"/>
              <a:cs typeface="Arial" panose="020B0604020202020204" pitchFamily="34" charset="0"/>
            </a:endParaRPr>
          </a:p>
          <a:p>
            <a:pPr>
              <a:spcBef>
                <a:spcPct val="50000"/>
              </a:spcBef>
            </a:pPr>
            <a:r>
              <a:rPr lang="en-US" altLang="zh-CN" sz="2400" b="1">
                <a:latin typeface="Arial" panose="020B0604020202020204" pitchFamily="34" charset="0"/>
                <a:cs typeface="Arial" panose="020B0604020202020204" pitchFamily="34" charset="0"/>
              </a:rPr>
              <a:t>10.1 Using the key code sequence (503,087,512,061,908,170,897,275,653,426) as an example, manually execute the following sorting algorithm and record the key code state after each sorting pass:</a:t>
            </a:r>
            <a:endParaRPr lang="zh-CN" altLang="en-US" sz="2400" b="1">
              <a:latin typeface="Arial" panose="020B0604020202020204" pitchFamily="34" charset="0"/>
              <a:ea typeface="楷体_GB2312" pitchFamily="49" charset="-122"/>
              <a:cs typeface="Arial" panose="020B0604020202020204" pitchFamily="34" charset="0"/>
            </a:endParaRPr>
          </a:p>
          <a:p>
            <a:pPr>
              <a:spcBef>
                <a:spcPct val="50000"/>
              </a:spcBef>
            </a:pPr>
            <a:r>
              <a:rPr lang="zh-CN" altLang="en-US" sz="2400" b="1">
                <a:latin typeface="Arial" panose="020B0604020202020204" pitchFamily="34" charset="0"/>
                <a:ea typeface="楷体_GB2312" pitchFamily="49" charset="-122"/>
                <a:cs typeface="Arial" panose="020B0604020202020204" pitchFamily="34" charset="0"/>
              </a:rPr>
              <a:t>(1) Insertion Sort (2) Shell Sort (increment d[1]=5)</a:t>
            </a:r>
            <a:endParaRPr lang="en-US" altLang="zh-CN" sz="2400" b="1">
              <a:latin typeface="Arial" panose="020B0604020202020204" pitchFamily="34" charset="0"/>
              <a:ea typeface="楷体_GB2312" pitchFamily="49" charset="-122"/>
              <a:cs typeface="Arial" panose="020B0604020202020204" pitchFamily="34" charset="0"/>
            </a:endParaRPr>
          </a:p>
          <a:p>
            <a:pPr>
              <a:spcBef>
                <a:spcPct val="50000"/>
              </a:spcBef>
            </a:pPr>
            <a:r>
              <a:rPr lang="zh-CN" altLang="en-US" sz="2400" b="1">
                <a:latin typeface="Arial" panose="020B0604020202020204" pitchFamily="34" charset="0"/>
                <a:ea typeface="楷体_GB2312" pitchFamily="49" charset="-122"/>
                <a:cs typeface="Arial" panose="020B0604020202020204" pitchFamily="34" charset="0"/>
              </a:rPr>
              <a:t>(3) Quick Sort (4) Heap Sort</a:t>
            </a:r>
          </a:p>
          <a:p>
            <a:pPr>
              <a:spcBef>
                <a:spcPct val="50000"/>
              </a:spcBef>
            </a:pPr>
            <a:r>
              <a:rPr lang="zh-CN" altLang="en-US" sz="2400" b="1">
                <a:latin typeface="Arial" panose="020B0604020202020204" pitchFamily="34" charset="0"/>
                <a:ea typeface="楷体_GB2312" pitchFamily="49" charset="-122"/>
                <a:cs typeface="Arial" panose="020B0604020202020204" pitchFamily="34" charset="0"/>
              </a:rPr>
              <a:t>(5) Merge sort (6) </a:t>
            </a:r>
            <a:r>
              <a:rPr lang="en-US" altLang="zh-CN" sz="2400" b="1">
                <a:latin typeface="Arial" panose="020B0604020202020204" pitchFamily="34" charset="0"/>
                <a:ea typeface="楷体_GB2312" pitchFamily="49" charset="-122"/>
                <a:cs typeface="Arial" panose="020B0604020202020204" pitchFamily="34" charset="0"/>
              </a:rPr>
              <a:t>Radix Sort</a:t>
            </a:r>
          </a:p>
          <a:p>
            <a:pPr>
              <a:spcBef>
                <a:spcPct val="50000"/>
              </a:spcBef>
            </a:pPr>
            <a:r>
              <a:rPr lang="en-US" altLang="zh-CN" sz="2400" b="1">
                <a:latin typeface="Arial" panose="020B0604020202020204" pitchFamily="34" charset="0"/>
                <a:ea typeface="楷体_GB2312" pitchFamily="49" charset="-122"/>
                <a:cs typeface="Arial" panose="020B0604020202020204" pitchFamily="34" charset="0"/>
              </a:rPr>
              <a:t>10.3 Among the sorting methods listed in question 10.1, which are stable and which are unstable? For each unstable method, provide an example of its instability.</a:t>
            </a:r>
            <a:endParaRPr lang="zh-CN" altLang="en-US" sz="2400" b="1">
              <a:latin typeface="Arial" panose="020B0604020202020204" pitchFamily="34" charset="0"/>
              <a:ea typeface="楷体_GB2312" pitchFamily="49" charset="-122"/>
              <a:cs typeface="Arial" panose="020B0604020202020204" pitchFamily="34" charset="0"/>
            </a:endParaRP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159</a:t>
            </a:fld>
            <a:endParaRPr lang="en-US" altLang="zh-CN"/>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Text Box 2"/>
          <p:cNvSpPr txBox="1">
            <a:spLocks noChangeArrowheads="1"/>
          </p:cNvSpPr>
          <p:nvPr/>
        </p:nvSpPr>
        <p:spPr bwMode="auto">
          <a:xfrm>
            <a:off x="381000" y="260350"/>
            <a:ext cx="8458200" cy="569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latin typeface="Arial" panose="020B0604020202020204" pitchFamily="34" charset="0"/>
                <a:ea typeface="楷体_GB2312" pitchFamily="49" charset="-122"/>
                <a:cs typeface="Arial" panose="020B0604020202020204" pitchFamily="34" charset="0"/>
              </a:rPr>
              <a:t>10.6 The odd-even swap sorting algorithm operates as follows: First, for all odd indices i, compare a[i] with a[i+1]. Second, for all even indices i, compare a[i] with a[i+1]. If a[i]&gt; a[i+1], swap the two. Then, repeat the process for odd indices, followed by even indices, and so on until the entire sequence is sorted.</a:t>
            </a:r>
            <a:endParaRPr lang="zh-CN" altLang="en-US" b="1">
              <a:latin typeface="Arial" panose="020B0604020202020204" pitchFamily="34" charset="0"/>
              <a:ea typeface="楷体_GB2312" pitchFamily="49" charset="-122"/>
              <a:cs typeface="Arial" panose="020B0604020202020204" pitchFamily="34" charset="0"/>
            </a:endParaRPr>
          </a:p>
          <a:p>
            <a:pPr>
              <a:spcBef>
                <a:spcPct val="50000"/>
              </a:spcBef>
            </a:pPr>
            <a:r>
              <a:rPr lang="zh-CN" altLang="en-US" b="1">
                <a:latin typeface="Arial" panose="020B0604020202020204" pitchFamily="34" charset="0"/>
                <a:ea typeface="楷体_GB2312" pitchFamily="49" charset="-122"/>
                <a:cs typeface="Arial" panose="020B0604020202020204" pitchFamily="34" charset="0"/>
              </a:rPr>
              <a:t>(1) What is the termination condition of this sorting method?</a:t>
            </a:r>
          </a:p>
          <a:p>
            <a:pPr>
              <a:spcBef>
                <a:spcPct val="50000"/>
              </a:spcBef>
            </a:pPr>
            <a:r>
              <a:rPr lang="zh-CN" altLang="en-US" b="1">
                <a:latin typeface="Arial" panose="020B0604020202020204" pitchFamily="34" charset="0"/>
                <a:ea typeface="楷体_GB2312" pitchFamily="49" charset="-122"/>
                <a:cs typeface="Arial" panose="020B0604020202020204" pitchFamily="34" charset="0"/>
              </a:rPr>
              <a:t>(2) Analyze the number of key comparison times in the process of odd-even exchange sort when the initial sequence is in order or reverse order.</a:t>
            </a: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160</a:t>
            </a:fld>
            <a:endParaRPr lang="en-US" altLang="zh-CN"/>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Text Box 2"/>
          <p:cNvSpPr txBox="1">
            <a:spLocks noChangeArrowheads="1"/>
          </p:cNvSpPr>
          <p:nvPr/>
        </p:nvSpPr>
        <p:spPr bwMode="auto">
          <a:xfrm>
            <a:off x="304800" y="228600"/>
            <a:ext cx="8686800" cy="3630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latin typeface="Arial" panose="020B0604020202020204" pitchFamily="34" charset="0"/>
                <a:ea typeface="楷体_GB2312" pitchFamily="49" charset="-122"/>
                <a:cs typeface="Arial" panose="020B0604020202020204" pitchFamily="34" charset="0"/>
              </a:rPr>
              <a:t>10.12 Determine whether the following sequence is a heap (min-heap or max-heap). If not, adjust it to a heap (with minimal record exchanges)</a:t>
            </a:r>
            <a:endParaRPr lang="zh-CN" altLang="en-US" sz="2000" b="1">
              <a:latin typeface="Arial" panose="020B0604020202020204" pitchFamily="34" charset="0"/>
              <a:ea typeface="楷体_GB2312" pitchFamily="49" charset="-122"/>
              <a:cs typeface="Arial" panose="020B0604020202020204" pitchFamily="34" charset="0"/>
            </a:endParaRPr>
          </a:p>
          <a:p>
            <a:pPr>
              <a:spcBef>
                <a:spcPct val="50000"/>
              </a:spcBef>
            </a:pPr>
            <a:r>
              <a:rPr lang="zh-CN" altLang="en-US" sz="2000" b="1">
                <a:latin typeface="Arial" panose="020B0604020202020204" pitchFamily="34" charset="0"/>
                <a:ea typeface="楷体_GB2312" pitchFamily="49" charset="-122"/>
                <a:cs typeface="Arial" panose="020B0604020202020204" pitchFamily="34" charset="0"/>
              </a:rPr>
              <a:t>（ 1）（ 100、 86、 48、 73、 35、 39、 42、 57、 66、 21）</a:t>
            </a:r>
          </a:p>
          <a:p>
            <a:pPr>
              <a:spcBef>
                <a:spcPct val="50000"/>
              </a:spcBef>
            </a:pPr>
            <a:r>
              <a:rPr lang="zh-CN" altLang="en-US" sz="2000" b="1">
                <a:latin typeface="Arial" panose="020B0604020202020204" pitchFamily="34" charset="0"/>
                <a:ea typeface="楷体_GB2312" pitchFamily="49" charset="-122"/>
                <a:cs typeface="Arial" panose="020B0604020202020204" pitchFamily="34" charset="0"/>
              </a:rPr>
              <a:t>（ 2）（ 12、 70、 33、 65、 24、 56、 48、 92、 86、 33）</a:t>
            </a:r>
          </a:p>
          <a:p>
            <a:pPr>
              <a:spcBef>
                <a:spcPct val="50000"/>
              </a:spcBef>
            </a:pPr>
            <a:r>
              <a:rPr lang="zh-CN" altLang="en-US" sz="2000" b="1">
                <a:latin typeface="Arial" panose="020B0604020202020204" pitchFamily="34" charset="0"/>
                <a:ea typeface="楷体_GB2312" pitchFamily="49" charset="-122"/>
                <a:cs typeface="Arial" panose="020B0604020202020204" pitchFamily="34" charset="0"/>
              </a:rPr>
              <a:t>（ 3）（ 103、 97、 56、 38、 66、 23、 42、 12、 30、 52、 06、 20）</a:t>
            </a:r>
          </a:p>
          <a:p>
            <a:pPr>
              <a:spcBef>
                <a:spcPct val="50000"/>
              </a:spcBef>
            </a:pPr>
            <a:r>
              <a:rPr lang="zh-CN" altLang="en-US" sz="2000" b="1">
                <a:latin typeface="Arial" panose="020B0604020202020204" pitchFamily="34" charset="0"/>
                <a:ea typeface="楷体_GB2312" pitchFamily="49" charset="-122"/>
                <a:cs typeface="Arial" panose="020B0604020202020204" pitchFamily="34" charset="0"/>
              </a:rPr>
              <a:t>（ 4）（ 05、 56、 20、 23、 40、 38、 29、 61、 35、 76、 28、 100）</a:t>
            </a:r>
          </a:p>
          <a:p>
            <a:pPr>
              <a:spcBef>
                <a:spcPct val="50000"/>
              </a:spcBef>
            </a:pPr>
            <a:r>
              <a:rPr lang="en-US" altLang="zh-CN" sz="2000" b="1">
                <a:latin typeface="Arial" panose="020B0604020202020204" pitchFamily="34" charset="0"/>
                <a:ea typeface="楷体_GB2312" pitchFamily="49" charset="-122"/>
                <a:cs typeface="Arial" panose="020B0604020202020204" pitchFamily="34" charset="0"/>
              </a:rPr>
              <a:t>10.33 Try to implement the simple selection sort algorithm with single linked list as storage structure.</a:t>
            </a:r>
            <a:endParaRPr lang="zh-CN" altLang="en-US" sz="2000" b="1">
              <a:latin typeface="Arial" panose="020B0604020202020204" pitchFamily="34" charset="0"/>
              <a:ea typeface="楷体_GB2312" pitchFamily="49" charset="-122"/>
              <a:cs typeface="Arial" panose="020B0604020202020204" pitchFamily="34" charset="0"/>
            </a:endParaRPr>
          </a:p>
        </p:txBody>
      </p:sp>
      <p:sp>
        <p:nvSpPr>
          <p:cNvPr id="2" name="页脚占位符 1"/>
          <p:cNvSpPr>
            <a:spLocks noGrp="1"/>
          </p:cNvSpPr>
          <p:nvPr>
            <p:ph type="ftr" sz="quarter" idx="10"/>
          </p:nvPr>
        </p:nvSpPr>
        <p:spPr/>
        <p:txBody>
          <a:bodyPr/>
          <a:lstStyle/>
          <a:p>
            <a:pPr>
              <a:defRPr/>
            </a:pPr>
            <a:r>
              <a:rPr lang="en-US" altLang="zh-CN"/>
              <a:t>@ Zhihai Wang, 2025</a:t>
            </a:r>
            <a:endParaRPr lang="en-US" altLang="zh-CN" dirty="0"/>
          </a:p>
        </p:txBody>
      </p:sp>
      <p:sp>
        <p:nvSpPr>
          <p:cNvPr id="3" name="灯片编号占位符 2"/>
          <p:cNvSpPr>
            <a:spLocks noGrp="1"/>
          </p:cNvSpPr>
          <p:nvPr>
            <p:ph type="sldNum" sz="quarter" idx="11"/>
          </p:nvPr>
        </p:nvSpPr>
        <p:spPr/>
        <p:txBody>
          <a:bodyPr/>
          <a:lstStyle/>
          <a:p>
            <a:pPr>
              <a:defRPr/>
            </a:pPr>
            <a:fld id="{FC63145C-71F2-48C1-8DD2-31D6AC142F2A}" type="slidenum">
              <a:rPr lang="en-US" altLang="zh-CN" smtClean="0"/>
              <a:t>161</a:t>
            </a:fld>
            <a:endParaRPr lang="en-US" altLang="zh-CN"/>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539750" y="1341438"/>
            <a:ext cx="8280400" cy="1727200"/>
          </a:xfrm>
        </p:spPr>
        <p:txBody>
          <a:bodyPr/>
          <a:lstStyle/>
          <a:p>
            <a:r>
              <a:rPr lang="en-US" altLang="zh-CN" dirty="0">
                <a:solidFill>
                  <a:srgbClr val="FF0000"/>
                </a:solidFill>
                <a:latin typeface="Script MT Bold" panose="03040602040607080904" pitchFamily="66" charset="0"/>
                <a:ea typeface="楷体_GB2312" pitchFamily="49" charset="-122"/>
              </a:rPr>
              <a:t>Thank You !</a:t>
            </a:r>
            <a:endParaRPr lang="en-US" altLang="zh-CN" b="0" dirty="0">
              <a:solidFill>
                <a:srgbClr val="003300"/>
              </a:solidFill>
              <a:latin typeface="Script MT Bold" panose="03040602040607080904" pitchFamily="66" charset="0"/>
              <a:ea typeface="楷体_GB2312" pitchFamily="49" charset="-122"/>
            </a:endParaRPr>
          </a:p>
        </p:txBody>
      </p:sp>
      <p:sp>
        <p:nvSpPr>
          <p:cNvPr id="2" name="副标题 1"/>
          <p:cNvSpPr>
            <a:spLocks noGrp="1"/>
          </p:cNvSpPr>
          <p:nvPr>
            <p:ph type="subTitle" idx="1"/>
          </p:nvPr>
        </p:nvSpPr>
        <p:spPr/>
        <p:txBody>
          <a:bodyPr/>
          <a:lstStyle/>
          <a:p>
            <a:endParaRPr lang="zh-CN" alt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435.95,&quot;left&quot;:34,&quot;top&quot;:73.4,&quot;width&quot;:686}"/>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435.95,&quot;left&quot;:34,&quot;top&quot;:73.4,&quot;width&quot;:686}"/>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435.95,&quot;left&quot;:34,&quot;top&quot;:73.4,&quot;width&quot;:686}"/>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435.95,&quot;left&quot;:34,&quot;top&quot;:73.4,&quot;width&quot;:686}"/>
</p:tagLst>
</file>

<file path=ppt/theme/theme1.xml><?xml version="1.0" encoding="utf-8"?>
<a:theme xmlns:a="http://schemas.openxmlformats.org/drawingml/2006/main" name="Slides2A">
  <a:themeElements>
    <a:clrScheme name="沉稳">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Slides1A">
      <a:majorFont>
        <a:latin typeface="Tahoma"/>
        <a:ea typeface="楷体_GB2312"/>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63500">
          <a:solidFill>
            <a:schemeClr val="accent6"/>
          </a:solidFill>
          <a:round/>
        </a:ln>
      </a:spPr>
      <a:bodyPr wrap="none" anchor="ctr"/>
      <a:lstStyle>
        <a:defPPr>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Slides1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lides1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lides1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lides1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lides1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lides1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lides1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Slides2A">
  <a:themeElements>
    <a:clrScheme name="沉稳">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Slides1A">
      <a:majorFont>
        <a:latin typeface="Tahoma"/>
        <a:ea typeface="楷体_GB2312"/>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63500">
          <a:solidFill>
            <a:schemeClr val="accent6"/>
          </a:solidFill>
          <a:round/>
        </a:ln>
      </a:spPr>
      <a:bodyPr wrap="none" anchor="ctr"/>
      <a:lstStyle>
        <a:defPPr>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Slides1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lides1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lides1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lides1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lides1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lides1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lides1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Slides2A">
  <a:themeElements>
    <a:clrScheme name="沉稳">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Slides1A">
      <a:majorFont>
        <a:latin typeface="Tahoma"/>
        <a:ea typeface="楷体_GB2312"/>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63500">
          <a:solidFill>
            <a:schemeClr val="accent6"/>
          </a:solidFill>
          <a:round/>
        </a:ln>
      </a:spPr>
      <a:bodyPr wrap="none" anchor="ctr"/>
      <a:lstStyle>
        <a:defPPr>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Slides1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lides1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lides1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lides1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lides1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lides1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lides1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Slides2A">
  <a:themeElements>
    <a:clrScheme name="沉稳">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Slides1A">
      <a:majorFont>
        <a:latin typeface="Tahoma"/>
        <a:ea typeface="楷体_GB2312"/>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63500">
          <a:solidFill>
            <a:schemeClr val="accent6"/>
          </a:solidFill>
          <a:round/>
        </a:ln>
      </a:spPr>
      <a:bodyPr wrap="none" anchor="ctr"/>
      <a:lstStyle>
        <a:defPPr>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Slides1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lides1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lides1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lides1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lides1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lides1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lides1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Slides2A">
  <a:themeElements>
    <a:clrScheme name="沉稳">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Slides1A">
      <a:majorFont>
        <a:latin typeface="Tahoma"/>
        <a:ea typeface="楷体_GB2312"/>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63500">
          <a:solidFill>
            <a:schemeClr val="accent6"/>
          </a:solidFill>
          <a:round/>
        </a:ln>
      </a:spPr>
      <a:bodyPr wrap="none" anchor="ctr"/>
      <a:lstStyle>
        <a:defPPr>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Slides1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lides1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lides1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lides1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lides1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lides1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lides1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Slides2A">
  <a:themeElements>
    <a:clrScheme name="沉稳">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Slides1A">
      <a:majorFont>
        <a:latin typeface="Tahoma"/>
        <a:ea typeface="楷体_GB2312"/>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63500">
          <a:solidFill>
            <a:schemeClr val="accent6"/>
          </a:solidFill>
          <a:round/>
        </a:ln>
      </a:spPr>
      <a:bodyPr wrap="none" anchor="ctr"/>
      <a:lstStyle>
        <a:defPPr>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Slides1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lides1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lides1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lides1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lides1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lides1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lides1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Slides2A">
  <a:themeElements>
    <a:clrScheme name="沉稳">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Slides1A">
      <a:majorFont>
        <a:latin typeface="Tahoma"/>
        <a:ea typeface="楷体_GB2312"/>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63500">
          <a:solidFill>
            <a:schemeClr val="accent6"/>
          </a:solidFill>
          <a:round/>
        </a:ln>
      </a:spPr>
      <a:bodyPr wrap="none" anchor="ctr"/>
      <a:lstStyle>
        <a:defPPr>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Slides1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lides1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lides1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lides1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lides1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lides1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lides1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Slides2A">
  <a:themeElements>
    <a:clrScheme name="沉稳">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Slides1A">
      <a:majorFont>
        <a:latin typeface="Tahoma"/>
        <a:ea typeface="楷体_GB2312"/>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63500">
          <a:solidFill>
            <a:schemeClr val="accent6"/>
          </a:solidFill>
          <a:round/>
        </a:ln>
      </a:spPr>
      <a:bodyPr wrap="none" anchor="ctr"/>
      <a:lstStyle>
        <a:defPPr>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Slides1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lides1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lides1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lides1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lides1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lides1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lides1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Slides2A">
  <a:themeElements>
    <a:clrScheme name="沉稳">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Slides1A">
      <a:majorFont>
        <a:latin typeface="Tahoma"/>
        <a:ea typeface="楷体_GB2312"/>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63500">
          <a:solidFill>
            <a:schemeClr val="accent6"/>
          </a:solidFill>
          <a:round/>
        </a:ln>
      </a:spPr>
      <a:bodyPr wrap="none" anchor="ctr"/>
      <a:lstStyle>
        <a:defPPr>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Slides1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lides1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lides1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lides1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lides1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lides1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lides1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9_Slides2A">
  <a:themeElements>
    <a:clrScheme name="沉稳">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Slides1A">
      <a:majorFont>
        <a:latin typeface="Tahoma"/>
        <a:ea typeface="楷体_GB2312"/>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63500">
          <a:solidFill>
            <a:schemeClr val="accent6"/>
          </a:solidFill>
          <a:round/>
        </a:ln>
      </a:spPr>
      <a:bodyPr wrap="none" anchor="ctr"/>
      <a:lstStyle>
        <a:defPPr>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Slides1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lides1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lides1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lides1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lides1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lides1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lides1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0_Slides2A">
  <a:themeElements>
    <a:clrScheme name="沉稳">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Slides1A">
      <a:majorFont>
        <a:latin typeface="Tahoma"/>
        <a:ea typeface="楷体_GB2312"/>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63500">
          <a:solidFill>
            <a:schemeClr val="accent6"/>
          </a:solidFill>
          <a:round/>
        </a:ln>
      </a:spPr>
      <a:bodyPr wrap="none" anchor="ctr"/>
      <a:lstStyle>
        <a:defPPr>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Slides1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lides1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lides1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lides1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lides1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lides1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lides1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Slides2A</Template>
  <TotalTime>20</TotalTime>
  <Words>14064</Words>
  <Application>Microsoft Office PowerPoint</Application>
  <PresentationFormat>全屏显示(4:3)</PresentationFormat>
  <Paragraphs>2257</Paragraphs>
  <Slides>162</Slides>
  <Notes>3</Notes>
  <HiddenSlides>0</HiddenSlides>
  <MMClips>0</MMClips>
  <ScaleCrop>false</ScaleCrop>
  <HeadingPairs>
    <vt:vector size="8" baseType="variant">
      <vt:variant>
        <vt:lpstr>已用的字体</vt:lpstr>
      </vt:variant>
      <vt:variant>
        <vt:i4>8</vt:i4>
      </vt:variant>
      <vt:variant>
        <vt:lpstr>主题</vt:lpstr>
      </vt:variant>
      <vt:variant>
        <vt:i4>11</vt:i4>
      </vt:variant>
      <vt:variant>
        <vt:lpstr>嵌入 OLE 服务器</vt:lpstr>
      </vt:variant>
      <vt:variant>
        <vt:i4>4</vt:i4>
      </vt:variant>
      <vt:variant>
        <vt:lpstr>幻灯片标题</vt:lpstr>
      </vt:variant>
      <vt:variant>
        <vt:i4>162</vt:i4>
      </vt:variant>
    </vt:vector>
  </HeadingPairs>
  <TitlesOfParts>
    <vt:vector size="185" baseType="lpstr">
      <vt:lpstr>楷体_GB2312</vt:lpstr>
      <vt:lpstr>隶书</vt:lpstr>
      <vt:lpstr>Arial</vt:lpstr>
      <vt:lpstr>Script MT Bold</vt:lpstr>
      <vt:lpstr>Tahoma</vt:lpstr>
      <vt:lpstr>Times New Roman</vt:lpstr>
      <vt:lpstr>Verdana</vt:lpstr>
      <vt:lpstr>Wingdings</vt:lpstr>
      <vt:lpstr>Slides2A</vt:lpstr>
      <vt:lpstr>1_Slides2A</vt:lpstr>
      <vt:lpstr>2_Slides2A</vt:lpstr>
      <vt:lpstr>3_Slides2A</vt:lpstr>
      <vt:lpstr>4_Slides2A</vt:lpstr>
      <vt:lpstr>5_Slides2A</vt:lpstr>
      <vt:lpstr>6_Slides2A</vt:lpstr>
      <vt:lpstr>7_Slides2A</vt:lpstr>
      <vt:lpstr>8_Slides2A</vt:lpstr>
      <vt:lpstr>9_Slides2A</vt:lpstr>
      <vt:lpstr>10_Slides2A</vt:lpstr>
      <vt:lpstr>Image</vt:lpstr>
      <vt:lpstr>公式</vt:lpstr>
      <vt:lpstr>Microsoft 公式 3.0</vt:lpstr>
      <vt:lpstr>文档</vt:lpstr>
      <vt:lpstr>Data Structure </vt:lpstr>
      <vt:lpstr>Sorting Algorithm</vt:lpstr>
      <vt:lpstr>Chapter 9 Contents</vt:lpstr>
      <vt:lpstr>Chapter 9</vt:lpstr>
      <vt:lpstr>Chapter Contents</vt:lpstr>
      <vt:lpstr>Definition of sorting</vt:lpstr>
      <vt:lpstr>PowerPoint 演示文稿</vt:lpstr>
      <vt:lpstr>PowerPoint 演示文稿</vt:lpstr>
      <vt:lpstr>Stability of Sorting Algorithm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Chapter Contents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Analysis of Shell Sort</vt:lpstr>
      <vt:lpstr>Chapter Contents</vt:lpstr>
      <vt:lpstr>Bubble Sort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Chapter Contents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Chapter Contents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Chapter Contents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Chapter Contents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Chapter Contents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Chapter Contents</vt:lpstr>
      <vt:lpstr>PowerPoint 演示文稿</vt:lpstr>
      <vt:lpstr>PowerPoint 演示文稿</vt:lpstr>
      <vt:lpstr>PowerPoint 演示文稿</vt:lpstr>
      <vt:lpstr>PowerPoint 演示文稿</vt:lpstr>
      <vt:lpstr>Thus, for the above example,</vt:lpstr>
      <vt:lpstr>PowerPoint 演示文稿</vt:lpstr>
      <vt:lpstr>PowerPoint 演示文稿</vt:lpstr>
      <vt:lpstr>PowerPoint 演示文稿</vt:lpstr>
      <vt:lpstr>PowerPoint 演示文稿</vt:lpstr>
      <vt:lpstr>Loser Tree</vt:lpstr>
      <vt:lpstr>logkm  It can be seen that the sorting time is not only inversely proportional to k but also directly proportional to m. Therefore, reducing m can also reduce the sorting time.  K is the number of merge paths m is the initial number of merge segments.  The sort-swap algorithm is derived from the tree sort algorithm. Its characteristics include: throughout the sorting procedure, the selection of the minimum (maximum) key and input/output operations can be performed either crosswise or parallelly.   </vt:lpstr>
      <vt:lpstr>Set:  The input file FI is the file to be sorted  The output file FO is the initial merge segment file The working area WA in memory can hold W records. Both WA and FO are initially empty.    Steps: （1) fromFIimportWRecord to workspaceWA （2) fromWASelect the record with the smallest keyword value. Record, denoted asMINIMAXtake notes </vt:lpstr>
      <vt:lpstr>（3） supportMINIMAXRecord output toFOMiddle Way （4） likeFIIf not empty, followFIEnter the next record arriveWAcentre （5) fromWAselection ratioMINIMAXlargest minimum Keyword records as newMINIMAXprice 。 （6） repeat(3)—(5)until inWANot selected Create a new record to get an initial merge segment. Generate a merge section end marker toFO （7） repeat(2)—(6)， untilWAEmpty, get All initial merge segments. Thus, the lengths of the initial merge segments are unequal.</vt:lpstr>
      <vt:lpstr>Replacement-Selection Sort</vt:lpstr>
      <vt:lpstr>Replacement-Selection Sort Using a Loser Tree</vt:lpstr>
      <vt:lpstr>PowerPoint 演示文稿</vt:lpstr>
      <vt:lpstr>PowerPoint 演示文稿</vt:lpstr>
      <vt:lpstr>PowerPoint 演示文稿</vt:lpstr>
      <vt:lpstr>PowerPoint 演示文稿</vt:lpstr>
      <vt:lpstr>PowerPoint 演示文稿</vt:lpstr>
      <vt:lpstr>PowerPoint 演示文稿</vt:lpstr>
      <vt:lpstr>Optimal Merge Tree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 You !</vt:lpstr>
    </vt:vector>
  </TitlesOfParts>
  <Company>BJTU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数据结构与算法设计 (课程号: 80L129Q)</dc:title>
  <dc:creator>Zhihai WANG</dc:creator>
  <cp:lastModifiedBy>王 志海</cp:lastModifiedBy>
  <cp:revision>153</cp:revision>
  <dcterms:created xsi:type="dcterms:W3CDTF">2015-04-08T00:22:00Z</dcterms:created>
  <dcterms:modified xsi:type="dcterms:W3CDTF">2025-12-21T13:27:06Z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E90D69930BB342109AE6CDCD9D2310A0_12</vt:lpwstr>
  </property>
  <property fmtid="{D5CDD505-2E9C-101B-9397-08002B2CF9AE}" pid="3" name="KSOProductBuildVer">
    <vt:lpwstr>2052-12.1.0.23542</vt:lpwstr>
  </property>
</Properties>
</file>