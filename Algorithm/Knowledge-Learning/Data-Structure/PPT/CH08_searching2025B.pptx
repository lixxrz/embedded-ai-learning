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6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4" r:id="rId3"/>
    <p:sldMasterId id="2147483702" r:id="rId4"/>
    <p:sldMasterId id="2147483747" r:id="rId5"/>
    <p:sldMasterId id="2147483756" r:id="rId6"/>
    <p:sldMasterId id="2147483765" r:id="rId7"/>
  </p:sldMasterIdLst>
  <p:notesMasterIdLst>
    <p:notesMasterId r:id="rId89"/>
  </p:notesMasterIdLst>
  <p:handoutMasterIdLst>
    <p:handoutMasterId r:id="rId90"/>
  </p:handoutMasterIdLst>
  <p:sldIdLst>
    <p:sldId id="781" r:id="rId8"/>
    <p:sldId id="577" r:id="rId9"/>
    <p:sldId id="746" r:id="rId10"/>
    <p:sldId id="1029" r:id="rId11"/>
    <p:sldId id="1028" r:id="rId12"/>
    <p:sldId id="750" r:id="rId13"/>
    <p:sldId id="751" r:id="rId14"/>
    <p:sldId id="752" r:id="rId15"/>
    <p:sldId id="753" r:id="rId16"/>
    <p:sldId id="754" r:id="rId17"/>
    <p:sldId id="755" r:id="rId18"/>
    <p:sldId id="756" r:id="rId19"/>
    <p:sldId id="1030" r:id="rId20"/>
    <p:sldId id="758" r:id="rId21"/>
    <p:sldId id="935" r:id="rId22"/>
    <p:sldId id="760" r:id="rId23"/>
    <p:sldId id="761" r:id="rId24"/>
    <p:sldId id="762" r:id="rId25"/>
    <p:sldId id="763" r:id="rId26"/>
    <p:sldId id="764" r:id="rId27"/>
    <p:sldId id="765" r:id="rId28"/>
    <p:sldId id="766" r:id="rId29"/>
    <p:sldId id="768" r:id="rId30"/>
    <p:sldId id="769" r:id="rId31"/>
    <p:sldId id="770" r:id="rId32"/>
    <p:sldId id="936" r:id="rId33"/>
    <p:sldId id="772" r:id="rId34"/>
    <p:sldId id="773" r:id="rId35"/>
    <p:sldId id="1031" r:id="rId36"/>
    <p:sldId id="774" r:id="rId37"/>
    <p:sldId id="937" r:id="rId38"/>
    <p:sldId id="776" r:id="rId39"/>
    <p:sldId id="938" r:id="rId40"/>
    <p:sldId id="1025" r:id="rId41"/>
    <p:sldId id="1026" r:id="rId42"/>
    <p:sldId id="1027" r:id="rId43"/>
    <p:sldId id="788" r:id="rId44"/>
    <p:sldId id="789" r:id="rId45"/>
    <p:sldId id="790" r:id="rId46"/>
    <p:sldId id="939" r:id="rId47"/>
    <p:sldId id="929" r:id="rId48"/>
    <p:sldId id="944" r:id="rId49"/>
    <p:sldId id="946" r:id="rId50"/>
    <p:sldId id="802" r:id="rId51"/>
    <p:sldId id="803" r:id="rId52"/>
    <p:sldId id="804" r:id="rId53"/>
    <p:sldId id="947" r:id="rId54"/>
    <p:sldId id="948" r:id="rId55"/>
    <p:sldId id="949" r:id="rId56"/>
    <p:sldId id="931" r:id="rId57"/>
    <p:sldId id="950" r:id="rId58"/>
    <p:sldId id="951" r:id="rId59"/>
    <p:sldId id="952" r:id="rId60"/>
    <p:sldId id="812" r:id="rId61"/>
    <p:sldId id="953" r:id="rId62"/>
    <p:sldId id="954" r:id="rId63"/>
    <p:sldId id="955" r:id="rId64"/>
    <p:sldId id="956" r:id="rId65"/>
    <p:sldId id="817" r:id="rId66"/>
    <p:sldId id="818" r:id="rId67"/>
    <p:sldId id="819" r:id="rId68"/>
    <p:sldId id="820" r:id="rId69"/>
    <p:sldId id="821" r:id="rId70"/>
    <p:sldId id="958" r:id="rId71"/>
    <p:sldId id="959" r:id="rId72"/>
    <p:sldId id="960" r:id="rId73"/>
    <p:sldId id="961" r:id="rId74"/>
    <p:sldId id="826" r:id="rId75"/>
    <p:sldId id="827" r:id="rId76"/>
    <p:sldId id="828" r:id="rId77"/>
    <p:sldId id="829" r:id="rId78"/>
    <p:sldId id="830" r:id="rId79"/>
    <p:sldId id="831" r:id="rId80"/>
    <p:sldId id="963" r:id="rId81"/>
    <p:sldId id="964" r:id="rId82"/>
    <p:sldId id="965" r:id="rId83"/>
    <p:sldId id="835" r:id="rId84"/>
    <p:sldId id="966" r:id="rId85"/>
    <p:sldId id="837" r:id="rId86"/>
    <p:sldId id="838" r:id="rId87"/>
    <p:sldId id="576" r:id="rId8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8000"/>
    <a:srgbClr val="000099"/>
    <a:srgbClr val="000000"/>
    <a:srgbClr val="808080"/>
    <a:srgbClr val="003300"/>
    <a:srgbClr val="EAEAEA"/>
    <a:srgbClr val="DDDDDD"/>
    <a:srgbClr val="FFFFFF"/>
    <a:srgbClr val="F2F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86381" autoAdjust="0"/>
  </p:normalViewPr>
  <p:slideViewPr>
    <p:cSldViewPr showGuides="1">
      <p:cViewPr varScale="1">
        <p:scale>
          <a:sx n="66" d="100"/>
          <a:sy n="66" d="100"/>
        </p:scale>
        <p:origin x="1278" y="39"/>
      </p:cViewPr>
      <p:guideLst>
        <p:guide orient="horz" pos="2157"/>
        <p:guide pos="2880"/>
      </p:guideLst>
    </p:cSldViewPr>
  </p:slideViewPr>
  <p:outlineViewPr>
    <p:cViewPr>
      <p:scale>
        <a:sx n="33" d="100"/>
        <a:sy n="33" d="100"/>
      </p:scale>
      <p:origin x="0" y="5089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5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11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7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1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1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FF7402D4-7CBB-40B5-A465-D8015B10E50B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561C033C-5B3F-49DC-BDD7-EA426F823B6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37CF04-FAF1-458F-B27B-7F3315F0CF6B}" type="slidenum">
              <a:rPr lang="en-US" altLang="zh-CN" sz="1200" smtClean="0"/>
              <a:t>2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5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0" y="5559425"/>
          <a:ext cx="13319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Image" r:id="rId3" imgW="2590800" imgH="2044700" progId="Photoshop.Image.7">
                  <p:embed/>
                </p:oleObj>
              </mc:Choice>
              <mc:Fallback>
                <p:oleObj name="Image" r:id="rId3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559425"/>
                        <a:ext cx="13319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7650"/>
            <a:ext cx="91440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484313"/>
            <a:ext cx="7772400" cy="1358900"/>
          </a:xfrm>
        </p:spPr>
        <p:txBody>
          <a:bodyPr/>
          <a:lstStyle>
            <a:lvl1pPr algn="ctr">
              <a:defRPr sz="48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aseline="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200800" cy="720080"/>
          </a:xfrm>
        </p:spPr>
        <p:txBody>
          <a:bodyPr/>
          <a:lstStyle>
            <a:lvl1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2565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C3BFD-24D0-4966-81A9-4BDD3454C0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8042" y="908720"/>
            <a:ext cx="4171950" cy="5328592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522" y="908720"/>
            <a:ext cx="4171950" cy="53285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8A3F3-0373-449B-8E61-DD8B1408CF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0424F-96B9-4C00-88E0-F120333DC6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145C-71F2-48C1-8DD2-31D6AC142F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9B108-AFC7-4225-832B-3FC6DC0A32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martArt 占位符 2"/>
          <p:cNvSpPr>
            <a:spLocks noGrp="1"/>
          </p:cNvSpPr>
          <p:nvPr>
            <p:ph type="dgm" idx="1" hasCustomPrompt="1"/>
          </p:nvPr>
        </p:nvSpPr>
        <p:spPr>
          <a:xfrm>
            <a:off x="323850" y="980728"/>
            <a:ext cx="8496300" cy="5184576"/>
          </a:xfrm>
        </p:spPr>
        <p:txBody>
          <a:bodyPr/>
          <a:lstStyle>
            <a:lvl1pPr>
              <a:lnSpc>
                <a:spcPts val="4200"/>
              </a:lnSpc>
              <a:defRPr/>
            </a:lvl1pPr>
            <a:lvl2pPr>
              <a:lnSpc>
                <a:spcPts val="4200"/>
              </a:lnSpc>
              <a:defRPr/>
            </a:lvl2pPr>
            <a:lvl3pPr>
              <a:lnSpc>
                <a:spcPts val="4200"/>
              </a:lnSpc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zh-CN" altLang="en-US" noProof="0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52C24-EBD5-4EC7-9586-D9EC98D334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980728"/>
            <a:ext cx="8496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3850" y="3501008"/>
            <a:ext cx="8496300" cy="26642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5DE7D-A7CA-4CE7-A54D-6F8BA2A0D8E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0" y="5559425"/>
          <a:ext cx="13319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Image" r:id="rId3" imgW="2590800" imgH="2044700" progId="Photoshop.Image.7">
                  <p:embed/>
                </p:oleObj>
              </mc:Choice>
              <mc:Fallback>
                <p:oleObj name="Image" r:id="rId3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559425"/>
                        <a:ext cx="13319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7650"/>
            <a:ext cx="91440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484313"/>
            <a:ext cx="7772400" cy="1358900"/>
          </a:xfrm>
        </p:spPr>
        <p:txBody>
          <a:bodyPr/>
          <a:lstStyle>
            <a:lvl1pPr algn="ctr">
              <a:defRPr sz="48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aseline="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200800" cy="720080"/>
          </a:xfrm>
        </p:spPr>
        <p:txBody>
          <a:bodyPr/>
          <a:lstStyle>
            <a:lvl1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2565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C3BFD-24D0-4966-81A9-4BDD3454C0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8042" y="908720"/>
            <a:ext cx="4171950" cy="5328592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522" y="908720"/>
            <a:ext cx="4171950" cy="53285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8A3F3-0373-449B-8E61-DD8B1408CF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0424F-96B9-4C00-88E0-F120333DC6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145C-71F2-48C1-8DD2-31D6AC142F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9B108-AFC7-4225-832B-3FC6DC0A32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martArt 占位符 2"/>
          <p:cNvSpPr>
            <a:spLocks noGrp="1"/>
          </p:cNvSpPr>
          <p:nvPr>
            <p:ph type="dgm" idx="1" hasCustomPrompt="1"/>
          </p:nvPr>
        </p:nvSpPr>
        <p:spPr>
          <a:xfrm>
            <a:off x="323850" y="980728"/>
            <a:ext cx="8496300" cy="5184576"/>
          </a:xfrm>
        </p:spPr>
        <p:txBody>
          <a:bodyPr/>
          <a:lstStyle>
            <a:lvl1pPr>
              <a:lnSpc>
                <a:spcPts val="4200"/>
              </a:lnSpc>
              <a:defRPr/>
            </a:lvl1pPr>
            <a:lvl2pPr>
              <a:lnSpc>
                <a:spcPts val="4200"/>
              </a:lnSpc>
              <a:defRPr/>
            </a:lvl2pPr>
            <a:lvl3pPr>
              <a:lnSpc>
                <a:spcPts val="4200"/>
              </a:lnSpc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zh-CN" altLang="en-US" noProof="0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52C24-EBD5-4EC7-9586-D9EC98D334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980728"/>
            <a:ext cx="8496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3850" y="3501008"/>
            <a:ext cx="8496300" cy="26642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5DE7D-A7CA-4CE7-A54D-6F8BA2A0D8E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0" y="5559425"/>
          <a:ext cx="13319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Image" r:id="rId3" imgW="2590800" imgH="2044700" progId="Photoshop.Image.7">
                  <p:embed/>
                </p:oleObj>
              </mc:Choice>
              <mc:Fallback>
                <p:oleObj name="Image" r:id="rId3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559425"/>
                        <a:ext cx="13319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7650"/>
            <a:ext cx="91440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484313"/>
            <a:ext cx="7772400" cy="1358900"/>
          </a:xfrm>
        </p:spPr>
        <p:txBody>
          <a:bodyPr/>
          <a:lstStyle>
            <a:lvl1pPr algn="ctr">
              <a:defRPr sz="48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aseline="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200800" cy="720080"/>
          </a:xfrm>
        </p:spPr>
        <p:txBody>
          <a:bodyPr/>
          <a:lstStyle>
            <a:lvl1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2565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C3BFD-24D0-4966-81A9-4BDD3454C0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8042" y="908720"/>
            <a:ext cx="4171950" cy="5328592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522" y="908720"/>
            <a:ext cx="4171950" cy="53285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8A3F3-0373-449B-8E61-DD8B1408CF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0424F-96B9-4C00-88E0-F120333DC6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145C-71F2-48C1-8DD2-31D6AC142F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9B108-AFC7-4225-832B-3FC6DC0A32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martArt 占位符 2"/>
          <p:cNvSpPr>
            <a:spLocks noGrp="1"/>
          </p:cNvSpPr>
          <p:nvPr>
            <p:ph type="dgm" idx="1" hasCustomPrompt="1"/>
          </p:nvPr>
        </p:nvSpPr>
        <p:spPr>
          <a:xfrm>
            <a:off x="323850" y="980728"/>
            <a:ext cx="8496300" cy="5184576"/>
          </a:xfrm>
        </p:spPr>
        <p:txBody>
          <a:bodyPr/>
          <a:lstStyle>
            <a:lvl1pPr>
              <a:lnSpc>
                <a:spcPts val="4200"/>
              </a:lnSpc>
              <a:defRPr/>
            </a:lvl1pPr>
            <a:lvl2pPr>
              <a:lnSpc>
                <a:spcPts val="4200"/>
              </a:lnSpc>
              <a:defRPr/>
            </a:lvl2pPr>
            <a:lvl3pPr>
              <a:lnSpc>
                <a:spcPts val="4200"/>
              </a:lnSpc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zh-CN" altLang="en-US" noProof="0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52C24-EBD5-4EC7-9586-D9EC98D334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980728"/>
            <a:ext cx="8496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3850" y="3501008"/>
            <a:ext cx="8496300" cy="26642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5DE7D-A7CA-4CE7-A54D-6F8BA2A0D8E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0" y="5559425"/>
          <a:ext cx="13319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Image" r:id="rId3" imgW="2590800" imgH="2044700" progId="Photoshop.Image.7">
                  <p:embed/>
                </p:oleObj>
              </mc:Choice>
              <mc:Fallback>
                <p:oleObj name="Image" r:id="rId3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559425"/>
                        <a:ext cx="13319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7650"/>
            <a:ext cx="91440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484313"/>
            <a:ext cx="7772400" cy="1358900"/>
          </a:xfrm>
        </p:spPr>
        <p:txBody>
          <a:bodyPr/>
          <a:lstStyle>
            <a:lvl1pPr algn="ctr">
              <a:defRPr sz="48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aseline="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200800" cy="720080"/>
          </a:xfrm>
        </p:spPr>
        <p:txBody>
          <a:bodyPr/>
          <a:lstStyle>
            <a:lvl1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2565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C3BFD-24D0-4966-81A9-4BDD3454C0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8042" y="908720"/>
            <a:ext cx="4171950" cy="5328592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522" y="908720"/>
            <a:ext cx="4171950" cy="53285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8A3F3-0373-449B-8E61-DD8B1408CF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0424F-96B9-4C00-88E0-F120333DC6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145C-71F2-48C1-8DD2-31D6AC142F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9B108-AFC7-4225-832B-3FC6DC0A32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martArt 占位符 2"/>
          <p:cNvSpPr>
            <a:spLocks noGrp="1"/>
          </p:cNvSpPr>
          <p:nvPr>
            <p:ph type="dgm" idx="1" hasCustomPrompt="1"/>
          </p:nvPr>
        </p:nvSpPr>
        <p:spPr>
          <a:xfrm>
            <a:off x="323850" y="980728"/>
            <a:ext cx="8496300" cy="5184576"/>
          </a:xfrm>
        </p:spPr>
        <p:txBody>
          <a:bodyPr/>
          <a:lstStyle>
            <a:lvl1pPr>
              <a:lnSpc>
                <a:spcPts val="4200"/>
              </a:lnSpc>
              <a:defRPr/>
            </a:lvl1pPr>
            <a:lvl2pPr>
              <a:lnSpc>
                <a:spcPts val="4200"/>
              </a:lnSpc>
              <a:defRPr/>
            </a:lvl2pPr>
            <a:lvl3pPr>
              <a:lnSpc>
                <a:spcPts val="4200"/>
              </a:lnSpc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zh-CN" altLang="en-US" noProof="0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52C24-EBD5-4EC7-9586-D9EC98D334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980728"/>
            <a:ext cx="8496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3850" y="3501008"/>
            <a:ext cx="8496300" cy="26642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5DE7D-A7CA-4CE7-A54D-6F8BA2A0D8E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0" y="5559425"/>
          <a:ext cx="13319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Image" r:id="rId3" imgW="2590800" imgH="2044700" progId="Photoshop.Image.7">
                  <p:embed/>
                </p:oleObj>
              </mc:Choice>
              <mc:Fallback>
                <p:oleObj name="Image" r:id="rId3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559425"/>
                        <a:ext cx="13319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7650"/>
            <a:ext cx="91440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484313"/>
            <a:ext cx="7772400" cy="1358900"/>
          </a:xfrm>
        </p:spPr>
        <p:txBody>
          <a:bodyPr/>
          <a:lstStyle>
            <a:lvl1pPr algn="ctr">
              <a:defRPr sz="48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aseline="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200800" cy="720080"/>
          </a:xfrm>
        </p:spPr>
        <p:txBody>
          <a:bodyPr/>
          <a:lstStyle>
            <a:lvl1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2565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C3BFD-24D0-4966-81A9-4BDD3454C0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8042" y="908720"/>
            <a:ext cx="4171950" cy="5328592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522" y="908720"/>
            <a:ext cx="4171950" cy="53285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8A3F3-0373-449B-8E61-DD8B1408CF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0424F-96B9-4C00-88E0-F120333DC6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145C-71F2-48C1-8DD2-31D6AC142F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9B108-AFC7-4225-832B-3FC6DC0A32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martArt 占位符 2"/>
          <p:cNvSpPr>
            <a:spLocks noGrp="1"/>
          </p:cNvSpPr>
          <p:nvPr>
            <p:ph type="dgm" idx="1" hasCustomPrompt="1"/>
          </p:nvPr>
        </p:nvSpPr>
        <p:spPr>
          <a:xfrm>
            <a:off x="323850" y="980728"/>
            <a:ext cx="8496300" cy="5184576"/>
          </a:xfrm>
        </p:spPr>
        <p:txBody>
          <a:bodyPr/>
          <a:lstStyle>
            <a:lvl1pPr>
              <a:lnSpc>
                <a:spcPts val="4200"/>
              </a:lnSpc>
              <a:defRPr/>
            </a:lvl1pPr>
            <a:lvl2pPr>
              <a:lnSpc>
                <a:spcPts val="4200"/>
              </a:lnSpc>
              <a:defRPr/>
            </a:lvl2pPr>
            <a:lvl3pPr>
              <a:lnSpc>
                <a:spcPts val="4200"/>
              </a:lnSpc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zh-CN" altLang="en-US" noProof="0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52C24-EBD5-4EC7-9586-D9EC98D334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980728"/>
            <a:ext cx="8496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3850" y="3501008"/>
            <a:ext cx="8496300" cy="26642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5DE7D-A7CA-4CE7-A54D-6F8BA2A0D8E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0" y="5559425"/>
          <a:ext cx="13319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Image" r:id="rId3" imgW="2590800" imgH="2044700" progId="Photoshop.Image.7">
                  <p:embed/>
                </p:oleObj>
              </mc:Choice>
              <mc:Fallback>
                <p:oleObj name="Image" r:id="rId3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559425"/>
                        <a:ext cx="13319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7650"/>
            <a:ext cx="91440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484313"/>
            <a:ext cx="7772400" cy="1358900"/>
          </a:xfrm>
        </p:spPr>
        <p:txBody>
          <a:bodyPr/>
          <a:lstStyle>
            <a:lvl1pPr algn="ctr">
              <a:defRPr sz="48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aseline="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200800" cy="720080"/>
          </a:xfrm>
        </p:spPr>
        <p:txBody>
          <a:bodyPr/>
          <a:lstStyle>
            <a:lvl1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2565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C3BFD-24D0-4966-81A9-4BDD3454C0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8042" y="908720"/>
            <a:ext cx="4171950" cy="5328592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522" y="908720"/>
            <a:ext cx="4171950" cy="53285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8A3F3-0373-449B-8E61-DD8B1408CF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0424F-96B9-4C00-88E0-F120333DC6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145C-71F2-48C1-8DD2-31D6AC142F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9B108-AFC7-4225-832B-3FC6DC0A32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martArt 占位符 2"/>
          <p:cNvSpPr>
            <a:spLocks noGrp="1"/>
          </p:cNvSpPr>
          <p:nvPr>
            <p:ph type="dgm" idx="1" hasCustomPrompt="1"/>
          </p:nvPr>
        </p:nvSpPr>
        <p:spPr>
          <a:xfrm>
            <a:off x="323850" y="980728"/>
            <a:ext cx="8496300" cy="5184576"/>
          </a:xfrm>
        </p:spPr>
        <p:txBody>
          <a:bodyPr/>
          <a:lstStyle>
            <a:lvl1pPr>
              <a:lnSpc>
                <a:spcPts val="4200"/>
              </a:lnSpc>
              <a:defRPr/>
            </a:lvl1pPr>
            <a:lvl2pPr>
              <a:lnSpc>
                <a:spcPts val="4200"/>
              </a:lnSpc>
              <a:defRPr/>
            </a:lvl2pPr>
            <a:lvl3pPr>
              <a:lnSpc>
                <a:spcPts val="4200"/>
              </a:lnSpc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zh-CN" altLang="en-US" noProof="0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52C24-EBD5-4EC7-9586-D9EC98D334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980728"/>
            <a:ext cx="8496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3850" y="3501008"/>
            <a:ext cx="8496300" cy="26642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5DE7D-A7CA-4CE7-A54D-6F8BA2A0D8E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0" y="5559425"/>
          <a:ext cx="13319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Image" r:id="rId3" imgW="2590800" imgH="2044700" progId="Photoshop.Image.7">
                  <p:embed/>
                </p:oleObj>
              </mc:Choice>
              <mc:Fallback>
                <p:oleObj name="Image" r:id="rId3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559425"/>
                        <a:ext cx="13319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7650"/>
            <a:ext cx="91440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484313"/>
            <a:ext cx="7772400" cy="1358900"/>
          </a:xfrm>
        </p:spPr>
        <p:txBody>
          <a:bodyPr/>
          <a:lstStyle>
            <a:lvl1pPr algn="ctr">
              <a:defRPr sz="4800" b="1">
                <a:latin typeface="+mj-ea"/>
                <a:ea typeface="+mj-ea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aseline="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200800" cy="720080"/>
          </a:xfrm>
        </p:spPr>
        <p:txBody>
          <a:bodyPr/>
          <a:lstStyle>
            <a:lvl1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2565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C3BFD-24D0-4966-81A9-4BDD3454C0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8042" y="908720"/>
            <a:ext cx="4171950" cy="5328592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522" y="908720"/>
            <a:ext cx="4171950" cy="53285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8A3F3-0373-449B-8E61-DD8B1408CF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0424F-96B9-4C00-88E0-F120333DC6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145C-71F2-48C1-8DD2-31D6AC142F2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9B108-AFC7-4225-832B-3FC6DC0A32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martArt 占位符 2"/>
          <p:cNvSpPr>
            <a:spLocks noGrp="1"/>
          </p:cNvSpPr>
          <p:nvPr>
            <p:ph type="dgm" idx="1" hasCustomPrompt="1"/>
          </p:nvPr>
        </p:nvSpPr>
        <p:spPr>
          <a:xfrm>
            <a:off x="323850" y="980728"/>
            <a:ext cx="8496300" cy="5184576"/>
          </a:xfrm>
        </p:spPr>
        <p:txBody>
          <a:bodyPr/>
          <a:lstStyle>
            <a:lvl1pPr>
              <a:lnSpc>
                <a:spcPts val="4200"/>
              </a:lnSpc>
              <a:defRPr/>
            </a:lvl1pPr>
            <a:lvl2pPr>
              <a:lnSpc>
                <a:spcPts val="4200"/>
              </a:lnSpc>
              <a:defRPr/>
            </a:lvl2pPr>
            <a:lvl3pPr>
              <a:lnSpc>
                <a:spcPts val="4200"/>
              </a:lnSpc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zh-CN" altLang="en-US" noProof="0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52C24-EBD5-4EC7-9586-D9EC98D334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60648"/>
            <a:ext cx="6985000" cy="6492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980728"/>
            <a:ext cx="8496300" cy="2443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3850" y="3501008"/>
            <a:ext cx="8496300" cy="26642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5DE7D-A7CA-4CE7-A54D-6F8BA2A0D8E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oleObject" Target="../embeddings/oleObject3.bin"/><Relationship Id="rId5" Type="http://schemas.openxmlformats.org/officeDocument/2006/relationships/slideLayout" Target="../slideLayouts/slideLayout13.xml"/><Relationship Id="rId10" Type="http://schemas.openxmlformats.org/officeDocument/2006/relationships/vmlDrawing" Target="../drawings/vmlDrawing3.v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oleObject" Target="../embeddings/oleObject5.bin"/><Relationship Id="rId5" Type="http://schemas.openxmlformats.org/officeDocument/2006/relationships/slideLayout" Target="../slideLayouts/slideLayout21.xml"/><Relationship Id="rId10" Type="http://schemas.openxmlformats.org/officeDocument/2006/relationships/vmlDrawing" Target="../drawings/vmlDrawing5.vml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oleObject" Target="../embeddings/oleObject7.bin"/><Relationship Id="rId5" Type="http://schemas.openxmlformats.org/officeDocument/2006/relationships/slideLayout" Target="../slideLayouts/slideLayout29.xml"/><Relationship Id="rId10" Type="http://schemas.openxmlformats.org/officeDocument/2006/relationships/vmlDrawing" Target="../drawings/vmlDrawing7.vml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oleObject" Target="../embeddings/oleObject9.bin"/><Relationship Id="rId5" Type="http://schemas.openxmlformats.org/officeDocument/2006/relationships/slideLayout" Target="../slideLayouts/slideLayout37.xml"/><Relationship Id="rId10" Type="http://schemas.openxmlformats.org/officeDocument/2006/relationships/vmlDrawing" Target="../drawings/vmlDrawing9.vml"/><Relationship Id="rId4" Type="http://schemas.openxmlformats.org/officeDocument/2006/relationships/slideLayout" Target="../slideLayouts/slideLayout36.xml"/><Relationship Id="rId9" Type="http://schemas.openxmlformats.org/officeDocument/2006/relationships/theme" Target="../theme/theme5.xml"/><Relationship Id="rId1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oleObject" Target="../embeddings/oleObject11.bin"/><Relationship Id="rId5" Type="http://schemas.openxmlformats.org/officeDocument/2006/relationships/slideLayout" Target="../slideLayouts/slideLayout45.xml"/><Relationship Id="rId10" Type="http://schemas.openxmlformats.org/officeDocument/2006/relationships/vmlDrawing" Target="../drawings/vmlDrawing11.vml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6.xml"/><Relationship Id="rId1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oleObject" Target="../embeddings/oleObject13.bin"/><Relationship Id="rId5" Type="http://schemas.openxmlformats.org/officeDocument/2006/relationships/slideLayout" Target="../slideLayouts/slideLayout53.xml"/><Relationship Id="rId10" Type="http://schemas.openxmlformats.org/officeDocument/2006/relationships/vmlDrawing" Target="../drawings/vmlDrawing13.vml"/><Relationship Id="rId4" Type="http://schemas.openxmlformats.org/officeDocument/2006/relationships/slideLayout" Target="../slideLayouts/slideLayout52.xml"/><Relationship Id="rId9" Type="http://schemas.openxmlformats.org/officeDocument/2006/relationships/theme" Target="../theme/theme7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0728"/>
            <a:ext cx="849630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marL="575945" marR="0" lvl="1" indent="-36004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006"/>
            <a:ext cx="2895600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8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17122" y="6381751"/>
            <a:ext cx="1403350" cy="359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000"/>
            </a:lvl1pPr>
          </a:lstStyle>
          <a:p>
            <a:pPr>
              <a:defRPr/>
            </a:pPr>
            <a:fld id="{2C2D39BD-2FBC-415D-AE3F-113858EA1DB1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/>
        </p:nvGraphicFramePr>
        <p:xfrm>
          <a:off x="0" y="6084888"/>
          <a:ext cx="9715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Image" r:id="rId11" imgW="2590800" imgH="2044700" progId="Photoshop.Image.7">
                  <p:embed/>
                </p:oleObj>
              </mc:Choice>
              <mc:Fallback>
                <p:oleObj name="Image" r:id="rId11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84888"/>
                        <a:ext cx="9715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59432"/>
            <a:ext cx="7488238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34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616" y="44450"/>
            <a:ext cx="1008384" cy="93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4000" b="1" baseline="0" dirty="0" smtClean="0">
          <a:solidFill>
            <a:srgbClr val="C00000"/>
          </a:solidFill>
          <a:latin typeface="Arial" panose="020B0604020202020204" pitchFamily="34" charset="0"/>
          <a:ea typeface="宋体" panose="0201060003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9pPr>
    </p:titleStyle>
    <p:bodyStyle>
      <a:lvl1pPr marL="360045" indent="-360045" algn="l" rtl="0" eaLnBrk="1" fontAlgn="base" hangingPunct="1">
        <a:lnSpc>
          <a:spcPts val="4200"/>
        </a:lnSpc>
        <a:spcBef>
          <a:spcPts val="0"/>
        </a:spcBef>
        <a:spcAft>
          <a:spcPts val="600"/>
        </a:spcAft>
        <a:buFont typeface="Wingdings" panose="05000000000000000000" pitchFamily="2" charset="2"/>
        <a:buBlip>
          <a:blip r:embed="rId14"/>
        </a:buBlip>
        <a:defRPr kumimoji="1" sz="3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1pPr>
      <a:lvl2pPr marL="575945" marR="0" indent="-360045" algn="l" defTabSz="914400" rtl="0" eaLnBrk="1" fontAlgn="base" latinLnBrk="0" hangingPunct="1">
        <a:lnSpc>
          <a:spcPts val="4200"/>
        </a:lnSpc>
        <a:spcBef>
          <a:spcPts val="0"/>
        </a:spcBef>
        <a:spcAft>
          <a:spcPts val="600"/>
        </a:spcAft>
        <a:buClrTx/>
        <a:buSzTx/>
        <a:buFont typeface="Wingdings" panose="05000000000000000000" pitchFamily="2" charset="2"/>
        <a:buChar char="Ø"/>
        <a:defRPr kumimoji="1" sz="3200" baseline="0">
          <a:solidFill>
            <a:schemeClr val="tx1"/>
          </a:solidFill>
          <a:latin typeface="Arial" panose="020B0604020202020204" pitchFamily="34" charset="0"/>
          <a:ea typeface="楷体_GB2312" pitchFamily="49" charset="-122"/>
        </a:defRPr>
      </a:lvl2pPr>
      <a:lvl3pPr marL="864235" indent="-360045" algn="l" rtl="0" eaLnBrk="1" fontAlgn="base" hangingPunct="1">
        <a:spcBef>
          <a:spcPts val="0"/>
        </a:spcBef>
        <a:spcAft>
          <a:spcPts val="600"/>
        </a:spcAft>
        <a:buFont typeface="Wingdings" panose="05000000000000000000" pitchFamily="2" charset="2"/>
        <a:buChar char="u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rgbClr val="152EAB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0728"/>
            <a:ext cx="849630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marL="575945" marR="0" lvl="1" indent="-36004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006"/>
            <a:ext cx="2895600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8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17122" y="6381751"/>
            <a:ext cx="1403350" cy="359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000"/>
            </a:lvl1pPr>
          </a:lstStyle>
          <a:p>
            <a:pPr>
              <a:defRPr/>
            </a:pPr>
            <a:fld id="{2C2D39BD-2FBC-415D-AE3F-113858EA1DB1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/>
        </p:nvGraphicFramePr>
        <p:xfrm>
          <a:off x="0" y="6084888"/>
          <a:ext cx="9715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Image" r:id="rId11" imgW="2590800" imgH="2044700" progId="Photoshop.Image.7">
                  <p:embed/>
                </p:oleObj>
              </mc:Choice>
              <mc:Fallback>
                <p:oleObj name="Image" r:id="rId11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84888"/>
                        <a:ext cx="9715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59432"/>
            <a:ext cx="7488238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34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616" y="44450"/>
            <a:ext cx="1008384" cy="93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4000" b="1" baseline="0" dirty="0" smtClean="0">
          <a:solidFill>
            <a:srgbClr val="C00000"/>
          </a:solidFill>
          <a:latin typeface="Arial" panose="020B0604020202020204" pitchFamily="34" charset="0"/>
          <a:ea typeface="宋体" panose="0201060003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9pPr>
    </p:titleStyle>
    <p:bodyStyle>
      <a:lvl1pPr marL="360045" indent="-360045" algn="l" rtl="0" eaLnBrk="1" fontAlgn="base" hangingPunct="1">
        <a:lnSpc>
          <a:spcPts val="4200"/>
        </a:lnSpc>
        <a:spcBef>
          <a:spcPts val="0"/>
        </a:spcBef>
        <a:spcAft>
          <a:spcPts val="600"/>
        </a:spcAft>
        <a:buFont typeface="Wingdings" panose="05000000000000000000" pitchFamily="2" charset="2"/>
        <a:buBlip>
          <a:blip r:embed="rId14"/>
        </a:buBlip>
        <a:defRPr kumimoji="1" sz="3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1pPr>
      <a:lvl2pPr marL="575945" marR="0" indent="-360045" algn="l" defTabSz="914400" rtl="0" eaLnBrk="1" fontAlgn="base" latinLnBrk="0" hangingPunct="1">
        <a:lnSpc>
          <a:spcPts val="4200"/>
        </a:lnSpc>
        <a:spcBef>
          <a:spcPts val="0"/>
        </a:spcBef>
        <a:spcAft>
          <a:spcPts val="600"/>
        </a:spcAft>
        <a:buClrTx/>
        <a:buSzTx/>
        <a:buFont typeface="Wingdings" panose="05000000000000000000" pitchFamily="2" charset="2"/>
        <a:buChar char="Ø"/>
        <a:defRPr kumimoji="1" sz="3200" baseline="0">
          <a:solidFill>
            <a:schemeClr val="tx1"/>
          </a:solidFill>
          <a:latin typeface="Arial" panose="020B0604020202020204" pitchFamily="34" charset="0"/>
          <a:ea typeface="楷体_GB2312" pitchFamily="49" charset="-122"/>
        </a:defRPr>
      </a:lvl2pPr>
      <a:lvl3pPr marL="864235" indent="-360045" algn="l" rtl="0" eaLnBrk="1" fontAlgn="base" hangingPunct="1">
        <a:spcBef>
          <a:spcPts val="0"/>
        </a:spcBef>
        <a:spcAft>
          <a:spcPts val="600"/>
        </a:spcAft>
        <a:buFont typeface="Wingdings" panose="05000000000000000000" pitchFamily="2" charset="2"/>
        <a:buChar char="u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rgbClr val="152EAB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0728"/>
            <a:ext cx="849630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marL="575945" marR="0" lvl="1" indent="-36004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006"/>
            <a:ext cx="2895600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8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17122" y="6381751"/>
            <a:ext cx="1403350" cy="359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000"/>
            </a:lvl1pPr>
          </a:lstStyle>
          <a:p>
            <a:pPr>
              <a:defRPr/>
            </a:pPr>
            <a:fld id="{2C2D39BD-2FBC-415D-AE3F-113858EA1DB1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/>
        </p:nvGraphicFramePr>
        <p:xfrm>
          <a:off x="0" y="6084888"/>
          <a:ext cx="9715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Image" r:id="rId11" imgW="2590800" imgH="2044700" progId="Photoshop.Image.7">
                  <p:embed/>
                </p:oleObj>
              </mc:Choice>
              <mc:Fallback>
                <p:oleObj name="Image" r:id="rId11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84888"/>
                        <a:ext cx="9715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59432"/>
            <a:ext cx="7488238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34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616" y="44450"/>
            <a:ext cx="1008384" cy="93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4000" b="1" baseline="0" dirty="0" smtClean="0">
          <a:solidFill>
            <a:srgbClr val="C00000"/>
          </a:solidFill>
          <a:latin typeface="Arial" panose="020B0604020202020204" pitchFamily="34" charset="0"/>
          <a:ea typeface="宋体" panose="0201060003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9pPr>
    </p:titleStyle>
    <p:bodyStyle>
      <a:lvl1pPr marL="360045" indent="-360045" algn="l" rtl="0" eaLnBrk="1" fontAlgn="base" hangingPunct="1">
        <a:lnSpc>
          <a:spcPts val="4200"/>
        </a:lnSpc>
        <a:spcBef>
          <a:spcPts val="0"/>
        </a:spcBef>
        <a:spcAft>
          <a:spcPts val="600"/>
        </a:spcAft>
        <a:buFont typeface="Wingdings" panose="05000000000000000000" pitchFamily="2" charset="2"/>
        <a:buBlip>
          <a:blip r:embed="rId14"/>
        </a:buBlip>
        <a:defRPr kumimoji="1" sz="3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1pPr>
      <a:lvl2pPr marL="575945" marR="0" indent="-360045" algn="l" defTabSz="914400" rtl="0" eaLnBrk="1" fontAlgn="base" latinLnBrk="0" hangingPunct="1">
        <a:lnSpc>
          <a:spcPts val="4200"/>
        </a:lnSpc>
        <a:spcBef>
          <a:spcPts val="0"/>
        </a:spcBef>
        <a:spcAft>
          <a:spcPts val="600"/>
        </a:spcAft>
        <a:buClrTx/>
        <a:buSzTx/>
        <a:buFont typeface="Wingdings" panose="05000000000000000000" pitchFamily="2" charset="2"/>
        <a:buChar char="Ø"/>
        <a:defRPr kumimoji="1" sz="3200" baseline="0">
          <a:solidFill>
            <a:schemeClr val="tx1"/>
          </a:solidFill>
          <a:latin typeface="Arial" panose="020B0604020202020204" pitchFamily="34" charset="0"/>
          <a:ea typeface="楷体_GB2312" pitchFamily="49" charset="-122"/>
        </a:defRPr>
      </a:lvl2pPr>
      <a:lvl3pPr marL="864235" indent="-360045" algn="l" rtl="0" eaLnBrk="1" fontAlgn="base" hangingPunct="1">
        <a:spcBef>
          <a:spcPts val="0"/>
        </a:spcBef>
        <a:spcAft>
          <a:spcPts val="600"/>
        </a:spcAft>
        <a:buFont typeface="Wingdings" panose="05000000000000000000" pitchFamily="2" charset="2"/>
        <a:buChar char="u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rgbClr val="152EAB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0728"/>
            <a:ext cx="849630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marL="575945" marR="0" lvl="1" indent="-36004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006"/>
            <a:ext cx="2895600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8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17122" y="6381751"/>
            <a:ext cx="1403350" cy="359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000"/>
            </a:lvl1pPr>
          </a:lstStyle>
          <a:p>
            <a:pPr>
              <a:defRPr/>
            </a:pPr>
            <a:fld id="{2C2D39BD-2FBC-415D-AE3F-113858EA1DB1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/>
        </p:nvGraphicFramePr>
        <p:xfrm>
          <a:off x="0" y="6084888"/>
          <a:ext cx="9715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Image" r:id="rId11" imgW="2590800" imgH="2044700" progId="Photoshop.Image.7">
                  <p:embed/>
                </p:oleObj>
              </mc:Choice>
              <mc:Fallback>
                <p:oleObj name="Image" r:id="rId11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84888"/>
                        <a:ext cx="9715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59432"/>
            <a:ext cx="7488238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34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616" y="44450"/>
            <a:ext cx="1008384" cy="93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4000" b="1" baseline="0" dirty="0" smtClean="0">
          <a:solidFill>
            <a:srgbClr val="C00000"/>
          </a:solidFill>
          <a:latin typeface="Arial" panose="020B0604020202020204" pitchFamily="34" charset="0"/>
          <a:ea typeface="宋体" panose="0201060003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9pPr>
    </p:titleStyle>
    <p:bodyStyle>
      <a:lvl1pPr marL="360045" indent="-360045" algn="l" rtl="0" eaLnBrk="1" fontAlgn="base" hangingPunct="1">
        <a:lnSpc>
          <a:spcPts val="4200"/>
        </a:lnSpc>
        <a:spcBef>
          <a:spcPts val="0"/>
        </a:spcBef>
        <a:spcAft>
          <a:spcPts val="600"/>
        </a:spcAft>
        <a:buFont typeface="Wingdings" panose="05000000000000000000" pitchFamily="2" charset="2"/>
        <a:buBlip>
          <a:blip r:embed="rId14"/>
        </a:buBlip>
        <a:defRPr kumimoji="1" sz="3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1pPr>
      <a:lvl2pPr marL="575945" marR="0" indent="-360045" algn="l" defTabSz="914400" rtl="0" eaLnBrk="1" fontAlgn="base" latinLnBrk="0" hangingPunct="1">
        <a:lnSpc>
          <a:spcPts val="4200"/>
        </a:lnSpc>
        <a:spcBef>
          <a:spcPts val="0"/>
        </a:spcBef>
        <a:spcAft>
          <a:spcPts val="600"/>
        </a:spcAft>
        <a:buClrTx/>
        <a:buSzTx/>
        <a:buFont typeface="Wingdings" panose="05000000000000000000" pitchFamily="2" charset="2"/>
        <a:buChar char="Ø"/>
        <a:defRPr kumimoji="1" sz="3200" baseline="0">
          <a:solidFill>
            <a:schemeClr val="tx1"/>
          </a:solidFill>
          <a:latin typeface="Arial" panose="020B0604020202020204" pitchFamily="34" charset="0"/>
          <a:ea typeface="楷体_GB2312" pitchFamily="49" charset="-122"/>
        </a:defRPr>
      </a:lvl2pPr>
      <a:lvl3pPr marL="864235" indent="-360045" algn="l" rtl="0" eaLnBrk="1" fontAlgn="base" hangingPunct="1">
        <a:spcBef>
          <a:spcPts val="0"/>
        </a:spcBef>
        <a:spcAft>
          <a:spcPts val="600"/>
        </a:spcAft>
        <a:buFont typeface="Wingdings" panose="05000000000000000000" pitchFamily="2" charset="2"/>
        <a:buChar char="u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rgbClr val="152EAB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0728"/>
            <a:ext cx="849630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marL="575945" marR="0" lvl="1" indent="-36004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006"/>
            <a:ext cx="2895600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8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17122" y="6381751"/>
            <a:ext cx="1403350" cy="359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000"/>
            </a:lvl1pPr>
          </a:lstStyle>
          <a:p>
            <a:pPr>
              <a:defRPr/>
            </a:pPr>
            <a:fld id="{2C2D39BD-2FBC-415D-AE3F-113858EA1DB1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/>
        </p:nvGraphicFramePr>
        <p:xfrm>
          <a:off x="0" y="6084888"/>
          <a:ext cx="9715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Image" r:id="rId11" imgW="2590800" imgH="2044700" progId="Photoshop.Image.7">
                  <p:embed/>
                </p:oleObj>
              </mc:Choice>
              <mc:Fallback>
                <p:oleObj name="Image" r:id="rId11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84888"/>
                        <a:ext cx="9715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59432"/>
            <a:ext cx="7488238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34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616" y="44450"/>
            <a:ext cx="1008384" cy="93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4000" b="1" baseline="0" dirty="0" smtClean="0">
          <a:solidFill>
            <a:srgbClr val="C00000"/>
          </a:solidFill>
          <a:latin typeface="Arial" panose="020B0604020202020204" pitchFamily="34" charset="0"/>
          <a:ea typeface="宋体" panose="0201060003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9pPr>
    </p:titleStyle>
    <p:bodyStyle>
      <a:lvl1pPr marL="360045" indent="-360045" algn="l" rtl="0" eaLnBrk="1" fontAlgn="base" hangingPunct="1">
        <a:lnSpc>
          <a:spcPts val="4200"/>
        </a:lnSpc>
        <a:spcBef>
          <a:spcPts val="0"/>
        </a:spcBef>
        <a:spcAft>
          <a:spcPts val="600"/>
        </a:spcAft>
        <a:buFont typeface="Wingdings" panose="05000000000000000000" pitchFamily="2" charset="2"/>
        <a:buBlip>
          <a:blip r:embed="rId14"/>
        </a:buBlip>
        <a:defRPr kumimoji="1" sz="3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1pPr>
      <a:lvl2pPr marL="575945" marR="0" indent="-360045" algn="l" defTabSz="914400" rtl="0" eaLnBrk="1" fontAlgn="base" latinLnBrk="0" hangingPunct="1">
        <a:lnSpc>
          <a:spcPts val="4200"/>
        </a:lnSpc>
        <a:spcBef>
          <a:spcPts val="0"/>
        </a:spcBef>
        <a:spcAft>
          <a:spcPts val="600"/>
        </a:spcAft>
        <a:buClrTx/>
        <a:buSzTx/>
        <a:buFont typeface="Wingdings" panose="05000000000000000000" pitchFamily="2" charset="2"/>
        <a:buChar char="Ø"/>
        <a:defRPr kumimoji="1" sz="3200" baseline="0">
          <a:solidFill>
            <a:schemeClr val="tx1"/>
          </a:solidFill>
          <a:latin typeface="Arial" panose="020B0604020202020204" pitchFamily="34" charset="0"/>
          <a:ea typeface="楷体_GB2312" pitchFamily="49" charset="-122"/>
        </a:defRPr>
      </a:lvl2pPr>
      <a:lvl3pPr marL="864235" indent="-360045" algn="l" rtl="0" eaLnBrk="1" fontAlgn="base" hangingPunct="1">
        <a:spcBef>
          <a:spcPts val="0"/>
        </a:spcBef>
        <a:spcAft>
          <a:spcPts val="600"/>
        </a:spcAft>
        <a:buFont typeface="Wingdings" panose="05000000000000000000" pitchFamily="2" charset="2"/>
        <a:buChar char="u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rgbClr val="152EAB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0728"/>
            <a:ext cx="849630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marL="575945" marR="0" lvl="1" indent="-36004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006"/>
            <a:ext cx="2895600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8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17122" y="6381751"/>
            <a:ext cx="1403350" cy="359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000"/>
            </a:lvl1pPr>
          </a:lstStyle>
          <a:p>
            <a:pPr>
              <a:defRPr/>
            </a:pPr>
            <a:fld id="{2C2D39BD-2FBC-415D-AE3F-113858EA1DB1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/>
        </p:nvGraphicFramePr>
        <p:xfrm>
          <a:off x="0" y="6084888"/>
          <a:ext cx="9715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Image" r:id="rId11" imgW="2590800" imgH="2044700" progId="Photoshop.Image.7">
                  <p:embed/>
                </p:oleObj>
              </mc:Choice>
              <mc:Fallback>
                <p:oleObj name="Image" r:id="rId11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84888"/>
                        <a:ext cx="9715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59432"/>
            <a:ext cx="7488238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34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616" y="44450"/>
            <a:ext cx="1008384" cy="93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4000" b="1" baseline="0" dirty="0" smtClean="0">
          <a:solidFill>
            <a:srgbClr val="C00000"/>
          </a:solidFill>
          <a:latin typeface="Arial" panose="020B0604020202020204" pitchFamily="34" charset="0"/>
          <a:ea typeface="宋体" panose="0201060003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9pPr>
    </p:titleStyle>
    <p:bodyStyle>
      <a:lvl1pPr marL="360045" indent="-360045" algn="l" rtl="0" eaLnBrk="1" fontAlgn="base" hangingPunct="1">
        <a:lnSpc>
          <a:spcPts val="4200"/>
        </a:lnSpc>
        <a:spcBef>
          <a:spcPts val="0"/>
        </a:spcBef>
        <a:spcAft>
          <a:spcPts val="600"/>
        </a:spcAft>
        <a:buFont typeface="Wingdings" panose="05000000000000000000" pitchFamily="2" charset="2"/>
        <a:buBlip>
          <a:blip r:embed="rId14"/>
        </a:buBlip>
        <a:defRPr kumimoji="1" sz="3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1pPr>
      <a:lvl2pPr marL="575945" marR="0" indent="-360045" algn="l" defTabSz="914400" rtl="0" eaLnBrk="1" fontAlgn="base" latinLnBrk="0" hangingPunct="1">
        <a:lnSpc>
          <a:spcPts val="4200"/>
        </a:lnSpc>
        <a:spcBef>
          <a:spcPts val="0"/>
        </a:spcBef>
        <a:spcAft>
          <a:spcPts val="600"/>
        </a:spcAft>
        <a:buClrTx/>
        <a:buSzTx/>
        <a:buFont typeface="Wingdings" panose="05000000000000000000" pitchFamily="2" charset="2"/>
        <a:buChar char="Ø"/>
        <a:defRPr kumimoji="1" sz="3200" baseline="0">
          <a:solidFill>
            <a:schemeClr val="tx1"/>
          </a:solidFill>
          <a:latin typeface="Arial" panose="020B0604020202020204" pitchFamily="34" charset="0"/>
          <a:ea typeface="楷体_GB2312" pitchFamily="49" charset="-122"/>
        </a:defRPr>
      </a:lvl2pPr>
      <a:lvl3pPr marL="864235" indent="-360045" algn="l" rtl="0" eaLnBrk="1" fontAlgn="base" hangingPunct="1">
        <a:spcBef>
          <a:spcPts val="0"/>
        </a:spcBef>
        <a:spcAft>
          <a:spcPts val="600"/>
        </a:spcAft>
        <a:buFont typeface="Wingdings" panose="05000000000000000000" pitchFamily="2" charset="2"/>
        <a:buChar char="u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rgbClr val="152EAB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0728"/>
            <a:ext cx="849630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marL="575945" marR="0" lvl="1" indent="-36004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006"/>
            <a:ext cx="2895600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8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17122" y="6381751"/>
            <a:ext cx="1403350" cy="359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000"/>
            </a:lvl1pPr>
          </a:lstStyle>
          <a:p>
            <a:pPr>
              <a:defRPr/>
            </a:pPr>
            <a:fld id="{2C2D39BD-2FBC-415D-AE3F-113858EA1DB1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/>
        </p:nvGraphicFramePr>
        <p:xfrm>
          <a:off x="0" y="6084888"/>
          <a:ext cx="9715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Image" r:id="rId11" imgW="2590800" imgH="2044700" progId="Photoshop.Image.7">
                  <p:embed/>
                </p:oleObj>
              </mc:Choice>
              <mc:Fallback>
                <p:oleObj name="Image" r:id="rId11" imgW="2590800" imgH="2044700" progId="Photoshop.Image.7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84888"/>
                        <a:ext cx="9715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333399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59432"/>
            <a:ext cx="7488238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34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616" y="44450"/>
            <a:ext cx="1008384" cy="93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4000" b="1" baseline="0" dirty="0" smtClean="0">
          <a:solidFill>
            <a:srgbClr val="C00000"/>
          </a:solidFill>
          <a:latin typeface="Arial" panose="020B0604020202020204" pitchFamily="34" charset="0"/>
          <a:ea typeface="宋体" panose="0201060003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008000"/>
          </a:solidFill>
          <a:latin typeface="Tahoma" panose="020B0604030504040204" pitchFamily="34" charset="0"/>
          <a:ea typeface="楷体_GB2312" pitchFamily="49" charset="-122"/>
        </a:defRPr>
      </a:lvl9pPr>
    </p:titleStyle>
    <p:bodyStyle>
      <a:lvl1pPr marL="360045" indent="-360045" algn="l" rtl="0" eaLnBrk="1" fontAlgn="base" hangingPunct="1">
        <a:lnSpc>
          <a:spcPts val="4200"/>
        </a:lnSpc>
        <a:spcBef>
          <a:spcPts val="0"/>
        </a:spcBef>
        <a:spcAft>
          <a:spcPts val="600"/>
        </a:spcAft>
        <a:buFont typeface="Wingdings" panose="05000000000000000000" pitchFamily="2" charset="2"/>
        <a:buBlip>
          <a:blip r:embed="rId14"/>
        </a:buBlip>
        <a:defRPr kumimoji="1" sz="3200" baseline="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1pPr>
      <a:lvl2pPr marL="575945" marR="0" indent="-360045" algn="l" defTabSz="914400" rtl="0" eaLnBrk="1" fontAlgn="base" latinLnBrk="0" hangingPunct="1">
        <a:lnSpc>
          <a:spcPts val="4200"/>
        </a:lnSpc>
        <a:spcBef>
          <a:spcPts val="0"/>
        </a:spcBef>
        <a:spcAft>
          <a:spcPts val="600"/>
        </a:spcAft>
        <a:buClrTx/>
        <a:buSzTx/>
        <a:buFont typeface="Wingdings" panose="05000000000000000000" pitchFamily="2" charset="2"/>
        <a:buChar char="Ø"/>
        <a:defRPr kumimoji="1" sz="3200" baseline="0">
          <a:solidFill>
            <a:schemeClr val="tx1"/>
          </a:solidFill>
          <a:latin typeface="Arial" panose="020B0604020202020204" pitchFamily="34" charset="0"/>
          <a:ea typeface="楷体_GB2312" pitchFamily="49" charset="-122"/>
        </a:defRPr>
      </a:lvl2pPr>
      <a:lvl3pPr marL="864235" indent="-360045" algn="l" rtl="0" eaLnBrk="1" fontAlgn="base" hangingPunct="1">
        <a:spcBef>
          <a:spcPts val="0"/>
        </a:spcBef>
        <a:spcAft>
          <a:spcPts val="600"/>
        </a:spcAft>
        <a:buFont typeface="Wingdings" panose="05000000000000000000" pitchFamily="2" charset="2"/>
        <a:buChar char="u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rgbClr val="152EAB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2000">
          <a:solidFill>
            <a:srgbClr val="152EAB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slide" Target="slide1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8.wmf"/><Relationship Id="rId4" Type="http://schemas.openxmlformats.org/officeDocument/2006/relationships/slide" Target="slide6.xml"/><Relationship Id="rId9" Type="http://schemas.openxmlformats.org/officeDocument/2006/relationships/image" Target="../media/image7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9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20.bin"/><Relationship Id="rId4" Type="http://schemas.openxmlformats.org/officeDocument/2006/relationships/image" Target="../media/image9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1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12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2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13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7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5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16.e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18.e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21.e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576" y="1052736"/>
            <a:ext cx="7772400" cy="1871663"/>
          </a:xfrm>
        </p:spPr>
        <p:txBody>
          <a:bodyPr/>
          <a:lstStyle/>
          <a:p>
            <a:r>
              <a:rPr lang="en-US" altLang="zh-CN" sz="4800" dirty="0">
                <a:solidFill>
                  <a:srgbClr val="660033"/>
                </a:solidFill>
                <a:ea typeface="宋体" panose="02010600030101010101" pitchFamily="2" charset="-122"/>
              </a:rPr>
              <a:t>Data Structure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640" y="3356992"/>
            <a:ext cx="7056784" cy="2880320"/>
          </a:xfrm>
        </p:spPr>
        <p:txBody>
          <a:bodyPr/>
          <a:lstStyle/>
          <a:p>
            <a:pPr>
              <a:lnSpc>
                <a:spcPts val="32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Haiyang Liu</a:t>
            </a:r>
            <a:endParaRPr lang="en-US" altLang="zh-CN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2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Computer &amp; Information Technology, Beijing </a:t>
            </a:r>
            <a:r>
              <a:rPr lang="en-US" altLang="zh-CN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Jiaotong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341438"/>
            <a:ext cx="7772400" cy="1727200"/>
          </a:xfrm>
        </p:spPr>
        <p:txBody>
          <a:bodyPr/>
          <a:lstStyle/>
          <a:p>
            <a:pPr>
              <a:defRPr/>
            </a:pPr>
            <a:r>
              <a:rPr sz="5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Chapter 9: Search</a:t>
            </a:r>
            <a:endParaRPr lang="en-US" altLang="zh-CN" sz="540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573463"/>
            <a:ext cx="6729413" cy="2039937"/>
          </a:xfrm>
        </p:spPr>
        <p:txBody>
          <a:bodyPr/>
          <a:lstStyle/>
          <a:p>
            <a:pPr eaLnBrk="1" hangingPunct="1">
              <a:lnSpc>
                <a:spcPts val="4200"/>
              </a:lnSpc>
            </a:pPr>
            <a:endParaRPr lang="zh-CN" altLang="en-US" b="1" dirty="0">
              <a:solidFill>
                <a:srgbClr val="1810B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648"/>
            <a:ext cx="7525022" cy="720081"/>
          </a:xfrm>
        </p:spPr>
        <p:txBody>
          <a:bodyPr/>
          <a:lstStyle/>
          <a:p>
            <a:r>
              <a:rPr lang="en-US" altLang="zh-CN" sz="4000" dirty="0">
                <a:solidFill>
                  <a:srgbClr val="FF0000"/>
                </a:solidFill>
                <a:cs typeface="Arial" panose="020B0604020202020204" pitchFamily="34" charset="0"/>
              </a:rPr>
              <a:t>Syllabus: Teaching Content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052736"/>
            <a:ext cx="8496944" cy="5184328"/>
          </a:xfrm>
        </p:spPr>
        <p:txBody>
          <a:bodyPr/>
          <a:lstStyle/>
          <a:p>
            <a:pPr>
              <a:lnSpc>
                <a:spcPts val="3600"/>
              </a:lnSpc>
            </a:pPr>
            <a:r>
              <a:rPr lang="en-US" altLang="zh-CN" dirty="0"/>
              <a:t>Static Search Tables (Creation and Search)</a:t>
            </a:r>
          </a:p>
          <a:p>
            <a:pPr lvl="1">
              <a:lnSpc>
                <a:spcPts val="3600"/>
              </a:lnSpc>
            </a:pPr>
            <a:r>
              <a:rPr lang="en-US" altLang="zh-CN" dirty="0"/>
              <a:t>Sequential Table</a:t>
            </a:r>
          </a:p>
          <a:p>
            <a:pPr lvl="1">
              <a:lnSpc>
                <a:spcPts val="3600"/>
              </a:lnSpc>
            </a:pPr>
            <a:r>
              <a:rPr lang="en-US" altLang="zh-CN" dirty="0"/>
              <a:t>Sorted Table</a:t>
            </a:r>
          </a:p>
          <a:p>
            <a:pPr>
              <a:lnSpc>
                <a:spcPts val="3600"/>
              </a:lnSpc>
            </a:pPr>
            <a:r>
              <a:rPr lang="en-US" altLang="zh-CN" dirty="0"/>
              <a:t>Dynamic Search Tables</a:t>
            </a:r>
          </a:p>
          <a:p>
            <a:pPr lvl="1">
              <a:lnSpc>
                <a:spcPts val="3600"/>
              </a:lnSpc>
            </a:pPr>
            <a:r>
              <a:rPr lang="en-US" altLang="zh-CN" dirty="0"/>
              <a:t>Binary Search Tree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</a:rPr>
              <a:t>Main Contents of This Chapter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Basic Concepts of Search Algorithms</a:t>
            </a:r>
          </a:p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tx1"/>
                </a:solidFill>
                <a:cs typeface="Arial" panose="020B0604020202020204" pitchFamily="34" charset="0"/>
              </a:rPr>
              <a:t>Static Search Tables (Creation and Search)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Sequential Table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Sorted Table</a:t>
            </a:r>
          </a:p>
          <a:p>
            <a:pPr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Dynamic Search Tables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Binary Search Tree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401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648"/>
            <a:ext cx="7525022" cy="720081"/>
          </a:xfrm>
        </p:spPr>
        <p:txBody>
          <a:bodyPr/>
          <a:lstStyle/>
          <a:p>
            <a:r>
              <a:rPr lang="en-US" altLang="zh-CN" sz="4000" dirty="0">
                <a:solidFill>
                  <a:srgbClr val="FF0000"/>
                </a:solidFill>
                <a:cs typeface="Arial" panose="020B0604020202020204" pitchFamily="34" charset="0"/>
              </a:rPr>
              <a:t>Syllabus: Teaching Content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052736"/>
            <a:ext cx="8496944" cy="5184328"/>
          </a:xfrm>
        </p:spPr>
        <p:txBody>
          <a:bodyPr/>
          <a:lstStyle/>
          <a:p>
            <a:pPr>
              <a:lnSpc>
                <a:spcPts val="3600"/>
              </a:lnSpc>
            </a:pPr>
            <a:r>
              <a:rPr lang="en-US" altLang="zh-CN" dirty="0">
                <a:solidFill>
                  <a:srgbClr val="FF0000"/>
                </a:solidFill>
              </a:rPr>
              <a:t>Static Search Tables </a:t>
            </a:r>
            <a:r>
              <a:rPr lang="en-US" altLang="zh-CN" dirty="0"/>
              <a:t>(Creation and Search)</a:t>
            </a:r>
          </a:p>
          <a:p>
            <a:pPr lvl="1">
              <a:lnSpc>
                <a:spcPts val="3600"/>
              </a:lnSpc>
            </a:pPr>
            <a:r>
              <a:rPr lang="en-US" altLang="zh-CN" dirty="0"/>
              <a:t>Sequential Table</a:t>
            </a:r>
          </a:p>
          <a:p>
            <a:pPr lvl="1">
              <a:lnSpc>
                <a:spcPts val="3600"/>
              </a:lnSpc>
            </a:pPr>
            <a:r>
              <a:rPr lang="en-US" altLang="zh-CN" dirty="0"/>
              <a:t>Sorted Table</a:t>
            </a:r>
          </a:p>
          <a:p>
            <a:pPr>
              <a:lnSpc>
                <a:spcPts val="3600"/>
              </a:lnSpc>
            </a:pPr>
            <a:r>
              <a:rPr lang="en-US" altLang="zh-CN" dirty="0"/>
              <a:t>Dynamic Search Tables</a:t>
            </a:r>
          </a:p>
          <a:p>
            <a:pPr lvl="1">
              <a:lnSpc>
                <a:spcPts val="3600"/>
              </a:lnSpc>
            </a:pPr>
            <a:r>
              <a:rPr lang="en-US" altLang="zh-CN" dirty="0"/>
              <a:t>Binary Search Tree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2299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200800" cy="1080120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Basic Concepts of Search Algorithms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 noChangeAspect="1"/>
          </p:cNvGraphicFramePr>
          <p:nvPr>
            <p:ph idx="1"/>
          </p:nvPr>
        </p:nvGraphicFramePr>
        <p:xfrm>
          <a:off x="2731293" y="1503362"/>
          <a:ext cx="3681413" cy="442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剪辑" r:id="rId3" imgW="3681730" imgH="4427855" progId="MS_ClipArt_Gallery.2">
                  <p:embed/>
                </p:oleObj>
              </mc:Choice>
              <mc:Fallback>
                <p:oleObj name="剪辑" r:id="rId3" imgW="3681730" imgH="4427855" progId="MS_ClipArt_Gallery.2">
                  <p:embed/>
                  <p:pic>
                    <p:nvPicPr>
                      <p:cNvPr id="0" name="内容占位符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1293" y="1503362"/>
                        <a:ext cx="3681413" cy="442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a Search Table?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A search table is a collection of data elements (or records) of the same type.</a:t>
            </a:r>
          </a:p>
          <a:p>
            <a:r>
              <a:rPr lang="en-US" altLang="zh-CN" b="0" dirty="0"/>
              <a:t>Since the data elements in the "collection" have a loose relationship, a search table is a flexible and convenient structure for applications.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楷体_GB2312" pitchFamily="49" charset="-122"/>
                <a:cs typeface="Arial" panose="020B0604020202020204" pitchFamily="34" charset="0"/>
              </a:rPr>
              <a:t>Common Operations 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ea typeface="楷体_GB2312" pitchFamily="49" charset="-122"/>
                <a:cs typeface="Arial" panose="020B0604020202020204" pitchFamily="34" charset="0"/>
              </a:rPr>
              <a:t>on Search Tables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5400"/>
              </a:lnSpc>
            </a:pP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Query </a:t>
            </a:r>
            <a:r>
              <a:rPr lang="zh-CN" altLang="en-US" sz="2800" dirty="0">
                <a:ea typeface="宋体" panose="02010600030101010101" pitchFamily="2" charset="-122"/>
                <a:cs typeface="Arial" panose="020B0604020202020204" pitchFamily="34" charset="0"/>
              </a:rPr>
              <a:t>whether a</a:t>
            </a:r>
            <a:r>
              <a:rPr lang="en-US" altLang="zh-CN" sz="1800" kern="12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"</a:t>
            </a:r>
            <a:r>
              <a:rPr lang="zh-CN" altLang="en-US" sz="2800" dirty="0">
                <a:solidFill>
                  <a:srgbClr val="A50021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specific</a:t>
            </a:r>
            <a:r>
              <a:rPr lang="en-US" altLang="zh-CN" sz="1800" kern="12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" </a:t>
            </a:r>
            <a:r>
              <a:rPr lang="zh-CN" altLang="en-US" sz="2800" dirty="0">
                <a:ea typeface="宋体" panose="02010600030101010101" pitchFamily="2" charset="-122"/>
                <a:cs typeface="Arial" panose="020B0604020202020204" pitchFamily="34" charset="0"/>
              </a:rPr>
              <a:t>data element exists in the search table</a:t>
            </a:r>
            <a:r>
              <a:rPr lang="en-US" altLang="zh-CN" sz="1800" kern="12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</a:p>
          <a:p>
            <a:pPr>
              <a:lnSpc>
                <a:spcPts val="5400"/>
              </a:lnSpc>
            </a:pP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Retrieve</a:t>
            </a:r>
            <a:r>
              <a:rPr lang="en-US" altLang="zh-CN" sz="1800" kern="12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ea typeface="宋体" panose="02010600030101010101" pitchFamily="2" charset="-122"/>
                <a:cs typeface="Arial" panose="020B0604020202020204" pitchFamily="34" charset="0"/>
              </a:rPr>
              <a:t>various attributes of a </a:t>
            </a:r>
            <a:r>
              <a:rPr lang="en-US" altLang="zh-CN" sz="1800" kern="12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"</a:t>
            </a:r>
            <a:r>
              <a:rPr lang="zh-CN" altLang="en-US" sz="2800" dirty="0">
                <a:solidFill>
                  <a:srgbClr val="A50021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specific</a:t>
            </a:r>
            <a:r>
              <a:rPr lang="en-US" altLang="zh-CN" sz="1800" kern="12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" </a:t>
            </a:r>
            <a:r>
              <a:rPr lang="zh-CN" altLang="en-US" sz="2800" dirty="0">
                <a:ea typeface="宋体" panose="02010600030101010101" pitchFamily="2" charset="-122"/>
                <a:cs typeface="Arial" panose="020B0604020202020204" pitchFamily="34" charset="0"/>
              </a:rPr>
              <a:t>data element;</a:t>
            </a:r>
            <a:endParaRPr lang="en-US" altLang="zh-CN" sz="1800" kern="1200" dirty="0">
              <a:solidFill>
                <a:srgbClr val="0000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5400"/>
              </a:lnSpc>
            </a:pP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Insert</a:t>
            </a:r>
            <a:r>
              <a:rPr lang="en-US" altLang="zh-CN" sz="1800" kern="120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ea typeface="宋体" panose="02010600030101010101" pitchFamily="2" charset="-122"/>
                <a:cs typeface="Arial" panose="020B0604020202020204" pitchFamily="34" charset="0"/>
              </a:rPr>
              <a:t>a data element into the search table;</a:t>
            </a:r>
          </a:p>
          <a:p>
            <a:pPr algn="l">
              <a:lnSpc>
                <a:spcPts val="5400"/>
              </a:lnSpc>
              <a:buClrTx/>
              <a:buSzTx/>
              <a:buBlip>
                <a:blip r:embed="rId2"/>
              </a:buBlip>
            </a:pP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Delete </a:t>
            </a:r>
            <a:r>
              <a:rPr lang="zh-CN" altLang="en-US" sz="2800" dirty="0">
                <a:ea typeface="宋体" panose="02010600030101010101" pitchFamily="2" charset="-122"/>
                <a:cs typeface="Arial" panose="020B0604020202020204" pitchFamily="34" charset="0"/>
              </a:rPr>
              <a:t>a data element from the search table.        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Search Tables Can Be Divided into Two Categories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Static Search Table:</a:t>
            </a:r>
          </a:p>
          <a:p>
            <a:pPr marL="0" indent="0">
              <a:buNone/>
            </a:pPr>
            <a:r>
              <a:rPr lang="zh-CN" altLang="en-US" b="0" dirty="0"/>
              <a:t>   </a:t>
            </a:r>
            <a:r>
              <a:rPr lang="zh-CN" altLang="en-US" dirty="0"/>
              <a:t>A search table that only performs </a:t>
            </a:r>
            <a:r>
              <a:rPr lang="zh-CN" altLang="en-US" dirty="0">
                <a:solidFill>
                  <a:srgbClr val="A50021"/>
                </a:solidFill>
              </a:rPr>
              <a:t>query</a:t>
            </a:r>
            <a:r>
              <a:rPr lang="zh-CN" altLang="en-US" dirty="0"/>
              <a:t> and </a:t>
            </a:r>
            <a:r>
              <a:rPr lang="zh-CN" altLang="en-US" dirty="0">
                <a:solidFill>
                  <a:srgbClr val="A50021"/>
                </a:solidFill>
              </a:rPr>
              <a:t>retrieval </a:t>
            </a:r>
            <a:r>
              <a:rPr lang="zh-CN" altLang="en-US" dirty="0"/>
              <a:t>operations is a static search table.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Dynamic Search Table: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b="0" dirty="0"/>
              <a:t>   </a:t>
            </a:r>
            <a:r>
              <a:rPr lang="en-US" altLang="zh-CN" dirty="0"/>
              <a:t>Sometimes, after a query, it is necessary to </a:t>
            </a:r>
            <a:r>
              <a:rPr lang="zh-CN" altLang="en-US" dirty="0">
                <a:solidFill>
                  <a:srgbClr val="A50021"/>
                </a:solidFill>
              </a:rPr>
              <a:t>insert</a:t>
            </a:r>
            <a:r>
              <a:rPr lang="en-US" altLang="zh-CN" dirty="0"/>
              <a:t> a data element that is "</a:t>
            </a:r>
            <a:r>
              <a:rPr lang="zh-CN" altLang="en-US" dirty="0">
                <a:solidFill>
                  <a:srgbClr val="A50021"/>
                </a:solidFill>
              </a:rPr>
              <a:t>not in the search table</a:t>
            </a:r>
            <a:r>
              <a:rPr lang="en-US" altLang="zh-CN" dirty="0"/>
              <a:t>" into the table; or, </a:t>
            </a:r>
            <a:r>
              <a:rPr lang="zh-CN" altLang="en-US" dirty="0">
                <a:solidFill>
                  <a:srgbClr val="A50021"/>
                </a:solidFill>
              </a:rPr>
              <a:t>delete</a:t>
            </a:r>
            <a:r>
              <a:rPr lang="en-US" altLang="zh-CN" dirty="0"/>
              <a:t> a data element that is "</a:t>
            </a:r>
            <a:r>
              <a:rPr lang="zh-CN" altLang="en-US" dirty="0">
                <a:solidFill>
                  <a:srgbClr val="A50021"/>
                </a:solidFill>
              </a:rPr>
              <a:t>in the search table</a:t>
            </a:r>
            <a:r>
              <a:rPr lang="en-US" altLang="zh-CN" dirty="0"/>
              <a:t>" based on the query result. Such a table is a dynamic search table.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altLang="zh-CN" dirty="0">
                <a:solidFill>
                  <a:srgbClr val="008000"/>
                </a:solidFill>
                <a:effectLst/>
                <a:cs typeface="Arial" panose="020B0604020202020204" pitchFamily="34" charset="0"/>
              </a:rPr>
              <a:t>Several Concepts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dirty="0">
                <a:solidFill>
                  <a:srgbClr val="A50021"/>
                </a:solidFill>
                <a:cs typeface="Arial" panose="020B0604020202020204" pitchFamily="34" charset="0"/>
              </a:rPr>
              <a:t>Keyword</a:t>
            </a:r>
            <a:r>
              <a:rPr lang="en-US" altLang="zh-CN" dirty="0">
                <a:cs typeface="Arial" panose="020B0604020202020204" pitchFamily="34" charset="0"/>
              </a:rPr>
              <a:t>: The value of a certain data item used to identify a data element (or record) is called a keyword.</a:t>
            </a:r>
          </a:p>
          <a:p>
            <a:pPr>
              <a:spcAft>
                <a:spcPts val="600"/>
              </a:spcAft>
            </a:pPr>
            <a:r>
              <a:rPr lang="zh-CN" altLang="en-US" dirty="0">
                <a:solidFill>
                  <a:srgbClr val="A50021"/>
                </a:solidFill>
                <a:cs typeface="Arial" panose="020B0604020202020204" pitchFamily="34" charset="0"/>
              </a:rPr>
              <a:t>Primary Keyword</a:t>
            </a:r>
            <a:r>
              <a:rPr lang="en-US" altLang="zh-CN" dirty="0">
                <a:cs typeface="Arial" panose="020B0604020202020204" pitchFamily="34" charset="0"/>
              </a:rPr>
              <a:t>: If a keyword can uniquely identify a record, then this keyword is called a primary keyword.</a:t>
            </a:r>
          </a:p>
          <a:p>
            <a:pPr>
              <a:spcAft>
                <a:spcPts val="600"/>
              </a:spcAft>
            </a:pPr>
            <a:r>
              <a:rPr lang="zh-CN" altLang="en-US" dirty="0">
                <a:solidFill>
                  <a:srgbClr val="A50021"/>
                </a:solidFill>
                <a:cs typeface="Arial" panose="020B0604020202020204" pitchFamily="34" charset="0"/>
              </a:rPr>
              <a:t>Secondary Keyword</a:t>
            </a:r>
            <a:r>
              <a:rPr lang="en-US" altLang="zh-CN" dirty="0">
                <a:cs typeface="Arial" panose="020B0604020202020204" pitchFamily="34" charset="0"/>
              </a:rPr>
              <a:t>: Conversely, a keyword used to identify several records is a secondary keyword.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Search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600" dirty="0">
                <a:cs typeface="Arial" panose="020B0604020202020204" pitchFamily="34" charset="0"/>
              </a:rPr>
              <a:t>According to a given value, determine a data element or record in the search table whose </a:t>
            </a:r>
            <a:r>
              <a:rPr lang="zh-CN" altLang="en-US" sz="2600" dirty="0">
                <a:solidFill>
                  <a:srgbClr val="0000FF"/>
                </a:solidFill>
                <a:cs typeface="Arial" panose="020B0604020202020204" pitchFamily="34" charset="0"/>
              </a:rPr>
              <a:t>keyword</a:t>
            </a:r>
            <a:r>
              <a:rPr lang="en-US" altLang="zh-CN" sz="2600" dirty="0">
                <a:cs typeface="Arial" panose="020B0604020202020204" pitchFamily="34" charset="0"/>
              </a:rPr>
              <a:t> is equal to the </a:t>
            </a:r>
            <a:r>
              <a:rPr lang="zh-CN" altLang="en-US" sz="2600" dirty="0">
                <a:solidFill>
                  <a:srgbClr val="0000FF"/>
                </a:solidFill>
                <a:cs typeface="Arial" panose="020B0604020202020204" pitchFamily="34" charset="0"/>
              </a:rPr>
              <a:t>given value</a:t>
            </a:r>
            <a:r>
              <a:rPr lang="en-US" altLang="zh-CN" sz="2600" dirty="0">
                <a:cs typeface="Arial" panose="020B0604020202020204" pitchFamily="34" charset="0"/>
              </a:rPr>
              <a:t>.</a:t>
            </a:r>
          </a:p>
          <a:p>
            <a:r>
              <a:rPr lang="en-US" altLang="zh-CN" sz="2600" dirty="0">
                <a:cs typeface="Arial" panose="020B0604020202020204" pitchFamily="34" charset="0"/>
              </a:rPr>
              <a:t>If such a record exists in the search table, it is called a "</a:t>
            </a:r>
            <a:r>
              <a:rPr lang="zh-CN" altLang="en-US" sz="2600" dirty="0">
                <a:solidFill>
                  <a:srgbClr val="0000FF"/>
                </a:solidFill>
                <a:cs typeface="Arial" panose="020B0604020202020204" pitchFamily="34" charset="0"/>
              </a:rPr>
              <a:t>successful search</a:t>
            </a:r>
            <a:r>
              <a:rPr lang="en-US" altLang="zh-CN" sz="2600" dirty="0">
                <a:cs typeface="Arial" panose="020B0604020202020204" pitchFamily="34" charset="0"/>
              </a:rPr>
              <a:t>". The search result provides the information of the </a:t>
            </a:r>
            <a:r>
              <a:rPr lang="zh-CN" altLang="en-US" sz="2600" dirty="0">
                <a:solidFill>
                  <a:srgbClr val="0000FF"/>
                </a:solidFill>
                <a:cs typeface="Arial" panose="020B0604020202020204" pitchFamily="34" charset="0"/>
              </a:rPr>
              <a:t>entire record</a:t>
            </a:r>
            <a:r>
              <a:rPr lang="en-US" altLang="zh-CN" sz="2600" dirty="0">
                <a:cs typeface="Arial" panose="020B0604020202020204" pitchFamily="34" charset="0"/>
              </a:rPr>
              <a:t> or indicates the </a:t>
            </a:r>
            <a:r>
              <a:rPr lang="zh-CN" altLang="en-US" sz="2600" dirty="0">
                <a:solidFill>
                  <a:srgbClr val="0000FF"/>
                </a:solidFill>
                <a:cs typeface="Arial" panose="020B0604020202020204" pitchFamily="34" charset="0"/>
              </a:rPr>
              <a:t>position</a:t>
            </a:r>
            <a:r>
              <a:rPr lang="en-US" altLang="zh-CN" sz="2600" dirty="0">
                <a:cs typeface="Arial" panose="020B0604020202020204" pitchFamily="34" charset="0"/>
              </a:rPr>
              <a:t> of the record in the search table.</a:t>
            </a:r>
          </a:p>
          <a:p>
            <a:r>
              <a:rPr lang="en-US" altLang="zh-CN" sz="2600" dirty="0">
                <a:cs typeface="Arial" panose="020B0604020202020204" pitchFamily="34" charset="0"/>
              </a:rPr>
              <a:t>Otherwise, it is called an "</a:t>
            </a:r>
            <a:r>
              <a:rPr lang="zh-CN" altLang="en-US" sz="2600" dirty="0">
                <a:solidFill>
                  <a:srgbClr val="0000FF"/>
                </a:solidFill>
                <a:cs typeface="Arial" panose="020B0604020202020204" pitchFamily="34" charset="0"/>
              </a:rPr>
              <a:t>unsuccessful search</a:t>
            </a:r>
            <a:r>
              <a:rPr lang="en-US" altLang="zh-CN" sz="2600" dirty="0">
                <a:cs typeface="Arial" panose="020B0604020202020204" pitchFamily="34" charset="0"/>
              </a:rPr>
              <a:t>". The search result </a:t>
            </a:r>
            <a:r>
              <a:rPr lang="zh-CN" altLang="en-US" sz="2600" dirty="0">
                <a:solidFill>
                  <a:srgbClr val="0000FF"/>
                </a:solidFill>
                <a:cs typeface="Arial" panose="020B0604020202020204" pitchFamily="34" charset="0"/>
              </a:rPr>
              <a:t>provides a "null record" or a "null pointer".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Perform Search?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010" y="909608"/>
            <a:ext cx="8640960" cy="5256584"/>
          </a:xfrm>
        </p:spPr>
        <p:txBody>
          <a:bodyPr/>
          <a:lstStyle/>
          <a:p>
            <a:r>
              <a:rPr lang="zh-CN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The search method depends on the structure of the search table</a:t>
            </a:r>
            <a:r>
              <a:rPr lang="en-US" altLang="zh-CN" sz="2400" dirty="0">
                <a:cs typeface="Arial" panose="020B0604020202020204" pitchFamily="34" charset="0"/>
              </a:rPr>
              <a:t>, i.e., the relationship by which the data elements in the table are organized.</a:t>
            </a:r>
          </a:p>
          <a:p>
            <a:r>
              <a:rPr lang="en-US" altLang="zh-CN" sz="2400" dirty="0">
                <a:cs typeface="Arial" panose="020B0604020202020204" pitchFamily="34" charset="0"/>
              </a:rPr>
              <a:t>Since there is no obvious organizational rule among the data elements in the search table, it is not convenient to perform search.</a:t>
            </a:r>
          </a:p>
          <a:p>
            <a:r>
              <a:rPr lang="en-US" altLang="zh-CN" sz="2400" dirty="0">
                <a:cs typeface="Arial" panose="020B0604020202020204" pitchFamily="34" charset="0"/>
              </a:rPr>
              <a:t>To improve search efficiency, it is necessary to artificially add some definite relationship among the elements in the search table. In other words, </a:t>
            </a:r>
            <a:r>
              <a:rPr lang="zh-CN" altLang="zh-CN" sz="2400" b="1" dirty="0">
                <a:solidFill>
                  <a:schemeClr val="tx1"/>
                </a:solidFill>
                <a:effectLst/>
                <a:ea typeface="楷体_GB2312" pitchFamily="49" charset="-122"/>
                <a:cs typeface="Arial" panose="020B0604020202020204" pitchFamily="34" charset="0"/>
              </a:rPr>
              <a:t>represent the search table with another structure</a:t>
            </a:r>
            <a:r>
              <a:rPr lang="en-US" altLang="zh-CN" sz="2400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</a:rPr>
              <a:t>Main Contents of This Chapter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楷体_GB2312" pitchFamily="49" charset="-122"/>
                <a:cs typeface="Arial" panose="020B0604020202020204" pitchFamily="34" charset="0"/>
              </a:rPr>
              <a:t>Basic Concepts of Search Algorithms</a:t>
            </a:r>
          </a:p>
          <a:p>
            <a:pPr>
              <a:lnSpc>
                <a:spcPts val="3600"/>
              </a:lnSpc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Static Search Tables (Creation and Search)</a:t>
            </a:r>
            <a:endParaRPr lang="en-US" altLang="zh-CN" dirty="0">
              <a:cs typeface="Arial" panose="020B0604020202020204" pitchFamily="34" charset="0"/>
            </a:endParaRPr>
          </a:p>
          <a:p>
            <a:pPr lvl="1"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Sequential Table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Sorted Table</a:t>
            </a:r>
          </a:p>
          <a:p>
            <a:pPr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Dynamic Search Tables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Binary Search Tree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616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776864" cy="720080"/>
          </a:xfrm>
        </p:spPr>
        <p:txBody>
          <a:bodyPr/>
          <a:lstStyle/>
          <a:p>
            <a:r>
              <a:rPr lang="en-US" altLang="zh-CN" sz="3600" dirty="0"/>
              <a:t>Definition of Static Search Table (Abstract Data Type)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489654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ADT </a:t>
            </a:r>
            <a:r>
              <a:rPr lang="en-US" altLang="zh-CN" dirty="0" err="1"/>
              <a:t>StaticSearchTable</a:t>
            </a:r>
            <a:r>
              <a:rPr lang="en-US" altLang="zh-CN" dirty="0"/>
              <a:t>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990033"/>
                </a:solidFill>
              </a:rPr>
              <a:t>    (1) Data Object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990033"/>
                </a:solidFill>
              </a:rPr>
              <a:t>    (2) Data Relationship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990033"/>
                </a:solidFill>
              </a:rPr>
              <a:t>    (3) Basic Operations</a:t>
            </a:r>
          </a:p>
          <a:p>
            <a:pPr marL="360045" marR="0" lvl="0" indent="-360045" algn="l" defTabSz="914400" rtl="0" eaLnBrk="1" fontAlgn="base" latinLnBrk="0" hangingPunct="1">
              <a:lnSpc>
                <a:spcPts val="42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en-US" altLang="zh-CN" sz="3200" b="1" i="0" baseline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楷体_GB2312" pitchFamily="49" charset="-122"/>
                <a:cs typeface="+mn-cs"/>
              </a:rPr>
              <a:t>} ADT </a:t>
            </a:r>
            <a:r>
              <a:rPr kumimoji="1" lang="en-US" altLang="zh-CN" sz="3200" b="1" i="0" baseline="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楷体_GB2312" pitchFamily="49" charset="-122"/>
                <a:cs typeface="+mn-cs"/>
              </a:rPr>
              <a:t>StaticSearchTable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848872" cy="720080"/>
          </a:xfrm>
        </p:spPr>
        <p:txBody>
          <a:bodyPr/>
          <a:lstStyle/>
          <a:p>
            <a:r>
              <a:rPr lang="en-US" altLang="zh-CN" sz="3600">
                <a:sym typeface="+mn-ea"/>
              </a:rPr>
              <a:t>Definition of Static Search Table (Abstract Data Type)</a:t>
            </a:r>
            <a:endParaRPr lang="en-US" altLang="zh-CN" sz="3600" dirty="0">
              <a:sym typeface="+mn-ea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760413" y="1260475"/>
            <a:ext cx="193167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990033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data object D：</a:t>
            </a:r>
            <a:endParaRPr lang="zh-CN" altLang="en-US" sz="2000" b="0" dirty="0">
              <a:solidFill>
                <a:srgbClr val="990033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62000" y="2936875"/>
            <a:ext cx="251015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990033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Data Relationship R: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124200" y="1260475"/>
            <a:ext cx="5562600" cy="178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 is a collection of data elements with identical characteristics. Each element contains a unique identifier key of the same type.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124200" y="2936875"/>
            <a:ext cx="540004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Data elements belong to the same set.</a:t>
            </a:r>
          </a:p>
        </p:txBody>
      </p:sp>
      <p:sp>
        <p:nvSpPr>
          <p:cNvPr id="10" name="Text Box 7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3124200" y="3622675"/>
            <a:ext cx="3879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 b="0" dirty="0">
                <a:solidFill>
                  <a:srgbClr val="0000FF"/>
                </a:solidFill>
                <a:ea typeface="楷体_GB2312" pitchFamily="49" charset="-122"/>
              </a:rPr>
              <a:t>Create(&amp;ST, n);</a:t>
            </a:r>
            <a:endParaRPr lang="en-US" altLang="zh-CN" sz="3200" b="0" dirty="0"/>
          </a:p>
        </p:txBody>
      </p:sp>
      <p:sp>
        <p:nvSpPr>
          <p:cNvPr id="11" name="Text Box 8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3181350" y="4210050"/>
            <a:ext cx="26654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 dirty="0">
                <a:solidFill>
                  <a:srgbClr val="0000FF"/>
                </a:solidFill>
                <a:ea typeface="楷体_GB2312" pitchFamily="49" charset="-122"/>
              </a:rPr>
              <a:t>Destroy(&amp;ST);</a:t>
            </a:r>
            <a:endParaRPr lang="en-US" altLang="zh-CN" sz="1800" b="0" dirty="0"/>
          </a:p>
        </p:txBody>
      </p:sp>
      <p:sp>
        <p:nvSpPr>
          <p:cNvPr id="12" name="Text Box 9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3200400" y="4800600"/>
            <a:ext cx="293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 dirty="0">
                <a:solidFill>
                  <a:srgbClr val="0000FF"/>
                </a:solidFill>
                <a:ea typeface="楷体_GB2312" pitchFamily="49" charset="-122"/>
              </a:rPr>
              <a:t>Search(ST, key);</a:t>
            </a:r>
            <a:endParaRPr lang="en-US" altLang="zh-CN" sz="1800" b="0" dirty="0"/>
          </a:p>
        </p:txBody>
      </p:sp>
      <p:sp>
        <p:nvSpPr>
          <p:cNvPr id="13" name="Text Box 10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3162300" y="5391150"/>
            <a:ext cx="37258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 dirty="0">
                <a:solidFill>
                  <a:srgbClr val="0000FF"/>
                </a:solidFill>
                <a:ea typeface="楷体_GB2312" pitchFamily="49" charset="-122"/>
              </a:rPr>
              <a:t>Traverse(ST, Visit());</a:t>
            </a:r>
            <a:endParaRPr lang="en-US" altLang="zh-CN" sz="1800" b="0" dirty="0"/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762000" y="3622675"/>
            <a:ext cx="239712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990033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basic operation P：</a:t>
            </a:r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Operations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Create(&amp;ST, n)</a:t>
            </a:r>
            <a:r>
              <a:rPr lang="zh-CN" altLang="en-US" sz="2000" dirty="0"/>
              <a:t>：</a:t>
            </a:r>
            <a:r>
              <a:rPr lang="zh-CN" altLang="en-US" sz="2000" b="0" dirty="0">
                <a:solidFill>
                  <a:srgbClr val="990033"/>
                </a:solidFill>
              </a:rPr>
              <a:t>Operation Result</a:t>
            </a:r>
            <a:r>
              <a:rPr lang="en-US" altLang="zh-CN" sz="2000" b="0" dirty="0"/>
              <a:t>: Construct a static search table ST containing n data elements.</a:t>
            </a:r>
          </a:p>
          <a:p>
            <a:pPr>
              <a:lnSpc>
                <a:spcPts val="3000"/>
              </a:lnSpc>
            </a:pPr>
            <a:r>
              <a:rPr lang="en-US" altLang="zh-CN" sz="2000" dirty="0"/>
              <a:t>Destroy(&amp;ST)</a:t>
            </a:r>
            <a:r>
              <a:rPr lang="zh-CN" altLang="en-US" sz="2000" dirty="0"/>
              <a:t>：</a:t>
            </a:r>
            <a:r>
              <a:rPr lang="zh-CN" altLang="en-US" sz="2000" b="0" dirty="0">
                <a:solidFill>
                  <a:srgbClr val="990033"/>
                </a:solidFill>
              </a:rPr>
              <a:t>Precondition</a:t>
            </a:r>
            <a:r>
              <a:rPr lang="en-US" altLang="zh-CN" sz="2000" b="0" dirty="0"/>
              <a:t>: The static search table ST exists</a:t>
            </a:r>
            <a:r>
              <a:rPr lang="zh-CN" altLang="en-US" sz="2000" b="0" dirty="0">
                <a:solidFill>
                  <a:srgbClr val="990033"/>
                </a:solidFill>
              </a:rPr>
              <a:t>.Operation Result</a:t>
            </a:r>
            <a:r>
              <a:rPr lang="en-US" altLang="zh-CN" sz="2000" b="0" dirty="0"/>
              <a:t>: Destroy the table ST.</a:t>
            </a:r>
          </a:p>
          <a:p>
            <a:pPr>
              <a:lnSpc>
                <a:spcPts val="3000"/>
              </a:lnSpc>
            </a:pPr>
            <a:r>
              <a:rPr lang="en-US" altLang="zh-CN" sz="2000" dirty="0"/>
              <a:t>Search(ST, key)</a:t>
            </a:r>
            <a:r>
              <a:rPr lang="zh-CN" altLang="en-US" sz="2000" dirty="0"/>
              <a:t>：</a:t>
            </a:r>
            <a:r>
              <a:rPr lang="zh-CN" altLang="en-US" sz="2000" b="0" dirty="0">
                <a:solidFill>
                  <a:srgbClr val="990033"/>
                </a:solidFill>
              </a:rPr>
              <a:t>Precondition</a:t>
            </a:r>
            <a:r>
              <a:rPr lang="en-US" altLang="zh-CN" sz="2000" b="0" dirty="0"/>
              <a:t>: The static search table ST exists, and key is a given value of the same type as the keywords of the elements in the search table.</a:t>
            </a:r>
            <a:r>
              <a:rPr lang="zh-CN" altLang="en-US" sz="2000" b="0" dirty="0">
                <a:solidFill>
                  <a:srgbClr val="990033"/>
                </a:solidFill>
              </a:rPr>
              <a:t>Operation Result:</a:t>
            </a:r>
            <a:r>
              <a:rPr lang="en-US" altLang="zh-CN" sz="2000" b="0" dirty="0"/>
              <a:t> If there is a data element in ST whose keyword is equal to key, the function returns the value of the element or its position in the table; otherwise, it returns "null".</a:t>
            </a:r>
            <a:r>
              <a:rPr lang="zh-CN" altLang="en-US" sz="2000" b="0" dirty="0"/>
              <a:t> </a:t>
            </a:r>
            <a:endParaRPr lang="en-US" altLang="zh-CN" sz="2000" b="0" dirty="0"/>
          </a:p>
          <a:p>
            <a:pPr>
              <a:lnSpc>
                <a:spcPts val="3000"/>
              </a:lnSpc>
            </a:pPr>
            <a:r>
              <a:rPr lang="en-US" altLang="zh-CN" sz="2000" dirty="0"/>
              <a:t>Traverse(ST, Visit())</a:t>
            </a:r>
            <a:r>
              <a:rPr lang="zh-CN" altLang="en-US" sz="2000" dirty="0"/>
              <a:t>：</a:t>
            </a:r>
            <a:r>
              <a:rPr lang="zh-CN" altLang="en-US" sz="2000" dirty="0">
                <a:solidFill>
                  <a:srgbClr val="990033"/>
                </a:solidFill>
              </a:rPr>
              <a:t>Precondition</a:t>
            </a:r>
            <a:r>
              <a:rPr lang="en-US" altLang="zh-CN" sz="2000" dirty="0"/>
              <a:t>: The static search table ST exists, and Visit is an application function for operating on elements.</a:t>
            </a:r>
            <a:r>
              <a:rPr lang="zh-CN" altLang="en-US" sz="2000" dirty="0">
                <a:solidFill>
                  <a:srgbClr val="990033"/>
                </a:solidFill>
              </a:rPr>
              <a:t>Operation Result</a:t>
            </a:r>
            <a:r>
              <a:rPr lang="en-US" altLang="zh-CN" sz="2000" dirty="0"/>
              <a:t>: Call the function Visit() on each element of ST exactly once in a certain order. If Visit() fails at any point, the operation fails.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Sequential Storage Structure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0" dirty="0"/>
              <a:t>Assume the </a:t>
            </a:r>
            <a:r>
              <a:rPr lang="zh-CN" altLang="en-US" sz="1800" b="0" dirty="0">
                <a:solidFill>
                  <a:srgbClr val="990033"/>
                </a:solidFill>
              </a:rPr>
              <a:t>sequential storage structure</a:t>
            </a:r>
            <a:r>
              <a:rPr lang="en-US" altLang="zh-CN" sz="1800" b="0" dirty="0"/>
              <a:t> of a static search table is defined as</a:t>
            </a:r>
          </a:p>
          <a:p>
            <a:pPr marL="0" indent="0">
              <a:buNone/>
            </a:pPr>
            <a:endParaRPr lang="en-US" altLang="zh-CN" sz="1800" b="0" dirty="0"/>
          </a:p>
          <a:p>
            <a:endParaRPr lang="en-US" altLang="zh-CN" sz="2800" b="0" dirty="0"/>
          </a:p>
          <a:p>
            <a:endParaRPr lang="en-US" altLang="zh-CN" sz="2800" b="0" dirty="0"/>
          </a:p>
          <a:p>
            <a:endParaRPr lang="en-US" altLang="zh-CN" sz="2800" b="0" dirty="0"/>
          </a:p>
          <a:p>
            <a:r>
              <a:rPr lang="en-US" altLang="zh-CN" sz="2800" dirty="0"/>
              <a:t>The definition of the data element type is: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51460" y="1557020"/>
            <a:ext cx="900430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 err="1">
                <a:ea typeface="楷体_GB2312" pitchFamily="49" charset="-122"/>
              </a:rPr>
              <a:t>typedef</a:t>
            </a:r>
            <a:r>
              <a:rPr lang="en-US" altLang="zh-CN" dirty="0">
                <a:ea typeface="楷体_GB2312" pitchFamily="49" charset="-122"/>
              </a:rPr>
              <a:t>  </a:t>
            </a:r>
            <a:r>
              <a:rPr lang="en-US" altLang="zh-CN" dirty="0" err="1">
                <a:ea typeface="楷体_GB2312" pitchFamily="49" charset="-122"/>
              </a:rPr>
              <a:t>struct</a:t>
            </a:r>
            <a:r>
              <a:rPr lang="en-US" altLang="zh-CN" dirty="0">
                <a:ea typeface="楷体_GB2312" pitchFamily="49" charset="-122"/>
              </a:rPr>
              <a:t> {</a:t>
            </a:r>
            <a:endParaRPr lang="en-US" altLang="zh-CN" b="0" dirty="0">
              <a:ea typeface="楷体_GB2312" pitchFamily="49" charset="-122"/>
            </a:endParaRPr>
          </a:p>
          <a:p>
            <a:pPr lvl="0"/>
            <a:r>
              <a:rPr lang="en-US" altLang="zh-CN" b="0" dirty="0">
                <a:ea typeface="楷体_GB2312" pitchFamily="49" charset="-122"/>
              </a:rPr>
              <a:t>   </a:t>
            </a:r>
            <a:r>
              <a:rPr lang="en-US" altLang="zh-CN" dirty="0">
                <a:solidFill>
                  <a:srgbClr val="006600"/>
                </a:solidFill>
                <a:ea typeface="楷体_GB2312" pitchFamily="49" charset="-122"/>
              </a:rPr>
              <a:t>  </a:t>
            </a:r>
            <a:r>
              <a:rPr lang="en-US" altLang="zh-CN" dirty="0" err="1">
                <a:solidFill>
                  <a:srgbClr val="000000"/>
                </a:solidFill>
                <a:ea typeface="楷体_GB2312" pitchFamily="49" charset="-122"/>
              </a:rPr>
              <a:t>ElemType</a:t>
            </a: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 *</a:t>
            </a:r>
            <a:r>
              <a:rPr lang="en-US" altLang="zh-CN" dirty="0" err="1">
                <a:solidFill>
                  <a:srgbClr val="000000"/>
                </a:solidFill>
                <a:ea typeface="楷体_GB2312" pitchFamily="49" charset="-122"/>
              </a:rPr>
              <a:t>elem</a:t>
            </a: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;  </a:t>
            </a:r>
            <a:r>
              <a:rPr lang="en-US" altLang="zh-CN" b="1" dirty="0">
                <a:solidFill>
                  <a:srgbClr val="660033"/>
                </a:solidFill>
                <a:ea typeface="楷体_GB2312" pitchFamily="49" charset="-122"/>
              </a:rPr>
              <a:t>//</a:t>
            </a:r>
            <a:r>
              <a:rPr lang="en-US" altLang="zh-CN" sz="1800" b="1" dirty="0">
                <a:solidFill>
                  <a:srgbClr val="660033"/>
                </a:solidFill>
                <a:ea typeface="楷体_GB2312" pitchFamily="49" charset="-122"/>
              </a:rPr>
              <a:t>Base address of the data element storage space, //allocated according to the actual length when building the table, with unit 0 left empty</a:t>
            </a:r>
            <a:r>
              <a:rPr lang="zh-CN" altLang="en-US" sz="1800" b="1" dirty="0">
                <a:solidFill>
                  <a:srgbClr val="660033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660033"/>
                </a:solidFill>
                <a:ea typeface="楷体_GB2312" pitchFamily="49" charset="-122"/>
              </a:rPr>
              <a:t>                                        </a:t>
            </a:r>
          </a:p>
          <a:p>
            <a:r>
              <a:rPr lang="zh-CN" altLang="en-US" b="1" dirty="0">
                <a:ea typeface="楷体_GB2312" pitchFamily="49" charset="-122"/>
              </a:rPr>
              <a:t>     </a:t>
            </a:r>
            <a:r>
              <a:rPr lang="en-US" altLang="zh-CN" dirty="0" err="1">
                <a:ea typeface="楷体_GB2312" pitchFamily="49" charset="-122"/>
              </a:rPr>
              <a:t>int</a:t>
            </a:r>
            <a:r>
              <a:rPr lang="en-US" altLang="zh-CN" dirty="0">
                <a:ea typeface="楷体_GB2312" pitchFamily="49" charset="-122"/>
              </a:rPr>
              <a:t>  length;             </a:t>
            </a:r>
            <a:r>
              <a:rPr lang="en-US" altLang="zh-CN" b="1" dirty="0">
                <a:solidFill>
                  <a:srgbClr val="660033"/>
                </a:solidFill>
                <a:ea typeface="楷体_GB2312" pitchFamily="49" charset="-122"/>
              </a:rPr>
              <a:t>// Length of the table</a:t>
            </a:r>
          </a:p>
          <a:p>
            <a:r>
              <a:rPr lang="en-US" altLang="zh-CN" dirty="0">
                <a:ea typeface="楷体_GB2312" pitchFamily="49" charset="-122"/>
              </a:rPr>
              <a:t>}</a:t>
            </a:r>
            <a:r>
              <a:rPr lang="en-US" altLang="zh-CN" b="0" dirty="0">
                <a:ea typeface="楷体_GB2312" pitchFamily="49" charset="-122"/>
              </a:rPr>
              <a:t> </a:t>
            </a:r>
            <a:r>
              <a:rPr lang="en-US" altLang="zh-CN" b="0" dirty="0" err="1">
                <a:ea typeface="楷体_GB2312" pitchFamily="49" charset="-122"/>
              </a:rPr>
              <a:t>SSTable</a:t>
            </a:r>
            <a:r>
              <a:rPr lang="en-US" altLang="zh-CN" b="0" dirty="0">
                <a:ea typeface="楷体_GB2312" pitchFamily="49" charset="-122"/>
              </a:rPr>
              <a:t>;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27584" y="4509120"/>
            <a:ext cx="7160895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altLang="zh-CN" sz="3200" dirty="0" err="1"/>
              <a:t>typedef</a:t>
            </a:r>
            <a:r>
              <a:rPr lang="en-US" altLang="zh-CN" sz="3200" dirty="0"/>
              <a:t> </a:t>
            </a:r>
            <a:r>
              <a:rPr lang="en-US" altLang="zh-CN" sz="3200" dirty="0" err="1"/>
              <a:t>struct</a:t>
            </a:r>
            <a:r>
              <a:rPr lang="en-US" altLang="zh-CN" sz="3200" dirty="0"/>
              <a:t> {</a:t>
            </a:r>
            <a:endParaRPr lang="en-US" altLang="zh-CN" sz="3200" b="0" dirty="0"/>
          </a:p>
          <a:p>
            <a:pPr algn="l">
              <a:lnSpc>
                <a:spcPts val="3600"/>
              </a:lnSpc>
            </a:pPr>
            <a:r>
              <a:rPr lang="en-US" altLang="zh-CN" sz="3200" b="0" dirty="0"/>
              <a:t>    </a:t>
            </a:r>
            <a:r>
              <a:rPr lang="en-US" altLang="zh-CN" sz="3200" b="0" dirty="0" err="1"/>
              <a:t>keyType</a:t>
            </a:r>
            <a:r>
              <a:rPr lang="en-US" altLang="zh-CN" sz="3200" b="0" dirty="0"/>
              <a:t>  key;</a:t>
            </a:r>
            <a:r>
              <a:rPr lang="en-US" altLang="zh-CN" sz="4000" b="0" dirty="0"/>
              <a:t>          </a:t>
            </a:r>
            <a:r>
              <a:rPr lang="en-US" altLang="zh-CN" sz="2400" b="1" dirty="0">
                <a:solidFill>
                  <a:srgbClr val="660033"/>
                </a:solidFill>
                <a:ea typeface="楷体_GB2312" pitchFamily="49" charset="-122"/>
              </a:rPr>
              <a:t>// Keyword field</a:t>
            </a:r>
          </a:p>
          <a:p>
            <a:pPr algn="l">
              <a:lnSpc>
                <a:spcPts val="3600"/>
              </a:lnSpc>
            </a:pPr>
            <a:r>
              <a:rPr lang="en-US" altLang="en-US" sz="4000" b="0" dirty="0"/>
              <a:t>       </a:t>
            </a:r>
            <a:r>
              <a:rPr lang="en-US" altLang="en-US" sz="3200" dirty="0"/>
              <a:t>… …</a:t>
            </a:r>
            <a:r>
              <a:rPr lang="en-US" altLang="en-US" sz="4000" dirty="0"/>
              <a:t> </a:t>
            </a:r>
            <a:r>
              <a:rPr lang="en-US" altLang="en-US" sz="4000" b="0" dirty="0"/>
              <a:t>                </a:t>
            </a:r>
            <a:r>
              <a:rPr lang="en-US" altLang="zh-CN" sz="2400" b="1" dirty="0">
                <a:solidFill>
                  <a:srgbClr val="660033"/>
                </a:solidFill>
                <a:ea typeface="楷体_GB2312" pitchFamily="49" charset="-122"/>
              </a:rPr>
              <a:t>// Other attribute fields</a:t>
            </a:r>
          </a:p>
          <a:p>
            <a:pPr algn="l">
              <a:lnSpc>
                <a:spcPts val="3600"/>
              </a:lnSpc>
            </a:pPr>
            <a:r>
              <a:rPr lang="en-US" altLang="en-US" sz="3200" dirty="0"/>
              <a:t>}</a:t>
            </a:r>
            <a:r>
              <a:rPr lang="en-US" altLang="en-US" sz="3200" b="0" dirty="0"/>
              <a:t> </a:t>
            </a:r>
            <a:r>
              <a:rPr lang="en-US" altLang="zh-CN" sz="3200" b="0" dirty="0" err="1"/>
              <a:t>ElemType</a:t>
            </a:r>
            <a:r>
              <a:rPr lang="en-US" altLang="zh-CN" sz="4000" b="0" dirty="0"/>
              <a:t> ;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848872" cy="720080"/>
          </a:xfrm>
        </p:spPr>
        <p:txBody>
          <a:bodyPr/>
          <a:lstStyle/>
          <a:p>
            <a:r>
              <a:rPr lang="en-US" altLang="zh-CN" sz="3200" dirty="0"/>
              <a:t>Macro Definitions (Conventions for Comparing Two Keywords)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600"/>
              </a:lnSpc>
              <a:spcBef>
                <a:spcPts val="600"/>
              </a:spcBef>
            </a:pPr>
            <a:r>
              <a:rPr lang="en-US" altLang="zh-CN" sz="4000" dirty="0"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000099"/>
                </a:solidFill>
                <a:cs typeface="Arial" panose="020B0604020202020204" pitchFamily="34" charset="0"/>
              </a:rPr>
              <a:t>For Numeric Keywords</a:t>
            </a:r>
          </a:p>
          <a:p>
            <a:pPr lvl="1">
              <a:lnSpc>
                <a:spcPts val="3600"/>
              </a:lnSpc>
              <a:spcBef>
                <a:spcPts val="600"/>
              </a:spcBef>
            </a:pPr>
            <a:r>
              <a:rPr lang="en-US" altLang="zh-CN" dirty="0">
                <a:cs typeface="Arial" panose="020B0604020202020204" pitchFamily="34" charset="0"/>
              </a:rPr>
              <a:t>#define   EQ(a, b)     ((a)= = (b))</a:t>
            </a:r>
          </a:p>
          <a:p>
            <a:pPr lvl="1">
              <a:lnSpc>
                <a:spcPts val="3600"/>
              </a:lnSpc>
              <a:spcBef>
                <a:spcPts val="600"/>
              </a:spcBef>
            </a:pPr>
            <a:r>
              <a:rPr lang="en-US" altLang="zh-CN" dirty="0">
                <a:cs typeface="Arial" panose="020B0604020202020204" pitchFamily="34" charset="0"/>
              </a:rPr>
              <a:t>#define   LT(a, b)      ((a)  &lt;   (b))</a:t>
            </a:r>
          </a:p>
          <a:p>
            <a:pPr lvl="1">
              <a:lnSpc>
                <a:spcPts val="3600"/>
              </a:lnSpc>
              <a:spcBef>
                <a:spcPts val="600"/>
              </a:spcBef>
            </a:pPr>
            <a:r>
              <a:rPr lang="en-US" altLang="zh-CN" dirty="0">
                <a:cs typeface="Arial" panose="020B0604020202020204" pitchFamily="34" charset="0"/>
              </a:rPr>
              <a:t>#define   LQ(a, b)     ((a) &lt; = (b))</a:t>
            </a:r>
          </a:p>
          <a:p>
            <a:pPr>
              <a:lnSpc>
                <a:spcPts val="3600"/>
              </a:lnSpc>
              <a:spcBef>
                <a:spcPts val="600"/>
              </a:spcBef>
            </a:pPr>
            <a:r>
              <a:rPr lang="en-US" altLang="zh-CN" dirty="0"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000099"/>
                </a:solidFill>
                <a:cs typeface="Arial" panose="020B0604020202020204" pitchFamily="34" charset="0"/>
              </a:rPr>
              <a:t>For String-Type Keywords</a:t>
            </a:r>
          </a:p>
          <a:p>
            <a:pPr lvl="1">
              <a:lnSpc>
                <a:spcPts val="3600"/>
              </a:lnSpc>
              <a:spcBef>
                <a:spcPts val="600"/>
              </a:spcBef>
            </a:pPr>
            <a:r>
              <a:rPr lang="zh-CN" altLang="en-US" dirty="0">
                <a:cs typeface="Arial" panose="020B0604020202020204" pitchFamily="34" charset="0"/>
              </a:rPr>
              <a:t> </a:t>
            </a:r>
            <a:r>
              <a:rPr lang="en-US" altLang="zh-CN" dirty="0">
                <a:cs typeface="Arial" panose="020B0604020202020204" pitchFamily="34" charset="0"/>
              </a:rPr>
              <a:t>#define   EQ(a, b)   (! </a:t>
            </a:r>
            <a:r>
              <a:rPr lang="en-US" altLang="zh-CN" dirty="0" err="1">
                <a:cs typeface="Arial" panose="020B0604020202020204" pitchFamily="34" charset="0"/>
              </a:rPr>
              <a:t>strcmp</a:t>
            </a:r>
            <a:r>
              <a:rPr lang="en-US" altLang="zh-CN" dirty="0">
                <a:cs typeface="Arial" panose="020B0604020202020204" pitchFamily="34" charset="0"/>
              </a:rPr>
              <a:t>((a) , (b)))</a:t>
            </a:r>
          </a:p>
          <a:p>
            <a:pPr lvl="1">
              <a:lnSpc>
                <a:spcPts val="3600"/>
              </a:lnSpc>
              <a:spcBef>
                <a:spcPts val="600"/>
              </a:spcBef>
            </a:pPr>
            <a:r>
              <a:rPr lang="en-US" altLang="zh-CN" dirty="0">
                <a:cs typeface="Arial" panose="020B0604020202020204" pitchFamily="34" charset="0"/>
              </a:rPr>
              <a:t> #define   LT(a, b)    (</a:t>
            </a:r>
            <a:r>
              <a:rPr lang="en-US" altLang="zh-CN" dirty="0" err="1">
                <a:cs typeface="Arial" panose="020B0604020202020204" pitchFamily="34" charset="0"/>
              </a:rPr>
              <a:t>strcmp</a:t>
            </a:r>
            <a:r>
              <a:rPr lang="en-US" altLang="zh-CN" dirty="0">
                <a:cs typeface="Arial" panose="020B0604020202020204" pitchFamily="34" charset="0"/>
              </a:rPr>
              <a:t>((a) , (b)) &lt; 0)</a:t>
            </a:r>
          </a:p>
          <a:p>
            <a:pPr lvl="1">
              <a:lnSpc>
                <a:spcPts val="3600"/>
              </a:lnSpc>
              <a:spcBef>
                <a:spcPts val="600"/>
              </a:spcBef>
            </a:pPr>
            <a:r>
              <a:rPr lang="en-US" altLang="zh-CN" dirty="0">
                <a:cs typeface="Arial" panose="020B0604020202020204" pitchFamily="34" charset="0"/>
              </a:rPr>
              <a:t> #define   LQ(a, b)    (</a:t>
            </a:r>
            <a:r>
              <a:rPr lang="en-US" altLang="zh-CN" dirty="0" err="1">
                <a:cs typeface="Arial" panose="020B0604020202020204" pitchFamily="34" charset="0"/>
              </a:rPr>
              <a:t>strcmp</a:t>
            </a:r>
            <a:r>
              <a:rPr lang="en-US" altLang="zh-CN" dirty="0">
                <a:cs typeface="Arial" panose="020B0604020202020204" pitchFamily="34" charset="0"/>
              </a:rPr>
              <a:t>((a) , (b)) &lt;= 0)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hlinkClick r:id="" action="ppaction://hlinkshowjump?jump=nextslide" highlightClick="1"/>
          </p:cNvPr>
          <p:cNvSpPr txBox="1">
            <a:spLocks noChangeArrowheads="1"/>
          </p:cNvSpPr>
          <p:nvPr/>
        </p:nvSpPr>
        <p:spPr bwMode="auto">
          <a:xfrm>
            <a:off x="539750" y="1147464"/>
            <a:ext cx="431927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4400" dirty="0">
                <a:ea typeface="楷体_GB2312" pitchFamily="49" charset="-122"/>
              </a:rPr>
              <a:t>1</a:t>
            </a:r>
            <a:r>
              <a:rPr lang="zh-CN" altLang="en-US" sz="4400" dirty="0">
                <a:ea typeface="楷体_GB2312" pitchFamily="49" charset="-122"/>
              </a:rPr>
              <a:t>、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Sequential Search Table</a:t>
            </a:r>
          </a:p>
        </p:txBody>
      </p:sp>
      <p:sp>
        <p:nvSpPr>
          <p:cNvPr id="17411" name="Text Box 3">
            <a:hlinkClick r:id="rId3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539750" y="2415877"/>
            <a:ext cx="5183505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4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2</a:t>
            </a:r>
            <a:r>
              <a:rPr lang="zh-CN" altLang="en-US" sz="4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、</a:t>
            </a:r>
            <a:r>
              <a:rPr lang="en-US" altLang="zh-CN" sz="3600" b="0">
                <a:latin typeface="Arial" panose="020B0604020202020204" pitchFamily="34" charset="0"/>
                <a:cs typeface="Arial" panose="020B0604020202020204" pitchFamily="34" charset="0"/>
              </a:rPr>
              <a:t>Sorted Search Table</a:t>
            </a:r>
          </a:p>
        </p:txBody>
      </p:sp>
      <p:sp>
        <p:nvSpPr>
          <p:cNvPr id="17412" name="Text Box 4">
            <a:hlinkClick r:id="rId3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539750" y="3770014"/>
            <a:ext cx="645033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4400" dirty="0">
                <a:solidFill>
                  <a:schemeClr val="bg2"/>
                </a:solidFill>
                <a:ea typeface="楷体_GB2312" pitchFamily="49" charset="-122"/>
              </a:rPr>
              <a:t>3</a:t>
            </a:r>
            <a:r>
              <a:rPr lang="zh-CN" altLang="en-US" sz="4400" dirty="0">
                <a:solidFill>
                  <a:schemeClr val="bg2"/>
                </a:solidFill>
                <a:ea typeface="楷体_GB2312" pitchFamily="49" charset="-122"/>
              </a:rPr>
              <a:t>、</a:t>
            </a:r>
            <a:r>
              <a:rPr lang="en-US" altLang="zh-CN" sz="4400" dirty="0">
                <a:solidFill>
                  <a:schemeClr val="bg2"/>
                </a:solidFill>
                <a:ea typeface="楷体_GB2312" pitchFamily="49" charset="-122"/>
              </a:rPr>
              <a:t>Static Search Tree Table</a:t>
            </a:r>
          </a:p>
        </p:txBody>
      </p:sp>
      <p:sp>
        <p:nvSpPr>
          <p:cNvPr id="17413" name="Text Box 5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558800" y="4849514"/>
            <a:ext cx="6174105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4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4</a:t>
            </a:r>
            <a:r>
              <a:rPr lang="zh-CN" altLang="en-US" sz="4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、</a:t>
            </a:r>
            <a:r>
              <a:rPr lang="en-US" altLang="zh-CN" sz="3600" b="0" dirty="0">
                <a:latin typeface="Arial" panose="020B0604020202020204" pitchFamily="34" charset="0"/>
                <a:cs typeface="Arial" panose="020B0604020202020204" pitchFamily="34" charset="0"/>
              </a:rPr>
              <a:t>Indexed Sequential Table</a:t>
            </a:r>
          </a:p>
        </p:txBody>
      </p:sp>
      <p:pic>
        <p:nvPicPr>
          <p:cNvPr id="17414" name="Picture 6" descr="MEETING">
            <a:hlinkClick r:id="rId4" action="ppaction://hlinksldjump" highlightClick="1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966989"/>
            <a:ext cx="2286000" cy="163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5076825" y="1363364"/>
          <a:ext cx="365442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公式" r:id="rId6" imgW="1879600" imgH="431800" progId="Equation.3">
                  <p:embed/>
                </p:oleObj>
              </mc:Choice>
              <mc:Fallback>
                <p:oleObj name="公式" r:id="rId6" imgW="18796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363364"/>
                        <a:ext cx="3654425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3851275" y="3090564"/>
          <a:ext cx="51133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name="公式" r:id="rId8" imgW="3314700" imgH="482600" progId="Equation.3">
                  <p:embed/>
                </p:oleObj>
              </mc:Choice>
              <mc:Fallback>
                <p:oleObj name="公式" r:id="rId8" imgW="33147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090564"/>
                        <a:ext cx="511333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标题 1"/>
          <p:cNvSpPr txBox="1"/>
          <p:nvPr/>
        </p:nvSpPr>
        <p:spPr>
          <a:xfrm>
            <a:off x="323528" y="332656"/>
            <a:ext cx="7525022" cy="72008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baseline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n-US" altLang="zh-CN" kern="0" dirty="0"/>
              <a:t>Static Search Tables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ldLvl="0" animBg="1" autoUpdateAnimBg="0"/>
      <p:bldP spid="17411" grpId="0" bldLvl="0" animBg="1" autoUpdateAnimBg="0"/>
      <p:bldP spid="17412" grpId="0" bldLvl="0" animBg="1" autoUpdateAnimBg="0"/>
      <p:bldP spid="17413" grpId="0" bldLvl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Sequential Search Table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Represent a static search table with a sequential table or a linear linked list.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855663" y="2846388"/>
          <a:ext cx="8188325" cy="172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文档" r:id="rId3" imgW="8187055" imgH="1728470" progId="Word.Document.8">
                  <p:embed/>
                </p:oleObj>
              </mc:Choice>
              <mc:Fallback>
                <p:oleObj name="文档" r:id="rId3" imgW="8187055" imgH="172847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2846388"/>
                        <a:ext cx="8188325" cy="172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90500" y="2298700"/>
            <a:ext cx="1377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 dirty="0" err="1"/>
              <a:t>ST.elem</a:t>
            </a:r>
            <a:endParaRPr lang="en-US" altLang="zh-CN" sz="2400" b="0" dirty="0"/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1720850" y="1927225"/>
            <a:ext cx="0" cy="914400"/>
          </a:xfrm>
          <a:prstGeom prst="line">
            <a:avLst/>
          </a:prstGeom>
          <a:noFill/>
          <a:ln w="12700">
            <a:solidFill>
              <a:srgbClr val="99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5530850" y="1927225"/>
            <a:ext cx="0" cy="914400"/>
          </a:xfrm>
          <a:prstGeom prst="line">
            <a:avLst/>
          </a:prstGeom>
          <a:noFill/>
          <a:ln w="12700">
            <a:solidFill>
              <a:srgbClr val="99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90500" y="332740"/>
            <a:ext cx="8268335" cy="1445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（</a:t>
            </a:r>
            <a:r>
              <a:rPr lang="en-US" altLang="zh-CN" sz="4400" b="1" dirty="0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1</a:t>
            </a:r>
            <a:r>
              <a:rPr lang="zh-CN" altLang="en-US" sz="4400" b="1" dirty="0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）</a:t>
            </a:r>
            <a:r>
              <a:rPr lang="zh-CN" altLang="en-US" sz="4400" b="1" dirty="0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Review the sequential table</a:t>
            </a:r>
            <a:r>
              <a:rPr lang="en-US" altLang="zh-CN" sz="4400" b="1" dirty="0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4400" b="1" dirty="0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search process</a:t>
            </a:r>
            <a:r>
              <a:rPr lang="zh-CN" altLang="en-US" sz="4400" b="1" dirty="0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841375" y="4556125"/>
            <a:ext cx="7544435" cy="1630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4000" b="0">
                <a:ea typeface="楷体_GB2312" pitchFamily="49" charset="-122"/>
              </a:rPr>
              <a:t>Suppose the given value</a:t>
            </a:r>
            <a:r>
              <a:rPr lang="zh-CN" altLang="en-US" sz="4000" b="0">
                <a:ea typeface="楷体_GB2312" pitchFamily="49" charset="-122"/>
              </a:rPr>
              <a:t> </a:t>
            </a:r>
            <a:r>
              <a:rPr lang="en-US" altLang="zh-CN" sz="4000" b="0">
                <a:ea typeface="楷体_GB2312" pitchFamily="49" charset="-122"/>
              </a:rPr>
              <a:t>e=64,</a:t>
            </a:r>
          </a:p>
          <a:p>
            <a:pPr algn="l">
              <a:lnSpc>
                <a:spcPct val="125000"/>
              </a:lnSpc>
            </a:pPr>
            <a:r>
              <a:rPr lang="zh-CN" altLang="en-US" sz="4000">
                <a:ea typeface="楷体_GB2312" pitchFamily="49" charset="-122"/>
                <a:sym typeface="+mn-ea"/>
              </a:rPr>
              <a:t>Require</a:t>
            </a:r>
            <a:r>
              <a:rPr lang="zh-CN" altLang="en-US" sz="4000" b="0">
                <a:ea typeface="楷体_GB2312" pitchFamily="49" charset="-122"/>
              </a:rPr>
              <a:t> </a:t>
            </a:r>
            <a:r>
              <a:rPr lang="en-US" altLang="zh-CN" sz="4000" b="0">
                <a:ea typeface="楷体_GB2312" pitchFamily="49" charset="-122"/>
              </a:rPr>
              <a:t>ST.elem[k] = e, </a:t>
            </a:r>
            <a:r>
              <a:rPr lang="zh-CN" altLang="en-US" sz="4000">
                <a:ea typeface="楷体_GB2312" pitchFamily="49" charset="-122"/>
                <a:sym typeface="+mn-ea"/>
              </a:rPr>
              <a:t> Find</a:t>
            </a:r>
            <a:r>
              <a:rPr lang="en-US" altLang="zh-CN" sz="4000" b="0">
                <a:ea typeface="楷体_GB2312" pitchFamily="49" charset="-122"/>
              </a:rPr>
              <a:t>: k = ?</a:t>
            </a:r>
            <a:endParaRPr lang="en-US" altLang="zh-CN" sz="2400" b="0">
              <a:ea typeface="楷体_GB2312" pitchFamily="49" charset="-122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1816100" y="1676400"/>
            <a:ext cx="43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0">
                <a:solidFill>
                  <a:srgbClr val="A50021"/>
                </a:solidFill>
                <a:ea typeface="楷体_GB2312" pitchFamily="49" charset="-122"/>
              </a:rPr>
              <a:t>k</a:t>
            </a: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5607050" y="1676400"/>
            <a:ext cx="43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0">
                <a:solidFill>
                  <a:srgbClr val="A50021"/>
                </a:solidFill>
                <a:ea typeface="楷体_GB2312" pitchFamily="49" charset="-122"/>
              </a:rPr>
              <a:t>k</a:t>
            </a: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1524000" y="1752600"/>
            <a:ext cx="6858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286000" y="1905000"/>
            <a:ext cx="0" cy="914400"/>
          </a:xfrm>
          <a:prstGeom prst="line">
            <a:avLst/>
          </a:prstGeom>
          <a:noFill/>
          <a:ln w="12700">
            <a:solidFill>
              <a:srgbClr val="99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2381250" y="1635125"/>
            <a:ext cx="43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0">
                <a:solidFill>
                  <a:srgbClr val="A50021"/>
                </a:solidFill>
                <a:ea typeface="楷体_GB2312" pitchFamily="49" charset="-122"/>
              </a:rPr>
              <a:t>k</a:t>
            </a:r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2089150" y="1752600"/>
            <a:ext cx="6858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  <p:bldP spid="19460" grpId="0" animBg="1"/>
      <p:bldP spid="19461" grpId="0" animBg="1"/>
      <p:bldP spid="19463" grpId="0" bldLvl="0" animBg="1" autoUpdateAnimBg="0"/>
      <p:bldP spid="19464" grpId="0" autoUpdateAnimBg="0"/>
      <p:bldP spid="19465" grpId="0" autoUpdateAnimBg="0"/>
      <p:bldP spid="19466" grpId="0" animBg="1"/>
      <p:bldP spid="19467" grpId="0" animBg="1"/>
      <p:bldP spid="19468" grpId="0" autoUpdateAnimBg="0"/>
      <p:bldP spid="1946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cs typeface="Arial" panose="020B0604020202020204" pitchFamily="34" charset="0"/>
              </a:rPr>
              <a:t>（</a:t>
            </a:r>
            <a:r>
              <a:rPr lang="en-US" altLang="zh-CN" sz="3600" dirty="0">
                <a:cs typeface="Arial" panose="020B0604020202020204" pitchFamily="34" charset="0"/>
              </a:rPr>
              <a:t>2</a:t>
            </a:r>
            <a:r>
              <a:rPr lang="zh-CN" altLang="en-US" sz="3600" dirty="0">
                <a:cs typeface="Arial" panose="020B0604020202020204" pitchFamily="34" charset="0"/>
              </a:rPr>
              <a:t>）</a:t>
            </a:r>
            <a:r>
              <a:rPr sz="3600">
                <a:cs typeface="Arial" panose="020B0604020202020204" pitchFamily="34" charset="0"/>
                <a:sym typeface="+mn-ea"/>
              </a:rPr>
              <a:t>The algorithm for checking from front to back...</a:t>
            </a:r>
            <a:endParaRPr lang="zh-CN" altLang="en-US" sz="3600" dirty="0"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80999" y="1196752"/>
            <a:ext cx="807182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dirty="0" err="1">
                <a:cs typeface="Times New Roman" panose="02020603050405020304" pitchFamily="18" charset="0"/>
              </a:rPr>
              <a:t>int</a:t>
            </a:r>
            <a:r>
              <a:rPr lang="en-US" altLang="zh-CN" sz="3200" b="0" dirty="0">
                <a:cs typeface="Times New Roman" panose="02020603050405020304" pitchFamily="18" charset="0"/>
              </a:rPr>
              <a:t> location( </a:t>
            </a:r>
            <a:r>
              <a:rPr lang="en-US" altLang="zh-CN" sz="3200" b="0" dirty="0" err="1">
                <a:cs typeface="Times New Roman" panose="02020603050405020304" pitchFamily="18" charset="0"/>
              </a:rPr>
              <a:t>SqList</a:t>
            </a:r>
            <a:r>
              <a:rPr lang="en-US" altLang="zh-CN" sz="3200" b="0" dirty="0">
                <a:cs typeface="Times New Roman" panose="02020603050405020304" pitchFamily="18" charset="0"/>
              </a:rPr>
              <a:t> L, </a:t>
            </a:r>
            <a:r>
              <a:rPr lang="en-US" altLang="zh-CN" sz="3200" b="0" dirty="0" err="1">
                <a:cs typeface="Times New Roman" panose="02020603050405020304" pitchFamily="18" charset="0"/>
              </a:rPr>
              <a:t>ElemType</a:t>
            </a:r>
            <a:r>
              <a:rPr lang="en-US" altLang="zh-CN" sz="3200" dirty="0">
                <a:cs typeface="Times New Roman" panose="02020603050405020304" pitchFamily="18" charset="0"/>
              </a:rPr>
              <a:t>&amp; </a:t>
            </a:r>
            <a:r>
              <a:rPr lang="en-US" altLang="zh-CN" sz="3200" b="0" dirty="0">
                <a:cs typeface="Times New Roman" panose="02020603050405020304" pitchFamily="18" charset="0"/>
              </a:rPr>
              <a:t>e,</a:t>
            </a:r>
          </a:p>
          <a:p>
            <a:r>
              <a:rPr lang="en-US" altLang="zh-CN" sz="3200" b="0" dirty="0">
                <a:cs typeface="Times New Roman" panose="02020603050405020304" pitchFamily="18" charset="0"/>
              </a:rPr>
              <a:t>      Status (*compare)(</a:t>
            </a:r>
            <a:r>
              <a:rPr lang="en-US" altLang="zh-CN" sz="3200" b="0" dirty="0" err="1">
                <a:cs typeface="Times New Roman" panose="02020603050405020304" pitchFamily="18" charset="0"/>
              </a:rPr>
              <a:t>ElemType</a:t>
            </a:r>
            <a:r>
              <a:rPr lang="en-US" altLang="zh-CN" sz="3200" b="0" dirty="0">
                <a:cs typeface="Times New Roman" panose="02020603050405020304" pitchFamily="18" charset="0"/>
              </a:rPr>
              <a:t>, </a:t>
            </a:r>
            <a:r>
              <a:rPr lang="en-US" altLang="zh-CN" sz="3200" b="0" dirty="0" err="1">
                <a:cs typeface="Times New Roman" panose="02020603050405020304" pitchFamily="18" charset="0"/>
              </a:rPr>
              <a:t>ElemType</a:t>
            </a:r>
            <a:r>
              <a:rPr lang="en-US" altLang="zh-CN" sz="3200" b="0" dirty="0">
                <a:cs typeface="Times New Roman" panose="02020603050405020304" pitchFamily="18" charset="0"/>
              </a:rPr>
              <a:t>)) </a:t>
            </a:r>
            <a:r>
              <a:rPr lang="en-US" altLang="zh-CN" sz="3200" dirty="0">
                <a:cs typeface="Times New Roman" panose="02020603050405020304" pitchFamily="18" charset="0"/>
              </a:rPr>
              <a:t>{</a:t>
            </a:r>
            <a:endParaRPr lang="en-US" altLang="zh-CN" sz="3200" b="0" dirty="0">
              <a:cs typeface="Times New Roman" panose="02020603050405020304" pitchFamily="18" charset="0"/>
            </a:endParaRPr>
          </a:p>
          <a:p>
            <a:r>
              <a:rPr lang="en-US" altLang="zh-CN" sz="3200" b="0" dirty="0">
                <a:cs typeface="Times New Roman" panose="02020603050405020304" pitchFamily="18" charset="0"/>
              </a:rPr>
              <a:t>    k = 1;</a:t>
            </a:r>
          </a:p>
          <a:p>
            <a:r>
              <a:rPr lang="en-US" altLang="zh-CN" sz="3200" b="0" dirty="0">
                <a:cs typeface="Times New Roman" panose="02020603050405020304" pitchFamily="18" charset="0"/>
              </a:rPr>
              <a:t>    p = </a:t>
            </a:r>
            <a:r>
              <a:rPr lang="en-US" altLang="zh-CN" sz="3200" b="0" dirty="0" err="1">
                <a:cs typeface="Times New Roman" panose="02020603050405020304" pitchFamily="18" charset="0"/>
              </a:rPr>
              <a:t>L.elem</a:t>
            </a:r>
            <a:r>
              <a:rPr lang="en-US" altLang="zh-CN" sz="3200" b="0" dirty="0"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3200" b="0" dirty="0">
                <a:cs typeface="Times New Roman" panose="02020603050405020304" pitchFamily="18" charset="0"/>
              </a:rPr>
              <a:t>    </a:t>
            </a:r>
            <a:r>
              <a:rPr lang="en-US" altLang="zh-CN" sz="3200" dirty="0">
                <a:cs typeface="Times New Roman" panose="02020603050405020304" pitchFamily="18" charset="0"/>
              </a:rPr>
              <a:t>while</a:t>
            </a:r>
            <a:r>
              <a:rPr lang="en-US" altLang="zh-CN" sz="3200" b="0" dirty="0">
                <a:cs typeface="Times New Roman" panose="02020603050405020304" pitchFamily="18" charset="0"/>
              </a:rPr>
              <a:t> ( </a:t>
            </a:r>
            <a:r>
              <a:rPr lang="en-US" altLang="zh-CN" sz="3200" dirty="0">
                <a:solidFill>
                  <a:srgbClr val="A50021"/>
                </a:solidFill>
                <a:ea typeface="楷体_GB2312" pitchFamily="49" charset="-122"/>
                <a:cs typeface="Times New Roman" panose="02020603050405020304" pitchFamily="18" charset="0"/>
              </a:rPr>
              <a:t>k&lt;=</a:t>
            </a:r>
            <a:r>
              <a:rPr lang="en-US" altLang="zh-CN" sz="3200" dirty="0" err="1">
                <a:solidFill>
                  <a:srgbClr val="A50021"/>
                </a:solidFill>
                <a:ea typeface="楷体_GB2312" pitchFamily="49" charset="-122"/>
                <a:cs typeface="Times New Roman" panose="02020603050405020304" pitchFamily="18" charset="0"/>
              </a:rPr>
              <a:t>L.length</a:t>
            </a:r>
            <a:r>
              <a:rPr lang="en-US" altLang="zh-CN" sz="3200" b="0" dirty="0"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cs typeface="Times New Roman" panose="02020603050405020304" pitchFamily="18" charset="0"/>
              </a:rPr>
              <a:t>&amp;&amp;</a:t>
            </a:r>
          </a:p>
          <a:p>
            <a:r>
              <a:rPr lang="en-US" altLang="zh-CN" sz="3200" dirty="0">
                <a:cs typeface="Times New Roman" panose="02020603050405020304" pitchFamily="18" charset="0"/>
              </a:rPr>
              <a:t>                       </a:t>
            </a:r>
            <a:r>
              <a:rPr lang="en-US" altLang="zh-CN" sz="3200" b="0" dirty="0"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A50021"/>
                </a:solidFill>
                <a:cs typeface="Times New Roman" panose="02020603050405020304" pitchFamily="18" charset="0"/>
              </a:rPr>
              <a:t>!(*compare)(*p++,e)</a:t>
            </a:r>
            <a:r>
              <a:rPr lang="en-US" altLang="zh-CN" sz="3200" b="0" dirty="0"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3200" dirty="0">
                <a:cs typeface="Times New Roman" panose="02020603050405020304" pitchFamily="18" charset="0"/>
              </a:rPr>
              <a:t>         </a:t>
            </a:r>
            <a:r>
              <a:rPr lang="en-US" altLang="zh-CN" sz="3200" b="0" dirty="0">
                <a:cs typeface="Times New Roman" panose="02020603050405020304" pitchFamily="18" charset="0"/>
              </a:rPr>
              <a:t>k</a:t>
            </a:r>
            <a:r>
              <a:rPr lang="en-US" altLang="zh-CN" sz="3200" dirty="0">
                <a:cs typeface="Times New Roman" panose="02020603050405020304" pitchFamily="18" charset="0"/>
              </a:rPr>
              <a:t>++</a:t>
            </a:r>
            <a:r>
              <a:rPr lang="en-US" altLang="zh-CN" sz="3200" b="0" dirty="0">
                <a:cs typeface="Times New Roman" panose="02020603050405020304" pitchFamily="18" charset="0"/>
              </a:rPr>
              <a:t>; </a:t>
            </a:r>
          </a:p>
          <a:p>
            <a:r>
              <a:rPr lang="en-US" altLang="zh-CN" sz="3200" dirty="0">
                <a:cs typeface="Times New Roman" panose="02020603050405020304" pitchFamily="18" charset="0"/>
              </a:rPr>
              <a:t>    if</a:t>
            </a:r>
            <a:r>
              <a:rPr lang="en-US" altLang="zh-CN" sz="3200" b="0" dirty="0">
                <a:cs typeface="Times New Roman" panose="02020603050405020304" pitchFamily="18" charset="0"/>
              </a:rPr>
              <a:t> ( k&lt;= </a:t>
            </a:r>
            <a:r>
              <a:rPr lang="en-US" altLang="zh-CN" sz="3200" b="0" dirty="0" err="1">
                <a:cs typeface="Times New Roman" panose="02020603050405020304" pitchFamily="18" charset="0"/>
              </a:rPr>
              <a:t>L.length</a:t>
            </a:r>
            <a:r>
              <a:rPr lang="en-US" altLang="zh-CN" sz="3200" b="0" dirty="0">
                <a:cs typeface="Times New Roman" panose="02020603050405020304" pitchFamily="18" charset="0"/>
              </a:rPr>
              <a:t>)  </a:t>
            </a:r>
            <a:r>
              <a:rPr lang="en-US" altLang="zh-CN" sz="3200" dirty="0">
                <a:cs typeface="Times New Roman" panose="02020603050405020304" pitchFamily="18" charset="0"/>
              </a:rPr>
              <a:t>return</a:t>
            </a:r>
            <a:r>
              <a:rPr lang="en-US" altLang="zh-CN" sz="3200" b="0" dirty="0">
                <a:cs typeface="Times New Roman" panose="02020603050405020304" pitchFamily="18" charset="0"/>
              </a:rPr>
              <a:t> k; </a:t>
            </a:r>
          </a:p>
          <a:p>
            <a:r>
              <a:rPr lang="en-US" altLang="zh-CN" sz="3200" b="0" dirty="0">
                <a:cs typeface="Times New Roman" panose="02020603050405020304" pitchFamily="18" charset="0"/>
              </a:rPr>
              <a:t>    </a:t>
            </a:r>
            <a:r>
              <a:rPr lang="en-US" altLang="zh-CN" sz="3200" dirty="0">
                <a:cs typeface="Times New Roman" panose="02020603050405020304" pitchFamily="18" charset="0"/>
              </a:rPr>
              <a:t>else  return</a:t>
            </a:r>
            <a:r>
              <a:rPr lang="en-US" altLang="zh-CN" sz="3200" b="0" dirty="0">
                <a:cs typeface="Times New Roman" panose="02020603050405020304" pitchFamily="18" charset="0"/>
              </a:rPr>
              <a:t> 0;</a:t>
            </a:r>
          </a:p>
          <a:p>
            <a:r>
              <a:rPr lang="en-US" altLang="zh-CN" sz="3200" dirty="0">
                <a:cs typeface="Times New Roman" panose="02020603050405020304" pitchFamily="18" charset="0"/>
              </a:rPr>
              <a:t>}</a:t>
            </a:r>
            <a:r>
              <a:rPr lang="en-US" altLang="zh-CN" sz="3200" b="0" dirty="0">
                <a:cs typeface="Times New Roman" panose="02020603050405020304" pitchFamily="18" charset="0"/>
              </a:rPr>
              <a:t> //location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735013" y="1452563"/>
          <a:ext cx="8188325" cy="172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文档" r:id="rId3" imgW="8187055" imgH="1728470" progId="Word.Document.8">
                  <p:embed/>
                </p:oleObj>
              </mc:Choice>
              <mc:Fallback>
                <p:oleObj name="文档" r:id="rId3" imgW="8187055" imgH="172847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1452563"/>
                        <a:ext cx="8188325" cy="172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69850" y="914400"/>
            <a:ext cx="1377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/>
              <a:t>ST.elem</a:t>
            </a:r>
            <a:endParaRPr lang="en-US" altLang="zh-CN" sz="2400" b="0"/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7924800" y="457200"/>
            <a:ext cx="0" cy="990600"/>
          </a:xfrm>
          <a:prstGeom prst="line">
            <a:avLst/>
          </a:prstGeom>
          <a:noFill/>
          <a:ln w="12700">
            <a:solidFill>
              <a:srgbClr val="99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5410200" y="457200"/>
            <a:ext cx="0" cy="990600"/>
          </a:xfrm>
          <a:prstGeom prst="line">
            <a:avLst/>
          </a:prstGeom>
          <a:noFill/>
          <a:ln w="12700">
            <a:solidFill>
              <a:srgbClr val="99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5418138" y="639763"/>
            <a:ext cx="296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0">
                <a:solidFill>
                  <a:srgbClr val="990000"/>
                </a:solidFill>
              </a:rPr>
              <a:t>i</a:t>
            </a:r>
            <a:endParaRPr lang="en-US" altLang="zh-CN" sz="2400" b="0"/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762000" y="4572000"/>
          <a:ext cx="8188325" cy="172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文档" r:id="rId5" imgW="8187055" imgH="1728470" progId="Word.Document.8">
                  <p:embed/>
                </p:oleObj>
              </mc:Choice>
              <mc:Fallback>
                <p:oleObj name="文档" r:id="rId5" imgW="8187055" imgH="172847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572000"/>
                        <a:ext cx="8188325" cy="172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290513" y="4033838"/>
            <a:ext cx="1377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/>
              <a:t>ST.elem</a:t>
            </a:r>
            <a:endParaRPr lang="en-US" altLang="zh-CN" sz="2400" b="0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8001000" y="3576638"/>
            <a:ext cx="0" cy="990600"/>
          </a:xfrm>
          <a:prstGeom prst="line">
            <a:avLst/>
          </a:prstGeom>
          <a:noFill/>
          <a:ln w="12700">
            <a:solidFill>
              <a:srgbClr val="99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1219200" y="3576638"/>
            <a:ext cx="0" cy="990600"/>
          </a:xfrm>
          <a:prstGeom prst="line">
            <a:avLst/>
          </a:prstGeom>
          <a:noFill/>
          <a:ln w="12700">
            <a:solidFill>
              <a:srgbClr val="99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1219200" y="3505200"/>
            <a:ext cx="2968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0">
                <a:solidFill>
                  <a:srgbClr val="990000"/>
                </a:solidFill>
              </a:rPr>
              <a:t>i</a:t>
            </a:r>
            <a:endParaRPr lang="en-US" altLang="zh-CN" sz="2400" b="0"/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762000" y="4495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CC0000"/>
                </a:solidFill>
              </a:rPr>
              <a:t>60</a:t>
            </a:r>
            <a:endParaRPr lang="en-US" altLang="zh-CN" sz="2400" b="0"/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8008938" y="533400"/>
            <a:ext cx="2968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0">
                <a:solidFill>
                  <a:srgbClr val="990000"/>
                </a:solidFill>
              </a:rPr>
              <a:t>i</a:t>
            </a:r>
            <a:endParaRPr lang="en-US" altLang="zh-CN" sz="2400" b="0"/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2270125" y="2609850"/>
            <a:ext cx="1406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0">
                <a:solidFill>
                  <a:srgbClr val="CC0000"/>
                </a:solidFill>
              </a:rPr>
              <a:t>key=64</a:t>
            </a:r>
            <a:endParaRPr lang="en-US" altLang="zh-CN" sz="2400" b="0"/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2286000" y="5821363"/>
            <a:ext cx="1406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0">
                <a:solidFill>
                  <a:srgbClr val="CC0000"/>
                </a:solidFill>
              </a:rPr>
              <a:t>key=60</a:t>
            </a:r>
            <a:endParaRPr lang="en-US" altLang="zh-CN" sz="2400" b="0"/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8153400" y="3581400"/>
            <a:ext cx="2968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0">
                <a:solidFill>
                  <a:srgbClr val="990000"/>
                </a:solidFill>
              </a:rPr>
              <a:t>i</a:t>
            </a:r>
            <a:endParaRPr lang="en-US" altLang="zh-CN" sz="2400" b="0"/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730250" y="13716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CC0000"/>
                </a:solidFill>
              </a:rPr>
              <a:t>64</a:t>
            </a:r>
            <a:endParaRPr lang="en-US" altLang="zh-CN" sz="2400" b="0"/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7696200" y="304800"/>
            <a:ext cx="533400" cy="1143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7848600" y="3429000"/>
            <a:ext cx="533400" cy="1143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-36517" y="-84539"/>
            <a:ext cx="7525022" cy="72008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baseline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8000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3600" kern="0"/>
              <a:t>…</a:t>
            </a:r>
            <a:r>
              <a:rPr lang="zh-CN" altLang="en-US" sz="3600" kern="0"/>
              <a:t>（</a:t>
            </a:r>
            <a:r>
              <a:rPr lang="en-US" altLang="zh-CN" sz="3600" kern="0"/>
              <a:t>2</a:t>
            </a:r>
            <a:r>
              <a:rPr lang="zh-CN" altLang="en-US" sz="3600" kern="0"/>
              <a:t>）</a:t>
            </a:r>
            <a:r>
              <a:rPr lang="en-US" altLang="zh-CN" sz="3600" kern="0">
                <a:sym typeface="+mn-ea"/>
              </a:rPr>
              <a:t>The forward-backward search algorithm</a:t>
            </a:r>
            <a:endParaRPr lang="en-US" altLang="zh-CN" sz="3600" kern="0" dirty="0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7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1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08" grpId="0" animBg="1"/>
      <p:bldP spid="21509" grpId="0" animBg="1"/>
      <p:bldP spid="21510" grpId="0" autoUpdateAnimBg="0"/>
      <p:bldP spid="21512" grpId="0" autoUpdateAnimBg="0"/>
      <p:bldP spid="21513" grpId="0" animBg="1"/>
      <p:bldP spid="21514" grpId="0" animBg="1"/>
      <p:bldP spid="21515" grpId="0" autoUpdateAnimBg="0"/>
      <p:bldP spid="21516" grpId="0" autoUpdateAnimBg="0"/>
      <p:bldP spid="21517" grpId="0" autoUpdateAnimBg="0"/>
      <p:bldP spid="21518" grpId="0" autoUpdateAnimBg="0"/>
      <p:bldP spid="21519" grpId="0" autoUpdateAnimBg="0"/>
      <p:bldP spid="21520" grpId="0" autoUpdateAnimBg="0"/>
      <p:bldP spid="21521" grpId="0" autoUpdateAnimBg="0"/>
      <p:bldP spid="21522" grpId="0" animBg="1"/>
      <p:bldP spid="215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04800" y="603250"/>
            <a:ext cx="8501380" cy="509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sz="3200" dirty="0" err="1">
                <a:ea typeface="楷体_GB2312" pitchFamily="49" charset="-122"/>
              </a:rPr>
              <a:t>int</a:t>
            </a:r>
            <a:r>
              <a:rPr lang="en-US" altLang="zh-CN" sz="3200" b="0" dirty="0">
                <a:ea typeface="楷体_GB2312" pitchFamily="49" charset="-122"/>
              </a:rPr>
              <a:t> </a:t>
            </a:r>
            <a:r>
              <a:rPr lang="en-US" altLang="zh-CN" sz="3200" b="0" dirty="0" err="1">
                <a:ea typeface="楷体_GB2312" pitchFamily="49" charset="-122"/>
              </a:rPr>
              <a:t>Search_Seq</a:t>
            </a:r>
            <a:r>
              <a:rPr lang="en-US" altLang="zh-CN" sz="3200" b="0" dirty="0">
                <a:ea typeface="楷体_GB2312" pitchFamily="49" charset="-122"/>
              </a:rPr>
              <a:t>(</a:t>
            </a:r>
            <a:r>
              <a:rPr lang="en-US" altLang="zh-CN" sz="3200" b="0" dirty="0" err="1">
                <a:ea typeface="楷体_GB2312" pitchFamily="49" charset="-122"/>
              </a:rPr>
              <a:t>SSTable</a:t>
            </a:r>
            <a:r>
              <a:rPr lang="en-US" altLang="zh-CN" sz="3200" b="0" dirty="0">
                <a:ea typeface="楷体_GB2312" pitchFamily="49" charset="-122"/>
              </a:rPr>
              <a:t> ST, </a:t>
            </a:r>
          </a:p>
          <a:p>
            <a:pPr algn="l">
              <a:lnSpc>
                <a:spcPct val="110000"/>
              </a:lnSpc>
            </a:pPr>
            <a:r>
              <a:rPr lang="en-US" altLang="zh-CN" sz="3200" b="0" dirty="0">
                <a:ea typeface="楷体_GB2312" pitchFamily="49" charset="-122"/>
              </a:rPr>
              <a:t>                                      </a:t>
            </a:r>
            <a:r>
              <a:rPr lang="en-US" altLang="zh-CN" sz="3200" b="0" dirty="0" err="1">
                <a:ea typeface="楷体_GB2312" pitchFamily="49" charset="-122"/>
              </a:rPr>
              <a:t>KeyType</a:t>
            </a:r>
            <a:r>
              <a:rPr lang="en-US" altLang="zh-CN" sz="3200" b="0" dirty="0">
                <a:ea typeface="楷体_GB2312" pitchFamily="49" charset="-122"/>
              </a:rPr>
              <a:t> key) </a:t>
            </a:r>
            <a:r>
              <a:rPr lang="en-US" altLang="zh-CN" sz="3200" dirty="0">
                <a:ea typeface="楷体_GB2312" pitchFamily="49" charset="-122"/>
              </a:rPr>
              <a:t>{</a:t>
            </a:r>
            <a:endParaRPr lang="en-US" altLang="zh-CN" sz="3200" b="0" dirty="0">
              <a:ea typeface="楷体_GB2312" pitchFamily="49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</a:rPr>
              <a:t>// In the sequential table ST, sequentially search for the data element</a:t>
            </a: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</a:rPr>
              <a:t> // </a:t>
            </a: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  <a:sym typeface="+mn-ea"/>
              </a:rPr>
              <a:t>whose keyword is equal to key. </a:t>
            </a: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</a:rPr>
              <a:t>If found, the function returns </a:t>
            </a: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</a:rPr>
              <a:t> //  </a:t>
            </a: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  <a:sym typeface="+mn-ea"/>
              </a:rPr>
              <a:t>the position of the element in the table; otherwise, it returns 0.</a:t>
            </a:r>
            <a:endParaRPr lang="en-US" altLang="zh-CN" sz="2400" dirty="0">
              <a:solidFill>
                <a:srgbClr val="006600"/>
              </a:solidFill>
              <a:ea typeface="楷体_GB2312" pitchFamily="49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3200" b="0" dirty="0">
                <a:ea typeface="楷体_GB2312" pitchFamily="49" charset="-122"/>
              </a:rPr>
              <a:t>   </a:t>
            </a:r>
            <a:r>
              <a:rPr lang="en-US" altLang="zh-CN" sz="3200" b="0" dirty="0" err="1">
                <a:solidFill>
                  <a:srgbClr val="A50021"/>
                </a:solidFill>
                <a:ea typeface="楷体_GB2312" pitchFamily="49" charset="-122"/>
              </a:rPr>
              <a:t>ST.elem</a:t>
            </a:r>
            <a:r>
              <a:rPr lang="en-US" altLang="zh-CN" sz="3200" b="0" dirty="0">
                <a:solidFill>
                  <a:srgbClr val="A50021"/>
                </a:solidFill>
                <a:ea typeface="楷体_GB2312" pitchFamily="49" charset="-122"/>
              </a:rPr>
              <a:t>[0].key = key;</a:t>
            </a:r>
            <a:r>
              <a:rPr lang="en-US" altLang="zh-CN" sz="3200" b="0" dirty="0">
                <a:solidFill>
                  <a:schemeClr val="accent2"/>
                </a:solidFill>
                <a:ea typeface="楷体_GB2312" pitchFamily="49" charset="-122"/>
              </a:rPr>
              <a:t>       </a:t>
            </a:r>
            <a:r>
              <a:rPr lang="en-US" altLang="zh-CN" sz="3200" dirty="0">
                <a:solidFill>
                  <a:srgbClr val="006600"/>
                </a:solidFill>
                <a:ea typeface="楷体_GB2312" pitchFamily="49" charset="-122"/>
              </a:rPr>
              <a:t>// "Sentinel"</a:t>
            </a:r>
          </a:p>
          <a:p>
            <a:pPr algn="l">
              <a:lnSpc>
                <a:spcPct val="110000"/>
              </a:lnSpc>
            </a:pPr>
            <a:r>
              <a:rPr lang="zh-CN" altLang="en-US" sz="3200" b="0" dirty="0">
                <a:ea typeface="楷体_GB2312" pitchFamily="49" charset="-122"/>
              </a:rPr>
              <a:t>   </a:t>
            </a:r>
            <a:r>
              <a:rPr lang="en-US" altLang="zh-CN" sz="3200" dirty="0">
                <a:ea typeface="楷体_GB2312" pitchFamily="49" charset="-122"/>
              </a:rPr>
              <a:t>for</a:t>
            </a:r>
            <a:r>
              <a:rPr lang="en-US" altLang="zh-CN" sz="3200" b="0" dirty="0">
                <a:ea typeface="楷体_GB2312" pitchFamily="49" charset="-122"/>
              </a:rPr>
              <a:t> (</a:t>
            </a:r>
            <a:r>
              <a:rPr lang="en-US" altLang="zh-CN" sz="3200" b="0" dirty="0" err="1">
                <a:ea typeface="楷体_GB2312" pitchFamily="49" charset="-122"/>
              </a:rPr>
              <a:t>i</a:t>
            </a:r>
            <a:r>
              <a:rPr lang="en-US" altLang="zh-CN" sz="3200" b="0" dirty="0">
                <a:ea typeface="楷体_GB2312" pitchFamily="49" charset="-122"/>
              </a:rPr>
              <a:t>=</a:t>
            </a:r>
            <a:r>
              <a:rPr lang="en-US" altLang="zh-CN" sz="3200" b="0" dirty="0" err="1">
                <a:ea typeface="楷体_GB2312" pitchFamily="49" charset="-122"/>
              </a:rPr>
              <a:t>ST.length</a:t>
            </a:r>
            <a:r>
              <a:rPr lang="en-US" altLang="zh-CN" sz="3200" b="0" dirty="0">
                <a:ea typeface="楷体_GB2312" pitchFamily="49" charset="-122"/>
              </a:rPr>
              <a:t>; </a:t>
            </a:r>
            <a:r>
              <a:rPr lang="en-US" altLang="zh-CN" sz="3200" b="0" dirty="0" err="1">
                <a:solidFill>
                  <a:srgbClr val="A50021"/>
                </a:solidFill>
                <a:ea typeface="楷体_GB2312" pitchFamily="49" charset="-122"/>
              </a:rPr>
              <a:t>ST.elem</a:t>
            </a:r>
            <a:r>
              <a:rPr lang="en-US" altLang="zh-CN" sz="3200" b="0" dirty="0">
                <a:solidFill>
                  <a:srgbClr val="A50021"/>
                </a:solidFill>
                <a:ea typeface="楷体_GB2312" pitchFamily="49" charset="-122"/>
              </a:rPr>
              <a:t>[</a:t>
            </a:r>
            <a:r>
              <a:rPr lang="en-US" altLang="zh-CN" sz="3200" b="0" dirty="0" err="1">
                <a:solidFill>
                  <a:srgbClr val="A50021"/>
                </a:solidFill>
                <a:ea typeface="楷体_GB2312" pitchFamily="49" charset="-122"/>
              </a:rPr>
              <a:t>i</a:t>
            </a:r>
            <a:r>
              <a:rPr lang="en-US" altLang="zh-CN" sz="3200" b="0" dirty="0">
                <a:solidFill>
                  <a:srgbClr val="A50021"/>
                </a:solidFill>
                <a:ea typeface="楷体_GB2312" pitchFamily="49" charset="-122"/>
              </a:rPr>
              <a:t>].key</a:t>
            </a:r>
            <a:r>
              <a:rPr lang="en-US" altLang="zh-CN" sz="3200" dirty="0">
                <a:solidFill>
                  <a:srgbClr val="A50021"/>
                </a:solidFill>
                <a:ea typeface="楷体_GB2312" pitchFamily="49" charset="-122"/>
              </a:rPr>
              <a:t>!=</a:t>
            </a:r>
            <a:r>
              <a:rPr lang="en-US" altLang="zh-CN" sz="3200" b="0" dirty="0">
                <a:solidFill>
                  <a:srgbClr val="A50021"/>
                </a:solidFill>
                <a:ea typeface="楷体_GB2312" pitchFamily="49" charset="-122"/>
              </a:rPr>
              <a:t>key;</a:t>
            </a:r>
            <a:r>
              <a:rPr lang="en-US" altLang="zh-CN" sz="3200" b="0" dirty="0">
                <a:ea typeface="楷体_GB2312" pitchFamily="49" charset="-122"/>
              </a:rPr>
              <a:t>  </a:t>
            </a:r>
            <a:r>
              <a:rPr lang="en-US" altLang="zh-CN" sz="3200" dirty="0">
                <a:ea typeface="楷体_GB2312" pitchFamily="49" charset="-122"/>
              </a:rPr>
              <a:t>--</a:t>
            </a:r>
            <a:r>
              <a:rPr lang="en-US" altLang="zh-CN" sz="3200" b="0" dirty="0" err="1">
                <a:ea typeface="楷体_GB2312" pitchFamily="49" charset="-122"/>
              </a:rPr>
              <a:t>i</a:t>
            </a:r>
            <a:r>
              <a:rPr lang="en-US" altLang="zh-CN" sz="3200" b="0" dirty="0">
                <a:ea typeface="楷体_GB2312" pitchFamily="49" charset="-122"/>
              </a:rPr>
              <a:t>);  </a:t>
            </a:r>
          </a:p>
          <a:p>
            <a:pPr algn="l">
              <a:lnSpc>
                <a:spcPct val="110000"/>
              </a:lnSpc>
            </a:pPr>
            <a:r>
              <a:rPr lang="en-US" altLang="zh-CN" sz="3200" b="0" dirty="0">
                <a:ea typeface="楷体_GB2312" pitchFamily="49" charset="-122"/>
              </a:rPr>
              <a:t>                              </a:t>
            </a:r>
            <a:r>
              <a:rPr lang="en-US" altLang="zh-CN" sz="3200" dirty="0">
                <a:solidFill>
                  <a:srgbClr val="006600"/>
                </a:solidFill>
                <a:ea typeface="楷体_GB2312" pitchFamily="49" charset="-122"/>
              </a:rPr>
              <a:t>// Search from back to front</a:t>
            </a:r>
          </a:p>
          <a:p>
            <a:pPr algn="l">
              <a:lnSpc>
                <a:spcPct val="110000"/>
              </a:lnSpc>
            </a:pPr>
            <a:r>
              <a:rPr lang="zh-CN" altLang="en-US" sz="3200" b="0" dirty="0">
                <a:ea typeface="楷体_GB2312" pitchFamily="49" charset="-122"/>
              </a:rPr>
              <a:t>   </a:t>
            </a:r>
            <a:r>
              <a:rPr lang="en-US" altLang="zh-CN" sz="3200" dirty="0">
                <a:ea typeface="楷体_GB2312" pitchFamily="49" charset="-122"/>
              </a:rPr>
              <a:t>return</a:t>
            </a:r>
            <a:r>
              <a:rPr lang="en-US" altLang="zh-CN" sz="3200" b="0" dirty="0">
                <a:ea typeface="楷体_GB2312" pitchFamily="49" charset="-122"/>
              </a:rPr>
              <a:t> </a:t>
            </a:r>
            <a:r>
              <a:rPr lang="en-US" altLang="zh-CN" sz="3200" b="0" dirty="0" err="1">
                <a:ea typeface="楷体_GB2312" pitchFamily="49" charset="-122"/>
              </a:rPr>
              <a:t>i</a:t>
            </a:r>
            <a:r>
              <a:rPr lang="en-US" altLang="zh-CN" sz="3200" b="0" dirty="0">
                <a:ea typeface="楷体_GB2312" pitchFamily="49" charset="-122"/>
              </a:rPr>
              <a:t>;              </a:t>
            </a:r>
            <a:r>
              <a:rPr lang="en-US" altLang="zh-CN" sz="3200" dirty="0">
                <a:solidFill>
                  <a:srgbClr val="006600"/>
                </a:solidFill>
                <a:ea typeface="楷体_GB2312" pitchFamily="49" charset="-122"/>
              </a:rPr>
              <a:t>// When not found, i is 0</a:t>
            </a:r>
          </a:p>
          <a:p>
            <a:pPr algn="l">
              <a:lnSpc>
                <a:spcPct val="110000"/>
              </a:lnSpc>
            </a:pPr>
            <a:r>
              <a:rPr lang="en-US" altLang="zh-CN" sz="3200" dirty="0">
                <a:ea typeface="楷体_GB2312" pitchFamily="49" charset="-122"/>
              </a:rPr>
              <a:t>}</a:t>
            </a:r>
            <a:r>
              <a:rPr lang="en-US" altLang="zh-CN" sz="3200" b="0" dirty="0">
                <a:ea typeface="楷体_GB2312" pitchFamily="49" charset="-122"/>
              </a:rPr>
              <a:t> // </a:t>
            </a:r>
            <a:r>
              <a:rPr lang="en-US" altLang="zh-CN" sz="3200" b="0" dirty="0" err="1">
                <a:ea typeface="楷体_GB2312" pitchFamily="49" charset="-122"/>
              </a:rPr>
              <a:t>Search_Seq</a:t>
            </a:r>
            <a:endParaRPr lang="en-US" altLang="zh-CN" sz="3200" b="0" dirty="0">
              <a:ea typeface="楷体_GB2312" pitchFamily="49" charset="-122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304800" y="0"/>
            <a:ext cx="86106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（</a:t>
            </a:r>
            <a:r>
              <a:rPr lang="en-US" altLang="zh-CN" sz="3200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3</a:t>
            </a:r>
            <a:r>
              <a:rPr lang="zh-CN" altLang="en-US" sz="3200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）</a:t>
            </a:r>
            <a:r>
              <a:rPr lang="zh-CN" altLang="en-US" sz="3200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The backward search algorithm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ldLvl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Text Box 2"/>
          <p:cNvSpPr txBox="1">
            <a:spLocks noChangeArrowheads="1"/>
          </p:cNvSpPr>
          <p:nvPr/>
        </p:nvSpPr>
        <p:spPr bwMode="auto">
          <a:xfrm>
            <a:off x="838200" y="573088"/>
            <a:ext cx="7772400" cy="4615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In the algorithm that searches from back to front, before the search, the 0th element is set to the search element key. This </a:t>
            </a:r>
            <a:r>
              <a:rPr lang="zh-CN" altLang="en-US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avoids</a:t>
            </a:r>
            <a:r>
              <a:rPr lang="zh-CN" altLang="en-US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checking whether</a:t>
            </a:r>
            <a:r>
              <a:rPr lang="zh-CN" altLang="en-US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the entire table has been searched</a:t>
            </a:r>
            <a:r>
              <a:rPr lang="zh-CN" altLang="en-US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at each step during the search process. ST.elem[0] plays the role of a sentinel.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above improvement in programming technique 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reduces the average search time by half when the length of the search table exceeds 1000.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1340485"/>
            <a:ext cx="89154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/>
            <a:r>
              <a:rPr lang="zh-CN" altLang="en-US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Find the average search length of the algorithm</a:t>
            </a:r>
            <a:endParaRPr lang="zh-CN" altLang="en-US" dirty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                                                (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A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verage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S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earch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L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ength)</a:t>
            </a:r>
            <a:br>
              <a:rPr lang="en-US" altLang="zh-CN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</a:b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expected number of key </a:t>
            </a:r>
            <a:r>
              <a:rPr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comparisons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required to locate a record in a table is called the </a:t>
            </a:r>
            <a:r>
              <a:rPr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average search length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of the search algorithm when the search is successful.</a:t>
            </a:r>
          </a:p>
          <a:p>
            <a:pPr marL="342900" indent="-342900"/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number of comparisons when the search fails is n+1.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76200" y="44450"/>
            <a:ext cx="74676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990033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(4) Analyze the time performance of sequential search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685800" y="428625"/>
            <a:ext cx="8229600" cy="5833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For a table containing</a:t>
            </a:r>
            <a:r>
              <a:rPr lang="en-US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</a:t>
            </a:r>
            <a:r>
              <a:rPr lang="en-US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data elements, the average search length when the search is</a:t>
            </a:r>
            <a:r>
              <a:rPr lang="en-US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successful</a:t>
            </a:r>
            <a:r>
              <a:rPr lang="en-US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is:</a:t>
            </a:r>
            <a:endParaRPr lang="en-US" altLang="zh-CN" sz="320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en-US" altLang="zh-CN" sz="50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                </a:t>
            </a:r>
            <a:r>
              <a:rPr lang="en-US" altLang="zh-CN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n</a:t>
            </a:r>
          </a:p>
          <a:p>
            <a:pPr>
              <a:lnSpc>
                <a:spcPct val="80000"/>
              </a:lnSpc>
            </a:pPr>
            <a:r>
              <a:rPr lang="en-US" altLang="zh-CN" sz="320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   ASL=</a:t>
            </a:r>
            <a:r>
              <a:rPr lang="en-US" altLang="zh-CN" sz="440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Σ</a:t>
            </a:r>
            <a:r>
              <a:rPr lang="en-US" altLang="zh-CN" sz="320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en-US" altLang="zh-CN" sz="3200" baseline="-2500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320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sz="3200" baseline="-2500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320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	</a:t>
            </a:r>
          </a:p>
          <a:p>
            <a:pPr>
              <a:lnSpc>
                <a:spcPct val="80000"/>
              </a:lnSpc>
            </a:pPr>
            <a:r>
              <a:rPr lang="en-US" altLang="zh-CN" sz="320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               </a:t>
            </a:r>
            <a:r>
              <a:rPr lang="en-US" altLang="zh-CN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i=1</a:t>
            </a:r>
            <a:endParaRPr lang="en-US" altLang="zh-CN" sz="3200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40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Where: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Pi 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is the probability of searching for the i-th data element, and</a:t>
            </a:r>
          </a:p>
          <a:p>
            <a:endParaRPr lang="zh-CN" altLang="en-US" sz="3200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60000"/>
              </a:spcBef>
            </a:pP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    </a:t>
            </a:r>
          </a:p>
          <a:p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Ci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is the number of comparisons needed when finding the i-th data element.</a:t>
            </a: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2971800" y="4114800"/>
          <a:ext cx="12192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公式" r:id="rId3" imgW="546100" imgH="431800" progId="Equation.3">
                  <p:embed/>
                </p:oleObj>
              </mc:Choice>
              <mc:Fallback>
                <p:oleObj name="公式" r:id="rId3" imgW="5461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114800"/>
                        <a:ext cx="121920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381000" y="3463925"/>
            <a:ext cx="6569710" cy="1799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zh-CN" sz="2000" b="0" i="1" baseline="-2500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en-US" altLang="zh-CN" sz="2000" b="0" i="1" baseline="-2500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In the case of </a:t>
            </a:r>
            <a:r>
              <a:rPr lang="zh-CN" altLang="en-US" sz="20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equal-probability search</a:t>
            </a:r>
            <a:r>
              <a:rPr lang="zh-CN" altLang="en-US" sz="20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，</a:t>
            </a:r>
          </a:p>
          <a:p>
            <a:pPr algn="l">
              <a:lnSpc>
                <a:spcPct val="150000"/>
              </a:lnSpc>
              <a:spcBef>
                <a:spcPct val="60000"/>
              </a:spcBef>
            </a:pPr>
            <a:r>
              <a:rPr lang="zh-CN" altLang="en-US" sz="2000" b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average search length for sequential table search</a:t>
            </a:r>
            <a:r>
              <a:rPr lang="en-US" altLang="zh-CN" sz="20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is: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252413" y="457200"/>
            <a:ext cx="8891587" cy="2091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For a 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sequential table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C</a:t>
            </a:r>
            <a:r>
              <a:rPr lang="en-US" altLang="zh-CN" sz="2000" baseline="-25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depends on the position of the element being searched:</a:t>
            </a:r>
            <a:endParaRPr lang="zh-CN" altLang="en-US" sz="20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lvl="2">
              <a:spcBef>
                <a:spcPct val="50000"/>
              </a:spcBef>
              <a:buFontTx/>
              <a:buChar char="–"/>
            </a:pP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When searching for record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A[n]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only one comparison is needed;</a:t>
            </a:r>
          </a:p>
          <a:p>
            <a:pPr lvl="2">
              <a:spcBef>
                <a:spcPct val="50000"/>
              </a:spcBef>
              <a:buFontTx/>
              <a:buChar char="–"/>
            </a:pP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When searching for record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A[1],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comparisons are needed;</a:t>
            </a:r>
          </a:p>
          <a:p>
            <a:pPr lvl="2">
              <a:spcBef>
                <a:spcPct val="50000"/>
              </a:spcBef>
              <a:buFontTx/>
              <a:buChar char="–"/>
            </a:pP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When searching for record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A[</a:t>
            </a:r>
            <a:r>
              <a:rPr lang="en-US" altLang="zh-CN" sz="2000" dirty="0" err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i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]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n-i+1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comparisons are needed.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5029200" y="3694113"/>
          <a:ext cx="1219200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8" name="公式" r:id="rId3" imgW="419100" imgH="393700" progId="Equation.3">
                  <p:embed/>
                </p:oleObj>
              </mc:Choice>
              <mc:Fallback>
                <p:oleObj name="公式" r:id="rId3" imgW="4191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694113"/>
                        <a:ext cx="1219200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1295400" y="5257800"/>
          <a:ext cx="55626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公式" r:id="rId5" imgW="1879600" imgH="431800" progId="Equation.3">
                  <p:embed/>
                </p:oleObj>
              </mc:Choice>
              <mc:Fallback>
                <p:oleObj name="公式" r:id="rId5" imgW="18796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257800"/>
                        <a:ext cx="556260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1285875" y="3067050"/>
            <a:ext cx="6140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i="1">
                <a:solidFill>
                  <a:srgbClr val="A50021"/>
                </a:solidFill>
                <a:ea typeface="楷体_GB2312" pitchFamily="49" charset="-122"/>
              </a:rPr>
              <a:t>ASL = nP</a:t>
            </a:r>
            <a:r>
              <a:rPr lang="en-US" altLang="zh-CN" sz="3200" i="1" baseline="-25000">
                <a:solidFill>
                  <a:srgbClr val="A50021"/>
                </a:solidFill>
                <a:ea typeface="楷体_GB2312" pitchFamily="49" charset="-122"/>
              </a:rPr>
              <a:t>1</a:t>
            </a:r>
            <a:r>
              <a:rPr lang="en-US" altLang="zh-CN" sz="3200" i="1">
                <a:solidFill>
                  <a:srgbClr val="A50021"/>
                </a:solidFill>
                <a:ea typeface="楷体_GB2312" pitchFamily="49" charset="-122"/>
              </a:rPr>
              <a:t> +(n-1)P</a:t>
            </a:r>
            <a:r>
              <a:rPr lang="en-US" altLang="zh-CN" sz="3200" i="1" baseline="-25000">
                <a:solidFill>
                  <a:srgbClr val="A50021"/>
                </a:solidFill>
                <a:ea typeface="楷体_GB2312" pitchFamily="49" charset="-122"/>
              </a:rPr>
              <a:t>2</a:t>
            </a:r>
            <a:r>
              <a:rPr lang="en-US" altLang="zh-CN" sz="3200" i="1">
                <a:solidFill>
                  <a:srgbClr val="A50021"/>
                </a:solidFill>
                <a:ea typeface="楷体_GB2312" pitchFamily="49" charset="-122"/>
              </a:rPr>
              <a:t> + … +2P</a:t>
            </a:r>
            <a:r>
              <a:rPr lang="en-US" altLang="zh-CN" sz="3200" i="1" baseline="-25000">
                <a:solidFill>
                  <a:srgbClr val="A50021"/>
                </a:solidFill>
                <a:ea typeface="楷体_GB2312" pitchFamily="49" charset="-122"/>
              </a:rPr>
              <a:t>n-1</a:t>
            </a:r>
            <a:r>
              <a:rPr lang="en-US" altLang="zh-CN" sz="3200" i="1">
                <a:solidFill>
                  <a:srgbClr val="A50021"/>
                </a:solidFill>
                <a:ea typeface="楷体_GB2312" pitchFamily="49" charset="-122"/>
              </a:rPr>
              <a:t>+P</a:t>
            </a:r>
            <a:r>
              <a:rPr lang="en-US" altLang="zh-CN" sz="3200" i="1" baseline="-25000">
                <a:solidFill>
                  <a:srgbClr val="A50021"/>
                </a:solidFill>
                <a:ea typeface="楷体_GB2312" pitchFamily="49" charset="-122"/>
              </a:rPr>
              <a:t>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ldLvl="0" animBg="1" autoUpdateAnimBg="0"/>
      <p:bldP spid="25603" grpId="0" bldLvl="0" animBg="1" autoUpdateAnimBg="0"/>
      <p:bldP spid="2560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</a:rPr>
              <a:t>Main Contents of This Chapter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楷体_GB2312" pitchFamily="49" charset="-122"/>
                <a:cs typeface="Arial" panose="020B0604020202020204" pitchFamily="34" charset="0"/>
              </a:rPr>
              <a:t>Basic Concepts of Search Algorithms</a:t>
            </a:r>
          </a:p>
          <a:p>
            <a:pPr>
              <a:lnSpc>
                <a:spcPts val="3600"/>
              </a:lnSpc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Static Search Tables (Creation and Search)</a:t>
            </a:r>
            <a:endParaRPr lang="en-US" altLang="zh-CN" dirty="0">
              <a:cs typeface="Arial" panose="020B0604020202020204" pitchFamily="34" charset="0"/>
            </a:endParaRPr>
          </a:p>
          <a:p>
            <a:pPr lvl="1"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Sequential Table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Sorted Table</a:t>
            </a:r>
          </a:p>
          <a:p>
            <a:pPr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Dynamic Search Tables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Binary Search Tree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9133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539552" y="836712"/>
            <a:ext cx="8382000" cy="4912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search algorithm for the aforementioned sequential search table is simple, but its </a:t>
            </a:r>
            <a:r>
              <a:rPr lang="zh-CN" altLang="en-US" b="0" dirty="0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average search length is relatively large</a:t>
            </a:r>
            <a:r>
              <a:rPr lang="zh-CN" altLang="en-US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making it particularly </a:t>
            </a:r>
            <a:r>
              <a:rPr lang="zh-CN" altLang="en-US" b="0" dirty="0">
                <a:solidFill>
                  <a:srgbClr val="6633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unsuitable</a:t>
            </a:r>
            <a:r>
              <a:rPr lang="zh-CN" altLang="en-US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for search tables with a large number of elements.</a:t>
            </a:r>
          </a:p>
          <a:p>
            <a:pPr>
              <a:lnSpc>
                <a:spcPct val="140000"/>
              </a:lnSpc>
            </a:pPr>
            <a:r>
              <a:rPr lang="zh-CN" altLang="en-US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a static search table is represented by a </a:t>
            </a:r>
            <a:r>
              <a:rPr lang="zh-CN" altLang="en-US" b="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sorted table</a:t>
            </a:r>
            <a:r>
              <a:rPr lang="zh-CN" altLang="en-US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the search process can be performed based on "</a:t>
            </a:r>
            <a:r>
              <a:rPr lang="zh-CN" altLang="en-US" b="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binary search</a:t>
            </a:r>
            <a:r>
              <a:rPr lang="zh-CN" altLang="en-US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".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609600" y="151130"/>
            <a:ext cx="45811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 dirty="0">
                <a:solidFill>
                  <a:srgbClr val="990033"/>
                </a:solidFill>
                <a:ea typeface="楷体_GB2312" pitchFamily="49" charset="-122"/>
              </a:rPr>
              <a:t>2</a:t>
            </a:r>
            <a:r>
              <a:rPr lang="zh-CN" altLang="en-US" sz="3600" dirty="0">
                <a:solidFill>
                  <a:srgbClr val="990033"/>
                </a:solidFill>
                <a:ea typeface="楷体_GB2312" pitchFamily="49" charset="-122"/>
              </a:rPr>
              <a:t>、</a:t>
            </a:r>
            <a:r>
              <a:rPr lang="en-US" altLang="zh-CN" sz="3600" dirty="0">
                <a:solidFill>
                  <a:srgbClr val="990033"/>
                </a:solidFill>
                <a:ea typeface="楷体_GB2312" pitchFamily="49" charset="-122"/>
              </a:rPr>
              <a:t>Sorted Search Table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ldLvl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323850" y="260350"/>
            <a:ext cx="83820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86055" indent="-186055">
              <a:lnSpc>
                <a:spcPct val="90000"/>
              </a:lnSpc>
              <a:spcBef>
                <a:spcPct val="50000"/>
              </a:spcBef>
            </a:pP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(1) The fundamental concept of binary search 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23850" y="1052513"/>
            <a:ext cx="83820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86055" indent="-186055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data elements in the </a:t>
            </a: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search table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are sorted by key (assuming ascending order), you can skip through the table instead of comparing them sequentially.</a:t>
            </a:r>
            <a:endParaRPr lang="en-US" altLang="zh-CN" sz="24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marL="662305" lvl="1" indent="-128905">
              <a:lnSpc>
                <a:spcPct val="90000"/>
              </a:lnSpc>
              <a:spcBef>
                <a:spcPct val="50000"/>
              </a:spcBef>
              <a:buFontTx/>
              <a:buChar char="–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First compare the keyword value with the "</a:t>
            </a:r>
            <a:r>
              <a:rPr lang="zh-CN" altLang="en-US" sz="24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middle position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"; if equal, the search is successful.</a:t>
            </a:r>
            <a:endParaRPr lang="en-US" altLang="zh-CN" sz="24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marL="662305" lvl="1" indent="-128905">
              <a:lnSpc>
                <a:spcPct val="90000"/>
              </a:lnSpc>
              <a:spcBef>
                <a:spcPct val="50000"/>
              </a:spcBef>
              <a:buFontTx/>
              <a:buChar char="–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given value is greater than the middle position keyword value, continue the binary search in the latter half.</a:t>
            </a:r>
            <a:endParaRPr lang="en-US" altLang="zh-CN" sz="24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marL="662305" lvl="1" indent="-128905">
              <a:lnSpc>
                <a:spcPct val="90000"/>
              </a:lnSpc>
              <a:spcBef>
                <a:spcPct val="50000"/>
              </a:spcBef>
              <a:buFontTx/>
              <a:buChar char="–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Otherwise, perform a binary search in the first half.</a:t>
            </a:r>
          </a:p>
          <a:p>
            <a:pPr marL="186055" indent="-186055">
              <a:lnSpc>
                <a:spcPct val="110000"/>
              </a:lnSpc>
              <a:spcBef>
                <a:spcPct val="40000"/>
              </a:spcBef>
              <a:buFontTx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Binary search is </a:t>
            </a:r>
            <a:r>
              <a:rPr lang="zh-CN" altLang="en-US" sz="24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only applicable to ordered lists organized in sequential storage structures.</a:t>
            </a:r>
            <a:endParaRPr lang="zh-CN" altLang="en-US" sz="2400" b="0" dirty="0">
              <a:solidFill>
                <a:schemeClr val="hlink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247650" y="1981200"/>
          <a:ext cx="84010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文档" r:id="rId3" imgW="8417560" imgH="1981200" progId="Word.Document.8">
                  <p:embed/>
                </p:oleObj>
              </mc:Choice>
              <mc:Fallback>
                <p:oleObj name="文档" r:id="rId3" imgW="8417560" imgH="19812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1981200"/>
                        <a:ext cx="840105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0" y="1443038"/>
            <a:ext cx="14176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ST.elem</a:t>
            </a:r>
            <a:endParaRPr lang="en-US" altLang="zh-CN" sz="2400" b="0"/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7543800" y="104775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7527925" y="1038225"/>
            <a:ext cx="165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ST.length</a:t>
            </a:r>
            <a:endParaRPr lang="en-US" altLang="zh-CN" sz="2400" b="0"/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365125" y="365125"/>
            <a:ext cx="664845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  <a:sym typeface="+mn-ea"/>
              </a:rPr>
              <a:t>For example, the search process for key=64 is as follows:</a:t>
            </a:r>
            <a:endParaRPr lang="zh-CN" altLang="en-US" sz="2000" b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9703" name="AutoShape 7"/>
          <p:cNvSpPr>
            <a:spLocks noChangeArrowheads="1"/>
          </p:cNvSpPr>
          <p:nvPr/>
        </p:nvSpPr>
        <p:spPr bwMode="auto">
          <a:xfrm>
            <a:off x="11430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00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04" name="AutoShape 8"/>
          <p:cNvSpPr>
            <a:spLocks noChangeArrowheads="1"/>
          </p:cNvSpPr>
          <p:nvPr/>
        </p:nvSpPr>
        <p:spPr bwMode="auto">
          <a:xfrm>
            <a:off x="4267200" y="30480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05" name="AutoShape 9"/>
          <p:cNvSpPr>
            <a:spLocks noChangeArrowheads="1"/>
          </p:cNvSpPr>
          <p:nvPr/>
        </p:nvSpPr>
        <p:spPr bwMode="auto">
          <a:xfrm>
            <a:off x="74676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1339850" y="3648075"/>
            <a:ext cx="717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006600"/>
                </a:solidFill>
              </a:rPr>
              <a:t>low</a:t>
            </a:r>
            <a:endParaRPr lang="en-US" altLang="zh-CN" b="0"/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7664450" y="3657600"/>
            <a:ext cx="815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chemeClr val="accent2"/>
                </a:solidFill>
              </a:rPr>
              <a:t>high</a:t>
            </a:r>
            <a:endParaRPr lang="en-US" altLang="zh-CN" b="0"/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3962400" y="4052888"/>
            <a:ext cx="73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800000"/>
                </a:solidFill>
              </a:rPr>
              <a:t>mid</a:t>
            </a:r>
            <a:endParaRPr lang="en-US" altLang="zh-CN" b="0"/>
          </a:p>
        </p:txBody>
      </p:sp>
      <p:sp>
        <p:nvSpPr>
          <p:cNvPr id="29709" name="AutoShape 13"/>
          <p:cNvSpPr>
            <a:spLocks noChangeArrowheads="1"/>
          </p:cNvSpPr>
          <p:nvPr/>
        </p:nvSpPr>
        <p:spPr bwMode="auto">
          <a:xfrm>
            <a:off x="48768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00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5073650" y="3648075"/>
            <a:ext cx="717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006600"/>
                </a:solidFill>
              </a:rPr>
              <a:t>low</a:t>
            </a:r>
            <a:endParaRPr lang="en-US" altLang="zh-CN" b="0"/>
          </a:p>
        </p:txBody>
      </p:sp>
      <p:sp useBgFill="1">
        <p:nvSpPr>
          <p:cNvPr id="29711" name="AutoShape 15"/>
          <p:cNvSpPr>
            <a:spLocks noChangeArrowheads="1"/>
          </p:cNvSpPr>
          <p:nvPr/>
        </p:nvSpPr>
        <p:spPr bwMode="auto">
          <a:xfrm>
            <a:off x="11430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 useBgFill="1"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1339850" y="3648075"/>
            <a:ext cx="717550" cy="519113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006600"/>
                </a:solidFill>
              </a:rPr>
              <a:t>      </a:t>
            </a:r>
            <a:endParaRPr lang="en-US" altLang="zh-CN" b="0"/>
          </a:p>
        </p:txBody>
      </p:sp>
      <p:sp>
        <p:nvSpPr>
          <p:cNvPr id="29713" name="AutoShape 17"/>
          <p:cNvSpPr>
            <a:spLocks noChangeArrowheads="1"/>
          </p:cNvSpPr>
          <p:nvPr/>
        </p:nvSpPr>
        <p:spPr bwMode="auto">
          <a:xfrm>
            <a:off x="6153150" y="30480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5867400" y="4052888"/>
            <a:ext cx="73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800000"/>
                </a:solidFill>
              </a:rPr>
              <a:t>mid</a:t>
            </a:r>
            <a:endParaRPr lang="en-US" altLang="zh-CN" b="0"/>
          </a:p>
        </p:txBody>
      </p:sp>
      <p:sp useBgFill="1">
        <p:nvSpPr>
          <p:cNvPr id="29715" name="AutoShape 19"/>
          <p:cNvSpPr>
            <a:spLocks noChangeArrowheads="1"/>
          </p:cNvSpPr>
          <p:nvPr/>
        </p:nvSpPr>
        <p:spPr bwMode="auto">
          <a:xfrm>
            <a:off x="4267200" y="30480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 useBgFill="1">
        <p:nvSpPr>
          <p:cNvPr id="29716" name="Text Box 20"/>
          <p:cNvSpPr txBox="1">
            <a:spLocks noChangeArrowheads="1"/>
          </p:cNvSpPr>
          <p:nvPr/>
        </p:nvSpPr>
        <p:spPr bwMode="auto">
          <a:xfrm>
            <a:off x="3962400" y="4038600"/>
            <a:ext cx="717550" cy="519113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800000"/>
                </a:solidFill>
              </a:rPr>
              <a:t>      </a:t>
            </a:r>
            <a:endParaRPr lang="en-US" altLang="zh-CN" b="0"/>
          </a:p>
        </p:txBody>
      </p:sp>
      <p:sp useBgFill="1">
        <p:nvSpPr>
          <p:cNvPr id="29717" name="AutoShape 21"/>
          <p:cNvSpPr>
            <a:spLocks noChangeArrowheads="1"/>
          </p:cNvSpPr>
          <p:nvPr/>
        </p:nvSpPr>
        <p:spPr bwMode="auto">
          <a:xfrm>
            <a:off x="74676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 useBgFill="1"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7664450" y="3657600"/>
            <a:ext cx="806450" cy="519113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/>
              <a:t>       </a:t>
            </a:r>
          </a:p>
        </p:txBody>
      </p:sp>
      <p:sp>
        <p:nvSpPr>
          <p:cNvPr id="29719" name="AutoShape 23"/>
          <p:cNvSpPr>
            <a:spLocks noChangeArrowheads="1"/>
          </p:cNvSpPr>
          <p:nvPr/>
        </p:nvSpPr>
        <p:spPr bwMode="auto">
          <a:xfrm>
            <a:off x="54864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20" name="Text Box 24"/>
          <p:cNvSpPr txBox="1">
            <a:spLocks noChangeArrowheads="1"/>
          </p:cNvSpPr>
          <p:nvPr/>
        </p:nvSpPr>
        <p:spPr bwMode="auto">
          <a:xfrm>
            <a:off x="5683250" y="3657600"/>
            <a:ext cx="815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chemeClr val="accent2"/>
                </a:solidFill>
              </a:rPr>
              <a:t>high</a:t>
            </a:r>
            <a:endParaRPr lang="en-US" altLang="zh-CN" b="0"/>
          </a:p>
        </p:txBody>
      </p:sp>
      <p:sp useBgFill="1">
        <p:nvSpPr>
          <p:cNvPr id="29721" name="AutoShape 25"/>
          <p:cNvSpPr>
            <a:spLocks noChangeArrowheads="1"/>
          </p:cNvSpPr>
          <p:nvPr/>
        </p:nvSpPr>
        <p:spPr bwMode="auto">
          <a:xfrm>
            <a:off x="6153150" y="30480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 useBgFill="1">
        <p:nvSpPr>
          <p:cNvPr id="29722" name="Text Box 26"/>
          <p:cNvSpPr txBox="1">
            <a:spLocks noChangeArrowheads="1"/>
          </p:cNvSpPr>
          <p:nvPr/>
        </p:nvSpPr>
        <p:spPr bwMode="auto">
          <a:xfrm>
            <a:off x="5867400" y="4052888"/>
            <a:ext cx="717550" cy="519112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/>
              <a:t>      </a:t>
            </a:r>
          </a:p>
        </p:txBody>
      </p:sp>
      <p:sp>
        <p:nvSpPr>
          <p:cNvPr id="29723" name="AutoShape 27"/>
          <p:cNvSpPr>
            <a:spLocks noChangeArrowheads="1"/>
          </p:cNvSpPr>
          <p:nvPr/>
        </p:nvSpPr>
        <p:spPr bwMode="auto">
          <a:xfrm>
            <a:off x="5010150" y="31242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>
            <a:off x="4724400" y="4052888"/>
            <a:ext cx="73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800000"/>
                </a:solidFill>
              </a:rPr>
              <a:t>mid</a:t>
            </a:r>
            <a:endParaRPr lang="en-US" altLang="zh-CN" b="0"/>
          </a:p>
        </p:txBody>
      </p:sp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831850" y="4572000"/>
            <a:ext cx="7450455" cy="1420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low</a:t>
            </a:r>
            <a:r>
              <a:rPr lang="en-US" altLang="zh-CN" sz="2400" b="0">
                <a:solidFill>
                  <a:srgbClr val="80000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  </a:t>
            </a:r>
            <a:r>
              <a:rPr lang="en-US" altLang="zh-CN" sz="2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indicates the lower boundary of the search range</a:t>
            </a:r>
            <a:endParaRPr lang="zh-CN" altLang="en-US" sz="2400" b="0"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high</a:t>
            </a:r>
            <a:r>
              <a:rPr lang="en-US" altLang="zh-CN" sz="2400" b="0">
                <a:solidFill>
                  <a:srgbClr val="80000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the upper bound of the search interval.</a:t>
            </a:r>
            <a:endParaRPr lang="en-US" altLang="zh-CN" sz="2400" b="0"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400">
                <a:solidFill>
                  <a:srgbClr val="80000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mid   </a:t>
            </a:r>
            <a:r>
              <a:rPr lang="en-US" altLang="zh-CN" sz="2400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= (low+high)/2    </a:t>
            </a:r>
            <a:r>
              <a:rPr lang="zh-CN" altLang="en-US" sz="2400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rounded down</a:t>
            </a:r>
            <a:r>
              <a:rPr lang="zh-CN" altLang="en-US" sz="2400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  <p:bldP spid="29700" grpId="0" animBg="1"/>
      <p:bldP spid="29701" grpId="0" autoUpdateAnimBg="0"/>
      <p:bldP spid="29703" grpId="0" animBg="1"/>
      <p:bldP spid="29704" grpId="0" animBg="1"/>
      <p:bldP spid="29705" grpId="0" animBg="1"/>
      <p:bldP spid="29706" grpId="0" autoUpdateAnimBg="0"/>
      <p:bldP spid="29707" grpId="0" autoUpdateAnimBg="0"/>
      <p:bldP spid="29708" grpId="0" autoUpdateAnimBg="0"/>
      <p:bldP spid="29709" grpId="0" animBg="1"/>
      <p:bldP spid="29710" grpId="0" autoUpdateAnimBg="0"/>
      <p:bldP spid="29711" grpId="0" animBg="1"/>
      <p:bldP spid="29712" grpId="0" animBg="1" autoUpdateAnimBg="0"/>
      <p:bldP spid="29713" grpId="0" animBg="1"/>
      <p:bldP spid="29714" grpId="0" autoUpdateAnimBg="0"/>
      <p:bldP spid="29715" grpId="0" animBg="1"/>
      <p:bldP spid="29716" grpId="0" animBg="1" autoUpdateAnimBg="0"/>
      <p:bldP spid="29717" grpId="0" animBg="1"/>
      <p:bldP spid="29718" grpId="0" animBg="1" autoUpdateAnimBg="0"/>
      <p:bldP spid="29719" grpId="0" animBg="1"/>
      <p:bldP spid="29720" grpId="0" autoUpdateAnimBg="0"/>
      <p:bldP spid="29721" grpId="0" animBg="1"/>
      <p:bldP spid="29722" grpId="0" animBg="1" autoUpdateAnimBg="0"/>
      <p:bldP spid="29723" grpId="0" animBg="1"/>
      <p:bldP spid="29724" grpId="0" autoUpdateAnimBg="0"/>
      <p:bldP spid="29725" grpId="0" bldLvl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684213" y="549275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36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sz="36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sz="36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）</a:t>
            </a:r>
            <a:r>
              <a:rPr lang="en-US" altLang="zh-CN" sz="36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Binary Search Algorithm</a:t>
            </a: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395288" y="1557338"/>
            <a:ext cx="8748712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Let the lower boundary of the area containing the target element be low and the upper boundary be high. Then the midpoint is calculated as </a:t>
            </a: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mid=(low + hig)DIV2</a:t>
            </a: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.</a:t>
            </a:r>
            <a:endParaRPr lang="en-US" altLang="zh-CN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middle element value matches the given value, the search is successful.</a:t>
            </a:r>
            <a:endParaRPr lang="en-US" altLang="zh-CN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middle element value is greater than the given value, then in the range</a:t>
            </a:r>
          </a:p>
          <a:p>
            <a:pPr lvl="1">
              <a:spcBef>
                <a:spcPct val="20000"/>
              </a:spcBef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[low, mid-1] perform binary search</a:t>
            </a:r>
            <a:endParaRPr lang="zh-CN" altLang="en-US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middle element value is less than the given value, then in the range</a:t>
            </a:r>
          </a:p>
          <a:p>
            <a:pPr lvl="1">
              <a:spcBef>
                <a:spcPct val="20000"/>
              </a:spcBef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Perform binary search in [mid+1, hig]</a:t>
            </a:r>
            <a:endParaRPr lang="zh-CN" altLang="en-US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323850" y="260350"/>
            <a:ext cx="83820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86055" indent="-186055">
              <a:lnSpc>
                <a:spcPct val="90000"/>
              </a:lnSpc>
              <a:spcBef>
                <a:spcPct val="50000"/>
              </a:spcBef>
            </a:pP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(1) The fundamental concept of binary search 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23850" y="1052513"/>
            <a:ext cx="838200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86055" indent="-186055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data elements in the </a:t>
            </a: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search table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are sorted by key (assuming ascending order), you can skip through the table instead of comparing them sequentially.</a:t>
            </a:r>
            <a:endParaRPr lang="en-US" altLang="zh-CN" sz="24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marL="662305" lvl="1" indent="-128905">
              <a:lnSpc>
                <a:spcPct val="90000"/>
              </a:lnSpc>
              <a:spcBef>
                <a:spcPct val="50000"/>
              </a:spcBef>
              <a:buFontTx/>
              <a:buChar char="–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First compare the keyword value with the "</a:t>
            </a:r>
            <a:r>
              <a:rPr lang="zh-CN" altLang="en-US" sz="24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middle position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"; if equal, the search is successful.</a:t>
            </a:r>
            <a:endParaRPr lang="en-US" altLang="zh-CN" sz="24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marL="662305" lvl="1" indent="-128905">
              <a:lnSpc>
                <a:spcPct val="90000"/>
              </a:lnSpc>
              <a:spcBef>
                <a:spcPct val="50000"/>
              </a:spcBef>
              <a:buFontTx/>
              <a:buChar char="–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given value is greater than the middle position keyword value, continue the binary search in the latter half.</a:t>
            </a:r>
            <a:endParaRPr lang="en-US" altLang="zh-CN" sz="24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marL="662305" lvl="1" indent="-128905">
              <a:lnSpc>
                <a:spcPct val="90000"/>
              </a:lnSpc>
              <a:spcBef>
                <a:spcPct val="50000"/>
              </a:spcBef>
              <a:buFontTx/>
              <a:buChar char="–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Otherwise, perform a binary search in the first half.</a:t>
            </a:r>
          </a:p>
          <a:p>
            <a:pPr marL="186055" indent="-186055">
              <a:lnSpc>
                <a:spcPct val="110000"/>
              </a:lnSpc>
              <a:spcBef>
                <a:spcPct val="40000"/>
              </a:spcBef>
              <a:buFontTx/>
              <a:buChar char="•"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Binary search is </a:t>
            </a:r>
            <a:r>
              <a:rPr lang="zh-CN" altLang="en-US" sz="24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only applicable to ordered lists organized in sequential storage structures.</a:t>
            </a:r>
            <a:endParaRPr lang="zh-CN" altLang="en-US" sz="2400" b="0" dirty="0">
              <a:solidFill>
                <a:schemeClr val="hlink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247650" y="1981200"/>
          <a:ext cx="84010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文档" r:id="rId3" imgW="8417560" imgH="1981200" progId="Word.Document.8">
                  <p:embed/>
                </p:oleObj>
              </mc:Choice>
              <mc:Fallback>
                <p:oleObj name="文档" r:id="rId3" imgW="8417560" imgH="19812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1981200"/>
                        <a:ext cx="840105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0" y="1443038"/>
            <a:ext cx="14176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ST.elem</a:t>
            </a:r>
            <a:endParaRPr lang="en-US" altLang="zh-CN" sz="2400" b="0"/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7543800" y="104775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7527925" y="1038225"/>
            <a:ext cx="165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ST.length</a:t>
            </a:r>
            <a:endParaRPr lang="en-US" altLang="zh-CN" sz="2400" b="0"/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365125" y="365125"/>
            <a:ext cx="664845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  <a:sym typeface="+mn-ea"/>
              </a:rPr>
              <a:t>For example, the search process for key=64 is as follows:</a:t>
            </a:r>
            <a:endParaRPr lang="zh-CN" altLang="en-US" sz="2000" b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9703" name="AutoShape 7"/>
          <p:cNvSpPr>
            <a:spLocks noChangeArrowheads="1"/>
          </p:cNvSpPr>
          <p:nvPr/>
        </p:nvSpPr>
        <p:spPr bwMode="auto">
          <a:xfrm>
            <a:off x="11430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00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04" name="AutoShape 8"/>
          <p:cNvSpPr>
            <a:spLocks noChangeArrowheads="1"/>
          </p:cNvSpPr>
          <p:nvPr/>
        </p:nvSpPr>
        <p:spPr bwMode="auto">
          <a:xfrm>
            <a:off x="4267200" y="30480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05" name="AutoShape 9"/>
          <p:cNvSpPr>
            <a:spLocks noChangeArrowheads="1"/>
          </p:cNvSpPr>
          <p:nvPr/>
        </p:nvSpPr>
        <p:spPr bwMode="auto">
          <a:xfrm>
            <a:off x="74676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1339850" y="3648075"/>
            <a:ext cx="717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006600"/>
                </a:solidFill>
              </a:rPr>
              <a:t>low</a:t>
            </a:r>
            <a:endParaRPr lang="en-US" altLang="zh-CN" b="0"/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7664450" y="3657600"/>
            <a:ext cx="815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chemeClr val="accent2"/>
                </a:solidFill>
              </a:rPr>
              <a:t>high</a:t>
            </a:r>
            <a:endParaRPr lang="en-US" altLang="zh-CN" b="0"/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3962400" y="4052888"/>
            <a:ext cx="73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800000"/>
                </a:solidFill>
              </a:rPr>
              <a:t>mid</a:t>
            </a:r>
            <a:endParaRPr lang="en-US" altLang="zh-CN" b="0"/>
          </a:p>
        </p:txBody>
      </p:sp>
      <p:sp>
        <p:nvSpPr>
          <p:cNvPr id="29709" name="AutoShape 13"/>
          <p:cNvSpPr>
            <a:spLocks noChangeArrowheads="1"/>
          </p:cNvSpPr>
          <p:nvPr/>
        </p:nvSpPr>
        <p:spPr bwMode="auto">
          <a:xfrm>
            <a:off x="48768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00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5073650" y="3648075"/>
            <a:ext cx="717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006600"/>
                </a:solidFill>
              </a:rPr>
              <a:t>low</a:t>
            </a:r>
            <a:endParaRPr lang="en-US" altLang="zh-CN" b="0"/>
          </a:p>
        </p:txBody>
      </p:sp>
      <p:sp useBgFill="1">
        <p:nvSpPr>
          <p:cNvPr id="29711" name="AutoShape 15"/>
          <p:cNvSpPr>
            <a:spLocks noChangeArrowheads="1"/>
          </p:cNvSpPr>
          <p:nvPr/>
        </p:nvSpPr>
        <p:spPr bwMode="auto">
          <a:xfrm>
            <a:off x="11430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 useBgFill="1"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1339850" y="3648075"/>
            <a:ext cx="717550" cy="519113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006600"/>
                </a:solidFill>
              </a:rPr>
              <a:t>      </a:t>
            </a:r>
            <a:endParaRPr lang="en-US" altLang="zh-CN" b="0"/>
          </a:p>
        </p:txBody>
      </p:sp>
      <p:sp>
        <p:nvSpPr>
          <p:cNvPr id="29713" name="AutoShape 17"/>
          <p:cNvSpPr>
            <a:spLocks noChangeArrowheads="1"/>
          </p:cNvSpPr>
          <p:nvPr/>
        </p:nvSpPr>
        <p:spPr bwMode="auto">
          <a:xfrm>
            <a:off x="6153150" y="30480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5867400" y="4052888"/>
            <a:ext cx="73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800000"/>
                </a:solidFill>
              </a:rPr>
              <a:t>mid</a:t>
            </a:r>
            <a:endParaRPr lang="en-US" altLang="zh-CN" b="0"/>
          </a:p>
        </p:txBody>
      </p:sp>
      <p:sp useBgFill="1">
        <p:nvSpPr>
          <p:cNvPr id="29715" name="AutoShape 19"/>
          <p:cNvSpPr>
            <a:spLocks noChangeArrowheads="1"/>
          </p:cNvSpPr>
          <p:nvPr/>
        </p:nvSpPr>
        <p:spPr bwMode="auto">
          <a:xfrm>
            <a:off x="4267200" y="30480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 useBgFill="1">
        <p:nvSpPr>
          <p:cNvPr id="29716" name="Text Box 20"/>
          <p:cNvSpPr txBox="1">
            <a:spLocks noChangeArrowheads="1"/>
          </p:cNvSpPr>
          <p:nvPr/>
        </p:nvSpPr>
        <p:spPr bwMode="auto">
          <a:xfrm>
            <a:off x="3962400" y="4038600"/>
            <a:ext cx="717550" cy="519113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800000"/>
                </a:solidFill>
              </a:rPr>
              <a:t>      </a:t>
            </a:r>
            <a:endParaRPr lang="en-US" altLang="zh-CN" b="0"/>
          </a:p>
        </p:txBody>
      </p:sp>
      <p:sp useBgFill="1">
        <p:nvSpPr>
          <p:cNvPr id="29717" name="AutoShape 21"/>
          <p:cNvSpPr>
            <a:spLocks noChangeArrowheads="1"/>
          </p:cNvSpPr>
          <p:nvPr/>
        </p:nvSpPr>
        <p:spPr bwMode="auto">
          <a:xfrm>
            <a:off x="74676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 useBgFill="1"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7664450" y="3657600"/>
            <a:ext cx="806450" cy="519113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/>
              <a:t>       </a:t>
            </a:r>
          </a:p>
        </p:txBody>
      </p:sp>
      <p:sp>
        <p:nvSpPr>
          <p:cNvPr id="29719" name="AutoShape 23"/>
          <p:cNvSpPr>
            <a:spLocks noChangeArrowheads="1"/>
          </p:cNvSpPr>
          <p:nvPr/>
        </p:nvSpPr>
        <p:spPr bwMode="auto">
          <a:xfrm>
            <a:off x="5486400" y="3124200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20" name="Text Box 24"/>
          <p:cNvSpPr txBox="1">
            <a:spLocks noChangeArrowheads="1"/>
          </p:cNvSpPr>
          <p:nvPr/>
        </p:nvSpPr>
        <p:spPr bwMode="auto">
          <a:xfrm>
            <a:off x="5683250" y="3657600"/>
            <a:ext cx="815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chemeClr val="accent2"/>
                </a:solidFill>
              </a:rPr>
              <a:t>high</a:t>
            </a:r>
            <a:endParaRPr lang="en-US" altLang="zh-CN" b="0"/>
          </a:p>
        </p:txBody>
      </p:sp>
      <p:sp useBgFill="1">
        <p:nvSpPr>
          <p:cNvPr id="29721" name="AutoShape 25"/>
          <p:cNvSpPr>
            <a:spLocks noChangeArrowheads="1"/>
          </p:cNvSpPr>
          <p:nvPr/>
        </p:nvSpPr>
        <p:spPr bwMode="auto">
          <a:xfrm>
            <a:off x="6153150" y="30480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 useBgFill="1">
        <p:nvSpPr>
          <p:cNvPr id="29722" name="Text Box 26"/>
          <p:cNvSpPr txBox="1">
            <a:spLocks noChangeArrowheads="1"/>
          </p:cNvSpPr>
          <p:nvPr/>
        </p:nvSpPr>
        <p:spPr bwMode="auto">
          <a:xfrm>
            <a:off x="5867400" y="4052888"/>
            <a:ext cx="717550" cy="519112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/>
              <a:t>      </a:t>
            </a:r>
          </a:p>
        </p:txBody>
      </p:sp>
      <p:sp>
        <p:nvSpPr>
          <p:cNvPr id="29723" name="AutoShape 27"/>
          <p:cNvSpPr>
            <a:spLocks noChangeArrowheads="1"/>
          </p:cNvSpPr>
          <p:nvPr/>
        </p:nvSpPr>
        <p:spPr bwMode="auto">
          <a:xfrm>
            <a:off x="5010150" y="3124200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>
            <a:off x="4724400" y="4052888"/>
            <a:ext cx="73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800000"/>
                </a:solidFill>
              </a:rPr>
              <a:t>mid</a:t>
            </a:r>
            <a:endParaRPr lang="en-US" altLang="zh-CN" b="0"/>
          </a:p>
        </p:txBody>
      </p:sp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831850" y="4572000"/>
            <a:ext cx="7450455" cy="1420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low</a:t>
            </a:r>
            <a:r>
              <a:rPr lang="en-US" altLang="zh-CN" sz="2400" b="0">
                <a:solidFill>
                  <a:srgbClr val="80000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  </a:t>
            </a:r>
            <a:r>
              <a:rPr lang="en-US" altLang="zh-CN" sz="24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indicates the lower boundary of the search range</a:t>
            </a:r>
            <a:endParaRPr lang="zh-CN" altLang="en-US" sz="2400" b="0"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high</a:t>
            </a:r>
            <a:r>
              <a:rPr lang="en-US" altLang="zh-CN" sz="2400" b="0">
                <a:solidFill>
                  <a:srgbClr val="80000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the upper bound of the search interval.</a:t>
            </a:r>
            <a:endParaRPr lang="en-US" altLang="zh-CN" sz="2400" b="0"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2400">
                <a:solidFill>
                  <a:srgbClr val="80000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mid   </a:t>
            </a:r>
            <a:r>
              <a:rPr lang="en-US" altLang="zh-CN" sz="2400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= (low+high)/2    </a:t>
            </a:r>
            <a:r>
              <a:rPr lang="zh-CN" altLang="en-US" sz="2400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rounded down</a:t>
            </a:r>
            <a:r>
              <a:rPr lang="zh-CN" altLang="en-US" sz="2400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ldLvl="0" animBg="1" autoUpdateAnimBg="0"/>
      <p:bldP spid="29700" grpId="0" bldLvl="0" animBg="1"/>
      <p:bldP spid="29701" grpId="0" bldLvl="0" animBg="1" autoUpdateAnimBg="0"/>
      <p:bldP spid="29703" grpId="0" bldLvl="0" animBg="1"/>
      <p:bldP spid="29704" grpId="0" bldLvl="0" animBg="1"/>
      <p:bldP spid="29705" grpId="0" bldLvl="0" animBg="1"/>
      <p:bldP spid="29706" grpId="0" bldLvl="0" animBg="1" autoUpdateAnimBg="0"/>
      <p:bldP spid="29707" grpId="0" bldLvl="0" animBg="1" autoUpdateAnimBg="0"/>
      <p:bldP spid="29708" grpId="0" bldLvl="0" animBg="1" autoUpdateAnimBg="0"/>
      <p:bldP spid="29709" grpId="0" bldLvl="0" animBg="1"/>
      <p:bldP spid="29710" grpId="0" bldLvl="0" animBg="1" autoUpdateAnimBg="0"/>
      <p:bldP spid="29711" grpId="0" bldLvl="0" animBg="1"/>
      <p:bldP spid="29712" grpId="0" bldLvl="0" animBg="1" autoUpdateAnimBg="0"/>
      <p:bldP spid="29713" grpId="0" bldLvl="0" animBg="1"/>
      <p:bldP spid="29714" grpId="0" bldLvl="0" animBg="1" autoUpdateAnimBg="0"/>
      <p:bldP spid="29715" grpId="0" bldLvl="0" animBg="1"/>
      <p:bldP spid="29716" grpId="0" bldLvl="0" animBg="1" autoUpdateAnimBg="0"/>
      <p:bldP spid="29717" grpId="0" bldLvl="0" animBg="1"/>
      <p:bldP spid="29718" grpId="0" bldLvl="0" animBg="1" autoUpdateAnimBg="0"/>
      <p:bldP spid="29719" grpId="0" bldLvl="0" animBg="1"/>
      <p:bldP spid="29720" grpId="0" bldLvl="0" animBg="1" autoUpdateAnimBg="0"/>
      <p:bldP spid="29721" grpId="0" bldLvl="0" animBg="1"/>
      <p:bldP spid="29722" grpId="0" bldLvl="0" animBg="1" autoUpdateAnimBg="0"/>
      <p:bldP spid="29723" grpId="0" bldLvl="0" animBg="1"/>
      <p:bldP spid="29724" grpId="0" bldLvl="0" animBg="1" autoUpdateAnimBg="0"/>
      <p:bldP spid="29725" grpId="0" bldLvl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684213" y="549275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36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sz="36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sz="36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）</a:t>
            </a:r>
            <a:r>
              <a:rPr lang="en-US" altLang="zh-CN" sz="36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Binary Search Algorithm</a:t>
            </a: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395288" y="1557338"/>
            <a:ext cx="8748712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Let the lower boundary of the area containing the target element be low and the upper boundary be high. Then the midpoint is calculated as </a:t>
            </a: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mid=(low + hig)DIV2</a:t>
            </a: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.</a:t>
            </a:r>
            <a:endParaRPr lang="en-US" altLang="zh-CN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middle element value matches the given value, the search is successful.</a:t>
            </a:r>
            <a:endParaRPr lang="en-US" altLang="zh-CN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middle element value is greater than the given value, then in the range</a:t>
            </a:r>
          </a:p>
          <a:p>
            <a:pPr lvl="1">
              <a:spcBef>
                <a:spcPct val="20000"/>
              </a:spcBef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[low, mid-1] perform binary search</a:t>
            </a:r>
            <a:endParaRPr lang="zh-CN" altLang="en-US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middle element value is less than the given value, then in the range</a:t>
            </a:r>
          </a:p>
          <a:p>
            <a:pPr lvl="1">
              <a:spcBef>
                <a:spcPct val="20000"/>
              </a:spcBef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Perform binary search in [mid+1, hig]</a:t>
            </a:r>
            <a:endParaRPr lang="zh-CN" altLang="en-US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bldLvl="2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250825" y="476250"/>
            <a:ext cx="8893810" cy="5631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ea typeface="楷体_GB2312" pitchFamily="49" charset="-122"/>
              </a:rPr>
              <a:t>int</a:t>
            </a:r>
            <a:r>
              <a:rPr lang="en-US" altLang="zh-CN" sz="2400" b="0" dirty="0">
                <a:ea typeface="楷体_GB2312" pitchFamily="49" charset="-122"/>
              </a:rPr>
              <a:t> </a:t>
            </a:r>
            <a:r>
              <a:rPr lang="en-US" altLang="zh-CN" sz="2400" b="0" dirty="0" err="1">
                <a:ea typeface="楷体_GB2312" pitchFamily="49" charset="-122"/>
              </a:rPr>
              <a:t>Search_Bin</a:t>
            </a:r>
            <a:r>
              <a:rPr lang="en-US" altLang="zh-CN" sz="2400" b="0" dirty="0">
                <a:ea typeface="楷体_GB2312" pitchFamily="49" charset="-122"/>
              </a:rPr>
              <a:t> ( </a:t>
            </a:r>
            <a:r>
              <a:rPr lang="en-US" altLang="zh-CN" sz="2400" b="0" dirty="0" err="1">
                <a:ea typeface="楷体_GB2312" pitchFamily="49" charset="-122"/>
              </a:rPr>
              <a:t>SSTable</a:t>
            </a:r>
            <a:r>
              <a:rPr lang="en-US" altLang="zh-CN" sz="2400" b="0" dirty="0">
                <a:ea typeface="楷体_GB2312" pitchFamily="49" charset="-122"/>
              </a:rPr>
              <a:t> ST, </a:t>
            </a:r>
            <a:r>
              <a:rPr lang="en-US" altLang="zh-CN" sz="2400" b="0" dirty="0" err="1">
                <a:ea typeface="楷体_GB2312" pitchFamily="49" charset="-122"/>
              </a:rPr>
              <a:t>KeyType</a:t>
            </a:r>
            <a:r>
              <a:rPr lang="en-US" altLang="zh-CN" sz="2400" b="0" dirty="0">
                <a:ea typeface="楷体_GB2312" pitchFamily="49" charset="-122"/>
              </a:rPr>
              <a:t> key ) </a:t>
            </a:r>
            <a:r>
              <a:rPr lang="en-US" altLang="zh-CN" sz="2400" dirty="0">
                <a:ea typeface="楷体_GB2312" pitchFamily="49" charset="-122"/>
              </a:rPr>
              <a:t>{</a:t>
            </a:r>
            <a:endParaRPr lang="en-US" altLang="zh-CN" sz="2400" b="0" dirty="0">
              <a:ea typeface="楷体_GB2312" pitchFamily="49" charset="-122"/>
            </a:endParaRPr>
          </a:p>
          <a:p>
            <a:r>
              <a:rPr lang="en-US" altLang="zh-CN" sz="2400" b="0" dirty="0">
                <a:solidFill>
                  <a:srgbClr val="800000"/>
                </a:solidFill>
                <a:ea typeface="楷体_GB2312" pitchFamily="49" charset="-122"/>
              </a:rPr>
              <a:t>   </a:t>
            </a:r>
            <a:r>
              <a:rPr lang="en-US" altLang="zh-CN" sz="2400" b="0" dirty="0">
                <a:ea typeface="楷体_GB2312" pitchFamily="49" charset="-122"/>
              </a:rPr>
              <a:t>low = 1;  high = </a:t>
            </a:r>
            <a:r>
              <a:rPr lang="en-US" altLang="zh-CN" sz="2400" b="0" dirty="0" err="1">
                <a:ea typeface="楷体_GB2312" pitchFamily="49" charset="-122"/>
              </a:rPr>
              <a:t>ST.length</a:t>
            </a:r>
            <a:r>
              <a:rPr lang="en-US" altLang="zh-CN" sz="2400" b="0" dirty="0">
                <a:ea typeface="楷体_GB2312" pitchFamily="49" charset="-122"/>
              </a:rPr>
              <a:t>;</a:t>
            </a:r>
            <a:r>
              <a:rPr lang="en-US" altLang="zh-CN" sz="2400" b="0" dirty="0">
                <a:solidFill>
                  <a:srgbClr val="800000"/>
                </a:solidFill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 sz="2400" dirty="0">
                <a:solidFill>
                  <a:srgbClr val="006600"/>
                </a:solidFill>
                <a:ea typeface="楷体_GB2312" pitchFamily="49" charset="-122"/>
                <a:sym typeface="+mn-ea"/>
              </a:rPr>
              <a:t>Initial values for the interval</a:t>
            </a:r>
            <a:endParaRPr lang="en-US" altLang="zh-CN" sz="2400" dirty="0">
              <a:solidFill>
                <a:srgbClr val="006600"/>
              </a:solidFill>
              <a:ea typeface="楷体_GB2312" pitchFamily="49" charset="-122"/>
            </a:endParaRPr>
          </a:p>
          <a:p>
            <a:r>
              <a:rPr lang="zh-CN" altLang="en-US" sz="2400" b="0" dirty="0">
                <a:solidFill>
                  <a:srgbClr val="800000"/>
                </a:solidFill>
                <a:ea typeface="楷体_GB2312" pitchFamily="49" charset="-122"/>
              </a:rPr>
              <a:t>   </a:t>
            </a:r>
            <a:r>
              <a:rPr lang="en-US" altLang="zh-CN" sz="2400" dirty="0">
                <a:ea typeface="楷体_GB2312" pitchFamily="49" charset="-122"/>
              </a:rPr>
              <a:t>while</a:t>
            </a:r>
            <a:r>
              <a:rPr lang="en-US" altLang="zh-CN" sz="2400" b="0" dirty="0">
                <a:ea typeface="楷体_GB2312" pitchFamily="49" charset="-122"/>
              </a:rPr>
              <a:t> (low &lt;= high) </a:t>
            </a:r>
            <a:r>
              <a:rPr lang="en-US" altLang="zh-CN" sz="2400" dirty="0">
                <a:ea typeface="楷体_GB2312" pitchFamily="49" charset="-122"/>
              </a:rPr>
              <a:t>{</a:t>
            </a:r>
            <a:endParaRPr lang="en-US" altLang="zh-CN" sz="2400" b="0" dirty="0">
              <a:ea typeface="楷体_GB2312" pitchFamily="49" charset="-122"/>
            </a:endParaRPr>
          </a:p>
          <a:p>
            <a:r>
              <a:rPr lang="en-US" altLang="zh-CN" sz="2400" b="0" dirty="0">
                <a:ea typeface="楷体_GB2312" pitchFamily="49" charset="-122"/>
              </a:rPr>
              <a:t>      mid = (low + high) / 2;</a:t>
            </a:r>
          </a:p>
          <a:p>
            <a:r>
              <a:rPr lang="en-US" altLang="zh-CN" sz="2400" b="0" dirty="0">
                <a:solidFill>
                  <a:srgbClr val="800000"/>
                </a:solidFill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if </a:t>
            </a:r>
            <a:r>
              <a:rPr lang="zh-CN" altLang="en-US" sz="2400" b="0" dirty="0">
                <a:ea typeface="楷体_GB2312" pitchFamily="49" charset="-122"/>
              </a:rPr>
              <a:t>（</a:t>
            </a:r>
            <a:r>
              <a:rPr lang="en-US" altLang="zh-CN" sz="2400" b="0" dirty="0">
                <a:ea typeface="楷体_GB2312" pitchFamily="49" charset="-122"/>
              </a:rPr>
              <a:t>EQ (key , </a:t>
            </a:r>
            <a:r>
              <a:rPr lang="en-US" altLang="zh-CN" sz="2400" b="0" dirty="0" err="1">
                <a:ea typeface="楷体_GB2312" pitchFamily="49" charset="-122"/>
              </a:rPr>
              <a:t>ST.elem</a:t>
            </a:r>
            <a:r>
              <a:rPr lang="en-US" altLang="zh-CN" sz="2400" b="0" dirty="0">
                <a:ea typeface="楷体_GB2312" pitchFamily="49" charset="-122"/>
              </a:rPr>
              <a:t>[mid].key) )</a:t>
            </a:r>
          </a:p>
          <a:p>
            <a:r>
              <a:rPr lang="en-US" altLang="zh-CN" sz="2400" b="0" dirty="0">
                <a:ea typeface="楷体_GB2312" pitchFamily="49" charset="-122"/>
              </a:rPr>
              <a:t>        </a:t>
            </a:r>
            <a:r>
              <a:rPr lang="en-US" altLang="zh-CN" sz="2400" dirty="0">
                <a:ea typeface="楷体_GB2312" pitchFamily="49" charset="-122"/>
              </a:rPr>
              <a:t>return </a:t>
            </a:r>
            <a:r>
              <a:rPr lang="en-US" altLang="zh-CN" sz="2400" b="0" dirty="0">
                <a:ea typeface="楷体_GB2312" pitchFamily="49" charset="-122"/>
              </a:rPr>
              <a:t> mid;</a:t>
            </a:r>
            <a:r>
              <a:rPr lang="en-US" altLang="zh-CN" sz="2400" b="0" dirty="0">
                <a:solidFill>
                  <a:srgbClr val="CC0000"/>
                </a:solidFill>
                <a:ea typeface="楷体_GB2312" pitchFamily="49" charset="-122"/>
              </a:rPr>
              <a:t>       </a:t>
            </a:r>
            <a:r>
              <a:rPr lang="zh-CN" altLang="en-US" sz="2400" b="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 </a:t>
            </a:r>
            <a:r>
              <a:rPr lang="zh-CN" altLang="en-US" sz="240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// </a:t>
            </a:r>
            <a:r>
              <a:rPr lang="zh-CN" altLang="en-US" sz="240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Find the element to check</a:t>
            </a:r>
            <a:endParaRPr lang="zh-CN" altLang="en-US" sz="2400" dirty="0">
              <a:solidFill>
                <a:srgbClr val="006600"/>
              </a:solidFill>
              <a:ea typeface="楷体_GB2312" pitchFamily="49" charset="-122"/>
            </a:endParaRPr>
          </a:p>
          <a:p>
            <a:r>
              <a:rPr lang="zh-CN" altLang="en-US" sz="2400" b="0" dirty="0">
                <a:solidFill>
                  <a:srgbClr val="800000"/>
                </a:solidFill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else  if</a:t>
            </a:r>
            <a:r>
              <a:rPr lang="en-US" altLang="zh-CN" sz="2400" b="0" dirty="0">
                <a:ea typeface="楷体_GB2312" pitchFamily="49" charset="-122"/>
              </a:rPr>
              <a:t> ( LT (key , </a:t>
            </a:r>
            <a:r>
              <a:rPr lang="en-US" altLang="zh-CN" sz="2400" b="0" dirty="0" err="1">
                <a:ea typeface="楷体_GB2312" pitchFamily="49" charset="-122"/>
              </a:rPr>
              <a:t>ST.elem</a:t>
            </a:r>
            <a:r>
              <a:rPr lang="en-US" altLang="zh-CN" sz="2400" b="0" dirty="0">
                <a:ea typeface="楷体_GB2312" pitchFamily="49" charset="-122"/>
              </a:rPr>
              <a:t>[mid].key) )</a:t>
            </a:r>
          </a:p>
          <a:p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        high = mid - 1</a:t>
            </a:r>
            <a:r>
              <a:rPr lang="en-US" altLang="zh-CN" sz="2400" b="1" dirty="0">
                <a:solidFill>
                  <a:srgbClr val="800000"/>
                </a:solidFill>
                <a:ea typeface="楷体_GB2312" pitchFamily="49" charset="-122"/>
              </a:rPr>
              <a:t>;  </a:t>
            </a:r>
          </a:p>
          <a:p>
            <a:r>
              <a:rPr lang="zh-CN" altLang="en-US" sz="2400" dirty="0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zh-CN" altLang="en-US" sz="2400" dirty="0">
                <a:solidFill>
                  <a:srgbClr val="006600"/>
                </a:solidFill>
                <a:ea typeface="楷体_GB2312" pitchFamily="49" charset="-122"/>
                <a:sym typeface="+mn-ea"/>
              </a:rPr>
              <a:t>Continue searching in the first half of the interval</a:t>
            </a:r>
            <a:endParaRPr lang="zh-CN" altLang="en-US" sz="2400" dirty="0">
              <a:solidFill>
                <a:srgbClr val="006600"/>
              </a:solidFill>
              <a:ea typeface="楷体_GB2312" pitchFamily="49" charset="-122"/>
            </a:endParaRPr>
          </a:p>
          <a:p>
            <a:r>
              <a:rPr lang="zh-CN" altLang="en-US" sz="2400" b="0" dirty="0">
                <a:solidFill>
                  <a:srgbClr val="800000"/>
                </a:solidFill>
                <a:ea typeface="楷体_GB2312" pitchFamily="49" charset="-122"/>
              </a:rPr>
              <a:t>      </a:t>
            </a:r>
            <a:r>
              <a:rPr lang="en-US" altLang="zh-CN" sz="2400" dirty="0">
                <a:ea typeface="楷体_GB2312" pitchFamily="49" charset="-122"/>
              </a:rPr>
              <a:t>else</a:t>
            </a:r>
            <a:r>
              <a:rPr lang="en-US" altLang="zh-CN" sz="2400" b="0" dirty="0">
                <a:solidFill>
                  <a:srgbClr val="800000"/>
                </a:solidFill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low = mid + 1</a:t>
            </a:r>
            <a:r>
              <a:rPr lang="en-US" altLang="zh-CN" sz="2400" b="0" dirty="0">
                <a:solidFill>
                  <a:schemeClr val="accent2"/>
                </a:solidFill>
                <a:ea typeface="楷体_GB2312" pitchFamily="49" charset="-122"/>
              </a:rPr>
              <a:t>;</a:t>
            </a:r>
            <a:r>
              <a:rPr lang="en-US" altLang="zh-CN" sz="2400" b="0" dirty="0">
                <a:solidFill>
                  <a:srgbClr val="0000FF"/>
                </a:solidFill>
                <a:ea typeface="楷体_GB2312" pitchFamily="49" charset="-122"/>
              </a:rPr>
              <a:t>  </a:t>
            </a:r>
            <a:r>
              <a:rPr lang="en-US" altLang="zh-CN" sz="2400" b="0" dirty="0">
                <a:solidFill>
                  <a:srgbClr val="800000"/>
                </a:solidFill>
                <a:ea typeface="楷体_GB2312" pitchFamily="49" charset="-122"/>
              </a:rPr>
              <a:t> </a:t>
            </a:r>
          </a:p>
          <a:p>
            <a:pPr algn="l">
              <a:buClrTx/>
              <a:buSzTx/>
              <a:buFontTx/>
            </a:pPr>
            <a:r>
              <a:rPr lang="zh-CN" altLang="en-US" sz="2400" dirty="0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zh-CN" altLang="en-US" sz="2400" dirty="0">
                <a:solidFill>
                  <a:srgbClr val="006600"/>
                </a:solidFill>
                <a:ea typeface="楷体_GB2312" pitchFamily="49" charset="-122"/>
                <a:sym typeface="+mn-ea"/>
              </a:rPr>
              <a:t> Continue searching in the latter half of the interval</a:t>
            </a:r>
            <a:endParaRPr lang="zh-CN" altLang="en-US" sz="2400" dirty="0">
              <a:solidFill>
                <a:srgbClr val="006600"/>
              </a:solidFill>
              <a:ea typeface="楷体_GB2312" pitchFamily="49" charset="-122"/>
            </a:endParaRPr>
          </a:p>
          <a:p>
            <a:r>
              <a:rPr lang="zh-CN" altLang="en-US" sz="2400" b="0" dirty="0">
                <a:solidFill>
                  <a:srgbClr val="800000"/>
                </a:solidFill>
                <a:ea typeface="楷体_GB2312" pitchFamily="49" charset="-122"/>
              </a:rPr>
              <a:t>   </a:t>
            </a:r>
            <a:r>
              <a:rPr lang="en-US" altLang="zh-CN" sz="2400" dirty="0">
                <a:ea typeface="楷体_GB2312" pitchFamily="49" charset="-122"/>
              </a:rPr>
              <a:t>}</a:t>
            </a:r>
          </a:p>
          <a:p>
            <a:r>
              <a:rPr lang="en-US" altLang="zh-CN" sz="2400" dirty="0">
                <a:ea typeface="楷体_GB2312" pitchFamily="49" charset="-122"/>
              </a:rPr>
              <a:t>   return</a:t>
            </a:r>
            <a:r>
              <a:rPr lang="en-US" altLang="zh-CN" sz="2400" b="0" dirty="0">
                <a:ea typeface="楷体_GB2312" pitchFamily="49" charset="-122"/>
              </a:rPr>
              <a:t> 0;</a:t>
            </a:r>
            <a:r>
              <a:rPr lang="en-US" altLang="zh-CN" sz="2400" b="0" dirty="0">
                <a:solidFill>
                  <a:srgbClr val="800000"/>
                </a:solidFill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zh-CN" altLang="en-US" sz="2400" dirty="0">
                <a:solidFill>
                  <a:srgbClr val="006600"/>
                </a:solidFill>
                <a:ea typeface="楷体_GB2312" pitchFamily="49" charset="-122"/>
                <a:sym typeface="+mn-ea"/>
              </a:rPr>
              <a:t>The element is not found in the sequential list</a:t>
            </a:r>
            <a:endParaRPr lang="zh-CN" altLang="en-US" sz="2400" dirty="0">
              <a:solidFill>
                <a:srgbClr val="006600"/>
              </a:solidFill>
              <a:ea typeface="楷体_GB2312" pitchFamily="49" charset="-122"/>
            </a:endParaRPr>
          </a:p>
          <a:p>
            <a:endParaRPr lang="zh-CN" altLang="en-US" sz="2400" dirty="0">
              <a:solidFill>
                <a:srgbClr val="006600"/>
              </a:solidFill>
              <a:ea typeface="楷体_GB2312" pitchFamily="49" charset="-122"/>
            </a:endParaRPr>
          </a:p>
          <a:p>
            <a:r>
              <a:rPr lang="en-US" altLang="zh-CN" sz="2400" b="0" dirty="0">
                <a:ea typeface="楷体_GB2312" pitchFamily="49" charset="-122"/>
              </a:rPr>
              <a:t>} // </a:t>
            </a:r>
            <a:r>
              <a:rPr lang="en-US" altLang="zh-CN" sz="2400" b="0" dirty="0" err="1">
                <a:ea typeface="楷体_GB2312" pitchFamily="49" charset="-122"/>
              </a:rPr>
              <a:t>Search_Bin</a:t>
            </a:r>
            <a:endParaRPr lang="en-US" altLang="zh-CN" sz="2400" b="0" dirty="0">
              <a:ea typeface="楷体_GB2312" pitchFamily="49" charset="-122"/>
            </a:endParaRPr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auto">
          <a:xfrm>
            <a:off x="179388" y="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Binary search algorithm</a:t>
            </a:r>
            <a:endParaRPr lang="zh-CN" altLang="en-US" sz="320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bldLvl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473075" y="304800"/>
            <a:ext cx="8428990" cy="113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altLang="zh-CN" sz="2000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endParaRPr lang="en-US" altLang="zh-CN" sz="2000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First, let's look at a specific case. Assume</a:t>
            </a:r>
            <a:r>
              <a:rPr lang="en-US" altLang="en-US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n=11</a:t>
            </a: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0" y="260350"/>
            <a:ext cx="8407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(3)Analyze the Time Performance (ASL) of Binary Search</a:t>
            </a:r>
          </a:p>
        </p:txBody>
      </p:sp>
      <p:sp>
        <p:nvSpPr>
          <p:cNvPr id="99332" name="Oval 4"/>
          <p:cNvSpPr>
            <a:spLocks noChangeArrowheads="1"/>
          </p:cNvSpPr>
          <p:nvPr/>
        </p:nvSpPr>
        <p:spPr bwMode="auto">
          <a:xfrm>
            <a:off x="4267200" y="3352800"/>
            <a:ext cx="609600" cy="533400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rgbClr val="006600"/>
                </a:solidFill>
              </a:rPr>
              <a:t>6</a:t>
            </a:r>
            <a:endParaRPr lang="en-US" altLang="zh-CN" sz="2400" b="0"/>
          </a:p>
        </p:txBody>
      </p:sp>
      <p:sp>
        <p:nvSpPr>
          <p:cNvPr id="99333" name="Oval 5"/>
          <p:cNvSpPr>
            <a:spLocks noChangeArrowheads="1"/>
          </p:cNvSpPr>
          <p:nvPr/>
        </p:nvSpPr>
        <p:spPr bwMode="auto">
          <a:xfrm>
            <a:off x="1295400" y="3810000"/>
            <a:ext cx="609600" cy="533400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chemeClr val="accent2"/>
                </a:solidFill>
              </a:rPr>
              <a:t>3</a:t>
            </a:r>
            <a:endParaRPr lang="en-US" altLang="zh-CN" sz="2400" b="0"/>
          </a:p>
        </p:txBody>
      </p:sp>
      <p:sp>
        <p:nvSpPr>
          <p:cNvPr id="99334" name="Oval 6"/>
          <p:cNvSpPr>
            <a:spLocks noChangeArrowheads="1"/>
          </p:cNvSpPr>
          <p:nvPr/>
        </p:nvSpPr>
        <p:spPr bwMode="auto">
          <a:xfrm>
            <a:off x="6400800" y="3810000"/>
            <a:ext cx="609600" cy="533400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chemeClr val="accent2"/>
                </a:solidFill>
              </a:rPr>
              <a:t>9</a:t>
            </a:r>
            <a:endParaRPr lang="en-US" altLang="zh-CN" sz="2400"/>
          </a:p>
        </p:txBody>
      </p:sp>
      <p:sp>
        <p:nvSpPr>
          <p:cNvPr id="99335" name="Oval 7"/>
          <p:cNvSpPr>
            <a:spLocks noChangeArrowheads="1"/>
          </p:cNvSpPr>
          <p:nvPr/>
        </p:nvSpPr>
        <p:spPr bwMode="auto">
          <a:xfrm>
            <a:off x="381000" y="4419600"/>
            <a:ext cx="609600" cy="533400"/>
          </a:xfrm>
          <a:prstGeom prst="ellipse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rgbClr val="FF00FF"/>
                </a:solidFill>
              </a:rPr>
              <a:t>1</a:t>
            </a:r>
            <a:endParaRPr lang="en-US" altLang="zh-CN" sz="2400" b="0"/>
          </a:p>
        </p:txBody>
      </p:sp>
      <p:sp>
        <p:nvSpPr>
          <p:cNvPr id="99336" name="Oval 8"/>
          <p:cNvSpPr>
            <a:spLocks noChangeArrowheads="1"/>
          </p:cNvSpPr>
          <p:nvPr/>
        </p:nvSpPr>
        <p:spPr bwMode="auto">
          <a:xfrm>
            <a:off x="2286000" y="4343400"/>
            <a:ext cx="609600" cy="533400"/>
          </a:xfrm>
          <a:prstGeom prst="ellipse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rgbClr val="FF00FF"/>
                </a:solidFill>
              </a:rPr>
              <a:t>4</a:t>
            </a:r>
            <a:endParaRPr lang="en-US" altLang="zh-CN" sz="2400" b="0"/>
          </a:p>
        </p:txBody>
      </p:sp>
      <p:sp>
        <p:nvSpPr>
          <p:cNvPr id="99337" name="Rectangle 9"/>
          <p:cNvSpPr>
            <a:spLocks noChangeArrowheads="1"/>
          </p:cNvSpPr>
          <p:nvPr/>
        </p:nvSpPr>
        <p:spPr bwMode="auto">
          <a:xfrm>
            <a:off x="228600" y="54864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8" name="Rectangle 10"/>
          <p:cNvSpPr>
            <a:spLocks noChangeArrowheads="1"/>
          </p:cNvSpPr>
          <p:nvPr/>
        </p:nvSpPr>
        <p:spPr bwMode="auto">
          <a:xfrm>
            <a:off x="1066800" y="59436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9" name="Rectangle 11"/>
          <p:cNvSpPr>
            <a:spLocks noChangeArrowheads="1"/>
          </p:cNvSpPr>
          <p:nvPr/>
        </p:nvSpPr>
        <p:spPr bwMode="auto">
          <a:xfrm>
            <a:off x="1828800" y="59436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0" name="Rectangle 12"/>
          <p:cNvSpPr>
            <a:spLocks noChangeArrowheads="1"/>
          </p:cNvSpPr>
          <p:nvPr/>
        </p:nvSpPr>
        <p:spPr bwMode="auto">
          <a:xfrm>
            <a:off x="2362200" y="52578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1" name="Rectangle 13"/>
          <p:cNvSpPr>
            <a:spLocks noChangeArrowheads="1"/>
          </p:cNvSpPr>
          <p:nvPr/>
        </p:nvSpPr>
        <p:spPr bwMode="auto">
          <a:xfrm>
            <a:off x="3124200" y="59436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2" name="Rectangle 14"/>
          <p:cNvSpPr>
            <a:spLocks noChangeArrowheads="1"/>
          </p:cNvSpPr>
          <p:nvPr/>
        </p:nvSpPr>
        <p:spPr bwMode="auto">
          <a:xfrm>
            <a:off x="3886200" y="59436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3" name="Rectangle 15"/>
          <p:cNvSpPr>
            <a:spLocks noChangeArrowheads="1"/>
          </p:cNvSpPr>
          <p:nvPr/>
        </p:nvSpPr>
        <p:spPr bwMode="auto">
          <a:xfrm>
            <a:off x="4572000" y="52578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4" name="Rectangle 16"/>
          <p:cNvSpPr>
            <a:spLocks noChangeArrowheads="1"/>
          </p:cNvSpPr>
          <p:nvPr/>
        </p:nvSpPr>
        <p:spPr bwMode="auto">
          <a:xfrm>
            <a:off x="5410200" y="59436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5" name="Rectangle 17"/>
          <p:cNvSpPr>
            <a:spLocks noChangeArrowheads="1"/>
          </p:cNvSpPr>
          <p:nvPr/>
        </p:nvSpPr>
        <p:spPr bwMode="auto">
          <a:xfrm>
            <a:off x="6172200" y="59436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6" name="Rectangle 18"/>
          <p:cNvSpPr>
            <a:spLocks noChangeArrowheads="1"/>
          </p:cNvSpPr>
          <p:nvPr/>
        </p:nvSpPr>
        <p:spPr bwMode="auto">
          <a:xfrm>
            <a:off x="6934200" y="52578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7" name="Rectangle 19"/>
          <p:cNvSpPr>
            <a:spLocks noChangeArrowheads="1"/>
          </p:cNvSpPr>
          <p:nvPr/>
        </p:nvSpPr>
        <p:spPr bwMode="auto">
          <a:xfrm>
            <a:off x="7848600" y="59436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8" name="Rectangle 20"/>
          <p:cNvSpPr>
            <a:spLocks noChangeArrowheads="1"/>
          </p:cNvSpPr>
          <p:nvPr/>
        </p:nvSpPr>
        <p:spPr bwMode="auto">
          <a:xfrm>
            <a:off x="8534400" y="5943600"/>
            <a:ext cx="3048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9" name="Oval 21"/>
          <p:cNvSpPr>
            <a:spLocks noChangeArrowheads="1"/>
          </p:cNvSpPr>
          <p:nvPr/>
        </p:nvSpPr>
        <p:spPr bwMode="auto">
          <a:xfrm>
            <a:off x="1295400" y="5105400"/>
            <a:ext cx="609600" cy="533400"/>
          </a:xfrm>
          <a:prstGeom prst="ellipse">
            <a:avLst/>
          </a:prstGeom>
          <a:solidFill>
            <a:srgbClr val="9D9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rgbClr val="6600CC"/>
                </a:solidFill>
              </a:rPr>
              <a:t>2</a:t>
            </a:r>
            <a:endParaRPr lang="en-US" altLang="zh-CN" sz="2400" b="0"/>
          </a:p>
        </p:txBody>
      </p:sp>
      <p:sp>
        <p:nvSpPr>
          <p:cNvPr id="99350" name="Oval 22"/>
          <p:cNvSpPr>
            <a:spLocks noChangeArrowheads="1"/>
          </p:cNvSpPr>
          <p:nvPr/>
        </p:nvSpPr>
        <p:spPr bwMode="auto">
          <a:xfrm>
            <a:off x="3352800" y="5029200"/>
            <a:ext cx="609600" cy="533400"/>
          </a:xfrm>
          <a:prstGeom prst="ellipse">
            <a:avLst/>
          </a:prstGeom>
          <a:solidFill>
            <a:srgbClr val="9D9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rgbClr val="6600CC"/>
                </a:solidFill>
              </a:rPr>
              <a:t>5</a:t>
            </a:r>
            <a:endParaRPr lang="en-US" altLang="zh-CN" sz="2400" b="0"/>
          </a:p>
        </p:txBody>
      </p:sp>
      <p:sp>
        <p:nvSpPr>
          <p:cNvPr id="99351" name="Oval 23"/>
          <p:cNvSpPr>
            <a:spLocks noChangeArrowheads="1"/>
          </p:cNvSpPr>
          <p:nvPr/>
        </p:nvSpPr>
        <p:spPr bwMode="auto">
          <a:xfrm>
            <a:off x="4953000" y="4343400"/>
            <a:ext cx="609600" cy="533400"/>
          </a:xfrm>
          <a:prstGeom prst="ellipse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rgbClr val="FF00FF"/>
                </a:solidFill>
              </a:rPr>
              <a:t>7</a:t>
            </a:r>
            <a:endParaRPr lang="en-US" altLang="zh-CN" sz="2400" b="0"/>
          </a:p>
        </p:txBody>
      </p:sp>
      <p:sp>
        <p:nvSpPr>
          <p:cNvPr id="99352" name="Oval 24"/>
          <p:cNvSpPr>
            <a:spLocks noChangeArrowheads="1"/>
          </p:cNvSpPr>
          <p:nvPr/>
        </p:nvSpPr>
        <p:spPr bwMode="auto">
          <a:xfrm>
            <a:off x="5638800" y="5029200"/>
            <a:ext cx="609600" cy="533400"/>
          </a:xfrm>
          <a:prstGeom prst="ellipse">
            <a:avLst/>
          </a:prstGeom>
          <a:solidFill>
            <a:srgbClr val="9D9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rgbClr val="6600CC"/>
                </a:solidFill>
              </a:rPr>
              <a:t>8</a:t>
            </a:r>
            <a:endParaRPr lang="en-US" altLang="zh-CN" sz="2400" b="0"/>
          </a:p>
        </p:txBody>
      </p:sp>
      <p:sp>
        <p:nvSpPr>
          <p:cNvPr id="99353" name="Oval 25"/>
          <p:cNvSpPr>
            <a:spLocks noChangeArrowheads="1"/>
          </p:cNvSpPr>
          <p:nvPr/>
        </p:nvSpPr>
        <p:spPr bwMode="auto">
          <a:xfrm>
            <a:off x="7315200" y="4419600"/>
            <a:ext cx="609600" cy="533400"/>
          </a:xfrm>
          <a:prstGeom prst="ellipse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rgbClr val="FF00FF"/>
                </a:solidFill>
              </a:rPr>
              <a:t>10</a:t>
            </a:r>
            <a:endParaRPr lang="en-US" altLang="zh-CN" sz="2400" b="0"/>
          </a:p>
        </p:txBody>
      </p:sp>
      <p:sp>
        <p:nvSpPr>
          <p:cNvPr id="99354" name="Oval 26"/>
          <p:cNvSpPr>
            <a:spLocks noChangeArrowheads="1"/>
          </p:cNvSpPr>
          <p:nvPr/>
        </p:nvSpPr>
        <p:spPr bwMode="auto">
          <a:xfrm>
            <a:off x="8001000" y="5105400"/>
            <a:ext cx="609600" cy="533400"/>
          </a:xfrm>
          <a:prstGeom prst="ellipse">
            <a:avLst/>
          </a:prstGeom>
          <a:solidFill>
            <a:srgbClr val="9D9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>
                <a:solidFill>
                  <a:srgbClr val="6600CC"/>
                </a:solidFill>
              </a:rPr>
              <a:t>11</a:t>
            </a:r>
            <a:endParaRPr lang="en-US" altLang="zh-CN" sz="2400" b="0"/>
          </a:p>
        </p:txBody>
      </p:sp>
      <p:sp>
        <p:nvSpPr>
          <p:cNvPr id="99355" name="Line 27"/>
          <p:cNvSpPr>
            <a:spLocks noChangeShapeType="1"/>
          </p:cNvSpPr>
          <p:nvPr/>
        </p:nvSpPr>
        <p:spPr bwMode="auto">
          <a:xfrm flipH="1">
            <a:off x="1905000" y="3657600"/>
            <a:ext cx="2286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6" name="Line 28"/>
          <p:cNvSpPr>
            <a:spLocks noChangeShapeType="1"/>
          </p:cNvSpPr>
          <p:nvPr/>
        </p:nvSpPr>
        <p:spPr bwMode="auto">
          <a:xfrm>
            <a:off x="4953000" y="3657600"/>
            <a:ext cx="1524000" cy="228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7" name="Line 29"/>
          <p:cNvSpPr>
            <a:spLocks noChangeShapeType="1"/>
          </p:cNvSpPr>
          <p:nvPr/>
        </p:nvSpPr>
        <p:spPr bwMode="auto">
          <a:xfrm flipH="1">
            <a:off x="914400" y="4267200"/>
            <a:ext cx="3810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8" name="Line 30"/>
          <p:cNvSpPr>
            <a:spLocks noChangeShapeType="1"/>
          </p:cNvSpPr>
          <p:nvPr/>
        </p:nvSpPr>
        <p:spPr bwMode="auto">
          <a:xfrm flipH="1">
            <a:off x="381000" y="4953000"/>
            <a:ext cx="1524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9" name="Line 31"/>
          <p:cNvSpPr>
            <a:spLocks noChangeShapeType="1"/>
          </p:cNvSpPr>
          <p:nvPr/>
        </p:nvSpPr>
        <p:spPr bwMode="auto">
          <a:xfrm>
            <a:off x="990600" y="4800600"/>
            <a:ext cx="381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0" name="Line 32"/>
          <p:cNvSpPr>
            <a:spLocks noChangeShapeType="1"/>
          </p:cNvSpPr>
          <p:nvPr/>
        </p:nvSpPr>
        <p:spPr bwMode="auto">
          <a:xfrm flipH="1">
            <a:off x="1219200" y="5562600"/>
            <a:ext cx="1524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1" name="Line 33"/>
          <p:cNvSpPr>
            <a:spLocks noChangeShapeType="1"/>
          </p:cNvSpPr>
          <p:nvPr/>
        </p:nvSpPr>
        <p:spPr bwMode="auto">
          <a:xfrm>
            <a:off x="1828800" y="5562600"/>
            <a:ext cx="1524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2" name="Line 34"/>
          <p:cNvSpPr>
            <a:spLocks noChangeShapeType="1"/>
          </p:cNvSpPr>
          <p:nvPr/>
        </p:nvSpPr>
        <p:spPr bwMode="auto">
          <a:xfrm>
            <a:off x="1828800" y="4267200"/>
            <a:ext cx="4572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3" name="Line 35"/>
          <p:cNvSpPr>
            <a:spLocks noChangeShapeType="1"/>
          </p:cNvSpPr>
          <p:nvPr/>
        </p:nvSpPr>
        <p:spPr bwMode="auto">
          <a:xfrm>
            <a:off x="2514600" y="4876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4" name="Line 36"/>
          <p:cNvSpPr>
            <a:spLocks noChangeShapeType="1"/>
          </p:cNvSpPr>
          <p:nvPr/>
        </p:nvSpPr>
        <p:spPr bwMode="auto">
          <a:xfrm>
            <a:off x="3810000" y="5486400"/>
            <a:ext cx="2286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5" name="Line 37"/>
          <p:cNvSpPr>
            <a:spLocks noChangeShapeType="1"/>
          </p:cNvSpPr>
          <p:nvPr/>
        </p:nvSpPr>
        <p:spPr bwMode="auto">
          <a:xfrm>
            <a:off x="2895600" y="4724400"/>
            <a:ext cx="5334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6" name="Line 38"/>
          <p:cNvSpPr>
            <a:spLocks noChangeShapeType="1"/>
          </p:cNvSpPr>
          <p:nvPr/>
        </p:nvSpPr>
        <p:spPr bwMode="auto">
          <a:xfrm flipH="1">
            <a:off x="3276600" y="5486400"/>
            <a:ext cx="1524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7" name="Line 39"/>
          <p:cNvSpPr>
            <a:spLocks noChangeShapeType="1"/>
          </p:cNvSpPr>
          <p:nvPr/>
        </p:nvSpPr>
        <p:spPr bwMode="auto">
          <a:xfrm flipH="1">
            <a:off x="5486400" y="4038600"/>
            <a:ext cx="9144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8" name="Line 40"/>
          <p:cNvSpPr>
            <a:spLocks noChangeShapeType="1"/>
          </p:cNvSpPr>
          <p:nvPr/>
        </p:nvSpPr>
        <p:spPr bwMode="auto">
          <a:xfrm flipH="1">
            <a:off x="4724400" y="4800600"/>
            <a:ext cx="3048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9" name="Line 41"/>
          <p:cNvSpPr>
            <a:spLocks noChangeShapeType="1"/>
          </p:cNvSpPr>
          <p:nvPr/>
        </p:nvSpPr>
        <p:spPr bwMode="auto">
          <a:xfrm>
            <a:off x="5486400" y="4800600"/>
            <a:ext cx="3048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0" name="Line 42"/>
          <p:cNvSpPr>
            <a:spLocks noChangeShapeType="1"/>
          </p:cNvSpPr>
          <p:nvPr/>
        </p:nvSpPr>
        <p:spPr bwMode="auto">
          <a:xfrm flipH="1">
            <a:off x="5638800" y="5562600"/>
            <a:ext cx="1524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1" name="Line 43"/>
          <p:cNvSpPr>
            <a:spLocks noChangeShapeType="1"/>
          </p:cNvSpPr>
          <p:nvPr/>
        </p:nvSpPr>
        <p:spPr bwMode="auto">
          <a:xfrm>
            <a:off x="6096000" y="5562600"/>
            <a:ext cx="2286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2" name="Line 44"/>
          <p:cNvSpPr>
            <a:spLocks noChangeShapeType="1"/>
          </p:cNvSpPr>
          <p:nvPr/>
        </p:nvSpPr>
        <p:spPr bwMode="auto">
          <a:xfrm>
            <a:off x="7010400" y="4114800"/>
            <a:ext cx="5334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3" name="Line 45"/>
          <p:cNvSpPr>
            <a:spLocks noChangeShapeType="1"/>
          </p:cNvSpPr>
          <p:nvPr/>
        </p:nvSpPr>
        <p:spPr bwMode="auto">
          <a:xfrm flipH="1">
            <a:off x="7086600" y="4876800"/>
            <a:ext cx="3048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4" name="Line 46"/>
          <p:cNvSpPr>
            <a:spLocks noChangeShapeType="1"/>
          </p:cNvSpPr>
          <p:nvPr/>
        </p:nvSpPr>
        <p:spPr bwMode="auto">
          <a:xfrm>
            <a:off x="7924800" y="4800600"/>
            <a:ext cx="3048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5" name="Line 47"/>
          <p:cNvSpPr>
            <a:spLocks noChangeShapeType="1"/>
          </p:cNvSpPr>
          <p:nvPr/>
        </p:nvSpPr>
        <p:spPr bwMode="auto">
          <a:xfrm flipH="1">
            <a:off x="8001000" y="5638800"/>
            <a:ext cx="152400" cy="304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6" name="Line 48"/>
          <p:cNvSpPr>
            <a:spLocks noChangeShapeType="1"/>
          </p:cNvSpPr>
          <p:nvPr/>
        </p:nvSpPr>
        <p:spPr bwMode="auto">
          <a:xfrm>
            <a:off x="8458200" y="5638800"/>
            <a:ext cx="1524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77" name="Text Box 49"/>
          <p:cNvSpPr txBox="1">
            <a:spLocks noChangeArrowheads="1"/>
          </p:cNvSpPr>
          <p:nvPr/>
        </p:nvSpPr>
        <p:spPr bwMode="auto">
          <a:xfrm>
            <a:off x="228600" y="3124200"/>
            <a:ext cx="23539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Decision Tree</a:t>
            </a:r>
          </a:p>
        </p:txBody>
      </p:sp>
      <p:graphicFrame>
        <p:nvGraphicFramePr>
          <p:cNvPr id="99378" name="Object 50"/>
          <p:cNvGraphicFramePr>
            <a:graphicFrameLocks noChangeAspect="1"/>
          </p:cNvGraphicFramePr>
          <p:nvPr/>
        </p:nvGraphicFramePr>
        <p:xfrm>
          <a:off x="414338" y="1785938"/>
          <a:ext cx="8505825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5" name="文档" r:id="rId3" imgW="8503920" imgH="1268095" progId="Word.Document.8">
                  <p:embed/>
                </p:oleObj>
              </mc:Choice>
              <mc:Fallback>
                <p:oleObj name="文档" r:id="rId3" imgW="8503920" imgH="1268095" progId="Word.Document.8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8" y="1785938"/>
                        <a:ext cx="8505825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79" name="Text Box 51"/>
          <p:cNvSpPr txBox="1">
            <a:spLocks noChangeArrowheads="1"/>
          </p:cNvSpPr>
          <p:nvPr/>
        </p:nvSpPr>
        <p:spPr bwMode="auto">
          <a:xfrm>
            <a:off x="4692650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chemeClr val="folHlink"/>
                </a:solidFill>
              </a:rPr>
              <a:t>1</a:t>
            </a:r>
            <a:endParaRPr lang="en-US" altLang="zh-CN" sz="2400" b="0">
              <a:solidFill>
                <a:schemeClr val="folHlink"/>
              </a:solidFill>
            </a:endParaRPr>
          </a:p>
        </p:txBody>
      </p:sp>
      <p:sp>
        <p:nvSpPr>
          <p:cNvPr id="99380" name="Text Box 52"/>
          <p:cNvSpPr txBox="1">
            <a:spLocks noChangeArrowheads="1"/>
          </p:cNvSpPr>
          <p:nvPr/>
        </p:nvSpPr>
        <p:spPr bwMode="auto">
          <a:xfrm>
            <a:off x="2635250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chemeClr val="accent2"/>
                </a:solidFill>
              </a:rPr>
              <a:t>2</a:t>
            </a:r>
            <a:endParaRPr lang="en-US" altLang="zh-CN" sz="2400" b="0"/>
          </a:p>
        </p:txBody>
      </p:sp>
      <p:sp>
        <p:nvSpPr>
          <p:cNvPr id="99381" name="Text Box 53"/>
          <p:cNvSpPr txBox="1">
            <a:spLocks noChangeArrowheads="1"/>
          </p:cNvSpPr>
          <p:nvPr/>
        </p:nvSpPr>
        <p:spPr bwMode="auto">
          <a:xfrm>
            <a:off x="6781800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chemeClr val="accent2"/>
                </a:solidFill>
              </a:rPr>
              <a:t>2</a:t>
            </a:r>
            <a:endParaRPr lang="en-US" altLang="zh-CN" sz="2400" b="0"/>
          </a:p>
        </p:txBody>
      </p:sp>
      <p:sp>
        <p:nvSpPr>
          <p:cNvPr id="99382" name="Text Box 54"/>
          <p:cNvSpPr txBox="1">
            <a:spLocks noChangeArrowheads="1"/>
          </p:cNvSpPr>
          <p:nvPr/>
        </p:nvSpPr>
        <p:spPr bwMode="auto">
          <a:xfrm>
            <a:off x="1263650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FF00FF"/>
                </a:solidFill>
              </a:rPr>
              <a:t>3</a:t>
            </a:r>
            <a:endParaRPr lang="en-US" altLang="zh-CN" sz="2400" b="0"/>
          </a:p>
        </p:txBody>
      </p:sp>
      <p:sp>
        <p:nvSpPr>
          <p:cNvPr id="99383" name="Text Box 55"/>
          <p:cNvSpPr txBox="1">
            <a:spLocks noChangeArrowheads="1"/>
          </p:cNvSpPr>
          <p:nvPr/>
        </p:nvSpPr>
        <p:spPr bwMode="auto">
          <a:xfrm>
            <a:off x="3321050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FF00FF"/>
                </a:solidFill>
              </a:rPr>
              <a:t>3</a:t>
            </a:r>
            <a:endParaRPr lang="en-US" altLang="zh-CN" sz="2400" b="0"/>
          </a:p>
        </p:txBody>
      </p:sp>
      <p:sp>
        <p:nvSpPr>
          <p:cNvPr id="99384" name="Text Box 56"/>
          <p:cNvSpPr txBox="1">
            <a:spLocks noChangeArrowheads="1"/>
          </p:cNvSpPr>
          <p:nvPr/>
        </p:nvSpPr>
        <p:spPr bwMode="auto">
          <a:xfrm>
            <a:off x="5410200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FF00FF"/>
                </a:solidFill>
              </a:rPr>
              <a:t>3</a:t>
            </a:r>
            <a:endParaRPr lang="en-US" altLang="zh-CN" sz="2400" b="0"/>
          </a:p>
        </p:txBody>
      </p:sp>
      <p:sp>
        <p:nvSpPr>
          <p:cNvPr id="99385" name="Text Box 57"/>
          <p:cNvSpPr txBox="1">
            <a:spLocks noChangeArrowheads="1"/>
          </p:cNvSpPr>
          <p:nvPr/>
        </p:nvSpPr>
        <p:spPr bwMode="auto">
          <a:xfrm>
            <a:off x="7467600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FF00FF"/>
                </a:solidFill>
              </a:rPr>
              <a:t>3</a:t>
            </a:r>
            <a:endParaRPr lang="en-US" altLang="zh-CN" sz="2400" b="0"/>
          </a:p>
        </p:txBody>
      </p:sp>
      <p:sp>
        <p:nvSpPr>
          <p:cNvPr id="99386" name="Text Box 58"/>
          <p:cNvSpPr txBox="1">
            <a:spLocks noChangeArrowheads="1"/>
          </p:cNvSpPr>
          <p:nvPr/>
        </p:nvSpPr>
        <p:spPr bwMode="auto">
          <a:xfrm>
            <a:off x="1965325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9D9DFF"/>
                </a:solidFill>
              </a:rPr>
              <a:t>4</a:t>
            </a:r>
            <a:endParaRPr lang="en-US" altLang="zh-CN" sz="2400" b="0"/>
          </a:p>
        </p:txBody>
      </p:sp>
      <p:sp>
        <p:nvSpPr>
          <p:cNvPr id="99387" name="Text Box 59"/>
          <p:cNvSpPr txBox="1">
            <a:spLocks noChangeArrowheads="1"/>
          </p:cNvSpPr>
          <p:nvPr/>
        </p:nvSpPr>
        <p:spPr bwMode="auto">
          <a:xfrm>
            <a:off x="4006850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9D9DFF"/>
                </a:solidFill>
              </a:rPr>
              <a:t>4</a:t>
            </a:r>
            <a:endParaRPr lang="en-US" altLang="zh-CN" sz="2400" b="0"/>
          </a:p>
        </p:txBody>
      </p:sp>
      <p:sp>
        <p:nvSpPr>
          <p:cNvPr id="99388" name="Text Box 60"/>
          <p:cNvSpPr txBox="1">
            <a:spLocks noChangeArrowheads="1"/>
          </p:cNvSpPr>
          <p:nvPr/>
        </p:nvSpPr>
        <p:spPr bwMode="auto">
          <a:xfrm>
            <a:off x="6080125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9D9DFF"/>
                </a:solidFill>
              </a:rPr>
              <a:t>4</a:t>
            </a:r>
            <a:endParaRPr lang="en-US" altLang="zh-CN" sz="2400" b="0"/>
          </a:p>
        </p:txBody>
      </p:sp>
      <p:sp>
        <p:nvSpPr>
          <p:cNvPr id="99389" name="Text Box 61"/>
          <p:cNvSpPr txBox="1">
            <a:spLocks noChangeArrowheads="1"/>
          </p:cNvSpPr>
          <p:nvPr/>
        </p:nvSpPr>
        <p:spPr bwMode="auto">
          <a:xfrm>
            <a:off x="8137525" y="225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9D9DFF"/>
                </a:solidFill>
              </a:rPr>
              <a:t>4</a:t>
            </a:r>
            <a:endParaRPr lang="en-US" altLang="zh-CN" sz="2400" b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5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5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5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5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3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35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45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55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99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99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99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99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500"/>
                            </p:stCondLst>
                            <p:childTnLst>
                              <p:par>
                                <p:cTn id="1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000"/>
                            </p:stCondLst>
                            <p:childTnLst>
                              <p:par>
                                <p:cTn id="1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500"/>
                            </p:stCondLst>
                            <p:childTnLst>
                              <p:par>
                                <p:cTn id="1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3000"/>
                            </p:stCondLst>
                            <p:childTnLst>
                              <p:par>
                                <p:cTn id="1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99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99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4000"/>
                            </p:stCondLst>
                            <p:childTnLst>
                              <p:par>
                                <p:cTn id="2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4500"/>
                            </p:stCondLst>
                            <p:childTnLst>
                              <p:par>
                                <p:cTn id="2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99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99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0"/>
                            </p:stCondLst>
                            <p:childTnLst>
                              <p:par>
                                <p:cTn id="2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99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99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500"/>
                            </p:stCondLst>
                            <p:childTnLst>
                              <p:par>
                                <p:cTn id="2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99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99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99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99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bldLvl="0" animBg="1" autoUpdateAnimBg="0"/>
      <p:bldP spid="99331" grpId="0" bldLvl="0" animBg="1" autoUpdateAnimBg="0"/>
      <p:bldP spid="99332" grpId="0" animBg="1" autoUpdateAnimBg="0"/>
      <p:bldP spid="99333" grpId="0" animBg="1" autoUpdateAnimBg="0"/>
      <p:bldP spid="99334" grpId="0" animBg="1" autoUpdateAnimBg="0"/>
      <p:bldP spid="99335" grpId="0" animBg="1" autoUpdateAnimBg="0"/>
      <p:bldP spid="99336" grpId="0" animBg="1" autoUpdateAnimBg="0"/>
      <p:bldP spid="99337" grpId="0" animBg="1"/>
      <p:bldP spid="99338" grpId="0" animBg="1"/>
      <p:bldP spid="99339" grpId="0" animBg="1"/>
      <p:bldP spid="99340" grpId="0" animBg="1"/>
      <p:bldP spid="99341" grpId="0" animBg="1"/>
      <p:bldP spid="99342" grpId="0" animBg="1"/>
      <p:bldP spid="99343" grpId="0" animBg="1"/>
      <p:bldP spid="99344" grpId="0" animBg="1"/>
      <p:bldP spid="99345" grpId="0" animBg="1"/>
      <p:bldP spid="99346" grpId="0" animBg="1"/>
      <p:bldP spid="99347" grpId="0" animBg="1"/>
      <p:bldP spid="99348" grpId="0" animBg="1"/>
      <p:bldP spid="99349" grpId="0" animBg="1" autoUpdateAnimBg="0"/>
      <p:bldP spid="99350" grpId="0" animBg="1" autoUpdateAnimBg="0"/>
      <p:bldP spid="99351" grpId="0" animBg="1" autoUpdateAnimBg="0"/>
      <p:bldP spid="99352" grpId="0" animBg="1" autoUpdateAnimBg="0"/>
      <p:bldP spid="99353" grpId="0" animBg="1" autoUpdateAnimBg="0"/>
      <p:bldP spid="99354" grpId="0" animBg="1" autoUpdateAnimBg="0"/>
      <p:bldP spid="99355" grpId="0" animBg="1"/>
      <p:bldP spid="99356" grpId="0" animBg="1"/>
      <p:bldP spid="99357" grpId="0" animBg="1"/>
      <p:bldP spid="99358" grpId="0" animBg="1"/>
      <p:bldP spid="99359" grpId="0" animBg="1"/>
      <p:bldP spid="99360" grpId="0" animBg="1"/>
      <p:bldP spid="99361" grpId="0" animBg="1"/>
      <p:bldP spid="99362" grpId="0" animBg="1"/>
      <p:bldP spid="99363" grpId="0" animBg="1"/>
      <p:bldP spid="99364" grpId="0" animBg="1"/>
      <p:bldP spid="99365" grpId="0" animBg="1"/>
      <p:bldP spid="99366" grpId="0" animBg="1"/>
      <p:bldP spid="99367" grpId="0" animBg="1"/>
      <p:bldP spid="99368" grpId="0" animBg="1"/>
      <p:bldP spid="99369" grpId="0" animBg="1"/>
      <p:bldP spid="99370" grpId="0" animBg="1"/>
      <p:bldP spid="99371" grpId="0" animBg="1"/>
      <p:bldP spid="99372" grpId="0" animBg="1"/>
      <p:bldP spid="99373" grpId="0" animBg="1"/>
      <p:bldP spid="99374" grpId="0" animBg="1"/>
      <p:bldP spid="99375" grpId="0" animBg="1"/>
      <p:bldP spid="99376" grpId="0" animBg="1"/>
      <p:bldP spid="99377" grpId="0" bldLvl="0" animBg="1" autoUpdateAnimBg="0"/>
      <p:bldP spid="99379" grpId="0" autoUpdateAnimBg="0"/>
      <p:bldP spid="99380" grpId="0" autoUpdateAnimBg="0"/>
      <p:bldP spid="99381" grpId="0" autoUpdateAnimBg="0"/>
      <p:bldP spid="99382" grpId="0" autoUpdateAnimBg="0"/>
      <p:bldP spid="99383" grpId="0" autoUpdateAnimBg="0"/>
      <p:bldP spid="99384" grpId="0" autoUpdateAnimBg="0"/>
      <p:bldP spid="99385" grpId="0" autoUpdateAnimBg="0"/>
      <p:bldP spid="99386" grpId="0" autoUpdateAnimBg="0"/>
      <p:bldP spid="99387" grpId="0" autoUpdateAnimBg="0"/>
      <p:bldP spid="99388" grpId="0" autoUpdateAnimBg="0"/>
      <p:bldP spid="99389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Text Box 2"/>
          <p:cNvSpPr txBox="1">
            <a:spLocks noChangeArrowheads="1"/>
          </p:cNvSpPr>
          <p:nvPr/>
        </p:nvSpPr>
        <p:spPr bwMode="auto">
          <a:xfrm>
            <a:off x="238531" y="764704"/>
            <a:ext cx="8686800" cy="486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above search process can be described using a binary tree (also called a decision tree). Each</a:t>
            </a:r>
            <a:r>
              <a:rPr lang="zh-CN" altLang="en-US" sz="20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circular node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(internal node) in the tree </a:t>
            </a:r>
            <a:r>
              <a:rPr lang="zh-CN" altLang="en-US" sz="20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represents a record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in the table, and the </a:t>
            </a:r>
            <a:r>
              <a:rPr lang="zh-CN" altLang="en-US" sz="20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value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in the circular node represents the </a:t>
            </a:r>
            <a:r>
              <a:rPr lang="zh-CN" altLang="en-US" sz="20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position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of the record in the table. Square nodes (external nodes) are artificially added.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number of comparisons when the search is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zh-CN" altLang="en-US" sz="20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successful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does not exceed the depth of the decision tree. </a:t>
            </a:r>
            <a:r>
              <a:rPr lang="zh-CN" altLang="en-US" sz="20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number of comparisons is equal to the number of internal nodes on the path.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process when the search is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zh-CN" altLang="en-US" sz="20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unsuccessful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follows the path from the root node to an external node (i.e., the depth of the tree). </a:t>
            </a:r>
            <a:r>
              <a:rPr lang="zh-CN" altLang="en-US" sz="20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number of comparisons is equal to the number of nodes on this path,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and it does not exceed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⌊</a:t>
            </a:r>
            <a:r>
              <a:rPr lang="zh-CN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log</a:t>
            </a:r>
            <a:r>
              <a:rPr lang="en-US" altLang="zh-CN" sz="2000" baseline="-25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2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⌋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+1.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depth of a decision tree with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nodes is the same as that of a complete binary tree with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 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nodes.</a:t>
            </a:r>
          </a:p>
        </p:txBody>
      </p:sp>
      <p:sp>
        <p:nvSpPr>
          <p:cNvPr id="265220" name="Line 4"/>
          <p:cNvSpPr>
            <a:spLocks noChangeShapeType="1"/>
          </p:cNvSpPr>
          <p:nvPr/>
        </p:nvSpPr>
        <p:spPr bwMode="auto">
          <a:xfrm>
            <a:off x="5105400" y="5334000"/>
            <a:ext cx="76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2"/>
          <p:cNvSpPr txBox="1">
            <a:spLocks noChangeArrowheads="1"/>
          </p:cNvSpPr>
          <p:nvPr/>
        </p:nvSpPr>
        <p:spPr bwMode="auto">
          <a:xfrm>
            <a:off x="76200" y="476672"/>
            <a:ext cx="8763000" cy="4667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3200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Given n=2^h-1 and equal search probabilities (P_i=1/n), the decision tree is a full binary tree of depth h. With 2^h-1 nodes at each level, the average search length (ASL) is:</a:t>
            </a:r>
            <a:endParaRPr lang="zh-CN" altLang="en-US" sz="5400" b="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  <a:spcBef>
                <a:spcPct val="30000"/>
              </a:spcBef>
            </a:pPr>
            <a:endParaRPr lang="zh-CN" altLang="en-US" sz="5400" b="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</a:pPr>
            <a:endParaRPr lang="zh-CN" altLang="en-US" sz="5400" b="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</a:pPr>
            <a:r>
              <a:rPr lang="zh-CN" altLang="en-US" sz="3200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When n&gt;50, an approximate result is obtained.</a:t>
            </a:r>
          </a:p>
        </p:txBody>
      </p:sp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609600" y="152400"/>
            <a:ext cx="82296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endParaRPr lang="en-US" altLang="zh-CN" sz="2400" b="0"/>
          </a:p>
        </p:txBody>
      </p:sp>
      <p:graphicFrame>
        <p:nvGraphicFramePr>
          <p:cNvPr id="100356" name="Object 4"/>
          <p:cNvGraphicFramePr>
            <a:graphicFrameLocks noChangeAspect="1"/>
          </p:cNvGraphicFramePr>
          <p:nvPr/>
        </p:nvGraphicFramePr>
        <p:xfrm>
          <a:off x="600555" y="3140968"/>
          <a:ext cx="7924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4" name="公式" r:id="rId3" imgW="3314700" imgH="482600" progId="Equation.3">
                  <p:embed/>
                </p:oleObj>
              </mc:Choice>
              <mc:Fallback>
                <p:oleObj name="公式" r:id="rId3" imgW="33147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55" y="3140968"/>
                        <a:ext cx="79248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1447800" y="5513810"/>
          <a:ext cx="44958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5" name="公式" r:id="rId5" imgW="1384300" imgH="228600" progId="Equation.3">
                  <p:embed/>
                </p:oleObj>
              </mc:Choice>
              <mc:Fallback>
                <p:oleObj name="公式" r:id="rId5" imgW="13843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513810"/>
                        <a:ext cx="44958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</a:rPr>
              <a:t>Main Contents of This Chapter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楷体_GB2312" pitchFamily="49" charset="-122"/>
                <a:cs typeface="Arial" panose="020B0604020202020204" pitchFamily="34" charset="0"/>
              </a:rPr>
              <a:t>Basic Concepts of Search Algorithms</a:t>
            </a:r>
          </a:p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楷体_GB2312" pitchFamily="49" charset="-122"/>
                <a:cs typeface="Arial" panose="020B0604020202020204" pitchFamily="34" charset="0"/>
              </a:rPr>
              <a:t>Static Search Tables (Creation and Search)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Sequential Table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Sorted Table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Dynamic Search Tables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cs typeface="Arial" panose="020B0604020202020204" pitchFamily="34" charset="0"/>
              </a:rPr>
              <a:t>Binary Search Tree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Characteristics of Dynamic Search Table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7880" y="1484784"/>
            <a:ext cx="8640960" cy="5256584"/>
          </a:xfrm>
        </p:spPr>
        <p:txBody>
          <a:bodyPr/>
          <a:lstStyle/>
          <a:p>
            <a:r>
              <a:rPr lang="zh-CN" altLang="en-US" dirty="0">
                <a:ea typeface="楷体_GB2312" pitchFamily="49" charset="-122"/>
                <a:cs typeface="Arial" panose="020B0604020202020204" pitchFamily="34" charset="0"/>
              </a:rPr>
              <a:t>The table structure is generated dynamically during the search process. If a record with the specified key exists in the table, the search is successful and the result is returned. Otherwise, a record with the specified key is inserted.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560840" cy="720080"/>
          </a:xfrm>
        </p:spPr>
        <p:txBody>
          <a:bodyPr/>
          <a:lstStyle/>
          <a:p>
            <a:r>
              <a:rPr lang="zh-CN" altLang="en-US" sz="3600" kern="1200" dirty="0">
                <a:solidFill>
                  <a:prstClr val="black"/>
                </a:solidFill>
                <a:ea typeface="楷体_GB2312" pitchFamily="49" charset="-122"/>
                <a:cs typeface="Arial" panose="020B0604020202020204" pitchFamily="34" charset="0"/>
              </a:rPr>
              <a:t>Definition of the </a:t>
            </a:r>
            <a:r>
              <a:rPr lang="zh-CN" altLang="en-US" sz="3600" kern="1200" dirty="0">
                <a:solidFill>
                  <a:srgbClr val="A50021"/>
                </a:solidFill>
                <a:ea typeface="楷体_GB2312" pitchFamily="49" charset="-122"/>
                <a:cs typeface="Arial" panose="020B0604020202020204" pitchFamily="34" charset="0"/>
              </a:rPr>
              <a:t>dynamic </a:t>
            </a:r>
            <a:r>
              <a:rPr lang="en-US" altLang="zh-CN" sz="3600" kern="1200" dirty="0">
                <a:solidFill>
                  <a:srgbClr val="A50021"/>
                </a:solidFill>
                <a:ea typeface="楷体_GB2312" pitchFamily="49" charset="-122"/>
                <a:cs typeface="Arial" panose="020B0604020202020204" pitchFamily="34" charset="0"/>
              </a:rPr>
              <a:t>search </a:t>
            </a:r>
            <a:r>
              <a:rPr lang="zh-CN" altLang="en-US" sz="3600" kern="1200" dirty="0">
                <a:solidFill>
                  <a:srgbClr val="A50021"/>
                </a:solidFill>
                <a:ea typeface="楷体_GB2312" pitchFamily="49" charset="-122"/>
                <a:cs typeface="Arial" panose="020B0604020202020204" pitchFamily="34" charset="0"/>
              </a:rPr>
              <a:t>table</a:t>
            </a:r>
            <a:r>
              <a:rPr lang="zh-CN" altLang="en-US" sz="3600" kern="1200" dirty="0">
                <a:solidFill>
                  <a:prstClr val="black"/>
                </a:solidFill>
                <a:ea typeface="楷体_GB2312" pitchFamily="49" charset="-122"/>
                <a:cs typeface="Arial" panose="020B0604020202020204" pitchFamily="34" charset="0"/>
              </a:rPr>
              <a:t> for abstract data types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43</a:t>
            </a:fld>
            <a:endParaRPr lang="en-US" altLang="zh-CN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98463" y="1124744"/>
            <a:ext cx="3379470" cy="445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ADT  DynamicSearchTable {</a:t>
            </a:r>
            <a:endParaRPr lang="en-US" altLang="zh-CN" sz="2000" b="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68350" y="2153444"/>
            <a:ext cx="2510155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75000"/>
              </a:lnSpc>
            </a:pPr>
            <a:r>
              <a:rPr lang="zh-CN" altLang="en-US" sz="20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data object D：</a:t>
            </a:r>
            <a:endParaRPr lang="zh-CN" altLang="en-US" sz="4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lnSpc>
                <a:spcPct val="75000"/>
              </a:lnSpc>
            </a:pPr>
            <a:endParaRPr lang="zh-CN" altLang="en-US" sz="4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lnSpc>
                <a:spcPct val="75000"/>
              </a:lnSpc>
            </a:pPr>
            <a:endParaRPr lang="zh-CN" altLang="en-US" sz="4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lnSpc>
                <a:spcPct val="75000"/>
              </a:lnSpc>
            </a:pPr>
            <a:endParaRPr lang="zh-CN" altLang="en-US" sz="4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lnSpc>
                <a:spcPct val="75000"/>
              </a:lnSpc>
            </a:pPr>
            <a:endParaRPr lang="zh-CN" altLang="en-US" sz="4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lnSpc>
                <a:spcPct val="75000"/>
              </a:lnSpc>
            </a:pPr>
            <a:endParaRPr lang="zh-CN" altLang="en-US" sz="4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lnSpc>
                <a:spcPct val="75000"/>
              </a:lnSpc>
            </a:pPr>
            <a:r>
              <a:rPr lang="zh-CN" altLang="en-US" sz="20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Data Relationship R:</a:t>
            </a:r>
            <a:endParaRPr lang="zh-CN" altLang="en-US" sz="2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348355" y="4581049"/>
            <a:ext cx="540004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Data elements belong to the same set.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505200" y="2139157"/>
            <a:ext cx="5334000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 is a collection of data elements with identical characteristics.</a:t>
            </a:r>
            <a:endParaRPr lang="zh-CN" altLang="en-US" sz="4400" b="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zh-CN" altLang="en-US" sz="2400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Each data element contains a unique keyword of the same type.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7" grpId="0" bldLvl="0" animBg="1" autoUpdateAnimBg="0"/>
      <p:bldP spid="8" grpId="0" bldLvl="0" animBg="1" autoUpdateAnimBg="0"/>
      <p:bldP spid="9" grpId="0" bldLvl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2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1371600" y="1143000"/>
            <a:ext cx="374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 dirty="0" err="1">
                <a:ea typeface="楷体_GB2312" pitchFamily="49" charset="-122"/>
              </a:rPr>
              <a:t>InitDSTable</a:t>
            </a:r>
            <a:r>
              <a:rPr lang="en-US" altLang="zh-CN" sz="3600" b="0" dirty="0">
                <a:ea typeface="楷体_GB2312" pitchFamily="49" charset="-122"/>
              </a:rPr>
              <a:t>(</a:t>
            </a:r>
            <a:r>
              <a:rPr lang="en-US" altLang="zh-CN" sz="3600" dirty="0">
                <a:ea typeface="楷体_GB2312" pitchFamily="49" charset="-122"/>
              </a:rPr>
              <a:t>&amp;</a:t>
            </a:r>
            <a:r>
              <a:rPr lang="en-US" altLang="zh-CN" sz="3600" b="0" dirty="0">
                <a:ea typeface="楷体_GB2312" pitchFamily="49" charset="-122"/>
              </a:rPr>
              <a:t>DT)</a:t>
            </a:r>
            <a:endParaRPr lang="en-US" altLang="zh-CN" sz="2400" b="0" dirty="0"/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533400" y="352425"/>
            <a:ext cx="36753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3600">
                <a:solidFill>
                  <a:srgbClr val="A50021"/>
                </a:solidFill>
                <a:ea typeface="楷体_GB2312" pitchFamily="49" charset="-122"/>
                <a:sym typeface="+mn-ea"/>
              </a:rPr>
              <a:t>basic operation</a:t>
            </a: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P</a:t>
            </a:r>
            <a:r>
              <a:rPr lang="zh-CN" altLang="en-US" sz="3600">
                <a:solidFill>
                  <a:srgbClr val="A50021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125956" name="Text Box 4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1390650" y="1905000"/>
            <a:ext cx="4552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ea typeface="楷体_GB2312" pitchFamily="49" charset="-122"/>
              </a:rPr>
              <a:t>DestroyDSTable(</a:t>
            </a:r>
            <a:r>
              <a:rPr lang="en-US" altLang="zh-CN" sz="3600">
                <a:ea typeface="楷体_GB2312" pitchFamily="49" charset="-122"/>
              </a:rPr>
              <a:t>&amp;</a:t>
            </a:r>
            <a:r>
              <a:rPr lang="en-US" altLang="zh-CN" sz="3600" b="0">
                <a:ea typeface="楷体_GB2312" pitchFamily="49" charset="-122"/>
              </a:rPr>
              <a:t>DT)</a:t>
            </a:r>
            <a:endParaRPr lang="en-US" altLang="zh-CN" sz="2400" b="0"/>
          </a:p>
        </p:txBody>
      </p:sp>
      <p:sp>
        <p:nvSpPr>
          <p:cNvPr id="125957" name="Text Box 5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1371600" y="2667000"/>
            <a:ext cx="4984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 dirty="0" err="1">
                <a:ea typeface="楷体_GB2312" pitchFamily="49" charset="-122"/>
              </a:rPr>
              <a:t>SearchDSTable</a:t>
            </a:r>
            <a:r>
              <a:rPr lang="en-US" altLang="zh-CN" sz="3600" b="0" dirty="0">
                <a:ea typeface="楷体_GB2312" pitchFamily="49" charset="-122"/>
              </a:rPr>
              <a:t>(DT, key);</a:t>
            </a:r>
            <a:endParaRPr lang="en-US" altLang="zh-CN" sz="2400" b="0" dirty="0"/>
          </a:p>
        </p:txBody>
      </p:sp>
      <p:sp>
        <p:nvSpPr>
          <p:cNvPr id="125958" name="Text Box 6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1390650" y="3429000"/>
            <a:ext cx="4705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 dirty="0" err="1">
                <a:solidFill>
                  <a:srgbClr val="FF0000"/>
                </a:solidFill>
                <a:ea typeface="楷体_GB2312" pitchFamily="49" charset="-122"/>
              </a:rPr>
              <a:t>InsertDSTab</a:t>
            </a:r>
            <a:r>
              <a:rPr lang="en-US" altLang="zh-CN" sz="3600" dirty="0" err="1">
                <a:solidFill>
                  <a:srgbClr val="FF0000"/>
                </a:solidFill>
                <a:ea typeface="楷体_GB2312" pitchFamily="49" charset="-122"/>
              </a:rPr>
              <a:t>le</a:t>
            </a:r>
            <a:r>
              <a:rPr lang="en-US" altLang="zh-CN" sz="3600" b="0" dirty="0">
                <a:ea typeface="楷体_GB2312" pitchFamily="49" charset="-122"/>
              </a:rPr>
              <a:t>(</a:t>
            </a:r>
            <a:r>
              <a:rPr lang="en-US" altLang="zh-CN" sz="3600" dirty="0">
                <a:ea typeface="楷体_GB2312" pitchFamily="49" charset="-122"/>
              </a:rPr>
              <a:t>&amp;</a:t>
            </a:r>
            <a:r>
              <a:rPr lang="en-US" altLang="zh-CN" sz="3600" b="0" dirty="0">
                <a:ea typeface="楷体_GB2312" pitchFamily="49" charset="-122"/>
              </a:rPr>
              <a:t>DT, e);</a:t>
            </a:r>
            <a:endParaRPr lang="en-US" altLang="zh-CN" sz="2400" b="0" dirty="0"/>
          </a:p>
        </p:txBody>
      </p:sp>
      <p:sp>
        <p:nvSpPr>
          <p:cNvPr id="125959" name="Text Box 7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1371600" y="4191000"/>
            <a:ext cx="5314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dirty="0" err="1">
                <a:solidFill>
                  <a:srgbClr val="FF0000"/>
                </a:solidFill>
                <a:ea typeface="楷体_GB2312" pitchFamily="49" charset="-122"/>
              </a:rPr>
              <a:t>DeleteDSTable</a:t>
            </a:r>
            <a:r>
              <a:rPr lang="en-US" altLang="zh-CN" sz="3600" b="0" dirty="0">
                <a:ea typeface="楷体_GB2312" pitchFamily="49" charset="-122"/>
              </a:rPr>
              <a:t>(</a:t>
            </a:r>
            <a:r>
              <a:rPr lang="en-US" altLang="zh-CN" sz="3600" dirty="0">
                <a:ea typeface="楷体_GB2312" pitchFamily="49" charset="-122"/>
              </a:rPr>
              <a:t>&amp;</a:t>
            </a:r>
            <a:r>
              <a:rPr lang="en-US" altLang="zh-CN" sz="3600" b="0" dirty="0">
                <a:ea typeface="楷体_GB2312" pitchFamily="49" charset="-122"/>
              </a:rPr>
              <a:t>DT, key);</a:t>
            </a:r>
            <a:endParaRPr lang="en-US" altLang="zh-CN" sz="2400" b="0" dirty="0"/>
          </a:p>
        </p:txBody>
      </p:sp>
      <p:sp>
        <p:nvSpPr>
          <p:cNvPr id="125960" name="Text Box 8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1371600" y="4953000"/>
            <a:ext cx="5873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 dirty="0" err="1">
                <a:ea typeface="楷体_GB2312" pitchFamily="49" charset="-122"/>
              </a:rPr>
              <a:t>TraverseDSTable</a:t>
            </a:r>
            <a:r>
              <a:rPr lang="en-US" altLang="zh-CN" sz="3600" b="0" dirty="0">
                <a:ea typeface="楷体_GB2312" pitchFamily="49" charset="-122"/>
              </a:rPr>
              <a:t>(DT, Visit());</a:t>
            </a:r>
            <a:endParaRPr lang="en-US" altLang="zh-CN" sz="2400" b="0" dirty="0"/>
          </a:p>
        </p:txBody>
      </p:sp>
      <p:sp>
        <p:nvSpPr>
          <p:cNvPr id="125961" name="Text Box 9"/>
          <p:cNvSpPr txBox="1">
            <a:spLocks noChangeArrowheads="1"/>
          </p:cNvSpPr>
          <p:nvPr/>
        </p:nvSpPr>
        <p:spPr bwMode="auto">
          <a:xfrm>
            <a:off x="533400" y="5715000"/>
            <a:ext cx="5791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>
                <a:ea typeface="楷体_GB2312" pitchFamily="49" charset="-122"/>
              </a:rPr>
              <a:t>}ADT  DynamicSearchTable</a:t>
            </a:r>
            <a:endParaRPr lang="en-US" altLang="zh-CN" sz="2400" b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utoUpdateAnimBg="0"/>
      <p:bldP spid="125955" grpId="0" bldLvl="0" animBg="1" autoUpdateAnimBg="0"/>
      <p:bldP spid="125956" grpId="0" autoUpdateAnimBg="0"/>
      <p:bldP spid="125957" grpId="0" autoUpdateAnimBg="0"/>
      <p:bldP spid="125958" grpId="0" autoUpdateAnimBg="0"/>
      <p:bldP spid="125959" grpId="0" autoUpdateAnimBg="0"/>
      <p:bldP spid="125960" grpId="0" autoUpdateAnimBg="0"/>
      <p:bldP spid="12596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2"/>
          <p:cNvSpPr txBox="1">
            <a:spLocks noChangeArrowheads="1"/>
          </p:cNvSpPr>
          <p:nvPr/>
        </p:nvSpPr>
        <p:spPr bwMode="auto">
          <a:xfrm>
            <a:off x="179070" y="1628775"/>
            <a:ext cx="3066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Operation result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2843530" y="1690370"/>
            <a:ext cx="63531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0">
                <a:latin typeface="Arial" panose="020B0604020202020204" pitchFamily="34" charset="0"/>
                <a:cs typeface="Arial" panose="020B0604020202020204" pitchFamily="34" charset="0"/>
              </a:rPr>
              <a:t>Construct an empty dynamic search table DT.</a:t>
            </a:r>
          </a:p>
        </p:txBody>
      </p:sp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2200275" y="685800"/>
            <a:ext cx="4135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0">
                <a:ea typeface="楷体_GB2312" pitchFamily="49" charset="-122"/>
              </a:rPr>
              <a:t>InitDSTable(</a:t>
            </a:r>
            <a:r>
              <a:rPr lang="en-US" altLang="zh-CN" sz="4000">
                <a:ea typeface="楷体_GB2312" pitchFamily="49" charset="-122"/>
              </a:rPr>
              <a:t>&amp;</a:t>
            </a:r>
            <a:r>
              <a:rPr lang="en-US" altLang="zh-CN" sz="4000" b="0">
                <a:ea typeface="楷体_GB2312" pitchFamily="49" charset="-122"/>
              </a:rPr>
              <a:t>DT)</a:t>
            </a:r>
            <a:endParaRPr lang="en-US" altLang="zh-CN" sz="2400" b="0"/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3276600" y="4921250"/>
            <a:ext cx="60883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b="0">
                <a:latin typeface="Arial" panose="020B0604020202020204" pitchFamily="34" charset="0"/>
                <a:cs typeface="Arial" panose="020B0604020202020204" pitchFamily="34" charset="0"/>
              </a:rPr>
              <a:t>Destroy the dynamic search table DT.</a:t>
            </a:r>
          </a:p>
        </p:txBody>
      </p:sp>
      <p:sp>
        <p:nvSpPr>
          <p:cNvPr id="126982" name="Text Box 6"/>
          <p:cNvSpPr txBox="1">
            <a:spLocks noChangeArrowheads="1"/>
          </p:cNvSpPr>
          <p:nvPr/>
        </p:nvSpPr>
        <p:spPr bwMode="auto">
          <a:xfrm>
            <a:off x="1792288" y="2971800"/>
            <a:ext cx="551973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b="0" dirty="0" err="1">
                <a:ea typeface="楷体_GB2312" pitchFamily="49" charset="-122"/>
              </a:rPr>
              <a:t>DestroyDSTable</a:t>
            </a:r>
            <a:r>
              <a:rPr lang="en-US" altLang="zh-CN" sz="4400" b="0" dirty="0">
                <a:ea typeface="楷体_GB2312" pitchFamily="49" charset="-122"/>
              </a:rPr>
              <a:t>(</a:t>
            </a:r>
            <a:r>
              <a:rPr lang="en-US" altLang="zh-CN" sz="4400" dirty="0">
                <a:ea typeface="楷体_GB2312" pitchFamily="49" charset="-122"/>
              </a:rPr>
              <a:t>&amp;</a:t>
            </a:r>
            <a:r>
              <a:rPr lang="en-US" altLang="zh-CN" sz="4400" b="0" dirty="0">
                <a:ea typeface="楷体_GB2312" pitchFamily="49" charset="-122"/>
              </a:rPr>
              <a:t>DT)</a:t>
            </a:r>
            <a:endParaRPr lang="en-US" altLang="zh-CN" sz="4400" b="0" dirty="0"/>
          </a:p>
        </p:txBody>
      </p:sp>
      <p:sp>
        <p:nvSpPr>
          <p:cNvPr id="126983" name="Text Box 7"/>
          <p:cNvSpPr txBox="1">
            <a:spLocks noChangeArrowheads="1"/>
          </p:cNvSpPr>
          <p:nvPr/>
        </p:nvSpPr>
        <p:spPr bwMode="auto">
          <a:xfrm>
            <a:off x="-36830" y="4149090"/>
            <a:ext cx="3751580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 dirty="0">
                <a:solidFill>
                  <a:srgbClr val="A50021"/>
                </a:solidFill>
                <a:ea typeface="楷体_GB2312" pitchFamily="49" charset="-122"/>
              </a:rPr>
              <a:t>       Precondition:</a:t>
            </a:r>
            <a:endParaRPr lang="zh-CN" altLang="en-US" sz="3600" dirty="0">
              <a:solidFill>
                <a:srgbClr val="A50021"/>
              </a:solidFill>
              <a:ea typeface="楷体_GB2312" pitchFamily="49" charset="-122"/>
            </a:endParaRPr>
          </a:p>
          <a:p>
            <a:pPr algn="l"/>
            <a:endParaRPr lang="zh-CN" altLang="en-US" sz="800" dirty="0">
              <a:solidFill>
                <a:srgbClr val="A50021"/>
              </a:solidFill>
              <a:ea typeface="楷体_GB2312" pitchFamily="49" charset="-122"/>
            </a:endParaRPr>
          </a:p>
          <a:p>
            <a:pPr algn="l"/>
            <a:r>
              <a:rPr lang="en-US" altLang="zh-CN" sz="3600" dirty="0">
                <a:solidFill>
                  <a:srgbClr val="A50021"/>
                </a:solidFill>
                <a:ea typeface="楷体_GB2312" pitchFamily="49" charset="-122"/>
              </a:rPr>
              <a:t>Operation Result</a:t>
            </a:r>
            <a:r>
              <a:rPr lang="zh-CN" altLang="en-US" sz="3600" dirty="0">
                <a:solidFill>
                  <a:srgbClr val="A50021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126984" name="Text Box 8"/>
          <p:cNvSpPr txBox="1">
            <a:spLocks noChangeArrowheads="1"/>
          </p:cNvSpPr>
          <p:nvPr/>
        </p:nvSpPr>
        <p:spPr bwMode="auto">
          <a:xfrm>
            <a:off x="3347720" y="4221480"/>
            <a:ext cx="5373370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b="0" dirty="0">
                <a:ea typeface="楷体_GB2312" pitchFamily="49" charset="-122"/>
              </a:rPr>
              <a:t>The dynamic search table DT exists.</a:t>
            </a:r>
            <a:endParaRPr lang="zh-CN" altLang="en-US" b="0" dirty="0">
              <a:ea typeface="楷体_GB2312" pitchFamily="49" charset="-122"/>
            </a:endParaRPr>
          </a:p>
          <a:p>
            <a:endParaRPr lang="zh-CN" altLang="en-US" b="0" dirty="0">
              <a:ea typeface="楷体_GB2312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45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ldLvl="0" animBg="1" autoUpdateAnimBg="0"/>
      <p:bldP spid="126981" grpId="0" bldLvl="0" animBg="1" autoUpdateAnimBg="0"/>
      <p:bldP spid="126984" grpId="0" bldLvl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2"/>
          <p:cNvSpPr txBox="1">
            <a:spLocks noChangeArrowheads="1"/>
          </p:cNvSpPr>
          <p:nvPr/>
        </p:nvSpPr>
        <p:spPr bwMode="auto">
          <a:xfrm>
            <a:off x="2876550" y="3505200"/>
            <a:ext cx="5746750" cy="2399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0">
                <a:latin typeface="Arial" panose="020B0604020202020204" pitchFamily="34" charset="0"/>
                <a:cs typeface="Arial" panose="020B0604020202020204" pitchFamily="34" charset="0"/>
              </a:rPr>
              <a:t>If there is a data element in DT whose keyword is equal to key, the function returns the value of the element or its position in the table; otherwise, it returns "null".</a:t>
            </a:r>
          </a:p>
        </p:txBody>
      </p:sp>
      <p:sp>
        <p:nvSpPr>
          <p:cNvPr id="128003" name="Text Box 3"/>
          <p:cNvSpPr txBox="1">
            <a:spLocks noChangeArrowheads="1"/>
          </p:cNvSpPr>
          <p:nvPr/>
        </p:nvSpPr>
        <p:spPr bwMode="auto">
          <a:xfrm>
            <a:off x="1646238" y="838200"/>
            <a:ext cx="5375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0">
                <a:ea typeface="楷体_GB2312" pitchFamily="49" charset="-122"/>
              </a:rPr>
              <a:t>SearchDSTable(DT, key)</a:t>
            </a:r>
          </a:p>
        </p:txBody>
      </p:sp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-36195" y="2061210"/>
            <a:ext cx="3061335" cy="2061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>
                <a:solidFill>
                  <a:srgbClr val="A50021"/>
                </a:solidFill>
                <a:ea typeface="楷体_GB2312" pitchFamily="49" charset="-122"/>
              </a:rPr>
              <a:t>Precondition</a:t>
            </a:r>
            <a:r>
              <a:rPr lang="zh-CN" altLang="en-US" sz="3200">
                <a:solidFill>
                  <a:srgbClr val="A50021"/>
                </a:solidFill>
                <a:ea typeface="楷体_GB2312" pitchFamily="49" charset="-122"/>
              </a:rPr>
              <a:t>：</a:t>
            </a:r>
          </a:p>
          <a:p>
            <a:pPr algn="l">
              <a:lnSpc>
                <a:spcPct val="100000"/>
              </a:lnSpc>
            </a:pPr>
            <a:endParaRPr lang="zh-CN" altLang="en-US" sz="3200">
              <a:solidFill>
                <a:srgbClr val="A50021"/>
              </a:solidFill>
              <a:ea typeface="楷体_GB2312" pitchFamily="49" charset="-122"/>
            </a:endParaRPr>
          </a:p>
          <a:p>
            <a:pPr algn="l">
              <a:lnSpc>
                <a:spcPct val="100000"/>
              </a:lnSpc>
            </a:pPr>
            <a:endParaRPr lang="zh-CN" altLang="en-US" sz="3200">
              <a:solidFill>
                <a:srgbClr val="A50021"/>
              </a:solidFill>
              <a:ea typeface="楷体_GB2312" pitchFamily="49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3200">
                <a:solidFill>
                  <a:srgbClr val="A50021"/>
                </a:solidFill>
                <a:ea typeface="楷体_GB2312" pitchFamily="49" charset="-122"/>
              </a:rPr>
              <a:t>Operation Result:</a:t>
            </a:r>
            <a:endParaRPr lang="zh-CN" altLang="en-US" sz="3200">
              <a:solidFill>
                <a:srgbClr val="A50021"/>
              </a:solidFill>
              <a:ea typeface="楷体_GB2312" pitchFamily="49" charset="-122"/>
            </a:endParaRPr>
          </a:p>
        </p:txBody>
      </p:sp>
      <p:sp>
        <p:nvSpPr>
          <p:cNvPr id="128005" name="Text Box 5"/>
          <p:cNvSpPr txBox="1">
            <a:spLocks noChangeArrowheads="1"/>
          </p:cNvSpPr>
          <p:nvPr/>
        </p:nvSpPr>
        <p:spPr bwMode="auto">
          <a:xfrm>
            <a:off x="2895600" y="2041525"/>
            <a:ext cx="556260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0">
                <a:latin typeface="Arial" panose="020B0604020202020204" pitchFamily="34" charset="0"/>
                <a:cs typeface="Arial" panose="020B0604020202020204" pitchFamily="34" charset="0"/>
              </a:rPr>
              <a:t>The dynamic search table DT exists, and key is a given value of the same type as the keywords.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 bldLvl="0" animBg="1" autoUpdateAnimBg="0"/>
      <p:bldP spid="128005" grpId="0" bldLvl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2"/>
          <p:cNvSpPr txBox="1">
            <a:spLocks noChangeArrowheads="1"/>
          </p:cNvSpPr>
          <p:nvPr/>
        </p:nvSpPr>
        <p:spPr bwMode="auto">
          <a:xfrm>
            <a:off x="3276600" y="2333625"/>
            <a:ext cx="518160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0">
                <a:ea typeface="楷体_GB2312" pitchFamily="49" charset="-122"/>
              </a:rPr>
              <a:t>The dynamic search table DT exists, and </a:t>
            </a:r>
            <a:r>
              <a:rPr lang="en-US" altLang="zh-CN" sz="2000" b="0">
                <a:solidFill>
                  <a:srgbClr val="A50021"/>
                </a:solidFill>
                <a:ea typeface="楷体_GB2312" pitchFamily="49" charset="-122"/>
              </a:rPr>
              <a:t>e</a:t>
            </a:r>
            <a:r>
              <a:rPr lang="en-US" altLang="zh-CN" sz="2000" b="0">
                <a:ea typeface="楷体_GB2312" pitchFamily="49" charset="-122"/>
              </a:rPr>
              <a:t> is the data element to be inserted.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1819275" y="947738"/>
            <a:ext cx="496062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0">
                <a:ea typeface="楷体_GB2312" pitchFamily="49" charset="-122"/>
              </a:rPr>
              <a:t>InsertDSTable(&amp;DT, e)</a:t>
            </a:r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781050" y="2254250"/>
            <a:ext cx="2891790" cy="207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A50021"/>
                </a:solidFill>
                <a:ea typeface="楷体_GB2312" pitchFamily="49" charset="-122"/>
              </a:rPr>
              <a:t>initial condition ：</a:t>
            </a:r>
            <a:endParaRPr lang="zh-CN" altLang="en-US" sz="4800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125000"/>
              </a:lnSpc>
            </a:pPr>
            <a:endParaRPr lang="zh-CN" altLang="en-US" sz="4800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A50021"/>
                </a:solidFill>
                <a:ea typeface="楷体_GB2312" pitchFamily="49" charset="-122"/>
              </a:rPr>
              <a:t>Operation result: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3276600" y="3870325"/>
            <a:ext cx="541020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0">
                <a:ea typeface="楷体_GB2312" pitchFamily="49" charset="-122"/>
              </a:rPr>
              <a:t>If no data element with the keyword equal to </a:t>
            </a:r>
            <a:r>
              <a:rPr lang="en-US" altLang="zh-CN" sz="2000" b="0">
                <a:solidFill>
                  <a:srgbClr val="A50021"/>
                </a:solidFill>
                <a:ea typeface="楷体_GB2312" pitchFamily="49" charset="-122"/>
              </a:rPr>
              <a:t>e.key</a:t>
            </a:r>
            <a:r>
              <a:rPr lang="zh-CN" altLang="en-US" sz="2000" b="0">
                <a:ea typeface="楷体_GB2312" pitchFamily="49" charset="-122"/>
              </a:rPr>
              <a:t> exists in DT, insert e into DT.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bldLvl="0" animBg="1" autoUpdateAnimBg="0"/>
      <p:bldP spid="129029" grpId="0" bldLvl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2971800" y="2514600"/>
            <a:ext cx="563880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0">
                <a:ea typeface="楷体_GB2312" pitchFamily="49" charset="-122"/>
              </a:rPr>
              <a:t> The dynamic search table DT exists, and key is a given value of the same type as the key.</a:t>
            </a:r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1663700" y="1066800"/>
            <a:ext cx="509460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ea typeface="楷体_GB2312" pitchFamily="49" charset="-122"/>
              </a:rPr>
              <a:t>DeleteDSTable(&amp;DT, key)</a:t>
            </a:r>
          </a:p>
        </p:txBody>
      </p:sp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395605" y="1268413"/>
            <a:ext cx="2891790" cy="336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210000"/>
              </a:lnSpc>
            </a:pPr>
            <a:endParaRPr lang="en-US" altLang="zh-CN" b="0">
              <a:ea typeface="楷体_GB2312" pitchFamily="49" charset="-122"/>
            </a:endParaRPr>
          </a:p>
          <a:p>
            <a:pPr>
              <a:lnSpc>
                <a:spcPct val="210000"/>
              </a:lnSpc>
            </a:pPr>
            <a:r>
              <a:rPr lang="zh-CN" altLang="en-US">
                <a:solidFill>
                  <a:srgbClr val="A50021"/>
                </a:solidFill>
                <a:ea typeface="楷体_GB2312" pitchFamily="49" charset="-122"/>
              </a:rPr>
              <a:t>initial condition ：</a:t>
            </a:r>
          </a:p>
          <a:p>
            <a:pPr>
              <a:lnSpc>
                <a:spcPct val="210000"/>
              </a:lnSpc>
            </a:pPr>
            <a:endParaRPr lang="zh-CN" altLang="en-US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A50021"/>
                </a:solidFill>
                <a:ea typeface="楷体_GB2312" pitchFamily="49" charset="-122"/>
              </a:rPr>
              <a:t>Operation result:</a:t>
            </a: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2952750" y="4038600"/>
            <a:ext cx="573405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0">
                <a:ea typeface="楷体_GB2312" pitchFamily="49" charset="-122"/>
              </a:rPr>
              <a:t>If the DT contains a data element with the key equal to key, it will be deleted.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bldLvl="0" animBg="1" autoUpdateAnimBg="0"/>
      <p:bldP spid="130053" grpId="0" bldLvl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3048000" y="2117725"/>
            <a:ext cx="571500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0">
                <a:ea typeface="楷体_GB2312" pitchFamily="49" charset="-122"/>
              </a:rPr>
              <a:t>The dynamic search table DT exists, and </a:t>
            </a:r>
            <a:r>
              <a:rPr lang="en-US" altLang="zh-CN" sz="2000" b="0">
                <a:solidFill>
                  <a:srgbClr val="CC6600"/>
                </a:solidFill>
                <a:ea typeface="楷体_GB2312" pitchFamily="49" charset="-122"/>
              </a:rPr>
              <a:t>Visit</a:t>
            </a:r>
            <a:r>
              <a:rPr lang="en-US" altLang="zh-CN" sz="2000" b="0">
                <a:ea typeface="楷体_GB2312" pitchFamily="49" charset="-122"/>
              </a:rPr>
              <a:t> is an application function for node operations.</a:t>
            </a:r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1265238" y="898525"/>
            <a:ext cx="562546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ea typeface="楷体_GB2312" pitchFamily="49" charset="-122"/>
              </a:rPr>
              <a:t>TraverseDSTable(DT, Visit())</a:t>
            </a: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467360" y="980440"/>
            <a:ext cx="2891790" cy="3105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</a:pPr>
            <a:endParaRPr lang="en-US" altLang="zh-CN" b="0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190000"/>
              </a:lnSpc>
            </a:pPr>
            <a:r>
              <a:rPr lang="zh-CN" altLang="en-US">
                <a:solidFill>
                  <a:srgbClr val="A50021"/>
                </a:solidFill>
                <a:ea typeface="楷体_GB2312" pitchFamily="49" charset="-122"/>
              </a:rPr>
              <a:t>initial condition ：</a:t>
            </a:r>
          </a:p>
          <a:p>
            <a:pPr>
              <a:lnSpc>
                <a:spcPct val="190000"/>
              </a:lnSpc>
            </a:pPr>
            <a:endParaRPr lang="zh-CN" altLang="en-US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A50021"/>
                </a:solidFill>
                <a:ea typeface="楷体_GB2312" pitchFamily="49" charset="-122"/>
              </a:rPr>
              <a:t>Operation result:</a:t>
            </a:r>
          </a:p>
        </p:txBody>
      </p:sp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3048000" y="3565525"/>
            <a:ext cx="5638800" cy="1245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0">
                <a:ea typeface="楷体_GB2312" pitchFamily="49" charset="-122"/>
              </a:rPr>
              <a:t>Call the </a:t>
            </a:r>
            <a:r>
              <a:rPr lang="en-US" altLang="zh-CN" sz="2000" b="0">
                <a:solidFill>
                  <a:srgbClr val="CC6600"/>
                </a:solidFill>
                <a:ea typeface="楷体_GB2312" pitchFamily="49" charset="-122"/>
              </a:rPr>
              <a:t>Visit()</a:t>
            </a:r>
            <a:r>
              <a:rPr lang="zh-CN" altLang="en-US" sz="2000" b="0">
                <a:ea typeface="楷体_GB2312" pitchFamily="49" charset="-122"/>
              </a:rPr>
              <a:t> function for each node in DT exactly once and at most once in a specific order. If </a:t>
            </a:r>
            <a:r>
              <a:rPr lang="en-US" altLang="zh-CN" sz="2000" b="0">
                <a:solidFill>
                  <a:srgbClr val="CC6600"/>
                </a:solidFill>
                <a:ea typeface="楷体_GB2312" pitchFamily="49" charset="-122"/>
              </a:rPr>
              <a:t>Visit()</a:t>
            </a:r>
            <a:r>
              <a:rPr lang="zh-CN" altLang="en-US" sz="2000" b="0">
                <a:ea typeface="楷体_GB2312" pitchFamily="49" charset="-122"/>
              </a:rPr>
              <a:t> fails, the operation will fail.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 bldLvl="0" animBg="1" autoUpdateAnimBg="0"/>
      <p:bldP spid="131077" grpId="0" bldLvl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</a:rPr>
              <a:t>Main Contents of This Chapter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楷体_GB2312" pitchFamily="49" charset="-122"/>
                <a:cs typeface="Arial" panose="020B0604020202020204" pitchFamily="34" charset="0"/>
              </a:rPr>
              <a:t>Basic Concepts of Search Algorithms</a:t>
            </a:r>
          </a:p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楷体_GB2312" pitchFamily="49" charset="-122"/>
                <a:cs typeface="Arial" panose="020B0604020202020204" pitchFamily="34" charset="0"/>
              </a:rPr>
              <a:t>Static Search Tables (Creation and Search)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Sequential Table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Sorted Table</a:t>
            </a:r>
          </a:p>
          <a:p>
            <a:pPr>
              <a:lnSpc>
                <a:spcPts val="36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楷体_GB2312" pitchFamily="49" charset="-122"/>
                <a:cs typeface="Arial" panose="020B0604020202020204" pitchFamily="34" charset="0"/>
              </a:rPr>
              <a:t>Dynamic Search Tables</a:t>
            </a:r>
          </a:p>
          <a:p>
            <a:pPr lvl="1">
              <a:lnSpc>
                <a:spcPts val="3600"/>
              </a:lnSpc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Binary Search Tree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50</a:t>
            </a:fld>
            <a:endParaRPr lang="en-US" altLang="zh-C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228600" y="554038"/>
            <a:ext cx="861060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dirty="0">
                <a:solidFill>
                  <a:srgbClr val="990033"/>
                </a:solidFill>
                <a:ea typeface="楷体_GB2312" pitchFamily="49" charset="-122"/>
              </a:rPr>
              <a:t>Binary search tree</a:t>
            </a:r>
          </a:p>
        </p:txBody>
      </p:sp>
      <p:graphicFrame>
        <p:nvGraphicFramePr>
          <p:cNvPr id="133123" name="Object 3">
            <a:hlinkClick r:id="" action="ppaction://hlinkshowjump?jump=previousslide" highlightClick="1"/>
          </p:cNvPr>
          <p:cNvGraphicFramePr>
            <a:graphicFrameLocks noChangeAspect="1"/>
          </p:cNvGraphicFramePr>
          <p:nvPr/>
        </p:nvGraphicFramePr>
        <p:xfrm>
          <a:off x="7010400" y="5181600"/>
          <a:ext cx="167640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3" name="剪辑" r:id="rId3" imgW="10258425" imgH="7267575" progId="MS_ClipArt_Gallery.2">
                  <p:embed/>
                </p:oleObj>
              </mc:Choice>
              <mc:Fallback>
                <p:oleObj name="剪辑" r:id="rId3" imgW="10258425" imgH="7267575" progId="MS_ClipArt_Gallery.2">
                  <p:embed/>
                  <p:pic>
                    <p:nvPicPr>
                      <p:cNvPr id="0" name="Object 3">
                        <a:hlinkClick r:id="" action="ppaction://hlinkshowjump?jump=previousslide" highlightClick="1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5181600"/>
                        <a:ext cx="1676400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4" name="Text Box 4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314450" y="2051050"/>
            <a:ext cx="179260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1. Definition</a:t>
            </a:r>
          </a:p>
        </p:txBody>
      </p:sp>
      <p:sp>
        <p:nvSpPr>
          <p:cNvPr id="133125" name="Rectangle 5"/>
          <p:cNvSpPr>
            <a:spLocks noChangeArrowheads="1"/>
          </p:cNvSpPr>
          <p:nvPr/>
        </p:nvSpPr>
        <p:spPr bwMode="auto">
          <a:xfrm>
            <a:off x="1317625" y="2851150"/>
            <a:ext cx="28257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2. Search algorithm</a:t>
            </a:r>
          </a:p>
        </p:txBody>
      </p:sp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1317625" y="3613150"/>
            <a:ext cx="262191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3. Insert algorithm</a:t>
            </a:r>
            <a:endParaRPr lang="en-US" altLang="zh-CN" sz="2400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33127" name="Text Box 7"/>
          <p:cNvSpPr txBox="1">
            <a:spLocks noChangeArrowheads="1"/>
          </p:cNvSpPr>
          <p:nvPr/>
        </p:nvSpPr>
        <p:spPr bwMode="auto">
          <a:xfrm>
            <a:off x="1289050" y="4375150"/>
            <a:ext cx="274129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4. Delete algorithm</a:t>
            </a:r>
          </a:p>
        </p:txBody>
      </p:sp>
      <p:sp>
        <p:nvSpPr>
          <p:cNvPr id="133128" name="Text Box 8"/>
          <p:cNvSpPr txBox="1">
            <a:spLocks noChangeArrowheads="1"/>
          </p:cNvSpPr>
          <p:nvPr/>
        </p:nvSpPr>
        <p:spPr bwMode="auto">
          <a:xfrm>
            <a:off x="1317625" y="5137150"/>
            <a:ext cx="345249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5. Performance analysis</a:t>
            </a:r>
            <a:endParaRPr lang="en-US" altLang="zh-CN" sz="2400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ldLvl="0" animBg="1" autoUpdateAnimBg="0"/>
      <p:bldP spid="133124" grpId="0" bldLvl="0" animBg="1" autoUpdateAnimBg="0"/>
      <p:bldP spid="133125" grpId="0" bldLvl="0" animBg="1" autoUpdateAnimBg="0"/>
      <p:bldP spid="133126" grpId="0" bldLvl="0" animBg="1" autoUpdateAnimBg="0"/>
      <p:bldP spid="133127" grpId="0" bldLvl="0" animBg="1" autoUpdateAnimBg="0"/>
      <p:bldP spid="133128" grpId="0" bldLvl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ext Box 2"/>
          <p:cNvSpPr txBox="1">
            <a:spLocks noChangeArrowheads="1"/>
          </p:cNvSpPr>
          <p:nvPr/>
        </p:nvSpPr>
        <p:spPr bwMode="auto">
          <a:xfrm>
            <a:off x="577850" y="2971800"/>
            <a:ext cx="818515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(1) If its left subtree is not empty, then 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all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nodes in the left subtree have values 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less than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the root nodes value.</a:t>
            </a:r>
            <a:endParaRPr lang="zh-CN" altLang="en-US" sz="240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270339" name="Text Box 3"/>
          <p:cNvSpPr txBox="1">
            <a:spLocks noChangeArrowheads="1"/>
          </p:cNvSpPr>
          <p:nvPr/>
        </p:nvSpPr>
        <p:spPr bwMode="auto">
          <a:xfrm>
            <a:off x="558800" y="533400"/>
            <a:ext cx="85852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1.</a:t>
            </a:r>
            <a:r>
              <a:rPr lang="zh-CN" altLang="en-US" sz="32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Binary Search Tree (BST) definition:</a:t>
            </a:r>
          </a:p>
        </p:txBody>
      </p:sp>
      <p:sp>
        <p:nvSpPr>
          <p:cNvPr id="270340" name="Text Box 4"/>
          <p:cNvSpPr txBox="1">
            <a:spLocks noChangeArrowheads="1"/>
          </p:cNvSpPr>
          <p:nvPr/>
        </p:nvSpPr>
        <p:spPr bwMode="auto">
          <a:xfrm>
            <a:off x="533400" y="1335088"/>
            <a:ext cx="8153400" cy="977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 binary search tree is either an 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empty tree</a:t>
            </a:r>
            <a:r>
              <a:rPr lang="zh-CN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or 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 binary tree with the following properties:</a:t>
            </a:r>
          </a:p>
        </p:txBody>
      </p:sp>
      <p:sp>
        <p:nvSpPr>
          <p:cNvPr id="270341" name="Text Box 5"/>
          <p:cNvSpPr txBox="1">
            <a:spLocks noChangeArrowheads="1"/>
          </p:cNvSpPr>
          <p:nvPr/>
        </p:nvSpPr>
        <p:spPr bwMode="auto">
          <a:xfrm>
            <a:off x="533400" y="5219700"/>
            <a:ext cx="89344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(3) Both its left and right subtrees 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are binary search trees.</a:t>
            </a:r>
          </a:p>
        </p:txBody>
      </p:sp>
      <p:sp>
        <p:nvSpPr>
          <p:cNvPr id="270342" name="Text Box 6"/>
          <p:cNvSpPr txBox="1">
            <a:spLocks noChangeArrowheads="1"/>
          </p:cNvSpPr>
          <p:nvPr/>
        </p:nvSpPr>
        <p:spPr bwMode="auto">
          <a:xfrm>
            <a:off x="577850" y="4114800"/>
            <a:ext cx="818515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(2) If its right subtree is not empty, then 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all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nodes in the right subtree have values 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greater than 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root nodes value.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52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8" grpId="0" bldLvl="0" animBg="1" autoUpdateAnimBg="0"/>
      <p:bldP spid="270339" grpId="0" bldLvl="0" animBg="1" autoUpdateAnimBg="0"/>
      <p:bldP spid="270340" grpId="0" bldLvl="0" animBg="1" autoUpdateAnimBg="0"/>
      <p:bldP spid="270341" grpId="0" bldLvl="0" animBg="1" autoUpdateAnimBg="0"/>
      <p:bldP spid="270342" grpId="0" bldLvl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Oval 2"/>
          <p:cNvSpPr>
            <a:spLocks noChangeArrowheads="1"/>
          </p:cNvSpPr>
          <p:nvPr/>
        </p:nvSpPr>
        <p:spPr bwMode="auto">
          <a:xfrm>
            <a:off x="4191000" y="7461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50</a:t>
            </a:r>
          </a:p>
        </p:txBody>
      </p:sp>
      <p:sp>
        <p:nvSpPr>
          <p:cNvPr id="135171" name="Oval 3"/>
          <p:cNvSpPr>
            <a:spLocks noChangeArrowheads="1"/>
          </p:cNvSpPr>
          <p:nvPr/>
        </p:nvSpPr>
        <p:spPr bwMode="auto">
          <a:xfrm>
            <a:off x="2590800" y="16605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30</a:t>
            </a:r>
          </a:p>
        </p:txBody>
      </p:sp>
      <p:sp>
        <p:nvSpPr>
          <p:cNvPr id="135172" name="Oval 4"/>
          <p:cNvSpPr>
            <a:spLocks noChangeArrowheads="1"/>
          </p:cNvSpPr>
          <p:nvPr/>
        </p:nvSpPr>
        <p:spPr bwMode="auto">
          <a:xfrm>
            <a:off x="5943600" y="16605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80</a:t>
            </a:r>
          </a:p>
        </p:txBody>
      </p:sp>
      <p:sp>
        <p:nvSpPr>
          <p:cNvPr id="135173" name="Oval 5"/>
          <p:cNvSpPr>
            <a:spLocks noChangeArrowheads="1"/>
          </p:cNvSpPr>
          <p:nvPr/>
        </p:nvSpPr>
        <p:spPr bwMode="auto">
          <a:xfrm>
            <a:off x="1066800" y="25749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20</a:t>
            </a:r>
          </a:p>
        </p:txBody>
      </p:sp>
      <p:sp>
        <p:nvSpPr>
          <p:cNvPr id="135174" name="Oval 6"/>
          <p:cNvSpPr>
            <a:spLocks noChangeArrowheads="1"/>
          </p:cNvSpPr>
          <p:nvPr/>
        </p:nvSpPr>
        <p:spPr bwMode="auto">
          <a:xfrm>
            <a:off x="7467600" y="25749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90</a:t>
            </a:r>
          </a:p>
        </p:txBody>
      </p:sp>
      <p:sp>
        <p:nvSpPr>
          <p:cNvPr id="135175" name="Oval 7"/>
          <p:cNvSpPr>
            <a:spLocks noChangeArrowheads="1"/>
          </p:cNvSpPr>
          <p:nvPr/>
        </p:nvSpPr>
        <p:spPr bwMode="auto">
          <a:xfrm>
            <a:off x="381000" y="37179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10</a:t>
            </a:r>
          </a:p>
        </p:txBody>
      </p:sp>
      <p:sp>
        <p:nvSpPr>
          <p:cNvPr id="135176" name="Oval 8"/>
          <p:cNvSpPr>
            <a:spLocks noChangeArrowheads="1"/>
          </p:cNvSpPr>
          <p:nvPr/>
        </p:nvSpPr>
        <p:spPr bwMode="auto">
          <a:xfrm>
            <a:off x="6477000" y="37179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85</a:t>
            </a:r>
          </a:p>
        </p:txBody>
      </p:sp>
      <p:sp>
        <p:nvSpPr>
          <p:cNvPr id="135177" name="Oval 9"/>
          <p:cNvSpPr>
            <a:spLocks noChangeArrowheads="1"/>
          </p:cNvSpPr>
          <p:nvPr/>
        </p:nvSpPr>
        <p:spPr bwMode="auto">
          <a:xfrm>
            <a:off x="4191000" y="25749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40</a:t>
            </a:r>
          </a:p>
        </p:txBody>
      </p:sp>
      <p:sp>
        <p:nvSpPr>
          <p:cNvPr id="135178" name="Oval 10"/>
          <p:cNvSpPr>
            <a:spLocks noChangeArrowheads="1"/>
          </p:cNvSpPr>
          <p:nvPr/>
        </p:nvSpPr>
        <p:spPr bwMode="auto">
          <a:xfrm>
            <a:off x="3276600" y="37179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35</a:t>
            </a:r>
          </a:p>
        </p:txBody>
      </p:sp>
      <p:sp>
        <p:nvSpPr>
          <p:cNvPr id="135179" name="Oval 11"/>
          <p:cNvSpPr>
            <a:spLocks noChangeArrowheads="1"/>
          </p:cNvSpPr>
          <p:nvPr/>
        </p:nvSpPr>
        <p:spPr bwMode="auto">
          <a:xfrm>
            <a:off x="1828800" y="37179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25</a:t>
            </a:r>
          </a:p>
        </p:txBody>
      </p:sp>
      <p:sp>
        <p:nvSpPr>
          <p:cNvPr id="135180" name="Oval 12"/>
          <p:cNvSpPr>
            <a:spLocks noChangeArrowheads="1"/>
          </p:cNvSpPr>
          <p:nvPr/>
        </p:nvSpPr>
        <p:spPr bwMode="auto">
          <a:xfrm>
            <a:off x="1219200" y="47085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23</a:t>
            </a:r>
          </a:p>
        </p:txBody>
      </p:sp>
      <p:sp>
        <p:nvSpPr>
          <p:cNvPr id="135181" name="Oval 13"/>
          <p:cNvSpPr>
            <a:spLocks noChangeArrowheads="1"/>
          </p:cNvSpPr>
          <p:nvPr/>
        </p:nvSpPr>
        <p:spPr bwMode="auto">
          <a:xfrm>
            <a:off x="7467600" y="4708525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88</a:t>
            </a:r>
          </a:p>
        </p:txBody>
      </p:sp>
      <p:sp>
        <p:nvSpPr>
          <p:cNvPr id="135182" name="Line 14"/>
          <p:cNvSpPr>
            <a:spLocks noChangeShapeType="1"/>
          </p:cNvSpPr>
          <p:nvPr/>
        </p:nvSpPr>
        <p:spPr bwMode="auto">
          <a:xfrm flipH="1">
            <a:off x="3276600" y="1203325"/>
            <a:ext cx="914400" cy="5334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3" name="Line 15"/>
          <p:cNvSpPr>
            <a:spLocks noChangeShapeType="1"/>
          </p:cNvSpPr>
          <p:nvPr/>
        </p:nvSpPr>
        <p:spPr bwMode="auto">
          <a:xfrm flipH="1">
            <a:off x="1752600" y="2117725"/>
            <a:ext cx="838200" cy="5334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4" name="Line 16"/>
          <p:cNvSpPr>
            <a:spLocks noChangeShapeType="1"/>
          </p:cNvSpPr>
          <p:nvPr/>
        </p:nvSpPr>
        <p:spPr bwMode="auto">
          <a:xfrm>
            <a:off x="4876800" y="1203325"/>
            <a:ext cx="1143000" cy="5334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5" name="Line 17"/>
          <p:cNvSpPr>
            <a:spLocks noChangeShapeType="1"/>
          </p:cNvSpPr>
          <p:nvPr/>
        </p:nvSpPr>
        <p:spPr bwMode="auto">
          <a:xfrm>
            <a:off x="3276600" y="2117725"/>
            <a:ext cx="990600" cy="6096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6" name="Line 18"/>
          <p:cNvSpPr>
            <a:spLocks noChangeShapeType="1"/>
          </p:cNvSpPr>
          <p:nvPr/>
        </p:nvSpPr>
        <p:spPr bwMode="auto">
          <a:xfrm flipH="1">
            <a:off x="762000" y="3184525"/>
            <a:ext cx="457200" cy="5334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7" name="Line 19"/>
          <p:cNvSpPr>
            <a:spLocks noChangeShapeType="1"/>
          </p:cNvSpPr>
          <p:nvPr/>
        </p:nvSpPr>
        <p:spPr bwMode="auto">
          <a:xfrm>
            <a:off x="1600200" y="3108325"/>
            <a:ext cx="533400" cy="6096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8" name="Line 20"/>
          <p:cNvSpPr>
            <a:spLocks noChangeShapeType="1"/>
          </p:cNvSpPr>
          <p:nvPr/>
        </p:nvSpPr>
        <p:spPr bwMode="auto">
          <a:xfrm flipH="1">
            <a:off x="1600200" y="4327525"/>
            <a:ext cx="4572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9" name="Line 21"/>
          <p:cNvSpPr>
            <a:spLocks noChangeShapeType="1"/>
          </p:cNvSpPr>
          <p:nvPr/>
        </p:nvSpPr>
        <p:spPr bwMode="auto">
          <a:xfrm flipH="1">
            <a:off x="3657600" y="3108325"/>
            <a:ext cx="609600" cy="6096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0" name="Line 22"/>
          <p:cNvSpPr>
            <a:spLocks noChangeShapeType="1"/>
          </p:cNvSpPr>
          <p:nvPr/>
        </p:nvSpPr>
        <p:spPr bwMode="auto">
          <a:xfrm>
            <a:off x="6705600" y="2117725"/>
            <a:ext cx="838200" cy="5334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1" name="Line 23"/>
          <p:cNvSpPr>
            <a:spLocks noChangeShapeType="1"/>
          </p:cNvSpPr>
          <p:nvPr/>
        </p:nvSpPr>
        <p:spPr bwMode="auto">
          <a:xfrm flipH="1">
            <a:off x="7086600" y="3184525"/>
            <a:ext cx="533400" cy="6096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2" name="Line 24"/>
          <p:cNvSpPr>
            <a:spLocks noChangeShapeType="1"/>
          </p:cNvSpPr>
          <p:nvPr/>
        </p:nvSpPr>
        <p:spPr bwMode="auto">
          <a:xfrm>
            <a:off x="7010400" y="4251325"/>
            <a:ext cx="6858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3" name="Text Box 25"/>
          <p:cNvSpPr txBox="1">
            <a:spLocks noChangeArrowheads="1"/>
          </p:cNvSpPr>
          <p:nvPr/>
        </p:nvSpPr>
        <p:spPr bwMode="auto">
          <a:xfrm>
            <a:off x="457200" y="517525"/>
            <a:ext cx="28035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for instance ：</a:t>
            </a:r>
            <a:endParaRPr lang="zh-CN" altLang="en-US" sz="3200" b="0"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5194" name="Text Box 26"/>
          <p:cNvSpPr txBox="1">
            <a:spLocks noChangeArrowheads="1"/>
          </p:cNvSpPr>
          <p:nvPr/>
        </p:nvSpPr>
        <p:spPr bwMode="auto">
          <a:xfrm>
            <a:off x="2736850" y="5699125"/>
            <a:ext cx="397256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It is</a:t>
            </a:r>
            <a:r>
              <a:rPr lang="en-US" altLang="zh-CN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zh-CN" altLang="en-US" sz="4400">
                <a:solidFill>
                  <a:srgbClr val="00808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  <a:sym typeface="+mn-ea"/>
              </a:rPr>
              <a:t>no</a:t>
            </a:r>
            <a:r>
              <a:rPr lang="zh-CN" altLang="en-US" sz="4400" b="0">
                <a:solidFill>
                  <a:srgbClr val="008080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t</a:t>
            </a:r>
            <a:r>
              <a:rPr lang="zh-CN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a binary sort tree.</a:t>
            </a:r>
            <a:endParaRPr lang="zh-CN" altLang="en-US" sz="2400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35195" name="Line 27"/>
          <p:cNvSpPr>
            <a:spLocks noChangeShapeType="1"/>
          </p:cNvSpPr>
          <p:nvPr/>
        </p:nvSpPr>
        <p:spPr bwMode="auto">
          <a:xfrm>
            <a:off x="4876800" y="3032125"/>
            <a:ext cx="762000" cy="762000"/>
          </a:xfrm>
          <a:prstGeom prst="line">
            <a:avLst/>
          </a:prstGeom>
          <a:noFill/>
          <a:ln w="38100">
            <a:solidFill>
              <a:srgbClr val="00808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6" name="Oval 28"/>
          <p:cNvSpPr>
            <a:spLocks noChangeArrowheads="1"/>
          </p:cNvSpPr>
          <p:nvPr/>
        </p:nvSpPr>
        <p:spPr bwMode="auto">
          <a:xfrm>
            <a:off x="5410200" y="3794125"/>
            <a:ext cx="762000" cy="533400"/>
          </a:xfrm>
          <a:prstGeom prst="ellipse">
            <a:avLst/>
          </a:prstGeom>
          <a:solidFill>
            <a:srgbClr val="CCFFCC"/>
          </a:solidFill>
          <a:ln w="3810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>
                <a:solidFill>
                  <a:srgbClr val="008080"/>
                </a:solidFill>
              </a:rPr>
              <a:t>66</a:t>
            </a:r>
            <a:endParaRPr lang="en-US" altLang="zh-CN" sz="3200" b="0">
              <a:solidFill>
                <a:srgbClr val="008080"/>
              </a:solidFill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94" grpId="0" bldLvl="0" animBg="1" autoUpdateAnimBg="0"/>
      <p:bldP spid="135195" grpId="0" bldLvl="0" animBg="1"/>
      <p:bldP spid="135196" grpId="0" bldLvl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2"/>
          <p:cNvSpPr txBox="1">
            <a:spLocks noChangeArrowheads="1"/>
          </p:cNvSpPr>
          <p:nvPr/>
        </p:nvSpPr>
        <p:spPr bwMode="auto">
          <a:xfrm>
            <a:off x="609600" y="517525"/>
            <a:ext cx="7745095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         </a:t>
            </a:r>
            <a:r>
              <a:rPr lang="zh-CN" altLang="en-US" sz="3200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  <a:sym typeface="+mn-ea"/>
              </a:rPr>
              <a:t>A binary linked list is typically used as the storage structure for a binary sort tree.</a:t>
            </a:r>
            <a:endParaRPr lang="zh-CN" altLang="en-US" sz="3200" b="0"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36195" name="Text Box 3"/>
          <p:cNvSpPr txBox="1">
            <a:spLocks noChangeArrowheads="1"/>
          </p:cNvSpPr>
          <p:nvPr/>
        </p:nvSpPr>
        <p:spPr bwMode="auto">
          <a:xfrm>
            <a:off x="803275" y="2192338"/>
            <a:ext cx="7731125" cy="3636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dirty="0" err="1"/>
              <a:t>typedef</a:t>
            </a:r>
            <a:r>
              <a:rPr lang="en-US" altLang="zh-CN" sz="4000" dirty="0"/>
              <a:t> </a:t>
            </a:r>
            <a:r>
              <a:rPr lang="en-US" altLang="zh-CN" sz="4000" dirty="0" err="1"/>
              <a:t>struct</a:t>
            </a:r>
            <a:r>
              <a:rPr lang="en-US" altLang="zh-CN" sz="4000" b="0" dirty="0">
                <a:solidFill>
                  <a:srgbClr val="800000"/>
                </a:solidFill>
              </a:rPr>
              <a:t> </a:t>
            </a:r>
            <a:r>
              <a:rPr lang="en-US" altLang="zh-CN" sz="4000" b="0" dirty="0" err="1">
                <a:solidFill>
                  <a:srgbClr val="0000FF"/>
                </a:solidFill>
              </a:rPr>
              <a:t>BiTNode</a:t>
            </a:r>
            <a:r>
              <a:rPr lang="en-US" altLang="zh-CN" sz="4000" b="0" dirty="0">
                <a:solidFill>
                  <a:srgbClr val="800000"/>
                </a:solidFill>
              </a:rPr>
              <a:t> </a:t>
            </a:r>
            <a:r>
              <a:rPr lang="en-US" altLang="zh-CN" sz="4000" dirty="0"/>
              <a:t>{</a:t>
            </a:r>
            <a:r>
              <a:rPr lang="en-US" altLang="zh-CN" sz="3200" b="1" dirty="0">
                <a:solidFill>
                  <a:srgbClr val="006600"/>
                </a:solidFill>
              </a:rPr>
              <a:t>// </a:t>
            </a:r>
            <a:r>
              <a:rPr lang="en-US" altLang="zh-CN" sz="2400" b="1" dirty="0">
                <a:solidFill>
                  <a:srgbClr val="006600"/>
                </a:solidFill>
                <a:sym typeface="+mn-ea"/>
              </a:rPr>
              <a:t>Node structure</a:t>
            </a:r>
            <a:endParaRPr lang="en-US" altLang="zh-CN" sz="3200" b="1" dirty="0">
              <a:solidFill>
                <a:srgbClr val="0066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4000" b="0" dirty="0">
                <a:solidFill>
                  <a:srgbClr val="800000"/>
                </a:solidFill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zh-CN" altLang="en-US" sz="4000" b="0" dirty="0">
                <a:solidFill>
                  <a:srgbClr val="800000"/>
                </a:solidFill>
              </a:rPr>
              <a:t>    </a:t>
            </a:r>
            <a:r>
              <a:rPr lang="en-US" altLang="zh-CN" sz="4000" dirty="0" err="1"/>
              <a:t>struct</a:t>
            </a:r>
            <a:r>
              <a:rPr lang="en-US" altLang="zh-CN" sz="4000" b="0" dirty="0"/>
              <a:t> </a:t>
            </a:r>
            <a:r>
              <a:rPr lang="en-US" altLang="zh-CN" sz="4000" b="0" dirty="0" err="1"/>
              <a:t>BiTNode</a:t>
            </a:r>
            <a:r>
              <a:rPr lang="en-US" altLang="zh-CN" sz="4000" b="0" dirty="0"/>
              <a:t>  </a:t>
            </a:r>
            <a:r>
              <a:rPr lang="en-US" altLang="zh-CN" sz="4000" dirty="0"/>
              <a:t>*</a:t>
            </a:r>
            <a:r>
              <a:rPr lang="en-US" altLang="zh-CN" sz="4000" dirty="0" err="1"/>
              <a:t>l</a:t>
            </a:r>
            <a:r>
              <a:rPr lang="en-US" altLang="zh-CN" sz="4000" b="0" dirty="0" err="1"/>
              <a:t>child</a:t>
            </a:r>
            <a:r>
              <a:rPr lang="en-US" altLang="zh-CN" sz="4000" b="0" dirty="0"/>
              <a:t>, </a:t>
            </a:r>
            <a:r>
              <a:rPr lang="en-US" altLang="zh-CN" sz="4000" dirty="0"/>
              <a:t>*</a:t>
            </a:r>
            <a:r>
              <a:rPr lang="en-US" altLang="zh-CN" sz="4000" dirty="0" err="1"/>
              <a:t>r</a:t>
            </a:r>
            <a:r>
              <a:rPr lang="en-US" altLang="zh-CN" sz="4000" b="0" dirty="0" err="1"/>
              <a:t>child</a:t>
            </a:r>
            <a:r>
              <a:rPr lang="en-US" altLang="zh-CN" sz="4000" b="0" dirty="0"/>
              <a:t>;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6600"/>
                </a:solidFill>
                <a:ea typeface="楷体_GB2312" pitchFamily="49" charset="-122"/>
              </a:rPr>
              <a:t>     // </a:t>
            </a:r>
            <a:r>
              <a:rPr lang="en-US" altLang="zh-CN" sz="3200" b="1" dirty="0">
                <a:solidFill>
                  <a:srgbClr val="006600"/>
                </a:solidFill>
                <a:ea typeface="楷体_GB2312" pitchFamily="49" charset="-122"/>
                <a:sym typeface="+mn-ea"/>
              </a:rPr>
              <a:t>Left and right child pointers</a:t>
            </a:r>
            <a:endParaRPr lang="zh-CN" altLang="en-US" sz="3200" b="1" dirty="0">
              <a:solidFill>
                <a:srgbClr val="006600"/>
              </a:solidFill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4000" dirty="0"/>
              <a:t>}</a:t>
            </a:r>
            <a:r>
              <a:rPr lang="en-US" altLang="zh-CN" sz="4000" b="0" dirty="0"/>
              <a:t> </a:t>
            </a:r>
            <a:r>
              <a:rPr lang="en-US" altLang="zh-CN" sz="4000" b="0" dirty="0" err="1"/>
              <a:t>BiTNode</a:t>
            </a:r>
            <a:r>
              <a:rPr lang="en-US" altLang="zh-CN" sz="4000" b="0" dirty="0"/>
              <a:t>, </a:t>
            </a:r>
            <a:r>
              <a:rPr lang="en-US" altLang="zh-CN" sz="4000" dirty="0"/>
              <a:t>*</a:t>
            </a:r>
            <a:r>
              <a:rPr lang="en-US" altLang="zh-CN" sz="4000" b="0" dirty="0" err="1"/>
              <a:t>BiTree</a:t>
            </a:r>
            <a:r>
              <a:rPr lang="en-US" altLang="zh-CN" sz="4000" b="0" dirty="0"/>
              <a:t>;</a:t>
            </a:r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1260475" y="3048000"/>
            <a:ext cx="43576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0"/>
              <a:t>TElemType      data;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ldLvl="0" animBg="1"/>
      <p:bldP spid="13619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4813"/>
            <a:ext cx="8001000" cy="1066800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2. Binary search tree search algorithm: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6390" y="2565400"/>
            <a:ext cx="8493760" cy="3429000"/>
          </a:xfrm>
        </p:spPr>
        <p:txBody>
          <a:bodyPr/>
          <a:lstStyle/>
          <a:p>
            <a:pPr marL="557530" lvl="0" indent="-533400">
              <a:lnSpc>
                <a:spcPct val="115000"/>
              </a:lnSpc>
              <a:buFontTx/>
              <a:buAutoNum type="arabicParenR"/>
            </a:pPr>
            <a:r>
              <a:rPr lang="zh-CN" altLang="en-US" sz="2400" dirty="0">
                <a:ea typeface="楷体_GB2312" pitchFamily="49" charset="-122"/>
                <a:cs typeface="Arial" panose="020B0604020202020204" pitchFamily="34" charset="0"/>
              </a:rPr>
              <a:t>If the given value </a:t>
            </a:r>
            <a:r>
              <a:rPr lang="zh-CN" altLang="en-US" sz="2400" b="1" dirty="0">
                <a:solidFill>
                  <a:srgbClr val="A50021"/>
                </a:solidFill>
                <a:ea typeface="楷体_GB2312" pitchFamily="49" charset="-122"/>
                <a:cs typeface="Arial" panose="020B0604020202020204" pitchFamily="34" charset="0"/>
              </a:rPr>
              <a:t>equals</a:t>
            </a:r>
            <a:r>
              <a:rPr lang="zh-CN" altLang="en-US" sz="2400" dirty="0">
                <a:ea typeface="楷体_GB2312" pitchFamily="49" charset="-122"/>
                <a:cs typeface="Arial" panose="020B0604020202020204" pitchFamily="34" charset="0"/>
              </a:rPr>
              <a:t> the root nodes key, then</a:t>
            </a:r>
          </a:p>
          <a:p>
            <a:pPr marL="1014730" lvl="1" indent="-533400">
              <a:lnSpc>
                <a:spcPct val="115000"/>
              </a:lnSpc>
              <a:buFontTx/>
              <a:buNone/>
            </a:pPr>
            <a:r>
              <a:rPr lang="zh-CN" altLang="en-US" sz="2400" b="1" dirty="0">
                <a:solidFill>
                  <a:srgbClr val="A50021"/>
                </a:solidFill>
                <a:ea typeface="楷体_GB2312" pitchFamily="49" charset="-122"/>
                <a:cs typeface="Arial" panose="020B0604020202020204" pitchFamily="34" charset="0"/>
              </a:rPr>
              <a:t>Found;</a:t>
            </a:r>
            <a:endParaRPr lang="zh-CN" altLang="en-US" sz="2400" dirty="0">
              <a:solidFill>
                <a:srgbClr val="A50021"/>
              </a:solidFill>
              <a:ea typeface="楷体_GB2312" pitchFamily="49" charset="-122"/>
              <a:cs typeface="Arial" panose="020B0604020202020204" pitchFamily="34" charset="0"/>
            </a:endParaRPr>
          </a:p>
          <a:p>
            <a:pPr marL="609600" indent="-609600">
              <a:lnSpc>
                <a:spcPct val="115000"/>
              </a:lnSpc>
              <a:buFontTx/>
              <a:buNone/>
            </a:pPr>
            <a:r>
              <a:rPr lang="en-US" altLang="zh-CN" sz="2400" dirty="0">
                <a:ea typeface="楷体_GB2312" pitchFamily="49" charset="-122"/>
                <a:cs typeface="Arial" panose="020B0604020202020204" pitchFamily="34" charset="0"/>
              </a:rPr>
              <a:t>2) If the given value is </a:t>
            </a:r>
            <a:r>
              <a:rPr lang="zh-CN" altLang="en-US" sz="2400" b="1" dirty="0">
                <a:solidFill>
                  <a:srgbClr val="A50021"/>
                </a:solidFill>
                <a:ea typeface="楷体_GB2312" pitchFamily="49" charset="-122"/>
                <a:cs typeface="Arial" panose="020B0604020202020204" pitchFamily="34" charset="0"/>
              </a:rPr>
              <a:t>less than</a:t>
            </a:r>
            <a:r>
              <a:rPr lang="en-US" altLang="zh-CN" sz="2400" dirty="0">
                <a:ea typeface="楷体_GB2312" pitchFamily="49" charset="-122"/>
                <a:cs typeface="Arial" panose="020B0604020202020204" pitchFamily="34" charset="0"/>
              </a:rPr>
              <a:t> the root nodes key, then</a:t>
            </a:r>
            <a:endParaRPr lang="zh-CN" altLang="en-US" sz="2400" b="1" dirty="0">
              <a:solidFill>
                <a:srgbClr val="A50021"/>
              </a:solidFill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533400" y="2092325"/>
            <a:ext cx="187706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otherwise ，</a:t>
            </a:r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733425" y="1484313"/>
            <a:ext cx="726249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If the binary search tree is </a:t>
            </a:r>
            <a:r>
              <a:rPr lang="zh-CN" altLang="en-US" sz="2400" b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empty</a:t>
            </a:r>
            <a:r>
              <a:rPr lang="zh-CN" altLang="en-US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the search will fail.</a:t>
            </a:r>
          </a:p>
        </p:txBody>
      </p:sp>
      <p:sp>
        <p:nvSpPr>
          <p:cNvPr id="137222" name="Rectangle 6"/>
          <p:cNvSpPr>
            <a:spLocks noChangeArrowheads="1"/>
          </p:cNvSpPr>
          <p:nvPr/>
        </p:nvSpPr>
        <p:spPr bwMode="auto">
          <a:xfrm>
            <a:off x="-108585" y="4149090"/>
            <a:ext cx="8534400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708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8618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528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15000"/>
              </a:lnSpc>
              <a:buFontTx/>
              <a:buNone/>
            </a:pPr>
            <a:r>
              <a:rPr lang="en-US" altLang="zh-CN" sz="24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    </a:t>
            </a:r>
            <a:r>
              <a:rPr lang="zh-CN" altLang="en-US" sz="24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Continue searching in the left subtree.</a:t>
            </a:r>
          </a:p>
          <a:p>
            <a:pPr lvl="1">
              <a:lnSpc>
                <a:spcPct val="115000"/>
              </a:lnSpc>
              <a:buFontTx/>
              <a:buNone/>
            </a:pP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3) If the given value </a:t>
            </a: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is </a:t>
            </a:r>
            <a:r>
              <a:rPr lang="en-US" altLang="zh-CN" sz="2400" b="1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more</a:t>
            </a:r>
            <a:r>
              <a:rPr lang="zh-CN" altLang="en-US" sz="2400" b="1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 than</a:t>
            </a:r>
            <a:r>
              <a:rPr lang="zh-CN" altLang="en-US" sz="2400" b="1" kern="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root nodes key, then</a:t>
            </a:r>
            <a:endParaRPr lang="zh-CN" altLang="en-US" sz="2400" b="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lvl="1">
              <a:lnSpc>
                <a:spcPct val="115000"/>
              </a:lnSpc>
              <a:buFontTx/>
              <a:buNone/>
            </a:pPr>
            <a:r>
              <a:rPr lang="en-US" altLang="zh-CN" sz="24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   </a:t>
            </a:r>
            <a:r>
              <a:rPr lang="zh-CN" altLang="en-US" sz="24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Continue searching the right subtree.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55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37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37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37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 autoUpdateAnimBg="0"/>
      <p:bldP spid="137220" grpId="0" bldLvl="0" animBg="1" autoUpdateAnimBg="0"/>
      <p:bldP spid="137221" grpId="0" bldLvl="0" animBg="1" autoUpdateAnimBg="0"/>
      <p:bldP spid="137222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Oval 2"/>
          <p:cNvSpPr>
            <a:spLocks noChangeArrowheads="1"/>
          </p:cNvSpPr>
          <p:nvPr/>
        </p:nvSpPr>
        <p:spPr bwMode="auto">
          <a:xfrm>
            <a:off x="4191000" y="16002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50</a:t>
            </a:r>
          </a:p>
        </p:txBody>
      </p:sp>
      <p:sp>
        <p:nvSpPr>
          <p:cNvPr id="138243" name="Oval 3"/>
          <p:cNvSpPr>
            <a:spLocks noChangeArrowheads="1"/>
          </p:cNvSpPr>
          <p:nvPr/>
        </p:nvSpPr>
        <p:spPr bwMode="auto">
          <a:xfrm>
            <a:off x="2743200" y="2133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30</a:t>
            </a:r>
          </a:p>
        </p:txBody>
      </p:sp>
      <p:sp>
        <p:nvSpPr>
          <p:cNvPr id="138244" name="Oval 4"/>
          <p:cNvSpPr>
            <a:spLocks noChangeArrowheads="1"/>
          </p:cNvSpPr>
          <p:nvPr/>
        </p:nvSpPr>
        <p:spPr bwMode="auto">
          <a:xfrm>
            <a:off x="5638800" y="2133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80</a:t>
            </a:r>
          </a:p>
        </p:txBody>
      </p:sp>
      <p:sp>
        <p:nvSpPr>
          <p:cNvPr id="138245" name="Oval 5"/>
          <p:cNvSpPr>
            <a:spLocks noChangeArrowheads="1"/>
          </p:cNvSpPr>
          <p:nvPr/>
        </p:nvSpPr>
        <p:spPr bwMode="auto">
          <a:xfrm>
            <a:off x="1600200" y="2819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20</a:t>
            </a:r>
          </a:p>
        </p:txBody>
      </p:sp>
      <p:sp>
        <p:nvSpPr>
          <p:cNvPr id="138246" name="Oval 6"/>
          <p:cNvSpPr>
            <a:spLocks noChangeArrowheads="1"/>
          </p:cNvSpPr>
          <p:nvPr/>
        </p:nvSpPr>
        <p:spPr bwMode="auto">
          <a:xfrm>
            <a:off x="6781800" y="2819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90</a:t>
            </a:r>
          </a:p>
        </p:txBody>
      </p:sp>
      <p:sp>
        <p:nvSpPr>
          <p:cNvPr id="138247" name="Oval 7"/>
          <p:cNvSpPr>
            <a:spLocks noChangeArrowheads="1"/>
          </p:cNvSpPr>
          <p:nvPr/>
        </p:nvSpPr>
        <p:spPr bwMode="auto">
          <a:xfrm>
            <a:off x="5943600" y="3657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85</a:t>
            </a:r>
          </a:p>
        </p:txBody>
      </p:sp>
      <p:sp>
        <p:nvSpPr>
          <p:cNvPr id="138248" name="Oval 8"/>
          <p:cNvSpPr>
            <a:spLocks noChangeArrowheads="1"/>
          </p:cNvSpPr>
          <p:nvPr/>
        </p:nvSpPr>
        <p:spPr bwMode="auto">
          <a:xfrm>
            <a:off x="3886200" y="2819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40</a:t>
            </a:r>
          </a:p>
        </p:txBody>
      </p:sp>
      <p:sp>
        <p:nvSpPr>
          <p:cNvPr id="138249" name="Oval 9"/>
          <p:cNvSpPr>
            <a:spLocks noChangeArrowheads="1"/>
          </p:cNvSpPr>
          <p:nvPr/>
        </p:nvSpPr>
        <p:spPr bwMode="auto">
          <a:xfrm>
            <a:off x="2971800" y="3657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35</a:t>
            </a:r>
          </a:p>
        </p:txBody>
      </p:sp>
      <p:sp>
        <p:nvSpPr>
          <p:cNvPr id="138250" name="Oval 10"/>
          <p:cNvSpPr>
            <a:spLocks noChangeArrowheads="1"/>
          </p:cNvSpPr>
          <p:nvPr/>
        </p:nvSpPr>
        <p:spPr bwMode="auto">
          <a:xfrm>
            <a:off x="7239000" y="44958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88</a:t>
            </a:r>
          </a:p>
        </p:txBody>
      </p:sp>
      <p:sp>
        <p:nvSpPr>
          <p:cNvPr id="138251" name="Line 11"/>
          <p:cNvSpPr>
            <a:spLocks noChangeShapeType="1"/>
          </p:cNvSpPr>
          <p:nvPr/>
        </p:nvSpPr>
        <p:spPr bwMode="auto">
          <a:xfrm flipH="1">
            <a:off x="3352800" y="1905000"/>
            <a:ext cx="8382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2" name="Line 12"/>
          <p:cNvSpPr>
            <a:spLocks noChangeShapeType="1"/>
          </p:cNvSpPr>
          <p:nvPr/>
        </p:nvSpPr>
        <p:spPr bwMode="auto">
          <a:xfrm flipH="1">
            <a:off x="2209800" y="2590800"/>
            <a:ext cx="533400" cy="3048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3" name="Line 13"/>
          <p:cNvSpPr>
            <a:spLocks noChangeShapeType="1"/>
          </p:cNvSpPr>
          <p:nvPr/>
        </p:nvSpPr>
        <p:spPr bwMode="auto">
          <a:xfrm>
            <a:off x="4876800" y="1905000"/>
            <a:ext cx="7620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4" name="Line 14"/>
          <p:cNvSpPr>
            <a:spLocks noChangeShapeType="1"/>
          </p:cNvSpPr>
          <p:nvPr/>
        </p:nvSpPr>
        <p:spPr bwMode="auto">
          <a:xfrm>
            <a:off x="3352800" y="2514600"/>
            <a:ext cx="6096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5" name="Line 15"/>
          <p:cNvSpPr>
            <a:spLocks noChangeShapeType="1"/>
          </p:cNvSpPr>
          <p:nvPr/>
        </p:nvSpPr>
        <p:spPr bwMode="auto">
          <a:xfrm flipH="1">
            <a:off x="3429000" y="3276600"/>
            <a:ext cx="533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6" name="Line 16"/>
          <p:cNvSpPr>
            <a:spLocks noChangeShapeType="1"/>
          </p:cNvSpPr>
          <p:nvPr/>
        </p:nvSpPr>
        <p:spPr bwMode="auto">
          <a:xfrm>
            <a:off x="6248400" y="2590800"/>
            <a:ext cx="609600" cy="3048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7" name="Line 17"/>
          <p:cNvSpPr>
            <a:spLocks noChangeShapeType="1"/>
          </p:cNvSpPr>
          <p:nvPr/>
        </p:nvSpPr>
        <p:spPr bwMode="auto">
          <a:xfrm flipH="1">
            <a:off x="6400800" y="3276600"/>
            <a:ext cx="6096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8" name="Line 18"/>
          <p:cNvSpPr>
            <a:spLocks noChangeShapeType="1"/>
          </p:cNvSpPr>
          <p:nvPr/>
        </p:nvSpPr>
        <p:spPr bwMode="auto">
          <a:xfrm>
            <a:off x="6553200" y="4114800"/>
            <a:ext cx="7620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9" name="Oval 19"/>
          <p:cNvSpPr>
            <a:spLocks noChangeArrowheads="1"/>
          </p:cNvSpPr>
          <p:nvPr/>
        </p:nvSpPr>
        <p:spPr bwMode="auto">
          <a:xfrm>
            <a:off x="1981200" y="44958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32</a:t>
            </a:r>
          </a:p>
        </p:txBody>
      </p:sp>
      <p:sp>
        <p:nvSpPr>
          <p:cNvPr id="138260" name="Line 20"/>
          <p:cNvSpPr>
            <a:spLocks noChangeShapeType="1"/>
          </p:cNvSpPr>
          <p:nvPr/>
        </p:nvSpPr>
        <p:spPr bwMode="auto">
          <a:xfrm flipH="1">
            <a:off x="2438400" y="4038600"/>
            <a:ext cx="6096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1" name="Text Box 21"/>
          <p:cNvSpPr txBox="1">
            <a:spLocks noChangeArrowheads="1"/>
          </p:cNvSpPr>
          <p:nvPr/>
        </p:nvSpPr>
        <p:spPr bwMode="auto">
          <a:xfrm>
            <a:off x="395605" y="571500"/>
            <a:ext cx="474535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for instance：</a:t>
            </a:r>
            <a:r>
              <a:rPr lang="zh-CN" altLang="en-US"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  <a:sym typeface="+mn-ea"/>
              </a:rPr>
              <a:t>binary sort tree</a:t>
            </a:r>
            <a:endParaRPr lang="zh-CN" altLang="en-US" b="0"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</a:endParaRPr>
          </a:p>
          <a:p>
            <a:endParaRPr lang="zh-CN" altLang="en-US" b="0">
              <a:latin typeface="Arial" panose="020B0604020202020204" pitchFamily="34" charset="0"/>
              <a:ea typeface="隶书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8263" name="Freeform 23"/>
          <p:cNvSpPr/>
          <p:nvPr/>
        </p:nvSpPr>
        <p:spPr bwMode="auto">
          <a:xfrm>
            <a:off x="4495800" y="838200"/>
            <a:ext cx="1066800" cy="762000"/>
          </a:xfrm>
          <a:custGeom>
            <a:avLst/>
            <a:gdLst>
              <a:gd name="T0" fmla="*/ 672 w 672"/>
              <a:gd name="T1" fmla="*/ 0 h 480"/>
              <a:gd name="T2" fmla="*/ 192 w 672"/>
              <a:gd name="T3" fmla="*/ 240 h 480"/>
              <a:gd name="T4" fmla="*/ 480 w 672"/>
              <a:gd name="T5" fmla="*/ 240 h 480"/>
              <a:gd name="T6" fmla="*/ 0 w 672"/>
              <a:gd name="T7" fmla="*/ 48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480">
                <a:moveTo>
                  <a:pt x="672" y="0"/>
                </a:moveTo>
                <a:cubicBezTo>
                  <a:pt x="448" y="100"/>
                  <a:pt x="224" y="200"/>
                  <a:pt x="192" y="240"/>
                </a:cubicBezTo>
                <a:cubicBezTo>
                  <a:pt x="160" y="280"/>
                  <a:pt x="512" y="200"/>
                  <a:pt x="480" y="240"/>
                </a:cubicBezTo>
                <a:cubicBezTo>
                  <a:pt x="448" y="280"/>
                  <a:pt x="224" y="380"/>
                  <a:pt x="0" y="480"/>
                </a:cubicBezTo>
              </a:path>
            </a:pathLst>
          </a:custGeom>
          <a:noFill/>
          <a:ln w="31750">
            <a:solidFill>
              <a:srgbClr val="FF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4800"/>
          </a:p>
        </p:txBody>
      </p:sp>
      <p:sp>
        <p:nvSpPr>
          <p:cNvPr id="138264" name="Text Box 24"/>
          <p:cNvSpPr txBox="1">
            <a:spLocks noChangeArrowheads="1"/>
          </p:cNvSpPr>
          <p:nvPr/>
        </p:nvSpPr>
        <p:spPr bwMode="auto">
          <a:xfrm>
            <a:off x="762000" y="5149850"/>
            <a:ext cx="21259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>
                <a:ea typeface="隶书" panose="02010509060101010101" pitchFamily="49" charset="-122"/>
              </a:rPr>
              <a:t>search key</a:t>
            </a:r>
            <a:endParaRPr lang="zh-CN" altLang="en-US" sz="3600" b="0">
              <a:ea typeface="隶书" panose="02010509060101010101" pitchFamily="49" charset="-122"/>
            </a:endParaRPr>
          </a:p>
        </p:txBody>
      </p:sp>
      <p:sp>
        <p:nvSpPr>
          <p:cNvPr id="138265" name="Text Box 25"/>
          <p:cNvSpPr txBox="1">
            <a:spLocks noChangeArrowheads="1"/>
          </p:cNvSpPr>
          <p:nvPr/>
        </p:nvSpPr>
        <p:spPr bwMode="auto">
          <a:xfrm>
            <a:off x="1752600" y="5895975"/>
            <a:ext cx="149860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CC3300"/>
                </a:solidFill>
                <a:ea typeface="隶书" panose="02010509060101010101" pitchFamily="49" charset="-122"/>
              </a:rPr>
              <a:t>== 50 ,</a:t>
            </a:r>
            <a:endParaRPr lang="en-US" altLang="zh-CN" sz="3600" b="0">
              <a:solidFill>
                <a:srgbClr val="CC3300"/>
              </a:solidFill>
              <a:ea typeface="隶书" panose="02010509060101010101" pitchFamily="49" charset="-122"/>
            </a:endParaRPr>
          </a:p>
        </p:txBody>
      </p:sp>
      <p:sp>
        <p:nvSpPr>
          <p:cNvPr id="138266" name="Oval 26"/>
          <p:cNvSpPr>
            <a:spLocks noChangeArrowheads="1"/>
          </p:cNvSpPr>
          <p:nvPr/>
        </p:nvSpPr>
        <p:spPr bwMode="auto">
          <a:xfrm>
            <a:off x="4191000" y="1600200"/>
            <a:ext cx="685800" cy="533400"/>
          </a:xfrm>
          <a:prstGeom prst="ellipse">
            <a:avLst/>
          </a:prstGeom>
          <a:solidFill>
            <a:srgbClr val="FFFFCC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>
                <a:solidFill>
                  <a:srgbClr val="990033"/>
                </a:solidFill>
              </a:rPr>
              <a:t>50</a:t>
            </a:r>
            <a:endParaRPr lang="en-US" altLang="zh-CN" sz="3600" b="0">
              <a:solidFill>
                <a:srgbClr val="990033"/>
              </a:solidFill>
            </a:endParaRPr>
          </a:p>
        </p:txBody>
      </p:sp>
      <p:sp useBgFill="1">
        <p:nvSpPr>
          <p:cNvPr id="138267" name="Oval 27"/>
          <p:cNvSpPr>
            <a:spLocks noChangeArrowheads="1"/>
          </p:cNvSpPr>
          <p:nvPr/>
        </p:nvSpPr>
        <p:spPr bwMode="auto">
          <a:xfrm>
            <a:off x="4191000" y="1600200"/>
            <a:ext cx="685800" cy="533400"/>
          </a:xfrm>
          <a:prstGeom prst="ellipse">
            <a:avLst/>
          </a:prstGeom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50</a:t>
            </a:r>
          </a:p>
        </p:txBody>
      </p:sp>
      <p:sp>
        <p:nvSpPr>
          <p:cNvPr id="138268" name="Text Box 28"/>
          <p:cNvSpPr txBox="1">
            <a:spLocks noChangeArrowheads="1"/>
          </p:cNvSpPr>
          <p:nvPr/>
        </p:nvSpPr>
        <p:spPr bwMode="auto">
          <a:xfrm>
            <a:off x="3260725" y="5911850"/>
            <a:ext cx="8686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3333FF"/>
                </a:solidFill>
              </a:rPr>
              <a:t>35 ,</a:t>
            </a:r>
            <a:endParaRPr lang="en-US" altLang="zh-CN" sz="3600" b="0">
              <a:solidFill>
                <a:srgbClr val="3333FF"/>
              </a:solidFill>
            </a:endParaRPr>
          </a:p>
        </p:txBody>
      </p:sp>
      <p:sp>
        <p:nvSpPr>
          <p:cNvPr id="138269" name="Oval 29"/>
          <p:cNvSpPr>
            <a:spLocks noChangeArrowheads="1"/>
          </p:cNvSpPr>
          <p:nvPr/>
        </p:nvSpPr>
        <p:spPr bwMode="auto">
          <a:xfrm>
            <a:off x="4191000" y="1600200"/>
            <a:ext cx="685800" cy="533400"/>
          </a:xfrm>
          <a:prstGeom prst="ellipse">
            <a:avLst/>
          </a:prstGeom>
          <a:solidFill>
            <a:srgbClr val="CCFFFF"/>
          </a:solidFill>
          <a:ln w="19050" cap="sq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50</a:t>
            </a:r>
          </a:p>
        </p:txBody>
      </p:sp>
      <p:sp>
        <p:nvSpPr>
          <p:cNvPr id="138270" name="Line 30"/>
          <p:cNvSpPr>
            <a:spLocks noChangeShapeType="1"/>
          </p:cNvSpPr>
          <p:nvPr/>
        </p:nvSpPr>
        <p:spPr bwMode="auto">
          <a:xfrm flipH="1">
            <a:off x="3429000" y="2057400"/>
            <a:ext cx="83820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1" name="Line 31"/>
          <p:cNvSpPr>
            <a:spLocks noChangeShapeType="1"/>
          </p:cNvSpPr>
          <p:nvPr/>
        </p:nvSpPr>
        <p:spPr bwMode="auto">
          <a:xfrm>
            <a:off x="3276600" y="2590800"/>
            <a:ext cx="60960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2" name="Line 32"/>
          <p:cNvSpPr>
            <a:spLocks noChangeShapeType="1"/>
          </p:cNvSpPr>
          <p:nvPr/>
        </p:nvSpPr>
        <p:spPr bwMode="auto">
          <a:xfrm flipH="1">
            <a:off x="3505200" y="3352800"/>
            <a:ext cx="53340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3" name="Oval 33"/>
          <p:cNvSpPr>
            <a:spLocks noChangeArrowheads="1"/>
          </p:cNvSpPr>
          <p:nvPr/>
        </p:nvSpPr>
        <p:spPr bwMode="auto">
          <a:xfrm>
            <a:off x="2743200" y="2133600"/>
            <a:ext cx="685800" cy="533400"/>
          </a:xfrm>
          <a:prstGeom prst="ellipse">
            <a:avLst/>
          </a:prstGeom>
          <a:solidFill>
            <a:srgbClr val="CCFFFF"/>
          </a:solidFill>
          <a:ln w="25400" cap="sq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30</a:t>
            </a:r>
          </a:p>
        </p:txBody>
      </p:sp>
      <p:sp>
        <p:nvSpPr>
          <p:cNvPr id="138274" name="Oval 34"/>
          <p:cNvSpPr>
            <a:spLocks noChangeArrowheads="1"/>
          </p:cNvSpPr>
          <p:nvPr/>
        </p:nvSpPr>
        <p:spPr bwMode="auto">
          <a:xfrm>
            <a:off x="3886200" y="2819400"/>
            <a:ext cx="685800" cy="533400"/>
          </a:xfrm>
          <a:prstGeom prst="ellipse">
            <a:avLst/>
          </a:prstGeom>
          <a:solidFill>
            <a:srgbClr val="CCFFFF"/>
          </a:solidFill>
          <a:ln w="25400" cap="sq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40</a:t>
            </a:r>
          </a:p>
        </p:txBody>
      </p:sp>
      <p:sp>
        <p:nvSpPr>
          <p:cNvPr id="138275" name="Oval 35"/>
          <p:cNvSpPr>
            <a:spLocks noChangeArrowheads="1"/>
          </p:cNvSpPr>
          <p:nvPr/>
        </p:nvSpPr>
        <p:spPr bwMode="auto">
          <a:xfrm>
            <a:off x="2971800" y="3657600"/>
            <a:ext cx="685800" cy="533400"/>
          </a:xfrm>
          <a:prstGeom prst="ellipse">
            <a:avLst/>
          </a:prstGeom>
          <a:solidFill>
            <a:srgbClr val="CCFFFF"/>
          </a:solidFill>
          <a:ln w="25400" cap="sq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>
                <a:solidFill>
                  <a:srgbClr val="3333FF"/>
                </a:solidFill>
              </a:rPr>
              <a:t>35</a:t>
            </a:r>
            <a:endParaRPr lang="en-US" altLang="zh-CN" sz="3600" b="0">
              <a:solidFill>
                <a:srgbClr val="3333FF"/>
              </a:solidFill>
            </a:endParaRPr>
          </a:p>
        </p:txBody>
      </p:sp>
      <p:sp useBgFill="1">
        <p:nvSpPr>
          <p:cNvPr id="138276" name="Oval 36"/>
          <p:cNvSpPr>
            <a:spLocks noChangeArrowheads="1"/>
          </p:cNvSpPr>
          <p:nvPr/>
        </p:nvSpPr>
        <p:spPr bwMode="auto">
          <a:xfrm>
            <a:off x="4191000" y="1600200"/>
            <a:ext cx="685800" cy="533400"/>
          </a:xfrm>
          <a:prstGeom prst="ellipse">
            <a:avLst/>
          </a:prstGeom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990033"/>
                </a:solidFill>
              </a:rPr>
              <a:t>50</a:t>
            </a:r>
          </a:p>
        </p:txBody>
      </p:sp>
      <p:sp>
        <p:nvSpPr>
          <p:cNvPr id="138277" name="Text Box 37"/>
          <p:cNvSpPr txBox="1">
            <a:spLocks noChangeArrowheads="1"/>
          </p:cNvSpPr>
          <p:nvPr/>
        </p:nvSpPr>
        <p:spPr bwMode="auto">
          <a:xfrm>
            <a:off x="4175125" y="5911850"/>
            <a:ext cx="8686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006600"/>
                </a:solidFill>
              </a:rPr>
              <a:t>90 ,</a:t>
            </a:r>
            <a:endParaRPr lang="en-US" altLang="zh-CN" sz="3600" b="0">
              <a:solidFill>
                <a:srgbClr val="006600"/>
              </a:solidFill>
            </a:endParaRPr>
          </a:p>
        </p:txBody>
      </p:sp>
      <p:sp>
        <p:nvSpPr>
          <p:cNvPr id="138278" name="Line 38"/>
          <p:cNvSpPr>
            <a:spLocks noChangeShapeType="1"/>
          </p:cNvSpPr>
          <p:nvPr/>
        </p:nvSpPr>
        <p:spPr bwMode="auto">
          <a:xfrm>
            <a:off x="4876800" y="1752600"/>
            <a:ext cx="914400" cy="4572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9" name="Line 39"/>
          <p:cNvSpPr>
            <a:spLocks noChangeShapeType="1"/>
          </p:cNvSpPr>
          <p:nvPr/>
        </p:nvSpPr>
        <p:spPr bwMode="auto">
          <a:xfrm>
            <a:off x="6324600" y="2438400"/>
            <a:ext cx="685800" cy="3810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80" name="Oval 40"/>
          <p:cNvSpPr>
            <a:spLocks noChangeArrowheads="1"/>
          </p:cNvSpPr>
          <p:nvPr/>
        </p:nvSpPr>
        <p:spPr bwMode="auto">
          <a:xfrm>
            <a:off x="4191000" y="1600200"/>
            <a:ext cx="685800" cy="533400"/>
          </a:xfrm>
          <a:prstGeom prst="ellipse">
            <a:avLst/>
          </a:prstGeom>
          <a:solidFill>
            <a:srgbClr val="CCFFCC"/>
          </a:solidFill>
          <a:ln w="25400" cap="sq">
            <a:solidFill>
              <a:srgbClr val="0066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A50021"/>
                </a:solidFill>
              </a:rPr>
              <a:t>50</a:t>
            </a:r>
          </a:p>
        </p:txBody>
      </p:sp>
      <p:sp>
        <p:nvSpPr>
          <p:cNvPr id="138281" name="Oval 41"/>
          <p:cNvSpPr>
            <a:spLocks noChangeArrowheads="1"/>
          </p:cNvSpPr>
          <p:nvPr/>
        </p:nvSpPr>
        <p:spPr bwMode="auto">
          <a:xfrm>
            <a:off x="5638800" y="2133600"/>
            <a:ext cx="685800" cy="533400"/>
          </a:xfrm>
          <a:prstGeom prst="ellipse">
            <a:avLst/>
          </a:prstGeom>
          <a:solidFill>
            <a:srgbClr val="CCFFCC"/>
          </a:solidFill>
          <a:ln w="25400" cap="sq">
            <a:solidFill>
              <a:srgbClr val="0066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0">
                <a:solidFill>
                  <a:srgbClr val="A50021"/>
                </a:solidFill>
              </a:rPr>
              <a:t>80</a:t>
            </a:r>
          </a:p>
        </p:txBody>
      </p:sp>
      <p:sp>
        <p:nvSpPr>
          <p:cNvPr id="138282" name="Oval 42"/>
          <p:cNvSpPr>
            <a:spLocks noChangeArrowheads="1"/>
          </p:cNvSpPr>
          <p:nvPr/>
        </p:nvSpPr>
        <p:spPr bwMode="auto">
          <a:xfrm>
            <a:off x="6781800" y="2819400"/>
            <a:ext cx="685800" cy="533400"/>
          </a:xfrm>
          <a:prstGeom prst="ellipse">
            <a:avLst/>
          </a:prstGeom>
          <a:solidFill>
            <a:srgbClr val="CCFFCC"/>
          </a:solidFill>
          <a:ln w="25400" cap="sq">
            <a:solidFill>
              <a:srgbClr val="0066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>
                <a:solidFill>
                  <a:srgbClr val="006600"/>
                </a:solidFill>
              </a:rPr>
              <a:t>90</a:t>
            </a:r>
            <a:endParaRPr lang="en-US" altLang="zh-CN" sz="3600" b="0">
              <a:solidFill>
                <a:srgbClr val="006600"/>
              </a:solidFill>
            </a:endParaRPr>
          </a:p>
        </p:txBody>
      </p:sp>
      <p:sp>
        <p:nvSpPr>
          <p:cNvPr id="138283" name="Text Box 43"/>
          <p:cNvSpPr txBox="1">
            <a:spLocks noChangeArrowheads="1"/>
          </p:cNvSpPr>
          <p:nvPr/>
        </p:nvSpPr>
        <p:spPr bwMode="auto">
          <a:xfrm>
            <a:off x="5073650" y="5911850"/>
            <a:ext cx="8686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rgbClr val="FF00FF"/>
                </a:solidFill>
              </a:rPr>
              <a:t>95 ,</a:t>
            </a:r>
            <a:endParaRPr lang="en-US" altLang="zh-CN" sz="3600" b="0">
              <a:solidFill>
                <a:srgbClr val="FF00FF"/>
              </a:solidFill>
            </a:endParaRPr>
          </a:p>
        </p:txBody>
      </p:sp>
      <p:sp>
        <p:nvSpPr>
          <p:cNvPr id="138284" name="Line 44"/>
          <p:cNvSpPr>
            <a:spLocks noChangeShapeType="1"/>
          </p:cNvSpPr>
          <p:nvPr/>
        </p:nvSpPr>
        <p:spPr bwMode="auto">
          <a:xfrm>
            <a:off x="7467600" y="3048000"/>
            <a:ext cx="685800" cy="3810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56</a:t>
            </a:fld>
            <a:endParaRPr lang="en-US" altLang="zh-C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381000" y="469900"/>
            <a:ext cx="663638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As can be seen from the above search process,</a:t>
            </a:r>
            <a:endParaRPr lang="zh-CN" altLang="en-US" sz="2400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1250950" y="1263650"/>
            <a:ext cx="80740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During the search, a </a:t>
            </a:r>
            <a:r>
              <a:rPr lang="zh-CN" altLang="en-US" sz="24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search path</a:t>
            </a:r>
            <a:r>
              <a:rPr lang="zh-CN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was generated:</a:t>
            </a:r>
            <a:endParaRPr lang="zh-CN" altLang="en-US" sz="2400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381000" y="2092325"/>
            <a:ext cx="833755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rgbClr val="3333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Starting from the root node, follow the left or right branch down the hierarchy until the key equals the given value;</a:t>
            </a: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2025650" y="3733800"/>
            <a:ext cx="40830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or</a:t>
            </a: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381000" y="4343400"/>
            <a:ext cx="833755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Starting from the root node, traverse the left or right branch layer by layer until the pointer points to an empty tree.</a:t>
            </a:r>
            <a:endParaRPr lang="zh-CN" altLang="en-US" sz="2000" b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4876800" y="3362325"/>
            <a:ext cx="3124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— Found</a:t>
            </a:r>
            <a:endParaRPr lang="en-US" altLang="zh-CN" sz="2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4800600" y="5562600"/>
            <a:ext cx="3581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— Search failed</a:t>
            </a:r>
            <a:endParaRPr lang="en-US" altLang="zh-CN" sz="2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bldLvl="0" animBg="1" autoUpdateAnimBg="0"/>
      <p:bldP spid="142339" grpId="0" bldLvl="0" animBg="1" autoUpdateAnimBg="0"/>
      <p:bldP spid="142340" grpId="0" bldLvl="0" animBg="1" autoUpdateAnimBg="0"/>
      <p:bldP spid="142341" grpId="0" bldLvl="0" animBg="1" autoUpdateAnimBg="0"/>
      <p:bldP spid="142342" grpId="0" bldLvl="0" animBg="1" autoUpdateAnimBg="0"/>
      <p:bldP spid="142343" grpId="0" bldLvl="0" animBg="1" autoUpdateAnimBg="0"/>
      <p:bldP spid="142344" grpId="0" bldLvl="0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265113" y="152400"/>
            <a:ext cx="640207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A50021"/>
                </a:solidFill>
                <a:ea typeface="楷体_GB2312" pitchFamily="49" charset="-122"/>
              </a:rPr>
              <a:t>The algorithm is described as follows:</a:t>
            </a:r>
          </a:p>
        </p:txBody>
      </p:sp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251460" y="764540"/>
            <a:ext cx="8991600" cy="5008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Status  SearchBST ( BiTree T,  KeyType key,</a:t>
            </a:r>
            <a:endParaRPr lang="en-US" altLang="zh-CN" b="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algn="r">
              <a:lnSpc>
                <a:spcPct val="115000"/>
              </a:lnSpc>
            </a:pPr>
            <a:r>
              <a:rPr lang="en-US" altLang="zh-CN" b="0" dirty="0" err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BiTree f,  BiTree &amp; p ) {</a:t>
            </a:r>
            <a:endParaRPr lang="en-US" altLang="zh-CN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Recursively search for its in the binary search tree pointed to by the root pointer 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</a:t>
            </a:r>
            <a:endParaRPr lang="zh-CN" altLang="en-US" sz="2000" dirty="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// Data element with a keyword equal to key, if 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found</a:t>
            </a:r>
            <a:r>
              <a:rPr lang="en-US" altLang="zh-CN" sz="200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</a:t>
            </a:r>
            <a:endParaRPr lang="zh-CN" altLang="en-US" sz="2000" dirty="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// returns the node of the data element pointed to by pointer 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p</a:t>
            </a:r>
            <a:r>
              <a:rPr lang="en-US" altLang="zh-CN" sz="200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and returns</a:t>
            </a:r>
            <a:endParaRPr lang="zh-CN" altLang="en-US" sz="2000" dirty="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// The function value is 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TRUE</a:t>
            </a:r>
            <a:r>
              <a:rPr lang="en-US" altLang="zh-CN" sz="2000" dirty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;</a:t>
            </a:r>
          </a:p>
          <a:p>
            <a:r>
              <a:rPr lang="zh-CN" altLang="en-US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Otherwise, the search will 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fail</a:t>
            </a:r>
            <a:r>
              <a:rPr lang="zh-CN" altLang="en-US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 and an error message will be returned.</a:t>
            </a:r>
            <a:endParaRPr lang="zh-CN" altLang="en-US" sz="200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// The last node visited by pointer 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p</a:t>
            </a:r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 along the search path,</a:t>
            </a:r>
            <a:endParaRPr lang="zh-CN" altLang="en-US" sz="200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// and return the function value 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FALSE</a:t>
            </a:r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, with pointer</a:t>
            </a:r>
            <a:r>
              <a:rPr lang="zh-CN" altLang="en-US" sz="200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 f</a:t>
            </a:r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 pointing to the current access</a:t>
            </a:r>
            <a:endParaRPr lang="zh-CN" altLang="en-US" sz="200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// The parent node of the node, with its initial call value set to NULL</a:t>
            </a:r>
          </a:p>
          <a:p>
            <a:pPr>
              <a:lnSpc>
                <a:spcPct val="115000"/>
              </a:lnSpc>
            </a:pP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… … … …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} //  SearchBST</a:t>
            </a:r>
            <a:endParaRPr lang="en-US" altLang="zh-CN" sz="2800" b="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/>
              <a:t>©Haiyang Liu, 2025</a:t>
            </a:r>
            <a:endParaRPr lang="en-US" altLang="zh-CN" sz="1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z="1600" smtClean="0"/>
              <a:t>58</a:t>
            </a:fld>
            <a:endParaRPr lang="en-US" altLang="zh-CN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ldLvl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473075" y="338138"/>
            <a:ext cx="8347397" cy="543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600" dirty="0">
                <a:solidFill>
                  <a:srgbClr val="A50021"/>
                </a:solidFill>
                <a:ea typeface="楷体_GB2312" pitchFamily="49" charset="-122"/>
              </a:rPr>
              <a:t>if</a:t>
            </a:r>
            <a:r>
              <a:rPr lang="en-US" altLang="zh-CN" sz="3600" b="0" dirty="0">
                <a:solidFill>
                  <a:srgbClr val="A50021"/>
                </a:solidFill>
                <a:ea typeface="楷体_GB2312" pitchFamily="49" charset="-122"/>
              </a:rPr>
              <a:t> (</a:t>
            </a:r>
            <a:r>
              <a:rPr lang="en-US" altLang="zh-CN" sz="3600" dirty="0">
                <a:solidFill>
                  <a:srgbClr val="A50021"/>
                </a:solidFill>
                <a:ea typeface="楷体_GB2312" pitchFamily="49" charset="-122"/>
              </a:rPr>
              <a:t>!</a:t>
            </a:r>
            <a:r>
              <a:rPr lang="en-US" altLang="zh-CN" sz="3600" b="0" dirty="0">
                <a:solidFill>
                  <a:srgbClr val="A50021"/>
                </a:solidFill>
                <a:ea typeface="楷体_GB2312" pitchFamily="49" charset="-122"/>
              </a:rPr>
              <a:t>T)</a:t>
            </a:r>
          </a:p>
          <a:p>
            <a:pPr>
              <a:lnSpc>
                <a:spcPct val="125000"/>
              </a:lnSpc>
            </a:pPr>
            <a:endParaRPr lang="en-US" altLang="zh-CN" sz="3600" b="0" dirty="0">
              <a:solidFill>
                <a:srgbClr val="A50021"/>
              </a:solidFill>
              <a:ea typeface="楷体_GB2312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3600" dirty="0">
                <a:solidFill>
                  <a:srgbClr val="A50021"/>
                </a:solidFill>
                <a:ea typeface="楷体_GB2312" pitchFamily="49" charset="-122"/>
              </a:rPr>
              <a:t>else  if</a:t>
            </a:r>
            <a:r>
              <a:rPr lang="en-US" altLang="zh-CN" sz="3600" b="0" dirty="0">
                <a:ea typeface="楷体_GB2312" pitchFamily="49" charset="-122"/>
              </a:rPr>
              <a:t> ( EQ(key, T-&gt;</a:t>
            </a:r>
            <a:r>
              <a:rPr lang="en-US" altLang="zh-CN" sz="3600" b="0" dirty="0" err="1">
                <a:ea typeface="楷体_GB2312" pitchFamily="49" charset="-122"/>
              </a:rPr>
              <a:t>data.key</a:t>
            </a:r>
            <a:r>
              <a:rPr lang="en-US" altLang="zh-CN" sz="3600" b="0" dirty="0">
                <a:ea typeface="楷体_GB2312" pitchFamily="49" charset="-122"/>
              </a:rPr>
              <a:t>) )</a:t>
            </a:r>
          </a:p>
          <a:p>
            <a:pPr>
              <a:lnSpc>
                <a:spcPct val="125000"/>
              </a:lnSpc>
            </a:pPr>
            <a:r>
              <a:rPr lang="en-US" altLang="zh-CN" sz="3600" b="0" dirty="0">
                <a:ea typeface="楷体_GB2312" pitchFamily="49" charset="-122"/>
              </a:rPr>
              <a:t>    </a:t>
            </a:r>
          </a:p>
          <a:p>
            <a:pPr>
              <a:lnSpc>
                <a:spcPct val="125000"/>
              </a:lnSpc>
            </a:pPr>
            <a:r>
              <a:rPr lang="en-US" altLang="zh-CN" sz="3600" dirty="0">
                <a:solidFill>
                  <a:srgbClr val="A50021"/>
                </a:solidFill>
                <a:ea typeface="楷体_GB2312" pitchFamily="49" charset="-122"/>
              </a:rPr>
              <a:t>else  if</a:t>
            </a:r>
            <a:r>
              <a:rPr lang="en-US" altLang="zh-CN" sz="3600" dirty="0">
                <a:ea typeface="楷体_GB2312" pitchFamily="49" charset="-122"/>
              </a:rPr>
              <a:t> </a:t>
            </a:r>
            <a:r>
              <a:rPr lang="en-US" altLang="zh-CN" sz="3600" b="0" dirty="0">
                <a:ea typeface="楷体_GB2312" pitchFamily="49" charset="-122"/>
              </a:rPr>
              <a:t>( LT(key, T-&gt;</a:t>
            </a:r>
            <a:r>
              <a:rPr lang="en-US" altLang="zh-CN" sz="3600" b="0" dirty="0" err="1">
                <a:ea typeface="楷体_GB2312" pitchFamily="49" charset="-122"/>
              </a:rPr>
              <a:t>data.key</a:t>
            </a:r>
            <a:r>
              <a:rPr lang="en-US" altLang="zh-CN" sz="3600" b="0" dirty="0">
                <a:ea typeface="楷体_GB2312" pitchFamily="49" charset="-122"/>
              </a:rPr>
              <a:t>) )</a:t>
            </a:r>
          </a:p>
          <a:p>
            <a:pPr>
              <a:lnSpc>
                <a:spcPct val="125000"/>
              </a:lnSpc>
            </a:pPr>
            <a:r>
              <a:rPr lang="en-US" altLang="zh-CN" sz="3600" b="0" dirty="0">
                <a:ea typeface="楷体_GB2312" pitchFamily="49" charset="-122"/>
              </a:rPr>
              <a:t>    </a:t>
            </a:r>
            <a:r>
              <a:rPr lang="en-US" altLang="zh-CN" sz="3600" b="0" dirty="0">
                <a:solidFill>
                  <a:srgbClr val="0000FF"/>
                </a:solidFill>
                <a:ea typeface="楷体_GB2312" pitchFamily="49" charset="-122"/>
              </a:rPr>
              <a:t>   </a:t>
            </a:r>
          </a:p>
          <a:p>
            <a:pPr>
              <a:lnSpc>
                <a:spcPct val="125000"/>
              </a:lnSpc>
            </a:pPr>
            <a:endParaRPr lang="en-US" altLang="zh-CN" b="0" dirty="0">
              <a:ea typeface="楷体_GB2312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3600" dirty="0">
                <a:solidFill>
                  <a:srgbClr val="A50021"/>
                </a:solidFill>
                <a:ea typeface="楷体_GB2312" pitchFamily="49" charset="-122"/>
              </a:rPr>
              <a:t>else</a:t>
            </a:r>
            <a:endParaRPr lang="en-US" altLang="zh-CN" sz="3200" b="0" dirty="0">
              <a:ea typeface="楷体_GB2312" pitchFamily="49" charset="-122"/>
            </a:endParaRPr>
          </a:p>
        </p:txBody>
      </p:sp>
      <p:sp>
        <p:nvSpPr>
          <p:cNvPr id="144387" name="Rectangle 3"/>
          <p:cNvSpPr>
            <a:spLocks noChangeArrowheads="1"/>
          </p:cNvSpPr>
          <p:nvPr/>
        </p:nvSpPr>
        <p:spPr bwMode="auto">
          <a:xfrm>
            <a:off x="1143000" y="1066800"/>
            <a:ext cx="720280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>
                <a:ea typeface="楷体_GB2312" pitchFamily="49" charset="-122"/>
              </a:rPr>
              <a:t>{</a:t>
            </a:r>
            <a:r>
              <a:rPr lang="en-US" altLang="zh-CN" sz="3600" b="0">
                <a:ea typeface="楷体_GB2312" pitchFamily="49" charset="-122"/>
              </a:rPr>
              <a:t> p = f;  </a:t>
            </a:r>
            <a:r>
              <a:rPr lang="en-US" altLang="zh-CN" sz="3600">
                <a:ea typeface="楷体_GB2312" pitchFamily="49" charset="-122"/>
              </a:rPr>
              <a:t>return FALSE</a:t>
            </a:r>
            <a:r>
              <a:rPr lang="en-US" altLang="zh-CN" sz="3600" b="0">
                <a:ea typeface="楷体_GB2312" pitchFamily="49" charset="-122"/>
              </a:rPr>
              <a:t>; </a:t>
            </a:r>
            <a:r>
              <a:rPr lang="en-US" altLang="zh-CN" sz="3600">
                <a:ea typeface="楷体_GB2312" pitchFamily="49" charset="-122"/>
              </a:rPr>
              <a:t>}</a:t>
            </a:r>
            <a:r>
              <a:rPr lang="en-US" altLang="zh-CN" sz="3600">
                <a:solidFill>
                  <a:srgbClr val="006600"/>
                </a:solidFill>
                <a:ea typeface="楷体_GB2312" pitchFamily="49" charset="-122"/>
              </a:rPr>
              <a:t> 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Failed to find</a:t>
            </a:r>
            <a:endParaRPr lang="en-US" altLang="zh-CN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144388" name="Rectangle 4"/>
          <p:cNvSpPr>
            <a:spLocks noChangeArrowheads="1"/>
          </p:cNvSpPr>
          <p:nvPr/>
        </p:nvSpPr>
        <p:spPr bwMode="auto">
          <a:xfrm>
            <a:off x="1146175" y="2438400"/>
            <a:ext cx="613473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 dirty="0">
                <a:ea typeface="楷体_GB2312" pitchFamily="49" charset="-122"/>
              </a:rPr>
              <a:t>{</a:t>
            </a:r>
            <a:r>
              <a:rPr lang="en-US" altLang="zh-CN" sz="3600" b="0" dirty="0">
                <a:ea typeface="楷体_GB2312" pitchFamily="49" charset="-122"/>
              </a:rPr>
              <a:t> p = T;  </a:t>
            </a:r>
            <a:r>
              <a:rPr lang="en-US" altLang="zh-CN" sz="3600" dirty="0">
                <a:ea typeface="楷体_GB2312" pitchFamily="49" charset="-122"/>
              </a:rPr>
              <a:t>return TRUE</a:t>
            </a:r>
            <a:r>
              <a:rPr lang="en-US" altLang="zh-CN" sz="3600" b="0" dirty="0">
                <a:ea typeface="楷体_GB2312" pitchFamily="49" charset="-122"/>
              </a:rPr>
              <a:t>; </a:t>
            </a:r>
            <a:r>
              <a:rPr lang="en-US" altLang="zh-CN" sz="3600" dirty="0">
                <a:ea typeface="楷体_GB2312" pitchFamily="49" charset="-122"/>
              </a:rPr>
              <a:t>}  </a:t>
            </a:r>
            <a:r>
              <a:rPr lang="en-US" altLang="zh-CN" dirty="0">
                <a:solidFill>
                  <a:srgbClr val="006600"/>
                </a:solidFill>
                <a:ea typeface="楷体_GB2312" pitchFamily="49" charset="-122"/>
              </a:rPr>
              <a:t>/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</a:rPr>
              <a:t>/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Found</a:t>
            </a:r>
            <a:endParaRPr lang="zh-CN" altLang="en-US" dirty="0">
              <a:solidFill>
                <a:srgbClr val="006600"/>
              </a:solidFill>
              <a:ea typeface="楷体_GB2312" pitchFamily="49" charset="-122"/>
            </a:endParaRPr>
          </a:p>
          <a:p>
            <a:endParaRPr lang="zh-CN" altLang="en-US" dirty="0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144389" name="Rectangle 5"/>
          <p:cNvSpPr>
            <a:spLocks noChangeArrowheads="1"/>
          </p:cNvSpPr>
          <p:nvPr/>
        </p:nvSpPr>
        <p:spPr bwMode="auto">
          <a:xfrm>
            <a:off x="1279525" y="3876675"/>
            <a:ext cx="662432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 b="0" dirty="0" err="1">
                <a:solidFill>
                  <a:srgbClr val="0000FF"/>
                </a:solidFill>
                <a:ea typeface="楷体_GB2312" pitchFamily="49" charset="-122"/>
              </a:rPr>
              <a:t>SearchBST</a:t>
            </a:r>
            <a:r>
              <a:rPr lang="en-US" altLang="zh-CN" sz="3600" b="0" dirty="0">
                <a:solidFill>
                  <a:srgbClr val="0000FF"/>
                </a:solidFill>
                <a:ea typeface="楷体_GB2312" pitchFamily="49" charset="-122"/>
              </a:rPr>
              <a:t> (T-&gt;</a:t>
            </a:r>
            <a:r>
              <a:rPr lang="en-US" altLang="zh-CN" sz="3600" dirty="0" err="1">
                <a:solidFill>
                  <a:srgbClr val="0000FF"/>
                </a:solidFill>
                <a:ea typeface="楷体_GB2312" pitchFamily="49" charset="-122"/>
              </a:rPr>
              <a:t>l</a:t>
            </a:r>
            <a:r>
              <a:rPr lang="en-US" altLang="zh-CN" sz="3600" b="0" dirty="0" err="1">
                <a:solidFill>
                  <a:srgbClr val="0000FF"/>
                </a:solidFill>
                <a:ea typeface="楷体_GB2312" pitchFamily="49" charset="-122"/>
              </a:rPr>
              <a:t>child</a:t>
            </a:r>
            <a:r>
              <a:rPr lang="en-US" altLang="zh-CN" sz="3600" b="0" dirty="0">
                <a:solidFill>
                  <a:srgbClr val="0000FF"/>
                </a:solidFill>
                <a:ea typeface="楷体_GB2312" pitchFamily="49" charset="-122"/>
              </a:rPr>
              <a:t>, key, T, p )</a:t>
            </a:r>
            <a:r>
              <a:rPr lang="en-US" altLang="zh-CN" sz="3600" b="0" dirty="0">
                <a:ea typeface="楷体_GB2312" pitchFamily="49" charset="-122"/>
              </a:rPr>
              <a:t>;  </a:t>
            </a:r>
          </a:p>
          <a:p>
            <a:pPr algn="l"/>
            <a:r>
              <a:rPr lang="en-US" altLang="zh-CN" dirty="0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 dirty="0">
                <a:solidFill>
                  <a:srgbClr val="006600"/>
                </a:solidFill>
                <a:ea typeface="楷体_GB2312" pitchFamily="49" charset="-122"/>
                <a:sym typeface="+mn-ea"/>
              </a:rPr>
              <a:t>Continue searching in the left subtree</a:t>
            </a:r>
            <a:endParaRPr lang="zh-CN" altLang="en-US" dirty="0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144390" name="Rectangle 6"/>
          <p:cNvSpPr>
            <a:spLocks noChangeArrowheads="1"/>
          </p:cNvSpPr>
          <p:nvPr/>
        </p:nvSpPr>
        <p:spPr bwMode="auto">
          <a:xfrm>
            <a:off x="1355725" y="5143500"/>
            <a:ext cx="6526530" cy="1630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 b="0">
                <a:solidFill>
                  <a:srgbClr val="0000FF"/>
                </a:solidFill>
                <a:ea typeface="楷体_GB2312" pitchFamily="49" charset="-122"/>
              </a:rPr>
              <a:t>SearchBST (T-&gt;</a:t>
            </a:r>
            <a:r>
              <a:rPr lang="en-US" altLang="zh-CN" sz="3600">
                <a:solidFill>
                  <a:srgbClr val="0000FF"/>
                </a:solidFill>
                <a:ea typeface="楷体_GB2312" pitchFamily="49" charset="-122"/>
              </a:rPr>
              <a:t>r</a:t>
            </a:r>
            <a:r>
              <a:rPr lang="en-US" altLang="zh-CN" sz="3600" b="0">
                <a:solidFill>
                  <a:srgbClr val="0000FF"/>
                </a:solidFill>
                <a:ea typeface="楷体_GB2312" pitchFamily="49" charset="-122"/>
              </a:rPr>
              <a:t>child, key, T, p )</a:t>
            </a:r>
            <a:r>
              <a:rPr lang="en-US" altLang="zh-CN" sz="3600" b="0">
                <a:ea typeface="楷体_GB2312" pitchFamily="49" charset="-122"/>
              </a:rPr>
              <a:t>; </a:t>
            </a:r>
          </a:p>
          <a:p>
            <a:pPr algn="l"/>
            <a:r>
              <a:rPr lang="en-US" altLang="zh-CN" sz="3600" b="0">
                <a:ea typeface="楷体_GB2312" pitchFamily="49" charset="-122"/>
              </a:rPr>
              <a:t>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Continue searching in the right subtree</a:t>
            </a:r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  <a:p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 autoUpdateAnimBg="0"/>
      <p:bldP spid="144387" grpId="0" bldLvl="0" animBg="1" autoUpdateAnimBg="0"/>
      <p:bldP spid="144388" grpId="0" bldLvl="0" animBg="1" autoUpdateAnimBg="0"/>
      <p:bldP spid="144389" grpId="0" bldLvl="0" animBg="1" autoUpdateAnimBg="0"/>
      <p:bldP spid="144390" grpId="0" bldLvl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Oval 2"/>
          <p:cNvSpPr>
            <a:spLocks noChangeArrowheads="1"/>
          </p:cNvSpPr>
          <p:nvPr/>
        </p:nvSpPr>
        <p:spPr bwMode="auto">
          <a:xfrm>
            <a:off x="4495800" y="2057400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 b="0">
                <a:solidFill>
                  <a:srgbClr val="990033"/>
                </a:solidFill>
              </a:rPr>
              <a:t>30</a:t>
            </a:r>
            <a:endParaRPr lang="en-US" altLang="zh-CN" sz="2400" b="0"/>
          </a:p>
        </p:txBody>
      </p:sp>
      <p:sp>
        <p:nvSpPr>
          <p:cNvPr id="145411" name="Oval 3"/>
          <p:cNvSpPr>
            <a:spLocks noChangeArrowheads="1"/>
          </p:cNvSpPr>
          <p:nvPr/>
        </p:nvSpPr>
        <p:spPr bwMode="auto">
          <a:xfrm>
            <a:off x="2590800" y="2971800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 b="0">
                <a:solidFill>
                  <a:srgbClr val="990033"/>
                </a:solidFill>
              </a:rPr>
              <a:t>20</a:t>
            </a:r>
            <a:endParaRPr lang="en-US" altLang="zh-CN" sz="2400" b="0"/>
          </a:p>
        </p:txBody>
      </p:sp>
      <p:sp>
        <p:nvSpPr>
          <p:cNvPr id="145412" name="Oval 4"/>
          <p:cNvSpPr>
            <a:spLocks noChangeArrowheads="1"/>
          </p:cNvSpPr>
          <p:nvPr/>
        </p:nvSpPr>
        <p:spPr bwMode="auto">
          <a:xfrm>
            <a:off x="1447800" y="4114800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 b="0">
                <a:solidFill>
                  <a:srgbClr val="990033"/>
                </a:solidFill>
              </a:rPr>
              <a:t>10</a:t>
            </a:r>
            <a:endParaRPr lang="en-US" altLang="zh-CN" sz="2400" b="0"/>
          </a:p>
        </p:txBody>
      </p:sp>
      <p:sp>
        <p:nvSpPr>
          <p:cNvPr id="145413" name="Oval 5"/>
          <p:cNvSpPr>
            <a:spLocks noChangeArrowheads="1"/>
          </p:cNvSpPr>
          <p:nvPr/>
        </p:nvSpPr>
        <p:spPr bwMode="auto">
          <a:xfrm>
            <a:off x="6400800" y="2971800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 b="0">
                <a:solidFill>
                  <a:srgbClr val="990033"/>
                </a:solidFill>
              </a:rPr>
              <a:t>40</a:t>
            </a:r>
            <a:endParaRPr lang="en-US" altLang="zh-CN" sz="2400" b="0"/>
          </a:p>
        </p:txBody>
      </p:sp>
      <p:sp>
        <p:nvSpPr>
          <p:cNvPr id="145414" name="Oval 6"/>
          <p:cNvSpPr>
            <a:spLocks noChangeArrowheads="1"/>
          </p:cNvSpPr>
          <p:nvPr/>
        </p:nvSpPr>
        <p:spPr bwMode="auto">
          <a:xfrm>
            <a:off x="5257800" y="4114800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 b="0">
                <a:solidFill>
                  <a:srgbClr val="990033"/>
                </a:solidFill>
              </a:rPr>
              <a:t>35</a:t>
            </a:r>
            <a:endParaRPr lang="en-US" altLang="zh-CN" sz="2400" b="0"/>
          </a:p>
        </p:txBody>
      </p:sp>
      <p:sp>
        <p:nvSpPr>
          <p:cNvPr id="145415" name="Oval 7"/>
          <p:cNvSpPr>
            <a:spLocks noChangeArrowheads="1"/>
          </p:cNvSpPr>
          <p:nvPr/>
        </p:nvSpPr>
        <p:spPr bwMode="auto">
          <a:xfrm>
            <a:off x="3733800" y="4114800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 b="0">
                <a:solidFill>
                  <a:srgbClr val="990033"/>
                </a:solidFill>
              </a:rPr>
              <a:t>25</a:t>
            </a:r>
            <a:endParaRPr lang="en-US" altLang="zh-CN" sz="2400" b="0"/>
          </a:p>
        </p:txBody>
      </p:sp>
      <p:sp>
        <p:nvSpPr>
          <p:cNvPr id="145416" name="Oval 8"/>
          <p:cNvSpPr>
            <a:spLocks noChangeArrowheads="1"/>
          </p:cNvSpPr>
          <p:nvPr/>
        </p:nvSpPr>
        <p:spPr bwMode="auto">
          <a:xfrm>
            <a:off x="2971800" y="5257800"/>
            <a:ext cx="762000" cy="609600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4000" b="0">
                <a:solidFill>
                  <a:srgbClr val="990033"/>
                </a:solidFill>
              </a:rPr>
              <a:t>23</a:t>
            </a:r>
            <a:endParaRPr lang="en-US" altLang="zh-CN" sz="2400" b="0"/>
          </a:p>
        </p:txBody>
      </p:sp>
      <p:sp>
        <p:nvSpPr>
          <p:cNvPr id="145417" name="Line 9"/>
          <p:cNvSpPr>
            <a:spLocks noChangeShapeType="1"/>
          </p:cNvSpPr>
          <p:nvPr/>
        </p:nvSpPr>
        <p:spPr bwMode="auto">
          <a:xfrm flipH="1">
            <a:off x="2971800" y="2362200"/>
            <a:ext cx="1524000" cy="6096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18" name="Line 10"/>
          <p:cNvSpPr>
            <a:spLocks noChangeShapeType="1"/>
          </p:cNvSpPr>
          <p:nvPr/>
        </p:nvSpPr>
        <p:spPr bwMode="auto">
          <a:xfrm>
            <a:off x="5257800" y="2362200"/>
            <a:ext cx="1524000" cy="6096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19" name="Line 11"/>
          <p:cNvSpPr>
            <a:spLocks noChangeShapeType="1"/>
          </p:cNvSpPr>
          <p:nvPr/>
        </p:nvSpPr>
        <p:spPr bwMode="auto">
          <a:xfrm flipH="1">
            <a:off x="1828800" y="3276600"/>
            <a:ext cx="762000" cy="838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0" name="Line 12"/>
          <p:cNvSpPr>
            <a:spLocks noChangeShapeType="1"/>
          </p:cNvSpPr>
          <p:nvPr/>
        </p:nvSpPr>
        <p:spPr bwMode="auto">
          <a:xfrm>
            <a:off x="3352800" y="3276600"/>
            <a:ext cx="762000" cy="838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1" name="Line 13"/>
          <p:cNvSpPr>
            <a:spLocks noChangeShapeType="1"/>
          </p:cNvSpPr>
          <p:nvPr/>
        </p:nvSpPr>
        <p:spPr bwMode="auto">
          <a:xfrm flipH="1">
            <a:off x="3352800" y="4648200"/>
            <a:ext cx="457200" cy="6096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2" name="Line 14"/>
          <p:cNvSpPr>
            <a:spLocks noChangeShapeType="1"/>
          </p:cNvSpPr>
          <p:nvPr/>
        </p:nvSpPr>
        <p:spPr bwMode="auto">
          <a:xfrm flipH="1">
            <a:off x="5638800" y="3276600"/>
            <a:ext cx="762000" cy="838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3" name="AutoShape 15"/>
          <p:cNvSpPr>
            <a:spLocks noChangeArrowheads="1"/>
          </p:cNvSpPr>
          <p:nvPr/>
        </p:nvSpPr>
        <p:spPr bwMode="auto">
          <a:xfrm>
            <a:off x="4267200" y="9906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24" name="Text Box 16"/>
          <p:cNvSpPr txBox="1">
            <a:spLocks noChangeArrowheads="1"/>
          </p:cNvSpPr>
          <p:nvPr/>
        </p:nvSpPr>
        <p:spPr bwMode="auto">
          <a:xfrm>
            <a:off x="3963988" y="828675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6600"/>
                </a:solidFill>
              </a:rPr>
              <a:t>f</a:t>
            </a:r>
            <a:endParaRPr lang="en-US" altLang="zh-CN" b="0"/>
          </a:p>
        </p:txBody>
      </p:sp>
      <p:sp>
        <p:nvSpPr>
          <p:cNvPr id="145425" name="AutoShape 17"/>
          <p:cNvSpPr>
            <a:spLocks noChangeArrowheads="1"/>
          </p:cNvSpPr>
          <p:nvPr/>
        </p:nvSpPr>
        <p:spPr bwMode="auto">
          <a:xfrm>
            <a:off x="4953000" y="12192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26" name="Text Box 18"/>
          <p:cNvSpPr txBox="1">
            <a:spLocks noChangeArrowheads="1"/>
          </p:cNvSpPr>
          <p:nvPr/>
        </p:nvSpPr>
        <p:spPr bwMode="auto">
          <a:xfrm>
            <a:off x="5008563" y="1066800"/>
            <a:ext cx="401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A50021"/>
                </a:solidFill>
              </a:rPr>
              <a:t>T</a:t>
            </a:r>
            <a:endParaRPr lang="en-US" altLang="zh-CN" b="0"/>
          </a:p>
        </p:txBody>
      </p:sp>
      <p:sp>
        <p:nvSpPr>
          <p:cNvPr id="145427" name="Text Box 19"/>
          <p:cNvSpPr txBox="1">
            <a:spLocks noChangeArrowheads="1"/>
          </p:cNvSpPr>
          <p:nvPr/>
        </p:nvSpPr>
        <p:spPr bwMode="auto">
          <a:xfrm>
            <a:off x="746125" y="1111250"/>
            <a:ext cx="248539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3600">
                <a:ea typeface="楷体_GB2312" pitchFamily="49" charset="-122"/>
                <a:sym typeface="+mn-ea"/>
              </a:rPr>
              <a:t>Set</a:t>
            </a:r>
            <a:r>
              <a:rPr lang="zh-CN" altLang="en-US" sz="3600" b="0">
                <a:ea typeface="楷体_GB2312" pitchFamily="49" charset="-122"/>
              </a:rPr>
              <a:t> </a:t>
            </a:r>
            <a:r>
              <a:rPr lang="en-US" altLang="zh-CN" sz="3600" b="0">
                <a:ea typeface="楷体_GB2312" pitchFamily="49" charset="-122"/>
              </a:rPr>
              <a:t>key = 48</a:t>
            </a:r>
          </a:p>
        </p:txBody>
      </p:sp>
      <p:sp>
        <p:nvSpPr>
          <p:cNvPr id="145428" name="AutoShape 20"/>
          <p:cNvSpPr>
            <a:spLocks noChangeArrowheads="1"/>
          </p:cNvSpPr>
          <p:nvPr/>
        </p:nvSpPr>
        <p:spPr bwMode="auto">
          <a:xfrm>
            <a:off x="4724400" y="12192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29" name="Text Box 21"/>
          <p:cNvSpPr txBox="1">
            <a:spLocks noChangeArrowheads="1"/>
          </p:cNvSpPr>
          <p:nvPr/>
        </p:nvSpPr>
        <p:spPr bwMode="auto">
          <a:xfrm>
            <a:off x="4421188" y="10668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6600"/>
                </a:solidFill>
              </a:rPr>
              <a:t>f</a:t>
            </a:r>
            <a:endParaRPr lang="en-US" altLang="zh-CN" b="0"/>
          </a:p>
        </p:txBody>
      </p:sp>
      <p:sp>
        <p:nvSpPr>
          <p:cNvPr id="145430" name="AutoShape 22"/>
          <p:cNvSpPr>
            <a:spLocks noChangeArrowheads="1"/>
          </p:cNvSpPr>
          <p:nvPr/>
        </p:nvSpPr>
        <p:spPr bwMode="auto">
          <a:xfrm>
            <a:off x="6858000" y="21336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31" name="Text Box 23"/>
          <p:cNvSpPr txBox="1">
            <a:spLocks noChangeArrowheads="1"/>
          </p:cNvSpPr>
          <p:nvPr/>
        </p:nvSpPr>
        <p:spPr bwMode="auto">
          <a:xfrm>
            <a:off x="6913563" y="1905000"/>
            <a:ext cx="401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A50021"/>
                </a:solidFill>
              </a:rPr>
              <a:t>T</a:t>
            </a:r>
            <a:endParaRPr lang="en-US" altLang="zh-CN" b="0"/>
          </a:p>
        </p:txBody>
      </p:sp>
      <p:sp useBgFill="1">
        <p:nvSpPr>
          <p:cNvPr id="145432" name="Rectangle 24"/>
          <p:cNvSpPr>
            <a:spLocks noChangeArrowheads="1"/>
          </p:cNvSpPr>
          <p:nvPr/>
        </p:nvSpPr>
        <p:spPr bwMode="auto">
          <a:xfrm>
            <a:off x="3962400" y="838200"/>
            <a:ext cx="457200" cy="9144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45433" name="Rectangle 25"/>
          <p:cNvSpPr>
            <a:spLocks noChangeArrowheads="1"/>
          </p:cNvSpPr>
          <p:nvPr/>
        </p:nvSpPr>
        <p:spPr bwMode="auto">
          <a:xfrm>
            <a:off x="4876800" y="990600"/>
            <a:ext cx="533400" cy="9906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34" name="AutoShape 26"/>
          <p:cNvSpPr>
            <a:spLocks noChangeArrowheads="1"/>
          </p:cNvSpPr>
          <p:nvPr/>
        </p:nvSpPr>
        <p:spPr bwMode="auto">
          <a:xfrm>
            <a:off x="6629400" y="19812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35" name="Text Box 27"/>
          <p:cNvSpPr txBox="1">
            <a:spLocks noChangeArrowheads="1"/>
          </p:cNvSpPr>
          <p:nvPr/>
        </p:nvSpPr>
        <p:spPr bwMode="auto">
          <a:xfrm>
            <a:off x="6326188" y="18288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6600"/>
                </a:solidFill>
              </a:rPr>
              <a:t>f</a:t>
            </a:r>
            <a:endParaRPr lang="en-US" altLang="zh-CN" b="0"/>
          </a:p>
        </p:txBody>
      </p:sp>
      <p:sp useBgFill="1">
        <p:nvSpPr>
          <p:cNvPr id="145436" name="Rectangle 28"/>
          <p:cNvSpPr>
            <a:spLocks noChangeArrowheads="1"/>
          </p:cNvSpPr>
          <p:nvPr/>
        </p:nvSpPr>
        <p:spPr bwMode="auto">
          <a:xfrm>
            <a:off x="4419600" y="1143000"/>
            <a:ext cx="457200" cy="838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37" name="AutoShape 29"/>
          <p:cNvSpPr>
            <a:spLocks noChangeArrowheads="1"/>
          </p:cNvSpPr>
          <p:nvPr/>
        </p:nvSpPr>
        <p:spPr bwMode="auto">
          <a:xfrm>
            <a:off x="7772400" y="32766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38" name="Text Box 30"/>
          <p:cNvSpPr txBox="1">
            <a:spLocks noChangeArrowheads="1"/>
          </p:cNvSpPr>
          <p:nvPr/>
        </p:nvSpPr>
        <p:spPr bwMode="auto">
          <a:xfrm>
            <a:off x="7827963" y="3048000"/>
            <a:ext cx="401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A50021"/>
                </a:solidFill>
              </a:rPr>
              <a:t>T</a:t>
            </a:r>
            <a:endParaRPr lang="en-US" altLang="zh-CN" b="0"/>
          </a:p>
        </p:txBody>
      </p:sp>
      <p:sp useBgFill="1">
        <p:nvSpPr>
          <p:cNvPr id="145439" name="Rectangle 31"/>
          <p:cNvSpPr>
            <a:spLocks noChangeArrowheads="1"/>
          </p:cNvSpPr>
          <p:nvPr/>
        </p:nvSpPr>
        <p:spPr bwMode="auto">
          <a:xfrm>
            <a:off x="6858000" y="1828800"/>
            <a:ext cx="533400" cy="1066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 b="0"/>
          </a:p>
        </p:txBody>
      </p:sp>
      <p:sp useBgFill="1">
        <p:nvSpPr>
          <p:cNvPr id="145440" name="Text Box 32"/>
          <p:cNvSpPr txBox="1">
            <a:spLocks noChangeArrowheads="1"/>
          </p:cNvSpPr>
          <p:nvPr/>
        </p:nvSpPr>
        <p:spPr bwMode="auto">
          <a:xfrm>
            <a:off x="2482850" y="1111250"/>
            <a:ext cx="641350" cy="64135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A50021"/>
                </a:solidFill>
              </a:rPr>
              <a:t>22</a:t>
            </a:r>
            <a:endParaRPr lang="en-US" altLang="zh-CN" sz="3600" b="0"/>
          </a:p>
        </p:txBody>
      </p:sp>
      <p:sp>
        <p:nvSpPr>
          <p:cNvPr id="145441" name="AutoShape 33"/>
          <p:cNvSpPr>
            <a:spLocks noChangeArrowheads="1"/>
          </p:cNvSpPr>
          <p:nvPr/>
        </p:nvSpPr>
        <p:spPr bwMode="auto">
          <a:xfrm>
            <a:off x="6934200" y="22098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42" name="Text Box 34"/>
          <p:cNvSpPr txBox="1">
            <a:spLocks noChangeArrowheads="1"/>
          </p:cNvSpPr>
          <p:nvPr/>
        </p:nvSpPr>
        <p:spPr bwMode="auto">
          <a:xfrm>
            <a:off x="7086600" y="19050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FF"/>
                </a:solidFill>
              </a:rPr>
              <a:t>p</a:t>
            </a:r>
            <a:endParaRPr lang="en-US" altLang="zh-CN" b="0"/>
          </a:p>
        </p:txBody>
      </p:sp>
      <p:sp>
        <p:nvSpPr>
          <p:cNvPr id="145443" name="AutoShape 35"/>
          <p:cNvSpPr>
            <a:spLocks noChangeArrowheads="1"/>
          </p:cNvSpPr>
          <p:nvPr/>
        </p:nvSpPr>
        <p:spPr bwMode="auto">
          <a:xfrm>
            <a:off x="5486400" y="9144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44" name="Text Box 36"/>
          <p:cNvSpPr txBox="1">
            <a:spLocks noChangeArrowheads="1"/>
          </p:cNvSpPr>
          <p:nvPr/>
        </p:nvSpPr>
        <p:spPr bwMode="auto">
          <a:xfrm>
            <a:off x="5640388" y="7620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6600"/>
                </a:solidFill>
              </a:rPr>
              <a:t>f</a:t>
            </a:r>
            <a:endParaRPr lang="en-US" altLang="zh-CN" b="0"/>
          </a:p>
        </p:txBody>
      </p:sp>
      <p:sp useBgFill="1">
        <p:nvSpPr>
          <p:cNvPr id="145445" name="Rectangle 37"/>
          <p:cNvSpPr>
            <a:spLocks noChangeArrowheads="1"/>
          </p:cNvSpPr>
          <p:nvPr/>
        </p:nvSpPr>
        <p:spPr bwMode="auto">
          <a:xfrm>
            <a:off x="6400800" y="1828800"/>
            <a:ext cx="457200" cy="9144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46" name="AutoShape 38"/>
          <p:cNvSpPr>
            <a:spLocks noChangeArrowheads="1"/>
          </p:cNvSpPr>
          <p:nvPr/>
        </p:nvSpPr>
        <p:spPr bwMode="auto">
          <a:xfrm>
            <a:off x="4821238" y="12192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47" name="Text Box 39"/>
          <p:cNvSpPr txBox="1">
            <a:spLocks noChangeArrowheads="1"/>
          </p:cNvSpPr>
          <p:nvPr/>
        </p:nvSpPr>
        <p:spPr bwMode="auto">
          <a:xfrm>
            <a:off x="4419600" y="990600"/>
            <a:ext cx="401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A50021"/>
                </a:solidFill>
              </a:rPr>
              <a:t>T</a:t>
            </a:r>
            <a:endParaRPr lang="en-US" altLang="zh-CN" b="0"/>
          </a:p>
        </p:txBody>
      </p:sp>
      <p:sp useBgFill="1">
        <p:nvSpPr>
          <p:cNvPr id="145448" name="Rectangle 40"/>
          <p:cNvSpPr>
            <a:spLocks noChangeArrowheads="1"/>
          </p:cNvSpPr>
          <p:nvPr/>
        </p:nvSpPr>
        <p:spPr bwMode="auto">
          <a:xfrm>
            <a:off x="7620000" y="3048000"/>
            <a:ext cx="914400" cy="1066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49" name="AutoShape 41"/>
          <p:cNvSpPr>
            <a:spLocks noChangeArrowheads="1"/>
          </p:cNvSpPr>
          <p:nvPr/>
        </p:nvSpPr>
        <p:spPr bwMode="auto">
          <a:xfrm>
            <a:off x="5029200" y="12192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50" name="Text Box 42"/>
          <p:cNvSpPr txBox="1">
            <a:spLocks noChangeArrowheads="1"/>
          </p:cNvSpPr>
          <p:nvPr/>
        </p:nvSpPr>
        <p:spPr bwMode="auto">
          <a:xfrm>
            <a:off x="5183188" y="10668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6600"/>
                </a:solidFill>
              </a:rPr>
              <a:t>f</a:t>
            </a:r>
            <a:endParaRPr lang="en-US" altLang="zh-CN" b="0"/>
          </a:p>
        </p:txBody>
      </p:sp>
      <p:sp useBgFill="1">
        <p:nvSpPr>
          <p:cNvPr id="145451" name="Rectangle 43"/>
          <p:cNvSpPr>
            <a:spLocks noChangeArrowheads="1"/>
          </p:cNvSpPr>
          <p:nvPr/>
        </p:nvSpPr>
        <p:spPr bwMode="auto">
          <a:xfrm>
            <a:off x="5410200" y="838200"/>
            <a:ext cx="533400" cy="838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2" name="AutoShape 44"/>
          <p:cNvSpPr>
            <a:spLocks noChangeArrowheads="1"/>
          </p:cNvSpPr>
          <p:nvPr/>
        </p:nvSpPr>
        <p:spPr bwMode="auto">
          <a:xfrm>
            <a:off x="2667000" y="21336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53" name="Text Box 45"/>
          <p:cNvSpPr txBox="1">
            <a:spLocks noChangeArrowheads="1"/>
          </p:cNvSpPr>
          <p:nvPr/>
        </p:nvSpPr>
        <p:spPr bwMode="auto">
          <a:xfrm>
            <a:off x="2265363" y="1905000"/>
            <a:ext cx="401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A50021"/>
                </a:solidFill>
              </a:rPr>
              <a:t>T</a:t>
            </a:r>
            <a:endParaRPr lang="en-US" altLang="zh-CN" b="0"/>
          </a:p>
        </p:txBody>
      </p:sp>
      <p:sp useBgFill="1">
        <p:nvSpPr>
          <p:cNvPr id="145454" name="Rectangle 46"/>
          <p:cNvSpPr>
            <a:spLocks noChangeArrowheads="1"/>
          </p:cNvSpPr>
          <p:nvPr/>
        </p:nvSpPr>
        <p:spPr bwMode="auto">
          <a:xfrm>
            <a:off x="4419600" y="838200"/>
            <a:ext cx="533400" cy="11430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5" name="AutoShape 47"/>
          <p:cNvSpPr>
            <a:spLocks noChangeArrowheads="1"/>
          </p:cNvSpPr>
          <p:nvPr/>
        </p:nvSpPr>
        <p:spPr bwMode="auto">
          <a:xfrm>
            <a:off x="4135438" y="32004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56" name="Text Box 48"/>
          <p:cNvSpPr txBox="1">
            <a:spLocks noChangeArrowheads="1"/>
          </p:cNvSpPr>
          <p:nvPr/>
        </p:nvSpPr>
        <p:spPr bwMode="auto">
          <a:xfrm>
            <a:off x="3865563" y="2895600"/>
            <a:ext cx="401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A50021"/>
                </a:solidFill>
              </a:rPr>
              <a:t>T</a:t>
            </a:r>
            <a:endParaRPr lang="en-US" altLang="zh-CN" b="0"/>
          </a:p>
        </p:txBody>
      </p:sp>
      <p:sp>
        <p:nvSpPr>
          <p:cNvPr id="145457" name="AutoShape 49"/>
          <p:cNvSpPr>
            <a:spLocks noChangeArrowheads="1"/>
          </p:cNvSpPr>
          <p:nvPr/>
        </p:nvSpPr>
        <p:spPr bwMode="auto">
          <a:xfrm>
            <a:off x="2971800" y="44958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58" name="Text Box 50"/>
          <p:cNvSpPr txBox="1">
            <a:spLocks noChangeArrowheads="1"/>
          </p:cNvSpPr>
          <p:nvPr/>
        </p:nvSpPr>
        <p:spPr bwMode="auto">
          <a:xfrm>
            <a:off x="2570163" y="4267200"/>
            <a:ext cx="401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A50021"/>
                </a:solidFill>
              </a:rPr>
              <a:t>T</a:t>
            </a:r>
            <a:endParaRPr lang="en-US" altLang="zh-CN" b="0"/>
          </a:p>
        </p:txBody>
      </p:sp>
      <p:sp>
        <p:nvSpPr>
          <p:cNvPr id="145459" name="AutoShape 51"/>
          <p:cNvSpPr>
            <a:spLocks noChangeArrowheads="1"/>
          </p:cNvSpPr>
          <p:nvPr/>
        </p:nvSpPr>
        <p:spPr bwMode="auto">
          <a:xfrm>
            <a:off x="2382838" y="55626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60" name="Text Box 52"/>
          <p:cNvSpPr txBox="1">
            <a:spLocks noChangeArrowheads="1"/>
          </p:cNvSpPr>
          <p:nvPr/>
        </p:nvSpPr>
        <p:spPr bwMode="auto">
          <a:xfrm>
            <a:off x="1981200" y="5334000"/>
            <a:ext cx="401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A50021"/>
                </a:solidFill>
              </a:rPr>
              <a:t>T</a:t>
            </a:r>
            <a:endParaRPr lang="en-US" altLang="zh-CN" b="0"/>
          </a:p>
        </p:txBody>
      </p:sp>
      <p:sp>
        <p:nvSpPr>
          <p:cNvPr id="145461" name="AutoShape 53"/>
          <p:cNvSpPr>
            <a:spLocks noChangeArrowheads="1"/>
          </p:cNvSpPr>
          <p:nvPr/>
        </p:nvSpPr>
        <p:spPr bwMode="auto">
          <a:xfrm>
            <a:off x="2971800" y="20574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62" name="Text Box 54"/>
          <p:cNvSpPr txBox="1">
            <a:spLocks noChangeArrowheads="1"/>
          </p:cNvSpPr>
          <p:nvPr/>
        </p:nvSpPr>
        <p:spPr bwMode="auto">
          <a:xfrm>
            <a:off x="3125788" y="19050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6600"/>
                </a:solidFill>
              </a:rPr>
              <a:t>f</a:t>
            </a:r>
            <a:endParaRPr lang="en-US" altLang="zh-CN" b="0"/>
          </a:p>
        </p:txBody>
      </p:sp>
      <p:sp>
        <p:nvSpPr>
          <p:cNvPr id="145463" name="AutoShape 55"/>
          <p:cNvSpPr>
            <a:spLocks noChangeArrowheads="1"/>
          </p:cNvSpPr>
          <p:nvPr/>
        </p:nvSpPr>
        <p:spPr bwMode="auto">
          <a:xfrm>
            <a:off x="4343400" y="32766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64" name="Text Box 56"/>
          <p:cNvSpPr txBox="1">
            <a:spLocks noChangeArrowheads="1"/>
          </p:cNvSpPr>
          <p:nvPr/>
        </p:nvSpPr>
        <p:spPr bwMode="auto">
          <a:xfrm>
            <a:off x="4497388" y="32004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6600"/>
                </a:solidFill>
              </a:rPr>
              <a:t>f</a:t>
            </a:r>
            <a:endParaRPr lang="en-US" altLang="zh-CN" b="0"/>
          </a:p>
        </p:txBody>
      </p:sp>
      <p:sp>
        <p:nvSpPr>
          <p:cNvPr id="145465" name="AutoShape 57"/>
          <p:cNvSpPr>
            <a:spLocks noChangeArrowheads="1"/>
          </p:cNvSpPr>
          <p:nvPr/>
        </p:nvSpPr>
        <p:spPr bwMode="auto">
          <a:xfrm>
            <a:off x="3276600" y="44196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66" name="Text Box 58"/>
          <p:cNvSpPr txBox="1">
            <a:spLocks noChangeArrowheads="1"/>
          </p:cNvSpPr>
          <p:nvPr/>
        </p:nvSpPr>
        <p:spPr bwMode="auto">
          <a:xfrm>
            <a:off x="3430588" y="42672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6600"/>
                </a:solidFill>
              </a:rPr>
              <a:t>f</a:t>
            </a:r>
            <a:endParaRPr lang="en-US" altLang="zh-CN" b="0"/>
          </a:p>
        </p:txBody>
      </p:sp>
      <p:sp useBgFill="1">
        <p:nvSpPr>
          <p:cNvPr id="145467" name="Rectangle 59"/>
          <p:cNvSpPr>
            <a:spLocks noChangeArrowheads="1"/>
          </p:cNvSpPr>
          <p:nvPr/>
        </p:nvSpPr>
        <p:spPr bwMode="auto">
          <a:xfrm>
            <a:off x="4876800" y="1066800"/>
            <a:ext cx="533400" cy="9144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45468" name="Rectangle 60"/>
          <p:cNvSpPr>
            <a:spLocks noChangeArrowheads="1"/>
          </p:cNvSpPr>
          <p:nvPr/>
        </p:nvSpPr>
        <p:spPr bwMode="auto">
          <a:xfrm>
            <a:off x="2286000" y="1905000"/>
            <a:ext cx="533400" cy="9906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45469" name="Rectangle 61"/>
          <p:cNvSpPr>
            <a:spLocks noChangeArrowheads="1"/>
          </p:cNvSpPr>
          <p:nvPr/>
        </p:nvSpPr>
        <p:spPr bwMode="auto">
          <a:xfrm>
            <a:off x="2895600" y="1905000"/>
            <a:ext cx="457200" cy="9144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45470" name="Rectangle 62"/>
          <p:cNvSpPr>
            <a:spLocks noChangeArrowheads="1"/>
          </p:cNvSpPr>
          <p:nvPr/>
        </p:nvSpPr>
        <p:spPr bwMode="auto">
          <a:xfrm>
            <a:off x="3962400" y="2895600"/>
            <a:ext cx="381000" cy="9906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45471" name="Rectangle 63"/>
          <p:cNvSpPr>
            <a:spLocks noChangeArrowheads="1"/>
          </p:cNvSpPr>
          <p:nvPr/>
        </p:nvSpPr>
        <p:spPr bwMode="auto">
          <a:xfrm>
            <a:off x="4114800" y="3200400"/>
            <a:ext cx="609600" cy="838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45472" name="Rectangle 64"/>
          <p:cNvSpPr>
            <a:spLocks noChangeArrowheads="1"/>
          </p:cNvSpPr>
          <p:nvPr/>
        </p:nvSpPr>
        <p:spPr bwMode="auto">
          <a:xfrm>
            <a:off x="2590800" y="4343400"/>
            <a:ext cx="533400" cy="9144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3" name="AutoShape 65"/>
          <p:cNvSpPr>
            <a:spLocks noChangeArrowheads="1"/>
          </p:cNvSpPr>
          <p:nvPr/>
        </p:nvSpPr>
        <p:spPr bwMode="auto">
          <a:xfrm>
            <a:off x="3067050" y="44958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5474" name="Text Box 66"/>
          <p:cNvSpPr txBox="1">
            <a:spLocks noChangeArrowheads="1"/>
          </p:cNvSpPr>
          <p:nvPr/>
        </p:nvSpPr>
        <p:spPr bwMode="auto">
          <a:xfrm>
            <a:off x="2743200" y="41910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FF"/>
                </a:solidFill>
              </a:rPr>
              <a:t>p</a:t>
            </a:r>
            <a:endParaRPr lang="en-US" altLang="zh-CN" b="0"/>
          </a:p>
        </p:txBody>
      </p:sp>
      <p:sp>
        <p:nvSpPr>
          <p:cNvPr id="145475" name="Freeform 67"/>
          <p:cNvSpPr/>
          <p:nvPr/>
        </p:nvSpPr>
        <p:spPr bwMode="auto">
          <a:xfrm>
            <a:off x="4876800" y="1295400"/>
            <a:ext cx="1066800" cy="762000"/>
          </a:xfrm>
          <a:custGeom>
            <a:avLst/>
            <a:gdLst>
              <a:gd name="T0" fmla="*/ 672 w 672"/>
              <a:gd name="T1" fmla="*/ 0 h 480"/>
              <a:gd name="T2" fmla="*/ 192 w 672"/>
              <a:gd name="T3" fmla="*/ 240 h 480"/>
              <a:gd name="T4" fmla="*/ 480 w 672"/>
              <a:gd name="T5" fmla="*/ 240 h 480"/>
              <a:gd name="T6" fmla="*/ 0 w 672"/>
              <a:gd name="T7" fmla="*/ 48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480">
                <a:moveTo>
                  <a:pt x="672" y="0"/>
                </a:moveTo>
                <a:cubicBezTo>
                  <a:pt x="448" y="100"/>
                  <a:pt x="224" y="200"/>
                  <a:pt x="192" y="240"/>
                </a:cubicBezTo>
                <a:cubicBezTo>
                  <a:pt x="160" y="280"/>
                  <a:pt x="512" y="200"/>
                  <a:pt x="480" y="240"/>
                </a:cubicBezTo>
                <a:cubicBezTo>
                  <a:pt x="448" y="280"/>
                  <a:pt x="224" y="380"/>
                  <a:pt x="0" y="480"/>
                </a:cubicBezTo>
              </a:path>
            </a:pathLst>
          </a:custGeom>
          <a:noFill/>
          <a:ln w="31750">
            <a:solidFill>
              <a:srgbClr val="FF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5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4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4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4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4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4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45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4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4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4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4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45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45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4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14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4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4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4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45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14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4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14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4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4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000"/>
                            </p:stCondLst>
                            <p:childTnLst>
                              <p:par>
                                <p:cTn id="1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14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45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14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4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14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14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14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14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4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23" grpId="0" animBg="1"/>
      <p:bldP spid="145424" grpId="0" autoUpdateAnimBg="0"/>
      <p:bldP spid="145425" grpId="0" animBg="1"/>
      <p:bldP spid="145426" grpId="0" autoUpdateAnimBg="0"/>
      <p:bldP spid="145427" grpId="0" bldLvl="0" animBg="1" autoUpdateAnimBg="0"/>
      <p:bldP spid="145428" grpId="0" animBg="1"/>
      <p:bldP spid="145429" grpId="0" autoUpdateAnimBg="0"/>
      <p:bldP spid="145430" grpId="0" animBg="1"/>
      <p:bldP spid="145431" grpId="0" autoUpdateAnimBg="0"/>
      <p:bldP spid="145432" grpId="0" animBg="1"/>
      <p:bldP spid="145433" grpId="0" animBg="1"/>
      <p:bldP spid="145434" grpId="0" animBg="1"/>
      <p:bldP spid="145435" grpId="0" autoUpdateAnimBg="0"/>
      <p:bldP spid="145436" grpId="0" animBg="1"/>
      <p:bldP spid="145437" grpId="0" animBg="1"/>
      <p:bldP spid="145438" grpId="0" autoUpdateAnimBg="0"/>
      <p:bldP spid="145439" grpId="0" animBg="1" autoUpdateAnimBg="0"/>
      <p:bldP spid="145440" grpId="0" animBg="1" autoUpdateAnimBg="0"/>
      <p:bldP spid="145441" grpId="0" animBg="1"/>
      <p:bldP spid="145442" grpId="0" autoUpdateAnimBg="0"/>
      <p:bldP spid="145443" grpId="0" animBg="1"/>
      <p:bldP spid="145444" grpId="0" autoUpdateAnimBg="0"/>
      <p:bldP spid="145445" grpId="0" animBg="1"/>
      <p:bldP spid="145446" grpId="0" animBg="1"/>
      <p:bldP spid="145447" grpId="0" autoUpdateAnimBg="0"/>
      <p:bldP spid="145448" grpId="0" animBg="1"/>
      <p:bldP spid="145449" grpId="0" animBg="1"/>
      <p:bldP spid="145450" grpId="0" autoUpdateAnimBg="0"/>
      <p:bldP spid="145451" grpId="0" animBg="1"/>
      <p:bldP spid="145452" grpId="0" animBg="1"/>
      <p:bldP spid="145453" grpId="0" autoUpdateAnimBg="0"/>
      <p:bldP spid="145454" grpId="0" animBg="1"/>
      <p:bldP spid="145455" grpId="0" animBg="1"/>
      <p:bldP spid="145456" grpId="0" autoUpdateAnimBg="0"/>
      <p:bldP spid="145457" grpId="0" animBg="1"/>
      <p:bldP spid="145458" grpId="0" autoUpdateAnimBg="0"/>
      <p:bldP spid="145459" grpId="0" animBg="1"/>
      <p:bldP spid="145460" grpId="0" autoUpdateAnimBg="0"/>
      <p:bldP spid="145461" grpId="0" animBg="1"/>
      <p:bldP spid="145462" grpId="0" autoUpdateAnimBg="0"/>
      <p:bldP spid="145463" grpId="0" animBg="1"/>
      <p:bldP spid="145464" grpId="0" autoUpdateAnimBg="0"/>
      <p:bldP spid="145465" grpId="0" animBg="1"/>
      <p:bldP spid="145466" grpId="0" autoUpdateAnimBg="0"/>
      <p:bldP spid="145467" grpId="0" animBg="1"/>
      <p:bldP spid="145468" grpId="0" animBg="1"/>
      <p:bldP spid="145469" grpId="0" animBg="1"/>
      <p:bldP spid="145470" grpId="0" animBg="1"/>
      <p:bldP spid="145471" grpId="0" animBg="1"/>
      <p:bldP spid="145472" grpId="0" animBg="1"/>
      <p:bldP spid="145473" grpId="0" animBg="1"/>
      <p:bldP spid="145474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8229600" cy="1600200"/>
          </a:xfrm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dirty="0">
                <a:ea typeface="楷体_GB2312" pitchFamily="49" charset="-122"/>
                <a:cs typeface="Arial" panose="020B0604020202020204" pitchFamily="34" charset="0"/>
              </a:rPr>
              <a:t>      According to the definition of a dynamic search table, the "insertion" operation is only performed when the search is </a:t>
            </a:r>
            <a:r>
              <a:rPr lang="zh-CN" altLang="en-US" sz="2400" b="1" dirty="0">
                <a:solidFill>
                  <a:srgbClr val="A50021"/>
                </a:solidFill>
                <a:ea typeface="楷体_GB2312" pitchFamily="49" charset="-122"/>
                <a:cs typeface="Arial" panose="020B0604020202020204" pitchFamily="34" charset="0"/>
              </a:rPr>
              <a:t>unsuccessful</a:t>
            </a:r>
            <a:r>
              <a:rPr lang="en-US" altLang="zh-CN" sz="2400" dirty="0">
                <a:ea typeface="楷体_GB2312" pitchFamily="49" charset="-122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6435" name="Text Box 3"/>
          <p:cNvSpPr txBox="1">
            <a:spLocks noGrp="1" noChangeArrowheads="1"/>
          </p:cNvSpPr>
          <p:nvPr>
            <p:ph type="title"/>
          </p:nvPr>
        </p:nvSpPr>
        <p:spPr>
          <a:xfrm>
            <a:off x="251520" y="332150"/>
            <a:ext cx="7200800" cy="72008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4800">
                <a:solidFill>
                  <a:schemeClr val="tx1"/>
                </a:solidFill>
                <a:ea typeface="楷体_GB2312" pitchFamily="49" charset="-122"/>
                <a:sym typeface="+mn-ea"/>
              </a:rPr>
              <a:t>3. Binary sort tree insertion algorithm</a:t>
            </a:r>
            <a:endParaRPr lang="zh-CN" altLang="en-US" sz="4800" dirty="0">
              <a:solidFill>
                <a:schemeClr val="tx1"/>
              </a:solidFill>
            </a:endParaRP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762000" y="3505200"/>
            <a:ext cx="80010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       If the binary search tree is </a:t>
            </a:r>
            <a:r>
              <a:rPr lang="zh-CN" altLang="en-US" sz="2400" b="1" kern="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empty</a:t>
            </a:r>
            <a:r>
              <a:rPr lang="en-US" altLang="zh-CN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the newly inserted node becomes the </a:t>
            </a:r>
            <a:r>
              <a:rPr lang="zh-CN" altLang="en-US" sz="2400" b="1" kern="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new root node</a:t>
            </a:r>
            <a:r>
              <a:rPr lang="en-US" altLang="zh-CN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Otherwise, the</a:t>
            </a:r>
            <a:r>
              <a:rPr lang="zh-CN" altLang="en-US" sz="2400" b="1" kern="0" dirty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newly inserted node</a:t>
            </a:r>
            <a:r>
              <a:rPr lang="en-US" altLang="zh-CN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must be a new leaf node, and its insertion position is determined by the search process.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C3BFD-24D0-4966-81A9-4BDD3454C069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4" grpId="0" build="p" autoUpdateAnimBg="0"/>
      <p:bldP spid="146435" grpId="0" bldLvl="0" animBg="1" autoUpdateAnimBg="0"/>
      <p:bldP spid="146436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8534400" cy="470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600">
                <a:ea typeface="楷体_GB2312" pitchFamily="49" charset="-122"/>
              </a:rPr>
              <a:t>Status</a:t>
            </a:r>
            <a:r>
              <a:rPr lang="en-US" altLang="zh-CN" sz="3600" b="0">
                <a:ea typeface="楷体_GB2312" pitchFamily="49" charset="-122"/>
              </a:rPr>
              <a:t> Insert BST(BiTree </a:t>
            </a:r>
            <a:r>
              <a:rPr lang="en-US" altLang="zh-CN" sz="3600">
                <a:ea typeface="楷体_GB2312" pitchFamily="49" charset="-122"/>
              </a:rPr>
              <a:t>&amp;</a:t>
            </a:r>
            <a:r>
              <a:rPr lang="en-US" altLang="zh-CN" sz="3600" b="0">
                <a:ea typeface="楷体_GB2312" pitchFamily="49" charset="-122"/>
              </a:rPr>
              <a:t>T, ElemType e ) </a:t>
            </a:r>
          </a:p>
          <a:p>
            <a:pPr>
              <a:lnSpc>
                <a:spcPct val="125000"/>
              </a:lnSpc>
            </a:pPr>
            <a:r>
              <a:rPr lang="en-US" altLang="zh-CN" sz="3600">
                <a:ea typeface="楷体_GB2312" pitchFamily="49" charset="-122"/>
              </a:rPr>
              <a:t>{</a:t>
            </a:r>
            <a:r>
              <a:rPr lang="zh-CN" altLang="zh-CN" sz="2400">
                <a:solidFill>
                  <a:srgbClr val="006600"/>
                </a:solidFill>
                <a:ea typeface="楷体_GB2312" pitchFamily="49" charset="-122"/>
                <a:sym typeface="+mn-ea"/>
              </a:rPr>
              <a:t>// When inserting an element, add a node with value e and return</a:t>
            </a:r>
            <a:endParaRPr lang="zh-CN" altLang="zh-CN" sz="2400">
              <a:solidFill>
                <a:srgbClr val="006600"/>
              </a:solidFill>
              <a:ea typeface="楷体_GB2312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zh-CN" sz="2400">
                <a:solidFill>
                  <a:srgbClr val="006600"/>
                </a:solidFill>
                <a:ea typeface="楷体_GB2312" pitchFamily="49" charset="-122"/>
                <a:sym typeface="+mn-ea"/>
              </a:rPr>
              <a:t>// Return TRUE; otherwise, do not insert and return FALSE</a:t>
            </a:r>
            <a:endParaRPr lang="en-US" altLang="zh-CN" sz="2400">
              <a:solidFill>
                <a:srgbClr val="006600"/>
              </a:solidFill>
              <a:ea typeface="楷体_GB2312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3200">
                <a:ea typeface="楷体_GB2312" pitchFamily="49" charset="-122"/>
              </a:rPr>
              <a:t>   </a:t>
            </a:r>
            <a:r>
              <a:rPr lang="en-US" altLang="zh-CN" sz="3600">
                <a:ea typeface="楷体_GB2312" pitchFamily="49" charset="-122"/>
              </a:rPr>
              <a:t>if</a:t>
            </a:r>
            <a:r>
              <a:rPr lang="en-US" altLang="zh-CN" sz="3600" b="0">
                <a:ea typeface="楷体_GB2312" pitchFamily="49" charset="-122"/>
              </a:rPr>
              <a:t> </a:t>
            </a:r>
            <a:r>
              <a:rPr lang="en-US" altLang="zh-CN" sz="3600" b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en-US" altLang="zh-CN" sz="3600">
                <a:solidFill>
                  <a:srgbClr val="0000FF"/>
                </a:solidFill>
                <a:ea typeface="楷体_GB2312" pitchFamily="49" charset="-122"/>
              </a:rPr>
              <a:t>!</a:t>
            </a:r>
            <a:r>
              <a:rPr lang="en-US" altLang="zh-CN" sz="3600" b="0">
                <a:solidFill>
                  <a:srgbClr val="0000FF"/>
                </a:solidFill>
                <a:ea typeface="楷体_GB2312" pitchFamily="49" charset="-122"/>
              </a:rPr>
              <a:t>SearchBST ( T, e.key, NULL, p ))</a:t>
            </a:r>
          </a:p>
          <a:p>
            <a:pPr>
              <a:lnSpc>
                <a:spcPct val="125000"/>
              </a:lnSpc>
            </a:pPr>
            <a:r>
              <a:rPr lang="en-US" altLang="zh-CN" sz="3600" b="0">
                <a:solidFill>
                  <a:srgbClr val="FF0000"/>
                </a:solidFill>
                <a:ea typeface="楷体_GB2312" pitchFamily="49" charset="-122"/>
              </a:rPr>
              <a:t>     </a:t>
            </a:r>
            <a:r>
              <a:rPr lang="en-US" altLang="zh-CN" sz="3600" b="0">
                <a:ea typeface="楷体_GB2312" pitchFamily="49" charset="-122"/>
              </a:rPr>
              <a:t> </a:t>
            </a:r>
            <a:r>
              <a:rPr lang="en-US" altLang="zh-CN" sz="3600">
                <a:ea typeface="楷体_GB2312" pitchFamily="49" charset="-122"/>
              </a:rPr>
              <a:t>{ </a:t>
            </a:r>
            <a:r>
              <a:rPr lang="en-US" altLang="zh-CN" sz="3600" b="0">
                <a:ea typeface="楷体_GB2312" pitchFamily="49" charset="-122"/>
              </a:rPr>
              <a:t>                         </a:t>
            </a:r>
            <a:r>
              <a:rPr lang="en-US" altLang="zh-CN" sz="3600">
                <a:ea typeface="楷体_GB2312" pitchFamily="49" charset="-122"/>
              </a:rPr>
              <a:t>   }</a:t>
            </a:r>
          </a:p>
          <a:p>
            <a:pPr>
              <a:lnSpc>
                <a:spcPct val="125000"/>
              </a:lnSpc>
            </a:pPr>
            <a:r>
              <a:rPr lang="en-US" altLang="zh-CN" sz="3600">
                <a:ea typeface="楷体_GB2312" pitchFamily="49" charset="-122"/>
              </a:rPr>
              <a:t>   else return FALSE</a:t>
            </a:r>
            <a:r>
              <a:rPr lang="en-US" altLang="zh-CN" sz="3600" b="0">
                <a:ea typeface="楷体_GB2312" pitchFamily="49" charset="-122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altLang="zh-CN" sz="3600">
                <a:ea typeface="楷体_GB2312" pitchFamily="49" charset="-122"/>
              </a:rPr>
              <a:t>}</a:t>
            </a:r>
            <a:r>
              <a:rPr lang="en-US" altLang="zh-CN" sz="3600" b="0">
                <a:ea typeface="楷体_GB2312" pitchFamily="49" charset="-122"/>
              </a:rPr>
              <a:t> // Insert BST</a:t>
            </a:r>
          </a:p>
        </p:txBody>
      </p:sp>
      <p:sp>
        <p:nvSpPr>
          <p:cNvPr id="147459" name="Text Box 3">
            <a:hlinkClick r:id="" action="ppaction://hlinkshowjump?jump=nextslide" highlightClick="1"/>
          </p:cNvPr>
          <p:cNvSpPr txBox="1">
            <a:spLocks noChangeArrowheads="1"/>
          </p:cNvSpPr>
          <p:nvPr/>
        </p:nvSpPr>
        <p:spPr bwMode="auto">
          <a:xfrm>
            <a:off x="1332230" y="2996565"/>
            <a:ext cx="3048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>
                <a:solidFill>
                  <a:srgbClr val="FF00FF"/>
                </a:solidFill>
              </a:rPr>
              <a:t>    …    …</a:t>
            </a:r>
            <a:endParaRPr lang="en-US" altLang="zh-CN" sz="3600" b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62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4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 bldLvl="0" animBg="1" autoUpdateAnimBg="0"/>
      <p:bldP spid="147459" grpId="0" bldLvl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533400" y="758825"/>
            <a:ext cx="7523480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 b="0">
                <a:ea typeface="楷体_GB2312" pitchFamily="49" charset="-122"/>
              </a:rPr>
              <a:t>s = (BiTree)</a:t>
            </a:r>
            <a:r>
              <a:rPr lang="en-US" altLang="zh-CN" sz="3600">
                <a:ea typeface="楷体_GB2312" pitchFamily="49" charset="-122"/>
              </a:rPr>
              <a:t> malloc</a:t>
            </a:r>
            <a:r>
              <a:rPr lang="en-US" altLang="zh-CN" sz="3600" b="0">
                <a:ea typeface="楷体_GB2312" pitchFamily="49" charset="-122"/>
              </a:rPr>
              <a:t> (</a:t>
            </a:r>
            <a:r>
              <a:rPr lang="en-US" altLang="zh-CN" sz="3600">
                <a:ea typeface="楷体_GB2312" pitchFamily="49" charset="-122"/>
              </a:rPr>
              <a:t>sizeof</a:t>
            </a:r>
            <a:r>
              <a:rPr lang="en-US" altLang="zh-CN" sz="3600" b="0">
                <a:ea typeface="楷体_GB2312" pitchFamily="49" charset="-122"/>
              </a:rPr>
              <a:t> (BiTNode));</a:t>
            </a:r>
          </a:p>
          <a:p>
            <a:pPr algn="l"/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Allocate space for new nodes</a:t>
            </a:r>
          </a:p>
          <a:p>
            <a:pPr algn="l"/>
            <a:r>
              <a:rPr lang="en-US" altLang="zh-CN" sz="3600" b="0">
                <a:ea typeface="楷体_GB2312" pitchFamily="49" charset="-122"/>
              </a:rPr>
              <a:t>s-&gt;data = e;  </a:t>
            </a:r>
          </a:p>
          <a:p>
            <a:pPr algn="l"/>
            <a:r>
              <a:rPr lang="en-US" altLang="zh-CN" sz="3600" b="0">
                <a:ea typeface="楷体_GB2312" pitchFamily="49" charset="-122"/>
              </a:rPr>
              <a:t>s-&gt;lchild = s-&gt;rchild = </a:t>
            </a:r>
            <a:r>
              <a:rPr lang="en-US" altLang="zh-CN" sz="3600">
                <a:ea typeface="楷体_GB2312" pitchFamily="49" charset="-122"/>
              </a:rPr>
              <a:t>NULL</a:t>
            </a:r>
            <a:r>
              <a:rPr lang="en-US" altLang="zh-CN" sz="3600" b="0">
                <a:ea typeface="楷体_GB2312" pitchFamily="49" charset="-122"/>
              </a:rPr>
              <a:t>;  </a:t>
            </a: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533400" y="3011488"/>
            <a:ext cx="7700645" cy="78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if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 </a:t>
            </a:r>
            <a:r>
              <a:rPr lang="en-US" altLang="zh-CN" sz="3600" b="0">
                <a:ea typeface="楷体_GB2312" pitchFamily="49" charset="-122"/>
              </a:rPr>
              <a:t> ( </a:t>
            </a:r>
            <a:r>
              <a:rPr lang="en-US" altLang="zh-CN" sz="3600">
                <a:ea typeface="楷体_GB2312" pitchFamily="49" charset="-122"/>
              </a:rPr>
              <a:t>!</a:t>
            </a:r>
            <a:r>
              <a:rPr lang="en-US" altLang="zh-CN" sz="3600" b="0">
                <a:ea typeface="楷体_GB2312" pitchFamily="49" charset="-122"/>
              </a:rPr>
              <a:t>p )  T = s;</a:t>
            </a:r>
            <a:r>
              <a:rPr lang="en-US" altLang="zh-CN" sz="3600" b="0">
                <a:solidFill>
                  <a:srgbClr val="FF0000"/>
                </a:solidFill>
                <a:ea typeface="楷体_GB2312" pitchFamily="49" charset="-122"/>
              </a:rPr>
              <a:t>   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Insert s as the new root node</a:t>
            </a:r>
            <a:endParaRPr lang="en-US" altLang="zh-CN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533400" y="3824288"/>
            <a:ext cx="8649970" cy="175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else   if</a:t>
            </a:r>
            <a:r>
              <a:rPr lang="en-US" altLang="zh-CN" sz="3600" b="0">
                <a:solidFill>
                  <a:srgbClr val="0000FF"/>
                </a:solidFill>
                <a:ea typeface="楷体_GB2312" pitchFamily="49" charset="-122"/>
              </a:rPr>
              <a:t> (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 </a:t>
            </a:r>
            <a:r>
              <a:rPr lang="en-US" altLang="zh-CN" sz="3200" b="0">
                <a:solidFill>
                  <a:srgbClr val="0000FF"/>
                </a:solidFill>
                <a:ea typeface="楷体_GB2312" pitchFamily="49" charset="-122"/>
              </a:rPr>
              <a:t>LT(e.key, p-&gt;data.key) ) </a:t>
            </a:r>
          </a:p>
          <a:p>
            <a:pPr algn="l"/>
            <a:r>
              <a:rPr lang="en-US" altLang="zh-CN" sz="3200" b="0">
                <a:solidFill>
                  <a:srgbClr val="0000FF"/>
                </a:solidFill>
                <a:ea typeface="楷体_GB2312" pitchFamily="49" charset="-122"/>
              </a:rPr>
              <a:t>       p-&gt;lchild = s;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    </a:t>
            </a:r>
            <a:r>
              <a:rPr lang="zh-CN" altLang="en-US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zh-CN" altLang="en-US">
                <a:solidFill>
                  <a:srgbClr val="006600"/>
                </a:solidFill>
                <a:ea typeface="楷体_GB2312" pitchFamily="49" charset="-122"/>
                <a:sym typeface="+mn-ea"/>
              </a:rPr>
              <a:t> Insert *s as the left child of *p</a:t>
            </a:r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  <a:p>
            <a:pPr algn="l"/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else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  </a:t>
            </a:r>
            <a:r>
              <a:rPr lang="en-US" altLang="zh-CN" sz="3600" b="0">
                <a:ea typeface="楷体_GB2312" pitchFamily="49" charset="-122"/>
              </a:rPr>
              <a:t>p-&gt;rchild = s;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zh-CN" altLang="en-US">
                <a:solidFill>
                  <a:srgbClr val="006600"/>
                </a:solidFill>
                <a:ea typeface="楷体_GB2312" pitchFamily="49" charset="-122"/>
                <a:sym typeface="+mn-ea"/>
              </a:rPr>
              <a:t>Insert *s as the right child of *p</a:t>
            </a:r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533400" y="5429250"/>
            <a:ext cx="7150100" cy="78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600">
                <a:ea typeface="楷体_GB2312" pitchFamily="49" charset="-122"/>
              </a:rPr>
              <a:t>return TRUE</a:t>
            </a:r>
            <a:r>
              <a:rPr lang="en-US" altLang="zh-CN" sz="3600" b="0">
                <a:ea typeface="楷体_GB2312" pitchFamily="49" charset="-122"/>
              </a:rPr>
              <a:t>;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          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</a:rPr>
              <a:t>/</a:t>
            </a:r>
            <a:r>
              <a:rPr lang="zh-CN" altLang="en-US">
                <a:solidFill>
                  <a:srgbClr val="006600"/>
                </a:solidFill>
                <a:ea typeface="楷体_GB2312" pitchFamily="49" charset="-122"/>
              </a:rPr>
              <a:t>/ </a:t>
            </a:r>
            <a:r>
              <a:rPr lang="zh-CN" altLang="en-US">
                <a:solidFill>
                  <a:srgbClr val="006600"/>
                </a:solidFill>
                <a:ea typeface="楷体_GB2312" pitchFamily="49" charset="-122"/>
                <a:sym typeface="+mn-ea"/>
              </a:rPr>
              <a:t> Insertion succeeded</a:t>
            </a:r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63</a:t>
            </a:fld>
            <a:endParaRPr lang="en-US" altLang="zh-C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49580" y="3789045"/>
            <a:ext cx="8705850" cy="1828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dirty="0">
                <a:ea typeface="楷体_GB2312" pitchFamily="49" charset="-122"/>
                <a:cs typeface="Arial" panose="020B0604020202020204" pitchFamily="34" charset="0"/>
              </a:rPr>
              <a:t>(1) The deleted node is a</a:t>
            </a:r>
            <a:r>
              <a:rPr lang="zh-CN" altLang="en-US" sz="2400" kern="1200">
                <a:solidFill>
                  <a:srgbClr val="0000FF"/>
                </a:solidFill>
                <a:ea typeface="楷体_GB2312" pitchFamily="49" charset="-122"/>
                <a:cs typeface="Arial" panose="020B0604020202020204" pitchFamily="34" charset="0"/>
              </a:rPr>
              <a:t> leaf</a:t>
            </a:r>
            <a:r>
              <a:rPr lang="en-US" altLang="zh-CN" sz="2400" dirty="0">
                <a:ea typeface="楷体_GB2312" pitchFamily="49" charset="-122"/>
                <a:cs typeface="Arial" panose="020B0604020202020204" pitchFamily="34" charset="0"/>
              </a:rPr>
              <a:t>;</a:t>
            </a:r>
            <a:endParaRPr lang="zh-CN" altLang="en-US" sz="2400" dirty="0">
              <a:ea typeface="楷体_GB2312" pitchFamily="49" charset="-122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zh-CN" sz="2400" dirty="0">
                <a:ea typeface="楷体_GB2312" pitchFamily="49" charset="-122"/>
                <a:cs typeface="Arial" panose="020B0604020202020204" pitchFamily="34" charset="0"/>
              </a:rPr>
              <a:t>(2) The deleted node has either only</a:t>
            </a:r>
            <a:r>
              <a:rPr lang="zh-CN" altLang="en-US" sz="2400" kern="1200">
                <a:solidFill>
                  <a:srgbClr val="0000FF"/>
                </a:solidFill>
                <a:ea typeface="楷体_GB2312" pitchFamily="49" charset="-122"/>
                <a:cs typeface="Arial" panose="020B0604020202020204" pitchFamily="34" charset="0"/>
              </a:rPr>
              <a:t> a left subtree or only a right subtree;</a:t>
            </a:r>
            <a:endParaRPr lang="zh-CN" altLang="en-US" sz="2400" dirty="0">
              <a:ea typeface="楷体_GB2312" pitchFamily="49" charset="-122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zh-CN" sz="2400" dirty="0">
                <a:ea typeface="楷体_GB2312" pitchFamily="49" charset="-122"/>
                <a:cs typeface="Arial" panose="020B0604020202020204" pitchFamily="34" charset="0"/>
              </a:rPr>
              <a:t>(3) The deleted node has both </a:t>
            </a:r>
            <a:r>
              <a:rPr lang="zh-CN" altLang="en-US" sz="2400" kern="1200">
                <a:solidFill>
                  <a:srgbClr val="0000FF"/>
                </a:solidFill>
                <a:ea typeface="楷体_GB2312" pitchFamily="49" charset="-122"/>
                <a:cs typeface="Arial" panose="020B0604020202020204" pitchFamily="34" charset="0"/>
              </a:rPr>
              <a:t>a left subtree and a right subtree</a:t>
            </a:r>
            <a:r>
              <a:rPr lang="en-US" altLang="zh-CN" sz="2400" dirty="0">
                <a:ea typeface="楷体_GB2312" pitchFamily="49" charset="-122"/>
                <a:cs typeface="Arial" panose="020B0604020202020204" pitchFamily="34" charset="0"/>
              </a:rPr>
              <a:t>.</a:t>
            </a:r>
            <a:endParaRPr lang="zh-CN" altLang="en-US" sz="2400" dirty="0"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449263" y="547688"/>
            <a:ext cx="77012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4. Delete algorithm of binary sort tree</a:t>
            </a:r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449580" y="3356293"/>
            <a:ext cx="482409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There are </a:t>
            </a:r>
            <a:r>
              <a:rPr lang="zh-CN" altLang="en-US" sz="2400" b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three cases </a:t>
            </a:r>
            <a:r>
              <a:rPr lang="zh-CN" altLang="en-US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to consider:</a:t>
            </a:r>
          </a:p>
        </p:txBody>
      </p:sp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381000" y="1584325"/>
            <a:ext cx="8458200" cy="186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In contrast to insertion, deletion is performed after a </a:t>
            </a:r>
            <a:r>
              <a:rPr lang="zh-CN" altLang="en-US" sz="2400" b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successful search</a:t>
            </a:r>
            <a:r>
              <a:rPr lang="zh-CN" altLang="en-US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, and requires that </a:t>
            </a:r>
            <a:r>
              <a:rPr lang="zh-CN" altLang="en-US" sz="2400" b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binary search tree characteristics remain after deleting a node from the binary search tree.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©Haiyang Liu, 2025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</a:rPr>
              <a:t>64</a:t>
            </a:fld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9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9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build="p" autoUpdateAnimBg="0" advAuto="0"/>
      <p:bldP spid="149507" grpId="0" bldLvl="0" animBg="1" autoUpdateAnimBg="0"/>
      <p:bldP spid="149508" grpId="0" bldLvl="0" animBg="1" autoUpdateAnimBg="0"/>
      <p:bldP spid="149509" grpId="0" bldLvl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Oval 2"/>
          <p:cNvSpPr>
            <a:spLocks noChangeArrowheads="1"/>
          </p:cNvSpPr>
          <p:nvPr/>
        </p:nvSpPr>
        <p:spPr bwMode="auto">
          <a:xfrm>
            <a:off x="3733800" y="2133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</p:txBody>
      </p:sp>
      <p:sp>
        <p:nvSpPr>
          <p:cNvPr id="150531" name="Oval 3"/>
          <p:cNvSpPr>
            <a:spLocks noChangeArrowheads="1"/>
          </p:cNvSpPr>
          <p:nvPr/>
        </p:nvSpPr>
        <p:spPr bwMode="auto">
          <a:xfrm>
            <a:off x="2286000" y="26670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150532" name="Oval 4"/>
          <p:cNvSpPr>
            <a:spLocks noChangeArrowheads="1"/>
          </p:cNvSpPr>
          <p:nvPr/>
        </p:nvSpPr>
        <p:spPr bwMode="auto">
          <a:xfrm>
            <a:off x="5181600" y="26670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</a:p>
        </p:txBody>
      </p:sp>
      <p:sp>
        <p:nvSpPr>
          <p:cNvPr id="150533" name="Oval 5"/>
          <p:cNvSpPr>
            <a:spLocks noChangeArrowheads="1"/>
          </p:cNvSpPr>
          <p:nvPr/>
        </p:nvSpPr>
        <p:spPr bwMode="auto">
          <a:xfrm>
            <a:off x="1143000" y="33528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150534" name="Oval 6"/>
          <p:cNvSpPr>
            <a:spLocks noChangeArrowheads="1"/>
          </p:cNvSpPr>
          <p:nvPr/>
        </p:nvSpPr>
        <p:spPr bwMode="auto">
          <a:xfrm>
            <a:off x="6324600" y="33528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</a:p>
        </p:txBody>
      </p:sp>
      <p:sp>
        <p:nvSpPr>
          <p:cNvPr id="150535" name="Oval 7"/>
          <p:cNvSpPr>
            <a:spLocks noChangeArrowheads="1"/>
          </p:cNvSpPr>
          <p:nvPr/>
        </p:nvSpPr>
        <p:spPr bwMode="auto">
          <a:xfrm>
            <a:off x="5486400" y="41910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</a:t>
            </a:r>
          </a:p>
        </p:txBody>
      </p:sp>
      <p:sp>
        <p:nvSpPr>
          <p:cNvPr id="150536" name="Oval 8"/>
          <p:cNvSpPr>
            <a:spLocks noChangeArrowheads="1"/>
          </p:cNvSpPr>
          <p:nvPr/>
        </p:nvSpPr>
        <p:spPr bwMode="auto">
          <a:xfrm>
            <a:off x="3429000" y="33528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</p:txBody>
      </p:sp>
      <p:sp>
        <p:nvSpPr>
          <p:cNvPr id="150537" name="Oval 9"/>
          <p:cNvSpPr>
            <a:spLocks noChangeArrowheads="1"/>
          </p:cNvSpPr>
          <p:nvPr/>
        </p:nvSpPr>
        <p:spPr bwMode="auto">
          <a:xfrm>
            <a:off x="2514600" y="41910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</a:p>
        </p:txBody>
      </p:sp>
      <p:sp>
        <p:nvSpPr>
          <p:cNvPr id="150538" name="Oval 10"/>
          <p:cNvSpPr>
            <a:spLocks noChangeArrowheads="1"/>
          </p:cNvSpPr>
          <p:nvPr/>
        </p:nvSpPr>
        <p:spPr bwMode="auto">
          <a:xfrm>
            <a:off x="6781800" y="50292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88</a:t>
            </a:r>
          </a:p>
        </p:txBody>
      </p:sp>
      <p:sp>
        <p:nvSpPr>
          <p:cNvPr id="150539" name="Line 11"/>
          <p:cNvSpPr>
            <a:spLocks noChangeShapeType="1"/>
          </p:cNvSpPr>
          <p:nvPr/>
        </p:nvSpPr>
        <p:spPr bwMode="auto">
          <a:xfrm flipH="1">
            <a:off x="2895600" y="2438400"/>
            <a:ext cx="8382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0" name="Line 12"/>
          <p:cNvSpPr>
            <a:spLocks noChangeShapeType="1"/>
          </p:cNvSpPr>
          <p:nvPr/>
        </p:nvSpPr>
        <p:spPr bwMode="auto">
          <a:xfrm flipH="1">
            <a:off x="1752600" y="3124200"/>
            <a:ext cx="533400" cy="3048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1" name="Line 13"/>
          <p:cNvSpPr>
            <a:spLocks noChangeShapeType="1"/>
          </p:cNvSpPr>
          <p:nvPr/>
        </p:nvSpPr>
        <p:spPr bwMode="auto">
          <a:xfrm>
            <a:off x="4419600" y="2438400"/>
            <a:ext cx="7620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2" name="Line 14"/>
          <p:cNvSpPr>
            <a:spLocks noChangeShapeType="1"/>
          </p:cNvSpPr>
          <p:nvPr/>
        </p:nvSpPr>
        <p:spPr bwMode="auto">
          <a:xfrm>
            <a:off x="2895600" y="3048000"/>
            <a:ext cx="6096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3" name="Line 15"/>
          <p:cNvSpPr>
            <a:spLocks noChangeShapeType="1"/>
          </p:cNvSpPr>
          <p:nvPr/>
        </p:nvSpPr>
        <p:spPr bwMode="auto">
          <a:xfrm flipH="1">
            <a:off x="2971800" y="3810000"/>
            <a:ext cx="533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4" name="Line 16"/>
          <p:cNvSpPr>
            <a:spLocks noChangeShapeType="1"/>
          </p:cNvSpPr>
          <p:nvPr/>
        </p:nvSpPr>
        <p:spPr bwMode="auto">
          <a:xfrm>
            <a:off x="5791200" y="3124200"/>
            <a:ext cx="609600" cy="3048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5" name="Line 17"/>
          <p:cNvSpPr>
            <a:spLocks noChangeShapeType="1"/>
          </p:cNvSpPr>
          <p:nvPr/>
        </p:nvSpPr>
        <p:spPr bwMode="auto">
          <a:xfrm flipH="1">
            <a:off x="5943600" y="3886200"/>
            <a:ext cx="533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6" name="Line 18"/>
          <p:cNvSpPr>
            <a:spLocks noChangeShapeType="1"/>
          </p:cNvSpPr>
          <p:nvPr/>
        </p:nvSpPr>
        <p:spPr bwMode="auto">
          <a:xfrm>
            <a:off x="6096000" y="4648200"/>
            <a:ext cx="7620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7" name="Oval 19"/>
          <p:cNvSpPr>
            <a:spLocks noChangeArrowheads="1"/>
          </p:cNvSpPr>
          <p:nvPr/>
        </p:nvSpPr>
        <p:spPr bwMode="auto">
          <a:xfrm>
            <a:off x="1524000" y="50292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</a:p>
        </p:txBody>
      </p:sp>
      <p:sp>
        <p:nvSpPr>
          <p:cNvPr id="150548" name="Line 20"/>
          <p:cNvSpPr>
            <a:spLocks noChangeShapeType="1"/>
          </p:cNvSpPr>
          <p:nvPr/>
        </p:nvSpPr>
        <p:spPr bwMode="auto">
          <a:xfrm flipH="1">
            <a:off x="1981200" y="4572000"/>
            <a:ext cx="6096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549" name="Rectangle 21"/>
          <p:cNvSpPr>
            <a:spLocks noChangeArrowheads="1"/>
          </p:cNvSpPr>
          <p:nvPr/>
        </p:nvSpPr>
        <p:spPr bwMode="auto">
          <a:xfrm>
            <a:off x="603250" y="457200"/>
            <a:ext cx="490410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(1) The deleted node is a leaf node</a:t>
            </a:r>
            <a:endParaRPr lang="en-US" altLang="zh-CN" sz="24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 useBgFill="1">
        <p:nvSpPr>
          <p:cNvPr id="150550" name="Rectangle 22"/>
          <p:cNvSpPr>
            <a:spLocks noChangeArrowheads="1"/>
          </p:cNvSpPr>
          <p:nvPr/>
        </p:nvSpPr>
        <p:spPr bwMode="auto">
          <a:xfrm>
            <a:off x="990600" y="3048000"/>
            <a:ext cx="1295400" cy="1219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50551" name="Rectangle 23"/>
          <p:cNvSpPr>
            <a:spLocks noChangeArrowheads="1"/>
          </p:cNvSpPr>
          <p:nvPr/>
        </p:nvSpPr>
        <p:spPr bwMode="auto">
          <a:xfrm>
            <a:off x="6096000" y="4648200"/>
            <a:ext cx="1447800" cy="9906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552" name="Text Box 24"/>
          <p:cNvSpPr txBox="1">
            <a:spLocks noChangeArrowheads="1"/>
          </p:cNvSpPr>
          <p:nvPr/>
        </p:nvSpPr>
        <p:spPr bwMode="auto">
          <a:xfrm>
            <a:off x="571500" y="1339850"/>
            <a:ext cx="214757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3333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for instance ：</a:t>
            </a:r>
            <a:endParaRPr lang="zh-CN" altLang="en-US" sz="2400" b="0">
              <a:solidFill>
                <a:srgbClr val="3333FF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50553" name="Text Box 25"/>
          <p:cNvSpPr txBox="1">
            <a:spLocks noChangeArrowheads="1"/>
          </p:cNvSpPr>
          <p:nvPr/>
        </p:nvSpPr>
        <p:spPr bwMode="auto">
          <a:xfrm>
            <a:off x="5470525" y="1466850"/>
            <a:ext cx="277114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3333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Deleted keywords = 20</a:t>
            </a:r>
            <a:endParaRPr lang="zh-CN" altLang="en-US" sz="2000" b="0">
              <a:solidFill>
                <a:srgbClr val="3333FF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 useBgFill="1">
        <p:nvSpPr>
          <p:cNvPr id="150554" name="Text Box 26"/>
          <p:cNvSpPr txBox="1">
            <a:spLocks noChangeArrowheads="1"/>
          </p:cNvSpPr>
          <p:nvPr/>
        </p:nvSpPr>
        <p:spPr bwMode="auto">
          <a:xfrm>
            <a:off x="7812405" y="1466850"/>
            <a:ext cx="464820" cy="39878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88</a:t>
            </a:r>
            <a:endParaRPr lang="en-US" altLang="zh-CN" sz="20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555" name="Text Box 27"/>
          <p:cNvSpPr txBox="1">
            <a:spLocks noChangeArrowheads="1"/>
          </p:cNvSpPr>
          <p:nvPr/>
        </p:nvSpPr>
        <p:spPr bwMode="auto">
          <a:xfrm>
            <a:off x="441325" y="5835650"/>
            <a:ext cx="8470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8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The value of the corresponding pointer field in the parent node is changed to "null"</a:t>
            </a:r>
            <a:endParaRPr lang="zh-CN" altLang="en-US" sz="1800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50556" name="Freeform 28"/>
          <p:cNvSpPr/>
          <p:nvPr/>
        </p:nvSpPr>
        <p:spPr bwMode="auto">
          <a:xfrm>
            <a:off x="4038600" y="1371600"/>
            <a:ext cx="1066800" cy="762000"/>
          </a:xfrm>
          <a:custGeom>
            <a:avLst/>
            <a:gdLst>
              <a:gd name="T0" fmla="*/ 672 w 672"/>
              <a:gd name="T1" fmla="*/ 0 h 480"/>
              <a:gd name="T2" fmla="*/ 192 w 672"/>
              <a:gd name="T3" fmla="*/ 240 h 480"/>
              <a:gd name="T4" fmla="*/ 480 w 672"/>
              <a:gd name="T5" fmla="*/ 240 h 480"/>
              <a:gd name="T6" fmla="*/ 0 w 672"/>
              <a:gd name="T7" fmla="*/ 48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480">
                <a:moveTo>
                  <a:pt x="672" y="0"/>
                </a:moveTo>
                <a:cubicBezTo>
                  <a:pt x="448" y="100"/>
                  <a:pt x="224" y="200"/>
                  <a:pt x="192" y="240"/>
                </a:cubicBezTo>
                <a:cubicBezTo>
                  <a:pt x="160" y="280"/>
                  <a:pt x="512" y="200"/>
                  <a:pt x="480" y="240"/>
                </a:cubicBezTo>
                <a:cubicBezTo>
                  <a:pt x="448" y="280"/>
                  <a:pt x="224" y="380"/>
                  <a:pt x="0" y="480"/>
                </a:cubicBezTo>
              </a:path>
            </a:pathLst>
          </a:custGeom>
          <a:noFill/>
          <a:ln w="31750">
            <a:solidFill>
              <a:srgbClr val="A5002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65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9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0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0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5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50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5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0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0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bldLvl="0" animBg="1" autoUpdateAnimBg="0"/>
      <p:bldP spid="150531" grpId="0" bldLvl="0" animBg="1" autoUpdateAnimBg="0"/>
      <p:bldP spid="150532" grpId="0" bldLvl="0" animBg="1" autoUpdateAnimBg="0"/>
      <p:bldP spid="150533" grpId="0" bldLvl="0" animBg="1" autoUpdateAnimBg="0"/>
      <p:bldP spid="150534" grpId="0" bldLvl="0" animBg="1" autoUpdateAnimBg="0"/>
      <p:bldP spid="150535" grpId="0" bldLvl="0" animBg="1" autoUpdateAnimBg="0"/>
      <p:bldP spid="150536" grpId="0" bldLvl="0" animBg="1" autoUpdateAnimBg="0"/>
      <p:bldP spid="150537" grpId="0" bldLvl="0" animBg="1" autoUpdateAnimBg="0"/>
      <p:bldP spid="150538" grpId="0" bldLvl="0" animBg="1" autoUpdateAnimBg="0"/>
      <p:bldP spid="150539" grpId="0" bldLvl="0" animBg="1"/>
      <p:bldP spid="150540" grpId="0" bldLvl="0" animBg="1"/>
      <p:bldP spid="150541" grpId="0" bldLvl="0" animBg="1"/>
      <p:bldP spid="150542" grpId="0" bldLvl="0" animBg="1"/>
      <p:bldP spid="150543" grpId="0" bldLvl="0" animBg="1"/>
      <p:bldP spid="150544" grpId="0" bldLvl="0" animBg="1"/>
      <p:bldP spid="150545" grpId="0" bldLvl="0" animBg="1"/>
      <p:bldP spid="150546" grpId="0" bldLvl="0" animBg="1"/>
      <p:bldP spid="150547" grpId="0" bldLvl="0" animBg="1" autoUpdateAnimBg="0"/>
      <p:bldP spid="150548" grpId="0" bldLvl="0" animBg="1"/>
      <p:bldP spid="150549" grpId="0" bldLvl="0" animBg="1" autoUpdateAnimBg="0"/>
      <p:bldP spid="150550" grpId="0" bldLvl="0" animBg="1"/>
      <p:bldP spid="150551" grpId="0" bldLvl="0" animBg="1"/>
      <p:bldP spid="150552" grpId="0" bldLvl="0" animBg="1" autoUpdateAnimBg="0"/>
      <p:bldP spid="150553" grpId="0" bldLvl="0" animBg="1" autoUpdateAnimBg="0"/>
      <p:bldP spid="150554" grpId="0" bldLvl="0" animBg="1" autoUpdateAnimBg="0"/>
      <p:bldP spid="150555" grpId="0" bldLvl="0" animBg="1" autoUpdateAnimBg="0"/>
      <p:bldP spid="150556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Oval 2"/>
          <p:cNvSpPr>
            <a:spLocks noChangeArrowheads="1"/>
          </p:cNvSpPr>
          <p:nvPr/>
        </p:nvSpPr>
        <p:spPr bwMode="auto">
          <a:xfrm>
            <a:off x="3962400" y="19050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50</a:t>
            </a:r>
          </a:p>
        </p:txBody>
      </p:sp>
      <p:sp>
        <p:nvSpPr>
          <p:cNvPr id="151555" name="Oval 3"/>
          <p:cNvSpPr>
            <a:spLocks noChangeArrowheads="1"/>
          </p:cNvSpPr>
          <p:nvPr/>
        </p:nvSpPr>
        <p:spPr bwMode="auto">
          <a:xfrm>
            <a:off x="2514600" y="2438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30</a:t>
            </a:r>
          </a:p>
        </p:txBody>
      </p:sp>
      <p:sp>
        <p:nvSpPr>
          <p:cNvPr id="151556" name="Oval 4"/>
          <p:cNvSpPr>
            <a:spLocks noChangeArrowheads="1"/>
          </p:cNvSpPr>
          <p:nvPr/>
        </p:nvSpPr>
        <p:spPr bwMode="auto">
          <a:xfrm>
            <a:off x="5410200" y="2438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80</a:t>
            </a:r>
          </a:p>
        </p:txBody>
      </p:sp>
      <p:sp>
        <p:nvSpPr>
          <p:cNvPr id="151557" name="Oval 5"/>
          <p:cNvSpPr>
            <a:spLocks noChangeArrowheads="1"/>
          </p:cNvSpPr>
          <p:nvPr/>
        </p:nvSpPr>
        <p:spPr bwMode="auto">
          <a:xfrm>
            <a:off x="1371600" y="31242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20</a:t>
            </a:r>
          </a:p>
        </p:txBody>
      </p:sp>
      <p:sp>
        <p:nvSpPr>
          <p:cNvPr id="151558" name="Oval 6"/>
          <p:cNvSpPr>
            <a:spLocks noChangeArrowheads="1"/>
          </p:cNvSpPr>
          <p:nvPr/>
        </p:nvSpPr>
        <p:spPr bwMode="auto">
          <a:xfrm>
            <a:off x="6553200" y="31242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90</a:t>
            </a:r>
          </a:p>
        </p:txBody>
      </p:sp>
      <p:sp>
        <p:nvSpPr>
          <p:cNvPr id="151559" name="Oval 7"/>
          <p:cNvSpPr>
            <a:spLocks noChangeArrowheads="1"/>
          </p:cNvSpPr>
          <p:nvPr/>
        </p:nvSpPr>
        <p:spPr bwMode="auto">
          <a:xfrm>
            <a:off x="5715000" y="3962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85</a:t>
            </a:r>
          </a:p>
        </p:txBody>
      </p:sp>
      <p:sp>
        <p:nvSpPr>
          <p:cNvPr id="151560" name="Oval 8"/>
          <p:cNvSpPr>
            <a:spLocks noChangeArrowheads="1"/>
          </p:cNvSpPr>
          <p:nvPr/>
        </p:nvSpPr>
        <p:spPr bwMode="auto">
          <a:xfrm>
            <a:off x="3657600" y="31242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40</a:t>
            </a:r>
          </a:p>
        </p:txBody>
      </p:sp>
      <p:sp>
        <p:nvSpPr>
          <p:cNvPr id="151561" name="Oval 9"/>
          <p:cNvSpPr>
            <a:spLocks noChangeArrowheads="1"/>
          </p:cNvSpPr>
          <p:nvPr/>
        </p:nvSpPr>
        <p:spPr bwMode="auto">
          <a:xfrm>
            <a:off x="2743200" y="3962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35</a:t>
            </a:r>
          </a:p>
        </p:txBody>
      </p:sp>
      <p:sp>
        <p:nvSpPr>
          <p:cNvPr id="151562" name="Oval 10"/>
          <p:cNvSpPr>
            <a:spLocks noChangeArrowheads="1"/>
          </p:cNvSpPr>
          <p:nvPr/>
        </p:nvSpPr>
        <p:spPr bwMode="auto">
          <a:xfrm>
            <a:off x="7010400" y="4800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88</a:t>
            </a:r>
          </a:p>
        </p:txBody>
      </p:sp>
      <p:sp>
        <p:nvSpPr>
          <p:cNvPr id="151563" name="Line 11"/>
          <p:cNvSpPr>
            <a:spLocks noChangeShapeType="1"/>
          </p:cNvSpPr>
          <p:nvPr/>
        </p:nvSpPr>
        <p:spPr bwMode="auto">
          <a:xfrm flipH="1">
            <a:off x="3124200" y="2209800"/>
            <a:ext cx="8382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64" name="Line 12"/>
          <p:cNvSpPr>
            <a:spLocks noChangeShapeType="1"/>
          </p:cNvSpPr>
          <p:nvPr/>
        </p:nvSpPr>
        <p:spPr bwMode="auto">
          <a:xfrm flipH="1">
            <a:off x="1981200" y="2819400"/>
            <a:ext cx="609600" cy="3810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65" name="Line 13"/>
          <p:cNvSpPr>
            <a:spLocks noChangeShapeType="1"/>
          </p:cNvSpPr>
          <p:nvPr/>
        </p:nvSpPr>
        <p:spPr bwMode="auto">
          <a:xfrm>
            <a:off x="4648200" y="2209800"/>
            <a:ext cx="7620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66" name="Line 14"/>
          <p:cNvSpPr>
            <a:spLocks noChangeShapeType="1"/>
          </p:cNvSpPr>
          <p:nvPr/>
        </p:nvSpPr>
        <p:spPr bwMode="auto">
          <a:xfrm>
            <a:off x="3124200" y="2819400"/>
            <a:ext cx="6096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67" name="Line 15"/>
          <p:cNvSpPr>
            <a:spLocks noChangeShapeType="1"/>
          </p:cNvSpPr>
          <p:nvPr/>
        </p:nvSpPr>
        <p:spPr bwMode="auto">
          <a:xfrm flipH="1">
            <a:off x="3200400" y="3581400"/>
            <a:ext cx="533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68" name="Line 16"/>
          <p:cNvSpPr>
            <a:spLocks noChangeShapeType="1"/>
          </p:cNvSpPr>
          <p:nvPr/>
        </p:nvSpPr>
        <p:spPr bwMode="auto">
          <a:xfrm>
            <a:off x="6019800" y="2895600"/>
            <a:ext cx="609600" cy="3048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69" name="Line 17"/>
          <p:cNvSpPr>
            <a:spLocks noChangeShapeType="1"/>
          </p:cNvSpPr>
          <p:nvPr/>
        </p:nvSpPr>
        <p:spPr bwMode="auto">
          <a:xfrm flipH="1">
            <a:off x="6172200" y="3657600"/>
            <a:ext cx="533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70" name="Line 18"/>
          <p:cNvSpPr>
            <a:spLocks noChangeShapeType="1"/>
          </p:cNvSpPr>
          <p:nvPr/>
        </p:nvSpPr>
        <p:spPr bwMode="auto">
          <a:xfrm>
            <a:off x="6324600" y="4419600"/>
            <a:ext cx="7620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71" name="Oval 19"/>
          <p:cNvSpPr>
            <a:spLocks noChangeArrowheads="1"/>
          </p:cNvSpPr>
          <p:nvPr/>
        </p:nvSpPr>
        <p:spPr bwMode="auto">
          <a:xfrm>
            <a:off x="1752600" y="4800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0">
                <a:solidFill>
                  <a:srgbClr val="990033"/>
                </a:solidFill>
              </a:rPr>
              <a:t>32</a:t>
            </a:r>
          </a:p>
        </p:txBody>
      </p:sp>
      <p:sp>
        <p:nvSpPr>
          <p:cNvPr id="151572" name="Line 20"/>
          <p:cNvSpPr>
            <a:spLocks noChangeShapeType="1"/>
          </p:cNvSpPr>
          <p:nvPr/>
        </p:nvSpPr>
        <p:spPr bwMode="auto">
          <a:xfrm flipH="1">
            <a:off x="2209800" y="4343400"/>
            <a:ext cx="6096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73" name="Rectangle 21"/>
          <p:cNvSpPr>
            <a:spLocks noChangeArrowheads="1"/>
          </p:cNvSpPr>
          <p:nvPr/>
        </p:nvSpPr>
        <p:spPr bwMode="auto">
          <a:xfrm>
            <a:off x="457200" y="314325"/>
            <a:ext cx="8229600" cy="977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0">
                <a:ea typeface="楷体_GB2312" pitchFamily="49" charset="-122"/>
              </a:rPr>
              <a:t>(2) The deleted node has either only a left subtree or only a right subtree</a:t>
            </a:r>
            <a:endParaRPr lang="en-US" altLang="zh-CN" sz="2400" b="0">
              <a:solidFill>
                <a:srgbClr val="A50021"/>
              </a:solidFill>
              <a:ea typeface="楷体_GB2312" pitchFamily="49" charset="-122"/>
            </a:endParaRPr>
          </a:p>
        </p:txBody>
      </p:sp>
      <p:sp>
        <p:nvSpPr>
          <p:cNvPr id="151574" name="AutoShape 22"/>
          <p:cNvSpPr>
            <a:spLocks noChangeArrowheads="1"/>
          </p:cNvSpPr>
          <p:nvPr/>
        </p:nvSpPr>
        <p:spPr bwMode="auto">
          <a:xfrm>
            <a:off x="3124200" y="2819400"/>
            <a:ext cx="152400" cy="1143000"/>
          </a:xfrm>
          <a:prstGeom prst="downArrow">
            <a:avLst>
              <a:gd name="adj1" fmla="val 50000"/>
              <a:gd name="adj2" fmla="val 187500"/>
            </a:avLst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4000"/>
          </a:p>
        </p:txBody>
      </p:sp>
      <p:sp useBgFill="1">
        <p:nvSpPr>
          <p:cNvPr id="151575" name="Rectangle 23"/>
          <p:cNvSpPr>
            <a:spLocks noChangeArrowheads="1"/>
          </p:cNvSpPr>
          <p:nvPr/>
        </p:nvSpPr>
        <p:spPr bwMode="auto">
          <a:xfrm>
            <a:off x="3276600" y="2819400"/>
            <a:ext cx="1143000" cy="11430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4000"/>
          </a:p>
        </p:txBody>
      </p:sp>
      <p:sp>
        <p:nvSpPr>
          <p:cNvPr id="151576" name="Line 24"/>
          <p:cNvSpPr>
            <a:spLocks noChangeShapeType="1"/>
          </p:cNvSpPr>
          <p:nvPr/>
        </p:nvSpPr>
        <p:spPr bwMode="auto">
          <a:xfrm>
            <a:off x="4648200" y="2209800"/>
            <a:ext cx="1981200" cy="990600"/>
          </a:xfrm>
          <a:prstGeom prst="line">
            <a:avLst/>
          </a:prstGeom>
          <a:noFill/>
          <a:ln w="63500">
            <a:solidFill>
              <a:srgbClr val="FF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1577" name="Rectangle 25"/>
          <p:cNvSpPr>
            <a:spLocks noChangeArrowheads="1"/>
          </p:cNvSpPr>
          <p:nvPr/>
        </p:nvSpPr>
        <p:spPr bwMode="auto">
          <a:xfrm>
            <a:off x="5334000" y="2362200"/>
            <a:ext cx="838200" cy="685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4000"/>
          </a:p>
        </p:txBody>
      </p:sp>
      <p:sp>
        <p:nvSpPr>
          <p:cNvPr id="151578" name="Line 26"/>
          <p:cNvSpPr>
            <a:spLocks noChangeShapeType="1"/>
          </p:cNvSpPr>
          <p:nvPr/>
        </p:nvSpPr>
        <p:spPr bwMode="auto">
          <a:xfrm>
            <a:off x="4648200" y="2209800"/>
            <a:ext cx="1981200" cy="990600"/>
          </a:xfrm>
          <a:prstGeom prst="line">
            <a:avLst/>
          </a:prstGeom>
          <a:noFill/>
          <a:ln w="63500">
            <a:solidFill>
              <a:srgbClr val="FF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79" name="Text Box 27"/>
          <p:cNvSpPr txBox="1">
            <a:spLocks noChangeArrowheads="1"/>
          </p:cNvSpPr>
          <p:nvPr/>
        </p:nvSpPr>
        <p:spPr bwMode="auto">
          <a:xfrm>
            <a:off x="228600" y="5486400"/>
            <a:ext cx="8686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ea typeface="楷体_GB2312" pitchFamily="49" charset="-122"/>
              </a:rPr>
              <a:t>The value of the corresponding pointer field in the parent node is changed to "point to the left or right subtree of the deleted node".</a:t>
            </a:r>
            <a:endParaRPr lang="zh-CN" altLang="en-US" b="0" dirty="0">
              <a:ea typeface="楷体_GB2312" pitchFamily="49" charset="-122"/>
            </a:endParaRPr>
          </a:p>
        </p:txBody>
      </p:sp>
      <p:sp>
        <p:nvSpPr>
          <p:cNvPr id="151580" name="Freeform 28"/>
          <p:cNvSpPr/>
          <p:nvPr/>
        </p:nvSpPr>
        <p:spPr bwMode="auto">
          <a:xfrm>
            <a:off x="4267200" y="1143000"/>
            <a:ext cx="1066800" cy="762000"/>
          </a:xfrm>
          <a:custGeom>
            <a:avLst/>
            <a:gdLst>
              <a:gd name="T0" fmla="*/ 672 w 672"/>
              <a:gd name="T1" fmla="*/ 0 h 480"/>
              <a:gd name="T2" fmla="*/ 192 w 672"/>
              <a:gd name="T3" fmla="*/ 240 h 480"/>
              <a:gd name="T4" fmla="*/ 480 w 672"/>
              <a:gd name="T5" fmla="*/ 240 h 480"/>
              <a:gd name="T6" fmla="*/ 0 w 672"/>
              <a:gd name="T7" fmla="*/ 48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480">
                <a:moveTo>
                  <a:pt x="672" y="0"/>
                </a:moveTo>
                <a:cubicBezTo>
                  <a:pt x="448" y="100"/>
                  <a:pt x="224" y="200"/>
                  <a:pt x="192" y="240"/>
                </a:cubicBezTo>
                <a:cubicBezTo>
                  <a:pt x="160" y="280"/>
                  <a:pt x="512" y="200"/>
                  <a:pt x="480" y="240"/>
                </a:cubicBezTo>
                <a:cubicBezTo>
                  <a:pt x="448" y="280"/>
                  <a:pt x="224" y="380"/>
                  <a:pt x="0" y="480"/>
                </a:cubicBezTo>
              </a:path>
            </a:pathLst>
          </a:custGeom>
          <a:noFill/>
          <a:ln w="31750">
            <a:solidFill>
              <a:srgbClr val="A5002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4000"/>
          </a:p>
        </p:txBody>
      </p:sp>
      <p:sp>
        <p:nvSpPr>
          <p:cNvPr id="151581" name="Text Box 29"/>
          <p:cNvSpPr txBox="1">
            <a:spLocks noChangeArrowheads="1"/>
          </p:cNvSpPr>
          <p:nvPr/>
        </p:nvSpPr>
        <p:spPr bwMode="auto">
          <a:xfrm>
            <a:off x="5657850" y="1477963"/>
            <a:ext cx="302133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3333FF"/>
                </a:solidFill>
                <a:ea typeface="楷体_GB2312" pitchFamily="49" charset="-122"/>
              </a:rPr>
              <a:t>Deleted keywords = 40</a:t>
            </a:r>
            <a:endParaRPr lang="zh-CN" altLang="en-US" sz="2400" b="0">
              <a:solidFill>
                <a:srgbClr val="3333FF"/>
              </a:solidFill>
              <a:ea typeface="楷体_GB2312" pitchFamily="49" charset="-122"/>
            </a:endParaRPr>
          </a:p>
        </p:txBody>
      </p:sp>
      <p:sp useBgFill="1">
        <p:nvSpPr>
          <p:cNvPr id="151582" name="Rectangle 30"/>
          <p:cNvSpPr>
            <a:spLocks noChangeArrowheads="1"/>
          </p:cNvSpPr>
          <p:nvPr/>
        </p:nvSpPr>
        <p:spPr bwMode="auto">
          <a:xfrm>
            <a:off x="8172450" y="1477963"/>
            <a:ext cx="487680" cy="460375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ea typeface="楷体_GB2312" pitchFamily="49" charset="-122"/>
              </a:rPr>
              <a:t>80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66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5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5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5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5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5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4" grpId="0" bldLvl="0" animBg="1" autoUpdateAnimBg="0"/>
      <p:bldP spid="151555" grpId="0" bldLvl="0" animBg="1" autoUpdateAnimBg="0"/>
      <p:bldP spid="151556" grpId="0" bldLvl="0" animBg="1" autoUpdateAnimBg="0"/>
      <p:bldP spid="151557" grpId="0" bldLvl="0" animBg="1" autoUpdateAnimBg="0"/>
      <p:bldP spid="151558" grpId="0" bldLvl="0" animBg="1" autoUpdateAnimBg="0"/>
      <p:bldP spid="151559" grpId="0" bldLvl="0" animBg="1" autoUpdateAnimBg="0"/>
      <p:bldP spid="151560" grpId="0" bldLvl="0" animBg="1" autoUpdateAnimBg="0"/>
      <p:bldP spid="151561" grpId="0" bldLvl="0" animBg="1" autoUpdateAnimBg="0"/>
      <p:bldP spid="151562" grpId="0" bldLvl="0" animBg="1" autoUpdateAnimBg="0"/>
      <p:bldP spid="151563" grpId="0" bldLvl="0" animBg="1"/>
      <p:bldP spid="151564" grpId="0" bldLvl="0" animBg="1"/>
      <p:bldP spid="151565" grpId="0" bldLvl="0" animBg="1"/>
      <p:bldP spid="151566" grpId="0" bldLvl="0" animBg="1"/>
      <p:bldP spid="151567" grpId="0" bldLvl="0" animBg="1"/>
      <p:bldP spid="151568" grpId="0" bldLvl="0" animBg="1"/>
      <p:bldP spid="151569" grpId="0" bldLvl="0" animBg="1"/>
      <p:bldP spid="151570" grpId="0" bldLvl="0" animBg="1"/>
      <p:bldP spid="151571" grpId="0" bldLvl="0" animBg="1" autoUpdateAnimBg="0"/>
      <p:bldP spid="151572" grpId="0" bldLvl="0" animBg="1"/>
      <p:bldP spid="151573" grpId="0" bldLvl="0" animBg="1" autoUpdateAnimBg="0"/>
      <p:bldP spid="151574" grpId="0" bldLvl="0" animBg="1"/>
      <p:bldP spid="151575" grpId="0" bldLvl="0" animBg="1"/>
      <p:bldP spid="151576" grpId="0" bldLvl="0" animBg="1"/>
      <p:bldP spid="151577" grpId="0" bldLvl="0" animBg="1"/>
      <p:bldP spid="151578" grpId="0" bldLvl="0" animBg="1"/>
      <p:bldP spid="151579" grpId="0" bldLvl="0" animBg="1" autoUpdateAnimBg="0"/>
      <p:bldP spid="151580" grpId="0" bldLvl="0" animBg="1"/>
      <p:bldP spid="151581" grpId="0" bldLvl="0" animBg="1" autoUpdateAnimBg="0"/>
      <p:bldP spid="151582" grpId="0" bldLvl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Oval 2"/>
          <p:cNvSpPr>
            <a:spLocks noChangeArrowheads="1"/>
          </p:cNvSpPr>
          <p:nvPr/>
        </p:nvSpPr>
        <p:spPr bwMode="auto">
          <a:xfrm>
            <a:off x="4038600" y="15240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50</a:t>
            </a:r>
          </a:p>
        </p:txBody>
      </p:sp>
      <p:sp>
        <p:nvSpPr>
          <p:cNvPr id="152579" name="Oval 3"/>
          <p:cNvSpPr>
            <a:spLocks noChangeArrowheads="1"/>
          </p:cNvSpPr>
          <p:nvPr/>
        </p:nvSpPr>
        <p:spPr bwMode="auto">
          <a:xfrm>
            <a:off x="2590800" y="2057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30</a:t>
            </a:r>
          </a:p>
        </p:txBody>
      </p:sp>
      <p:sp>
        <p:nvSpPr>
          <p:cNvPr id="152580" name="Oval 4"/>
          <p:cNvSpPr>
            <a:spLocks noChangeArrowheads="1"/>
          </p:cNvSpPr>
          <p:nvPr/>
        </p:nvSpPr>
        <p:spPr bwMode="auto">
          <a:xfrm>
            <a:off x="5410200" y="2133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80</a:t>
            </a:r>
          </a:p>
        </p:txBody>
      </p:sp>
      <p:sp>
        <p:nvSpPr>
          <p:cNvPr id="152581" name="Oval 5"/>
          <p:cNvSpPr>
            <a:spLocks noChangeArrowheads="1"/>
          </p:cNvSpPr>
          <p:nvPr/>
        </p:nvSpPr>
        <p:spPr bwMode="auto">
          <a:xfrm>
            <a:off x="1447800" y="27432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20</a:t>
            </a:r>
          </a:p>
        </p:txBody>
      </p:sp>
      <p:sp>
        <p:nvSpPr>
          <p:cNvPr id="152582" name="Oval 6"/>
          <p:cNvSpPr>
            <a:spLocks noChangeArrowheads="1"/>
          </p:cNvSpPr>
          <p:nvPr/>
        </p:nvSpPr>
        <p:spPr bwMode="auto">
          <a:xfrm>
            <a:off x="6629400" y="27432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90</a:t>
            </a:r>
          </a:p>
        </p:txBody>
      </p:sp>
      <p:sp>
        <p:nvSpPr>
          <p:cNvPr id="152583" name="Oval 7"/>
          <p:cNvSpPr>
            <a:spLocks noChangeArrowheads="1"/>
          </p:cNvSpPr>
          <p:nvPr/>
        </p:nvSpPr>
        <p:spPr bwMode="auto">
          <a:xfrm>
            <a:off x="5791200" y="3581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85</a:t>
            </a:r>
          </a:p>
        </p:txBody>
      </p:sp>
      <p:sp>
        <p:nvSpPr>
          <p:cNvPr id="152584" name="Oval 8"/>
          <p:cNvSpPr>
            <a:spLocks noChangeArrowheads="1"/>
          </p:cNvSpPr>
          <p:nvPr/>
        </p:nvSpPr>
        <p:spPr bwMode="auto">
          <a:xfrm>
            <a:off x="3733800" y="27432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40</a:t>
            </a:r>
          </a:p>
        </p:txBody>
      </p:sp>
      <p:sp>
        <p:nvSpPr>
          <p:cNvPr id="152585" name="Oval 9"/>
          <p:cNvSpPr>
            <a:spLocks noChangeArrowheads="1"/>
          </p:cNvSpPr>
          <p:nvPr/>
        </p:nvSpPr>
        <p:spPr bwMode="auto">
          <a:xfrm>
            <a:off x="2819400" y="35814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35</a:t>
            </a:r>
          </a:p>
        </p:txBody>
      </p:sp>
      <p:sp>
        <p:nvSpPr>
          <p:cNvPr id="152586" name="Oval 10"/>
          <p:cNvSpPr>
            <a:spLocks noChangeArrowheads="1"/>
          </p:cNvSpPr>
          <p:nvPr/>
        </p:nvSpPr>
        <p:spPr bwMode="auto">
          <a:xfrm>
            <a:off x="7086600" y="4419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88</a:t>
            </a:r>
          </a:p>
        </p:txBody>
      </p:sp>
      <p:sp>
        <p:nvSpPr>
          <p:cNvPr id="152587" name="Line 11"/>
          <p:cNvSpPr>
            <a:spLocks noChangeShapeType="1"/>
          </p:cNvSpPr>
          <p:nvPr/>
        </p:nvSpPr>
        <p:spPr bwMode="auto">
          <a:xfrm flipH="1">
            <a:off x="3200400" y="1828800"/>
            <a:ext cx="8382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88" name="Line 12"/>
          <p:cNvSpPr>
            <a:spLocks noChangeShapeType="1"/>
          </p:cNvSpPr>
          <p:nvPr/>
        </p:nvSpPr>
        <p:spPr bwMode="auto">
          <a:xfrm flipH="1">
            <a:off x="2057400" y="2438400"/>
            <a:ext cx="609600" cy="3810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89" name="Line 13"/>
          <p:cNvSpPr>
            <a:spLocks noChangeShapeType="1"/>
          </p:cNvSpPr>
          <p:nvPr/>
        </p:nvSpPr>
        <p:spPr bwMode="auto">
          <a:xfrm>
            <a:off x="4724400" y="1828800"/>
            <a:ext cx="7620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0" name="Line 14"/>
          <p:cNvSpPr>
            <a:spLocks noChangeShapeType="1"/>
          </p:cNvSpPr>
          <p:nvPr/>
        </p:nvSpPr>
        <p:spPr bwMode="auto">
          <a:xfrm>
            <a:off x="3200400" y="2438400"/>
            <a:ext cx="6096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1" name="Line 15"/>
          <p:cNvSpPr>
            <a:spLocks noChangeShapeType="1"/>
          </p:cNvSpPr>
          <p:nvPr/>
        </p:nvSpPr>
        <p:spPr bwMode="auto">
          <a:xfrm flipH="1">
            <a:off x="3276600" y="3200400"/>
            <a:ext cx="533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2" name="Line 16"/>
          <p:cNvSpPr>
            <a:spLocks noChangeShapeType="1"/>
          </p:cNvSpPr>
          <p:nvPr/>
        </p:nvSpPr>
        <p:spPr bwMode="auto">
          <a:xfrm>
            <a:off x="6096000" y="2514600"/>
            <a:ext cx="609600" cy="3048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3" name="Line 17"/>
          <p:cNvSpPr>
            <a:spLocks noChangeShapeType="1"/>
          </p:cNvSpPr>
          <p:nvPr/>
        </p:nvSpPr>
        <p:spPr bwMode="auto">
          <a:xfrm flipH="1">
            <a:off x="6305550" y="3238500"/>
            <a:ext cx="533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4" name="Line 18"/>
          <p:cNvSpPr>
            <a:spLocks noChangeShapeType="1"/>
          </p:cNvSpPr>
          <p:nvPr/>
        </p:nvSpPr>
        <p:spPr bwMode="auto">
          <a:xfrm>
            <a:off x="6400800" y="4038600"/>
            <a:ext cx="7620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5" name="Oval 19"/>
          <p:cNvSpPr>
            <a:spLocks noChangeArrowheads="1"/>
          </p:cNvSpPr>
          <p:nvPr/>
        </p:nvSpPr>
        <p:spPr bwMode="auto">
          <a:xfrm>
            <a:off x="1828800" y="4419600"/>
            <a:ext cx="68580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32</a:t>
            </a:r>
          </a:p>
        </p:txBody>
      </p:sp>
      <p:sp>
        <p:nvSpPr>
          <p:cNvPr id="152596" name="Line 20"/>
          <p:cNvSpPr>
            <a:spLocks noChangeShapeType="1"/>
          </p:cNvSpPr>
          <p:nvPr/>
        </p:nvSpPr>
        <p:spPr bwMode="auto">
          <a:xfrm flipH="1">
            <a:off x="2286000" y="3962400"/>
            <a:ext cx="6096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7" name="Rectangle 21"/>
          <p:cNvSpPr>
            <a:spLocks noChangeArrowheads="1"/>
          </p:cNvSpPr>
          <p:nvPr/>
        </p:nvSpPr>
        <p:spPr bwMode="auto">
          <a:xfrm>
            <a:off x="276225" y="196850"/>
            <a:ext cx="729678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(3) The deleted node has both a left subtree and a right subtree</a:t>
            </a:r>
            <a:endParaRPr lang="en-US" altLang="zh-CN" sz="20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52598" name="Oval 22"/>
          <p:cNvSpPr>
            <a:spLocks noChangeArrowheads="1"/>
          </p:cNvSpPr>
          <p:nvPr/>
        </p:nvSpPr>
        <p:spPr bwMode="auto">
          <a:xfrm>
            <a:off x="3733800" y="2743200"/>
            <a:ext cx="685800" cy="533400"/>
          </a:xfrm>
          <a:prstGeom prst="ellipse">
            <a:avLst/>
          </a:prstGeom>
          <a:solidFill>
            <a:srgbClr val="FFFF99">
              <a:alpha val="50000"/>
            </a:srgbClr>
          </a:solidFill>
          <a:ln w="3492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0">
                <a:solidFill>
                  <a:srgbClr val="990033"/>
                </a:solidFill>
              </a:rPr>
              <a:t>40</a:t>
            </a:r>
          </a:p>
        </p:txBody>
      </p:sp>
      <p:sp>
        <p:nvSpPr>
          <p:cNvPr id="152599" name="Oval 23"/>
          <p:cNvSpPr>
            <a:spLocks noChangeArrowheads="1"/>
          </p:cNvSpPr>
          <p:nvPr/>
        </p:nvSpPr>
        <p:spPr bwMode="auto">
          <a:xfrm>
            <a:off x="4038600" y="1524000"/>
            <a:ext cx="685800" cy="533400"/>
          </a:xfrm>
          <a:prstGeom prst="ellipse">
            <a:avLst/>
          </a:prstGeom>
          <a:solidFill>
            <a:srgbClr val="FFFF99"/>
          </a:solidFill>
          <a:ln w="3492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>
                <a:solidFill>
                  <a:srgbClr val="990033"/>
                </a:solidFill>
              </a:rPr>
              <a:t>40</a:t>
            </a:r>
            <a:endParaRPr lang="en-US" altLang="zh-CN" sz="3200" b="0">
              <a:solidFill>
                <a:srgbClr val="990033"/>
              </a:solidFill>
            </a:endParaRPr>
          </a:p>
        </p:txBody>
      </p:sp>
      <p:sp>
        <p:nvSpPr>
          <p:cNvPr id="152600" name="Rectangle 24"/>
          <p:cNvSpPr>
            <a:spLocks noChangeArrowheads="1"/>
          </p:cNvSpPr>
          <p:nvPr/>
        </p:nvSpPr>
        <p:spPr bwMode="auto">
          <a:xfrm>
            <a:off x="228600" y="5943600"/>
            <a:ext cx="4038600" cy="381000"/>
          </a:xfrm>
          <a:prstGeom prst="rect">
            <a:avLst/>
          </a:prstGeom>
          <a:solidFill>
            <a:schemeClr val="hlink"/>
          </a:solidFill>
          <a:ln w="9525">
            <a:solidFill>
              <a:srgbClr val="A5002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601" name="Oval 25"/>
          <p:cNvSpPr>
            <a:spLocks noChangeArrowheads="1"/>
          </p:cNvSpPr>
          <p:nvPr/>
        </p:nvSpPr>
        <p:spPr bwMode="auto">
          <a:xfrm>
            <a:off x="2667000" y="5943600"/>
            <a:ext cx="381000" cy="381000"/>
          </a:xfrm>
          <a:prstGeom prst="ellipse">
            <a:avLst/>
          </a:prstGeom>
          <a:solidFill>
            <a:srgbClr val="FFEDCD"/>
          </a:solidFill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602" name="Oval 26"/>
          <p:cNvSpPr>
            <a:spLocks noChangeArrowheads="1"/>
          </p:cNvSpPr>
          <p:nvPr/>
        </p:nvSpPr>
        <p:spPr bwMode="auto">
          <a:xfrm>
            <a:off x="2209800" y="59436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603" name="Oval 27"/>
          <p:cNvSpPr>
            <a:spLocks noChangeArrowheads="1"/>
          </p:cNvSpPr>
          <p:nvPr/>
        </p:nvSpPr>
        <p:spPr bwMode="auto">
          <a:xfrm>
            <a:off x="228600" y="5943600"/>
            <a:ext cx="381000" cy="381000"/>
          </a:xfrm>
          <a:prstGeom prst="ellipse">
            <a:avLst/>
          </a:prstGeom>
          <a:solidFill>
            <a:srgbClr val="FFEDCD"/>
          </a:solidFill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604" name="Oval 28"/>
          <p:cNvSpPr>
            <a:spLocks noChangeArrowheads="1"/>
          </p:cNvSpPr>
          <p:nvPr/>
        </p:nvSpPr>
        <p:spPr bwMode="auto">
          <a:xfrm>
            <a:off x="3886200" y="5943600"/>
            <a:ext cx="381000" cy="381000"/>
          </a:xfrm>
          <a:prstGeom prst="ellipse">
            <a:avLst/>
          </a:prstGeom>
          <a:solidFill>
            <a:srgbClr val="FFEDCD"/>
          </a:solidFill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2605" name="Oval 29"/>
          <p:cNvSpPr>
            <a:spLocks noChangeArrowheads="1"/>
          </p:cNvSpPr>
          <p:nvPr/>
        </p:nvSpPr>
        <p:spPr bwMode="auto">
          <a:xfrm>
            <a:off x="990600" y="6096000"/>
            <a:ext cx="7620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2606" name="Oval 30"/>
          <p:cNvSpPr>
            <a:spLocks noChangeArrowheads="1"/>
          </p:cNvSpPr>
          <p:nvPr/>
        </p:nvSpPr>
        <p:spPr bwMode="auto">
          <a:xfrm>
            <a:off x="1219200" y="6096000"/>
            <a:ext cx="7620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2607" name="Oval 31"/>
          <p:cNvSpPr>
            <a:spLocks noChangeArrowheads="1"/>
          </p:cNvSpPr>
          <p:nvPr/>
        </p:nvSpPr>
        <p:spPr bwMode="auto">
          <a:xfrm>
            <a:off x="1447800" y="6096000"/>
            <a:ext cx="7620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2608" name="Oval 32"/>
          <p:cNvSpPr>
            <a:spLocks noChangeArrowheads="1"/>
          </p:cNvSpPr>
          <p:nvPr/>
        </p:nvSpPr>
        <p:spPr bwMode="auto">
          <a:xfrm>
            <a:off x="3200400" y="6096000"/>
            <a:ext cx="7620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2609" name="Oval 33"/>
          <p:cNvSpPr>
            <a:spLocks noChangeArrowheads="1"/>
          </p:cNvSpPr>
          <p:nvPr/>
        </p:nvSpPr>
        <p:spPr bwMode="auto">
          <a:xfrm>
            <a:off x="3429000" y="6096000"/>
            <a:ext cx="7620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2610" name="Oval 34"/>
          <p:cNvSpPr>
            <a:spLocks noChangeArrowheads="1"/>
          </p:cNvSpPr>
          <p:nvPr/>
        </p:nvSpPr>
        <p:spPr bwMode="auto">
          <a:xfrm>
            <a:off x="3657600" y="6096000"/>
            <a:ext cx="7620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611" name="Oval 35"/>
          <p:cNvSpPr>
            <a:spLocks noChangeArrowheads="1"/>
          </p:cNvSpPr>
          <p:nvPr/>
        </p:nvSpPr>
        <p:spPr bwMode="auto">
          <a:xfrm>
            <a:off x="2667000" y="5943600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612" name="Oval 36"/>
          <p:cNvSpPr>
            <a:spLocks noChangeArrowheads="1"/>
          </p:cNvSpPr>
          <p:nvPr/>
        </p:nvSpPr>
        <p:spPr bwMode="auto">
          <a:xfrm>
            <a:off x="2209800" y="5943600"/>
            <a:ext cx="3810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613" name="Text Box 37"/>
          <p:cNvSpPr txBox="1">
            <a:spLocks noChangeArrowheads="1"/>
          </p:cNvSpPr>
          <p:nvPr/>
        </p:nvSpPr>
        <p:spPr bwMode="auto">
          <a:xfrm>
            <a:off x="4572000" y="5334000"/>
            <a:ext cx="449580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>
                <a:ea typeface="楷体_GB2312" pitchFamily="49" charset="-122"/>
              </a:rPr>
              <a:t>Replace it with its immediate predecessor and then delete the predecessor node</a:t>
            </a:r>
          </a:p>
        </p:txBody>
      </p:sp>
      <p:sp>
        <p:nvSpPr>
          <p:cNvPr id="152614" name="AutoShape 38"/>
          <p:cNvSpPr>
            <a:spLocks noChangeArrowheads="1"/>
          </p:cNvSpPr>
          <p:nvPr/>
        </p:nvSpPr>
        <p:spPr bwMode="auto">
          <a:xfrm>
            <a:off x="3048000" y="2590800"/>
            <a:ext cx="152400" cy="1066800"/>
          </a:xfrm>
          <a:prstGeom prst="downArrow">
            <a:avLst>
              <a:gd name="adj1" fmla="val 50000"/>
              <a:gd name="adj2" fmla="val 175000"/>
            </a:avLst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4400"/>
          </a:p>
        </p:txBody>
      </p:sp>
      <p:sp useBgFill="1">
        <p:nvSpPr>
          <p:cNvPr id="152615" name="Rectangle 39"/>
          <p:cNvSpPr>
            <a:spLocks noChangeArrowheads="1"/>
          </p:cNvSpPr>
          <p:nvPr/>
        </p:nvSpPr>
        <p:spPr bwMode="auto">
          <a:xfrm>
            <a:off x="3238500" y="2438400"/>
            <a:ext cx="1295400" cy="11430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4400"/>
          </a:p>
        </p:txBody>
      </p:sp>
      <p:sp>
        <p:nvSpPr>
          <p:cNvPr id="152616" name="AutoShape 40"/>
          <p:cNvSpPr>
            <a:spLocks noChangeArrowheads="1"/>
          </p:cNvSpPr>
          <p:nvPr/>
        </p:nvSpPr>
        <p:spPr bwMode="auto">
          <a:xfrm>
            <a:off x="2819400" y="5334000"/>
            <a:ext cx="76200" cy="609600"/>
          </a:xfrm>
          <a:prstGeom prst="downArrow">
            <a:avLst>
              <a:gd name="adj1" fmla="val 50000"/>
              <a:gd name="adj2" fmla="val 200000"/>
            </a:avLst>
          </a:prstGeom>
          <a:solidFill>
            <a:srgbClr val="A50021"/>
          </a:solidFill>
          <a:ln w="9525">
            <a:solidFill>
              <a:srgbClr val="A5002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52617" name="Text Box 41"/>
          <p:cNvSpPr txBox="1">
            <a:spLocks noChangeArrowheads="1"/>
          </p:cNvSpPr>
          <p:nvPr/>
        </p:nvSpPr>
        <p:spPr bwMode="auto">
          <a:xfrm>
            <a:off x="2813050" y="5029200"/>
            <a:ext cx="169164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Deleted node</a:t>
            </a:r>
          </a:p>
        </p:txBody>
      </p:sp>
      <p:sp>
        <p:nvSpPr>
          <p:cNvPr id="152618" name="AutoShape 42"/>
          <p:cNvSpPr>
            <a:spLocks noChangeArrowheads="1"/>
          </p:cNvSpPr>
          <p:nvPr/>
        </p:nvSpPr>
        <p:spPr bwMode="auto">
          <a:xfrm>
            <a:off x="2368550" y="5334000"/>
            <a:ext cx="76200" cy="609600"/>
          </a:xfrm>
          <a:prstGeom prst="downArrow">
            <a:avLst>
              <a:gd name="adj1" fmla="val 50000"/>
              <a:gd name="adj2" fmla="val 200000"/>
            </a:avLst>
          </a:prstGeom>
          <a:solidFill>
            <a:srgbClr val="006600"/>
          </a:solidFill>
          <a:ln w="9525">
            <a:solidFill>
              <a:srgbClr val="00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52619" name="Text Box 43"/>
          <p:cNvSpPr txBox="1">
            <a:spLocks noChangeArrowheads="1"/>
          </p:cNvSpPr>
          <p:nvPr/>
        </p:nvSpPr>
        <p:spPr bwMode="auto">
          <a:xfrm>
            <a:off x="831850" y="5029200"/>
            <a:ext cx="187452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Forward nodes</a:t>
            </a:r>
          </a:p>
        </p:txBody>
      </p:sp>
      <p:sp>
        <p:nvSpPr>
          <p:cNvPr id="152620" name="Freeform 44"/>
          <p:cNvSpPr/>
          <p:nvPr/>
        </p:nvSpPr>
        <p:spPr bwMode="auto">
          <a:xfrm>
            <a:off x="4419600" y="762000"/>
            <a:ext cx="1066800" cy="762000"/>
          </a:xfrm>
          <a:custGeom>
            <a:avLst/>
            <a:gdLst>
              <a:gd name="T0" fmla="*/ 672 w 672"/>
              <a:gd name="T1" fmla="*/ 0 h 480"/>
              <a:gd name="T2" fmla="*/ 192 w 672"/>
              <a:gd name="T3" fmla="*/ 240 h 480"/>
              <a:gd name="T4" fmla="*/ 480 w 672"/>
              <a:gd name="T5" fmla="*/ 240 h 480"/>
              <a:gd name="T6" fmla="*/ 0 w 672"/>
              <a:gd name="T7" fmla="*/ 48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480">
                <a:moveTo>
                  <a:pt x="672" y="0"/>
                </a:moveTo>
                <a:cubicBezTo>
                  <a:pt x="448" y="100"/>
                  <a:pt x="224" y="200"/>
                  <a:pt x="192" y="240"/>
                </a:cubicBezTo>
                <a:cubicBezTo>
                  <a:pt x="160" y="280"/>
                  <a:pt x="512" y="200"/>
                  <a:pt x="480" y="240"/>
                </a:cubicBezTo>
                <a:cubicBezTo>
                  <a:pt x="448" y="280"/>
                  <a:pt x="224" y="380"/>
                  <a:pt x="0" y="480"/>
                </a:cubicBezTo>
              </a:path>
            </a:pathLst>
          </a:custGeom>
          <a:noFill/>
          <a:ln w="31750">
            <a:solidFill>
              <a:srgbClr val="A5002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621" name="Text Box 45"/>
          <p:cNvSpPr txBox="1">
            <a:spLocks noChangeArrowheads="1"/>
          </p:cNvSpPr>
          <p:nvPr/>
        </p:nvSpPr>
        <p:spPr bwMode="auto">
          <a:xfrm>
            <a:off x="5689600" y="1325563"/>
            <a:ext cx="329184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3333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Deleted keywords = 50</a:t>
            </a:r>
            <a:endParaRPr lang="zh-CN" altLang="en-US" sz="2400" b="0">
              <a:solidFill>
                <a:srgbClr val="3333FF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67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2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2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5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52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5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5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5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5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5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3" dur="500"/>
                                        <p:tgtEl>
                                          <p:spTgt spid="15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52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5" dur="500"/>
                                        <p:tgtEl>
                                          <p:spTgt spid="15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5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5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5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5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5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5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5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5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bldLvl="0" animBg="1" autoUpdateAnimBg="0"/>
      <p:bldP spid="152579" grpId="0" bldLvl="0" animBg="1" autoUpdateAnimBg="0"/>
      <p:bldP spid="152580" grpId="0" bldLvl="0" animBg="1" autoUpdateAnimBg="0"/>
      <p:bldP spid="152581" grpId="0" bldLvl="0" animBg="1" autoUpdateAnimBg="0"/>
      <p:bldP spid="152582" grpId="0" bldLvl="0" animBg="1" autoUpdateAnimBg="0"/>
      <p:bldP spid="152583" grpId="0" bldLvl="0" animBg="1" autoUpdateAnimBg="0"/>
      <p:bldP spid="152584" grpId="0" bldLvl="0" animBg="1" autoUpdateAnimBg="0"/>
      <p:bldP spid="152585" grpId="0" bldLvl="0" animBg="1" autoUpdateAnimBg="0"/>
      <p:bldP spid="152586" grpId="0" bldLvl="0" animBg="1" autoUpdateAnimBg="0"/>
      <p:bldP spid="152587" grpId="0" bldLvl="0" animBg="1"/>
      <p:bldP spid="152588" grpId="0" bldLvl="0" animBg="1"/>
      <p:bldP spid="152589" grpId="0" bldLvl="0" animBg="1"/>
      <p:bldP spid="152590" grpId="0" bldLvl="0" animBg="1"/>
      <p:bldP spid="152591" grpId="0" bldLvl="0" animBg="1"/>
      <p:bldP spid="152592" grpId="0" bldLvl="0" animBg="1"/>
      <p:bldP spid="152593" grpId="0" bldLvl="0" animBg="1"/>
      <p:bldP spid="152594" grpId="0" bldLvl="0" animBg="1"/>
      <p:bldP spid="152595" grpId="0" bldLvl="0" animBg="1" autoUpdateAnimBg="0"/>
      <p:bldP spid="152596" grpId="0" bldLvl="0" animBg="1"/>
      <p:bldP spid="152597" grpId="0" bldLvl="0" animBg="1" autoUpdateAnimBg="0"/>
      <p:bldP spid="152598" grpId="0" bldLvl="0" animBg="1" autoUpdateAnimBg="0"/>
      <p:bldP spid="152599" grpId="0" bldLvl="0" animBg="1" autoUpdateAnimBg="0"/>
      <p:bldP spid="152600" grpId="0" bldLvl="0" animBg="1"/>
      <p:bldP spid="152601" grpId="0" bldLvl="0" animBg="1"/>
      <p:bldP spid="152602" grpId="0" bldLvl="0" animBg="1"/>
      <p:bldP spid="152603" grpId="0" bldLvl="0" animBg="1"/>
      <p:bldP spid="152604" grpId="0" bldLvl="0" animBg="1"/>
      <p:bldP spid="152605" grpId="0" bldLvl="0" animBg="1"/>
      <p:bldP spid="152606" grpId="0" bldLvl="0" animBg="1"/>
      <p:bldP spid="152607" grpId="0" bldLvl="0" animBg="1"/>
      <p:bldP spid="152608" grpId="0" bldLvl="0" animBg="1"/>
      <p:bldP spid="152609" grpId="0" bldLvl="0" animBg="1"/>
      <p:bldP spid="152610" grpId="0" bldLvl="0" animBg="1"/>
      <p:bldP spid="152611" grpId="0" bldLvl="0" animBg="1"/>
      <p:bldP spid="152612" grpId="0" bldLvl="0" animBg="1"/>
      <p:bldP spid="152613" grpId="0" bldLvl="0" animBg="1" autoUpdateAnimBg="0"/>
      <p:bldP spid="152614" grpId="0" bldLvl="0" animBg="1"/>
      <p:bldP spid="152615" grpId="0" bldLvl="0" animBg="1"/>
      <p:bldP spid="152616" grpId="0" bldLvl="0" animBg="1"/>
      <p:bldP spid="152617" grpId="0" bldLvl="0" animBg="1" autoUpdateAnimBg="0"/>
      <p:bldP spid="152618" grpId="0" bldLvl="0" animBg="1"/>
      <p:bldP spid="152619" grpId="0" bldLvl="0" animBg="1" autoUpdateAnimBg="0"/>
      <p:bldP spid="152620" grpId="0" bldLvl="0" animBg="1"/>
      <p:bldP spid="152621" grpId="0" bldLvl="0" animBg="1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258763" y="1042988"/>
            <a:ext cx="8488680" cy="4399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600">
                <a:ea typeface="楷体_GB2312" pitchFamily="49" charset="-122"/>
              </a:rPr>
              <a:t>Status</a:t>
            </a:r>
            <a:r>
              <a:rPr lang="en-US" altLang="zh-CN" sz="3600" b="0">
                <a:ea typeface="楷体_GB2312" pitchFamily="49" charset="-122"/>
              </a:rPr>
              <a:t> DeleteBST (</a:t>
            </a:r>
            <a:r>
              <a:rPr lang="en-US" altLang="zh-CN" sz="3200" b="0">
                <a:ea typeface="楷体_GB2312" pitchFamily="49" charset="-122"/>
              </a:rPr>
              <a:t>BiTree </a:t>
            </a:r>
            <a:r>
              <a:rPr lang="en-US" altLang="zh-CN" sz="3200">
                <a:ea typeface="楷体_GB2312" pitchFamily="49" charset="-122"/>
              </a:rPr>
              <a:t>&amp;</a:t>
            </a:r>
            <a:r>
              <a:rPr lang="en-US" altLang="zh-CN" sz="3200" b="0">
                <a:ea typeface="楷体_GB2312" pitchFamily="49" charset="-122"/>
              </a:rPr>
              <a:t>T,  KeyType key ) </a:t>
            </a:r>
            <a:r>
              <a:rPr lang="en-US" altLang="zh-CN" sz="3600">
                <a:ea typeface="楷体_GB2312" pitchFamily="49" charset="-122"/>
              </a:rPr>
              <a:t>{</a:t>
            </a:r>
            <a:endParaRPr lang="en-US" altLang="zh-CN" sz="3600" b="0"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// If the binary search tree T contains a node whose key equals key</a:t>
            </a:r>
            <a:endParaRPr lang="zh-CN" altLang="en-US" sz="200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// Delete the data element node and return</a:t>
            </a:r>
            <a:endParaRPr lang="zh-CN" altLang="en-US" sz="200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// Returns TRUE if the function value is true, otherwise returns FALSE</a:t>
            </a:r>
            <a:endParaRPr lang="en-US" altLang="zh-CN" sz="200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  if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 (</a:t>
            </a: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!T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)  </a:t>
            </a: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return FALSE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;</a:t>
            </a:r>
          </a:p>
          <a:p>
            <a:pPr algn="l">
              <a:lnSpc>
                <a:spcPct val="125000"/>
              </a:lnSpc>
            </a:pPr>
            <a:r>
              <a:rPr lang="en-US" altLang="zh-CN" sz="2000">
                <a:solidFill>
                  <a:srgbClr val="0066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//No data element exists with the key</a:t>
            </a:r>
            <a:endParaRPr lang="en-US" altLang="zh-CN" sz="200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 algn="l">
              <a:lnSpc>
                <a:spcPct val="125000"/>
              </a:lnSpc>
            </a:pPr>
            <a:r>
              <a:rPr lang="zh-CN" altLang="en-US" sz="3600" b="0">
                <a:solidFill>
                  <a:srgbClr val="A50021"/>
                </a:solidFill>
                <a:ea typeface="楷体_GB2312" pitchFamily="49" charset="-122"/>
              </a:rPr>
              <a:t>  </a:t>
            </a: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else {                       }</a:t>
            </a:r>
          </a:p>
          <a:p>
            <a:pPr algn="l">
              <a:lnSpc>
                <a:spcPct val="125000"/>
              </a:lnSpc>
            </a:pPr>
            <a:r>
              <a:rPr lang="en-US" altLang="zh-CN" sz="3600">
                <a:ea typeface="楷体_GB2312" pitchFamily="49" charset="-122"/>
              </a:rPr>
              <a:t>}</a:t>
            </a:r>
            <a:r>
              <a:rPr lang="en-US" altLang="zh-CN" sz="3600" b="0">
                <a:ea typeface="楷体_GB2312" pitchFamily="49" charset="-122"/>
              </a:rPr>
              <a:t> // DeleteBST</a:t>
            </a:r>
          </a:p>
        </p:txBody>
      </p:sp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250825" y="381000"/>
            <a:ext cx="71805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 b="0">
                <a:ea typeface="楷体_GB2312" pitchFamily="49" charset="-122"/>
              </a:rPr>
              <a:t>The algorithm is described as follows:</a:t>
            </a:r>
          </a:p>
        </p:txBody>
      </p:sp>
      <p:sp>
        <p:nvSpPr>
          <p:cNvPr id="153604" name="Text Box 4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619885" y="4004945"/>
            <a:ext cx="2286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>
                <a:solidFill>
                  <a:srgbClr val="FF00FF"/>
                </a:solidFill>
              </a:rPr>
              <a:t>    </a:t>
            </a:r>
            <a:r>
              <a:rPr lang="en-US" altLang="zh-CN" sz="4000"/>
              <a:t>… …</a:t>
            </a:r>
            <a:endParaRPr lang="en-US" altLang="zh-CN" sz="3600" b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68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 bldLvl="0" animBg="1" autoUpdateAnimBg="0"/>
      <p:bldP spid="153603" grpId="0" bldLvl="0" animBg="1" autoUpdateAnimBg="0"/>
      <p:bldP spid="153604" grpId="0" bldLvl="0" animBg="1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1149350" y="304800"/>
            <a:ext cx="7564755" cy="508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3600">
                <a:ea typeface="楷体_GB2312" pitchFamily="49" charset="-122"/>
              </a:rPr>
              <a:t>if</a:t>
            </a:r>
            <a:r>
              <a:rPr lang="en-US" altLang="zh-CN" sz="3600" b="0">
                <a:ea typeface="楷体_GB2312" pitchFamily="49" charset="-122"/>
              </a:rPr>
              <a:t> ( EQ (key, T-&gt;data.key) ) </a:t>
            </a:r>
          </a:p>
          <a:p>
            <a:pPr algn="l">
              <a:lnSpc>
                <a:spcPct val="140000"/>
              </a:lnSpc>
            </a:pPr>
            <a:endParaRPr lang="en-US" altLang="zh-CN" sz="2400" b="0"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Find data elements with the keyword equal to key</a:t>
            </a:r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3600">
                <a:ea typeface="楷体_GB2312" pitchFamily="49" charset="-122"/>
              </a:rPr>
              <a:t>else if</a:t>
            </a:r>
            <a:r>
              <a:rPr lang="en-US" altLang="zh-CN" sz="3600" b="0">
                <a:ea typeface="楷体_GB2312" pitchFamily="49" charset="-122"/>
              </a:rPr>
              <a:t> ( LT (key, T-&gt;data.key) )</a:t>
            </a:r>
          </a:p>
          <a:p>
            <a:pPr algn="l">
              <a:lnSpc>
                <a:spcPct val="140000"/>
              </a:lnSpc>
            </a:pPr>
            <a:r>
              <a:rPr lang="en-US" altLang="zh-CN" sz="3600" b="0">
                <a:ea typeface="楷体_GB2312" pitchFamily="49" charset="-122"/>
              </a:rPr>
              <a:t> </a:t>
            </a:r>
          </a:p>
          <a:p>
            <a:pPr algn="l">
              <a:lnSpc>
                <a:spcPct val="140000"/>
              </a:lnSpc>
            </a:pPr>
            <a:endParaRPr lang="en-US" altLang="zh-CN" sz="3600" b="0"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3600">
                <a:ea typeface="楷体_GB2312" pitchFamily="49" charset="-122"/>
              </a:rPr>
              <a:t>else</a:t>
            </a:r>
            <a:endParaRPr lang="en-US" altLang="zh-CN" sz="3200" b="0">
              <a:ea typeface="楷体_GB2312" pitchFamily="49" charset="-122"/>
            </a:endParaRPr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1730375" y="990600"/>
            <a:ext cx="6194425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{  Delete (T)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;   </a:t>
            </a: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return TRUE</a:t>
            </a:r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;  </a:t>
            </a: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}</a:t>
            </a:r>
            <a:endParaRPr lang="en-US" altLang="zh-CN" sz="3600" b="0">
              <a:solidFill>
                <a:srgbClr val="A50021"/>
              </a:solidFill>
              <a:ea typeface="楷体_GB2312" pitchFamily="49" charset="-122"/>
            </a:endParaRPr>
          </a:p>
        </p:txBody>
      </p:sp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1143000" y="3429000"/>
            <a:ext cx="6577965" cy="1630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 b="0">
                <a:solidFill>
                  <a:srgbClr val="A50021"/>
                </a:solidFill>
                <a:ea typeface="楷体_GB2312" pitchFamily="49" charset="-122"/>
              </a:rPr>
              <a:t>	 </a:t>
            </a:r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DeleteBST ( T-&gt;lchild, key );</a:t>
            </a:r>
          </a:p>
          <a:p>
            <a:pPr algn="l"/>
            <a:r>
              <a:rPr lang="en-US" altLang="zh-CN" sz="3600" b="0">
                <a:solidFill>
                  <a:schemeClr val="accent2"/>
                </a:solidFill>
                <a:ea typeface="楷体_GB2312" pitchFamily="49" charset="-122"/>
              </a:rPr>
              <a:t>    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Continue searching in the left subtree</a:t>
            </a:r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  <a:p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154629" name="Rectangle 5"/>
          <p:cNvSpPr>
            <a:spLocks noChangeArrowheads="1"/>
          </p:cNvSpPr>
          <p:nvPr/>
        </p:nvSpPr>
        <p:spPr bwMode="auto">
          <a:xfrm>
            <a:off x="2133600" y="4838700"/>
            <a:ext cx="599376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3600">
                <a:solidFill>
                  <a:srgbClr val="A50021"/>
                </a:solidFill>
                <a:ea typeface="楷体_GB2312" pitchFamily="49" charset="-122"/>
              </a:rPr>
              <a:t>DeleteBST ( T-&gt;rchild, key );</a:t>
            </a:r>
          </a:p>
          <a:p>
            <a:pPr algn="l"/>
            <a:r>
              <a:rPr lang="en-US" altLang="zh-CN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Continue searching in the right subtree</a:t>
            </a:r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69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bldLvl="0" animBg="1" autoUpdateAnimBg="0"/>
      <p:bldP spid="154627" grpId="0" autoUpdateAnimBg="0"/>
      <p:bldP spid="154628" grpId="0" bldLvl="0" animBg="1" autoUpdateAnimBg="0"/>
      <p:bldP spid="154629" grpId="0" bldLvl="0" animBg="1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228600" y="974725"/>
            <a:ext cx="8915400" cy="540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>
                <a:ea typeface="楷体_GB2312" pitchFamily="49" charset="-122"/>
              </a:rPr>
              <a:t>void Delete ( BiTree &amp;p ){</a:t>
            </a:r>
          </a:p>
          <a:p>
            <a:pPr>
              <a:lnSpc>
                <a:spcPct val="120000"/>
              </a:lnSpc>
            </a:pPr>
            <a:r>
              <a:rPr lang="en-US" altLang="zh-CN" sz="3200"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 sz="1800">
                <a:solidFill>
                  <a:srgbClr val="006600"/>
                </a:solidFill>
                <a:ea typeface="楷体_GB2312" pitchFamily="49" charset="-122"/>
                <a:sym typeface="+mn-ea"/>
              </a:rPr>
              <a:t>Remove node p from the binary search tree and reconnect it to its left or right subtree</a:t>
            </a:r>
            <a:endParaRPr lang="zh-CN" altLang="en-US">
              <a:solidFill>
                <a:srgbClr val="006600"/>
              </a:solidFill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>
                <a:ea typeface="楷体_GB2312" pitchFamily="49" charset="-122"/>
              </a:rPr>
              <a:t>   </a:t>
            </a:r>
            <a:r>
              <a:rPr lang="en-US" altLang="zh-CN" sz="3200">
                <a:ea typeface="楷体_GB2312" pitchFamily="49" charset="-122"/>
              </a:rPr>
              <a:t>if </a:t>
            </a:r>
            <a:r>
              <a:rPr lang="en-US" altLang="zh-CN" sz="3200">
                <a:solidFill>
                  <a:srgbClr val="A50021"/>
                </a:solidFill>
                <a:ea typeface="楷体_GB2312" pitchFamily="49" charset="-122"/>
              </a:rPr>
              <a:t>(!p-&gt;rchild)</a:t>
            </a:r>
            <a:r>
              <a:rPr lang="en-US" altLang="zh-CN" sz="3200">
                <a:ea typeface="楷体_GB2312" pitchFamily="49" charset="-122"/>
              </a:rPr>
              <a:t>  {q = p;  p = p-&gt;lchild;  </a:t>
            </a:r>
          </a:p>
          <a:p>
            <a:pPr>
              <a:lnSpc>
                <a:spcPct val="120000"/>
              </a:lnSpc>
            </a:pPr>
            <a:r>
              <a:rPr lang="en-US" altLang="zh-CN" sz="3200">
                <a:ea typeface="楷体_GB2312" pitchFamily="49" charset="-122"/>
              </a:rPr>
              <a:t>                              free(q);} </a:t>
            </a:r>
            <a:r>
              <a:rPr lang="en-US" altLang="zh-CN" sz="1800">
                <a:solidFill>
                  <a:srgbClr val="006600"/>
                </a:solidFill>
                <a:ea typeface="楷体_GB2312" pitchFamily="49" charset="-122"/>
              </a:rPr>
              <a:t>// p has only left child</a:t>
            </a:r>
            <a:endParaRPr lang="en-US" altLang="zh-CN">
              <a:solidFill>
                <a:srgbClr val="008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>
                <a:ea typeface="楷体_GB2312" pitchFamily="49" charset="-122"/>
              </a:rPr>
              <a:t>   </a:t>
            </a:r>
            <a:r>
              <a:rPr lang="en-US" altLang="zh-CN" sz="3200">
                <a:ea typeface="楷体_GB2312" pitchFamily="49" charset="-122"/>
              </a:rPr>
              <a:t>else if </a:t>
            </a:r>
            <a:r>
              <a:rPr lang="en-US" altLang="zh-CN" sz="3200">
                <a:solidFill>
                  <a:srgbClr val="A50021"/>
                </a:solidFill>
                <a:ea typeface="楷体_GB2312" pitchFamily="49" charset="-122"/>
              </a:rPr>
              <a:t>(!p-&gt;lchild)</a:t>
            </a:r>
            <a:r>
              <a:rPr lang="en-US" altLang="zh-CN" sz="3200">
                <a:ea typeface="楷体_GB2312" pitchFamily="49" charset="-122"/>
              </a:rPr>
              <a:t> {q = p;  p = p-&gt;rchild; </a:t>
            </a:r>
          </a:p>
          <a:p>
            <a:pPr>
              <a:lnSpc>
                <a:spcPct val="120000"/>
              </a:lnSpc>
            </a:pPr>
            <a:r>
              <a:rPr lang="en-US" altLang="zh-CN" sz="3200">
                <a:ea typeface="楷体_GB2312" pitchFamily="49" charset="-122"/>
              </a:rPr>
              <a:t>                                    free(q);}</a:t>
            </a:r>
            <a:r>
              <a:rPr lang="en-US" altLang="zh-CN" sz="3200">
                <a:solidFill>
                  <a:srgbClr val="006600"/>
                </a:solidFill>
                <a:ea typeface="楷体_GB2312" pitchFamily="49" charset="-122"/>
              </a:rPr>
              <a:t>//</a:t>
            </a:r>
            <a:r>
              <a:rPr lang="en-US" altLang="zh-CN" sz="1800">
                <a:solidFill>
                  <a:srgbClr val="006600"/>
                </a:solidFill>
                <a:ea typeface="楷体_GB2312" pitchFamily="49" charset="-122"/>
              </a:rPr>
              <a:t> p has only right child</a:t>
            </a:r>
            <a:endParaRPr lang="en-US" altLang="zh-CN"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>
                <a:ea typeface="楷体_GB2312" pitchFamily="49" charset="-122"/>
              </a:rPr>
              <a:t>   </a:t>
            </a:r>
            <a:r>
              <a:rPr lang="en-US" altLang="zh-CN" sz="3200">
                <a:ea typeface="楷体_GB2312" pitchFamily="49" charset="-122"/>
              </a:rPr>
              <a:t>else {              }</a:t>
            </a:r>
            <a:r>
              <a:rPr lang="en-US" altLang="zh-CN" sz="3200">
                <a:solidFill>
                  <a:srgbClr val="006600"/>
                </a:solidFill>
                <a:ea typeface="楷体_GB2312" pitchFamily="49" charset="-122"/>
              </a:rPr>
              <a:t>//</a:t>
            </a:r>
            <a:r>
              <a:rPr lang="en-US" altLang="zh-CN" sz="1800">
                <a:solidFill>
                  <a:srgbClr val="006600"/>
                </a:solidFill>
                <a:ea typeface="楷体_GB2312" pitchFamily="49" charset="-122"/>
              </a:rPr>
              <a:t> p has both left and right children</a:t>
            </a:r>
            <a:endParaRPr lang="en-US" altLang="zh-CN">
              <a:solidFill>
                <a:srgbClr val="008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20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3200">
                <a:ea typeface="楷体_GB2312" pitchFamily="49" charset="-122"/>
              </a:rPr>
              <a:t>return TRUE;</a:t>
            </a:r>
          </a:p>
          <a:p>
            <a:pPr>
              <a:lnSpc>
                <a:spcPct val="120000"/>
              </a:lnSpc>
            </a:pPr>
            <a:r>
              <a:rPr lang="en-US" altLang="zh-CN" sz="3200">
                <a:ea typeface="楷体_GB2312" pitchFamily="49" charset="-122"/>
              </a:rPr>
              <a:t>} // Delete</a:t>
            </a: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-36195" y="196850"/>
            <a:ext cx="72339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The 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deletion process </a:t>
            </a: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is described as follows:</a:t>
            </a:r>
            <a:endParaRPr lang="zh-CN" altLang="en-US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5654" name="Text Box 6"/>
          <p:cNvSpPr txBox="1">
            <a:spLocks noChangeArrowheads="1"/>
          </p:cNvSpPr>
          <p:nvPr/>
        </p:nvSpPr>
        <p:spPr bwMode="auto">
          <a:xfrm>
            <a:off x="1600200" y="4419600"/>
            <a:ext cx="1327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>
                <a:solidFill>
                  <a:srgbClr val="FF00FF"/>
                </a:solidFill>
              </a:rPr>
              <a:t>… …</a:t>
            </a:r>
            <a:endParaRPr lang="en-US" altLang="zh-CN" sz="3600" b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bldLvl="0" animBg="1" autoUpdateAnimBg="0"/>
      <p:bldP spid="155651" grpId="0" bldLvl="0" animBg="1" autoUpdateAnimBg="0"/>
      <p:bldP spid="155654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-36195" y="692150"/>
            <a:ext cx="9112250" cy="737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// If the right subtree is empty, simply reconnect its left subtree</a:t>
            </a:r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1447800" y="1736725"/>
            <a:ext cx="6208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0">
                <a:ea typeface="楷体_GB2312" pitchFamily="49" charset="-122"/>
              </a:rPr>
              <a:t>q = p;  p = p-&gt;lchild;  free(q);</a:t>
            </a:r>
            <a:endParaRPr lang="en-US" altLang="zh-CN" sz="3600" b="0">
              <a:ea typeface="楷体_GB2312" pitchFamily="49" charset="-122"/>
            </a:endParaRPr>
          </a:p>
        </p:txBody>
      </p:sp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2895600" y="3429000"/>
            <a:ext cx="381000" cy="457200"/>
          </a:xfrm>
          <a:prstGeom prst="rect">
            <a:avLst/>
          </a:prstGeom>
          <a:solidFill>
            <a:srgbClr val="CCFFCC"/>
          </a:solidFill>
          <a:ln w="28575">
            <a:solidFill>
              <a:srgbClr val="008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6248400" y="3429000"/>
            <a:ext cx="381000" cy="457200"/>
          </a:xfrm>
          <a:prstGeom prst="rect">
            <a:avLst/>
          </a:prstGeom>
          <a:solidFill>
            <a:srgbClr val="CCFFCC"/>
          </a:solidFill>
          <a:ln w="28575">
            <a:solidFill>
              <a:srgbClr val="008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3276600" y="3429000"/>
            <a:ext cx="762000" cy="457200"/>
          </a:xfrm>
          <a:prstGeom prst="rect">
            <a:avLst/>
          </a:prstGeom>
          <a:solidFill>
            <a:srgbClr val="FFFFCC"/>
          </a:solidFill>
          <a:ln w="28575">
            <a:solidFill>
              <a:srgbClr val="008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9" name="Line 7"/>
          <p:cNvSpPr>
            <a:spLocks noChangeShapeType="1"/>
          </p:cNvSpPr>
          <p:nvPr/>
        </p:nvSpPr>
        <p:spPr bwMode="auto">
          <a:xfrm>
            <a:off x="3657600" y="3429000"/>
            <a:ext cx="0" cy="457200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0" name="Oval 8"/>
          <p:cNvSpPr>
            <a:spLocks noChangeArrowheads="1"/>
          </p:cNvSpPr>
          <p:nvPr/>
        </p:nvSpPr>
        <p:spPr bwMode="auto">
          <a:xfrm>
            <a:off x="1905000" y="4267200"/>
            <a:ext cx="533400" cy="533400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1" name="Rectangle 9"/>
          <p:cNvSpPr>
            <a:spLocks noChangeArrowheads="1"/>
          </p:cNvSpPr>
          <p:nvPr/>
        </p:nvSpPr>
        <p:spPr bwMode="auto">
          <a:xfrm>
            <a:off x="5486400" y="3429000"/>
            <a:ext cx="762000" cy="457200"/>
          </a:xfrm>
          <a:prstGeom prst="rect">
            <a:avLst/>
          </a:prstGeom>
          <a:solidFill>
            <a:srgbClr val="FFFFCC"/>
          </a:solidFill>
          <a:ln w="28575">
            <a:solidFill>
              <a:srgbClr val="008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2" name="Line 10"/>
          <p:cNvSpPr>
            <a:spLocks noChangeShapeType="1"/>
          </p:cNvSpPr>
          <p:nvPr/>
        </p:nvSpPr>
        <p:spPr bwMode="auto">
          <a:xfrm>
            <a:off x="5867400" y="3429000"/>
            <a:ext cx="0" cy="457200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3" name="Oval 11"/>
          <p:cNvSpPr>
            <a:spLocks noChangeArrowheads="1"/>
          </p:cNvSpPr>
          <p:nvPr/>
        </p:nvSpPr>
        <p:spPr bwMode="auto">
          <a:xfrm>
            <a:off x="1219200" y="5029200"/>
            <a:ext cx="533400" cy="533400"/>
          </a:xfrm>
          <a:prstGeom prst="ellipse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4" name="Line 12"/>
          <p:cNvSpPr>
            <a:spLocks noChangeShapeType="1"/>
          </p:cNvSpPr>
          <p:nvPr/>
        </p:nvSpPr>
        <p:spPr bwMode="auto">
          <a:xfrm flipH="1">
            <a:off x="914400" y="5486400"/>
            <a:ext cx="381000" cy="533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5" name="Line 13"/>
          <p:cNvSpPr>
            <a:spLocks noChangeShapeType="1"/>
          </p:cNvSpPr>
          <p:nvPr/>
        </p:nvSpPr>
        <p:spPr bwMode="auto">
          <a:xfrm>
            <a:off x="1676400" y="5486400"/>
            <a:ext cx="228600" cy="533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6" name="Line 14"/>
          <p:cNvSpPr>
            <a:spLocks noChangeShapeType="1"/>
          </p:cNvSpPr>
          <p:nvPr/>
        </p:nvSpPr>
        <p:spPr bwMode="auto">
          <a:xfrm flipH="1">
            <a:off x="1600200" y="4724400"/>
            <a:ext cx="381000" cy="38100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7" name="Line 15"/>
          <p:cNvSpPr>
            <a:spLocks noChangeShapeType="1"/>
          </p:cNvSpPr>
          <p:nvPr/>
        </p:nvSpPr>
        <p:spPr bwMode="auto">
          <a:xfrm flipH="1">
            <a:off x="2362200" y="3657600"/>
            <a:ext cx="685800" cy="68580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8" name="Oval 16"/>
          <p:cNvSpPr>
            <a:spLocks noChangeArrowheads="1"/>
          </p:cNvSpPr>
          <p:nvPr/>
        </p:nvSpPr>
        <p:spPr bwMode="auto">
          <a:xfrm>
            <a:off x="6858000" y="4267200"/>
            <a:ext cx="533400" cy="533400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9" name="Oval 17"/>
          <p:cNvSpPr>
            <a:spLocks noChangeArrowheads="1"/>
          </p:cNvSpPr>
          <p:nvPr/>
        </p:nvSpPr>
        <p:spPr bwMode="auto">
          <a:xfrm>
            <a:off x="6172200" y="5029200"/>
            <a:ext cx="533400" cy="533400"/>
          </a:xfrm>
          <a:prstGeom prst="ellipse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90" name="Line 18"/>
          <p:cNvSpPr>
            <a:spLocks noChangeShapeType="1"/>
          </p:cNvSpPr>
          <p:nvPr/>
        </p:nvSpPr>
        <p:spPr bwMode="auto">
          <a:xfrm flipH="1">
            <a:off x="5867400" y="5486400"/>
            <a:ext cx="381000" cy="533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91" name="Line 19"/>
          <p:cNvSpPr>
            <a:spLocks noChangeShapeType="1"/>
          </p:cNvSpPr>
          <p:nvPr/>
        </p:nvSpPr>
        <p:spPr bwMode="auto">
          <a:xfrm>
            <a:off x="6629400" y="5486400"/>
            <a:ext cx="228600" cy="533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92" name="Line 20"/>
          <p:cNvSpPr>
            <a:spLocks noChangeShapeType="1"/>
          </p:cNvSpPr>
          <p:nvPr/>
        </p:nvSpPr>
        <p:spPr bwMode="auto">
          <a:xfrm flipH="1">
            <a:off x="6553200" y="4724400"/>
            <a:ext cx="381000" cy="38100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93" name="Line 21"/>
          <p:cNvSpPr>
            <a:spLocks noChangeShapeType="1"/>
          </p:cNvSpPr>
          <p:nvPr/>
        </p:nvSpPr>
        <p:spPr bwMode="auto">
          <a:xfrm>
            <a:off x="6400800" y="3657600"/>
            <a:ext cx="609600" cy="60960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94" name="Line 22"/>
          <p:cNvSpPr>
            <a:spLocks noChangeShapeType="1"/>
          </p:cNvSpPr>
          <p:nvPr/>
        </p:nvSpPr>
        <p:spPr bwMode="auto">
          <a:xfrm flipH="1">
            <a:off x="1600200" y="3657600"/>
            <a:ext cx="1447800" cy="14478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95" name="Line 23"/>
          <p:cNvSpPr>
            <a:spLocks noChangeShapeType="1"/>
          </p:cNvSpPr>
          <p:nvPr/>
        </p:nvSpPr>
        <p:spPr bwMode="auto">
          <a:xfrm>
            <a:off x="6400800" y="3657600"/>
            <a:ext cx="152400" cy="14478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96" name="Text Box 24"/>
          <p:cNvSpPr txBox="1">
            <a:spLocks noChangeArrowheads="1"/>
          </p:cNvSpPr>
          <p:nvPr/>
        </p:nvSpPr>
        <p:spPr bwMode="auto">
          <a:xfrm>
            <a:off x="1600200" y="38544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008080"/>
                </a:solidFill>
              </a:rPr>
              <a:t>p</a:t>
            </a:r>
            <a:endParaRPr lang="en-US" altLang="zh-CN" sz="3600" b="0"/>
          </a:p>
        </p:txBody>
      </p:sp>
      <p:sp>
        <p:nvSpPr>
          <p:cNvPr id="156697" name="Text Box 25"/>
          <p:cNvSpPr txBox="1">
            <a:spLocks noChangeArrowheads="1"/>
          </p:cNvSpPr>
          <p:nvPr/>
        </p:nvSpPr>
        <p:spPr bwMode="auto">
          <a:xfrm>
            <a:off x="7359650" y="38862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600" b="0">
                <a:solidFill>
                  <a:srgbClr val="008080"/>
                </a:solidFill>
              </a:rPr>
              <a:t>p</a:t>
            </a:r>
            <a:endParaRPr lang="en-US" altLang="zh-CN" sz="3600" b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5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15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5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5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5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5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5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1" dur="500"/>
                                        <p:tgtEl>
                                          <p:spTgt spid="15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5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4" grpId="0" bldLvl="0" animBg="1" autoUpdateAnimBg="0"/>
      <p:bldP spid="156675" grpId="0" autoUpdateAnimBg="0"/>
      <p:bldP spid="156676" grpId="0" animBg="1"/>
      <p:bldP spid="156677" grpId="0" animBg="1"/>
      <p:bldP spid="156678" grpId="0" animBg="1"/>
      <p:bldP spid="156679" grpId="0" animBg="1"/>
      <p:bldP spid="156680" grpId="0" animBg="1"/>
      <p:bldP spid="156681" grpId="0" animBg="1"/>
      <p:bldP spid="156682" grpId="0" animBg="1"/>
      <p:bldP spid="156683" grpId="0" animBg="1"/>
      <p:bldP spid="156684" grpId="0" animBg="1"/>
      <p:bldP spid="156685" grpId="0" animBg="1"/>
      <p:bldP spid="156686" grpId="0" animBg="1"/>
      <p:bldP spid="156687" grpId="0" animBg="1"/>
      <p:bldP spid="156688" grpId="0" animBg="1"/>
      <p:bldP spid="156689" grpId="0" animBg="1"/>
      <p:bldP spid="156690" grpId="0" animBg="1"/>
      <p:bldP spid="156691" grpId="0" animBg="1"/>
      <p:bldP spid="156692" grpId="0" animBg="1"/>
      <p:bldP spid="156693" grpId="0" animBg="1"/>
      <p:bldP spid="156694" grpId="0" animBg="1"/>
      <p:bldP spid="156695" grpId="0" animBg="1"/>
      <p:bldP spid="156696" grpId="0" autoUpdateAnimBg="0"/>
      <p:bldP spid="156697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ChangeArrowheads="1"/>
          </p:cNvSpPr>
          <p:nvPr/>
        </p:nvSpPr>
        <p:spPr bwMode="auto">
          <a:xfrm>
            <a:off x="-36195" y="908685"/>
            <a:ext cx="9046210" cy="737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// The left subtree is empty. Simply reconnect its right subtree.</a:t>
            </a:r>
          </a:p>
        </p:txBody>
      </p:sp>
      <p:sp>
        <p:nvSpPr>
          <p:cNvPr id="157699" name="Rectangle 3"/>
          <p:cNvSpPr>
            <a:spLocks noChangeArrowheads="1"/>
          </p:cNvSpPr>
          <p:nvPr/>
        </p:nvSpPr>
        <p:spPr bwMode="auto">
          <a:xfrm>
            <a:off x="1447800" y="1812925"/>
            <a:ext cx="62372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0">
                <a:ea typeface="楷体_GB2312" pitchFamily="49" charset="-122"/>
              </a:rPr>
              <a:t>q = p;  p = p-&gt;rchild;  free(q);</a:t>
            </a:r>
            <a:endParaRPr lang="en-US" altLang="zh-CN" sz="3600" b="0">
              <a:ea typeface="楷体_GB2312" pitchFamily="49" charset="-122"/>
            </a:endParaRPr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2209800" y="3429000"/>
            <a:ext cx="381000" cy="457200"/>
          </a:xfrm>
          <a:prstGeom prst="rect">
            <a:avLst/>
          </a:prstGeom>
          <a:solidFill>
            <a:srgbClr val="CCFFCC"/>
          </a:solidFill>
          <a:ln w="28575">
            <a:solidFill>
              <a:srgbClr val="008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1" name="Rectangle 5"/>
          <p:cNvSpPr>
            <a:spLocks noChangeArrowheads="1"/>
          </p:cNvSpPr>
          <p:nvPr/>
        </p:nvSpPr>
        <p:spPr bwMode="auto">
          <a:xfrm>
            <a:off x="5867400" y="3429000"/>
            <a:ext cx="381000" cy="457200"/>
          </a:xfrm>
          <a:prstGeom prst="rect">
            <a:avLst/>
          </a:prstGeom>
          <a:solidFill>
            <a:srgbClr val="CCFFCC"/>
          </a:solidFill>
          <a:ln w="28575">
            <a:solidFill>
              <a:srgbClr val="008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2" name="Rectangle 6"/>
          <p:cNvSpPr>
            <a:spLocks noChangeArrowheads="1"/>
          </p:cNvSpPr>
          <p:nvPr/>
        </p:nvSpPr>
        <p:spPr bwMode="auto">
          <a:xfrm>
            <a:off x="2590800" y="3429000"/>
            <a:ext cx="762000" cy="457200"/>
          </a:xfrm>
          <a:prstGeom prst="rect">
            <a:avLst/>
          </a:prstGeom>
          <a:solidFill>
            <a:srgbClr val="FFFFCC"/>
          </a:solidFill>
          <a:ln w="28575">
            <a:solidFill>
              <a:srgbClr val="008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3" name="Line 7"/>
          <p:cNvSpPr>
            <a:spLocks noChangeShapeType="1"/>
          </p:cNvSpPr>
          <p:nvPr/>
        </p:nvSpPr>
        <p:spPr bwMode="auto">
          <a:xfrm>
            <a:off x="2971800" y="3429000"/>
            <a:ext cx="0" cy="457200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4" name="Oval 8"/>
          <p:cNvSpPr>
            <a:spLocks noChangeArrowheads="1"/>
          </p:cNvSpPr>
          <p:nvPr/>
        </p:nvSpPr>
        <p:spPr bwMode="auto">
          <a:xfrm>
            <a:off x="1219200" y="4267200"/>
            <a:ext cx="533400" cy="533400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5" name="Rectangle 9"/>
          <p:cNvSpPr>
            <a:spLocks noChangeArrowheads="1"/>
          </p:cNvSpPr>
          <p:nvPr/>
        </p:nvSpPr>
        <p:spPr bwMode="auto">
          <a:xfrm>
            <a:off x="5105400" y="3429000"/>
            <a:ext cx="762000" cy="457200"/>
          </a:xfrm>
          <a:prstGeom prst="rect">
            <a:avLst/>
          </a:prstGeom>
          <a:solidFill>
            <a:srgbClr val="FFFFCC"/>
          </a:solidFill>
          <a:ln w="28575">
            <a:solidFill>
              <a:srgbClr val="00808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6" name="Line 10"/>
          <p:cNvSpPr>
            <a:spLocks noChangeShapeType="1"/>
          </p:cNvSpPr>
          <p:nvPr/>
        </p:nvSpPr>
        <p:spPr bwMode="auto">
          <a:xfrm>
            <a:off x="5486400" y="3429000"/>
            <a:ext cx="0" cy="457200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7" name="Oval 11"/>
          <p:cNvSpPr>
            <a:spLocks noChangeArrowheads="1"/>
          </p:cNvSpPr>
          <p:nvPr/>
        </p:nvSpPr>
        <p:spPr bwMode="auto">
          <a:xfrm>
            <a:off x="1981200" y="5029200"/>
            <a:ext cx="533400" cy="533400"/>
          </a:xfrm>
          <a:prstGeom prst="ellipse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8" name="Line 12"/>
          <p:cNvSpPr>
            <a:spLocks noChangeShapeType="1"/>
          </p:cNvSpPr>
          <p:nvPr/>
        </p:nvSpPr>
        <p:spPr bwMode="auto">
          <a:xfrm flipH="1">
            <a:off x="1676400" y="5486400"/>
            <a:ext cx="381000" cy="533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9" name="Line 13"/>
          <p:cNvSpPr>
            <a:spLocks noChangeShapeType="1"/>
          </p:cNvSpPr>
          <p:nvPr/>
        </p:nvSpPr>
        <p:spPr bwMode="auto">
          <a:xfrm>
            <a:off x="2438400" y="5486400"/>
            <a:ext cx="228600" cy="533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0" name="Line 14"/>
          <p:cNvSpPr>
            <a:spLocks noChangeShapeType="1"/>
          </p:cNvSpPr>
          <p:nvPr/>
        </p:nvSpPr>
        <p:spPr bwMode="auto">
          <a:xfrm>
            <a:off x="1676400" y="4724400"/>
            <a:ext cx="381000" cy="38100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1" name="Line 15"/>
          <p:cNvSpPr>
            <a:spLocks noChangeShapeType="1"/>
          </p:cNvSpPr>
          <p:nvPr/>
        </p:nvSpPr>
        <p:spPr bwMode="auto">
          <a:xfrm flipH="1">
            <a:off x="1676400" y="3657600"/>
            <a:ext cx="685800" cy="68580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2" name="Oval 16"/>
          <p:cNvSpPr>
            <a:spLocks noChangeArrowheads="1"/>
          </p:cNvSpPr>
          <p:nvPr/>
        </p:nvSpPr>
        <p:spPr bwMode="auto">
          <a:xfrm>
            <a:off x="6553200" y="4267200"/>
            <a:ext cx="533400" cy="533400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3" name="Oval 17"/>
          <p:cNvSpPr>
            <a:spLocks noChangeArrowheads="1"/>
          </p:cNvSpPr>
          <p:nvPr/>
        </p:nvSpPr>
        <p:spPr bwMode="auto">
          <a:xfrm>
            <a:off x="7315200" y="5029200"/>
            <a:ext cx="533400" cy="533400"/>
          </a:xfrm>
          <a:prstGeom prst="ellipse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4" name="Line 18"/>
          <p:cNvSpPr>
            <a:spLocks noChangeShapeType="1"/>
          </p:cNvSpPr>
          <p:nvPr/>
        </p:nvSpPr>
        <p:spPr bwMode="auto">
          <a:xfrm flipH="1">
            <a:off x="7010400" y="5486400"/>
            <a:ext cx="381000" cy="533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5" name="Line 19"/>
          <p:cNvSpPr>
            <a:spLocks noChangeShapeType="1"/>
          </p:cNvSpPr>
          <p:nvPr/>
        </p:nvSpPr>
        <p:spPr bwMode="auto">
          <a:xfrm>
            <a:off x="7772400" y="5486400"/>
            <a:ext cx="228600" cy="533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6" name="Line 20"/>
          <p:cNvSpPr>
            <a:spLocks noChangeShapeType="1"/>
          </p:cNvSpPr>
          <p:nvPr/>
        </p:nvSpPr>
        <p:spPr bwMode="auto">
          <a:xfrm>
            <a:off x="7010400" y="4724400"/>
            <a:ext cx="381000" cy="38100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7" name="Line 21"/>
          <p:cNvSpPr>
            <a:spLocks noChangeShapeType="1"/>
          </p:cNvSpPr>
          <p:nvPr/>
        </p:nvSpPr>
        <p:spPr bwMode="auto">
          <a:xfrm>
            <a:off x="6019800" y="3657600"/>
            <a:ext cx="685800" cy="68580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8" name="Line 22"/>
          <p:cNvSpPr>
            <a:spLocks noChangeShapeType="1"/>
          </p:cNvSpPr>
          <p:nvPr/>
        </p:nvSpPr>
        <p:spPr bwMode="auto">
          <a:xfrm flipH="1">
            <a:off x="2057400" y="3657600"/>
            <a:ext cx="304800" cy="14478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19" name="Line 23"/>
          <p:cNvSpPr>
            <a:spLocks noChangeShapeType="1"/>
          </p:cNvSpPr>
          <p:nvPr/>
        </p:nvSpPr>
        <p:spPr bwMode="auto">
          <a:xfrm>
            <a:off x="6019800" y="3657600"/>
            <a:ext cx="1371600" cy="14478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20" name="Text Box 24"/>
          <p:cNvSpPr txBox="1">
            <a:spLocks noChangeArrowheads="1"/>
          </p:cNvSpPr>
          <p:nvPr/>
        </p:nvSpPr>
        <p:spPr bwMode="auto">
          <a:xfrm>
            <a:off x="882650" y="38544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008080"/>
                </a:solidFill>
              </a:rPr>
              <a:t>p</a:t>
            </a:r>
            <a:endParaRPr lang="en-US" altLang="zh-CN" sz="3600" b="0"/>
          </a:p>
        </p:txBody>
      </p:sp>
      <p:sp>
        <p:nvSpPr>
          <p:cNvPr id="157721" name="Text Box 25"/>
          <p:cNvSpPr txBox="1">
            <a:spLocks noChangeArrowheads="1"/>
          </p:cNvSpPr>
          <p:nvPr/>
        </p:nvSpPr>
        <p:spPr bwMode="auto">
          <a:xfrm>
            <a:off x="7054850" y="3930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0">
                <a:solidFill>
                  <a:srgbClr val="008080"/>
                </a:solidFill>
              </a:rPr>
              <a:t>p</a:t>
            </a:r>
            <a:endParaRPr lang="en-US" altLang="zh-CN" sz="3600" b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5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157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5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5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5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57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5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1" dur="500"/>
                                        <p:tgtEl>
                                          <p:spTgt spid="157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57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 bldLvl="0" animBg="1" autoUpdateAnimBg="0"/>
      <p:bldP spid="157699" grpId="0" autoUpdateAnimBg="0"/>
      <p:bldP spid="157700" grpId="0" animBg="1"/>
      <p:bldP spid="157701" grpId="0" animBg="1"/>
      <p:bldP spid="157702" grpId="0" animBg="1"/>
      <p:bldP spid="157703" grpId="0" animBg="1"/>
      <p:bldP spid="157704" grpId="0" animBg="1"/>
      <p:bldP spid="157705" grpId="0" animBg="1"/>
      <p:bldP spid="157706" grpId="0" animBg="1"/>
      <p:bldP spid="157707" grpId="0" animBg="1"/>
      <p:bldP spid="157708" grpId="0" animBg="1"/>
      <p:bldP spid="157709" grpId="0" animBg="1"/>
      <p:bldP spid="157710" grpId="0" animBg="1"/>
      <p:bldP spid="157711" grpId="0" animBg="1"/>
      <p:bldP spid="157712" grpId="0" animBg="1"/>
      <p:bldP spid="157713" grpId="0" animBg="1"/>
      <p:bldP spid="157714" grpId="0" animBg="1"/>
      <p:bldP spid="157715" grpId="0" animBg="1"/>
      <p:bldP spid="157716" grpId="0" animBg="1"/>
      <p:bldP spid="157717" grpId="0" animBg="1"/>
      <p:bldP spid="157718" grpId="0" animBg="1"/>
      <p:bldP spid="157719" grpId="0" animBg="1"/>
      <p:bldP spid="157720" grpId="0" autoUpdateAnimBg="0"/>
      <p:bldP spid="157721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304800" y="676275"/>
            <a:ext cx="8934450" cy="1782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0">
                <a:ea typeface="楷体_GB2312" pitchFamily="49" charset="-122"/>
              </a:rPr>
              <a:t>q = p;  s = p-&gt;lchild;</a:t>
            </a:r>
          </a:p>
          <a:p>
            <a:pPr>
              <a:lnSpc>
                <a:spcPct val="110000"/>
              </a:lnSpc>
            </a:pPr>
            <a:r>
              <a:rPr lang="en-US" altLang="zh-CN" sz="3200">
                <a:solidFill>
                  <a:srgbClr val="0000FF"/>
                </a:solidFill>
                <a:ea typeface="楷体_GB2312" pitchFamily="49" charset="-122"/>
              </a:rPr>
              <a:t>while </a:t>
            </a:r>
            <a:r>
              <a:rPr lang="en-US" altLang="zh-CN" sz="3200" b="0">
                <a:solidFill>
                  <a:srgbClr val="0000FF"/>
                </a:solidFill>
                <a:ea typeface="楷体_GB2312" pitchFamily="49" charset="-122"/>
              </a:rPr>
              <a:t>(s-&gt;rchild) </a:t>
            </a:r>
            <a:r>
              <a:rPr lang="en-US" altLang="zh-CN" sz="3200">
                <a:solidFill>
                  <a:srgbClr val="0000FF"/>
                </a:solidFill>
                <a:ea typeface="楷体_GB2312" pitchFamily="49" charset="-122"/>
              </a:rPr>
              <a:t>{</a:t>
            </a:r>
            <a:r>
              <a:rPr lang="en-US" altLang="zh-CN" sz="3200" b="0">
                <a:solidFill>
                  <a:srgbClr val="0000FF"/>
                </a:solidFill>
                <a:ea typeface="楷体_GB2312" pitchFamily="49" charset="-122"/>
              </a:rPr>
              <a:t> q = s;  s = s-&gt;rchild; </a:t>
            </a:r>
            <a:r>
              <a:rPr lang="en-US" altLang="zh-CN" sz="3200">
                <a:solidFill>
                  <a:srgbClr val="0000FF"/>
                </a:solidFill>
                <a:ea typeface="楷体_GB2312" pitchFamily="49" charset="-122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CN" sz="1600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 sz="1600">
                <a:solidFill>
                  <a:srgbClr val="006600"/>
                </a:solidFill>
                <a:ea typeface="楷体_GB2312" pitchFamily="49" charset="-122"/>
                <a:sym typeface="+mn-ea"/>
              </a:rPr>
              <a:t>Move left, then right to the end, pointing to the direct predecessor S of the deleted node P</a:t>
            </a:r>
            <a:endParaRPr lang="en-US" altLang="zh-CN" sz="2000">
              <a:solidFill>
                <a:srgbClr val="006600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en-US" altLang="zh-CN" sz="2000">
              <a:solidFill>
                <a:srgbClr val="006600"/>
              </a:solidFill>
              <a:ea typeface="楷体_GB2312" pitchFamily="49" charset="-122"/>
            </a:endParaRPr>
          </a:p>
        </p:txBody>
      </p:sp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323850" y="0"/>
            <a:ext cx="64966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006600"/>
                </a:solidFill>
                <a:ea typeface="楷体_GB2312" pitchFamily="49" charset="-122"/>
                <a:sym typeface="+mn-ea"/>
              </a:rPr>
              <a:t>// Both left and right subtrees are non-empty</a:t>
            </a:r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320675" y="2357438"/>
            <a:ext cx="8247380" cy="2933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sz="3200" b="0">
                <a:ea typeface="楷体_GB2312" pitchFamily="49" charset="-122"/>
              </a:rPr>
              <a:t>p-&gt;data = s-&gt;data; </a:t>
            </a:r>
            <a:r>
              <a:rPr lang="en-US" altLang="zh-CN" sz="2000">
                <a:solidFill>
                  <a:srgbClr val="006600"/>
                </a:solidFill>
                <a:ea typeface="楷体_GB2312" pitchFamily="49" charset="-122"/>
              </a:rPr>
              <a:t>//</a:t>
            </a:r>
            <a:r>
              <a:rPr lang="en-US" altLang="zh-CN" sz="1600">
                <a:solidFill>
                  <a:srgbClr val="006600"/>
                </a:solidFill>
                <a:ea typeface="楷体_GB2312" pitchFamily="49" charset="-122"/>
                <a:sym typeface="+mn-ea"/>
              </a:rPr>
              <a:t>Directly replace the predecessor node p</a:t>
            </a:r>
            <a:endParaRPr lang="en-US" altLang="zh-CN" sz="2000">
              <a:solidFill>
                <a:srgbClr val="006600"/>
              </a:solidFill>
              <a:ea typeface="楷体_GB2312" pitchFamily="49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3200">
                <a:solidFill>
                  <a:srgbClr val="0000FF"/>
                </a:solidFill>
                <a:ea typeface="楷体_GB2312" pitchFamily="49" charset="-122"/>
              </a:rPr>
              <a:t>if</a:t>
            </a:r>
            <a:r>
              <a:rPr lang="en-US" altLang="zh-CN" sz="3200" b="0">
                <a:solidFill>
                  <a:srgbClr val="0000FF"/>
                </a:solidFill>
                <a:ea typeface="楷体_GB2312" pitchFamily="49" charset="-122"/>
              </a:rPr>
              <a:t> (q </a:t>
            </a:r>
            <a:r>
              <a:rPr lang="en-US" altLang="zh-CN" sz="3200">
                <a:solidFill>
                  <a:srgbClr val="0000FF"/>
                </a:solidFill>
                <a:ea typeface="楷体_GB2312" pitchFamily="49" charset="-122"/>
              </a:rPr>
              <a:t>!=</a:t>
            </a:r>
            <a:r>
              <a:rPr lang="en-US" altLang="zh-CN" sz="3200" b="0">
                <a:solidFill>
                  <a:srgbClr val="0000FF"/>
                </a:solidFill>
                <a:ea typeface="楷体_GB2312" pitchFamily="49" charset="-122"/>
              </a:rPr>
              <a:t> p )  q-&gt;rchild = s-&gt;lchild</a:t>
            </a:r>
            <a:r>
              <a:rPr lang="en-US" altLang="zh-CN" sz="2000">
                <a:solidFill>
                  <a:srgbClr val="006600"/>
                </a:solidFill>
                <a:ea typeface="楷体_GB2312" pitchFamily="49" charset="-122"/>
              </a:rPr>
              <a:t>;//</a:t>
            </a:r>
            <a:r>
              <a:rPr lang="en-US" altLang="zh-CN" sz="1600">
                <a:solidFill>
                  <a:srgbClr val="006600"/>
                </a:solidFill>
                <a:ea typeface="楷体_GB2312" pitchFamily="49" charset="-122"/>
                <a:sym typeface="+mn-ea"/>
              </a:rPr>
              <a:t>Reattach the right subtree of *q</a:t>
            </a:r>
            <a:endParaRPr lang="zh-CN" altLang="en-US" sz="2000">
              <a:solidFill>
                <a:srgbClr val="006600"/>
              </a:solidFill>
              <a:ea typeface="楷体_GB2312" pitchFamily="49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3200">
                <a:solidFill>
                  <a:srgbClr val="0000FF"/>
                </a:solidFill>
                <a:ea typeface="楷体_GB2312" pitchFamily="49" charset="-122"/>
              </a:rPr>
              <a:t>else</a:t>
            </a:r>
            <a:r>
              <a:rPr lang="en-US" altLang="zh-CN" sz="3200" b="0">
                <a:solidFill>
                  <a:srgbClr val="0000FF"/>
                </a:solidFill>
                <a:ea typeface="楷体_GB2312" pitchFamily="49" charset="-122"/>
              </a:rPr>
              <a:t>  q-&gt;lchild = s-&gt;lchild;</a:t>
            </a:r>
          </a:p>
          <a:p>
            <a:pPr algn="l">
              <a:lnSpc>
                <a:spcPct val="110000"/>
              </a:lnSpc>
            </a:pPr>
            <a:r>
              <a:rPr lang="en-US" altLang="zh-CN" sz="2000">
                <a:solidFill>
                  <a:srgbClr val="006600"/>
                </a:solidFill>
                <a:ea typeface="楷体_GB2312" pitchFamily="49" charset="-122"/>
              </a:rPr>
              <a:t>// </a:t>
            </a:r>
            <a:r>
              <a:rPr lang="en-US" altLang="zh-CN" sz="2000">
                <a:solidFill>
                  <a:srgbClr val="006600"/>
                </a:solidFill>
                <a:ea typeface="楷体_GB2312" pitchFamily="49" charset="-122"/>
                <a:sym typeface="+mn-ea"/>
              </a:rPr>
              <a:t>q=p indicates that Ps left child S has no right child, then ps left child S</a:t>
            </a:r>
            <a:endParaRPr lang="en-US" altLang="zh-CN" sz="2000">
              <a:solidFill>
                <a:srgbClr val="006600"/>
              </a:solidFill>
              <a:ea typeface="楷体_GB2312" pitchFamily="49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000">
                <a:solidFill>
                  <a:srgbClr val="006600"/>
                </a:solidFill>
                <a:ea typeface="楷体_GB2312" pitchFamily="49" charset="-122"/>
                <a:sym typeface="+mn-ea"/>
              </a:rPr>
              <a:t>//</a:t>
            </a:r>
            <a:r>
              <a:rPr lang="zh-CN" altLang="en-US" sz="2000">
                <a:solidFill>
                  <a:srgbClr val="006600"/>
                </a:solidFill>
                <a:ea typeface="楷体_GB2312" pitchFamily="49" charset="-122"/>
                <a:sym typeface="+mn-ea"/>
              </a:rPr>
              <a:t>is the direct predecessor of p. Reconnect the left subtree of q.</a:t>
            </a:r>
            <a:endParaRPr lang="zh-CN" altLang="en-US" sz="2000">
              <a:solidFill>
                <a:srgbClr val="006600"/>
              </a:solidFill>
              <a:ea typeface="楷体_GB2312" pitchFamily="49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3200" b="0">
                <a:ea typeface="楷体_GB2312" pitchFamily="49" charset="-122"/>
              </a:rPr>
              <a:t>free(s);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73</a:t>
            </a:fld>
            <a:endParaRPr lang="en-US" altLang="zh-CN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250825" y="0"/>
            <a:ext cx="835342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Conclusion ：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250825" y="692150"/>
            <a:ext cx="8353425" cy="507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(1) An </a:t>
            </a:r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unsorted sequence</a:t>
            </a: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(10,18,3, 8, 12,2, 7, 3) can be </a:t>
            </a:r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transformed into an ordered sequence </a:t>
            </a: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by constructing a binary sort tree. The process of building this tree is essentially the sorting process itself.</a:t>
            </a:r>
            <a:endParaRPr lang="zh-CN" altLang="en-US" sz="24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⑵ Each newly </a:t>
            </a:r>
            <a:r>
              <a:rPr lang="zh-CN" alt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inserted node 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becomes a</a:t>
            </a:r>
            <a:r>
              <a:rPr lang="zh-CN" altLang="en-US" sz="24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leaf node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in the binary search tree. During insertion,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no other nodes need to be moved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—only the pointer of the target node needs to be updated from null to non-null. This is analogous to inserting an element into an already sorted sequence without shifting other elements. </a:t>
            </a:r>
            <a:r>
              <a:rPr lang="zh-CN" altLang="en-US" sz="240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This characteristic demonstrates that binary search tree structures are more suitable for ordered lists requiring frequent insertions and deletions.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ext Box 2"/>
          <p:cNvSpPr txBox="1">
            <a:spLocks noChangeArrowheads="1"/>
          </p:cNvSpPr>
          <p:nvPr/>
        </p:nvSpPr>
        <p:spPr bwMode="auto">
          <a:xfrm>
            <a:off x="457200" y="714375"/>
            <a:ext cx="601980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5. Performance analysis</a:t>
            </a:r>
            <a:endParaRPr lang="zh-CN" altLang="en-US" sz="40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771" name="Text Box 3"/>
          <p:cNvSpPr txBox="1">
            <a:spLocks noChangeArrowheads="1"/>
          </p:cNvSpPr>
          <p:nvPr/>
        </p:nvSpPr>
        <p:spPr bwMode="auto">
          <a:xfrm>
            <a:off x="533400" y="1628775"/>
            <a:ext cx="8229600" cy="3707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For any given binary search tree, its average search length (ASL) can be calculated using the standard definition. </a:t>
            </a:r>
            <a:r>
              <a:rPr lang="zh-CN" altLang="en-US" b="0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Notably, when constructing different binary search trees from n keywords with identical values, the ASLs may vary significantly,</a:t>
            </a:r>
            <a:r>
              <a:rPr lang="zh-CN" altLang="en-US" b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sometimes by a considerable margin.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 bldLvl="0" animBg="1" autoUpdateAnimBg="0"/>
      <p:bldP spid="160771" grpId="0" build="p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457200" y="4114800"/>
            <a:ext cx="556260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by keyword sequence 3, 1, 2, 5, 4</a:t>
            </a:r>
            <a:endParaRPr lang="en-US" altLang="zh-CN" sz="440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zh-CN" altLang="en-US" sz="240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 binary sort tree constructed</a:t>
            </a:r>
            <a:endParaRPr lang="zh-CN" altLang="en-US" sz="2400">
              <a:solidFill>
                <a:srgbClr val="CC33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61795" name="Text Box 3"/>
          <p:cNvSpPr txBox="1">
            <a:spLocks noChangeArrowheads="1"/>
          </p:cNvSpPr>
          <p:nvPr/>
        </p:nvSpPr>
        <p:spPr bwMode="auto">
          <a:xfrm>
            <a:off x="533400" y="1371600"/>
            <a:ext cx="548640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by keyword sequence 1, 2, 3, 4, 5</a:t>
            </a:r>
            <a:endParaRPr lang="en-US" altLang="zh-CN" sz="4400" dirty="0">
              <a:solidFill>
                <a:srgbClr val="0066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 binary sort tree constructed</a:t>
            </a:r>
          </a:p>
        </p:txBody>
      </p:sp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492125" y="373063"/>
            <a:ext cx="28035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for instance ：</a:t>
            </a:r>
            <a:endParaRPr lang="zh-CN" altLang="en-US" sz="3200" b="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61797" name="Oval 5"/>
          <p:cNvSpPr>
            <a:spLocks noChangeArrowheads="1"/>
          </p:cNvSpPr>
          <p:nvPr/>
        </p:nvSpPr>
        <p:spPr bwMode="auto">
          <a:xfrm>
            <a:off x="6934200" y="15240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798" name="Oval 6"/>
          <p:cNvSpPr>
            <a:spLocks noChangeArrowheads="1"/>
          </p:cNvSpPr>
          <p:nvPr/>
        </p:nvSpPr>
        <p:spPr bwMode="auto">
          <a:xfrm>
            <a:off x="6400800" y="10668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799" name="Oval 7"/>
          <p:cNvSpPr>
            <a:spLocks noChangeArrowheads="1"/>
          </p:cNvSpPr>
          <p:nvPr/>
        </p:nvSpPr>
        <p:spPr bwMode="auto">
          <a:xfrm>
            <a:off x="7391400" y="19812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800" name="Oval 8"/>
          <p:cNvSpPr>
            <a:spLocks noChangeArrowheads="1"/>
          </p:cNvSpPr>
          <p:nvPr/>
        </p:nvSpPr>
        <p:spPr bwMode="auto">
          <a:xfrm>
            <a:off x="7924800" y="24384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801" name="Oval 9"/>
          <p:cNvSpPr>
            <a:spLocks noChangeArrowheads="1"/>
          </p:cNvSpPr>
          <p:nvPr/>
        </p:nvSpPr>
        <p:spPr bwMode="auto">
          <a:xfrm>
            <a:off x="8458200" y="29718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802" name="Line 10"/>
          <p:cNvSpPr>
            <a:spLocks noChangeShapeType="1"/>
          </p:cNvSpPr>
          <p:nvPr/>
        </p:nvSpPr>
        <p:spPr bwMode="auto">
          <a:xfrm>
            <a:off x="6705600" y="1371600"/>
            <a:ext cx="304800" cy="2286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03" name="Line 11"/>
          <p:cNvSpPr>
            <a:spLocks noChangeShapeType="1"/>
          </p:cNvSpPr>
          <p:nvPr/>
        </p:nvSpPr>
        <p:spPr bwMode="auto">
          <a:xfrm>
            <a:off x="7239000" y="1828800"/>
            <a:ext cx="304800" cy="2286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04" name="Line 12"/>
          <p:cNvSpPr>
            <a:spLocks noChangeShapeType="1"/>
          </p:cNvSpPr>
          <p:nvPr/>
        </p:nvSpPr>
        <p:spPr bwMode="auto">
          <a:xfrm>
            <a:off x="7772400" y="2286000"/>
            <a:ext cx="304800" cy="2286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05" name="Line 13"/>
          <p:cNvSpPr>
            <a:spLocks noChangeShapeType="1"/>
          </p:cNvSpPr>
          <p:nvPr/>
        </p:nvSpPr>
        <p:spPr bwMode="auto">
          <a:xfrm>
            <a:off x="8229600" y="2743200"/>
            <a:ext cx="304800" cy="2286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06" name="Oval 14"/>
          <p:cNvSpPr>
            <a:spLocks noChangeArrowheads="1"/>
          </p:cNvSpPr>
          <p:nvPr/>
        </p:nvSpPr>
        <p:spPr bwMode="auto">
          <a:xfrm>
            <a:off x="7543800" y="42672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807" name="Oval 15"/>
          <p:cNvSpPr>
            <a:spLocks noChangeArrowheads="1"/>
          </p:cNvSpPr>
          <p:nvPr/>
        </p:nvSpPr>
        <p:spPr bwMode="auto">
          <a:xfrm>
            <a:off x="8458200" y="49530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808" name="Oval 16"/>
          <p:cNvSpPr>
            <a:spLocks noChangeArrowheads="1"/>
          </p:cNvSpPr>
          <p:nvPr/>
        </p:nvSpPr>
        <p:spPr bwMode="auto">
          <a:xfrm>
            <a:off x="7924800" y="57912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809" name="Oval 17"/>
          <p:cNvSpPr>
            <a:spLocks noChangeArrowheads="1"/>
          </p:cNvSpPr>
          <p:nvPr/>
        </p:nvSpPr>
        <p:spPr bwMode="auto">
          <a:xfrm>
            <a:off x="6629400" y="49530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810" name="Oval 18"/>
          <p:cNvSpPr>
            <a:spLocks noChangeArrowheads="1"/>
          </p:cNvSpPr>
          <p:nvPr/>
        </p:nvSpPr>
        <p:spPr bwMode="auto">
          <a:xfrm>
            <a:off x="7162800" y="5791200"/>
            <a:ext cx="38100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0033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zh-CN" sz="2400" b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811" name="Line 19"/>
          <p:cNvSpPr>
            <a:spLocks noChangeShapeType="1"/>
          </p:cNvSpPr>
          <p:nvPr/>
        </p:nvSpPr>
        <p:spPr bwMode="auto">
          <a:xfrm flipH="1">
            <a:off x="6858000" y="4495800"/>
            <a:ext cx="685800" cy="457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12" name="Line 20"/>
          <p:cNvSpPr>
            <a:spLocks noChangeShapeType="1"/>
          </p:cNvSpPr>
          <p:nvPr/>
        </p:nvSpPr>
        <p:spPr bwMode="auto">
          <a:xfrm>
            <a:off x="7924800" y="4495800"/>
            <a:ext cx="609600" cy="457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13" name="Line 21"/>
          <p:cNvSpPr>
            <a:spLocks noChangeShapeType="1"/>
          </p:cNvSpPr>
          <p:nvPr/>
        </p:nvSpPr>
        <p:spPr bwMode="auto">
          <a:xfrm>
            <a:off x="6858000" y="5334000"/>
            <a:ext cx="381000" cy="457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14" name="Line 22"/>
          <p:cNvSpPr>
            <a:spLocks noChangeShapeType="1"/>
          </p:cNvSpPr>
          <p:nvPr/>
        </p:nvSpPr>
        <p:spPr bwMode="auto">
          <a:xfrm flipH="1">
            <a:off x="8229600" y="5334000"/>
            <a:ext cx="304800" cy="457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15" name="Rectangle 23"/>
          <p:cNvSpPr>
            <a:spLocks noChangeArrowheads="1"/>
          </p:cNvSpPr>
          <p:nvPr/>
        </p:nvSpPr>
        <p:spPr bwMode="auto">
          <a:xfrm>
            <a:off x="1187450" y="2622550"/>
            <a:ext cx="407352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ASL =（1+2+3+4+5）/ 5</a:t>
            </a:r>
            <a:endParaRPr lang="en-US" altLang="zh-CN" sz="4800">
              <a:solidFill>
                <a:srgbClr val="A50021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  <a:p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       =  3</a:t>
            </a:r>
          </a:p>
        </p:txBody>
      </p:sp>
      <p:sp>
        <p:nvSpPr>
          <p:cNvPr id="161816" name="Rectangle 24"/>
          <p:cNvSpPr>
            <a:spLocks noChangeArrowheads="1"/>
          </p:cNvSpPr>
          <p:nvPr/>
        </p:nvSpPr>
        <p:spPr bwMode="auto">
          <a:xfrm>
            <a:off x="1187450" y="5330825"/>
            <a:ext cx="407352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8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ASL =（1+2+3+2+3）/ 5</a:t>
            </a:r>
          </a:p>
          <a:p>
            <a:pPr algn="l">
              <a:buClrTx/>
              <a:buSzTx/>
              <a:buNone/>
            </a:pPr>
            <a:r>
              <a:rPr lang="en-US" altLang="zh-CN" sz="280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       =  2.2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"/>
                                        <p:tgtEl>
                                          <p:spTgt spid="16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6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6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6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6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6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6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6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6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300"/>
                                        <p:tgtEl>
                                          <p:spTgt spid="16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 bldLvl="0" animBg="1" autoUpdateAnimBg="0"/>
      <p:bldP spid="161795" grpId="0" bldLvl="0" animBg="1" autoUpdateAnimBg="0"/>
      <p:bldP spid="161796" grpId="0" bldLvl="0" animBg="1" autoUpdateAnimBg="0"/>
      <p:bldP spid="161797" grpId="0" bldLvl="0" animBg="1" autoUpdateAnimBg="0"/>
      <p:bldP spid="161798" grpId="0" bldLvl="0" animBg="1" autoUpdateAnimBg="0"/>
      <p:bldP spid="161799" grpId="0" bldLvl="0" animBg="1" autoUpdateAnimBg="0"/>
      <p:bldP spid="161800" grpId="0" bldLvl="0" animBg="1" autoUpdateAnimBg="0"/>
      <p:bldP spid="161801" grpId="0" bldLvl="0" animBg="1" autoUpdateAnimBg="0"/>
      <p:bldP spid="161802" grpId="0" bldLvl="0" animBg="1"/>
      <p:bldP spid="161803" grpId="0" bldLvl="0" animBg="1"/>
      <p:bldP spid="161804" grpId="0" bldLvl="0" animBg="1"/>
      <p:bldP spid="161805" grpId="0" bldLvl="0" animBg="1"/>
      <p:bldP spid="161806" grpId="0" bldLvl="0" animBg="1" autoUpdateAnimBg="0"/>
      <p:bldP spid="161807" grpId="0" bldLvl="0" animBg="1" autoUpdateAnimBg="0"/>
      <p:bldP spid="161808" grpId="0" bldLvl="0" animBg="1" autoUpdateAnimBg="0"/>
      <p:bldP spid="161809" grpId="0" bldLvl="0" animBg="1" autoUpdateAnimBg="0"/>
      <p:bldP spid="161810" grpId="0" bldLvl="0" animBg="1" autoUpdateAnimBg="0"/>
      <p:bldP spid="161811" grpId="0" bldLvl="0" animBg="1"/>
      <p:bldP spid="161812" grpId="0" bldLvl="0" animBg="1"/>
      <p:bldP spid="161813" grpId="0" bldLvl="0" animBg="1"/>
      <p:bldP spid="161814" grpId="0" bldLvl="0" animBg="1"/>
      <p:bldP spid="161815" grpId="0" bldLvl="0" animBg="1" autoUpdateAnimBg="0"/>
      <p:bldP spid="161816" grpId="0" bldLvl="0" animBg="1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Text Box 2"/>
          <p:cNvSpPr txBox="1">
            <a:spLocks noChangeArrowheads="1"/>
          </p:cNvSpPr>
          <p:nvPr/>
        </p:nvSpPr>
        <p:spPr bwMode="auto">
          <a:xfrm>
            <a:off x="0" y="441325"/>
            <a:ext cx="779716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Next, let’s discuss the average case:</a:t>
            </a:r>
          </a:p>
        </p:txBody>
      </p:sp>
      <p:sp>
        <p:nvSpPr>
          <p:cNvPr id="162819" name="Text Box 3"/>
          <p:cNvSpPr txBox="1">
            <a:spLocks noChangeArrowheads="1"/>
          </p:cNvSpPr>
          <p:nvPr/>
        </p:nvSpPr>
        <p:spPr bwMode="auto">
          <a:xfrm>
            <a:off x="311150" y="1201738"/>
            <a:ext cx="883285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Without generalization, in a sequence of length n, if k keywords are smaller than the first, then n-k-1 keywords must be larger. The binary sort tree constructed from these keywords</a:t>
            </a:r>
            <a:endParaRPr lang="zh-CN" altLang="en-US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2820" name="Oval 4"/>
          <p:cNvSpPr>
            <a:spLocks noChangeArrowheads="1"/>
          </p:cNvSpPr>
          <p:nvPr/>
        </p:nvSpPr>
        <p:spPr bwMode="auto">
          <a:xfrm>
            <a:off x="4114800" y="3429000"/>
            <a:ext cx="685800" cy="533400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1" name="Oval 5"/>
          <p:cNvSpPr>
            <a:spLocks noChangeArrowheads="1"/>
          </p:cNvSpPr>
          <p:nvPr/>
        </p:nvSpPr>
        <p:spPr bwMode="auto">
          <a:xfrm>
            <a:off x="5181600" y="4114800"/>
            <a:ext cx="1295400" cy="609600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i="1">
                <a:solidFill>
                  <a:srgbClr val="A50021"/>
                </a:solidFill>
              </a:rPr>
              <a:t>n-k-1</a:t>
            </a:r>
            <a:endParaRPr lang="en-US" altLang="zh-CN" sz="2400" b="0">
              <a:solidFill>
                <a:srgbClr val="A50021"/>
              </a:solidFill>
            </a:endParaRPr>
          </a:p>
        </p:txBody>
      </p:sp>
      <p:sp>
        <p:nvSpPr>
          <p:cNvPr id="162822" name="Line 6"/>
          <p:cNvSpPr>
            <a:spLocks noChangeShapeType="1"/>
          </p:cNvSpPr>
          <p:nvPr/>
        </p:nvSpPr>
        <p:spPr bwMode="auto">
          <a:xfrm>
            <a:off x="4800600" y="3733800"/>
            <a:ext cx="1066800" cy="3810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3" name="Oval 7"/>
          <p:cNvSpPr>
            <a:spLocks noChangeArrowheads="1"/>
          </p:cNvSpPr>
          <p:nvPr/>
        </p:nvSpPr>
        <p:spPr bwMode="auto">
          <a:xfrm>
            <a:off x="2362200" y="4114800"/>
            <a:ext cx="1295400" cy="609600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i="1">
                <a:solidFill>
                  <a:srgbClr val="A50021"/>
                </a:solidFill>
              </a:rPr>
              <a:t>k</a:t>
            </a:r>
            <a:endParaRPr lang="en-US" altLang="zh-CN" sz="2400" i="1">
              <a:solidFill>
                <a:srgbClr val="A50021"/>
              </a:solidFill>
            </a:endParaRPr>
          </a:p>
        </p:txBody>
      </p:sp>
      <p:sp>
        <p:nvSpPr>
          <p:cNvPr id="162824" name="Line 8"/>
          <p:cNvSpPr>
            <a:spLocks noChangeShapeType="1"/>
          </p:cNvSpPr>
          <p:nvPr/>
        </p:nvSpPr>
        <p:spPr bwMode="auto">
          <a:xfrm flipH="1">
            <a:off x="2971800" y="3733800"/>
            <a:ext cx="1143000" cy="3810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5" name="Text Box 9"/>
          <p:cNvSpPr txBox="1">
            <a:spLocks noChangeArrowheads="1"/>
          </p:cNvSpPr>
          <p:nvPr/>
        </p:nvSpPr>
        <p:spPr bwMode="auto">
          <a:xfrm>
            <a:off x="396875" y="4972050"/>
            <a:ext cx="806577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The average search length is a function of n and k</a:t>
            </a:r>
            <a:endParaRPr lang="zh-CN" altLang="en-US" b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2826" name="Text Box 10"/>
          <p:cNvSpPr txBox="1">
            <a:spLocks noChangeArrowheads="1"/>
          </p:cNvSpPr>
          <p:nvPr/>
        </p:nvSpPr>
        <p:spPr bwMode="auto">
          <a:xfrm>
            <a:off x="2066925" y="5638800"/>
            <a:ext cx="5095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i="1">
                <a:solidFill>
                  <a:srgbClr val="A50021"/>
                </a:solidFill>
              </a:rPr>
              <a:t>P(n, k)      ( 0</a:t>
            </a:r>
            <a:r>
              <a:rPr lang="en-US" altLang="zh-CN" sz="3600" i="1">
                <a:solidFill>
                  <a:srgbClr val="A50021"/>
                </a:solidFill>
                <a:sym typeface="Symbol" panose="05050102010706020507" pitchFamily="18" charset="2"/>
              </a:rPr>
              <a:t> k  n-1 )</a:t>
            </a:r>
            <a:r>
              <a:rPr lang="zh-CN" altLang="en-US" sz="3600" i="1">
                <a:solidFill>
                  <a:srgbClr val="A50021"/>
                </a:solidFill>
                <a:sym typeface="Symbol" panose="05050102010706020507" pitchFamily="18" charset="2"/>
              </a:rPr>
              <a:t>。</a:t>
            </a:r>
            <a:endParaRPr lang="zh-CN" altLang="en-US" sz="2000" b="0">
              <a:solidFill>
                <a:srgbClr val="A50021"/>
              </a:solidFill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6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8" grpId="0" bldLvl="0" animBg="1" autoUpdateAnimBg="0"/>
      <p:bldP spid="162819" grpId="0" bldLvl="0" animBg="1" autoUpdateAnimBg="0"/>
      <p:bldP spid="162820" grpId="0" animBg="1"/>
      <p:bldP spid="162821" grpId="0" animBg="1" autoUpdateAnimBg="0"/>
      <p:bldP spid="162822" grpId="0" animBg="1"/>
      <p:bldP spid="162823" grpId="0" animBg="1" autoUpdateAnimBg="0"/>
      <p:bldP spid="162824" grpId="0" animBg="1"/>
      <p:bldP spid="162825" grpId="0" bldLvl="0" animBg="1" autoUpdateAnimBg="0"/>
      <p:bldP spid="162826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457200" y="517525"/>
            <a:ext cx="7759700" cy="2158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Assuming all n keywords have equal probability of appearing at the first position, the average search length of a binary search tree containing n keywords is:</a:t>
            </a:r>
          </a:p>
        </p:txBody>
      </p:sp>
      <p:graphicFrame>
        <p:nvGraphicFramePr>
          <p:cNvPr id="163843" name="Object 3"/>
          <p:cNvGraphicFramePr>
            <a:graphicFrameLocks noChangeAspect="1"/>
          </p:cNvGraphicFramePr>
          <p:nvPr/>
        </p:nvGraphicFramePr>
        <p:xfrm>
          <a:off x="1946275" y="2654300"/>
          <a:ext cx="51403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2" name="公式" r:id="rId3" imgW="4165600" imgH="1016000" progId="Equation.3">
                  <p:embed/>
                </p:oleObj>
              </mc:Choice>
              <mc:Fallback>
                <p:oleObj name="公式" r:id="rId3" imgW="4165600" imgH="1016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2654300"/>
                        <a:ext cx="514032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4" name="Object 4"/>
          <p:cNvGraphicFramePr>
            <a:graphicFrameLocks noChangeAspect="1"/>
          </p:cNvGraphicFramePr>
          <p:nvPr/>
        </p:nvGraphicFramePr>
        <p:xfrm>
          <a:off x="2057400" y="5029200"/>
          <a:ext cx="4406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公式" r:id="rId5" imgW="8813800" imgH="2057400" progId="Equation.3">
                  <p:embed/>
                </p:oleObj>
              </mc:Choice>
              <mc:Fallback>
                <p:oleObj name="公式" r:id="rId5" imgW="8813800" imgH="2057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029200"/>
                        <a:ext cx="44069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212725" y="40592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sz="2400" b="0"/>
          </a:p>
        </p:txBody>
      </p:sp>
      <p:sp>
        <p:nvSpPr>
          <p:cNvPr id="163846" name="Text Box 6"/>
          <p:cNvSpPr txBox="1">
            <a:spLocks noChangeArrowheads="1"/>
          </p:cNvSpPr>
          <p:nvPr/>
        </p:nvSpPr>
        <p:spPr bwMode="auto">
          <a:xfrm>
            <a:off x="511175" y="4127500"/>
            <a:ext cx="62674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In</a:t>
            </a:r>
            <a:r>
              <a:rPr lang="zh-CN" altLang="en-US" b="0">
                <a:solidFill>
                  <a:srgbClr val="A50021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the case of equal probability</a:t>
            </a:r>
            <a:r>
              <a:rPr lang="zh-CN" altLang="en-US" b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search,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 bldLvl="0" animBg="1" autoUpdateAnimBg="0"/>
      <p:bldP spid="163846" grpId="0" bldLvl="0" animBg="1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866" name="Object 2"/>
          <p:cNvGraphicFramePr>
            <a:graphicFrameLocks noChangeAspect="1"/>
          </p:cNvGraphicFramePr>
          <p:nvPr/>
        </p:nvGraphicFramePr>
        <p:xfrm>
          <a:off x="250825" y="260350"/>
          <a:ext cx="645318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1" name="公式" r:id="rId3" imgW="12903200" imgH="1955800" progId="Equation.3">
                  <p:embed/>
                </p:oleObj>
              </mc:Choice>
              <mc:Fallback>
                <p:oleObj name="公式" r:id="rId3" imgW="12903200" imgH="1955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60350"/>
                        <a:ext cx="6453188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7" name="Object 3"/>
          <p:cNvGraphicFramePr>
            <a:graphicFrameLocks noChangeAspect="1"/>
          </p:cNvGraphicFramePr>
          <p:nvPr/>
        </p:nvGraphicFramePr>
        <p:xfrm>
          <a:off x="1471613" y="1628775"/>
          <a:ext cx="76723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2" name="公式" r:id="rId5" imgW="15341600" imgH="1778000" progId="Equation.3">
                  <p:embed/>
                </p:oleObj>
              </mc:Choice>
              <mc:Fallback>
                <p:oleObj name="公式" r:id="rId5" imgW="15341600" imgH="177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1628775"/>
                        <a:ext cx="76723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8" name="Object 4"/>
          <p:cNvGraphicFramePr>
            <a:graphicFrameLocks noChangeAspect="1"/>
          </p:cNvGraphicFramePr>
          <p:nvPr/>
        </p:nvGraphicFramePr>
        <p:xfrm>
          <a:off x="1476375" y="2781300"/>
          <a:ext cx="67198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3" name="公式" r:id="rId7" imgW="13436600" imgH="1778000" progId="Equation.3">
                  <p:embed/>
                </p:oleObj>
              </mc:Choice>
              <mc:Fallback>
                <p:oleObj name="公式" r:id="rId7" imgW="13436600" imgH="177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781300"/>
                        <a:ext cx="67198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69" name="Oval 5"/>
          <p:cNvSpPr>
            <a:spLocks noChangeArrowheads="1"/>
          </p:cNvSpPr>
          <p:nvPr/>
        </p:nvSpPr>
        <p:spPr bwMode="auto">
          <a:xfrm>
            <a:off x="6781800" y="4348163"/>
            <a:ext cx="685800" cy="533400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70" name="Oval 6"/>
          <p:cNvSpPr>
            <a:spLocks noChangeArrowheads="1"/>
          </p:cNvSpPr>
          <p:nvPr/>
        </p:nvSpPr>
        <p:spPr bwMode="auto">
          <a:xfrm>
            <a:off x="7848600" y="5033963"/>
            <a:ext cx="1295400" cy="609600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i="1">
                <a:solidFill>
                  <a:srgbClr val="A50021"/>
                </a:solidFill>
              </a:rPr>
              <a:t>n-k-1</a:t>
            </a:r>
            <a:endParaRPr lang="en-US" altLang="zh-CN" sz="2400" b="0">
              <a:solidFill>
                <a:srgbClr val="A50021"/>
              </a:solidFill>
            </a:endParaRPr>
          </a:p>
        </p:txBody>
      </p:sp>
      <p:sp>
        <p:nvSpPr>
          <p:cNvPr id="164871" name="Line 7"/>
          <p:cNvSpPr>
            <a:spLocks noChangeShapeType="1"/>
          </p:cNvSpPr>
          <p:nvPr/>
        </p:nvSpPr>
        <p:spPr bwMode="auto">
          <a:xfrm>
            <a:off x="7467600" y="4652963"/>
            <a:ext cx="1066800" cy="3810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72" name="Oval 8"/>
          <p:cNvSpPr>
            <a:spLocks noChangeArrowheads="1"/>
          </p:cNvSpPr>
          <p:nvPr/>
        </p:nvSpPr>
        <p:spPr bwMode="auto">
          <a:xfrm>
            <a:off x="5029200" y="5033963"/>
            <a:ext cx="1295400" cy="609600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i="1">
                <a:solidFill>
                  <a:srgbClr val="A50021"/>
                </a:solidFill>
              </a:rPr>
              <a:t>k</a:t>
            </a:r>
            <a:endParaRPr lang="en-US" altLang="zh-CN" sz="2400" i="1">
              <a:solidFill>
                <a:srgbClr val="A50021"/>
              </a:solidFill>
            </a:endParaRPr>
          </a:p>
        </p:txBody>
      </p:sp>
      <p:sp>
        <p:nvSpPr>
          <p:cNvPr id="164873" name="Line 9"/>
          <p:cNvSpPr>
            <a:spLocks noChangeShapeType="1"/>
          </p:cNvSpPr>
          <p:nvPr/>
        </p:nvSpPr>
        <p:spPr bwMode="auto">
          <a:xfrm flipH="1">
            <a:off x="5638800" y="4652963"/>
            <a:ext cx="1143000" cy="3810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79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517525" y="420688"/>
            <a:ext cx="203009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4000">
                <a:ea typeface="隶书" panose="02010509060101010101" pitchFamily="49" charset="-122"/>
                <a:sym typeface="+mn-ea"/>
              </a:rPr>
              <a:t>from this</a:t>
            </a:r>
            <a:endParaRPr lang="zh-CN" altLang="en-US" sz="4000" b="0">
              <a:ea typeface="隶书" panose="02010509060101010101" pitchFamily="49" charset="-122"/>
            </a:endParaRPr>
          </a:p>
        </p:txBody>
      </p:sp>
      <p:sp>
        <p:nvSpPr>
          <p:cNvPr id="165891" name="Text Box 3"/>
          <p:cNvSpPr txBox="1">
            <a:spLocks noChangeArrowheads="1"/>
          </p:cNvSpPr>
          <p:nvPr/>
        </p:nvSpPr>
        <p:spPr bwMode="auto">
          <a:xfrm>
            <a:off x="179705" y="3860800"/>
            <a:ext cx="8052435" cy="797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algn="l"/>
            <a:r>
              <a:rPr lang="zh-CN" altLang="en-US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Similar to solving a difference equation, this recursive </a:t>
            </a:r>
          </a:p>
          <a:p>
            <a:pPr algn="l"/>
            <a:r>
              <a:rPr lang="zh-CN" altLang="en-US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equation has a solution:</a:t>
            </a:r>
            <a:endParaRPr lang="zh-CN" altLang="en-US" b="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165892" name="Object 4"/>
          <p:cNvGraphicFramePr>
            <a:graphicFrameLocks noChangeAspect="1"/>
          </p:cNvGraphicFramePr>
          <p:nvPr/>
        </p:nvGraphicFramePr>
        <p:xfrm>
          <a:off x="1143000" y="4876800"/>
          <a:ext cx="434340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5" name="Document" r:id="rId3" imgW="2882900" imgH="787400" progId="Word.Document.8">
                  <p:embed/>
                </p:oleObj>
              </mc:Choice>
              <mc:Fallback>
                <p:oleObj name="Document" r:id="rId3" imgW="2882900" imgH="787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76800"/>
                        <a:ext cx="4343400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3" name="Object 5"/>
          <p:cNvGraphicFramePr>
            <a:graphicFrameLocks noChangeAspect="1"/>
          </p:cNvGraphicFramePr>
          <p:nvPr/>
        </p:nvGraphicFramePr>
        <p:xfrm>
          <a:off x="366713" y="1270000"/>
          <a:ext cx="862488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6" name="公式" r:id="rId5" imgW="17246600" imgH="2032000" progId="Equation.3">
                  <p:embed/>
                </p:oleObj>
              </mc:Choice>
              <mc:Fallback>
                <p:oleObj name="公式" r:id="rId5" imgW="17246600" imgH="2032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3" y="1270000"/>
                        <a:ext cx="8624887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4" name="Object 6"/>
          <p:cNvGraphicFramePr>
            <a:graphicFrameLocks noChangeAspect="1"/>
          </p:cNvGraphicFramePr>
          <p:nvPr/>
        </p:nvGraphicFramePr>
        <p:xfrm>
          <a:off x="1219200" y="2489200"/>
          <a:ext cx="3175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7" name="公式" r:id="rId7" imgW="6350000" imgH="1879600" progId="Equation.3">
                  <p:embed/>
                </p:oleObj>
              </mc:Choice>
              <mc:Fallback>
                <p:oleObj name="公式" r:id="rId7" imgW="6350000" imgH="1879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489200"/>
                        <a:ext cx="31750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©Haiyang Liu, 2025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63145C-71F2-48C1-8DD2-31D6AC142F2A}" type="slidenum">
              <a:rPr lang="en-US" altLang="zh-CN" smtClean="0"/>
              <a:t>80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 bldLvl="0" animBg="1" autoUpdateAnimBg="0"/>
      <p:bldP spid="165891" grpId="0" bldLvl="0" animBg="1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1341438"/>
            <a:ext cx="8280400" cy="1727200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Script MT Bold" panose="03040602040607080904" pitchFamily="66" charset="0"/>
                <a:ea typeface="楷体_GB2312" pitchFamily="49" charset="-122"/>
              </a:rPr>
              <a:t>Thank You !</a:t>
            </a:r>
            <a:endParaRPr lang="en-US" altLang="zh-CN" b="0" dirty="0">
              <a:solidFill>
                <a:srgbClr val="003300"/>
              </a:solidFill>
              <a:latin typeface="Script MT Bold" panose="03040602040607080904" pitchFamily="66" charset="0"/>
              <a:ea typeface="楷体_GB2312" pitchFamily="49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500438"/>
            <a:ext cx="7561262" cy="2520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zh-CN" sz="2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2B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Slides1A">
      <a:majorFont>
        <a:latin typeface="Tahoma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63500">
          <a:solidFill>
            <a:schemeClr val="accent6"/>
          </a:solidFill>
          <a:round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des1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1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lides2B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Slides1A">
      <a:majorFont>
        <a:latin typeface="Tahoma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63500">
          <a:solidFill>
            <a:schemeClr val="accent6"/>
          </a:solidFill>
          <a:round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des1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1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Slides2B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Slides1A">
      <a:majorFont>
        <a:latin typeface="Tahoma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63500">
          <a:solidFill>
            <a:schemeClr val="accent6"/>
          </a:solidFill>
          <a:round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des1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1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Slides2B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Slides1A">
      <a:majorFont>
        <a:latin typeface="Tahoma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63500">
          <a:solidFill>
            <a:schemeClr val="accent6"/>
          </a:solidFill>
          <a:round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des1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1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Slides2B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Slides1A">
      <a:majorFont>
        <a:latin typeface="Tahoma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63500">
          <a:solidFill>
            <a:schemeClr val="accent6"/>
          </a:solidFill>
          <a:round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des1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1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2_Slides2B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Slides1A">
      <a:majorFont>
        <a:latin typeface="Tahoma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63500">
          <a:solidFill>
            <a:schemeClr val="accent6"/>
          </a:solidFill>
          <a:round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des1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1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3_Slides2B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Slides1A">
      <a:majorFont>
        <a:latin typeface="Tahoma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63500">
          <a:solidFill>
            <a:schemeClr val="accent6"/>
          </a:solidFill>
          <a:round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des1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1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1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Slides2B</Template>
  <TotalTime>14</TotalTime>
  <Words>5684</Words>
  <Application>Microsoft Office PowerPoint</Application>
  <PresentationFormat>全屏显示(4:3)</PresentationFormat>
  <Paragraphs>814</Paragraphs>
  <Slides>81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81</vt:i4>
      </vt:variant>
    </vt:vector>
  </HeadingPairs>
  <TitlesOfParts>
    <vt:vector size="100" baseType="lpstr">
      <vt:lpstr>楷体_GB2312</vt:lpstr>
      <vt:lpstr>Arial</vt:lpstr>
      <vt:lpstr>Script MT Bold</vt:lpstr>
      <vt:lpstr>Tahoma</vt:lpstr>
      <vt:lpstr>Times New Roman</vt:lpstr>
      <vt:lpstr>Verdana</vt:lpstr>
      <vt:lpstr>Wingdings</vt:lpstr>
      <vt:lpstr>Slides2B</vt:lpstr>
      <vt:lpstr>2_Slides2B</vt:lpstr>
      <vt:lpstr>4_Slides2B</vt:lpstr>
      <vt:lpstr>6_Slides2B</vt:lpstr>
      <vt:lpstr>11_Slides2B</vt:lpstr>
      <vt:lpstr>12_Slides2B</vt:lpstr>
      <vt:lpstr>13_Slides2B</vt:lpstr>
      <vt:lpstr>Image</vt:lpstr>
      <vt:lpstr>剪辑</vt:lpstr>
      <vt:lpstr>公式</vt:lpstr>
      <vt:lpstr>文档</vt:lpstr>
      <vt:lpstr>Document</vt:lpstr>
      <vt:lpstr>Data Structure</vt:lpstr>
      <vt:lpstr>Chapter 9: Search</vt:lpstr>
      <vt:lpstr>Syllabus: Teaching Content</vt:lpstr>
      <vt:lpstr>Main Contents of This Chapter</vt:lpstr>
      <vt:lpstr>Syllabus: Teaching Content</vt:lpstr>
      <vt:lpstr>Basic Concepts of Search Algorithms</vt:lpstr>
      <vt:lpstr>What is a Search Table?</vt:lpstr>
      <vt:lpstr>Common Operations on Search Tables</vt:lpstr>
      <vt:lpstr>Search Tables Can Be Divided into Two Categories</vt:lpstr>
      <vt:lpstr>Several Concepts</vt:lpstr>
      <vt:lpstr>Search</vt:lpstr>
      <vt:lpstr>How to Perform Search?</vt:lpstr>
      <vt:lpstr>Main Contents of This Chapter</vt:lpstr>
      <vt:lpstr>Definition of Static Search Table (Abstract Data Type)</vt:lpstr>
      <vt:lpstr>Definition of Static Search Table (Abstract Data Type)</vt:lpstr>
      <vt:lpstr>Basic Operations</vt:lpstr>
      <vt:lpstr>Sequential Storage Structure</vt:lpstr>
      <vt:lpstr>Macro Definitions (Conventions for Comparing Two Keywords)</vt:lpstr>
      <vt:lpstr>PowerPoint 演示文稿</vt:lpstr>
      <vt:lpstr>Sequential Search Table</vt:lpstr>
      <vt:lpstr>PowerPoint 演示文稿</vt:lpstr>
      <vt:lpstr>（2）The algorithm for checking from front to back...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Main Contents of This Chapter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Main Contents of This Chapter</vt:lpstr>
      <vt:lpstr>Characteristics of Dynamic Search Table</vt:lpstr>
      <vt:lpstr>Definition of the dynamic search table for abstract data types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Main Contents of This Chapter</vt:lpstr>
      <vt:lpstr>PowerPoint 演示文稿</vt:lpstr>
      <vt:lpstr>PowerPoint 演示文稿</vt:lpstr>
      <vt:lpstr>PowerPoint 演示文稿</vt:lpstr>
      <vt:lpstr>PowerPoint 演示文稿</vt:lpstr>
      <vt:lpstr>2. Binary search tree search algorithm: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Binary sort tree insertion algorithm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!</vt:lpstr>
    </vt:vector>
  </TitlesOfParts>
  <Company>BJTU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数据结构与算法设计 (课程号: 80L129Q)</dc:title>
  <dc:creator>Zhihai WANG</dc:creator>
  <cp:lastModifiedBy>王 志海</cp:lastModifiedBy>
  <cp:revision>171</cp:revision>
  <dcterms:created xsi:type="dcterms:W3CDTF">2015-04-07T09:16:00Z</dcterms:created>
  <dcterms:modified xsi:type="dcterms:W3CDTF">2025-12-09T14:18:37Z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0C3ED34E57814C9A9276723E80E16EAF_12</vt:lpwstr>
  </property>
  <property fmtid="{D5CDD505-2E9C-101B-9397-08002B2CF9AE}" pid="3" name="KSOProductBuildVer">
    <vt:lpwstr>2052-12.1.0.23542</vt:lpwstr>
  </property>
</Properties>
</file>